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5240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resh vector background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gradFill rotWithShape="1">
            <a:gsLst>
              <a:gs pos="0">
                <a:srgbClr val="FFF5EA"/>
              </a:gs>
              <a:gs pos="54000">
                <a:srgbClr val="F8F1EC"/>
              </a:gs>
              <a:gs pos="100000">
                <a:srgbClr val="DAE8FC"/>
              </a:gs>
            </a:gsLst>
            <a:lin ang="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tery_whole_wall_1"/>
          <p:cNvSpPr/>
          <p:nvPr/>
        </p:nvSpPr>
        <p:spPr>
          <a:xfrm>
            <a:off x="8750812" y="1071071"/>
            <a:ext cx="4579918" cy="5379586"/>
          </a:xfrm>
          <a:custGeom>
            <a:avLst/>
            <a:gdLst/>
            <a:ahLst/>
            <a:cxnLst/>
            <a:rect l="0" t="0" r="r" b="b"/>
            <a:pathLst>
              <a:path w="4579918" h="5379586">
                <a:moveTo>
                  <a:pt x="551286" y="42407"/>
                </a:moveTo>
                <a:cubicBezTo>
                  <a:pt x="926888" y="0"/>
                  <a:pt x="1562988" y="266556"/>
                  <a:pt x="2205145" y="636100"/>
                </a:cubicBezTo>
                <a:cubicBezTo>
                  <a:pt x="2962407" y="1078340"/>
                  <a:pt x="3689378" y="1605394"/>
                  <a:pt x="4246722" y="2035519"/>
                </a:cubicBezTo>
                <a:cubicBezTo>
                  <a:pt x="4143735" y="2441411"/>
                  <a:pt x="4089212" y="2835187"/>
                  <a:pt x="4107386" y="3216847"/>
                </a:cubicBezTo>
                <a:cubicBezTo>
                  <a:pt x="4131619" y="3846888"/>
                  <a:pt x="4307303" y="4404233"/>
                  <a:pt x="4464814" y="4876764"/>
                </a:cubicBezTo>
                <a:cubicBezTo>
                  <a:pt x="4531453" y="5058507"/>
                  <a:pt x="4579918" y="5276598"/>
                  <a:pt x="4513278" y="5319005"/>
                </a:cubicBezTo>
                <a:cubicBezTo>
                  <a:pt x="4246722" y="5379586"/>
                  <a:pt x="3822656" y="5191785"/>
                  <a:pt x="3501577" y="5010042"/>
                </a:cubicBezTo>
                <a:cubicBezTo>
                  <a:pt x="2798838" y="4652615"/>
                  <a:pt x="2096100" y="4434523"/>
                  <a:pt x="1562988" y="4125561"/>
                </a:cubicBezTo>
                <a:cubicBezTo>
                  <a:pt x="1181328" y="3907469"/>
                  <a:pt x="993527" y="3695436"/>
                  <a:pt x="908714" y="3477345"/>
                </a:cubicBezTo>
                <a:cubicBezTo>
                  <a:pt x="799668" y="3228963"/>
                  <a:pt x="769378" y="2889710"/>
                  <a:pt x="642158" y="2629212"/>
                </a:cubicBezTo>
                <a:cubicBezTo>
                  <a:pt x="448299" y="2399004"/>
                  <a:pt x="351369" y="2174855"/>
                  <a:pt x="363486" y="1920415"/>
                </a:cubicBezTo>
                <a:cubicBezTo>
                  <a:pt x="399834" y="1659917"/>
                  <a:pt x="333195" y="1502407"/>
                  <a:pt x="218091" y="1350955"/>
                </a:cubicBezTo>
                <a:cubicBezTo>
                  <a:pt x="18174" y="1144979"/>
                  <a:pt x="0" y="902656"/>
                  <a:pt x="48465" y="630042"/>
                </a:cubicBezTo>
                <a:cubicBezTo>
                  <a:pt x="109046" y="290788"/>
                  <a:pt x="272614" y="60581"/>
                  <a:pt x="551286" y="42407"/>
                </a:cubicBezTo>
                <a:close/>
              </a:path>
            </a:pathLst>
          </a:custGeom>
          <a:gradFill rotWithShape="1">
            <a:gsLst>
              <a:gs pos="0">
                <a:srgbClr val="F8DBD6"/>
              </a:gs>
              <a:gs pos="44000">
                <a:srgbClr val="F4CFC9"/>
              </a:gs>
              <a:gs pos="100000">
                <a:srgbClr val="D9C7DC"/>
              </a:gs>
            </a:gsLst>
            <a:lin ang="3120000" scaled="1"/>
          </a:gradFill>
          <a:ln w="7572" cap="rnd">
            <a:solidFill>
              <a:srgbClr val="B78283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tery_adventitial_sheet_2"/>
          <p:cNvSpPr/>
          <p:nvPr/>
        </p:nvSpPr>
        <p:spPr>
          <a:xfrm>
            <a:off x="9392970" y="3639702"/>
            <a:ext cx="3871121" cy="2823071"/>
          </a:xfrm>
          <a:custGeom>
            <a:avLst/>
            <a:gdLst/>
            <a:ahLst/>
            <a:cxnLst/>
            <a:rect l="0" t="0" r="r" b="b"/>
            <a:pathLst>
              <a:path w="3871121" h="2823071">
                <a:moveTo>
                  <a:pt x="0" y="0"/>
                </a:moveTo>
                <a:cubicBezTo>
                  <a:pt x="199917" y="278672"/>
                  <a:pt x="502822" y="557344"/>
                  <a:pt x="872365" y="799668"/>
                </a:cubicBezTo>
                <a:cubicBezTo>
                  <a:pt x="1429710" y="1181328"/>
                  <a:pt x="2059751" y="1502407"/>
                  <a:pt x="2647386" y="1859834"/>
                </a:cubicBezTo>
                <a:cubicBezTo>
                  <a:pt x="3083569" y="2120332"/>
                  <a:pt x="3440996" y="2435353"/>
                  <a:pt x="3871121" y="2707967"/>
                </a:cubicBezTo>
                <a:cubicBezTo>
                  <a:pt x="3707552" y="2823071"/>
                  <a:pt x="3319834" y="2701909"/>
                  <a:pt x="2944233" y="2495934"/>
                </a:cubicBezTo>
                <a:cubicBezTo>
                  <a:pt x="2308133" y="2156681"/>
                  <a:pt x="1702324" y="1956764"/>
                  <a:pt x="1163154" y="1690208"/>
                </a:cubicBezTo>
                <a:cubicBezTo>
                  <a:pt x="763320" y="1502407"/>
                  <a:pt x="484647" y="1296432"/>
                  <a:pt x="339253" y="1048050"/>
                </a:cubicBezTo>
                <a:cubicBezTo>
                  <a:pt x="175685" y="781494"/>
                  <a:pt x="151452" y="351369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FFFDFC"/>
              </a:gs>
              <a:gs pos="32000">
                <a:srgbClr val="F7F3FA"/>
              </a:gs>
              <a:gs pos="69000">
                <a:srgbClr val="E6DDEF"/>
              </a:gs>
              <a:gs pos="100000">
                <a:srgbClr val="C8B6D7"/>
              </a:gs>
            </a:gsLst>
            <a:path path="circle">
              <a:fillToRect l="40000" t="30000" r="60000" b="70000"/>
            </a:path>
            <a:tileRect/>
          </a:gradFill>
          <a:ln w="5149" cap="rnd">
            <a:solidFill>
              <a:srgbClr val="B9A9C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artery_fine_adventitia_3"/>
          <p:cNvSpPr/>
          <p:nvPr/>
        </p:nvSpPr>
        <p:spPr>
          <a:xfrm>
            <a:off x="9417202" y="3688166"/>
            <a:ext cx="2041577" cy="1956764"/>
          </a:xfrm>
          <a:custGeom>
            <a:avLst/>
            <a:gdLst/>
            <a:ahLst/>
            <a:cxnLst/>
            <a:rect l="0" t="0" r="r" b="b"/>
            <a:pathLst>
              <a:path w="2041577" h="1956764">
                <a:moveTo>
                  <a:pt x="0" y="0"/>
                </a:moveTo>
                <a:cubicBezTo>
                  <a:pt x="12116" y="23367"/>
                  <a:pt x="66639" y="119431"/>
                  <a:pt x="84813" y="163568"/>
                </a:cubicBezTo>
                <a:cubicBezTo>
                  <a:pt x="102988" y="207706"/>
                  <a:pt x="115969" y="262229"/>
                  <a:pt x="127220" y="308963"/>
                </a:cubicBezTo>
                <a:cubicBezTo>
                  <a:pt x="138471" y="355697"/>
                  <a:pt x="148856" y="437914"/>
                  <a:pt x="163568" y="490705"/>
                </a:cubicBezTo>
                <a:cubicBezTo>
                  <a:pt x="178281" y="543497"/>
                  <a:pt x="212033" y="633503"/>
                  <a:pt x="230207" y="678506"/>
                </a:cubicBezTo>
                <a:cubicBezTo>
                  <a:pt x="248382" y="723509"/>
                  <a:pt x="270883" y="768512"/>
                  <a:pt x="290788" y="805726"/>
                </a:cubicBezTo>
                <a:cubicBezTo>
                  <a:pt x="310694" y="842940"/>
                  <a:pt x="325406" y="886212"/>
                  <a:pt x="369544" y="939004"/>
                </a:cubicBezTo>
                <a:cubicBezTo>
                  <a:pt x="413681" y="991796"/>
                  <a:pt x="544363" y="1124209"/>
                  <a:pt x="599751" y="1175270"/>
                </a:cubicBezTo>
                <a:cubicBezTo>
                  <a:pt x="655139" y="1226331"/>
                  <a:pt x="727836" y="1272199"/>
                  <a:pt x="757261" y="1296432"/>
                </a:cubicBezTo>
                <a:cubicBezTo>
                  <a:pt x="786687" y="1320664"/>
                  <a:pt x="785821" y="1330184"/>
                  <a:pt x="805726" y="1344896"/>
                </a:cubicBezTo>
                <a:cubicBezTo>
                  <a:pt x="825631" y="1359609"/>
                  <a:pt x="872365" y="1382110"/>
                  <a:pt x="896598" y="1399419"/>
                </a:cubicBezTo>
                <a:cubicBezTo>
                  <a:pt x="920830" y="1416728"/>
                  <a:pt x="908714" y="1423652"/>
                  <a:pt x="975353" y="1466058"/>
                </a:cubicBezTo>
                <a:cubicBezTo>
                  <a:pt x="1041992" y="1508465"/>
                  <a:pt x="1241043" y="1633954"/>
                  <a:pt x="1363071" y="1696266"/>
                </a:cubicBezTo>
                <a:cubicBezTo>
                  <a:pt x="1485098" y="1758578"/>
                  <a:pt x="1749058" y="1868489"/>
                  <a:pt x="1829544" y="1902241"/>
                </a:cubicBezTo>
                <a:cubicBezTo>
                  <a:pt x="1910030" y="1935993"/>
                  <a:pt x="1909164" y="1925608"/>
                  <a:pt x="1926473" y="1932531"/>
                </a:cubicBezTo>
                <a:cubicBezTo>
                  <a:pt x="1943782" y="1939455"/>
                  <a:pt x="1941186" y="1948975"/>
                  <a:pt x="1950706" y="1950706"/>
                </a:cubicBezTo>
                <a:cubicBezTo>
                  <a:pt x="1960225" y="1952436"/>
                  <a:pt x="1980131" y="1943782"/>
                  <a:pt x="1993112" y="1944648"/>
                </a:cubicBezTo>
                <a:cubicBezTo>
                  <a:pt x="2006094" y="1945513"/>
                  <a:pt x="2034653" y="1955033"/>
                  <a:pt x="2041577" y="1956764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artery_fine_adventitia_4"/>
          <p:cNvSpPr/>
          <p:nvPr/>
        </p:nvSpPr>
        <p:spPr>
          <a:xfrm>
            <a:off x="9489899" y="3766922"/>
            <a:ext cx="163568" cy="230207"/>
          </a:xfrm>
          <a:custGeom>
            <a:avLst/>
            <a:gdLst/>
            <a:ahLst/>
            <a:cxnLst/>
            <a:rect l="0" t="0" r="r" b="b"/>
            <a:pathLst>
              <a:path w="163568" h="230207">
                <a:moveTo>
                  <a:pt x="0" y="0"/>
                </a:moveTo>
                <a:cubicBezTo>
                  <a:pt x="12116" y="14713"/>
                  <a:pt x="61446" y="70101"/>
                  <a:pt x="84813" y="102988"/>
                </a:cubicBezTo>
                <a:cubicBezTo>
                  <a:pt x="108180" y="135874"/>
                  <a:pt x="152318" y="212033"/>
                  <a:pt x="163568" y="230207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artery_fine_adventitia_5"/>
          <p:cNvSpPr/>
          <p:nvPr/>
        </p:nvSpPr>
        <p:spPr>
          <a:xfrm>
            <a:off x="9520190" y="3803270"/>
            <a:ext cx="36349" cy="48465"/>
          </a:xfrm>
          <a:custGeom>
            <a:avLst/>
            <a:gdLst/>
            <a:ahLst/>
            <a:cxnLst/>
            <a:rect l="0" t="0" r="r" b="b"/>
            <a:pathLst>
              <a:path w="36349" h="48465">
                <a:moveTo>
                  <a:pt x="0" y="0"/>
                </a:moveTo>
                <a:cubicBezTo>
                  <a:pt x="5193" y="6924"/>
                  <a:pt x="31156" y="41541"/>
                  <a:pt x="36349" y="48465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rtery_fine_adventitia_6"/>
          <p:cNvSpPr/>
          <p:nvPr/>
        </p:nvSpPr>
        <p:spPr>
          <a:xfrm>
            <a:off x="9665584" y="3960781"/>
            <a:ext cx="30290" cy="54523"/>
          </a:xfrm>
          <a:custGeom>
            <a:avLst/>
            <a:gdLst/>
            <a:ahLst/>
            <a:cxnLst/>
            <a:rect l="0" t="0" r="r" b="b"/>
            <a:pathLst>
              <a:path w="30290" h="54523">
                <a:moveTo>
                  <a:pt x="0" y="0"/>
                </a:moveTo>
                <a:cubicBezTo>
                  <a:pt x="4327" y="7789"/>
                  <a:pt x="25963" y="46734"/>
                  <a:pt x="30290" y="54523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artery_fine_adventitia_7"/>
          <p:cNvSpPr/>
          <p:nvPr/>
        </p:nvSpPr>
        <p:spPr>
          <a:xfrm>
            <a:off x="9671642" y="3966839"/>
            <a:ext cx="18174" cy="36349"/>
          </a:xfrm>
          <a:custGeom>
            <a:avLst/>
            <a:gdLst/>
            <a:ahLst/>
            <a:cxnLst/>
            <a:rect l="0" t="0" r="r" b="b"/>
            <a:pathLst>
              <a:path w="18174" h="36349">
                <a:moveTo>
                  <a:pt x="0" y="0"/>
                </a:moveTo>
                <a:cubicBezTo>
                  <a:pt x="2596" y="5193"/>
                  <a:pt x="15578" y="31156"/>
                  <a:pt x="18174" y="36349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tery_fine_adventitia_8"/>
          <p:cNvSpPr/>
          <p:nvPr/>
        </p:nvSpPr>
        <p:spPr>
          <a:xfrm>
            <a:off x="9617119" y="4003187"/>
            <a:ext cx="96929" cy="139336"/>
          </a:xfrm>
          <a:custGeom>
            <a:avLst/>
            <a:gdLst/>
            <a:ahLst/>
            <a:cxnLst/>
            <a:rect l="0" t="0" r="r" b="b"/>
            <a:pathLst>
              <a:path w="96929" h="139336">
                <a:moveTo>
                  <a:pt x="0" y="0"/>
                </a:moveTo>
                <a:cubicBezTo>
                  <a:pt x="6924" y="13847"/>
                  <a:pt x="34618" y="77024"/>
                  <a:pt x="48465" y="96929"/>
                </a:cubicBezTo>
                <a:cubicBezTo>
                  <a:pt x="62312" y="116835"/>
                  <a:pt x="90006" y="133278"/>
                  <a:pt x="96929" y="139336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tery_fine_adventitia_9"/>
          <p:cNvSpPr/>
          <p:nvPr/>
        </p:nvSpPr>
        <p:spPr>
          <a:xfrm>
            <a:off x="9586829" y="4094059"/>
            <a:ext cx="54523" cy="133278"/>
          </a:xfrm>
          <a:custGeom>
            <a:avLst/>
            <a:gdLst/>
            <a:ahLst/>
            <a:cxnLst/>
            <a:rect l="0" t="0" r="r" b="b"/>
            <a:pathLst>
              <a:path w="54523" h="133278">
                <a:moveTo>
                  <a:pt x="0" y="0"/>
                </a:moveTo>
                <a:cubicBezTo>
                  <a:pt x="6058" y="10385"/>
                  <a:pt x="34618" y="53657"/>
                  <a:pt x="42407" y="72697"/>
                </a:cubicBezTo>
                <a:cubicBezTo>
                  <a:pt x="50196" y="91737"/>
                  <a:pt x="52792" y="124624"/>
                  <a:pt x="54523" y="133278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artery_fine_adventitia_10"/>
          <p:cNvSpPr/>
          <p:nvPr/>
        </p:nvSpPr>
        <p:spPr>
          <a:xfrm>
            <a:off x="9878482" y="4160698"/>
            <a:ext cx="259633" cy="351369"/>
          </a:xfrm>
          <a:custGeom>
            <a:avLst/>
            <a:gdLst/>
            <a:ahLst/>
            <a:cxnLst/>
            <a:rect l="0" t="0" r="r" b="b"/>
            <a:pathLst>
              <a:path w="259633" h="351369">
                <a:moveTo>
                  <a:pt x="5193" y="0"/>
                </a:moveTo>
                <a:cubicBezTo>
                  <a:pt x="5193" y="2596"/>
                  <a:pt x="0" y="7789"/>
                  <a:pt x="5193" y="18174"/>
                </a:cubicBezTo>
                <a:cubicBezTo>
                  <a:pt x="10385" y="28560"/>
                  <a:pt x="35483" y="56254"/>
                  <a:pt x="41541" y="72697"/>
                </a:cubicBezTo>
                <a:cubicBezTo>
                  <a:pt x="47599" y="89140"/>
                  <a:pt x="38945" y="115104"/>
                  <a:pt x="47599" y="133278"/>
                </a:cubicBezTo>
                <a:cubicBezTo>
                  <a:pt x="56254" y="151452"/>
                  <a:pt x="85679" y="184339"/>
                  <a:pt x="102122" y="199917"/>
                </a:cubicBezTo>
                <a:cubicBezTo>
                  <a:pt x="118566" y="215495"/>
                  <a:pt x="154049" y="233669"/>
                  <a:pt x="162703" y="242324"/>
                </a:cubicBezTo>
                <a:cubicBezTo>
                  <a:pt x="171357" y="250978"/>
                  <a:pt x="158376" y="252709"/>
                  <a:pt x="162703" y="260498"/>
                </a:cubicBezTo>
                <a:cubicBezTo>
                  <a:pt x="167030" y="268287"/>
                  <a:pt x="188666" y="289923"/>
                  <a:pt x="192994" y="296847"/>
                </a:cubicBezTo>
                <a:cubicBezTo>
                  <a:pt x="197321" y="303770"/>
                  <a:pt x="187801" y="302039"/>
                  <a:pt x="192994" y="308963"/>
                </a:cubicBezTo>
                <a:cubicBezTo>
                  <a:pt x="198186" y="315886"/>
                  <a:pt x="219822" y="339253"/>
                  <a:pt x="229342" y="345311"/>
                </a:cubicBezTo>
                <a:cubicBezTo>
                  <a:pt x="238862" y="351369"/>
                  <a:pt x="255305" y="350504"/>
                  <a:pt x="259633" y="351369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rtery_fine_adventitia_11"/>
          <p:cNvSpPr/>
          <p:nvPr/>
        </p:nvSpPr>
        <p:spPr>
          <a:xfrm>
            <a:off x="9701932" y="4225606"/>
            <a:ext cx="508880" cy="486378"/>
          </a:xfrm>
          <a:custGeom>
            <a:avLst/>
            <a:gdLst/>
            <a:ahLst/>
            <a:cxnLst/>
            <a:rect l="0" t="0" r="r" b="b"/>
            <a:pathLst>
              <a:path w="508880" h="486378">
                <a:moveTo>
                  <a:pt x="0" y="1731"/>
                </a:moveTo>
                <a:cubicBezTo>
                  <a:pt x="3462" y="2596"/>
                  <a:pt x="12982" y="0"/>
                  <a:pt x="24232" y="7789"/>
                </a:cubicBezTo>
                <a:cubicBezTo>
                  <a:pt x="35483" y="15578"/>
                  <a:pt x="67504" y="39810"/>
                  <a:pt x="78755" y="56254"/>
                </a:cubicBezTo>
                <a:cubicBezTo>
                  <a:pt x="90006" y="72697"/>
                  <a:pt x="87410" y="96064"/>
                  <a:pt x="102988" y="122893"/>
                </a:cubicBezTo>
                <a:cubicBezTo>
                  <a:pt x="118566" y="149721"/>
                  <a:pt x="174819" y="222419"/>
                  <a:pt x="187801" y="244055"/>
                </a:cubicBezTo>
                <a:cubicBezTo>
                  <a:pt x="200782" y="265691"/>
                  <a:pt x="174819" y="250978"/>
                  <a:pt x="193859" y="274345"/>
                </a:cubicBezTo>
                <a:cubicBezTo>
                  <a:pt x="212899" y="297712"/>
                  <a:pt x="297712" y="387718"/>
                  <a:pt x="321079" y="407623"/>
                </a:cubicBezTo>
                <a:cubicBezTo>
                  <a:pt x="344446" y="427528"/>
                  <a:pt x="340119" y="406758"/>
                  <a:pt x="357427" y="413681"/>
                </a:cubicBezTo>
                <a:cubicBezTo>
                  <a:pt x="374736" y="420605"/>
                  <a:pt x="424932" y="450030"/>
                  <a:pt x="442241" y="456088"/>
                </a:cubicBezTo>
                <a:cubicBezTo>
                  <a:pt x="459550" y="462146"/>
                  <a:pt x="469069" y="451761"/>
                  <a:pt x="478589" y="456088"/>
                </a:cubicBezTo>
                <a:cubicBezTo>
                  <a:pt x="488109" y="460415"/>
                  <a:pt x="504553" y="482051"/>
                  <a:pt x="508880" y="486378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artery_fine_adventitia_12"/>
          <p:cNvSpPr/>
          <p:nvPr/>
        </p:nvSpPr>
        <p:spPr>
          <a:xfrm>
            <a:off x="9659526" y="4263685"/>
            <a:ext cx="236266" cy="405892"/>
          </a:xfrm>
          <a:custGeom>
            <a:avLst/>
            <a:gdLst/>
            <a:ahLst/>
            <a:cxnLst/>
            <a:rect l="0" t="0" r="r" b="b"/>
            <a:pathLst>
              <a:path w="236266" h="405892">
                <a:moveTo>
                  <a:pt x="0" y="0"/>
                </a:moveTo>
                <a:cubicBezTo>
                  <a:pt x="1731" y="8654"/>
                  <a:pt x="865" y="38079"/>
                  <a:pt x="12116" y="60581"/>
                </a:cubicBezTo>
                <a:cubicBezTo>
                  <a:pt x="23367" y="83082"/>
                  <a:pt x="66639" y="136740"/>
                  <a:pt x="78755" y="157510"/>
                </a:cubicBezTo>
                <a:cubicBezTo>
                  <a:pt x="90871" y="178281"/>
                  <a:pt x="87410" y="187801"/>
                  <a:pt x="96929" y="205975"/>
                </a:cubicBezTo>
                <a:cubicBezTo>
                  <a:pt x="106449" y="224149"/>
                  <a:pt x="137605" y="269152"/>
                  <a:pt x="145394" y="284730"/>
                </a:cubicBezTo>
                <a:cubicBezTo>
                  <a:pt x="153183" y="300308"/>
                  <a:pt x="138471" y="297712"/>
                  <a:pt x="151452" y="315021"/>
                </a:cubicBezTo>
                <a:cubicBezTo>
                  <a:pt x="164434" y="332330"/>
                  <a:pt x="224149" y="392911"/>
                  <a:pt x="236266" y="405892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rtery_fine_adventitia_13"/>
          <p:cNvSpPr/>
          <p:nvPr/>
        </p:nvSpPr>
        <p:spPr>
          <a:xfrm>
            <a:off x="9992721" y="4275801"/>
            <a:ext cx="102988" cy="54523"/>
          </a:xfrm>
          <a:custGeom>
            <a:avLst/>
            <a:gdLst/>
            <a:ahLst/>
            <a:cxnLst/>
            <a:rect l="0" t="0" r="r" b="b"/>
            <a:pathLst>
              <a:path w="102988" h="54523">
                <a:moveTo>
                  <a:pt x="0" y="0"/>
                </a:moveTo>
                <a:cubicBezTo>
                  <a:pt x="7789" y="2596"/>
                  <a:pt x="39810" y="10385"/>
                  <a:pt x="54523" y="18174"/>
                </a:cubicBezTo>
                <a:cubicBezTo>
                  <a:pt x="69235" y="25963"/>
                  <a:pt x="96064" y="49330"/>
                  <a:pt x="102988" y="54523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rtery_fine_adventitia_14"/>
          <p:cNvSpPr/>
          <p:nvPr/>
        </p:nvSpPr>
        <p:spPr>
          <a:xfrm>
            <a:off x="9744339" y="4300034"/>
            <a:ext cx="42407" cy="84813"/>
          </a:xfrm>
          <a:custGeom>
            <a:avLst/>
            <a:gdLst/>
            <a:ahLst/>
            <a:cxnLst/>
            <a:rect l="0" t="0" r="r" b="b"/>
            <a:pathLst>
              <a:path w="42407" h="84813">
                <a:moveTo>
                  <a:pt x="0" y="0"/>
                </a:moveTo>
                <a:cubicBezTo>
                  <a:pt x="865" y="6058"/>
                  <a:pt x="0" y="30290"/>
                  <a:pt x="6058" y="42407"/>
                </a:cubicBezTo>
                <a:cubicBezTo>
                  <a:pt x="12116" y="54523"/>
                  <a:pt x="37214" y="78755"/>
                  <a:pt x="42407" y="84813"/>
                </a:cubicBezTo>
              </a:path>
            </a:pathLst>
          </a:custGeom>
          <a:noFill/>
          <a:ln w="6161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rtery_fine_adventitia_15"/>
          <p:cNvSpPr/>
          <p:nvPr/>
        </p:nvSpPr>
        <p:spPr>
          <a:xfrm>
            <a:off x="9647409" y="4360615"/>
            <a:ext cx="24232" cy="48465"/>
          </a:xfrm>
          <a:custGeom>
            <a:avLst/>
            <a:gdLst/>
            <a:ahLst/>
            <a:cxnLst/>
            <a:rect l="0" t="0" r="r" b="b"/>
            <a:pathLst>
              <a:path w="24232" h="48465">
                <a:moveTo>
                  <a:pt x="0" y="0"/>
                </a:moveTo>
                <a:cubicBezTo>
                  <a:pt x="3462" y="6924"/>
                  <a:pt x="20771" y="41541"/>
                  <a:pt x="24232" y="48465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rtery_fine_adventitia_16"/>
          <p:cNvSpPr/>
          <p:nvPr/>
        </p:nvSpPr>
        <p:spPr>
          <a:xfrm>
            <a:off x="10174463" y="4378789"/>
            <a:ext cx="84813" cy="72697"/>
          </a:xfrm>
          <a:custGeom>
            <a:avLst/>
            <a:gdLst/>
            <a:ahLst/>
            <a:cxnLst/>
            <a:rect l="0" t="0" r="r" b="b"/>
            <a:pathLst>
              <a:path w="84813" h="72697">
                <a:moveTo>
                  <a:pt x="0" y="0"/>
                </a:moveTo>
                <a:cubicBezTo>
                  <a:pt x="9520" y="6924"/>
                  <a:pt x="54523" y="38079"/>
                  <a:pt x="66639" y="48465"/>
                </a:cubicBezTo>
                <a:cubicBezTo>
                  <a:pt x="78755" y="58850"/>
                  <a:pt x="82217" y="69235"/>
                  <a:pt x="84813" y="72697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rtery_fine_adventitia_17"/>
          <p:cNvSpPr/>
          <p:nvPr/>
        </p:nvSpPr>
        <p:spPr>
          <a:xfrm>
            <a:off x="10141577" y="4390905"/>
            <a:ext cx="372140" cy="327137"/>
          </a:xfrm>
          <a:custGeom>
            <a:avLst/>
            <a:gdLst/>
            <a:ahLst/>
            <a:cxnLst/>
            <a:rect l="0" t="0" r="r" b="b"/>
            <a:pathLst>
              <a:path w="372140" h="327137">
                <a:moveTo>
                  <a:pt x="2596" y="0"/>
                </a:moveTo>
                <a:cubicBezTo>
                  <a:pt x="2596" y="2596"/>
                  <a:pt x="0" y="14713"/>
                  <a:pt x="2596" y="18174"/>
                </a:cubicBezTo>
                <a:cubicBezTo>
                  <a:pt x="5193" y="21636"/>
                  <a:pt x="8654" y="13847"/>
                  <a:pt x="20771" y="24232"/>
                </a:cubicBezTo>
                <a:cubicBezTo>
                  <a:pt x="32887" y="34618"/>
                  <a:pt x="77890" y="77890"/>
                  <a:pt x="87410" y="90871"/>
                </a:cubicBezTo>
                <a:cubicBezTo>
                  <a:pt x="96929" y="103853"/>
                  <a:pt x="81352" y="111642"/>
                  <a:pt x="87410" y="115104"/>
                </a:cubicBezTo>
                <a:cubicBezTo>
                  <a:pt x="93468" y="118566"/>
                  <a:pt x="113373" y="112507"/>
                  <a:pt x="129816" y="115104"/>
                </a:cubicBezTo>
                <a:cubicBezTo>
                  <a:pt x="146260" y="117700"/>
                  <a:pt x="176550" y="116835"/>
                  <a:pt x="202513" y="133278"/>
                </a:cubicBezTo>
                <a:cubicBezTo>
                  <a:pt x="228477" y="149721"/>
                  <a:pt x="291654" y="210302"/>
                  <a:pt x="311559" y="230207"/>
                </a:cubicBezTo>
                <a:cubicBezTo>
                  <a:pt x="331464" y="250113"/>
                  <a:pt x="336657" y="262229"/>
                  <a:pt x="341849" y="272614"/>
                </a:cubicBezTo>
                <a:cubicBezTo>
                  <a:pt x="347042" y="282999"/>
                  <a:pt x="343580" y="295116"/>
                  <a:pt x="347908" y="302905"/>
                </a:cubicBezTo>
                <a:cubicBezTo>
                  <a:pt x="352235" y="310694"/>
                  <a:pt x="368678" y="323675"/>
                  <a:pt x="372140" y="327137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tery_fine_adventitia_18"/>
          <p:cNvSpPr/>
          <p:nvPr/>
        </p:nvSpPr>
        <p:spPr>
          <a:xfrm>
            <a:off x="9732223" y="4415137"/>
            <a:ext cx="18174" cy="36349"/>
          </a:xfrm>
          <a:custGeom>
            <a:avLst/>
            <a:gdLst/>
            <a:ahLst/>
            <a:cxnLst/>
            <a:rect l="0" t="0" r="r" b="b"/>
            <a:pathLst>
              <a:path w="18174" h="36349">
                <a:moveTo>
                  <a:pt x="0" y="0"/>
                </a:moveTo>
                <a:cubicBezTo>
                  <a:pt x="2596" y="5193"/>
                  <a:pt x="15578" y="31156"/>
                  <a:pt x="18174" y="36349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tery_fine_adventitia_19"/>
          <p:cNvSpPr/>
          <p:nvPr/>
        </p:nvSpPr>
        <p:spPr>
          <a:xfrm>
            <a:off x="9883675" y="4415137"/>
            <a:ext cx="66639" cy="42407"/>
          </a:xfrm>
          <a:custGeom>
            <a:avLst/>
            <a:gdLst/>
            <a:ahLst/>
            <a:cxnLst/>
            <a:rect l="0" t="0" r="r" b="b"/>
            <a:pathLst>
              <a:path w="66639" h="42407">
                <a:moveTo>
                  <a:pt x="0" y="0"/>
                </a:moveTo>
                <a:cubicBezTo>
                  <a:pt x="6058" y="5193"/>
                  <a:pt x="32887" y="30290"/>
                  <a:pt x="42407" y="36349"/>
                </a:cubicBezTo>
                <a:cubicBezTo>
                  <a:pt x="51927" y="42407"/>
                  <a:pt x="63177" y="41541"/>
                  <a:pt x="66639" y="42407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tery_fine_adventitia_20"/>
          <p:cNvSpPr/>
          <p:nvPr/>
        </p:nvSpPr>
        <p:spPr>
          <a:xfrm>
            <a:off x="10059360" y="4445428"/>
            <a:ext cx="24232" cy="36349"/>
          </a:xfrm>
          <a:custGeom>
            <a:avLst/>
            <a:gdLst/>
            <a:ahLst/>
            <a:cxnLst/>
            <a:rect l="0" t="0" r="r" b="b"/>
            <a:pathLst>
              <a:path w="24232" h="36349">
                <a:moveTo>
                  <a:pt x="0" y="0"/>
                </a:moveTo>
                <a:cubicBezTo>
                  <a:pt x="3462" y="5193"/>
                  <a:pt x="20771" y="31156"/>
                  <a:pt x="24232" y="36349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artery_fine_adventitia_21"/>
          <p:cNvSpPr/>
          <p:nvPr/>
        </p:nvSpPr>
        <p:spPr>
          <a:xfrm>
            <a:off x="9689816" y="4451486"/>
            <a:ext cx="24232" cy="48465"/>
          </a:xfrm>
          <a:custGeom>
            <a:avLst/>
            <a:gdLst/>
            <a:ahLst/>
            <a:cxnLst/>
            <a:rect l="0" t="0" r="r" b="b"/>
            <a:pathLst>
              <a:path w="24232" h="48465">
                <a:moveTo>
                  <a:pt x="0" y="0"/>
                </a:moveTo>
                <a:cubicBezTo>
                  <a:pt x="3462" y="6924"/>
                  <a:pt x="20771" y="41541"/>
                  <a:pt x="24232" y="48465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artery_fine_adventitia_22"/>
          <p:cNvSpPr/>
          <p:nvPr/>
        </p:nvSpPr>
        <p:spPr>
          <a:xfrm>
            <a:off x="9926082" y="4451486"/>
            <a:ext cx="48465" cy="66639"/>
          </a:xfrm>
          <a:custGeom>
            <a:avLst/>
            <a:gdLst/>
            <a:ahLst/>
            <a:cxnLst/>
            <a:rect l="0" t="0" r="r" b="b"/>
            <a:pathLst>
              <a:path w="48465" h="66639">
                <a:moveTo>
                  <a:pt x="0" y="0"/>
                </a:moveTo>
                <a:cubicBezTo>
                  <a:pt x="1731" y="5193"/>
                  <a:pt x="5193" y="26829"/>
                  <a:pt x="12116" y="36349"/>
                </a:cubicBezTo>
                <a:cubicBezTo>
                  <a:pt x="19040" y="45868"/>
                  <a:pt x="43272" y="62312"/>
                  <a:pt x="48465" y="66639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artery_fine_adventitia_23"/>
          <p:cNvSpPr/>
          <p:nvPr/>
        </p:nvSpPr>
        <p:spPr>
          <a:xfrm>
            <a:off x="9871559" y="4487835"/>
            <a:ext cx="36349" cy="24232"/>
          </a:xfrm>
          <a:custGeom>
            <a:avLst/>
            <a:gdLst/>
            <a:ahLst/>
            <a:cxnLst/>
            <a:rect l="0" t="0" r="r" b="b"/>
            <a:pathLst>
              <a:path w="36349" h="24232">
                <a:moveTo>
                  <a:pt x="0" y="0"/>
                </a:moveTo>
                <a:cubicBezTo>
                  <a:pt x="1731" y="1731"/>
                  <a:pt x="7789" y="10385"/>
                  <a:pt x="12116" y="12116"/>
                </a:cubicBezTo>
                <a:cubicBezTo>
                  <a:pt x="16443" y="13847"/>
                  <a:pt x="26829" y="10385"/>
                  <a:pt x="30290" y="12116"/>
                </a:cubicBezTo>
                <a:cubicBezTo>
                  <a:pt x="33752" y="13847"/>
                  <a:pt x="35483" y="22501"/>
                  <a:pt x="36349" y="24232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artery_fine_adventitia_24"/>
          <p:cNvSpPr/>
          <p:nvPr/>
        </p:nvSpPr>
        <p:spPr>
          <a:xfrm>
            <a:off x="10095708" y="4493893"/>
            <a:ext cx="20771" cy="30290"/>
          </a:xfrm>
          <a:custGeom>
            <a:avLst/>
            <a:gdLst/>
            <a:ahLst/>
            <a:cxnLst/>
            <a:rect l="0" t="0" r="r" b="b"/>
            <a:pathLst>
              <a:path w="20771" h="30290">
                <a:moveTo>
                  <a:pt x="0" y="0"/>
                </a:moveTo>
                <a:cubicBezTo>
                  <a:pt x="2596" y="1731"/>
                  <a:pt x="15578" y="7789"/>
                  <a:pt x="18174" y="12116"/>
                </a:cubicBezTo>
                <a:cubicBezTo>
                  <a:pt x="20771" y="16443"/>
                  <a:pt x="18174" y="27694"/>
                  <a:pt x="18174" y="30290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artery_fine_adventitia_25"/>
          <p:cNvSpPr/>
          <p:nvPr/>
        </p:nvSpPr>
        <p:spPr>
          <a:xfrm>
            <a:off x="10194369" y="4493893"/>
            <a:ext cx="34618" cy="72697"/>
          </a:xfrm>
          <a:custGeom>
            <a:avLst/>
            <a:gdLst/>
            <a:ahLst/>
            <a:cxnLst/>
            <a:rect l="0" t="0" r="r" b="b"/>
            <a:pathLst>
              <a:path w="34618" h="72697">
                <a:moveTo>
                  <a:pt x="34618" y="0"/>
                </a:moveTo>
                <a:cubicBezTo>
                  <a:pt x="30290" y="3462"/>
                  <a:pt x="8654" y="16443"/>
                  <a:pt x="4327" y="24232"/>
                </a:cubicBezTo>
                <a:cubicBezTo>
                  <a:pt x="0" y="32021"/>
                  <a:pt x="2596" y="47599"/>
                  <a:pt x="4327" y="54523"/>
                </a:cubicBezTo>
                <a:cubicBezTo>
                  <a:pt x="6058" y="61446"/>
                  <a:pt x="14713" y="70101"/>
                  <a:pt x="16443" y="72697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artery_fine_adventitia_26"/>
          <p:cNvSpPr/>
          <p:nvPr/>
        </p:nvSpPr>
        <p:spPr>
          <a:xfrm>
            <a:off x="10016953" y="4496489"/>
            <a:ext cx="90871" cy="76159"/>
          </a:xfrm>
          <a:custGeom>
            <a:avLst/>
            <a:gdLst/>
            <a:ahLst/>
            <a:cxnLst/>
            <a:rect l="0" t="0" r="r" b="b"/>
            <a:pathLst>
              <a:path w="90871" h="76159">
                <a:moveTo>
                  <a:pt x="0" y="9520"/>
                </a:moveTo>
                <a:cubicBezTo>
                  <a:pt x="2596" y="9520"/>
                  <a:pt x="5193" y="0"/>
                  <a:pt x="18174" y="9520"/>
                </a:cubicBezTo>
                <a:cubicBezTo>
                  <a:pt x="31156" y="19040"/>
                  <a:pt x="80486" y="66639"/>
                  <a:pt x="90871" y="76159"/>
                </a:cubicBezTo>
              </a:path>
            </a:pathLst>
          </a:custGeom>
          <a:noFill/>
          <a:ln w="6161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artery_fine_adventitia_27"/>
          <p:cNvSpPr/>
          <p:nvPr/>
        </p:nvSpPr>
        <p:spPr>
          <a:xfrm>
            <a:off x="10362264" y="4536299"/>
            <a:ext cx="30290" cy="30290"/>
          </a:xfrm>
          <a:custGeom>
            <a:avLst/>
            <a:gdLst/>
            <a:ahLst/>
            <a:cxnLst/>
            <a:rect l="0" t="0" r="r" b="b"/>
            <a:pathLst>
              <a:path w="30290" h="30290">
                <a:moveTo>
                  <a:pt x="0" y="0"/>
                </a:moveTo>
                <a:cubicBezTo>
                  <a:pt x="4327" y="4327"/>
                  <a:pt x="25963" y="25963"/>
                  <a:pt x="30290" y="30290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artery_fine_adventitia_28"/>
          <p:cNvSpPr/>
          <p:nvPr/>
        </p:nvSpPr>
        <p:spPr>
          <a:xfrm>
            <a:off x="10459194" y="4568321"/>
            <a:ext cx="42407" cy="34618"/>
          </a:xfrm>
          <a:custGeom>
            <a:avLst/>
            <a:gdLst/>
            <a:ahLst/>
            <a:cxnLst/>
            <a:rect l="0" t="0" r="r" b="b"/>
            <a:pathLst>
              <a:path w="42407" h="34618">
                <a:moveTo>
                  <a:pt x="0" y="4327"/>
                </a:moveTo>
                <a:cubicBezTo>
                  <a:pt x="1731" y="4327"/>
                  <a:pt x="6058" y="0"/>
                  <a:pt x="12116" y="4327"/>
                </a:cubicBezTo>
                <a:cubicBezTo>
                  <a:pt x="18174" y="8654"/>
                  <a:pt x="38079" y="30290"/>
                  <a:pt x="42407" y="34618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artery_fine_adventitia_29"/>
          <p:cNvSpPr/>
          <p:nvPr/>
        </p:nvSpPr>
        <p:spPr>
          <a:xfrm>
            <a:off x="9986663" y="4596880"/>
            <a:ext cx="42407" cy="36349"/>
          </a:xfrm>
          <a:custGeom>
            <a:avLst/>
            <a:gdLst/>
            <a:ahLst/>
            <a:cxnLst/>
            <a:rect l="0" t="0" r="r" b="b"/>
            <a:pathLst>
              <a:path w="42407" h="36349">
                <a:moveTo>
                  <a:pt x="0" y="0"/>
                </a:moveTo>
                <a:cubicBezTo>
                  <a:pt x="6058" y="5193"/>
                  <a:pt x="36349" y="31156"/>
                  <a:pt x="42407" y="36349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artery_fine_adventitia_30"/>
          <p:cNvSpPr/>
          <p:nvPr/>
        </p:nvSpPr>
        <p:spPr>
          <a:xfrm>
            <a:off x="9986663" y="4602938"/>
            <a:ext cx="78755" cy="109046"/>
          </a:xfrm>
          <a:custGeom>
            <a:avLst/>
            <a:gdLst/>
            <a:ahLst/>
            <a:cxnLst/>
            <a:rect l="0" t="0" r="r" b="b"/>
            <a:pathLst>
              <a:path w="78755" h="109046">
                <a:moveTo>
                  <a:pt x="0" y="0"/>
                </a:moveTo>
                <a:cubicBezTo>
                  <a:pt x="11251" y="15578"/>
                  <a:pt x="67504" y="93468"/>
                  <a:pt x="78755" y="109046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artery_fine_adventitia_31"/>
          <p:cNvSpPr/>
          <p:nvPr/>
        </p:nvSpPr>
        <p:spPr>
          <a:xfrm>
            <a:off x="10053302" y="4639287"/>
            <a:ext cx="60581" cy="30290"/>
          </a:xfrm>
          <a:custGeom>
            <a:avLst/>
            <a:gdLst/>
            <a:ahLst/>
            <a:cxnLst/>
            <a:rect l="0" t="0" r="r" b="b"/>
            <a:pathLst>
              <a:path w="60581" h="30290">
                <a:moveTo>
                  <a:pt x="0" y="0"/>
                </a:moveTo>
                <a:cubicBezTo>
                  <a:pt x="8654" y="4327"/>
                  <a:pt x="51927" y="25963"/>
                  <a:pt x="60581" y="30290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artery_fine_adventitia_32"/>
          <p:cNvSpPr/>
          <p:nvPr/>
        </p:nvSpPr>
        <p:spPr>
          <a:xfrm>
            <a:off x="10216870" y="4657461"/>
            <a:ext cx="71832" cy="38945"/>
          </a:xfrm>
          <a:custGeom>
            <a:avLst/>
            <a:gdLst/>
            <a:ahLst/>
            <a:cxnLst/>
            <a:rect l="0" t="0" r="r" b="b"/>
            <a:pathLst>
              <a:path w="71832" h="38945">
                <a:moveTo>
                  <a:pt x="0" y="0"/>
                </a:moveTo>
                <a:cubicBezTo>
                  <a:pt x="6924" y="2596"/>
                  <a:pt x="38945" y="12982"/>
                  <a:pt x="48465" y="18174"/>
                </a:cubicBezTo>
                <a:cubicBezTo>
                  <a:pt x="57985" y="23367"/>
                  <a:pt x="71832" y="33752"/>
                  <a:pt x="66639" y="36349"/>
                </a:cubicBezTo>
                <a:cubicBezTo>
                  <a:pt x="61446" y="38945"/>
                  <a:pt x="19905" y="36349"/>
                  <a:pt x="12116" y="36349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artery_fine_adventitia_33"/>
          <p:cNvSpPr/>
          <p:nvPr/>
        </p:nvSpPr>
        <p:spPr>
          <a:xfrm>
            <a:off x="9907907" y="4681693"/>
            <a:ext cx="169627" cy="193859"/>
          </a:xfrm>
          <a:custGeom>
            <a:avLst/>
            <a:gdLst/>
            <a:ahLst/>
            <a:cxnLst/>
            <a:rect l="0" t="0" r="r" b="b"/>
            <a:pathLst>
              <a:path w="169627" h="193859">
                <a:moveTo>
                  <a:pt x="0" y="0"/>
                </a:moveTo>
                <a:cubicBezTo>
                  <a:pt x="12116" y="12116"/>
                  <a:pt x="60581" y="57119"/>
                  <a:pt x="84813" y="84813"/>
                </a:cubicBezTo>
                <a:cubicBezTo>
                  <a:pt x="109046" y="112507"/>
                  <a:pt x="157510" y="178281"/>
                  <a:pt x="169627" y="193859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artery_fine_adventitia_34"/>
          <p:cNvSpPr/>
          <p:nvPr/>
        </p:nvSpPr>
        <p:spPr>
          <a:xfrm>
            <a:off x="10010895" y="4730158"/>
            <a:ext cx="139336" cy="66639"/>
          </a:xfrm>
          <a:custGeom>
            <a:avLst/>
            <a:gdLst/>
            <a:ahLst/>
            <a:cxnLst/>
            <a:rect l="0" t="0" r="r" b="b"/>
            <a:pathLst>
              <a:path w="139336" h="66639">
                <a:moveTo>
                  <a:pt x="0" y="0"/>
                </a:moveTo>
                <a:cubicBezTo>
                  <a:pt x="12116" y="6924"/>
                  <a:pt x="64908" y="38945"/>
                  <a:pt x="84813" y="48465"/>
                </a:cubicBezTo>
                <a:cubicBezTo>
                  <a:pt x="104718" y="57985"/>
                  <a:pt x="131547" y="64043"/>
                  <a:pt x="139336" y="66639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artery_fine_adventitia_35"/>
          <p:cNvSpPr/>
          <p:nvPr/>
        </p:nvSpPr>
        <p:spPr>
          <a:xfrm>
            <a:off x="10701517" y="4730158"/>
            <a:ext cx="315021" cy="199917"/>
          </a:xfrm>
          <a:custGeom>
            <a:avLst/>
            <a:gdLst/>
            <a:ahLst/>
            <a:cxnLst/>
            <a:rect l="0" t="0" r="r" b="b"/>
            <a:pathLst>
              <a:path w="315021" h="199917">
                <a:moveTo>
                  <a:pt x="0" y="0"/>
                </a:moveTo>
                <a:cubicBezTo>
                  <a:pt x="3462" y="2596"/>
                  <a:pt x="20771" y="13847"/>
                  <a:pt x="24232" y="18174"/>
                </a:cubicBezTo>
                <a:cubicBezTo>
                  <a:pt x="27694" y="22501"/>
                  <a:pt x="18174" y="25963"/>
                  <a:pt x="24232" y="30290"/>
                </a:cubicBezTo>
                <a:cubicBezTo>
                  <a:pt x="30290" y="34618"/>
                  <a:pt x="56254" y="45868"/>
                  <a:pt x="66639" y="48465"/>
                </a:cubicBezTo>
                <a:cubicBezTo>
                  <a:pt x="77024" y="51061"/>
                  <a:pt x="84813" y="44138"/>
                  <a:pt x="96929" y="48465"/>
                </a:cubicBezTo>
                <a:cubicBezTo>
                  <a:pt x="109046" y="52792"/>
                  <a:pt x="120296" y="57119"/>
                  <a:pt x="151452" y="78755"/>
                </a:cubicBezTo>
                <a:cubicBezTo>
                  <a:pt x="182608" y="100391"/>
                  <a:pt x="291654" y="182608"/>
                  <a:pt x="315021" y="199917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artery_fine_adventitia_36"/>
          <p:cNvSpPr/>
          <p:nvPr/>
        </p:nvSpPr>
        <p:spPr>
          <a:xfrm>
            <a:off x="9901849" y="4748332"/>
            <a:ext cx="66639" cy="66639"/>
          </a:xfrm>
          <a:custGeom>
            <a:avLst/>
            <a:gdLst/>
            <a:ahLst/>
            <a:cxnLst/>
            <a:rect l="0" t="0" r="r" b="b"/>
            <a:pathLst>
              <a:path w="66639" h="66639">
                <a:moveTo>
                  <a:pt x="0" y="0"/>
                </a:moveTo>
                <a:cubicBezTo>
                  <a:pt x="9520" y="9520"/>
                  <a:pt x="57119" y="57119"/>
                  <a:pt x="66639" y="66639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artery_fine_adventitia_37"/>
          <p:cNvSpPr/>
          <p:nvPr/>
        </p:nvSpPr>
        <p:spPr>
          <a:xfrm>
            <a:off x="10041185" y="4748332"/>
            <a:ext cx="36349" cy="18174"/>
          </a:xfrm>
          <a:custGeom>
            <a:avLst/>
            <a:gdLst/>
            <a:ahLst/>
            <a:cxnLst/>
            <a:rect l="0" t="0" r="r" b="b"/>
            <a:pathLst>
              <a:path w="36349" h="18174">
                <a:moveTo>
                  <a:pt x="0" y="0"/>
                </a:moveTo>
                <a:cubicBezTo>
                  <a:pt x="5193" y="2596"/>
                  <a:pt x="31156" y="15578"/>
                  <a:pt x="36349" y="18174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artery_fine_adventitia_38"/>
          <p:cNvSpPr/>
          <p:nvPr/>
        </p:nvSpPr>
        <p:spPr>
          <a:xfrm>
            <a:off x="9901849" y="4754391"/>
            <a:ext cx="60581" cy="60581"/>
          </a:xfrm>
          <a:custGeom>
            <a:avLst/>
            <a:gdLst/>
            <a:ahLst/>
            <a:cxnLst/>
            <a:rect l="0" t="0" r="r" b="b"/>
            <a:pathLst>
              <a:path w="60581" h="60581">
                <a:moveTo>
                  <a:pt x="0" y="0"/>
                </a:moveTo>
                <a:cubicBezTo>
                  <a:pt x="8654" y="8654"/>
                  <a:pt x="51927" y="51927"/>
                  <a:pt x="60581" y="60581"/>
                </a:cubicBezTo>
              </a:path>
            </a:pathLst>
          </a:custGeom>
          <a:noFill/>
          <a:ln w="6161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artery_fine_adventitia_39"/>
          <p:cNvSpPr/>
          <p:nvPr/>
        </p:nvSpPr>
        <p:spPr>
          <a:xfrm>
            <a:off x="10489484" y="4766507"/>
            <a:ext cx="169627" cy="115104"/>
          </a:xfrm>
          <a:custGeom>
            <a:avLst/>
            <a:gdLst/>
            <a:ahLst/>
            <a:cxnLst/>
            <a:rect l="0" t="0" r="r" b="b"/>
            <a:pathLst>
              <a:path w="169627" h="115104">
                <a:moveTo>
                  <a:pt x="0" y="0"/>
                </a:moveTo>
                <a:cubicBezTo>
                  <a:pt x="24232" y="16443"/>
                  <a:pt x="145394" y="98660"/>
                  <a:pt x="169627" y="115104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artery_fine_adventitia_40"/>
          <p:cNvSpPr/>
          <p:nvPr/>
        </p:nvSpPr>
        <p:spPr>
          <a:xfrm>
            <a:off x="10840854" y="4833146"/>
            <a:ext cx="42407" cy="36349"/>
          </a:xfrm>
          <a:custGeom>
            <a:avLst/>
            <a:gdLst/>
            <a:ahLst/>
            <a:cxnLst/>
            <a:rect l="0" t="0" r="r" b="b"/>
            <a:pathLst>
              <a:path w="42407" h="36349">
                <a:moveTo>
                  <a:pt x="0" y="0"/>
                </a:moveTo>
                <a:cubicBezTo>
                  <a:pt x="3462" y="4327"/>
                  <a:pt x="18174" y="25098"/>
                  <a:pt x="24232" y="30290"/>
                </a:cubicBezTo>
                <a:cubicBezTo>
                  <a:pt x="30290" y="35483"/>
                  <a:pt x="39810" y="35483"/>
                  <a:pt x="42407" y="36349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artery_fine_adventitia_41"/>
          <p:cNvSpPr/>
          <p:nvPr/>
        </p:nvSpPr>
        <p:spPr>
          <a:xfrm>
            <a:off x="9998779" y="4839204"/>
            <a:ext cx="18174" cy="24232"/>
          </a:xfrm>
          <a:custGeom>
            <a:avLst/>
            <a:gdLst/>
            <a:ahLst/>
            <a:cxnLst/>
            <a:rect l="0" t="0" r="r" b="b"/>
            <a:pathLst>
              <a:path w="18174" h="24232">
                <a:moveTo>
                  <a:pt x="0" y="0"/>
                </a:moveTo>
                <a:cubicBezTo>
                  <a:pt x="2596" y="3462"/>
                  <a:pt x="15578" y="20771"/>
                  <a:pt x="18174" y="24232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artery_fine_adventitia_42"/>
          <p:cNvSpPr/>
          <p:nvPr/>
        </p:nvSpPr>
        <p:spPr>
          <a:xfrm>
            <a:off x="11034712" y="4954308"/>
            <a:ext cx="84813" cy="139336"/>
          </a:xfrm>
          <a:custGeom>
            <a:avLst/>
            <a:gdLst/>
            <a:ahLst/>
            <a:cxnLst/>
            <a:rect l="0" t="0" r="r" b="b"/>
            <a:pathLst>
              <a:path w="84813" h="139336">
                <a:moveTo>
                  <a:pt x="0" y="0"/>
                </a:moveTo>
                <a:cubicBezTo>
                  <a:pt x="5193" y="5193"/>
                  <a:pt x="28560" y="30290"/>
                  <a:pt x="36349" y="36349"/>
                </a:cubicBezTo>
                <a:cubicBezTo>
                  <a:pt x="44138" y="42407"/>
                  <a:pt x="51061" y="34618"/>
                  <a:pt x="54523" y="42407"/>
                </a:cubicBezTo>
                <a:cubicBezTo>
                  <a:pt x="57985" y="50196"/>
                  <a:pt x="56254" y="77024"/>
                  <a:pt x="60581" y="90871"/>
                </a:cubicBezTo>
                <a:cubicBezTo>
                  <a:pt x="64908" y="104718"/>
                  <a:pt x="81352" y="132413"/>
                  <a:pt x="84813" y="139336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artery_fine_adventitia_43"/>
          <p:cNvSpPr/>
          <p:nvPr/>
        </p:nvSpPr>
        <p:spPr>
          <a:xfrm>
            <a:off x="10695459" y="4960366"/>
            <a:ext cx="24232" cy="36349"/>
          </a:xfrm>
          <a:custGeom>
            <a:avLst/>
            <a:gdLst/>
            <a:ahLst/>
            <a:cxnLst/>
            <a:rect l="0" t="0" r="r" b="b"/>
            <a:pathLst>
              <a:path w="24232" h="36349">
                <a:moveTo>
                  <a:pt x="0" y="0"/>
                </a:moveTo>
                <a:cubicBezTo>
                  <a:pt x="3462" y="5193"/>
                  <a:pt x="20771" y="31156"/>
                  <a:pt x="24232" y="36349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artery_fine_adventitia_44"/>
          <p:cNvSpPr/>
          <p:nvPr/>
        </p:nvSpPr>
        <p:spPr>
          <a:xfrm>
            <a:off x="10356206" y="4972482"/>
            <a:ext cx="139336" cy="139336"/>
          </a:xfrm>
          <a:custGeom>
            <a:avLst/>
            <a:gdLst/>
            <a:ahLst/>
            <a:cxnLst/>
            <a:rect l="0" t="0" r="r" b="b"/>
            <a:pathLst>
              <a:path w="139336" h="139336">
                <a:moveTo>
                  <a:pt x="0" y="0"/>
                </a:moveTo>
                <a:cubicBezTo>
                  <a:pt x="865" y="5193"/>
                  <a:pt x="2596" y="28560"/>
                  <a:pt x="6058" y="36349"/>
                </a:cubicBezTo>
                <a:cubicBezTo>
                  <a:pt x="9520" y="44138"/>
                  <a:pt x="14713" y="50196"/>
                  <a:pt x="24232" y="54523"/>
                </a:cubicBezTo>
                <a:cubicBezTo>
                  <a:pt x="33752" y="58850"/>
                  <a:pt x="62312" y="58850"/>
                  <a:pt x="72697" y="66639"/>
                </a:cubicBezTo>
                <a:cubicBezTo>
                  <a:pt x="83082" y="74428"/>
                  <a:pt x="87410" y="98660"/>
                  <a:pt x="96929" y="109046"/>
                </a:cubicBezTo>
                <a:cubicBezTo>
                  <a:pt x="106449" y="119431"/>
                  <a:pt x="133278" y="135009"/>
                  <a:pt x="139336" y="139336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artery_fine_adventitia_45"/>
          <p:cNvSpPr/>
          <p:nvPr/>
        </p:nvSpPr>
        <p:spPr>
          <a:xfrm>
            <a:off x="10798447" y="4978540"/>
            <a:ext cx="224149" cy="78755"/>
          </a:xfrm>
          <a:custGeom>
            <a:avLst/>
            <a:gdLst/>
            <a:ahLst/>
            <a:cxnLst/>
            <a:rect l="0" t="0" r="r" b="b"/>
            <a:pathLst>
              <a:path w="224149" h="78755">
                <a:moveTo>
                  <a:pt x="0" y="0"/>
                </a:moveTo>
                <a:cubicBezTo>
                  <a:pt x="10385" y="1731"/>
                  <a:pt x="60581" y="8654"/>
                  <a:pt x="72697" y="12116"/>
                </a:cubicBezTo>
                <a:cubicBezTo>
                  <a:pt x="84813" y="15578"/>
                  <a:pt x="73563" y="22501"/>
                  <a:pt x="84813" y="24232"/>
                </a:cubicBezTo>
                <a:cubicBezTo>
                  <a:pt x="96064" y="25963"/>
                  <a:pt x="139336" y="20771"/>
                  <a:pt x="151452" y="24232"/>
                </a:cubicBezTo>
                <a:cubicBezTo>
                  <a:pt x="163568" y="27694"/>
                  <a:pt x="159241" y="40676"/>
                  <a:pt x="169627" y="48465"/>
                </a:cubicBezTo>
                <a:cubicBezTo>
                  <a:pt x="180012" y="56254"/>
                  <a:pt x="216360" y="74428"/>
                  <a:pt x="224149" y="78755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artery_fine_adventitia_46"/>
          <p:cNvSpPr/>
          <p:nvPr/>
        </p:nvSpPr>
        <p:spPr>
          <a:xfrm>
            <a:off x="10828737" y="4984598"/>
            <a:ext cx="84813" cy="96929"/>
          </a:xfrm>
          <a:custGeom>
            <a:avLst/>
            <a:gdLst/>
            <a:ahLst/>
            <a:cxnLst/>
            <a:rect l="0" t="0" r="r" b="b"/>
            <a:pathLst>
              <a:path w="84813" h="96929">
                <a:moveTo>
                  <a:pt x="0" y="0"/>
                </a:moveTo>
                <a:cubicBezTo>
                  <a:pt x="4327" y="8654"/>
                  <a:pt x="22501" y="48465"/>
                  <a:pt x="30290" y="60581"/>
                </a:cubicBezTo>
                <a:cubicBezTo>
                  <a:pt x="38079" y="72697"/>
                  <a:pt x="46734" y="79621"/>
                  <a:pt x="54523" y="84813"/>
                </a:cubicBezTo>
                <a:cubicBezTo>
                  <a:pt x="62312" y="90006"/>
                  <a:pt x="80486" y="95199"/>
                  <a:pt x="84813" y="96929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artery_fine_adventitia_47"/>
          <p:cNvSpPr/>
          <p:nvPr/>
        </p:nvSpPr>
        <p:spPr>
          <a:xfrm>
            <a:off x="10556123" y="4996714"/>
            <a:ext cx="54523" cy="72697"/>
          </a:xfrm>
          <a:custGeom>
            <a:avLst/>
            <a:gdLst/>
            <a:ahLst/>
            <a:cxnLst/>
            <a:rect l="0" t="0" r="r" b="b"/>
            <a:pathLst>
              <a:path w="54523" h="72697">
                <a:moveTo>
                  <a:pt x="0" y="0"/>
                </a:moveTo>
                <a:cubicBezTo>
                  <a:pt x="2596" y="5193"/>
                  <a:pt x="12116" y="29425"/>
                  <a:pt x="18174" y="36349"/>
                </a:cubicBezTo>
                <a:cubicBezTo>
                  <a:pt x="24232" y="43272"/>
                  <a:pt x="37214" y="43272"/>
                  <a:pt x="42407" y="48465"/>
                </a:cubicBezTo>
                <a:cubicBezTo>
                  <a:pt x="47599" y="53657"/>
                  <a:pt x="52792" y="69235"/>
                  <a:pt x="54523" y="72697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artery_fine_adventitia_48"/>
          <p:cNvSpPr/>
          <p:nvPr/>
        </p:nvSpPr>
        <p:spPr>
          <a:xfrm>
            <a:off x="11089235" y="4989791"/>
            <a:ext cx="96929" cy="12982"/>
          </a:xfrm>
          <a:custGeom>
            <a:avLst/>
            <a:gdLst/>
            <a:ahLst/>
            <a:cxnLst/>
            <a:rect l="0" t="0" r="r" b="b"/>
            <a:pathLst>
              <a:path w="96929" h="12982">
                <a:moveTo>
                  <a:pt x="0" y="6924"/>
                </a:moveTo>
                <a:cubicBezTo>
                  <a:pt x="9520" y="6058"/>
                  <a:pt x="52792" y="0"/>
                  <a:pt x="66639" y="865"/>
                </a:cubicBezTo>
                <a:cubicBezTo>
                  <a:pt x="80486" y="1731"/>
                  <a:pt x="92602" y="11251"/>
                  <a:pt x="96929" y="12982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artery_fine_adventitia_49"/>
          <p:cNvSpPr/>
          <p:nvPr/>
        </p:nvSpPr>
        <p:spPr>
          <a:xfrm>
            <a:off x="10204754" y="5014889"/>
            <a:ext cx="42407" cy="30290"/>
          </a:xfrm>
          <a:custGeom>
            <a:avLst/>
            <a:gdLst/>
            <a:ahLst/>
            <a:cxnLst/>
            <a:rect l="0" t="0" r="r" b="b"/>
            <a:pathLst>
              <a:path w="42407" h="30290">
                <a:moveTo>
                  <a:pt x="0" y="0"/>
                </a:moveTo>
                <a:cubicBezTo>
                  <a:pt x="6058" y="4327"/>
                  <a:pt x="36349" y="25963"/>
                  <a:pt x="42407" y="30290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artery_fine_adventitia_50"/>
          <p:cNvSpPr/>
          <p:nvPr/>
        </p:nvSpPr>
        <p:spPr>
          <a:xfrm>
            <a:off x="10743924" y="5020947"/>
            <a:ext cx="66639" cy="72697"/>
          </a:xfrm>
          <a:custGeom>
            <a:avLst/>
            <a:gdLst/>
            <a:ahLst/>
            <a:cxnLst/>
            <a:rect l="0" t="0" r="r" b="b"/>
            <a:pathLst>
              <a:path w="66639" h="72697">
                <a:moveTo>
                  <a:pt x="0" y="0"/>
                </a:moveTo>
                <a:cubicBezTo>
                  <a:pt x="9520" y="10385"/>
                  <a:pt x="57119" y="62312"/>
                  <a:pt x="66639" y="72697"/>
                </a:cubicBezTo>
              </a:path>
            </a:pathLst>
          </a:custGeom>
          <a:noFill/>
          <a:ln w="6161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artery_fine_adventitia_51"/>
          <p:cNvSpPr/>
          <p:nvPr/>
        </p:nvSpPr>
        <p:spPr>
          <a:xfrm>
            <a:off x="11283094" y="5057295"/>
            <a:ext cx="369544" cy="284730"/>
          </a:xfrm>
          <a:custGeom>
            <a:avLst/>
            <a:gdLst/>
            <a:ahLst/>
            <a:cxnLst/>
            <a:rect l="0" t="0" r="r" b="b"/>
            <a:pathLst>
              <a:path w="369544" h="284730">
                <a:moveTo>
                  <a:pt x="0" y="0"/>
                </a:moveTo>
                <a:cubicBezTo>
                  <a:pt x="8654" y="6924"/>
                  <a:pt x="45868" y="28560"/>
                  <a:pt x="60581" y="48465"/>
                </a:cubicBezTo>
                <a:cubicBezTo>
                  <a:pt x="75293" y="68370"/>
                  <a:pt x="90871" y="124624"/>
                  <a:pt x="102988" y="139336"/>
                </a:cubicBezTo>
                <a:cubicBezTo>
                  <a:pt x="115104" y="154049"/>
                  <a:pt x="125489" y="139336"/>
                  <a:pt x="145394" y="151452"/>
                </a:cubicBezTo>
                <a:cubicBezTo>
                  <a:pt x="165299" y="163568"/>
                  <a:pt x="216360" y="212033"/>
                  <a:pt x="242324" y="224149"/>
                </a:cubicBezTo>
                <a:cubicBezTo>
                  <a:pt x="268287" y="236266"/>
                  <a:pt x="314155" y="231938"/>
                  <a:pt x="327137" y="236266"/>
                </a:cubicBezTo>
                <a:cubicBezTo>
                  <a:pt x="340119" y="240593"/>
                  <a:pt x="327137" y="247516"/>
                  <a:pt x="333195" y="254440"/>
                </a:cubicBezTo>
                <a:cubicBezTo>
                  <a:pt x="339253" y="261363"/>
                  <a:pt x="364351" y="280403"/>
                  <a:pt x="369544" y="284730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artery_fine_adventitia_52"/>
          <p:cNvSpPr/>
          <p:nvPr/>
        </p:nvSpPr>
        <p:spPr>
          <a:xfrm>
            <a:off x="10895376" y="5136050"/>
            <a:ext cx="51927" cy="48465"/>
          </a:xfrm>
          <a:custGeom>
            <a:avLst/>
            <a:gdLst/>
            <a:ahLst/>
            <a:cxnLst/>
            <a:rect l="0" t="0" r="r" b="b"/>
            <a:pathLst>
              <a:path w="51927" h="48465">
                <a:moveTo>
                  <a:pt x="0" y="0"/>
                </a:moveTo>
                <a:cubicBezTo>
                  <a:pt x="3462" y="1731"/>
                  <a:pt x="17309" y="6924"/>
                  <a:pt x="24232" y="12116"/>
                </a:cubicBezTo>
                <a:cubicBezTo>
                  <a:pt x="31156" y="17309"/>
                  <a:pt x="45003" y="31156"/>
                  <a:pt x="48465" y="36349"/>
                </a:cubicBezTo>
                <a:cubicBezTo>
                  <a:pt x="51927" y="41541"/>
                  <a:pt x="48465" y="46734"/>
                  <a:pt x="48465" y="48465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artery_fine_adventitia_53"/>
          <p:cNvSpPr/>
          <p:nvPr/>
        </p:nvSpPr>
        <p:spPr>
          <a:xfrm>
            <a:off x="10525833" y="5154225"/>
            <a:ext cx="72697" cy="24232"/>
          </a:xfrm>
          <a:custGeom>
            <a:avLst/>
            <a:gdLst/>
            <a:ahLst/>
            <a:cxnLst/>
            <a:rect l="0" t="0" r="r" b="b"/>
            <a:pathLst>
              <a:path w="72697" h="24232">
                <a:moveTo>
                  <a:pt x="0" y="0"/>
                </a:moveTo>
                <a:cubicBezTo>
                  <a:pt x="10385" y="3462"/>
                  <a:pt x="62312" y="20771"/>
                  <a:pt x="72697" y="24232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artery_fine_adventitia_54"/>
          <p:cNvSpPr/>
          <p:nvPr/>
        </p:nvSpPr>
        <p:spPr>
          <a:xfrm>
            <a:off x="10721423" y="5160283"/>
            <a:ext cx="34618" cy="48465"/>
          </a:xfrm>
          <a:custGeom>
            <a:avLst/>
            <a:gdLst/>
            <a:ahLst/>
            <a:cxnLst/>
            <a:rect l="0" t="0" r="r" b="b"/>
            <a:pathLst>
              <a:path w="34618" h="48465">
                <a:moveTo>
                  <a:pt x="4327" y="0"/>
                </a:moveTo>
                <a:cubicBezTo>
                  <a:pt x="4327" y="1731"/>
                  <a:pt x="0" y="5193"/>
                  <a:pt x="4327" y="12116"/>
                </a:cubicBezTo>
                <a:cubicBezTo>
                  <a:pt x="8654" y="19040"/>
                  <a:pt x="30290" y="43272"/>
                  <a:pt x="34618" y="48465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artery_fine_adventitia_55"/>
          <p:cNvSpPr/>
          <p:nvPr/>
        </p:nvSpPr>
        <p:spPr>
          <a:xfrm>
            <a:off x="11040771" y="5178457"/>
            <a:ext cx="109046" cy="97795"/>
          </a:xfrm>
          <a:custGeom>
            <a:avLst/>
            <a:gdLst/>
            <a:ahLst/>
            <a:cxnLst/>
            <a:rect l="0" t="0" r="r" b="b"/>
            <a:pathLst>
              <a:path w="109046" h="97795">
                <a:moveTo>
                  <a:pt x="0" y="0"/>
                </a:moveTo>
                <a:cubicBezTo>
                  <a:pt x="12116" y="12116"/>
                  <a:pt x="69235" y="71832"/>
                  <a:pt x="84813" y="84813"/>
                </a:cubicBezTo>
                <a:cubicBezTo>
                  <a:pt x="100391" y="97795"/>
                  <a:pt x="105584" y="90006"/>
                  <a:pt x="109046" y="90871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artery_fine_adventitia_56"/>
          <p:cNvSpPr/>
          <p:nvPr/>
        </p:nvSpPr>
        <p:spPr>
          <a:xfrm>
            <a:off x="10867682" y="5190573"/>
            <a:ext cx="27694" cy="36349"/>
          </a:xfrm>
          <a:custGeom>
            <a:avLst/>
            <a:gdLst/>
            <a:ahLst/>
            <a:cxnLst/>
            <a:rect l="0" t="0" r="r" b="b"/>
            <a:pathLst>
              <a:path w="27694" h="36349">
                <a:moveTo>
                  <a:pt x="3462" y="0"/>
                </a:moveTo>
                <a:cubicBezTo>
                  <a:pt x="3462" y="1731"/>
                  <a:pt x="0" y="6924"/>
                  <a:pt x="3462" y="12116"/>
                </a:cubicBezTo>
                <a:cubicBezTo>
                  <a:pt x="6924" y="17309"/>
                  <a:pt x="24232" y="32887"/>
                  <a:pt x="27694" y="36349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artery_fine_adventitia_57"/>
          <p:cNvSpPr/>
          <p:nvPr/>
        </p:nvSpPr>
        <p:spPr>
          <a:xfrm>
            <a:off x="11335886" y="5196631"/>
            <a:ext cx="50196" cy="47599"/>
          </a:xfrm>
          <a:custGeom>
            <a:avLst/>
            <a:gdLst/>
            <a:ahLst/>
            <a:cxnLst/>
            <a:rect l="0" t="0" r="r" b="b"/>
            <a:pathLst>
              <a:path w="50196" h="47599">
                <a:moveTo>
                  <a:pt x="50196" y="0"/>
                </a:moveTo>
                <a:cubicBezTo>
                  <a:pt x="45003" y="6058"/>
                  <a:pt x="20771" y="37214"/>
                  <a:pt x="13847" y="42407"/>
                </a:cubicBezTo>
                <a:cubicBezTo>
                  <a:pt x="6924" y="47599"/>
                  <a:pt x="0" y="38079"/>
                  <a:pt x="1731" y="36349"/>
                </a:cubicBezTo>
                <a:cubicBezTo>
                  <a:pt x="3462" y="34618"/>
                  <a:pt x="22501" y="31156"/>
                  <a:pt x="25963" y="30290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artery_fine_adventitia_58"/>
          <p:cNvSpPr/>
          <p:nvPr/>
        </p:nvSpPr>
        <p:spPr>
          <a:xfrm>
            <a:off x="11525418" y="5196631"/>
            <a:ext cx="66639" cy="90871"/>
          </a:xfrm>
          <a:custGeom>
            <a:avLst/>
            <a:gdLst/>
            <a:ahLst/>
            <a:cxnLst/>
            <a:rect l="0" t="0" r="r" b="b"/>
            <a:pathLst>
              <a:path w="66639" h="90871">
                <a:moveTo>
                  <a:pt x="0" y="0"/>
                </a:moveTo>
                <a:cubicBezTo>
                  <a:pt x="9520" y="12982"/>
                  <a:pt x="57119" y="77890"/>
                  <a:pt x="66639" y="90871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artery_fine_adventitia_59"/>
          <p:cNvSpPr/>
          <p:nvPr/>
        </p:nvSpPr>
        <p:spPr>
          <a:xfrm>
            <a:off x="10986248" y="5226922"/>
            <a:ext cx="66639" cy="54523"/>
          </a:xfrm>
          <a:custGeom>
            <a:avLst/>
            <a:gdLst/>
            <a:ahLst/>
            <a:cxnLst/>
            <a:rect l="0" t="0" r="r" b="b"/>
            <a:pathLst>
              <a:path w="66639" h="54523">
                <a:moveTo>
                  <a:pt x="0" y="0"/>
                </a:moveTo>
                <a:cubicBezTo>
                  <a:pt x="4327" y="5193"/>
                  <a:pt x="20771" y="28560"/>
                  <a:pt x="30290" y="36349"/>
                </a:cubicBezTo>
                <a:cubicBezTo>
                  <a:pt x="39810" y="44138"/>
                  <a:pt x="61446" y="51927"/>
                  <a:pt x="66639" y="54523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artery_fine_adventitia_60"/>
          <p:cNvSpPr/>
          <p:nvPr/>
        </p:nvSpPr>
        <p:spPr>
          <a:xfrm>
            <a:off x="11337617" y="5232980"/>
            <a:ext cx="183474" cy="58850"/>
          </a:xfrm>
          <a:custGeom>
            <a:avLst/>
            <a:gdLst/>
            <a:ahLst/>
            <a:cxnLst/>
            <a:rect l="0" t="0" r="r" b="b"/>
            <a:pathLst>
              <a:path w="183474" h="58850">
                <a:moveTo>
                  <a:pt x="0" y="0"/>
                </a:moveTo>
                <a:cubicBezTo>
                  <a:pt x="5193" y="3462"/>
                  <a:pt x="12982" y="16443"/>
                  <a:pt x="36349" y="24232"/>
                </a:cubicBezTo>
                <a:cubicBezTo>
                  <a:pt x="59715" y="32021"/>
                  <a:pt x="143663" y="50196"/>
                  <a:pt x="163568" y="54523"/>
                </a:cubicBezTo>
                <a:cubicBezTo>
                  <a:pt x="183474" y="58850"/>
                  <a:pt x="173088" y="56254"/>
                  <a:pt x="175685" y="54523"/>
                </a:cubicBezTo>
                <a:cubicBezTo>
                  <a:pt x="178281" y="52792"/>
                  <a:pt x="180877" y="44138"/>
                  <a:pt x="181743" y="42407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artery_fine_adventitia_61"/>
          <p:cNvSpPr/>
          <p:nvPr/>
        </p:nvSpPr>
        <p:spPr>
          <a:xfrm>
            <a:off x="10998364" y="5239038"/>
            <a:ext cx="18174" cy="24232"/>
          </a:xfrm>
          <a:custGeom>
            <a:avLst/>
            <a:gdLst/>
            <a:ahLst/>
            <a:cxnLst/>
            <a:rect l="0" t="0" r="r" b="b"/>
            <a:pathLst>
              <a:path w="18174" h="24232">
                <a:moveTo>
                  <a:pt x="0" y="0"/>
                </a:moveTo>
                <a:cubicBezTo>
                  <a:pt x="2596" y="3462"/>
                  <a:pt x="15578" y="20771"/>
                  <a:pt x="18174" y="24232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artery_fine_adventitia_62"/>
          <p:cNvSpPr/>
          <p:nvPr/>
        </p:nvSpPr>
        <p:spPr>
          <a:xfrm>
            <a:off x="11416372" y="5239038"/>
            <a:ext cx="61446" cy="19040"/>
          </a:xfrm>
          <a:custGeom>
            <a:avLst/>
            <a:gdLst/>
            <a:ahLst/>
            <a:cxnLst/>
            <a:rect l="0" t="0" r="r" b="b"/>
            <a:pathLst>
              <a:path w="61446" h="19040">
                <a:moveTo>
                  <a:pt x="48465" y="0"/>
                </a:moveTo>
                <a:cubicBezTo>
                  <a:pt x="49330" y="2596"/>
                  <a:pt x="61446" y="17309"/>
                  <a:pt x="54523" y="18174"/>
                </a:cubicBezTo>
                <a:cubicBezTo>
                  <a:pt x="47599" y="19040"/>
                  <a:pt x="7789" y="7789"/>
                  <a:pt x="0" y="6058"/>
                </a:cubicBezTo>
              </a:path>
            </a:pathLst>
          </a:custGeom>
          <a:noFill/>
          <a:ln w="6161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artery_fine_adventitia_63"/>
          <p:cNvSpPr/>
          <p:nvPr/>
        </p:nvSpPr>
        <p:spPr>
          <a:xfrm>
            <a:off x="10780273" y="5251154"/>
            <a:ext cx="18174" cy="36349"/>
          </a:xfrm>
          <a:custGeom>
            <a:avLst/>
            <a:gdLst/>
            <a:ahLst/>
            <a:cxnLst/>
            <a:rect l="0" t="0" r="r" b="b"/>
            <a:pathLst>
              <a:path w="18174" h="36349">
                <a:moveTo>
                  <a:pt x="0" y="0"/>
                </a:moveTo>
                <a:cubicBezTo>
                  <a:pt x="2596" y="5193"/>
                  <a:pt x="15578" y="31156"/>
                  <a:pt x="18174" y="36349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artery_fine_adventitia_64"/>
          <p:cNvSpPr/>
          <p:nvPr/>
        </p:nvSpPr>
        <p:spPr>
          <a:xfrm>
            <a:off x="10628820" y="5293561"/>
            <a:ext cx="54523" cy="26829"/>
          </a:xfrm>
          <a:custGeom>
            <a:avLst/>
            <a:gdLst/>
            <a:ahLst/>
            <a:cxnLst/>
            <a:rect l="0" t="0" r="r" b="b"/>
            <a:pathLst>
              <a:path w="54523" h="26829">
                <a:moveTo>
                  <a:pt x="0" y="0"/>
                </a:moveTo>
                <a:cubicBezTo>
                  <a:pt x="5193" y="3462"/>
                  <a:pt x="28560" y="21636"/>
                  <a:pt x="36349" y="24232"/>
                </a:cubicBezTo>
                <a:cubicBezTo>
                  <a:pt x="44138" y="26829"/>
                  <a:pt x="51927" y="19040"/>
                  <a:pt x="54523" y="18174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artery_fine_adventitia_65"/>
          <p:cNvSpPr/>
          <p:nvPr/>
        </p:nvSpPr>
        <p:spPr>
          <a:xfrm>
            <a:off x="11597250" y="5293561"/>
            <a:ext cx="19040" cy="19040"/>
          </a:xfrm>
          <a:custGeom>
            <a:avLst/>
            <a:gdLst/>
            <a:ahLst/>
            <a:cxnLst/>
            <a:rect l="0" t="0" r="r" b="b"/>
            <a:pathLst>
              <a:path w="19040" h="19040">
                <a:moveTo>
                  <a:pt x="6924" y="0"/>
                </a:moveTo>
                <a:cubicBezTo>
                  <a:pt x="6058" y="865"/>
                  <a:pt x="0" y="3462"/>
                  <a:pt x="865" y="6058"/>
                </a:cubicBezTo>
                <a:cubicBezTo>
                  <a:pt x="1731" y="8654"/>
                  <a:pt x="10385" y="17309"/>
                  <a:pt x="12982" y="18174"/>
                </a:cubicBezTo>
                <a:cubicBezTo>
                  <a:pt x="15578" y="19040"/>
                  <a:pt x="18174" y="12982"/>
                  <a:pt x="19040" y="12116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artery_fine_adventitia_66"/>
          <p:cNvSpPr/>
          <p:nvPr/>
        </p:nvSpPr>
        <p:spPr>
          <a:xfrm>
            <a:off x="10695459" y="5317793"/>
            <a:ext cx="72697" cy="36349"/>
          </a:xfrm>
          <a:custGeom>
            <a:avLst/>
            <a:gdLst/>
            <a:ahLst/>
            <a:cxnLst/>
            <a:rect l="0" t="0" r="r" b="b"/>
            <a:pathLst>
              <a:path w="72697" h="36349">
                <a:moveTo>
                  <a:pt x="0" y="0"/>
                </a:moveTo>
                <a:cubicBezTo>
                  <a:pt x="10385" y="5193"/>
                  <a:pt x="62312" y="31156"/>
                  <a:pt x="72697" y="36349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artery_fine_adventitia_67"/>
          <p:cNvSpPr/>
          <p:nvPr/>
        </p:nvSpPr>
        <p:spPr>
          <a:xfrm>
            <a:off x="10865086" y="5317793"/>
            <a:ext cx="48465" cy="30290"/>
          </a:xfrm>
          <a:custGeom>
            <a:avLst/>
            <a:gdLst/>
            <a:ahLst/>
            <a:cxnLst/>
            <a:rect l="0" t="0" r="r" b="b"/>
            <a:pathLst>
              <a:path w="48465" h="30290">
                <a:moveTo>
                  <a:pt x="0" y="0"/>
                </a:moveTo>
                <a:cubicBezTo>
                  <a:pt x="4327" y="865"/>
                  <a:pt x="23367" y="1731"/>
                  <a:pt x="30290" y="6058"/>
                </a:cubicBezTo>
                <a:cubicBezTo>
                  <a:pt x="37214" y="10385"/>
                  <a:pt x="45868" y="26829"/>
                  <a:pt x="48465" y="30290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artery_fine_adventitia_68"/>
          <p:cNvSpPr/>
          <p:nvPr/>
        </p:nvSpPr>
        <p:spPr>
          <a:xfrm>
            <a:off x="11361849" y="5323851"/>
            <a:ext cx="248382" cy="181743"/>
          </a:xfrm>
          <a:custGeom>
            <a:avLst/>
            <a:gdLst/>
            <a:ahLst/>
            <a:cxnLst/>
            <a:rect l="0" t="0" r="r" b="b"/>
            <a:pathLst>
              <a:path w="248382" h="181743">
                <a:moveTo>
                  <a:pt x="0" y="0"/>
                </a:moveTo>
                <a:cubicBezTo>
                  <a:pt x="7789" y="4327"/>
                  <a:pt x="39810" y="24232"/>
                  <a:pt x="54523" y="30290"/>
                </a:cubicBezTo>
                <a:cubicBezTo>
                  <a:pt x="69235" y="36349"/>
                  <a:pt x="95199" y="35483"/>
                  <a:pt x="102988" y="42407"/>
                </a:cubicBezTo>
                <a:cubicBezTo>
                  <a:pt x="110777" y="49330"/>
                  <a:pt x="104718" y="70101"/>
                  <a:pt x="109046" y="78755"/>
                </a:cubicBezTo>
                <a:cubicBezTo>
                  <a:pt x="113373" y="87410"/>
                  <a:pt x="125489" y="97795"/>
                  <a:pt x="133278" y="102988"/>
                </a:cubicBezTo>
                <a:cubicBezTo>
                  <a:pt x="141067" y="108180"/>
                  <a:pt x="154914" y="108180"/>
                  <a:pt x="163568" y="115104"/>
                </a:cubicBezTo>
                <a:cubicBezTo>
                  <a:pt x="172223" y="122027"/>
                  <a:pt x="181743" y="141932"/>
                  <a:pt x="193859" y="151452"/>
                </a:cubicBezTo>
                <a:cubicBezTo>
                  <a:pt x="205975" y="160972"/>
                  <a:pt x="240593" y="177416"/>
                  <a:pt x="248382" y="181743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artery_fine_adventitia_69"/>
          <p:cNvSpPr/>
          <p:nvPr/>
        </p:nvSpPr>
        <p:spPr>
          <a:xfrm>
            <a:off x="10901434" y="5329909"/>
            <a:ext cx="66639" cy="12116"/>
          </a:xfrm>
          <a:custGeom>
            <a:avLst/>
            <a:gdLst/>
            <a:ahLst/>
            <a:cxnLst/>
            <a:rect l="0" t="0" r="r" b="b"/>
            <a:pathLst>
              <a:path w="66639" h="12116">
                <a:moveTo>
                  <a:pt x="0" y="0"/>
                </a:moveTo>
                <a:cubicBezTo>
                  <a:pt x="9520" y="1731"/>
                  <a:pt x="57119" y="10385"/>
                  <a:pt x="66639" y="12116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artery_fine_adventitia_70"/>
          <p:cNvSpPr/>
          <p:nvPr/>
        </p:nvSpPr>
        <p:spPr>
          <a:xfrm>
            <a:off x="10943841" y="5354142"/>
            <a:ext cx="224149" cy="48465"/>
          </a:xfrm>
          <a:custGeom>
            <a:avLst/>
            <a:gdLst/>
            <a:ahLst/>
            <a:cxnLst/>
            <a:rect l="0" t="0" r="r" b="b"/>
            <a:pathLst>
              <a:path w="224149" h="48465">
                <a:moveTo>
                  <a:pt x="0" y="6058"/>
                </a:moveTo>
                <a:cubicBezTo>
                  <a:pt x="12982" y="6058"/>
                  <a:pt x="58850" y="0"/>
                  <a:pt x="90871" y="6058"/>
                </a:cubicBezTo>
                <a:cubicBezTo>
                  <a:pt x="122893" y="12116"/>
                  <a:pt x="205110" y="42407"/>
                  <a:pt x="224149" y="48465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artery_fine_adventitia_71"/>
          <p:cNvSpPr/>
          <p:nvPr/>
        </p:nvSpPr>
        <p:spPr>
          <a:xfrm>
            <a:off x="11525418" y="5378374"/>
            <a:ext cx="139336" cy="139336"/>
          </a:xfrm>
          <a:custGeom>
            <a:avLst/>
            <a:gdLst/>
            <a:ahLst/>
            <a:cxnLst/>
            <a:rect l="0" t="0" r="r" b="b"/>
            <a:pathLst>
              <a:path w="139336" h="139336">
                <a:moveTo>
                  <a:pt x="0" y="0"/>
                </a:moveTo>
                <a:cubicBezTo>
                  <a:pt x="4327" y="3462"/>
                  <a:pt x="25963" y="19040"/>
                  <a:pt x="30290" y="24232"/>
                </a:cubicBezTo>
                <a:cubicBezTo>
                  <a:pt x="34618" y="29425"/>
                  <a:pt x="20771" y="27694"/>
                  <a:pt x="30290" y="36349"/>
                </a:cubicBezTo>
                <a:cubicBezTo>
                  <a:pt x="39810" y="45003"/>
                  <a:pt x="81352" y="70101"/>
                  <a:pt x="96929" y="84813"/>
                </a:cubicBezTo>
                <a:cubicBezTo>
                  <a:pt x="112507" y="99526"/>
                  <a:pt x="133278" y="131547"/>
                  <a:pt x="139336" y="139336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artery_fine_adventitia_72"/>
          <p:cNvSpPr/>
          <p:nvPr/>
        </p:nvSpPr>
        <p:spPr>
          <a:xfrm>
            <a:off x="11737451" y="5389625"/>
            <a:ext cx="318483" cy="237131"/>
          </a:xfrm>
          <a:custGeom>
            <a:avLst/>
            <a:gdLst/>
            <a:ahLst/>
            <a:cxnLst/>
            <a:rect l="0" t="0" r="r" b="b"/>
            <a:pathLst>
              <a:path w="318483" h="237131">
                <a:moveTo>
                  <a:pt x="0" y="6924"/>
                </a:moveTo>
                <a:cubicBezTo>
                  <a:pt x="2596" y="6058"/>
                  <a:pt x="865" y="0"/>
                  <a:pt x="18174" y="865"/>
                </a:cubicBezTo>
                <a:cubicBezTo>
                  <a:pt x="35483" y="1731"/>
                  <a:pt x="92602" y="3462"/>
                  <a:pt x="121162" y="12982"/>
                </a:cubicBezTo>
                <a:cubicBezTo>
                  <a:pt x="149721" y="22501"/>
                  <a:pt x="192994" y="47599"/>
                  <a:pt x="218091" y="67504"/>
                </a:cubicBezTo>
                <a:cubicBezTo>
                  <a:pt x="243189" y="87410"/>
                  <a:pt x="282999" y="133278"/>
                  <a:pt x="296847" y="152318"/>
                </a:cubicBezTo>
                <a:cubicBezTo>
                  <a:pt x="310694" y="171357"/>
                  <a:pt x="313290" y="189532"/>
                  <a:pt x="315021" y="200782"/>
                </a:cubicBezTo>
                <a:cubicBezTo>
                  <a:pt x="316752" y="212033"/>
                  <a:pt x="318483" y="225880"/>
                  <a:pt x="308963" y="231073"/>
                </a:cubicBezTo>
                <a:cubicBezTo>
                  <a:pt x="299443" y="236266"/>
                  <a:pt x="257036" y="236266"/>
                  <a:pt x="248382" y="237131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artery_fine_adventitia_73"/>
          <p:cNvSpPr/>
          <p:nvPr/>
        </p:nvSpPr>
        <p:spPr>
          <a:xfrm>
            <a:off x="11728797" y="5396548"/>
            <a:ext cx="105584" cy="169627"/>
          </a:xfrm>
          <a:custGeom>
            <a:avLst/>
            <a:gdLst/>
            <a:ahLst/>
            <a:cxnLst/>
            <a:rect l="0" t="0" r="r" b="b"/>
            <a:pathLst>
              <a:path w="105584" h="169627">
                <a:moveTo>
                  <a:pt x="8654" y="0"/>
                </a:moveTo>
                <a:cubicBezTo>
                  <a:pt x="7789" y="2596"/>
                  <a:pt x="0" y="5193"/>
                  <a:pt x="2596" y="18174"/>
                </a:cubicBezTo>
                <a:cubicBezTo>
                  <a:pt x="5193" y="31156"/>
                  <a:pt x="12116" y="69235"/>
                  <a:pt x="26829" y="90871"/>
                </a:cubicBezTo>
                <a:cubicBezTo>
                  <a:pt x="41541" y="112507"/>
                  <a:pt x="94333" y="158376"/>
                  <a:pt x="105584" y="169627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artery_fine_adventitia_74"/>
          <p:cNvSpPr/>
          <p:nvPr/>
        </p:nvSpPr>
        <p:spPr>
          <a:xfrm>
            <a:off x="11251938" y="5414723"/>
            <a:ext cx="55388" cy="48465"/>
          </a:xfrm>
          <a:custGeom>
            <a:avLst/>
            <a:gdLst/>
            <a:ahLst/>
            <a:cxnLst/>
            <a:rect l="0" t="0" r="r" b="b"/>
            <a:pathLst>
              <a:path w="55388" h="48465">
                <a:moveTo>
                  <a:pt x="6924" y="0"/>
                </a:moveTo>
                <a:cubicBezTo>
                  <a:pt x="6924" y="1731"/>
                  <a:pt x="0" y="5193"/>
                  <a:pt x="6924" y="12116"/>
                </a:cubicBezTo>
                <a:cubicBezTo>
                  <a:pt x="13847" y="19040"/>
                  <a:pt x="48465" y="43272"/>
                  <a:pt x="55388" y="48465"/>
                </a:cubicBezTo>
              </a:path>
            </a:pathLst>
          </a:custGeom>
          <a:noFill/>
          <a:ln w="6161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artery_fine_adventitia_75"/>
          <p:cNvSpPr/>
          <p:nvPr/>
        </p:nvSpPr>
        <p:spPr>
          <a:xfrm>
            <a:off x="11428488" y="5432897"/>
            <a:ext cx="115104" cy="115104"/>
          </a:xfrm>
          <a:custGeom>
            <a:avLst/>
            <a:gdLst/>
            <a:ahLst/>
            <a:cxnLst/>
            <a:rect l="0" t="0" r="r" b="b"/>
            <a:pathLst>
              <a:path w="115104" h="115104">
                <a:moveTo>
                  <a:pt x="0" y="0"/>
                </a:moveTo>
                <a:cubicBezTo>
                  <a:pt x="7789" y="6058"/>
                  <a:pt x="38079" y="25963"/>
                  <a:pt x="54523" y="42407"/>
                </a:cubicBezTo>
                <a:cubicBezTo>
                  <a:pt x="70966" y="58850"/>
                  <a:pt x="106449" y="104718"/>
                  <a:pt x="115104" y="115104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artery_fine_adventitia_76"/>
          <p:cNvSpPr/>
          <p:nvPr/>
        </p:nvSpPr>
        <p:spPr>
          <a:xfrm>
            <a:off x="11167991" y="5511652"/>
            <a:ext cx="72697" cy="42407"/>
          </a:xfrm>
          <a:custGeom>
            <a:avLst/>
            <a:gdLst/>
            <a:ahLst/>
            <a:cxnLst/>
            <a:rect l="0" t="0" r="r" b="b"/>
            <a:pathLst>
              <a:path w="72697" h="42407">
                <a:moveTo>
                  <a:pt x="0" y="0"/>
                </a:moveTo>
                <a:cubicBezTo>
                  <a:pt x="10385" y="6058"/>
                  <a:pt x="62312" y="36349"/>
                  <a:pt x="72697" y="42407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artery_fine_adventitia_77"/>
          <p:cNvSpPr/>
          <p:nvPr/>
        </p:nvSpPr>
        <p:spPr>
          <a:xfrm>
            <a:off x="12082762" y="5523768"/>
            <a:ext cx="66639" cy="69235"/>
          </a:xfrm>
          <a:custGeom>
            <a:avLst/>
            <a:gdLst/>
            <a:ahLst/>
            <a:cxnLst/>
            <a:rect l="0" t="0" r="r" b="b"/>
            <a:pathLst>
              <a:path w="66639" h="69235">
                <a:moveTo>
                  <a:pt x="0" y="0"/>
                </a:moveTo>
                <a:cubicBezTo>
                  <a:pt x="7789" y="8654"/>
                  <a:pt x="45003" y="51927"/>
                  <a:pt x="54523" y="60581"/>
                </a:cubicBezTo>
                <a:cubicBezTo>
                  <a:pt x="64043" y="69235"/>
                  <a:pt x="64908" y="60581"/>
                  <a:pt x="66639" y="60581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artery_fine_adventitia_78"/>
          <p:cNvSpPr/>
          <p:nvPr/>
        </p:nvSpPr>
        <p:spPr>
          <a:xfrm>
            <a:off x="11361849" y="5531557"/>
            <a:ext cx="78755" cy="34618"/>
          </a:xfrm>
          <a:custGeom>
            <a:avLst/>
            <a:gdLst/>
            <a:ahLst/>
            <a:cxnLst/>
            <a:rect l="0" t="0" r="r" b="b"/>
            <a:pathLst>
              <a:path w="78755" h="34618">
                <a:moveTo>
                  <a:pt x="0" y="4327"/>
                </a:moveTo>
                <a:cubicBezTo>
                  <a:pt x="4327" y="4327"/>
                  <a:pt x="19040" y="0"/>
                  <a:pt x="30290" y="4327"/>
                </a:cubicBezTo>
                <a:cubicBezTo>
                  <a:pt x="41541" y="8654"/>
                  <a:pt x="71832" y="30290"/>
                  <a:pt x="78755" y="34618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artery_fine_adventitia_79"/>
          <p:cNvSpPr/>
          <p:nvPr/>
        </p:nvSpPr>
        <p:spPr>
          <a:xfrm>
            <a:off x="12052472" y="5602523"/>
            <a:ext cx="351369" cy="290788"/>
          </a:xfrm>
          <a:custGeom>
            <a:avLst/>
            <a:gdLst/>
            <a:ahLst/>
            <a:cxnLst/>
            <a:rect l="0" t="0" r="r" b="b"/>
            <a:pathLst>
              <a:path w="351369" h="290788">
                <a:moveTo>
                  <a:pt x="0" y="0"/>
                </a:moveTo>
                <a:cubicBezTo>
                  <a:pt x="3462" y="3462"/>
                  <a:pt x="19905" y="17309"/>
                  <a:pt x="24232" y="24232"/>
                </a:cubicBezTo>
                <a:cubicBezTo>
                  <a:pt x="28560" y="31156"/>
                  <a:pt x="19905" y="36349"/>
                  <a:pt x="30290" y="48465"/>
                </a:cubicBezTo>
                <a:cubicBezTo>
                  <a:pt x="40676" y="60581"/>
                  <a:pt x="71832" y="81352"/>
                  <a:pt x="96929" y="109046"/>
                </a:cubicBezTo>
                <a:cubicBezTo>
                  <a:pt x="122027" y="136740"/>
                  <a:pt x="184339" y="222419"/>
                  <a:pt x="205975" y="242324"/>
                </a:cubicBezTo>
                <a:cubicBezTo>
                  <a:pt x="227611" y="262229"/>
                  <a:pt x="227611" y="241458"/>
                  <a:pt x="248382" y="248382"/>
                </a:cubicBezTo>
                <a:cubicBezTo>
                  <a:pt x="269152" y="255305"/>
                  <a:pt x="336657" y="284730"/>
                  <a:pt x="351369" y="290788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artery_fine_adventitia_80"/>
          <p:cNvSpPr/>
          <p:nvPr/>
        </p:nvSpPr>
        <p:spPr>
          <a:xfrm>
            <a:off x="11707161" y="5626756"/>
            <a:ext cx="175685" cy="84813"/>
          </a:xfrm>
          <a:custGeom>
            <a:avLst/>
            <a:gdLst/>
            <a:ahLst/>
            <a:cxnLst/>
            <a:rect l="0" t="0" r="r" b="b"/>
            <a:pathLst>
              <a:path w="175685" h="84813">
                <a:moveTo>
                  <a:pt x="0" y="0"/>
                </a:moveTo>
                <a:cubicBezTo>
                  <a:pt x="4327" y="865"/>
                  <a:pt x="19040" y="0"/>
                  <a:pt x="30290" y="6058"/>
                </a:cubicBezTo>
                <a:cubicBezTo>
                  <a:pt x="41541" y="12116"/>
                  <a:pt x="57985" y="31156"/>
                  <a:pt x="78755" y="42407"/>
                </a:cubicBezTo>
                <a:cubicBezTo>
                  <a:pt x="99526" y="53657"/>
                  <a:pt x="161838" y="78755"/>
                  <a:pt x="175685" y="84813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artery_fine_adventitia_81"/>
          <p:cNvSpPr/>
          <p:nvPr/>
        </p:nvSpPr>
        <p:spPr>
          <a:xfrm>
            <a:off x="11483011" y="5632814"/>
            <a:ext cx="47599" cy="25963"/>
          </a:xfrm>
          <a:custGeom>
            <a:avLst/>
            <a:gdLst/>
            <a:ahLst/>
            <a:cxnLst/>
            <a:rect l="0" t="0" r="r" b="b"/>
            <a:pathLst>
              <a:path w="47599" h="25963">
                <a:moveTo>
                  <a:pt x="12116" y="0"/>
                </a:moveTo>
                <a:cubicBezTo>
                  <a:pt x="15578" y="865"/>
                  <a:pt x="32021" y="2596"/>
                  <a:pt x="36349" y="6058"/>
                </a:cubicBezTo>
                <a:cubicBezTo>
                  <a:pt x="40676" y="9520"/>
                  <a:pt x="47599" y="22501"/>
                  <a:pt x="42407" y="24232"/>
                </a:cubicBezTo>
                <a:cubicBezTo>
                  <a:pt x="37214" y="25963"/>
                  <a:pt x="6058" y="19040"/>
                  <a:pt x="0" y="18174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artery_fine_adventitia_82"/>
          <p:cNvSpPr/>
          <p:nvPr/>
        </p:nvSpPr>
        <p:spPr>
          <a:xfrm>
            <a:off x="11731393" y="5632814"/>
            <a:ext cx="30290" cy="42407"/>
          </a:xfrm>
          <a:custGeom>
            <a:avLst/>
            <a:gdLst/>
            <a:ahLst/>
            <a:cxnLst/>
            <a:rect l="0" t="0" r="r" b="b"/>
            <a:pathLst>
              <a:path w="30290" h="42407">
                <a:moveTo>
                  <a:pt x="0" y="0"/>
                </a:moveTo>
                <a:cubicBezTo>
                  <a:pt x="4327" y="6058"/>
                  <a:pt x="25963" y="36349"/>
                  <a:pt x="30290" y="42407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artery_fine_adventitia_83"/>
          <p:cNvSpPr/>
          <p:nvPr/>
        </p:nvSpPr>
        <p:spPr>
          <a:xfrm>
            <a:off x="11737451" y="5632814"/>
            <a:ext cx="18174" cy="24232"/>
          </a:xfrm>
          <a:custGeom>
            <a:avLst/>
            <a:gdLst/>
            <a:ahLst/>
            <a:cxnLst/>
            <a:rect l="0" t="0" r="r" b="b"/>
            <a:pathLst>
              <a:path w="18174" h="24232">
                <a:moveTo>
                  <a:pt x="0" y="0"/>
                </a:moveTo>
                <a:cubicBezTo>
                  <a:pt x="2596" y="3462"/>
                  <a:pt x="15578" y="20771"/>
                  <a:pt x="18174" y="24232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artery_fine_adventitia_84"/>
          <p:cNvSpPr/>
          <p:nvPr/>
        </p:nvSpPr>
        <p:spPr>
          <a:xfrm>
            <a:off x="11386082" y="5638872"/>
            <a:ext cx="1787137" cy="748607"/>
          </a:xfrm>
          <a:custGeom>
            <a:avLst/>
            <a:gdLst/>
            <a:ahLst/>
            <a:cxnLst/>
            <a:rect l="0" t="0" r="r" b="b"/>
            <a:pathLst>
              <a:path w="1787137" h="748607">
                <a:moveTo>
                  <a:pt x="0" y="0"/>
                </a:moveTo>
                <a:cubicBezTo>
                  <a:pt x="64043" y="31156"/>
                  <a:pt x="311559" y="146260"/>
                  <a:pt x="448299" y="218091"/>
                </a:cubicBezTo>
                <a:cubicBezTo>
                  <a:pt x="585039" y="289923"/>
                  <a:pt x="845537" y="443972"/>
                  <a:pt x="957179" y="502822"/>
                </a:cubicBezTo>
                <a:cubicBezTo>
                  <a:pt x="1068821" y="561672"/>
                  <a:pt x="1149307" y="598886"/>
                  <a:pt x="1229793" y="630042"/>
                </a:cubicBezTo>
                <a:cubicBezTo>
                  <a:pt x="1310279" y="661197"/>
                  <a:pt x="1456538" y="704470"/>
                  <a:pt x="1520581" y="720913"/>
                </a:cubicBezTo>
                <a:cubicBezTo>
                  <a:pt x="1584624" y="737356"/>
                  <a:pt x="1640012" y="741684"/>
                  <a:pt x="1678091" y="745145"/>
                </a:cubicBezTo>
                <a:cubicBezTo>
                  <a:pt x="1716171" y="748607"/>
                  <a:pt x="1771559" y="745145"/>
                  <a:pt x="1787137" y="745145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artery_fine_adventitia_85"/>
          <p:cNvSpPr/>
          <p:nvPr/>
        </p:nvSpPr>
        <p:spPr>
          <a:xfrm>
            <a:off x="11513302" y="5638872"/>
            <a:ext cx="169627" cy="84813"/>
          </a:xfrm>
          <a:custGeom>
            <a:avLst/>
            <a:gdLst/>
            <a:ahLst/>
            <a:cxnLst/>
            <a:rect l="0" t="0" r="r" b="b"/>
            <a:pathLst>
              <a:path w="169627" h="84813">
                <a:moveTo>
                  <a:pt x="0" y="0"/>
                </a:moveTo>
                <a:cubicBezTo>
                  <a:pt x="2596" y="2596"/>
                  <a:pt x="2596" y="11251"/>
                  <a:pt x="18174" y="18174"/>
                </a:cubicBezTo>
                <a:cubicBezTo>
                  <a:pt x="33752" y="25098"/>
                  <a:pt x="87410" y="38945"/>
                  <a:pt x="109046" y="48465"/>
                </a:cubicBezTo>
                <a:cubicBezTo>
                  <a:pt x="130682" y="57985"/>
                  <a:pt x="160972" y="79621"/>
                  <a:pt x="169627" y="84813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artery_fine_adventitia_86"/>
          <p:cNvSpPr/>
          <p:nvPr/>
        </p:nvSpPr>
        <p:spPr>
          <a:xfrm>
            <a:off x="12264505" y="5638872"/>
            <a:ext cx="430125" cy="508880"/>
          </a:xfrm>
          <a:custGeom>
            <a:avLst/>
            <a:gdLst/>
            <a:ahLst/>
            <a:cxnLst/>
            <a:rect l="0" t="0" r="r" b="b"/>
            <a:pathLst>
              <a:path w="430125" h="508880">
                <a:moveTo>
                  <a:pt x="0" y="0"/>
                </a:moveTo>
                <a:cubicBezTo>
                  <a:pt x="14713" y="19905"/>
                  <a:pt x="86544" y="114238"/>
                  <a:pt x="102988" y="139336"/>
                </a:cubicBezTo>
                <a:cubicBezTo>
                  <a:pt x="119431" y="164434"/>
                  <a:pt x="95199" y="154914"/>
                  <a:pt x="115104" y="175685"/>
                </a:cubicBezTo>
                <a:cubicBezTo>
                  <a:pt x="135009" y="196455"/>
                  <a:pt x="212899" y="257036"/>
                  <a:pt x="242324" y="284730"/>
                </a:cubicBezTo>
                <a:cubicBezTo>
                  <a:pt x="271749" y="312424"/>
                  <a:pt x="301174" y="342715"/>
                  <a:pt x="321079" y="369544"/>
                </a:cubicBezTo>
                <a:cubicBezTo>
                  <a:pt x="340984" y="396372"/>
                  <a:pt x="366082" y="452626"/>
                  <a:pt x="381660" y="472531"/>
                </a:cubicBezTo>
                <a:cubicBezTo>
                  <a:pt x="397238" y="492436"/>
                  <a:pt x="423201" y="503687"/>
                  <a:pt x="430125" y="508880"/>
                </a:cubicBezTo>
              </a:path>
            </a:pathLst>
          </a:custGeom>
          <a:noFill/>
          <a:ln w="6161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artery_fine_adventitia_87"/>
          <p:cNvSpPr/>
          <p:nvPr/>
        </p:nvSpPr>
        <p:spPr>
          <a:xfrm>
            <a:off x="11949484" y="5644930"/>
            <a:ext cx="139336" cy="54523"/>
          </a:xfrm>
          <a:custGeom>
            <a:avLst/>
            <a:gdLst/>
            <a:ahLst/>
            <a:cxnLst/>
            <a:rect l="0" t="0" r="r" b="b"/>
            <a:pathLst>
              <a:path w="139336" h="54523">
                <a:moveTo>
                  <a:pt x="0" y="0"/>
                </a:moveTo>
                <a:cubicBezTo>
                  <a:pt x="4327" y="3462"/>
                  <a:pt x="21636" y="20771"/>
                  <a:pt x="30290" y="24232"/>
                </a:cubicBezTo>
                <a:cubicBezTo>
                  <a:pt x="38945" y="27694"/>
                  <a:pt x="45003" y="19905"/>
                  <a:pt x="60581" y="24232"/>
                </a:cubicBezTo>
                <a:cubicBezTo>
                  <a:pt x="76159" y="28560"/>
                  <a:pt x="128085" y="50196"/>
                  <a:pt x="139336" y="54523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artery_fine_adventitia_88"/>
          <p:cNvSpPr/>
          <p:nvPr/>
        </p:nvSpPr>
        <p:spPr>
          <a:xfrm>
            <a:off x="11894962" y="5650988"/>
            <a:ext cx="75293" cy="12982"/>
          </a:xfrm>
          <a:custGeom>
            <a:avLst/>
            <a:gdLst/>
            <a:ahLst/>
            <a:cxnLst/>
            <a:rect l="0" t="0" r="r" b="b"/>
            <a:pathLst>
              <a:path w="75293" h="12982">
                <a:moveTo>
                  <a:pt x="60581" y="0"/>
                </a:moveTo>
                <a:cubicBezTo>
                  <a:pt x="61446" y="1731"/>
                  <a:pt x="75293" y="11251"/>
                  <a:pt x="66639" y="12116"/>
                </a:cubicBezTo>
                <a:cubicBezTo>
                  <a:pt x="57985" y="12982"/>
                  <a:pt x="9520" y="6924"/>
                  <a:pt x="0" y="6058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artery_fine_adventitia_89"/>
          <p:cNvSpPr/>
          <p:nvPr/>
        </p:nvSpPr>
        <p:spPr>
          <a:xfrm>
            <a:off x="12216040" y="5650988"/>
            <a:ext cx="36349" cy="18174"/>
          </a:xfrm>
          <a:custGeom>
            <a:avLst/>
            <a:gdLst/>
            <a:ahLst/>
            <a:cxnLst/>
            <a:rect l="0" t="0" r="r" b="b"/>
            <a:pathLst>
              <a:path w="36349" h="18174">
                <a:moveTo>
                  <a:pt x="0" y="0"/>
                </a:moveTo>
                <a:cubicBezTo>
                  <a:pt x="5193" y="2596"/>
                  <a:pt x="31156" y="15578"/>
                  <a:pt x="36349" y="18174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artery_fine_adventitia_90"/>
          <p:cNvSpPr/>
          <p:nvPr/>
        </p:nvSpPr>
        <p:spPr>
          <a:xfrm>
            <a:off x="11910540" y="5723685"/>
            <a:ext cx="63177" cy="66639"/>
          </a:xfrm>
          <a:custGeom>
            <a:avLst/>
            <a:gdLst/>
            <a:ahLst/>
            <a:cxnLst/>
            <a:rect l="0" t="0" r="r" b="b"/>
            <a:pathLst>
              <a:path w="63177" h="66639">
                <a:moveTo>
                  <a:pt x="2596" y="0"/>
                </a:moveTo>
                <a:cubicBezTo>
                  <a:pt x="3462" y="3462"/>
                  <a:pt x="0" y="14713"/>
                  <a:pt x="8654" y="24232"/>
                </a:cubicBezTo>
                <a:cubicBezTo>
                  <a:pt x="17309" y="33752"/>
                  <a:pt x="55388" y="60581"/>
                  <a:pt x="63177" y="66639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artery_fine_adventitia_91"/>
          <p:cNvSpPr/>
          <p:nvPr/>
        </p:nvSpPr>
        <p:spPr>
          <a:xfrm>
            <a:off x="11707161" y="5747918"/>
            <a:ext cx="145394" cy="72697"/>
          </a:xfrm>
          <a:custGeom>
            <a:avLst/>
            <a:gdLst/>
            <a:ahLst/>
            <a:cxnLst/>
            <a:rect l="0" t="0" r="r" b="b"/>
            <a:pathLst>
              <a:path w="145394" h="72697">
                <a:moveTo>
                  <a:pt x="0" y="0"/>
                </a:moveTo>
                <a:cubicBezTo>
                  <a:pt x="20771" y="10385"/>
                  <a:pt x="124624" y="62312"/>
                  <a:pt x="145394" y="72697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artery_fine_adventitia_92"/>
          <p:cNvSpPr/>
          <p:nvPr/>
        </p:nvSpPr>
        <p:spPr>
          <a:xfrm>
            <a:off x="11713219" y="5747918"/>
            <a:ext cx="36349" cy="18174"/>
          </a:xfrm>
          <a:custGeom>
            <a:avLst/>
            <a:gdLst/>
            <a:ahLst/>
            <a:cxnLst/>
            <a:rect l="0" t="0" r="r" b="b"/>
            <a:pathLst>
              <a:path w="36349" h="18174">
                <a:moveTo>
                  <a:pt x="0" y="0"/>
                </a:moveTo>
                <a:cubicBezTo>
                  <a:pt x="5193" y="2596"/>
                  <a:pt x="31156" y="15578"/>
                  <a:pt x="36349" y="18174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artery_fine_adventitia_93"/>
          <p:cNvSpPr/>
          <p:nvPr/>
        </p:nvSpPr>
        <p:spPr>
          <a:xfrm>
            <a:off x="11834381" y="5753976"/>
            <a:ext cx="60581" cy="24232"/>
          </a:xfrm>
          <a:custGeom>
            <a:avLst/>
            <a:gdLst/>
            <a:ahLst/>
            <a:cxnLst/>
            <a:rect l="0" t="0" r="r" b="b"/>
            <a:pathLst>
              <a:path w="60581" h="24232">
                <a:moveTo>
                  <a:pt x="0" y="0"/>
                </a:moveTo>
                <a:cubicBezTo>
                  <a:pt x="8654" y="3462"/>
                  <a:pt x="51927" y="20771"/>
                  <a:pt x="60581" y="24232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artery_fine_adventitia_94"/>
          <p:cNvSpPr/>
          <p:nvPr/>
        </p:nvSpPr>
        <p:spPr>
          <a:xfrm>
            <a:off x="12094879" y="5784266"/>
            <a:ext cx="169627" cy="60581"/>
          </a:xfrm>
          <a:custGeom>
            <a:avLst/>
            <a:gdLst/>
            <a:ahLst/>
            <a:cxnLst/>
            <a:rect l="0" t="0" r="r" b="b"/>
            <a:pathLst>
              <a:path w="169627" h="60581">
                <a:moveTo>
                  <a:pt x="0" y="0"/>
                </a:moveTo>
                <a:cubicBezTo>
                  <a:pt x="6058" y="1731"/>
                  <a:pt x="27694" y="5193"/>
                  <a:pt x="42407" y="12116"/>
                </a:cubicBezTo>
                <a:cubicBezTo>
                  <a:pt x="57119" y="19040"/>
                  <a:pt x="84813" y="41541"/>
                  <a:pt x="102988" y="48465"/>
                </a:cubicBezTo>
                <a:cubicBezTo>
                  <a:pt x="121162" y="55388"/>
                  <a:pt x="160107" y="58850"/>
                  <a:pt x="169627" y="60581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artery_fine_adventitia_95"/>
          <p:cNvSpPr/>
          <p:nvPr/>
        </p:nvSpPr>
        <p:spPr>
          <a:xfrm>
            <a:off x="11791974" y="5790324"/>
            <a:ext cx="42407" cy="24232"/>
          </a:xfrm>
          <a:custGeom>
            <a:avLst/>
            <a:gdLst/>
            <a:ahLst/>
            <a:cxnLst/>
            <a:rect l="0" t="0" r="r" b="b"/>
            <a:pathLst>
              <a:path w="42407" h="24232">
                <a:moveTo>
                  <a:pt x="0" y="0"/>
                </a:moveTo>
                <a:cubicBezTo>
                  <a:pt x="6058" y="3462"/>
                  <a:pt x="36349" y="20771"/>
                  <a:pt x="42407" y="24232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artery_fine_adventitia_96"/>
          <p:cNvSpPr/>
          <p:nvPr/>
        </p:nvSpPr>
        <p:spPr>
          <a:xfrm>
            <a:off x="12494713" y="5802440"/>
            <a:ext cx="78755" cy="127220"/>
          </a:xfrm>
          <a:custGeom>
            <a:avLst/>
            <a:gdLst/>
            <a:ahLst/>
            <a:cxnLst/>
            <a:rect l="0" t="0" r="r" b="b"/>
            <a:pathLst>
              <a:path w="78755" h="127220">
                <a:moveTo>
                  <a:pt x="0" y="0"/>
                </a:moveTo>
                <a:cubicBezTo>
                  <a:pt x="1731" y="1731"/>
                  <a:pt x="9520" y="6058"/>
                  <a:pt x="12116" y="12116"/>
                </a:cubicBezTo>
                <a:cubicBezTo>
                  <a:pt x="14713" y="18174"/>
                  <a:pt x="11251" y="32021"/>
                  <a:pt x="18174" y="42407"/>
                </a:cubicBezTo>
                <a:cubicBezTo>
                  <a:pt x="25098" y="52792"/>
                  <a:pt x="51927" y="72697"/>
                  <a:pt x="60581" y="84813"/>
                </a:cubicBezTo>
                <a:cubicBezTo>
                  <a:pt x="69235" y="96929"/>
                  <a:pt x="76159" y="121162"/>
                  <a:pt x="78755" y="127220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artery_fine_adventitia_97"/>
          <p:cNvSpPr/>
          <p:nvPr/>
        </p:nvSpPr>
        <p:spPr>
          <a:xfrm>
            <a:off x="11864671" y="5826673"/>
            <a:ext cx="48465" cy="18174"/>
          </a:xfrm>
          <a:custGeom>
            <a:avLst/>
            <a:gdLst/>
            <a:ahLst/>
            <a:cxnLst/>
            <a:rect l="0" t="0" r="r" b="b"/>
            <a:pathLst>
              <a:path w="48465" h="18174">
                <a:moveTo>
                  <a:pt x="0" y="0"/>
                </a:moveTo>
                <a:cubicBezTo>
                  <a:pt x="6924" y="2596"/>
                  <a:pt x="41541" y="15578"/>
                  <a:pt x="48465" y="18174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artery_fine_adventitia_98"/>
          <p:cNvSpPr/>
          <p:nvPr/>
        </p:nvSpPr>
        <p:spPr>
          <a:xfrm>
            <a:off x="12093148" y="5826673"/>
            <a:ext cx="112507" cy="25098"/>
          </a:xfrm>
          <a:custGeom>
            <a:avLst/>
            <a:gdLst/>
            <a:ahLst/>
            <a:cxnLst/>
            <a:rect l="0" t="0" r="r" b="b"/>
            <a:pathLst>
              <a:path w="112507" h="25098">
                <a:moveTo>
                  <a:pt x="98660" y="0"/>
                </a:moveTo>
                <a:cubicBezTo>
                  <a:pt x="100391" y="865"/>
                  <a:pt x="110777" y="3462"/>
                  <a:pt x="110777" y="6058"/>
                </a:cubicBezTo>
                <a:cubicBezTo>
                  <a:pt x="110777" y="8654"/>
                  <a:pt x="112507" y="15578"/>
                  <a:pt x="98660" y="18174"/>
                </a:cubicBezTo>
                <a:cubicBezTo>
                  <a:pt x="84813" y="20771"/>
                  <a:pt x="27694" y="25098"/>
                  <a:pt x="13847" y="24232"/>
                </a:cubicBezTo>
                <a:cubicBezTo>
                  <a:pt x="0" y="23367"/>
                  <a:pt x="3462" y="13847"/>
                  <a:pt x="1731" y="12116"/>
                </a:cubicBezTo>
              </a:path>
            </a:pathLst>
          </a:custGeom>
          <a:noFill/>
          <a:ln w="6161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artery_fine_adventitia_99"/>
          <p:cNvSpPr/>
          <p:nvPr/>
        </p:nvSpPr>
        <p:spPr>
          <a:xfrm>
            <a:off x="12017854" y="5838789"/>
            <a:ext cx="34618" cy="24232"/>
          </a:xfrm>
          <a:custGeom>
            <a:avLst/>
            <a:gdLst/>
            <a:ahLst/>
            <a:cxnLst/>
            <a:rect l="0" t="0" r="r" b="b"/>
            <a:pathLst>
              <a:path w="34618" h="24232">
                <a:moveTo>
                  <a:pt x="4327" y="0"/>
                </a:moveTo>
                <a:cubicBezTo>
                  <a:pt x="4327" y="1731"/>
                  <a:pt x="0" y="8654"/>
                  <a:pt x="4327" y="12116"/>
                </a:cubicBezTo>
                <a:cubicBezTo>
                  <a:pt x="8654" y="15578"/>
                  <a:pt x="30290" y="22501"/>
                  <a:pt x="34618" y="24232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artery_fine_adventitia_100"/>
          <p:cNvSpPr/>
          <p:nvPr/>
        </p:nvSpPr>
        <p:spPr>
          <a:xfrm>
            <a:off x="12512887" y="5838789"/>
            <a:ext cx="42407" cy="54523"/>
          </a:xfrm>
          <a:custGeom>
            <a:avLst/>
            <a:gdLst/>
            <a:ahLst/>
            <a:cxnLst/>
            <a:rect l="0" t="0" r="r" b="b"/>
            <a:pathLst>
              <a:path w="42407" h="54523">
                <a:moveTo>
                  <a:pt x="0" y="0"/>
                </a:moveTo>
                <a:cubicBezTo>
                  <a:pt x="865" y="2596"/>
                  <a:pt x="0" y="10385"/>
                  <a:pt x="6058" y="18174"/>
                </a:cubicBezTo>
                <a:cubicBezTo>
                  <a:pt x="12116" y="25963"/>
                  <a:pt x="37214" y="49330"/>
                  <a:pt x="42407" y="54523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artery_fine_adventitia_101"/>
          <p:cNvSpPr/>
          <p:nvPr/>
        </p:nvSpPr>
        <p:spPr>
          <a:xfrm>
            <a:off x="12100937" y="5844847"/>
            <a:ext cx="42407" cy="66639"/>
          </a:xfrm>
          <a:custGeom>
            <a:avLst/>
            <a:gdLst/>
            <a:ahLst/>
            <a:cxnLst/>
            <a:rect l="0" t="0" r="r" b="b"/>
            <a:pathLst>
              <a:path w="42407" h="66639">
                <a:moveTo>
                  <a:pt x="0" y="0"/>
                </a:moveTo>
                <a:cubicBezTo>
                  <a:pt x="3462" y="2596"/>
                  <a:pt x="18174" y="8654"/>
                  <a:pt x="24232" y="18174"/>
                </a:cubicBezTo>
                <a:cubicBezTo>
                  <a:pt x="30290" y="27694"/>
                  <a:pt x="39810" y="59715"/>
                  <a:pt x="42407" y="66639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artery_fine_adventitia_102"/>
          <p:cNvSpPr/>
          <p:nvPr/>
        </p:nvSpPr>
        <p:spPr>
          <a:xfrm>
            <a:off x="11925252" y="5856963"/>
            <a:ext cx="60581" cy="36349"/>
          </a:xfrm>
          <a:custGeom>
            <a:avLst/>
            <a:gdLst/>
            <a:ahLst/>
            <a:cxnLst/>
            <a:rect l="0" t="0" r="r" b="b"/>
            <a:pathLst>
              <a:path w="60581" h="36349">
                <a:moveTo>
                  <a:pt x="0" y="0"/>
                </a:moveTo>
                <a:cubicBezTo>
                  <a:pt x="8654" y="5193"/>
                  <a:pt x="51927" y="31156"/>
                  <a:pt x="60581" y="36349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artery_fine_adventitia_103"/>
          <p:cNvSpPr/>
          <p:nvPr/>
        </p:nvSpPr>
        <p:spPr>
          <a:xfrm>
            <a:off x="12367493" y="5856963"/>
            <a:ext cx="24232" cy="30290"/>
          </a:xfrm>
          <a:custGeom>
            <a:avLst/>
            <a:gdLst/>
            <a:ahLst/>
            <a:cxnLst/>
            <a:rect l="0" t="0" r="r" b="b"/>
            <a:pathLst>
              <a:path w="24232" h="30290">
                <a:moveTo>
                  <a:pt x="0" y="0"/>
                </a:moveTo>
                <a:cubicBezTo>
                  <a:pt x="3462" y="4327"/>
                  <a:pt x="20771" y="25963"/>
                  <a:pt x="24232" y="30290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artery_fine_adventitia_104"/>
          <p:cNvSpPr/>
          <p:nvPr/>
        </p:nvSpPr>
        <p:spPr>
          <a:xfrm>
            <a:off x="12518945" y="5856963"/>
            <a:ext cx="36349" cy="30290"/>
          </a:xfrm>
          <a:custGeom>
            <a:avLst/>
            <a:gdLst/>
            <a:ahLst/>
            <a:cxnLst/>
            <a:rect l="0" t="0" r="r" b="b"/>
            <a:pathLst>
              <a:path w="36349" h="30290">
                <a:moveTo>
                  <a:pt x="0" y="0"/>
                </a:moveTo>
                <a:cubicBezTo>
                  <a:pt x="5193" y="4327"/>
                  <a:pt x="31156" y="25963"/>
                  <a:pt x="36349" y="30290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artery_fine_adventitia_105"/>
          <p:cNvSpPr/>
          <p:nvPr/>
        </p:nvSpPr>
        <p:spPr>
          <a:xfrm>
            <a:off x="12331144" y="5905428"/>
            <a:ext cx="86544" cy="128951"/>
          </a:xfrm>
          <a:custGeom>
            <a:avLst/>
            <a:gdLst/>
            <a:ahLst/>
            <a:cxnLst/>
            <a:rect l="0" t="0" r="r" b="b"/>
            <a:pathLst>
              <a:path w="86544" h="128951">
                <a:moveTo>
                  <a:pt x="0" y="0"/>
                </a:moveTo>
                <a:cubicBezTo>
                  <a:pt x="6058" y="4327"/>
                  <a:pt x="31156" y="19040"/>
                  <a:pt x="42407" y="30290"/>
                </a:cubicBezTo>
                <a:cubicBezTo>
                  <a:pt x="53657" y="41541"/>
                  <a:pt x="72697" y="66639"/>
                  <a:pt x="78755" y="78755"/>
                </a:cubicBezTo>
                <a:cubicBezTo>
                  <a:pt x="84813" y="90871"/>
                  <a:pt x="86544" y="108180"/>
                  <a:pt x="84813" y="115104"/>
                </a:cubicBezTo>
                <a:cubicBezTo>
                  <a:pt x="83082" y="122027"/>
                  <a:pt x="72697" y="125489"/>
                  <a:pt x="66639" y="127220"/>
                </a:cubicBezTo>
                <a:cubicBezTo>
                  <a:pt x="60581" y="128951"/>
                  <a:pt x="45868" y="127220"/>
                  <a:pt x="42407" y="127220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artery_fine_adventitia_106"/>
          <p:cNvSpPr/>
          <p:nvPr/>
        </p:nvSpPr>
        <p:spPr>
          <a:xfrm>
            <a:off x="12046414" y="5917544"/>
            <a:ext cx="66639" cy="30290"/>
          </a:xfrm>
          <a:custGeom>
            <a:avLst/>
            <a:gdLst/>
            <a:ahLst/>
            <a:cxnLst/>
            <a:rect l="0" t="0" r="r" b="b"/>
            <a:pathLst>
              <a:path w="66639" h="30290">
                <a:moveTo>
                  <a:pt x="0" y="0"/>
                </a:moveTo>
                <a:cubicBezTo>
                  <a:pt x="9520" y="4327"/>
                  <a:pt x="57119" y="25963"/>
                  <a:pt x="66639" y="30290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artery_fine_adventitia_107"/>
          <p:cNvSpPr/>
          <p:nvPr/>
        </p:nvSpPr>
        <p:spPr>
          <a:xfrm>
            <a:off x="12531061" y="5953893"/>
            <a:ext cx="30290" cy="30290"/>
          </a:xfrm>
          <a:custGeom>
            <a:avLst/>
            <a:gdLst/>
            <a:ahLst/>
            <a:cxnLst/>
            <a:rect l="0" t="0" r="r" b="b"/>
            <a:pathLst>
              <a:path w="30290" h="30290">
                <a:moveTo>
                  <a:pt x="0" y="0"/>
                </a:moveTo>
                <a:cubicBezTo>
                  <a:pt x="4327" y="4327"/>
                  <a:pt x="25963" y="25963"/>
                  <a:pt x="30290" y="30290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artery_fine_adventitia_108"/>
          <p:cNvSpPr/>
          <p:nvPr/>
        </p:nvSpPr>
        <p:spPr>
          <a:xfrm>
            <a:off x="12537119" y="5953893"/>
            <a:ext cx="24232" cy="24232"/>
          </a:xfrm>
          <a:custGeom>
            <a:avLst/>
            <a:gdLst/>
            <a:ahLst/>
            <a:cxnLst/>
            <a:rect l="0" t="0" r="r" b="b"/>
            <a:pathLst>
              <a:path w="24232" h="24232">
                <a:moveTo>
                  <a:pt x="0" y="0"/>
                </a:moveTo>
                <a:cubicBezTo>
                  <a:pt x="3462" y="3462"/>
                  <a:pt x="20771" y="20771"/>
                  <a:pt x="24232" y="24232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artery_fine_adventitia_109"/>
          <p:cNvSpPr/>
          <p:nvPr/>
        </p:nvSpPr>
        <p:spPr>
          <a:xfrm>
            <a:off x="12652223" y="5984183"/>
            <a:ext cx="42407" cy="24232"/>
          </a:xfrm>
          <a:custGeom>
            <a:avLst/>
            <a:gdLst/>
            <a:ahLst/>
            <a:cxnLst/>
            <a:rect l="0" t="0" r="r" b="b"/>
            <a:pathLst>
              <a:path w="42407" h="24232">
                <a:moveTo>
                  <a:pt x="0" y="0"/>
                </a:moveTo>
                <a:cubicBezTo>
                  <a:pt x="6058" y="3462"/>
                  <a:pt x="36349" y="20771"/>
                  <a:pt x="42407" y="24232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artery_fine_adventitia_110"/>
          <p:cNvSpPr/>
          <p:nvPr/>
        </p:nvSpPr>
        <p:spPr>
          <a:xfrm>
            <a:off x="12567410" y="5990241"/>
            <a:ext cx="36349" cy="54523"/>
          </a:xfrm>
          <a:custGeom>
            <a:avLst/>
            <a:gdLst/>
            <a:ahLst/>
            <a:cxnLst/>
            <a:rect l="0" t="0" r="r" b="b"/>
            <a:pathLst>
              <a:path w="36349" h="54523">
                <a:moveTo>
                  <a:pt x="0" y="0"/>
                </a:moveTo>
                <a:cubicBezTo>
                  <a:pt x="5193" y="7789"/>
                  <a:pt x="31156" y="46734"/>
                  <a:pt x="36349" y="54523"/>
                </a:cubicBezTo>
              </a:path>
            </a:pathLst>
          </a:custGeom>
          <a:noFill/>
          <a:ln w="6161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artery_fine_adventitia_111"/>
          <p:cNvSpPr/>
          <p:nvPr/>
        </p:nvSpPr>
        <p:spPr>
          <a:xfrm>
            <a:off x="12415957" y="6008416"/>
            <a:ext cx="36349" cy="24232"/>
          </a:xfrm>
          <a:custGeom>
            <a:avLst/>
            <a:gdLst/>
            <a:ahLst/>
            <a:cxnLst/>
            <a:rect l="0" t="0" r="r" b="b"/>
            <a:pathLst>
              <a:path w="36349" h="24232">
                <a:moveTo>
                  <a:pt x="0" y="0"/>
                </a:moveTo>
                <a:cubicBezTo>
                  <a:pt x="5193" y="3462"/>
                  <a:pt x="31156" y="20771"/>
                  <a:pt x="36349" y="24232"/>
                </a:cubicBezTo>
              </a:path>
            </a:pathLst>
          </a:custGeom>
          <a:noFill/>
          <a:ln w="4634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artery_fine_adventitia_112"/>
          <p:cNvSpPr/>
          <p:nvPr/>
        </p:nvSpPr>
        <p:spPr>
          <a:xfrm>
            <a:off x="12246331" y="6087171"/>
            <a:ext cx="60581" cy="30290"/>
          </a:xfrm>
          <a:custGeom>
            <a:avLst/>
            <a:gdLst/>
            <a:ahLst/>
            <a:cxnLst/>
            <a:rect l="0" t="0" r="r" b="b"/>
            <a:pathLst>
              <a:path w="60581" h="30290">
                <a:moveTo>
                  <a:pt x="0" y="0"/>
                </a:moveTo>
                <a:cubicBezTo>
                  <a:pt x="8654" y="4327"/>
                  <a:pt x="51927" y="25963"/>
                  <a:pt x="60581" y="30290"/>
                </a:cubicBezTo>
              </a:path>
            </a:pathLst>
          </a:custGeom>
          <a:noFill/>
          <a:ln w="5397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artery_fine_adventitia_113"/>
          <p:cNvSpPr/>
          <p:nvPr/>
        </p:nvSpPr>
        <p:spPr>
          <a:xfrm>
            <a:off x="12634049" y="6087171"/>
            <a:ext cx="48465" cy="54523"/>
          </a:xfrm>
          <a:custGeom>
            <a:avLst/>
            <a:gdLst/>
            <a:ahLst/>
            <a:cxnLst/>
            <a:rect l="0" t="0" r="r" b="b"/>
            <a:pathLst>
              <a:path w="48465" h="54523">
                <a:moveTo>
                  <a:pt x="0" y="0"/>
                </a:moveTo>
                <a:cubicBezTo>
                  <a:pt x="6924" y="7789"/>
                  <a:pt x="41541" y="46734"/>
                  <a:pt x="48465" y="54523"/>
                </a:cubicBezTo>
              </a:path>
            </a:pathLst>
          </a:custGeom>
          <a:noFill/>
          <a:ln w="6161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artery_fine_adventitia_114"/>
          <p:cNvSpPr/>
          <p:nvPr/>
        </p:nvSpPr>
        <p:spPr>
          <a:xfrm>
            <a:off x="12403841" y="6111403"/>
            <a:ext cx="121162" cy="84813"/>
          </a:xfrm>
          <a:custGeom>
            <a:avLst/>
            <a:gdLst/>
            <a:ahLst/>
            <a:cxnLst/>
            <a:rect l="0" t="0" r="r" b="b"/>
            <a:pathLst>
              <a:path w="121162" h="84813">
                <a:moveTo>
                  <a:pt x="0" y="0"/>
                </a:moveTo>
                <a:cubicBezTo>
                  <a:pt x="9520" y="4327"/>
                  <a:pt x="49330" y="18174"/>
                  <a:pt x="66639" y="30290"/>
                </a:cubicBezTo>
                <a:cubicBezTo>
                  <a:pt x="83948" y="42407"/>
                  <a:pt x="113373" y="77024"/>
                  <a:pt x="121162" y="84813"/>
                </a:cubicBezTo>
              </a:path>
            </a:pathLst>
          </a:custGeom>
          <a:noFill/>
          <a:ln w="4634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artery_fine_adventitia_115"/>
          <p:cNvSpPr/>
          <p:nvPr/>
        </p:nvSpPr>
        <p:spPr>
          <a:xfrm>
            <a:off x="12646165" y="6111403"/>
            <a:ext cx="30290" cy="30290"/>
          </a:xfrm>
          <a:custGeom>
            <a:avLst/>
            <a:gdLst/>
            <a:ahLst/>
            <a:cxnLst/>
            <a:rect l="0" t="0" r="r" b="b"/>
            <a:pathLst>
              <a:path w="30290" h="30290">
                <a:moveTo>
                  <a:pt x="0" y="0"/>
                </a:moveTo>
                <a:cubicBezTo>
                  <a:pt x="4327" y="4327"/>
                  <a:pt x="25963" y="25963"/>
                  <a:pt x="30290" y="30290"/>
                </a:cubicBezTo>
              </a:path>
            </a:pathLst>
          </a:custGeom>
          <a:noFill/>
          <a:ln w="5397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artery_fine_adventitia_116"/>
          <p:cNvSpPr/>
          <p:nvPr/>
        </p:nvSpPr>
        <p:spPr>
          <a:xfrm>
            <a:off x="12579526" y="6135636"/>
            <a:ext cx="72697" cy="24232"/>
          </a:xfrm>
          <a:custGeom>
            <a:avLst/>
            <a:gdLst/>
            <a:ahLst/>
            <a:cxnLst/>
            <a:rect l="0" t="0" r="r" b="b"/>
            <a:pathLst>
              <a:path w="72697" h="24232">
                <a:moveTo>
                  <a:pt x="0" y="0"/>
                </a:moveTo>
                <a:cubicBezTo>
                  <a:pt x="10385" y="3462"/>
                  <a:pt x="62312" y="20771"/>
                  <a:pt x="72697" y="24232"/>
                </a:cubicBezTo>
              </a:path>
            </a:pathLst>
          </a:custGeom>
          <a:noFill/>
          <a:ln w="6161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artery_fine_adventitia_117"/>
          <p:cNvSpPr/>
          <p:nvPr/>
        </p:nvSpPr>
        <p:spPr>
          <a:xfrm>
            <a:off x="12446248" y="6190158"/>
            <a:ext cx="60581" cy="30290"/>
          </a:xfrm>
          <a:custGeom>
            <a:avLst/>
            <a:gdLst/>
            <a:ahLst/>
            <a:cxnLst/>
            <a:rect l="0" t="0" r="r" b="b"/>
            <a:pathLst>
              <a:path w="60581" h="30290">
                <a:moveTo>
                  <a:pt x="0" y="0"/>
                </a:moveTo>
                <a:cubicBezTo>
                  <a:pt x="8654" y="4327"/>
                  <a:pt x="51927" y="25963"/>
                  <a:pt x="60581" y="30290"/>
                </a:cubicBezTo>
              </a:path>
            </a:pathLst>
          </a:custGeom>
          <a:noFill/>
          <a:ln w="4634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artery_fine_adventitia_118"/>
          <p:cNvSpPr/>
          <p:nvPr/>
        </p:nvSpPr>
        <p:spPr>
          <a:xfrm>
            <a:off x="12615874" y="6196216"/>
            <a:ext cx="60581" cy="6058"/>
          </a:xfrm>
          <a:custGeom>
            <a:avLst/>
            <a:gdLst/>
            <a:ahLst/>
            <a:cxnLst/>
            <a:rect l="0" t="0" r="r" b="b"/>
            <a:pathLst>
              <a:path w="60581" h="6058">
                <a:moveTo>
                  <a:pt x="0" y="0"/>
                </a:moveTo>
                <a:cubicBezTo>
                  <a:pt x="8654" y="865"/>
                  <a:pt x="51927" y="5193"/>
                  <a:pt x="60581" y="6058"/>
                </a:cubicBezTo>
              </a:path>
            </a:pathLst>
          </a:custGeom>
          <a:noFill/>
          <a:ln w="5397" cap="rnd">
            <a:solidFill>
              <a:srgbClr val="C8B9DB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artery_fine_adventitia_119"/>
          <p:cNvSpPr/>
          <p:nvPr/>
        </p:nvSpPr>
        <p:spPr>
          <a:xfrm>
            <a:off x="12779443" y="6220449"/>
            <a:ext cx="187801" cy="115104"/>
          </a:xfrm>
          <a:custGeom>
            <a:avLst/>
            <a:gdLst/>
            <a:ahLst/>
            <a:cxnLst/>
            <a:rect l="0" t="0" r="r" b="b"/>
            <a:pathLst>
              <a:path w="187801" h="115104">
                <a:moveTo>
                  <a:pt x="0" y="0"/>
                </a:moveTo>
                <a:cubicBezTo>
                  <a:pt x="6058" y="5193"/>
                  <a:pt x="32021" y="30290"/>
                  <a:pt x="42407" y="36349"/>
                </a:cubicBezTo>
                <a:cubicBezTo>
                  <a:pt x="52792" y="42407"/>
                  <a:pt x="62312" y="36349"/>
                  <a:pt x="72697" y="42407"/>
                </a:cubicBezTo>
                <a:cubicBezTo>
                  <a:pt x="83082" y="48465"/>
                  <a:pt x="104718" y="72697"/>
                  <a:pt x="115104" y="78755"/>
                </a:cubicBezTo>
                <a:cubicBezTo>
                  <a:pt x="125489" y="84813"/>
                  <a:pt x="135009" y="79621"/>
                  <a:pt x="145394" y="84813"/>
                </a:cubicBezTo>
                <a:cubicBezTo>
                  <a:pt x="155780" y="90006"/>
                  <a:pt x="181743" y="110777"/>
                  <a:pt x="187801" y="115104"/>
                </a:cubicBezTo>
              </a:path>
            </a:pathLst>
          </a:custGeom>
          <a:noFill/>
          <a:ln w="6161" cap="rnd">
            <a:solidFill>
              <a:srgbClr val="B2A0C8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artery_fine_adventitia_120"/>
          <p:cNvSpPr/>
          <p:nvPr/>
        </p:nvSpPr>
        <p:spPr>
          <a:xfrm>
            <a:off x="12761269" y="6232565"/>
            <a:ext cx="60581" cy="27694"/>
          </a:xfrm>
          <a:custGeom>
            <a:avLst/>
            <a:gdLst/>
            <a:ahLst/>
            <a:cxnLst/>
            <a:rect l="0" t="0" r="r" b="b"/>
            <a:pathLst>
              <a:path w="60581" h="27694">
                <a:moveTo>
                  <a:pt x="0" y="0"/>
                </a:moveTo>
                <a:cubicBezTo>
                  <a:pt x="4327" y="3462"/>
                  <a:pt x="21636" y="20771"/>
                  <a:pt x="30290" y="24232"/>
                </a:cubicBezTo>
                <a:cubicBezTo>
                  <a:pt x="38945" y="27694"/>
                  <a:pt x="56254" y="24232"/>
                  <a:pt x="60581" y="24232"/>
                </a:cubicBezTo>
              </a:path>
            </a:pathLst>
          </a:custGeom>
          <a:noFill/>
          <a:ln w="4634" cap="rnd">
            <a:solidFill>
              <a:srgbClr val="C2B0D6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artery_fine_adventitia_121"/>
          <p:cNvSpPr/>
          <p:nvPr/>
        </p:nvSpPr>
        <p:spPr>
          <a:xfrm>
            <a:off x="13045999" y="6299204"/>
            <a:ext cx="42407" cy="30290"/>
          </a:xfrm>
          <a:custGeom>
            <a:avLst/>
            <a:gdLst/>
            <a:ahLst/>
            <a:cxnLst/>
            <a:rect l="0" t="0" r="r" b="b"/>
            <a:pathLst>
              <a:path w="42407" h="30290">
                <a:moveTo>
                  <a:pt x="0" y="0"/>
                </a:moveTo>
                <a:cubicBezTo>
                  <a:pt x="6058" y="4327"/>
                  <a:pt x="36349" y="25963"/>
                  <a:pt x="42407" y="30290"/>
                </a:cubicBezTo>
              </a:path>
            </a:pathLst>
          </a:custGeom>
          <a:noFill/>
          <a:ln w="5397" cap="rnd">
            <a:solidFill>
              <a:srgbClr val="9B8AB9">
                <a:alpha val="6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artery_adventitial_fine_strand_122"/>
          <p:cNvSpPr/>
          <p:nvPr/>
        </p:nvSpPr>
        <p:spPr>
          <a:xfrm>
            <a:off x="9514131" y="3754805"/>
            <a:ext cx="3598507" cy="2435353"/>
          </a:xfrm>
          <a:custGeom>
            <a:avLst/>
            <a:gdLst/>
            <a:ahLst/>
            <a:cxnLst/>
            <a:rect l="0" t="0" r="r" b="b"/>
            <a:pathLst>
              <a:path w="3598507" h="2435353">
                <a:moveTo>
                  <a:pt x="0" y="0"/>
                </a:moveTo>
                <a:cubicBezTo>
                  <a:pt x="508880" y="630042"/>
                  <a:pt x="1902241" y="1211618"/>
                  <a:pt x="3598507" y="2435353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artery_adventitial_fine_strand_123"/>
          <p:cNvSpPr/>
          <p:nvPr/>
        </p:nvSpPr>
        <p:spPr>
          <a:xfrm>
            <a:off x="9521475" y="3782342"/>
            <a:ext cx="3593917" cy="2412589"/>
          </a:xfrm>
          <a:custGeom>
            <a:avLst/>
            <a:gdLst/>
            <a:ahLst/>
            <a:cxnLst/>
            <a:rect l="0" t="0" r="r" b="b"/>
            <a:pathLst>
              <a:path w="3593917" h="2412589">
                <a:moveTo>
                  <a:pt x="0" y="0"/>
                </a:moveTo>
                <a:cubicBezTo>
                  <a:pt x="502822" y="613152"/>
                  <a:pt x="1898202" y="1207396"/>
                  <a:pt x="3593917" y="2412589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artery_adventitial_fine_strand_124"/>
          <p:cNvSpPr/>
          <p:nvPr/>
        </p:nvSpPr>
        <p:spPr>
          <a:xfrm>
            <a:off x="9528818" y="3809879"/>
            <a:ext cx="3589328" cy="2389825"/>
          </a:xfrm>
          <a:custGeom>
            <a:avLst/>
            <a:gdLst/>
            <a:ahLst/>
            <a:cxnLst/>
            <a:rect l="0" t="0" r="r" b="b"/>
            <a:pathLst>
              <a:path w="3589328" h="2389825">
                <a:moveTo>
                  <a:pt x="0" y="0"/>
                </a:moveTo>
                <a:cubicBezTo>
                  <a:pt x="496764" y="596263"/>
                  <a:pt x="1894163" y="1203174"/>
                  <a:pt x="3589328" y="2389825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artery_adventitial_fine_strand_125"/>
          <p:cNvSpPr/>
          <p:nvPr/>
        </p:nvSpPr>
        <p:spPr>
          <a:xfrm>
            <a:off x="9536161" y="3837416"/>
            <a:ext cx="3584738" cy="2367062"/>
          </a:xfrm>
          <a:custGeom>
            <a:avLst/>
            <a:gdLst/>
            <a:ahLst/>
            <a:cxnLst/>
            <a:rect l="0" t="0" r="r" b="b"/>
            <a:pathLst>
              <a:path w="3584738" h="2367062">
                <a:moveTo>
                  <a:pt x="0" y="0"/>
                </a:moveTo>
                <a:cubicBezTo>
                  <a:pt x="490705" y="579374"/>
                  <a:pt x="1890125" y="1198951"/>
                  <a:pt x="3584738" y="2367062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artery_adventitial_fine_strand_126"/>
          <p:cNvSpPr/>
          <p:nvPr/>
        </p:nvSpPr>
        <p:spPr>
          <a:xfrm>
            <a:off x="9543504" y="3864953"/>
            <a:ext cx="3580149" cy="2344298"/>
          </a:xfrm>
          <a:custGeom>
            <a:avLst/>
            <a:gdLst/>
            <a:ahLst/>
            <a:cxnLst/>
            <a:rect l="0" t="0" r="r" b="b"/>
            <a:pathLst>
              <a:path w="3580149" h="2344298">
                <a:moveTo>
                  <a:pt x="0" y="0"/>
                </a:moveTo>
                <a:cubicBezTo>
                  <a:pt x="484647" y="562485"/>
                  <a:pt x="1886086" y="1194729"/>
                  <a:pt x="3580149" y="2344298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artery_adventitial_fine_strand_127"/>
          <p:cNvSpPr/>
          <p:nvPr/>
        </p:nvSpPr>
        <p:spPr>
          <a:xfrm>
            <a:off x="9550847" y="3892489"/>
            <a:ext cx="3575559" cy="2321534"/>
          </a:xfrm>
          <a:custGeom>
            <a:avLst/>
            <a:gdLst/>
            <a:ahLst/>
            <a:cxnLst/>
            <a:rect l="0" t="0" r="r" b="b"/>
            <a:pathLst>
              <a:path w="3575559" h="2321534">
                <a:moveTo>
                  <a:pt x="0" y="0"/>
                </a:moveTo>
                <a:cubicBezTo>
                  <a:pt x="478589" y="545595"/>
                  <a:pt x="1882047" y="1190507"/>
                  <a:pt x="3575559" y="2321534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artery_adventitial_fine_strand_128"/>
          <p:cNvSpPr/>
          <p:nvPr/>
        </p:nvSpPr>
        <p:spPr>
          <a:xfrm>
            <a:off x="9558190" y="3920026"/>
            <a:ext cx="3570970" cy="2298771"/>
          </a:xfrm>
          <a:custGeom>
            <a:avLst/>
            <a:gdLst/>
            <a:ahLst/>
            <a:cxnLst/>
            <a:rect l="0" t="0" r="r" b="b"/>
            <a:pathLst>
              <a:path w="3570970" h="2298771">
                <a:moveTo>
                  <a:pt x="0" y="0"/>
                </a:moveTo>
                <a:cubicBezTo>
                  <a:pt x="472531" y="528706"/>
                  <a:pt x="1878009" y="1186285"/>
                  <a:pt x="3570970" y="2298771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artery_adventitial_fine_strand_129"/>
          <p:cNvSpPr/>
          <p:nvPr/>
        </p:nvSpPr>
        <p:spPr>
          <a:xfrm>
            <a:off x="9565533" y="3947563"/>
            <a:ext cx="3566380" cy="2276007"/>
          </a:xfrm>
          <a:custGeom>
            <a:avLst/>
            <a:gdLst/>
            <a:ahLst/>
            <a:cxnLst/>
            <a:rect l="0" t="0" r="r" b="b"/>
            <a:pathLst>
              <a:path w="3566380" h="2276007">
                <a:moveTo>
                  <a:pt x="0" y="0"/>
                </a:moveTo>
                <a:cubicBezTo>
                  <a:pt x="466473" y="511817"/>
                  <a:pt x="1873970" y="1182062"/>
                  <a:pt x="3566380" y="2276007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artery_adventitial_fine_strand_130"/>
          <p:cNvSpPr/>
          <p:nvPr/>
        </p:nvSpPr>
        <p:spPr>
          <a:xfrm>
            <a:off x="9572877" y="3975100"/>
            <a:ext cx="3561791" cy="2253243"/>
          </a:xfrm>
          <a:custGeom>
            <a:avLst/>
            <a:gdLst/>
            <a:ahLst/>
            <a:cxnLst/>
            <a:rect l="0" t="0" r="r" b="b"/>
            <a:pathLst>
              <a:path w="3561791" h="2253243">
                <a:moveTo>
                  <a:pt x="0" y="0"/>
                </a:moveTo>
                <a:cubicBezTo>
                  <a:pt x="460415" y="494928"/>
                  <a:pt x="1869931" y="1177840"/>
                  <a:pt x="3561791" y="2253243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artery_adventitial_fine_strand_131"/>
          <p:cNvSpPr/>
          <p:nvPr/>
        </p:nvSpPr>
        <p:spPr>
          <a:xfrm>
            <a:off x="9580220" y="4002636"/>
            <a:ext cx="3557201" cy="2230479"/>
          </a:xfrm>
          <a:custGeom>
            <a:avLst/>
            <a:gdLst/>
            <a:ahLst/>
            <a:cxnLst/>
            <a:rect l="0" t="0" r="r" b="b"/>
            <a:pathLst>
              <a:path w="3557201" h="2230479">
                <a:moveTo>
                  <a:pt x="0" y="0"/>
                </a:moveTo>
                <a:cubicBezTo>
                  <a:pt x="454357" y="478039"/>
                  <a:pt x="1865892" y="1173618"/>
                  <a:pt x="3557201" y="2230479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artery_adventitial_fine_strand_132"/>
          <p:cNvSpPr/>
          <p:nvPr/>
        </p:nvSpPr>
        <p:spPr>
          <a:xfrm>
            <a:off x="9587563" y="4030173"/>
            <a:ext cx="3552612" cy="2207716"/>
          </a:xfrm>
          <a:custGeom>
            <a:avLst/>
            <a:gdLst/>
            <a:ahLst/>
            <a:cxnLst/>
            <a:rect l="0" t="0" r="r" b="b"/>
            <a:pathLst>
              <a:path w="3552612" h="2207716">
                <a:moveTo>
                  <a:pt x="0" y="0"/>
                </a:moveTo>
                <a:cubicBezTo>
                  <a:pt x="448299" y="461149"/>
                  <a:pt x="1861854" y="1169395"/>
                  <a:pt x="3552612" y="2207716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artery_adventitial_fine_strand_133"/>
          <p:cNvSpPr/>
          <p:nvPr/>
        </p:nvSpPr>
        <p:spPr>
          <a:xfrm>
            <a:off x="9594906" y="4057710"/>
            <a:ext cx="3548023" cy="2184952"/>
          </a:xfrm>
          <a:custGeom>
            <a:avLst/>
            <a:gdLst/>
            <a:ahLst/>
            <a:cxnLst/>
            <a:rect l="0" t="0" r="r" b="b"/>
            <a:pathLst>
              <a:path w="3548023" h="2184952">
                <a:moveTo>
                  <a:pt x="0" y="0"/>
                </a:moveTo>
                <a:cubicBezTo>
                  <a:pt x="442241" y="444260"/>
                  <a:pt x="1857815" y="1165173"/>
                  <a:pt x="3548023" y="2184952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artery_adventitial_fine_strand_134"/>
          <p:cNvSpPr/>
          <p:nvPr/>
        </p:nvSpPr>
        <p:spPr>
          <a:xfrm>
            <a:off x="9602249" y="4085247"/>
            <a:ext cx="3543433" cy="2162188"/>
          </a:xfrm>
          <a:custGeom>
            <a:avLst/>
            <a:gdLst/>
            <a:ahLst/>
            <a:cxnLst/>
            <a:rect l="0" t="0" r="r" b="b"/>
            <a:pathLst>
              <a:path w="3543433" h="2162188">
                <a:moveTo>
                  <a:pt x="0" y="0"/>
                </a:moveTo>
                <a:cubicBezTo>
                  <a:pt x="436183" y="427371"/>
                  <a:pt x="1853776" y="1160951"/>
                  <a:pt x="3543433" y="2162188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artery_adventitial_fine_strand_135"/>
          <p:cNvSpPr/>
          <p:nvPr/>
        </p:nvSpPr>
        <p:spPr>
          <a:xfrm>
            <a:off x="9609592" y="4112784"/>
            <a:ext cx="3538844" cy="2139424"/>
          </a:xfrm>
          <a:custGeom>
            <a:avLst/>
            <a:gdLst/>
            <a:ahLst/>
            <a:cxnLst/>
            <a:rect l="0" t="0" r="r" b="b"/>
            <a:pathLst>
              <a:path w="3538844" h="2139424">
                <a:moveTo>
                  <a:pt x="0" y="0"/>
                </a:moveTo>
                <a:cubicBezTo>
                  <a:pt x="430125" y="410482"/>
                  <a:pt x="1849737" y="1156728"/>
                  <a:pt x="3538844" y="2139424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artery_adventitial_fine_strand_136"/>
          <p:cNvSpPr/>
          <p:nvPr/>
        </p:nvSpPr>
        <p:spPr>
          <a:xfrm>
            <a:off x="9616935" y="4140320"/>
            <a:ext cx="3534254" cy="2116661"/>
          </a:xfrm>
          <a:custGeom>
            <a:avLst/>
            <a:gdLst/>
            <a:ahLst/>
            <a:cxnLst/>
            <a:rect l="0" t="0" r="r" b="b"/>
            <a:pathLst>
              <a:path w="3534254" h="2116661">
                <a:moveTo>
                  <a:pt x="0" y="0"/>
                </a:moveTo>
                <a:cubicBezTo>
                  <a:pt x="424066" y="393592"/>
                  <a:pt x="1845699" y="1152506"/>
                  <a:pt x="3534254" y="2116661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artery_adventitial_fine_strand_137"/>
          <p:cNvSpPr/>
          <p:nvPr/>
        </p:nvSpPr>
        <p:spPr>
          <a:xfrm>
            <a:off x="9624279" y="4167857"/>
            <a:ext cx="3529665" cy="2093897"/>
          </a:xfrm>
          <a:custGeom>
            <a:avLst/>
            <a:gdLst/>
            <a:ahLst/>
            <a:cxnLst/>
            <a:rect l="0" t="0" r="r" b="b"/>
            <a:pathLst>
              <a:path w="3529665" h="2093897">
                <a:moveTo>
                  <a:pt x="0" y="0"/>
                </a:moveTo>
                <a:cubicBezTo>
                  <a:pt x="418008" y="376703"/>
                  <a:pt x="1841660" y="1148284"/>
                  <a:pt x="3529665" y="2093897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artery_adventitial_fine_strand_138"/>
          <p:cNvSpPr/>
          <p:nvPr/>
        </p:nvSpPr>
        <p:spPr>
          <a:xfrm>
            <a:off x="9631622" y="4195394"/>
            <a:ext cx="3525075" cy="2071133"/>
          </a:xfrm>
          <a:custGeom>
            <a:avLst/>
            <a:gdLst/>
            <a:ahLst/>
            <a:cxnLst/>
            <a:rect l="0" t="0" r="r" b="b"/>
            <a:pathLst>
              <a:path w="3525075" h="2071133">
                <a:moveTo>
                  <a:pt x="0" y="0"/>
                </a:moveTo>
                <a:cubicBezTo>
                  <a:pt x="411950" y="359814"/>
                  <a:pt x="1837621" y="1144061"/>
                  <a:pt x="3525075" y="2071133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artery_adventitial_fine_strand_139"/>
          <p:cNvSpPr/>
          <p:nvPr/>
        </p:nvSpPr>
        <p:spPr>
          <a:xfrm>
            <a:off x="9638965" y="4222931"/>
            <a:ext cx="3520486" cy="2048369"/>
          </a:xfrm>
          <a:custGeom>
            <a:avLst/>
            <a:gdLst/>
            <a:ahLst/>
            <a:cxnLst/>
            <a:rect l="0" t="0" r="r" b="b"/>
            <a:pathLst>
              <a:path w="3520486" h="2048369">
                <a:moveTo>
                  <a:pt x="0" y="0"/>
                </a:moveTo>
                <a:cubicBezTo>
                  <a:pt x="405892" y="342925"/>
                  <a:pt x="1833582" y="1139839"/>
                  <a:pt x="3520486" y="2048369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artery_adventitial_fine_strand_140"/>
          <p:cNvSpPr/>
          <p:nvPr/>
        </p:nvSpPr>
        <p:spPr>
          <a:xfrm>
            <a:off x="9646308" y="4250467"/>
            <a:ext cx="3515896" cy="2025606"/>
          </a:xfrm>
          <a:custGeom>
            <a:avLst/>
            <a:gdLst/>
            <a:ahLst/>
            <a:cxnLst/>
            <a:rect l="0" t="0" r="r" b="b"/>
            <a:pathLst>
              <a:path w="3515896" h="2025606">
                <a:moveTo>
                  <a:pt x="0" y="0"/>
                </a:moveTo>
                <a:cubicBezTo>
                  <a:pt x="399834" y="326035"/>
                  <a:pt x="1829544" y="1135617"/>
                  <a:pt x="3515896" y="2025606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artery_adventitial_fine_strand_141"/>
          <p:cNvSpPr/>
          <p:nvPr/>
        </p:nvSpPr>
        <p:spPr>
          <a:xfrm>
            <a:off x="9653651" y="4278004"/>
            <a:ext cx="3511307" cy="2002842"/>
          </a:xfrm>
          <a:custGeom>
            <a:avLst/>
            <a:gdLst/>
            <a:ahLst/>
            <a:cxnLst/>
            <a:rect l="0" t="0" r="r" b="b"/>
            <a:pathLst>
              <a:path w="3511307" h="2002842">
                <a:moveTo>
                  <a:pt x="0" y="0"/>
                </a:moveTo>
                <a:cubicBezTo>
                  <a:pt x="393776" y="309146"/>
                  <a:pt x="1825505" y="1131395"/>
                  <a:pt x="3511307" y="2002842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artery_adventitial_fine_strand_142"/>
          <p:cNvSpPr/>
          <p:nvPr/>
        </p:nvSpPr>
        <p:spPr>
          <a:xfrm>
            <a:off x="9660994" y="4305541"/>
            <a:ext cx="3506717" cy="1980078"/>
          </a:xfrm>
          <a:custGeom>
            <a:avLst/>
            <a:gdLst/>
            <a:ahLst/>
            <a:cxnLst/>
            <a:rect l="0" t="0" r="r" b="b"/>
            <a:pathLst>
              <a:path w="3506717" h="1980078">
                <a:moveTo>
                  <a:pt x="0" y="0"/>
                </a:moveTo>
                <a:cubicBezTo>
                  <a:pt x="387718" y="292257"/>
                  <a:pt x="1821466" y="1127172"/>
                  <a:pt x="3506717" y="1980078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artery_adventitial_fine_strand_143"/>
          <p:cNvSpPr/>
          <p:nvPr/>
        </p:nvSpPr>
        <p:spPr>
          <a:xfrm>
            <a:off x="9668337" y="4333078"/>
            <a:ext cx="3502128" cy="1957314"/>
          </a:xfrm>
          <a:custGeom>
            <a:avLst/>
            <a:gdLst/>
            <a:ahLst/>
            <a:cxnLst/>
            <a:rect l="0" t="0" r="r" b="b"/>
            <a:pathLst>
              <a:path w="3502128" h="1957314">
                <a:moveTo>
                  <a:pt x="0" y="0"/>
                </a:moveTo>
                <a:cubicBezTo>
                  <a:pt x="381660" y="275368"/>
                  <a:pt x="1817428" y="1122950"/>
                  <a:pt x="3502128" y="1957314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artery_adventitial_fine_strand_144"/>
          <p:cNvSpPr/>
          <p:nvPr/>
        </p:nvSpPr>
        <p:spPr>
          <a:xfrm>
            <a:off x="9675681" y="4360615"/>
            <a:ext cx="3497538" cy="1934551"/>
          </a:xfrm>
          <a:custGeom>
            <a:avLst/>
            <a:gdLst/>
            <a:ahLst/>
            <a:cxnLst/>
            <a:rect l="0" t="0" r="r" b="b"/>
            <a:pathLst>
              <a:path w="3497538" h="1934551">
                <a:moveTo>
                  <a:pt x="0" y="0"/>
                </a:moveTo>
                <a:cubicBezTo>
                  <a:pt x="375602" y="258479"/>
                  <a:pt x="1813389" y="1118728"/>
                  <a:pt x="3497538" y="1934551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artery_adventitial_fine_strand_145"/>
          <p:cNvSpPr/>
          <p:nvPr/>
        </p:nvSpPr>
        <p:spPr>
          <a:xfrm>
            <a:off x="9683024" y="4388151"/>
            <a:ext cx="3492949" cy="1911787"/>
          </a:xfrm>
          <a:custGeom>
            <a:avLst/>
            <a:gdLst/>
            <a:ahLst/>
            <a:cxnLst/>
            <a:rect l="0" t="0" r="r" b="b"/>
            <a:pathLst>
              <a:path w="3492949" h="1911787">
                <a:moveTo>
                  <a:pt x="0" y="0"/>
                </a:moveTo>
                <a:cubicBezTo>
                  <a:pt x="369544" y="241589"/>
                  <a:pt x="1809350" y="1114505"/>
                  <a:pt x="3492949" y="1911787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artery_adventitial_fine_strand_146"/>
          <p:cNvSpPr/>
          <p:nvPr/>
        </p:nvSpPr>
        <p:spPr>
          <a:xfrm>
            <a:off x="9690367" y="4415688"/>
            <a:ext cx="3488359" cy="1889023"/>
          </a:xfrm>
          <a:custGeom>
            <a:avLst/>
            <a:gdLst/>
            <a:ahLst/>
            <a:cxnLst/>
            <a:rect l="0" t="0" r="r" b="b"/>
            <a:pathLst>
              <a:path w="3488359" h="1889023">
                <a:moveTo>
                  <a:pt x="0" y="0"/>
                </a:moveTo>
                <a:cubicBezTo>
                  <a:pt x="363486" y="224700"/>
                  <a:pt x="1805311" y="1110283"/>
                  <a:pt x="3488359" y="1889023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artery_adventitial_fine_strand_147"/>
          <p:cNvSpPr/>
          <p:nvPr/>
        </p:nvSpPr>
        <p:spPr>
          <a:xfrm>
            <a:off x="9697710" y="4443225"/>
            <a:ext cx="3483770" cy="1866259"/>
          </a:xfrm>
          <a:custGeom>
            <a:avLst/>
            <a:gdLst/>
            <a:ahLst/>
            <a:cxnLst/>
            <a:rect l="0" t="0" r="r" b="b"/>
            <a:pathLst>
              <a:path w="3483770" h="1866259">
                <a:moveTo>
                  <a:pt x="0" y="0"/>
                </a:moveTo>
                <a:cubicBezTo>
                  <a:pt x="357427" y="207811"/>
                  <a:pt x="1801273" y="1106061"/>
                  <a:pt x="3483770" y="1866259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artery_adventitial_fine_strand_148"/>
          <p:cNvSpPr/>
          <p:nvPr/>
        </p:nvSpPr>
        <p:spPr>
          <a:xfrm>
            <a:off x="9705053" y="4470762"/>
            <a:ext cx="3479181" cy="1843496"/>
          </a:xfrm>
          <a:custGeom>
            <a:avLst/>
            <a:gdLst/>
            <a:ahLst/>
            <a:cxnLst/>
            <a:rect l="0" t="0" r="r" b="b"/>
            <a:pathLst>
              <a:path w="3479181" h="1843496">
                <a:moveTo>
                  <a:pt x="0" y="0"/>
                </a:moveTo>
                <a:cubicBezTo>
                  <a:pt x="351369" y="190922"/>
                  <a:pt x="1797234" y="1101838"/>
                  <a:pt x="3479181" y="1843496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artery_adventitial_fine_strand_149"/>
          <p:cNvSpPr/>
          <p:nvPr/>
        </p:nvSpPr>
        <p:spPr>
          <a:xfrm>
            <a:off x="9712396" y="4498298"/>
            <a:ext cx="3474591" cy="1820732"/>
          </a:xfrm>
          <a:custGeom>
            <a:avLst/>
            <a:gdLst/>
            <a:ahLst/>
            <a:cxnLst/>
            <a:rect l="0" t="0" r="r" b="b"/>
            <a:pathLst>
              <a:path w="3474591" h="1820732">
                <a:moveTo>
                  <a:pt x="0" y="0"/>
                </a:moveTo>
                <a:cubicBezTo>
                  <a:pt x="345311" y="174032"/>
                  <a:pt x="1793195" y="1097616"/>
                  <a:pt x="3474591" y="1820732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artery_adventitial_fine_strand_150"/>
          <p:cNvSpPr/>
          <p:nvPr/>
        </p:nvSpPr>
        <p:spPr>
          <a:xfrm>
            <a:off x="9719739" y="4525835"/>
            <a:ext cx="3470002" cy="1797968"/>
          </a:xfrm>
          <a:custGeom>
            <a:avLst/>
            <a:gdLst/>
            <a:ahLst/>
            <a:cxnLst/>
            <a:rect l="0" t="0" r="r" b="b"/>
            <a:pathLst>
              <a:path w="3470002" h="1797968">
                <a:moveTo>
                  <a:pt x="0" y="0"/>
                </a:moveTo>
                <a:cubicBezTo>
                  <a:pt x="339253" y="157143"/>
                  <a:pt x="1789156" y="1093394"/>
                  <a:pt x="3470002" y="1797968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artery_adventitial_fine_strand_151"/>
          <p:cNvSpPr/>
          <p:nvPr/>
        </p:nvSpPr>
        <p:spPr>
          <a:xfrm>
            <a:off x="9727083" y="4553372"/>
            <a:ext cx="3465412" cy="1775205"/>
          </a:xfrm>
          <a:custGeom>
            <a:avLst/>
            <a:gdLst/>
            <a:ahLst/>
            <a:cxnLst/>
            <a:rect l="0" t="0" r="r" b="b"/>
            <a:pathLst>
              <a:path w="3465412" h="1775205">
                <a:moveTo>
                  <a:pt x="0" y="0"/>
                </a:moveTo>
                <a:cubicBezTo>
                  <a:pt x="333195" y="140254"/>
                  <a:pt x="1785118" y="1089171"/>
                  <a:pt x="3465412" y="1775205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artery_adventitial_fine_strand_152"/>
          <p:cNvSpPr/>
          <p:nvPr/>
        </p:nvSpPr>
        <p:spPr>
          <a:xfrm>
            <a:off x="9734426" y="4580909"/>
            <a:ext cx="3460823" cy="1752441"/>
          </a:xfrm>
          <a:custGeom>
            <a:avLst/>
            <a:gdLst/>
            <a:ahLst/>
            <a:cxnLst/>
            <a:rect l="0" t="0" r="r" b="b"/>
            <a:pathLst>
              <a:path w="3460823" h="1752441">
                <a:moveTo>
                  <a:pt x="0" y="0"/>
                </a:moveTo>
                <a:cubicBezTo>
                  <a:pt x="327137" y="123365"/>
                  <a:pt x="1781079" y="1084949"/>
                  <a:pt x="3460823" y="1752441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artery_adventitial_fine_strand_153"/>
          <p:cNvSpPr/>
          <p:nvPr/>
        </p:nvSpPr>
        <p:spPr>
          <a:xfrm>
            <a:off x="9741769" y="4608446"/>
            <a:ext cx="3456233" cy="1729677"/>
          </a:xfrm>
          <a:custGeom>
            <a:avLst/>
            <a:gdLst/>
            <a:ahLst/>
            <a:cxnLst/>
            <a:rect l="0" t="0" r="r" b="b"/>
            <a:pathLst>
              <a:path w="3456233" h="1729677">
                <a:moveTo>
                  <a:pt x="0" y="0"/>
                </a:moveTo>
                <a:cubicBezTo>
                  <a:pt x="321079" y="106476"/>
                  <a:pt x="1777040" y="1080727"/>
                  <a:pt x="3456233" y="1729677"/>
                </a:cubicBezTo>
              </a:path>
            </a:pathLst>
          </a:custGeom>
          <a:noFill/>
          <a:ln w="3331" cap="rnd">
            <a:solidFill>
              <a:srgbClr val="D1C4E3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artery_adventitial_fine_strand_154"/>
          <p:cNvSpPr/>
          <p:nvPr/>
        </p:nvSpPr>
        <p:spPr>
          <a:xfrm>
            <a:off x="9749112" y="4635982"/>
            <a:ext cx="3451644" cy="1706913"/>
          </a:xfrm>
          <a:custGeom>
            <a:avLst/>
            <a:gdLst/>
            <a:ahLst/>
            <a:cxnLst/>
            <a:rect l="0" t="0" r="r" b="b"/>
            <a:pathLst>
              <a:path w="3451644" h="1706913">
                <a:moveTo>
                  <a:pt x="0" y="0"/>
                </a:moveTo>
                <a:cubicBezTo>
                  <a:pt x="315021" y="89586"/>
                  <a:pt x="1773002" y="1076505"/>
                  <a:pt x="3451644" y="1706913"/>
                </a:cubicBezTo>
              </a:path>
            </a:pathLst>
          </a:custGeom>
          <a:noFill/>
          <a:ln w="3331" cap="rnd">
            <a:solidFill>
              <a:srgbClr val="FFFFFF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artery_adventitial_fine_strand_155"/>
          <p:cNvSpPr/>
          <p:nvPr/>
        </p:nvSpPr>
        <p:spPr>
          <a:xfrm>
            <a:off x="9756455" y="4663519"/>
            <a:ext cx="3447054" cy="1684150"/>
          </a:xfrm>
          <a:custGeom>
            <a:avLst/>
            <a:gdLst/>
            <a:ahLst/>
            <a:cxnLst/>
            <a:rect l="0" t="0" r="r" b="b"/>
            <a:pathLst>
              <a:path w="3447054" h="1684150">
                <a:moveTo>
                  <a:pt x="0" y="0"/>
                </a:moveTo>
                <a:cubicBezTo>
                  <a:pt x="308963" y="72697"/>
                  <a:pt x="1768963" y="1072282"/>
                  <a:pt x="3447054" y="1684150"/>
                </a:cubicBezTo>
              </a:path>
            </a:pathLst>
          </a:custGeom>
          <a:noFill/>
          <a:ln w="3331" cap="rnd">
            <a:solidFill>
              <a:srgbClr val="B5A4CD">
                <a:alpha val="23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artery_fibroblast_pointed_body_156"/>
          <p:cNvSpPr/>
          <p:nvPr/>
        </p:nvSpPr>
        <p:spPr>
          <a:xfrm>
            <a:off x="9655076" y="3988179"/>
            <a:ext cx="299687" cy="357153"/>
          </a:xfrm>
          <a:custGeom>
            <a:avLst/>
            <a:gdLst/>
            <a:ahLst/>
            <a:cxnLst/>
            <a:rect l="0" t="0" r="r" b="b"/>
            <a:pathLst>
              <a:path w="299687" h="357153">
                <a:moveTo>
                  <a:pt x="0" y="0"/>
                </a:moveTo>
                <a:cubicBezTo>
                  <a:pt x="139330" y="58652"/>
                  <a:pt x="250827" y="187476"/>
                  <a:pt x="299687" y="357153"/>
                </a:cubicBezTo>
                <a:cubicBezTo>
                  <a:pt x="151713" y="288199"/>
                  <a:pt x="34453" y="15250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artery_fibroblast_nucleus_157"/>
          <p:cNvSpPr/>
          <p:nvPr/>
        </p:nvSpPr>
        <p:spPr>
          <a:xfrm>
            <a:off x="9714223" y="4063187"/>
            <a:ext cx="181393" cy="207137"/>
          </a:xfrm>
          <a:custGeom>
            <a:avLst/>
            <a:gdLst/>
            <a:ahLst/>
            <a:cxnLst/>
            <a:rect l="0" t="0" r="r" b="b"/>
            <a:pathLst>
              <a:path w="181393" h="207137">
                <a:moveTo>
                  <a:pt x="12815" y="10753"/>
                </a:moveTo>
                <a:cubicBezTo>
                  <a:pt x="25630" y="0"/>
                  <a:pt x="70888" y="32838"/>
                  <a:pt x="113900" y="84098"/>
                </a:cubicBezTo>
                <a:cubicBezTo>
                  <a:pt x="156913" y="135359"/>
                  <a:pt x="181393" y="185631"/>
                  <a:pt x="168578" y="196384"/>
                </a:cubicBezTo>
                <a:cubicBezTo>
                  <a:pt x="155763" y="207137"/>
                  <a:pt x="110505" y="174299"/>
                  <a:pt x="67493" y="123039"/>
                </a:cubicBezTo>
                <a:cubicBezTo>
                  <a:pt x="24480" y="71778"/>
                  <a:pt x="0" y="21506"/>
                  <a:pt x="12815" y="10753"/>
                </a:cubicBezTo>
                <a:close/>
              </a:path>
            </a:pathLst>
          </a:custGeom>
          <a:gradFill rotWithShape="1">
            <a:gsLst>
              <a:gs pos="0">
                <a:srgbClr val="E5DFF0"/>
              </a:gs>
              <a:gs pos="30000">
                <a:srgbClr val="CDC2DF"/>
              </a:gs>
              <a:gs pos="68000">
                <a:srgbClr val="B3A6CC"/>
              </a:gs>
              <a:gs pos="100000">
                <a:srgbClr val="9A8CB6"/>
              </a:gs>
            </a:gsLst>
            <a:path path="circle">
              <a:fillToRect l="28000" t="24000" r="72000" b="76000"/>
            </a:path>
            <a:tileRect/>
          </a:gradFill>
          <a:ln w="4543" cap="rnd">
            <a:solidFill>
              <a:srgbClr val="8C7EA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artery_fibroblast_reflection_158"/>
          <p:cNvSpPr/>
          <p:nvPr/>
        </p:nvSpPr>
        <p:spPr>
          <a:xfrm>
            <a:off x="9744325" y="4098704"/>
            <a:ext cx="84841" cy="99754"/>
          </a:xfrm>
          <a:custGeom>
            <a:avLst/>
            <a:gdLst/>
            <a:ahLst/>
            <a:cxnLst/>
            <a:rect l="0" t="0" r="r" b="b"/>
            <a:pathLst>
              <a:path w="84841" h="99754">
                <a:moveTo>
                  <a:pt x="1922" y="1613"/>
                </a:moveTo>
                <a:cubicBezTo>
                  <a:pt x="3845" y="0"/>
                  <a:pt x="23535" y="20301"/>
                  <a:pt x="45901" y="46956"/>
                </a:cubicBezTo>
                <a:cubicBezTo>
                  <a:pt x="68268" y="73612"/>
                  <a:pt x="84841" y="96528"/>
                  <a:pt x="82919" y="98141"/>
                </a:cubicBezTo>
                <a:cubicBezTo>
                  <a:pt x="80997" y="99754"/>
                  <a:pt x="61307" y="79453"/>
                  <a:pt x="38940" y="52798"/>
                </a:cubicBezTo>
                <a:cubicBezTo>
                  <a:pt x="16573" y="26142"/>
                  <a:pt x="0" y="3226"/>
                  <a:pt x="1922" y="1613"/>
                </a:cubicBezTo>
                <a:close/>
              </a:path>
            </a:pathLst>
          </a:custGeom>
          <a:solidFill>
            <a:srgbClr val="F6F1FA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artery_fibroblast_pointed_body_159"/>
          <p:cNvSpPr/>
          <p:nvPr/>
        </p:nvSpPr>
        <p:spPr>
          <a:xfrm>
            <a:off x="10148902" y="4468821"/>
            <a:ext cx="378259" cy="328816"/>
          </a:xfrm>
          <a:custGeom>
            <a:avLst/>
            <a:gdLst/>
            <a:ahLst/>
            <a:cxnLst/>
            <a:rect l="0" t="0" r="r" b="b"/>
            <a:pathLst>
              <a:path w="378259" h="328816">
                <a:moveTo>
                  <a:pt x="0" y="0"/>
                </a:moveTo>
                <a:cubicBezTo>
                  <a:pt x="177047" y="16702"/>
                  <a:pt x="317820" y="133897"/>
                  <a:pt x="378259" y="328816"/>
                </a:cubicBezTo>
                <a:cubicBezTo>
                  <a:pt x="190301" y="302628"/>
                  <a:pt x="42253" y="17911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artery_fibroblast_nucleus_160"/>
          <p:cNvSpPr/>
          <p:nvPr/>
        </p:nvSpPr>
        <p:spPr>
          <a:xfrm>
            <a:off x="10223269" y="4528839"/>
            <a:ext cx="229526" cy="208779"/>
          </a:xfrm>
          <a:custGeom>
            <a:avLst/>
            <a:gdLst/>
            <a:ahLst/>
            <a:cxnLst/>
            <a:rect l="0" t="0" r="r" b="b"/>
            <a:pathLst>
              <a:path w="229526" h="208779">
                <a:moveTo>
                  <a:pt x="16463" y="18938"/>
                </a:moveTo>
                <a:cubicBezTo>
                  <a:pt x="32926" y="0"/>
                  <a:pt x="90282" y="22905"/>
                  <a:pt x="144571" y="70099"/>
                </a:cubicBezTo>
                <a:cubicBezTo>
                  <a:pt x="198861" y="117292"/>
                  <a:pt x="229526" y="170902"/>
                  <a:pt x="213063" y="189840"/>
                </a:cubicBezTo>
                <a:cubicBezTo>
                  <a:pt x="196600" y="208779"/>
                  <a:pt x="139244" y="185873"/>
                  <a:pt x="84954" y="138680"/>
                </a:cubicBezTo>
                <a:cubicBezTo>
                  <a:pt x="30665" y="91487"/>
                  <a:pt x="0" y="37877"/>
                  <a:pt x="16463" y="18938"/>
                </a:cubicBezTo>
                <a:close/>
              </a:path>
            </a:pathLst>
          </a:custGeom>
          <a:gradFill rotWithShape="1">
            <a:gsLst>
              <a:gs pos="0">
                <a:srgbClr val="E5DFF0"/>
              </a:gs>
              <a:gs pos="30000">
                <a:srgbClr val="CDC2DF"/>
              </a:gs>
              <a:gs pos="68000">
                <a:srgbClr val="B3A6CC"/>
              </a:gs>
              <a:gs pos="100000">
                <a:srgbClr val="9A8CB6"/>
              </a:gs>
            </a:gsLst>
            <a:path path="circle">
              <a:fillToRect l="28000" t="24000" r="72000" b="76000"/>
            </a:path>
            <a:tileRect/>
          </a:gradFill>
          <a:ln w="4543" cap="rnd">
            <a:solidFill>
              <a:srgbClr val="8C7EA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artery_fibroblast_reflection_161"/>
          <p:cNvSpPr/>
          <p:nvPr/>
        </p:nvSpPr>
        <p:spPr>
          <a:xfrm>
            <a:off x="10266272" y="4567779"/>
            <a:ext cx="107171" cy="94551"/>
          </a:xfrm>
          <a:custGeom>
            <a:avLst/>
            <a:gdLst/>
            <a:ahLst/>
            <a:cxnLst/>
            <a:rect l="0" t="0" r="r" b="b"/>
            <a:pathLst>
              <a:path w="107171" h="94551">
                <a:moveTo>
                  <a:pt x="2469" y="2841"/>
                </a:moveTo>
                <a:cubicBezTo>
                  <a:pt x="4939" y="0"/>
                  <a:pt x="29826" y="17591"/>
                  <a:pt x="58057" y="42132"/>
                </a:cubicBezTo>
                <a:cubicBezTo>
                  <a:pt x="86287" y="66672"/>
                  <a:pt x="107171" y="88869"/>
                  <a:pt x="104702" y="91710"/>
                </a:cubicBezTo>
                <a:cubicBezTo>
                  <a:pt x="102232" y="94551"/>
                  <a:pt x="77345" y="76959"/>
                  <a:pt x="49114" y="52419"/>
                </a:cubicBezTo>
                <a:cubicBezTo>
                  <a:pt x="20884" y="27878"/>
                  <a:pt x="0" y="5681"/>
                  <a:pt x="2469" y="2841"/>
                </a:cubicBezTo>
                <a:close/>
              </a:path>
            </a:pathLst>
          </a:custGeom>
          <a:solidFill>
            <a:srgbClr val="F6F1FA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artery_fibroblast_pointed_body_162"/>
          <p:cNvSpPr/>
          <p:nvPr/>
        </p:nvSpPr>
        <p:spPr>
          <a:xfrm>
            <a:off x="10573809" y="4722386"/>
            <a:ext cx="376580" cy="294216"/>
          </a:xfrm>
          <a:custGeom>
            <a:avLst/>
            <a:gdLst/>
            <a:ahLst/>
            <a:cxnLst/>
            <a:rect l="0" t="0" r="r" b="b"/>
            <a:pathLst>
              <a:path w="376580" h="294216">
                <a:moveTo>
                  <a:pt x="0" y="0"/>
                </a:moveTo>
                <a:cubicBezTo>
                  <a:pt x="159629" y="19593"/>
                  <a:pt x="299150" y="124631"/>
                  <a:pt x="376580" y="294216"/>
                </a:cubicBezTo>
                <a:cubicBezTo>
                  <a:pt x="206088" y="266137"/>
                  <a:pt x="59325" y="15544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artery_fibroblast_nucleus_163"/>
          <p:cNvSpPr/>
          <p:nvPr/>
        </p:nvSpPr>
        <p:spPr>
          <a:xfrm>
            <a:off x="10651875" y="4777216"/>
            <a:ext cx="220446" cy="184557"/>
          </a:xfrm>
          <a:custGeom>
            <a:avLst/>
            <a:gdLst/>
            <a:ahLst/>
            <a:cxnLst/>
            <a:rect l="0" t="0" r="r" b="b"/>
            <a:pathLst>
              <a:path w="220446" h="184557">
                <a:moveTo>
                  <a:pt x="12359" y="15819"/>
                </a:moveTo>
                <a:cubicBezTo>
                  <a:pt x="24719" y="0"/>
                  <a:pt x="78553" y="21408"/>
                  <a:pt x="132601" y="63636"/>
                </a:cubicBezTo>
                <a:cubicBezTo>
                  <a:pt x="186650" y="105863"/>
                  <a:pt x="220446" y="152919"/>
                  <a:pt x="208087" y="168738"/>
                </a:cubicBezTo>
                <a:cubicBezTo>
                  <a:pt x="195728" y="184557"/>
                  <a:pt x="141893" y="163149"/>
                  <a:pt x="87845" y="120922"/>
                </a:cubicBezTo>
                <a:cubicBezTo>
                  <a:pt x="33796" y="78694"/>
                  <a:pt x="0" y="31638"/>
                  <a:pt x="12359" y="15819"/>
                </a:cubicBezTo>
                <a:close/>
              </a:path>
            </a:pathLst>
          </a:custGeom>
          <a:gradFill rotWithShape="1">
            <a:gsLst>
              <a:gs pos="0">
                <a:srgbClr val="E5DFF0"/>
              </a:gs>
              <a:gs pos="30000">
                <a:srgbClr val="CDC2DF"/>
              </a:gs>
              <a:gs pos="68000">
                <a:srgbClr val="B3A6CC"/>
              </a:gs>
              <a:gs pos="100000">
                <a:srgbClr val="9A8CB6"/>
              </a:gs>
            </a:gsLst>
            <a:path path="circle">
              <a:fillToRect l="28000" t="24000" r="72000" b="76000"/>
            </a:path>
            <a:tileRect/>
          </a:gradFill>
          <a:ln w="4543" cap="rnd">
            <a:solidFill>
              <a:srgbClr val="8C7EA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artery_fibroblast_reflection_164"/>
          <p:cNvSpPr/>
          <p:nvPr/>
        </p:nvSpPr>
        <p:spPr>
          <a:xfrm>
            <a:off x="10691181" y="4809188"/>
            <a:ext cx="105486" cy="84264"/>
          </a:xfrm>
          <a:custGeom>
            <a:avLst/>
            <a:gdLst/>
            <a:ahLst/>
            <a:cxnLst/>
            <a:rect l="0" t="0" r="r" b="b"/>
            <a:pathLst>
              <a:path w="105486" h="84264">
                <a:moveTo>
                  <a:pt x="1854" y="2373"/>
                </a:moveTo>
                <a:cubicBezTo>
                  <a:pt x="3708" y="0"/>
                  <a:pt x="27994" y="15877"/>
                  <a:pt x="56100" y="37835"/>
                </a:cubicBezTo>
                <a:cubicBezTo>
                  <a:pt x="84205" y="59794"/>
                  <a:pt x="105486" y="79518"/>
                  <a:pt x="103632" y="81891"/>
                </a:cubicBezTo>
                <a:cubicBezTo>
                  <a:pt x="101778" y="84264"/>
                  <a:pt x="77492" y="68387"/>
                  <a:pt x="49386" y="46428"/>
                </a:cubicBezTo>
                <a:cubicBezTo>
                  <a:pt x="21281" y="24470"/>
                  <a:pt x="0" y="4746"/>
                  <a:pt x="1854" y="2373"/>
                </a:cubicBezTo>
                <a:close/>
              </a:path>
            </a:pathLst>
          </a:custGeom>
          <a:solidFill>
            <a:srgbClr val="F6F1FA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artery_fibroblast_pointed_body_165"/>
          <p:cNvSpPr/>
          <p:nvPr/>
        </p:nvSpPr>
        <p:spPr>
          <a:xfrm>
            <a:off x="11045500" y="4953468"/>
            <a:ext cx="378259" cy="328816"/>
          </a:xfrm>
          <a:custGeom>
            <a:avLst/>
            <a:gdLst/>
            <a:ahLst/>
            <a:cxnLst/>
            <a:rect l="0" t="0" r="r" b="b"/>
            <a:pathLst>
              <a:path w="378259" h="328816">
                <a:moveTo>
                  <a:pt x="0" y="0"/>
                </a:moveTo>
                <a:cubicBezTo>
                  <a:pt x="181576" y="11492"/>
                  <a:pt x="322520" y="128491"/>
                  <a:pt x="378259" y="328816"/>
                </a:cubicBezTo>
                <a:cubicBezTo>
                  <a:pt x="185772" y="307838"/>
                  <a:pt x="37553" y="184516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artery_fibroblast_nucleus_166"/>
          <p:cNvSpPr/>
          <p:nvPr/>
        </p:nvSpPr>
        <p:spPr>
          <a:xfrm>
            <a:off x="11118769" y="5012224"/>
            <a:ext cx="231721" cy="211304"/>
          </a:xfrm>
          <a:custGeom>
            <a:avLst/>
            <a:gdLst/>
            <a:ahLst/>
            <a:cxnLst/>
            <a:rect l="0" t="0" r="r" b="b"/>
            <a:pathLst>
              <a:path w="231721" h="211304">
                <a:moveTo>
                  <a:pt x="17560" y="20201"/>
                </a:moveTo>
                <a:cubicBezTo>
                  <a:pt x="35121" y="0"/>
                  <a:pt x="93366" y="21882"/>
                  <a:pt x="147656" y="69075"/>
                </a:cubicBezTo>
                <a:cubicBezTo>
                  <a:pt x="201946" y="116268"/>
                  <a:pt x="231721" y="170902"/>
                  <a:pt x="214161" y="191103"/>
                </a:cubicBezTo>
                <a:cubicBezTo>
                  <a:pt x="196600" y="211304"/>
                  <a:pt x="138354" y="189422"/>
                  <a:pt x="84065" y="142229"/>
                </a:cubicBezTo>
                <a:cubicBezTo>
                  <a:pt x="29775" y="95035"/>
                  <a:pt x="0" y="40402"/>
                  <a:pt x="17560" y="20201"/>
                </a:cubicBezTo>
                <a:close/>
              </a:path>
            </a:pathLst>
          </a:custGeom>
          <a:gradFill rotWithShape="1">
            <a:gsLst>
              <a:gs pos="0">
                <a:srgbClr val="E5DFF0"/>
              </a:gs>
              <a:gs pos="30000">
                <a:srgbClr val="CDC2DF"/>
              </a:gs>
              <a:gs pos="68000">
                <a:srgbClr val="B3A6CC"/>
              </a:gs>
              <a:gs pos="100000">
                <a:srgbClr val="9A8CB6"/>
              </a:gs>
            </a:gsLst>
            <a:path path="circle">
              <a:fillToRect l="28000" t="24000" r="72000" b="76000"/>
            </a:path>
            <a:tileRect/>
          </a:gradFill>
          <a:ln w="4543" cap="rnd">
            <a:solidFill>
              <a:srgbClr val="8C7EA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artery_fibroblast_reflection_167"/>
          <p:cNvSpPr/>
          <p:nvPr/>
        </p:nvSpPr>
        <p:spPr>
          <a:xfrm>
            <a:off x="11162705" y="5052237"/>
            <a:ext cx="107500" cy="94929"/>
          </a:xfrm>
          <a:custGeom>
            <a:avLst/>
            <a:gdLst/>
            <a:ahLst/>
            <a:cxnLst/>
            <a:rect l="0" t="0" r="r" b="b"/>
            <a:pathLst>
              <a:path w="107500" h="94929">
                <a:moveTo>
                  <a:pt x="2634" y="3030"/>
                </a:moveTo>
                <a:cubicBezTo>
                  <a:pt x="5268" y="0"/>
                  <a:pt x="30289" y="17438"/>
                  <a:pt x="58519" y="41978"/>
                </a:cubicBezTo>
                <a:cubicBezTo>
                  <a:pt x="86750" y="66519"/>
                  <a:pt x="107500" y="88869"/>
                  <a:pt x="104866" y="91899"/>
                </a:cubicBezTo>
                <a:cubicBezTo>
                  <a:pt x="102232" y="94929"/>
                  <a:pt x="77211" y="77492"/>
                  <a:pt x="48981" y="52951"/>
                </a:cubicBezTo>
                <a:cubicBezTo>
                  <a:pt x="20750" y="28411"/>
                  <a:pt x="0" y="6060"/>
                  <a:pt x="2634" y="3030"/>
                </a:cubicBezTo>
                <a:close/>
              </a:path>
            </a:pathLst>
          </a:custGeom>
          <a:solidFill>
            <a:srgbClr val="F6F1FA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artery_fibroblast_pointed_body_168"/>
          <p:cNvSpPr/>
          <p:nvPr/>
        </p:nvSpPr>
        <p:spPr>
          <a:xfrm>
            <a:off x="11696938" y="5367484"/>
            <a:ext cx="396048" cy="294099"/>
          </a:xfrm>
          <a:custGeom>
            <a:avLst/>
            <a:gdLst/>
            <a:ahLst/>
            <a:cxnLst/>
            <a:rect l="0" t="0" r="r" b="b"/>
            <a:pathLst>
              <a:path w="396048" h="294099">
                <a:moveTo>
                  <a:pt x="0" y="6353"/>
                </a:moveTo>
                <a:cubicBezTo>
                  <a:pt x="179166" y="0"/>
                  <a:pt x="326326" y="101766"/>
                  <a:pt x="396048" y="294099"/>
                </a:cubicBezTo>
                <a:cubicBezTo>
                  <a:pt x="205457" y="292152"/>
                  <a:pt x="50681" y="184852"/>
                  <a:pt x="0" y="6353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artery_fibroblast_nucleus_169"/>
          <p:cNvSpPr/>
          <p:nvPr/>
        </p:nvSpPr>
        <p:spPr>
          <a:xfrm>
            <a:off x="11776306" y="5421278"/>
            <a:ext cx="237312" cy="192865"/>
          </a:xfrm>
          <a:custGeom>
            <a:avLst/>
            <a:gdLst/>
            <a:ahLst/>
            <a:cxnLst/>
            <a:rect l="0" t="0" r="r" b="b"/>
            <a:pathLst>
              <a:path w="237312" h="192865">
                <a:moveTo>
                  <a:pt x="15733" y="21654"/>
                </a:moveTo>
                <a:cubicBezTo>
                  <a:pt x="31466" y="0"/>
                  <a:pt x="90300" y="15925"/>
                  <a:pt x="147143" y="57224"/>
                </a:cubicBezTo>
                <a:cubicBezTo>
                  <a:pt x="203986" y="98522"/>
                  <a:pt x="237312" y="149556"/>
                  <a:pt x="221579" y="171210"/>
                </a:cubicBezTo>
                <a:cubicBezTo>
                  <a:pt x="205846" y="192865"/>
                  <a:pt x="147012" y="176940"/>
                  <a:pt x="90169" y="135641"/>
                </a:cubicBezTo>
                <a:cubicBezTo>
                  <a:pt x="33326" y="94342"/>
                  <a:pt x="0" y="43309"/>
                  <a:pt x="15733" y="21654"/>
                </a:cubicBezTo>
                <a:close/>
              </a:path>
            </a:pathLst>
          </a:custGeom>
          <a:gradFill rotWithShape="1">
            <a:gsLst>
              <a:gs pos="0">
                <a:srgbClr val="E5DFF0"/>
              </a:gs>
              <a:gs pos="30000">
                <a:srgbClr val="CDC2DF"/>
              </a:gs>
              <a:gs pos="68000">
                <a:srgbClr val="B3A6CC"/>
              </a:gs>
              <a:gs pos="100000">
                <a:srgbClr val="9A8CB6"/>
              </a:gs>
            </a:gsLst>
            <a:path path="circle">
              <a:fillToRect l="28000" t="24000" r="72000" b="76000"/>
            </a:path>
            <a:tileRect/>
          </a:gradFill>
          <a:ln w="4543" cap="rnd">
            <a:solidFill>
              <a:srgbClr val="8C7EA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artery_fibroblast_reflection_170"/>
          <p:cNvSpPr/>
          <p:nvPr/>
        </p:nvSpPr>
        <p:spPr>
          <a:xfrm>
            <a:off x="11820907" y="5457403"/>
            <a:ext cx="111760" cy="84265"/>
          </a:xfrm>
          <a:custGeom>
            <a:avLst/>
            <a:gdLst/>
            <a:ahLst/>
            <a:cxnLst/>
            <a:rect l="0" t="0" r="r" b="b"/>
            <a:pathLst>
              <a:path w="111760" h="84265">
                <a:moveTo>
                  <a:pt x="2360" y="3248"/>
                </a:moveTo>
                <a:cubicBezTo>
                  <a:pt x="4720" y="0"/>
                  <a:pt x="30595" y="14776"/>
                  <a:pt x="60153" y="36251"/>
                </a:cubicBezTo>
                <a:cubicBezTo>
                  <a:pt x="89711" y="57727"/>
                  <a:pt x="111760" y="77769"/>
                  <a:pt x="109400" y="81017"/>
                </a:cubicBezTo>
                <a:cubicBezTo>
                  <a:pt x="107040" y="84265"/>
                  <a:pt x="81165" y="69489"/>
                  <a:pt x="51607" y="48014"/>
                </a:cubicBezTo>
                <a:cubicBezTo>
                  <a:pt x="22049" y="26539"/>
                  <a:pt x="0" y="6496"/>
                  <a:pt x="2360" y="3248"/>
                </a:cubicBezTo>
                <a:close/>
              </a:path>
            </a:pathLst>
          </a:custGeom>
          <a:solidFill>
            <a:srgbClr val="F6F1FA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artery_fibroblast_pointed_body_171"/>
          <p:cNvSpPr/>
          <p:nvPr/>
        </p:nvSpPr>
        <p:spPr>
          <a:xfrm>
            <a:off x="12075740" y="5815327"/>
            <a:ext cx="389647" cy="246146"/>
          </a:xfrm>
          <a:custGeom>
            <a:avLst/>
            <a:gdLst/>
            <a:ahLst/>
            <a:cxnLst/>
            <a:rect l="0" t="0" r="r" b="b"/>
            <a:pathLst>
              <a:path w="389647" h="246146">
                <a:moveTo>
                  <a:pt x="0" y="9388"/>
                </a:moveTo>
                <a:cubicBezTo>
                  <a:pt x="158618" y="0"/>
                  <a:pt x="302734" y="82642"/>
                  <a:pt x="389647" y="243511"/>
                </a:cubicBezTo>
                <a:cubicBezTo>
                  <a:pt x="219789" y="246146"/>
                  <a:pt x="68180" y="159001"/>
                  <a:pt x="0" y="9388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artery_fibroblast_nucleus_172"/>
          <p:cNvSpPr/>
          <p:nvPr/>
        </p:nvSpPr>
        <p:spPr>
          <a:xfrm>
            <a:off x="12158103" y="5862292"/>
            <a:ext cx="224921" cy="158969"/>
          </a:xfrm>
          <a:custGeom>
            <a:avLst/>
            <a:gdLst/>
            <a:ahLst/>
            <a:cxnLst/>
            <a:rect l="0" t="0" r="r" b="b"/>
            <a:pathLst>
              <a:path w="224921" h="158969">
                <a:moveTo>
                  <a:pt x="11201" y="18641"/>
                </a:moveTo>
                <a:cubicBezTo>
                  <a:pt x="22402" y="0"/>
                  <a:pt x="76817" y="12128"/>
                  <a:pt x="132741" y="45731"/>
                </a:cubicBezTo>
                <a:cubicBezTo>
                  <a:pt x="188666" y="79334"/>
                  <a:pt x="224921" y="121686"/>
                  <a:pt x="213720" y="140327"/>
                </a:cubicBezTo>
                <a:cubicBezTo>
                  <a:pt x="202519" y="158969"/>
                  <a:pt x="148104" y="146840"/>
                  <a:pt x="92179" y="113237"/>
                </a:cubicBezTo>
                <a:cubicBezTo>
                  <a:pt x="36255" y="79635"/>
                  <a:pt x="0" y="37283"/>
                  <a:pt x="11201" y="18641"/>
                </a:cubicBezTo>
                <a:close/>
              </a:path>
            </a:pathLst>
          </a:custGeom>
          <a:gradFill rotWithShape="1">
            <a:gsLst>
              <a:gs pos="0">
                <a:srgbClr val="E5DFF0"/>
              </a:gs>
              <a:gs pos="30000">
                <a:srgbClr val="CDC2DF"/>
              </a:gs>
              <a:gs pos="68000">
                <a:srgbClr val="B3A6CC"/>
              </a:gs>
              <a:gs pos="100000">
                <a:srgbClr val="9A8CB6"/>
              </a:gs>
            </a:gsLst>
            <a:path path="circle">
              <a:fillToRect l="28000" t="24000" r="72000" b="76000"/>
            </a:path>
            <a:tileRect/>
          </a:gradFill>
          <a:ln w="4543" cap="rnd">
            <a:solidFill>
              <a:srgbClr val="8C7EA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artery_fibroblast_reflection_173"/>
          <p:cNvSpPr/>
          <p:nvPr/>
        </p:nvSpPr>
        <p:spPr>
          <a:xfrm>
            <a:off x="12198054" y="5889168"/>
            <a:ext cx="108670" cy="68869"/>
          </a:xfrm>
          <a:custGeom>
            <a:avLst/>
            <a:gdLst/>
            <a:ahLst/>
            <a:cxnLst/>
            <a:rect l="0" t="0" r="r" b="b"/>
            <a:pathLst>
              <a:path w="108670" h="68869">
                <a:moveTo>
                  <a:pt x="1680" y="2796"/>
                </a:moveTo>
                <a:cubicBezTo>
                  <a:pt x="3360" y="0"/>
                  <a:pt x="28297" y="11898"/>
                  <a:pt x="57377" y="29372"/>
                </a:cubicBezTo>
                <a:cubicBezTo>
                  <a:pt x="86458" y="46845"/>
                  <a:pt x="108670" y="63277"/>
                  <a:pt x="106990" y="66073"/>
                </a:cubicBezTo>
                <a:cubicBezTo>
                  <a:pt x="105310" y="68869"/>
                  <a:pt x="80374" y="56971"/>
                  <a:pt x="51293" y="39497"/>
                </a:cubicBezTo>
                <a:cubicBezTo>
                  <a:pt x="22212" y="22024"/>
                  <a:pt x="0" y="5592"/>
                  <a:pt x="1680" y="2796"/>
                </a:cubicBezTo>
                <a:close/>
              </a:path>
            </a:pathLst>
          </a:custGeom>
          <a:solidFill>
            <a:srgbClr val="F6F1FA">
              <a:alpha val="4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artery_muscle_layer_174"/>
          <p:cNvSpPr/>
          <p:nvPr/>
        </p:nvSpPr>
        <p:spPr>
          <a:xfrm>
            <a:off x="9041600" y="2482606"/>
            <a:ext cx="4198258" cy="3834772"/>
          </a:xfrm>
          <a:custGeom>
            <a:avLst/>
            <a:gdLst/>
            <a:ahLst/>
            <a:cxnLst/>
            <a:rect l="0" t="0" r="r" b="b"/>
            <a:pathLst>
              <a:path w="4198258" h="3834772">
                <a:moveTo>
                  <a:pt x="96929" y="0"/>
                </a:moveTo>
                <a:cubicBezTo>
                  <a:pt x="333195" y="109046"/>
                  <a:pt x="660332" y="302905"/>
                  <a:pt x="969295" y="490705"/>
                </a:cubicBezTo>
                <a:cubicBezTo>
                  <a:pt x="1708382" y="926888"/>
                  <a:pt x="2471702" y="1393361"/>
                  <a:pt x="3138092" y="1696266"/>
                </a:cubicBezTo>
                <a:cubicBezTo>
                  <a:pt x="3235021" y="1732614"/>
                  <a:pt x="3344067" y="1775021"/>
                  <a:pt x="3428880" y="1817428"/>
                </a:cubicBezTo>
                <a:cubicBezTo>
                  <a:pt x="3338009" y="2035519"/>
                  <a:pt x="3289544" y="2259668"/>
                  <a:pt x="3295602" y="2459585"/>
                </a:cubicBezTo>
                <a:cubicBezTo>
                  <a:pt x="3295602" y="2950291"/>
                  <a:pt x="3683320" y="3471287"/>
                  <a:pt x="4198258" y="3834772"/>
                </a:cubicBezTo>
                <a:cubicBezTo>
                  <a:pt x="3871121" y="3640913"/>
                  <a:pt x="3568216" y="3380415"/>
                  <a:pt x="3222905" y="3168382"/>
                </a:cubicBezTo>
                <a:cubicBezTo>
                  <a:pt x="2574689" y="2798838"/>
                  <a:pt x="1956764" y="2508050"/>
                  <a:pt x="1417594" y="2174855"/>
                </a:cubicBezTo>
                <a:cubicBezTo>
                  <a:pt x="1011701" y="1920415"/>
                  <a:pt x="623983" y="1605394"/>
                  <a:pt x="411950" y="1278257"/>
                </a:cubicBezTo>
                <a:cubicBezTo>
                  <a:pt x="169627" y="1005643"/>
                  <a:pt x="60581" y="763320"/>
                  <a:pt x="72697" y="508880"/>
                </a:cubicBezTo>
                <a:cubicBezTo>
                  <a:pt x="102988" y="290788"/>
                  <a:pt x="84813" y="145394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F7C0B0"/>
              </a:gs>
              <a:gs pos="30000">
                <a:srgbClr val="DB8D80"/>
              </a:gs>
              <a:gs pos="66000">
                <a:srgbClr val="CA716B"/>
              </a:gs>
              <a:gs pos="100000">
                <a:srgbClr val="EFA698"/>
              </a:gs>
            </a:gsLst>
            <a:lin ang="7500000" scaled="1"/>
          </a:gradFill>
          <a:ln w="5452" cap="rnd">
            <a:solidFill>
              <a:srgbClr val="AC625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artery_intercellular_collagen_septum_175"/>
          <p:cNvSpPr/>
          <p:nvPr/>
        </p:nvSpPr>
        <p:spPr>
          <a:xfrm>
            <a:off x="9273141" y="2607827"/>
            <a:ext cx="599448" cy="530204"/>
          </a:xfrm>
          <a:custGeom>
            <a:avLst/>
            <a:gdLst/>
            <a:ahLst/>
            <a:cxnLst/>
            <a:rect l="0" t="0" r="r" b="b"/>
            <a:pathLst>
              <a:path w="599448" h="530204">
                <a:moveTo>
                  <a:pt x="14358" y="8542"/>
                </a:moveTo>
                <a:cubicBezTo>
                  <a:pt x="28715" y="0"/>
                  <a:pt x="68396" y="21324"/>
                  <a:pt x="94809" y="30290"/>
                </a:cubicBezTo>
                <a:cubicBezTo>
                  <a:pt x="121162" y="39196"/>
                  <a:pt x="146788" y="51494"/>
                  <a:pt x="172777" y="62277"/>
                </a:cubicBezTo>
                <a:cubicBezTo>
                  <a:pt x="198705" y="73000"/>
                  <a:pt x="225119" y="82875"/>
                  <a:pt x="250502" y="94870"/>
                </a:cubicBezTo>
                <a:cubicBezTo>
                  <a:pt x="275886" y="106804"/>
                  <a:pt x="301269" y="119223"/>
                  <a:pt x="325077" y="133944"/>
                </a:cubicBezTo>
                <a:cubicBezTo>
                  <a:pt x="348825" y="148726"/>
                  <a:pt x="371846" y="165325"/>
                  <a:pt x="393291" y="183318"/>
                </a:cubicBezTo>
                <a:cubicBezTo>
                  <a:pt x="414737" y="201371"/>
                  <a:pt x="434850" y="221363"/>
                  <a:pt x="453691" y="242142"/>
                </a:cubicBezTo>
                <a:cubicBezTo>
                  <a:pt x="472531" y="262861"/>
                  <a:pt x="490039" y="284973"/>
                  <a:pt x="506275" y="307812"/>
                </a:cubicBezTo>
                <a:cubicBezTo>
                  <a:pt x="522571" y="330651"/>
                  <a:pt x="537292" y="354762"/>
                  <a:pt x="551165" y="379176"/>
                </a:cubicBezTo>
                <a:cubicBezTo>
                  <a:pt x="564978" y="403590"/>
                  <a:pt x="583758" y="430306"/>
                  <a:pt x="589452" y="454236"/>
                </a:cubicBezTo>
                <a:cubicBezTo>
                  <a:pt x="595208" y="478226"/>
                  <a:pt x="599448" y="515847"/>
                  <a:pt x="585454" y="522995"/>
                </a:cubicBezTo>
                <a:cubicBezTo>
                  <a:pt x="571460" y="530204"/>
                  <a:pt x="531961" y="506699"/>
                  <a:pt x="505548" y="497369"/>
                </a:cubicBezTo>
                <a:cubicBezTo>
                  <a:pt x="479134" y="488040"/>
                  <a:pt x="452903" y="477741"/>
                  <a:pt x="426914" y="467079"/>
                </a:cubicBezTo>
                <a:cubicBezTo>
                  <a:pt x="400925" y="456417"/>
                  <a:pt x="375238" y="444906"/>
                  <a:pt x="349612" y="433396"/>
                </a:cubicBezTo>
                <a:cubicBezTo>
                  <a:pt x="323987" y="421886"/>
                  <a:pt x="298240" y="410557"/>
                  <a:pt x="273159" y="397956"/>
                </a:cubicBezTo>
                <a:cubicBezTo>
                  <a:pt x="248079" y="385355"/>
                  <a:pt x="220999" y="374693"/>
                  <a:pt x="199190" y="357791"/>
                </a:cubicBezTo>
                <a:cubicBezTo>
                  <a:pt x="177320" y="340828"/>
                  <a:pt x="159388" y="318413"/>
                  <a:pt x="142244" y="296362"/>
                </a:cubicBezTo>
                <a:cubicBezTo>
                  <a:pt x="125160" y="274371"/>
                  <a:pt x="111529" y="249290"/>
                  <a:pt x="96505" y="225603"/>
                </a:cubicBezTo>
                <a:cubicBezTo>
                  <a:pt x="81421" y="201856"/>
                  <a:pt x="66457" y="178108"/>
                  <a:pt x="51857" y="154118"/>
                </a:cubicBezTo>
                <a:cubicBezTo>
                  <a:pt x="37197" y="130128"/>
                  <a:pt x="14963" y="105895"/>
                  <a:pt x="8724" y="81663"/>
                </a:cubicBezTo>
                <a:cubicBezTo>
                  <a:pt x="2484" y="57431"/>
                  <a:pt x="0" y="17144"/>
                  <a:pt x="14358" y="8542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artery_smooth_muscle_cell_176"/>
          <p:cNvSpPr/>
          <p:nvPr/>
        </p:nvSpPr>
        <p:spPr>
          <a:xfrm>
            <a:off x="9273141" y="2607827"/>
            <a:ext cx="599448" cy="530204"/>
          </a:xfrm>
          <a:custGeom>
            <a:avLst/>
            <a:gdLst/>
            <a:ahLst/>
            <a:cxnLst/>
            <a:rect l="0" t="0" r="r" b="b"/>
            <a:pathLst>
              <a:path w="599448" h="530204">
                <a:moveTo>
                  <a:pt x="14358" y="8542"/>
                </a:moveTo>
                <a:cubicBezTo>
                  <a:pt x="28715" y="0"/>
                  <a:pt x="68396" y="21324"/>
                  <a:pt x="94809" y="30290"/>
                </a:cubicBezTo>
                <a:cubicBezTo>
                  <a:pt x="121162" y="39196"/>
                  <a:pt x="146788" y="51494"/>
                  <a:pt x="172777" y="62277"/>
                </a:cubicBezTo>
                <a:cubicBezTo>
                  <a:pt x="198705" y="73000"/>
                  <a:pt x="225119" y="82875"/>
                  <a:pt x="250502" y="94870"/>
                </a:cubicBezTo>
                <a:cubicBezTo>
                  <a:pt x="275886" y="106804"/>
                  <a:pt x="301269" y="119223"/>
                  <a:pt x="325077" y="133944"/>
                </a:cubicBezTo>
                <a:cubicBezTo>
                  <a:pt x="348825" y="148726"/>
                  <a:pt x="371846" y="165325"/>
                  <a:pt x="393291" y="183318"/>
                </a:cubicBezTo>
                <a:cubicBezTo>
                  <a:pt x="414737" y="201371"/>
                  <a:pt x="434850" y="221363"/>
                  <a:pt x="453691" y="242142"/>
                </a:cubicBezTo>
                <a:cubicBezTo>
                  <a:pt x="472531" y="262861"/>
                  <a:pt x="490039" y="284973"/>
                  <a:pt x="506275" y="307812"/>
                </a:cubicBezTo>
                <a:cubicBezTo>
                  <a:pt x="522571" y="330651"/>
                  <a:pt x="537292" y="354762"/>
                  <a:pt x="551165" y="379176"/>
                </a:cubicBezTo>
                <a:cubicBezTo>
                  <a:pt x="564978" y="403590"/>
                  <a:pt x="583758" y="430306"/>
                  <a:pt x="589452" y="454236"/>
                </a:cubicBezTo>
                <a:cubicBezTo>
                  <a:pt x="595208" y="478226"/>
                  <a:pt x="599448" y="515847"/>
                  <a:pt x="585454" y="522995"/>
                </a:cubicBezTo>
                <a:cubicBezTo>
                  <a:pt x="571460" y="530204"/>
                  <a:pt x="531961" y="506699"/>
                  <a:pt x="505548" y="497369"/>
                </a:cubicBezTo>
                <a:cubicBezTo>
                  <a:pt x="479134" y="488040"/>
                  <a:pt x="452903" y="477741"/>
                  <a:pt x="426914" y="467079"/>
                </a:cubicBezTo>
                <a:cubicBezTo>
                  <a:pt x="400925" y="456417"/>
                  <a:pt x="375238" y="444906"/>
                  <a:pt x="349612" y="433396"/>
                </a:cubicBezTo>
                <a:cubicBezTo>
                  <a:pt x="323987" y="421886"/>
                  <a:pt x="298240" y="410557"/>
                  <a:pt x="273159" y="397956"/>
                </a:cubicBezTo>
                <a:cubicBezTo>
                  <a:pt x="248079" y="385355"/>
                  <a:pt x="220999" y="374693"/>
                  <a:pt x="199190" y="357791"/>
                </a:cubicBezTo>
                <a:cubicBezTo>
                  <a:pt x="177320" y="340828"/>
                  <a:pt x="159388" y="318413"/>
                  <a:pt x="142244" y="296362"/>
                </a:cubicBezTo>
                <a:cubicBezTo>
                  <a:pt x="125160" y="274371"/>
                  <a:pt x="111529" y="249290"/>
                  <a:pt x="96505" y="225603"/>
                </a:cubicBezTo>
                <a:cubicBezTo>
                  <a:pt x="81421" y="201856"/>
                  <a:pt x="66457" y="178108"/>
                  <a:pt x="51857" y="154118"/>
                </a:cubicBezTo>
                <a:cubicBezTo>
                  <a:pt x="37197" y="130128"/>
                  <a:pt x="14963" y="105895"/>
                  <a:pt x="8724" y="81663"/>
                </a:cubicBezTo>
                <a:cubicBezTo>
                  <a:pt x="2484" y="57431"/>
                  <a:pt x="0" y="17144"/>
                  <a:pt x="14358" y="8542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artery_muscle_soft_light_177"/>
          <p:cNvSpPr/>
          <p:nvPr/>
        </p:nvSpPr>
        <p:spPr>
          <a:xfrm>
            <a:off x="9284900" y="2623205"/>
            <a:ext cx="563481" cy="482486"/>
          </a:xfrm>
          <a:custGeom>
            <a:avLst/>
            <a:gdLst/>
            <a:ahLst/>
            <a:cxnLst/>
            <a:rect l="0" t="0" r="r" b="b"/>
            <a:pathLst>
              <a:path w="563481" h="482486">
                <a:moveTo>
                  <a:pt x="13496" y="7773"/>
                </a:moveTo>
                <a:cubicBezTo>
                  <a:pt x="26992" y="0"/>
                  <a:pt x="64292" y="19405"/>
                  <a:pt x="89121" y="27564"/>
                </a:cubicBezTo>
                <a:cubicBezTo>
                  <a:pt x="113892" y="35668"/>
                  <a:pt x="137980" y="46859"/>
                  <a:pt x="162410" y="56672"/>
                </a:cubicBezTo>
                <a:cubicBezTo>
                  <a:pt x="186783" y="66430"/>
                  <a:pt x="211612" y="75416"/>
                  <a:pt x="235472" y="86331"/>
                </a:cubicBezTo>
                <a:cubicBezTo>
                  <a:pt x="259332" y="97192"/>
                  <a:pt x="283193" y="108493"/>
                  <a:pt x="305573" y="121889"/>
                </a:cubicBezTo>
                <a:cubicBezTo>
                  <a:pt x="327895" y="135341"/>
                  <a:pt x="349535" y="150446"/>
                  <a:pt x="369694" y="166819"/>
                </a:cubicBezTo>
                <a:cubicBezTo>
                  <a:pt x="389853" y="183248"/>
                  <a:pt x="408759" y="201440"/>
                  <a:pt x="426469" y="220349"/>
                </a:cubicBezTo>
                <a:cubicBezTo>
                  <a:pt x="444179" y="239203"/>
                  <a:pt x="460637" y="259325"/>
                  <a:pt x="475898" y="280109"/>
                </a:cubicBezTo>
                <a:cubicBezTo>
                  <a:pt x="491217" y="300892"/>
                  <a:pt x="505055" y="322833"/>
                  <a:pt x="518095" y="345050"/>
                </a:cubicBezTo>
                <a:cubicBezTo>
                  <a:pt x="531079" y="367267"/>
                  <a:pt x="548732" y="391579"/>
                  <a:pt x="554085" y="413355"/>
                </a:cubicBezTo>
                <a:cubicBezTo>
                  <a:pt x="559495" y="435185"/>
                  <a:pt x="563481" y="469420"/>
                  <a:pt x="550327" y="475926"/>
                </a:cubicBezTo>
                <a:cubicBezTo>
                  <a:pt x="537172" y="482486"/>
                  <a:pt x="500043" y="461096"/>
                  <a:pt x="475215" y="452606"/>
                </a:cubicBezTo>
                <a:cubicBezTo>
                  <a:pt x="450386" y="444116"/>
                  <a:pt x="425729" y="434744"/>
                  <a:pt x="401299" y="425042"/>
                </a:cubicBezTo>
                <a:cubicBezTo>
                  <a:pt x="376869" y="415339"/>
                  <a:pt x="352724" y="404865"/>
                  <a:pt x="328636" y="394390"/>
                </a:cubicBezTo>
                <a:cubicBezTo>
                  <a:pt x="304548" y="383916"/>
                  <a:pt x="280345" y="373607"/>
                  <a:pt x="256770" y="362140"/>
                </a:cubicBezTo>
                <a:cubicBezTo>
                  <a:pt x="233194" y="350673"/>
                  <a:pt x="207739" y="340971"/>
                  <a:pt x="187239" y="325590"/>
                </a:cubicBezTo>
                <a:cubicBezTo>
                  <a:pt x="166681" y="310154"/>
                  <a:pt x="149825" y="289756"/>
                  <a:pt x="133709" y="269689"/>
                </a:cubicBezTo>
                <a:cubicBezTo>
                  <a:pt x="117651" y="249678"/>
                  <a:pt x="104838" y="226854"/>
                  <a:pt x="90715" y="205299"/>
                </a:cubicBezTo>
                <a:cubicBezTo>
                  <a:pt x="76536" y="183689"/>
                  <a:pt x="62470" y="162078"/>
                  <a:pt x="48746" y="140247"/>
                </a:cubicBezTo>
                <a:cubicBezTo>
                  <a:pt x="34965" y="118416"/>
                  <a:pt x="14066" y="96365"/>
                  <a:pt x="8200" y="74313"/>
                </a:cubicBezTo>
                <a:cubicBezTo>
                  <a:pt x="2335" y="52262"/>
                  <a:pt x="0" y="15601"/>
                  <a:pt x="13496" y="7773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artery_muscle_nucleus_178"/>
          <p:cNvSpPr/>
          <p:nvPr/>
        </p:nvSpPr>
        <p:spPr>
          <a:xfrm>
            <a:off x="9473906" y="2800595"/>
            <a:ext cx="171505" cy="147817"/>
          </a:xfrm>
          <a:custGeom>
            <a:avLst/>
            <a:gdLst/>
            <a:ahLst/>
            <a:cxnLst/>
            <a:rect l="0" t="0" r="r" b="b"/>
            <a:pathLst>
              <a:path w="171505" h="147817">
                <a:moveTo>
                  <a:pt x="35682" y="2423"/>
                </a:moveTo>
                <a:cubicBezTo>
                  <a:pt x="47374" y="0"/>
                  <a:pt x="62580" y="5331"/>
                  <a:pt x="74878" y="9693"/>
                </a:cubicBezTo>
                <a:cubicBezTo>
                  <a:pt x="87176" y="14115"/>
                  <a:pt x="98383" y="21567"/>
                  <a:pt x="109349" y="28837"/>
                </a:cubicBezTo>
                <a:cubicBezTo>
                  <a:pt x="120374" y="36106"/>
                  <a:pt x="132127" y="43558"/>
                  <a:pt x="140851" y="53311"/>
                </a:cubicBezTo>
                <a:cubicBezTo>
                  <a:pt x="149635" y="63065"/>
                  <a:pt x="157510" y="75181"/>
                  <a:pt x="161933" y="87297"/>
                </a:cubicBezTo>
                <a:cubicBezTo>
                  <a:pt x="166295" y="99474"/>
                  <a:pt x="171505" y="116497"/>
                  <a:pt x="167143" y="126190"/>
                </a:cubicBezTo>
                <a:cubicBezTo>
                  <a:pt x="162781" y="135822"/>
                  <a:pt x="147575" y="142789"/>
                  <a:pt x="135762" y="145334"/>
                </a:cubicBezTo>
                <a:cubicBezTo>
                  <a:pt x="123949" y="147817"/>
                  <a:pt x="108561" y="145152"/>
                  <a:pt x="96142" y="141154"/>
                </a:cubicBezTo>
                <a:cubicBezTo>
                  <a:pt x="83783" y="137155"/>
                  <a:pt x="72515" y="128613"/>
                  <a:pt x="61429" y="121222"/>
                </a:cubicBezTo>
                <a:cubicBezTo>
                  <a:pt x="50403" y="113771"/>
                  <a:pt x="38651" y="106380"/>
                  <a:pt x="29745" y="96687"/>
                </a:cubicBezTo>
                <a:cubicBezTo>
                  <a:pt x="20900" y="86994"/>
                  <a:pt x="12359" y="75060"/>
                  <a:pt x="8178" y="63004"/>
                </a:cubicBezTo>
                <a:cubicBezTo>
                  <a:pt x="3938" y="50949"/>
                  <a:pt x="0" y="34410"/>
                  <a:pt x="4544" y="24293"/>
                </a:cubicBezTo>
                <a:cubicBezTo>
                  <a:pt x="9148" y="14237"/>
                  <a:pt x="23929" y="4846"/>
                  <a:pt x="35682" y="2423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artery_nuclear_soft_light_179"/>
          <p:cNvSpPr/>
          <p:nvPr/>
        </p:nvSpPr>
        <p:spPr>
          <a:xfrm>
            <a:off x="9514607" y="2837498"/>
            <a:ext cx="65323" cy="51839"/>
          </a:xfrm>
          <a:custGeom>
            <a:avLst/>
            <a:gdLst/>
            <a:ahLst/>
            <a:cxnLst/>
            <a:rect l="0" t="0" r="r" b="b"/>
            <a:pathLst>
              <a:path w="65323" h="51839">
                <a:moveTo>
                  <a:pt x="2241" y="2971"/>
                </a:moveTo>
                <a:cubicBezTo>
                  <a:pt x="4483" y="0"/>
                  <a:pt x="19920" y="7866"/>
                  <a:pt x="36720" y="20540"/>
                </a:cubicBezTo>
                <a:cubicBezTo>
                  <a:pt x="53521" y="33214"/>
                  <a:pt x="65323" y="45897"/>
                  <a:pt x="63082" y="48868"/>
                </a:cubicBezTo>
                <a:cubicBezTo>
                  <a:pt x="60841" y="51839"/>
                  <a:pt x="45404" y="43973"/>
                  <a:pt x="28603" y="31299"/>
                </a:cubicBezTo>
                <a:cubicBezTo>
                  <a:pt x="11803" y="18625"/>
                  <a:pt x="0" y="5942"/>
                  <a:pt x="2241" y="2971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artery_intercellular_collagen_septum_180"/>
          <p:cNvSpPr/>
          <p:nvPr/>
        </p:nvSpPr>
        <p:spPr>
          <a:xfrm>
            <a:off x="9824185" y="2880926"/>
            <a:ext cx="664209" cy="583031"/>
          </a:xfrm>
          <a:custGeom>
            <a:avLst/>
            <a:gdLst/>
            <a:ahLst/>
            <a:cxnLst/>
            <a:rect l="0" t="0" r="r" b="b"/>
            <a:pathLst>
              <a:path w="664209" h="583031">
                <a:moveTo>
                  <a:pt x="9935" y="8057"/>
                </a:moveTo>
                <a:cubicBezTo>
                  <a:pt x="19871" y="0"/>
                  <a:pt x="67124" y="26232"/>
                  <a:pt x="95294" y="37136"/>
                </a:cubicBezTo>
                <a:cubicBezTo>
                  <a:pt x="123403" y="48101"/>
                  <a:pt x="150968" y="61550"/>
                  <a:pt x="178774" y="73727"/>
                </a:cubicBezTo>
                <a:cubicBezTo>
                  <a:pt x="206642" y="85904"/>
                  <a:pt x="234630" y="97717"/>
                  <a:pt x="262315" y="110197"/>
                </a:cubicBezTo>
                <a:cubicBezTo>
                  <a:pt x="290001" y="122737"/>
                  <a:pt x="317989" y="134853"/>
                  <a:pt x="344948" y="148787"/>
                </a:cubicBezTo>
                <a:cubicBezTo>
                  <a:pt x="371906" y="162720"/>
                  <a:pt x="399228" y="176715"/>
                  <a:pt x="424127" y="193859"/>
                </a:cubicBezTo>
                <a:cubicBezTo>
                  <a:pt x="449026" y="211003"/>
                  <a:pt x="472773" y="230632"/>
                  <a:pt x="494340" y="251774"/>
                </a:cubicBezTo>
                <a:cubicBezTo>
                  <a:pt x="515968" y="272917"/>
                  <a:pt x="536141" y="296241"/>
                  <a:pt x="553588" y="320897"/>
                </a:cubicBezTo>
                <a:cubicBezTo>
                  <a:pt x="571096" y="345493"/>
                  <a:pt x="585696" y="372573"/>
                  <a:pt x="599266" y="399652"/>
                </a:cubicBezTo>
                <a:cubicBezTo>
                  <a:pt x="612837" y="426732"/>
                  <a:pt x="625740" y="454902"/>
                  <a:pt x="634888" y="483496"/>
                </a:cubicBezTo>
                <a:cubicBezTo>
                  <a:pt x="643975" y="512151"/>
                  <a:pt x="664209" y="559647"/>
                  <a:pt x="653910" y="571339"/>
                </a:cubicBezTo>
                <a:cubicBezTo>
                  <a:pt x="643612" y="583031"/>
                  <a:pt x="599933" y="563705"/>
                  <a:pt x="573035" y="553588"/>
                </a:cubicBezTo>
                <a:cubicBezTo>
                  <a:pt x="546198" y="543411"/>
                  <a:pt x="519603" y="524631"/>
                  <a:pt x="492705" y="510515"/>
                </a:cubicBezTo>
                <a:cubicBezTo>
                  <a:pt x="465807" y="496339"/>
                  <a:pt x="438000" y="483860"/>
                  <a:pt x="411769" y="468533"/>
                </a:cubicBezTo>
                <a:cubicBezTo>
                  <a:pt x="385537" y="453266"/>
                  <a:pt x="360820" y="435456"/>
                  <a:pt x="335437" y="418735"/>
                </a:cubicBezTo>
                <a:cubicBezTo>
                  <a:pt x="310053" y="401954"/>
                  <a:pt x="284306" y="385719"/>
                  <a:pt x="259589" y="368150"/>
                </a:cubicBezTo>
                <a:cubicBezTo>
                  <a:pt x="234872" y="350521"/>
                  <a:pt x="208035" y="334649"/>
                  <a:pt x="187074" y="313143"/>
                </a:cubicBezTo>
                <a:cubicBezTo>
                  <a:pt x="166173" y="291697"/>
                  <a:pt x="151089" y="264375"/>
                  <a:pt x="134066" y="239234"/>
                </a:cubicBezTo>
                <a:cubicBezTo>
                  <a:pt x="117042" y="214154"/>
                  <a:pt x="101352" y="188043"/>
                  <a:pt x="84934" y="162478"/>
                </a:cubicBezTo>
                <a:cubicBezTo>
                  <a:pt x="68578" y="136852"/>
                  <a:pt x="48283" y="111408"/>
                  <a:pt x="35743" y="85722"/>
                </a:cubicBezTo>
                <a:cubicBezTo>
                  <a:pt x="23263" y="59975"/>
                  <a:pt x="0" y="16175"/>
                  <a:pt x="9935" y="8057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artery_smooth_muscle_cell_181"/>
          <p:cNvSpPr/>
          <p:nvPr/>
        </p:nvSpPr>
        <p:spPr>
          <a:xfrm>
            <a:off x="9824185" y="2880926"/>
            <a:ext cx="664209" cy="583031"/>
          </a:xfrm>
          <a:custGeom>
            <a:avLst/>
            <a:gdLst/>
            <a:ahLst/>
            <a:cxnLst/>
            <a:rect l="0" t="0" r="r" b="b"/>
            <a:pathLst>
              <a:path w="664209" h="583031">
                <a:moveTo>
                  <a:pt x="9935" y="8057"/>
                </a:moveTo>
                <a:cubicBezTo>
                  <a:pt x="19871" y="0"/>
                  <a:pt x="67124" y="26232"/>
                  <a:pt x="95294" y="37136"/>
                </a:cubicBezTo>
                <a:cubicBezTo>
                  <a:pt x="123403" y="48101"/>
                  <a:pt x="150968" y="61550"/>
                  <a:pt x="178774" y="73727"/>
                </a:cubicBezTo>
                <a:cubicBezTo>
                  <a:pt x="206642" y="85904"/>
                  <a:pt x="234630" y="97717"/>
                  <a:pt x="262315" y="110197"/>
                </a:cubicBezTo>
                <a:cubicBezTo>
                  <a:pt x="290001" y="122737"/>
                  <a:pt x="317989" y="134853"/>
                  <a:pt x="344948" y="148787"/>
                </a:cubicBezTo>
                <a:cubicBezTo>
                  <a:pt x="371906" y="162720"/>
                  <a:pt x="399228" y="176715"/>
                  <a:pt x="424127" y="193859"/>
                </a:cubicBezTo>
                <a:cubicBezTo>
                  <a:pt x="449026" y="211003"/>
                  <a:pt x="472773" y="230632"/>
                  <a:pt x="494340" y="251774"/>
                </a:cubicBezTo>
                <a:cubicBezTo>
                  <a:pt x="515968" y="272917"/>
                  <a:pt x="536141" y="296241"/>
                  <a:pt x="553588" y="320897"/>
                </a:cubicBezTo>
                <a:cubicBezTo>
                  <a:pt x="571096" y="345493"/>
                  <a:pt x="585696" y="372573"/>
                  <a:pt x="599266" y="399652"/>
                </a:cubicBezTo>
                <a:cubicBezTo>
                  <a:pt x="612837" y="426732"/>
                  <a:pt x="625740" y="454902"/>
                  <a:pt x="634888" y="483496"/>
                </a:cubicBezTo>
                <a:cubicBezTo>
                  <a:pt x="643975" y="512151"/>
                  <a:pt x="664209" y="559647"/>
                  <a:pt x="653910" y="571339"/>
                </a:cubicBezTo>
                <a:cubicBezTo>
                  <a:pt x="643612" y="583031"/>
                  <a:pt x="599933" y="563705"/>
                  <a:pt x="573035" y="553588"/>
                </a:cubicBezTo>
                <a:cubicBezTo>
                  <a:pt x="546198" y="543411"/>
                  <a:pt x="519603" y="524631"/>
                  <a:pt x="492705" y="510515"/>
                </a:cubicBezTo>
                <a:cubicBezTo>
                  <a:pt x="465807" y="496339"/>
                  <a:pt x="438000" y="483860"/>
                  <a:pt x="411769" y="468533"/>
                </a:cubicBezTo>
                <a:cubicBezTo>
                  <a:pt x="385537" y="453266"/>
                  <a:pt x="360820" y="435456"/>
                  <a:pt x="335437" y="418735"/>
                </a:cubicBezTo>
                <a:cubicBezTo>
                  <a:pt x="310053" y="401954"/>
                  <a:pt x="284306" y="385719"/>
                  <a:pt x="259589" y="368150"/>
                </a:cubicBezTo>
                <a:cubicBezTo>
                  <a:pt x="234872" y="350521"/>
                  <a:pt x="208035" y="334649"/>
                  <a:pt x="187074" y="313143"/>
                </a:cubicBezTo>
                <a:cubicBezTo>
                  <a:pt x="166173" y="291697"/>
                  <a:pt x="151089" y="264375"/>
                  <a:pt x="134066" y="239234"/>
                </a:cubicBezTo>
                <a:cubicBezTo>
                  <a:pt x="117042" y="214154"/>
                  <a:pt x="101352" y="188043"/>
                  <a:pt x="84934" y="162478"/>
                </a:cubicBezTo>
                <a:cubicBezTo>
                  <a:pt x="68578" y="136852"/>
                  <a:pt x="48283" y="111408"/>
                  <a:pt x="35743" y="85722"/>
                </a:cubicBezTo>
                <a:cubicBezTo>
                  <a:pt x="23263" y="59975"/>
                  <a:pt x="0" y="16175"/>
                  <a:pt x="9935" y="8057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artery_muscle_soft_light_182"/>
          <p:cNvSpPr/>
          <p:nvPr/>
        </p:nvSpPr>
        <p:spPr>
          <a:xfrm>
            <a:off x="9839394" y="2899690"/>
            <a:ext cx="624357" cy="530558"/>
          </a:xfrm>
          <a:custGeom>
            <a:avLst/>
            <a:gdLst/>
            <a:ahLst/>
            <a:cxnLst/>
            <a:rect l="0" t="0" r="r" b="b"/>
            <a:pathLst>
              <a:path w="624357" h="530558">
                <a:moveTo>
                  <a:pt x="9339" y="7332"/>
                </a:moveTo>
                <a:cubicBezTo>
                  <a:pt x="18678" y="0"/>
                  <a:pt x="63096" y="23871"/>
                  <a:pt x="89576" y="33794"/>
                </a:cubicBezTo>
                <a:cubicBezTo>
                  <a:pt x="115999" y="43772"/>
                  <a:pt x="141910" y="56011"/>
                  <a:pt x="168048" y="67092"/>
                </a:cubicBezTo>
                <a:cubicBezTo>
                  <a:pt x="194243" y="78172"/>
                  <a:pt x="220552" y="88922"/>
                  <a:pt x="246576" y="100279"/>
                </a:cubicBezTo>
                <a:cubicBezTo>
                  <a:pt x="272601" y="111691"/>
                  <a:pt x="298910" y="122716"/>
                  <a:pt x="324251" y="135396"/>
                </a:cubicBezTo>
                <a:cubicBezTo>
                  <a:pt x="349592" y="148076"/>
                  <a:pt x="375275" y="160810"/>
                  <a:pt x="398679" y="176412"/>
                </a:cubicBezTo>
                <a:cubicBezTo>
                  <a:pt x="422084" y="192013"/>
                  <a:pt x="444407" y="209875"/>
                  <a:pt x="464680" y="229115"/>
                </a:cubicBezTo>
                <a:cubicBezTo>
                  <a:pt x="485010" y="248355"/>
                  <a:pt x="503973" y="269579"/>
                  <a:pt x="520373" y="292016"/>
                </a:cubicBezTo>
                <a:cubicBezTo>
                  <a:pt x="536831" y="314399"/>
                  <a:pt x="550555" y="339041"/>
                  <a:pt x="563310" y="363684"/>
                </a:cubicBezTo>
                <a:cubicBezTo>
                  <a:pt x="576066" y="388326"/>
                  <a:pt x="588196" y="413961"/>
                  <a:pt x="596795" y="439982"/>
                </a:cubicBezTo>
                <a:cubicBezTo>
                  <a:pt x="605337" y="466057"/>
                  <a:pt x="624357" y="509278"/>
                  <a:pt x="614676" y="519918"/>
                </a:cubicBezTo>
                <a:cubicBezTo>
                  <a:pt x="604995" y="530558"/>
                  <a:pt x="563937" y="512972"/>
                  <a:pt x="538653" y="503765"/>
                </a:cubicBezTo>
                <a:cubicBezTo>
                  <a:pt x="513426" y="494504"/>
                  <a:pt x="488426" y="477414"/>
                  <a:pt x="463142" y="464569"/>
                </a:cubicBezTo>
                <a:cubicBezTo>
                  <a:pt x="437858" y="451669"/>
                  <a:pt x="411720" y="440312"/>
                  <a:pt x="387062" y="426365"/>
                </a:cubicBezTo>
                <a:cubicBezTo>
                  <a:pt x="362405" y="412472"/>
                  <a:pt x="339171" y="396265"/>
                  <a:pt x="315310" y="381049"/>
                </a:cubicBezTo>
                <a:cubicBezTo>
                  <a:pt x="291450" y="365779"/>
                  <a:pt x="267248" y="351004"/>
                  <a:pt x="244014" y="335017"/>
                </a:cubicBezTo>
                <a:cubicBezTo>
                  <a:pt x="220780" y="318974"/>
                  <a:pt x="195553" y="304531"/>
                  <a:pt x="175849" y="284960"/>
                </a:cubicBezTo>
                <a:cubicBezTo>
                  <a:pt x="156203" y="265444"/>
                  <a:pt x="142023" y="240581"/>
                  <a:pt x="126022" y="217703"/>
                </a:cubicBezTo>
                <a:cubicBezTo>
                  <a:pt x="110020" y="194880"/>
                  <a:pt x="95271" y="171119"/>
                  <a:pt x="79838" y="147855"/>
                </a:cubicBezTo>
                <a:cubicBezTo>
                  <a:pt x="64463" y="124536"/>
                  <a:pt x="45386" y="101382"/>
                  <a:pt x="33598" y="78007"/>
                </a:cubicBezTo>
                <a:cubicBezTo>
                  <a:pt x="21867" y="54577"/>
                  <a:pt x="0" y="14719"/>
                  <a:pt x="9339" y="7332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artery_muscle_nucleus_183"/>
          <p:cNvSpPr/>
          <p:nvPr/>
        </p:nvSpPr>
        <p:spPr>
          <a:xfrm>
            <a:off x="10117639" y="3125006"/>
            <a:ext cx="149938" cy="130370"/>
          </a:xfrm>
          <a:custGeom>
            <a:avLst/>
            <a:gdLst/>
            <a:ahLst/>
            <a:cxnLst/>
            <a:rect l="0" t="0" r="r" b="b"/>
            <a:pathLst>
              <a:path w="149938" h="130370">
                <a:moveTo>
                  <a:pt x="38651" y="545"/>
                </a:moveTo>
                <a:cubicBezTo>
                  <a:pt x="49858" y="0"/>
                  <a:pt x="62217" y="5149"/>
                  <a:pt x="73182" y="9511"/>
                </a:cubicBezTo>
                <a:cubicBezTo>
                  <a:pt x="84147" y="13934"/>
                  <a:pt x="94930" y="19871"/>
                  <a:pt x="104442" y="26959"/>
                </a:cubicBezTo>
                <a:cubicBezTo>
                  <a:pt x="113892" y="34046"/>
                  <a:pt x="122798" y="42710"/>
                  <a:pt x="130007" y="52039"/>
                </a:cubicBezTo>
                <a:cubicBezTo>
                  <a:pt x="137216" y="61429"/>
                  <a:pt x="145212" y="72152"/>
                  <a:pt x="147575" y="83056"/>
                </a:cubicBezTo>
                <a:cubicBezTo>
                  <a:pt x="149938" y="94022"/>
                  <a:pt x="149938" y="109894"/>
                  <a:pt x="144122" y="117648"/>
                </a:cubicBezTo>
                <a:cubicBezTo>
                  <a:pt x="138306" y="125463"/>
                  <a:pt x="123524" y="129280"/>
                  <a:pt x="112559" y="129825"/>
                </a:cubicBezTo>
                <a:cubicBezTo>
                  <a:pt x="101594" y="130370"/>
                  <a:pt x="89054" y="125584"/>
                  <a:pt x="78210" y="120980"/>
                </a:cubicBezTo>
                <a:cubicBezTo>
                  <a:pt x="67427" y="116437"/>
                  <a:pt x="57007" y="109773"/>
                  <a:pt x="47677" y="102442"/>
                </a:cubicBezTo>
                <a:cubicBezTo>
                  <a:pt x="38348" y="95173"/>
                  <a:pt x="29624" y="86449"/>
                  <a:pt x="22294" y="77120"/>
                </a:cubicBezTo>
                <a:cubicBezTo>
                  <a:pt x="14903" y="67851"/>
                  <a:pt x="6300" y="57552"/>
                  <a:pt x="3574" y="46829"/>
                </a:cubicBezTo>
                <a:cubicBezTo>
                  <a:pt x="848" y="36046"/>
                  <a:pt x="0" y="20355"/>
                  <a:pt x="5876" y="12661"/>
                </a:cubicBezTo>
                <a:cubicBezTo>
                  <a:pt x="11692" y="4907"/>
                  <a:pt x="27443" y="1030"/>
                  <a:pt x="38651" y="545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artery_nuclear_soft_light_184"/>
          <p:cNvSpPr/>
          <p:nvPr/>
        </p:nvSpPr>
        <p:spPr>
          <a:xfrm>
            <a:off x="10152011" y="3154405"/>
            <a:ext cx="58354" cy="46856"/>
          </a:xfrm>
          <a:custGeom>
            <a:avLst/>
            <a:gdLst/>
            <a:ahLst/>
            <a:cxnLst/>
            <a:rect l="0" t="0" r="r" b="b"/>
            <a:pathLst>
              <a:path w="58354" h="46856">
                <a:moveTo>
                  <a:pt x="2025" y="2646"/>
                </a:moveTo>
                <a:cubicBezTo>
                  <a:pt x="4051" y="0"/>
                  <a:pt x="17849" y="7159"/>
                  <a:pt x="32844" y="18636"/>
                </a:cubicBezTo>
                <a:cubicBezTo>
                  <a:pt x="47840" y="30114"/>
                  <a:pt x="58354" y="41563"/>
                  <a:pt x="56329" y="44209"/>
                </a:cubicBezTo>
                <a:cubicBezTo>
                  <a:pt x="54303" y="46856"/>
                  <a:pt x="40505" y="39697"/>
                  <a:pt x="25510" y="28219"/>
                </a:cubicBezTo>
                <a:cubicBezTo>
                  <a:pt x="10514" y="16742"/>
                  <a:pt x="0" y="5293"/>
                  <a:pt x="2025" y="2646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artery_intercellular_collagen_septum_185"/>
          <p:cNvSpPr/>
          <p:nvPr/>
        </p:nvSpPr>
        <p:spPr>
          <a:xfrm>
            <a:off x="9236126" y="2836520"/>
            <a:ext cx="666087" cy="631314"/>
          </a:xfrm>
          <a:custGeom>
            <a:avLst/>
            <a:gdLst/>
            <a:ahLst/>
            <a:cxnLst/>
            <a:rect l="0" t="0" r="r" b="b"/>
            <a:pathLst>
              <a:path w="666087" h="631314">
                <a:moveTo>
                  <a:pt x="13388" y="7027"/>
                </a:moveTo>
                <a:cubicBezTo>
                  <a:pt x="26777" y="0"/>
                  <a:pt x="68881" y="36288"/>
                  <a:pt x="95960" y="52766"/>
                </a:cubicBezTo>
                <a:cubicBezTo>
                  <a:pt x="122979" y="69244"/>
                  <a:pt x="149150" y="87963"/>
                  <a:pt x="175564" y="105835"/>
                </a:cubicBezTo>
                <a:cubicBezTo>
                  <a:pt x="201977" y="123767"/>
                  <a:pt x="228027" y="142183"/>
                  <a:pt x="254440" y="160055"/>
                </a:cubicBezTo>
                <a:cubicBezTo>
                  <a:pt x="280793" y="177987"/>
                  <a:pt x="307388" y="195676"/>
                  <a:pt x="333861" y="213427"/>
                </a:cubicBezTo>
                <a:cubicBezTo>
                  <a:pt x="360396" y="231177"/>
                  <a:pt x="387415" y="248139"/>
                  <a:pt x="413525" y="266495"/>
                </a:cubicBezTo>
                <a:cubicBezTo>
                  <a:pt x="439575" y="284851"/>
                  <a:pt x="466110" y="302844"/>
                  <a:pt x="490221" y="323563"/>
                </a:cubicBezTo>
                <a:cubicBezTo>
                  <a:pt x="514393" y="344221"/>
                  <a:pt x="537959" y="366393"/>
                  <a:pt x="558495" y="390626"/>
                </a:cubicBezTo>
                <a:cubicBezTo>
                  <a:pt x="579032" y="414798"/>
                  <a:pt x="596540" y="441756"/>
                  <a:pt x="613442" y="468715"/>
                </a:cubicBezTo>
                <a:cubicBezTo>
                  <a:pt x="630344" y="495673"/>
                  <a:pt x="653971" y="526509"/>
                  <a:pt x="659908" y="552316"/>
                </a:cubicBezTo>
                <a:cubicBezTo>
                  <a:pt x="665845" y="578124"/>
                  <a:pt x="666087" y="615805"/>
                  <a:pt x="649003" y="623559"/>
                </a:cubicBezTo>
                <a:cubicBezTo>
                  <a:pt x="631920" y="631314"/>
                  <a:pt x="586787" y="610353"/>
                  <a:pt x="557405" y="598782"/>
                </a:cubicBezTo>
                <a:cubicBezTo>
                  <a:pt x="528023" y="587271"/>
                  <a:pt x="501004" y="568976"/>
                  <a:pt x="472713" y="554255"/>
                </a:cubicBezTo>
                <a:cubicBezTo>
                  <a:pt x="444422" y="539534"/>
                  <a:pt x="415706" y="525539"/>
                  <a:pt x="387657" y="510394"/>
                </a:cubicBezTo>
                <a:cubicBezTo>
                  <a:pt x="359608" y="495310"/>
                  <a:pt x="331135" y="480649"/>
                  <a:pt x="304237" y="463505"/>
                </a:cubicBezTo>
                <a:cubicBezTo>
                  <a:pt x="277400" y="446421"/>
                  <a:pt x="251350" y="427641"/>
                  <a:pt x="226573" y="407649"/>
                </a:cubicBezTo>
                <a:cubicBezTo>
                  <a:pt x="201856" y="387657"/>
                  <a:pt x="177078" y="367060"/>
                  <a:pt x="155693" y="343615"/>
                </a:cubicBezTo>
                <a:cubicBezTo>
                  <a:pt x="134308" y="320231"/>
                  <a:pt x="115285" y="293939"/>
                  <a:pt x="98202" y="267162"/>
                </a:cubicBezTo>
                <a:cubicBezTo>
                  <a:pt x="81178" y="240385"/>
                  <a:pt x="67063" y="211609"/>
                  <a:pt x="53311" y="182894"/>
                </a:cubicBezTo>
                <a:cubicBezTo>
                  <a:pt x="39559" y="154178"/>
                  <a:pt x="22294" y="124251"/>
                  <a:pt x="15630" y="94930"/>
                </a:cubicBezTo>
                <a:cubicBezTo>
                  <a:pt x="9027" y="65609"/>
                  <a:pt x="0" y="14055"/>
                  <a:pt x="13388" y="7027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artery_smooth_muscle_cell_186"/>
          <p:cNvSpPr/>
          <p:nvPr/>
        </p:nvSpPr>
        <p:spPr>
          <a:xfrm>
            <a:off x="9236126" y="2836520"/>
            <a:ext cx="666087" cy="631314"/>
          </a:xfrm>
          <a:custGeom>
            <a:avLst/>
            <a:gdLst/>
            <a:ahLst/>
            <a:cxnLst/>
            <a:rect l="0" t="0" r="r" b="b"/>
            <a:pathLst>
              <a:path w="666087" h="631314">
                <a:moveTo>
                  <a:pt x="13388" y="7027"/>
                </a:moveTo>
                <a:cubicBezTo>
                  <a:pt x="26777" y="0"/>
                  <a:pt x="68881" y="36288"/>
                  <a:pt x="95960" y="52766"/>
                </a:cubicBezTo>
                <a:cubicBezTo>
                  <a:pt x="122979" y="69244"/>
                  <a:pt x="149150" y="87963"/>
                  <a:pt x="175564" y="105835"/>
                </a:cubicBezTo>
                <a:cubicBezTo>
                  <a:pt x="201977" y="123767"/>
                  <a:pt x="228027" y="142183"/>
                  <a:pt x="254440" y="160055"/>
                </a:cubicBezTo>
                <a:cubicBezTo>
                  <a:pt x="280793" y="177987"/>
                  <a:pt x="307388" y="195676"/>
                  <a:pt x="333861" y="213427"/>
                </a:cubicBezTo>
                <a:cubicBezTo>
                  <a:pt x="360396" y="231177"/>
                  <a:pt x="387415" y="248139"/>
                  <a:pt x="413525" y="266495"/>
                </a:cubicBezTo>
                <a:cubicBezTo>
                  <a:pt x="439575" y="284851"/>
                  <a:pt x="466110" y="302844"/>
                  <a:pt x="490221" y="323563"/>
                </a:cubicBezTo>
                <a:cubicBezTo>
                  <a:pt x="514393" y="344221"/>
                  <a:pt x="537959" y="366393"/>
                  <a:pt x="558495" y="390626"/>
                </a:cubicBezTo>
                <a:cubicBezTo>
                  <a:pt x="579032" y="414798"/>
                  <a:pt x="596540" y="441756"/>
                  <a:pt x="613442" y="468715"/>
                </a:cubicBezTo>
                <a:cubicBezTo>
                  <a:pt x="630344" y="495673"/>
                  <a:pt x="653971" y="526509"/>
                  <a:pt x="659908" y="552316"/>
                </a:cubicBezTo>
                <a:cubicBezTo>
                  <a:pt x="665845" y="578124"/>
                  <a:pt x="666087" y="615805"/>
                  <a:pt x="649003" y="623559"/>
                </a:cubicBezTo>
                <a:cubicBezTo>
                  <a:pt x="631920" y="631314"/>
                  <a:pt x="586787" y="610353"/>
                  <a:pt x="557405" y="598782"/>
                </a:cubicBezTo>
                <a:cubicBezTo>
                  <a:pt x="528023" y="587271"/>
                  <a:pt x="501004" y="568976"/>
                  <a:pt x="472713" y="554255"/>
                </a:cubicBezTo>
                <a:cubicBezTo>
                  <a:pt x="444422" y="539534"/>
                  <a:pt x="415706" y="525539"/>
                  <a:pt x="387657" y="510394"/>
                </a:cubicBezTo>
                <a:cubicBezTo>
                  <a:pt x="359608" y="495310"/>
                  <a:pt x="331135" y="480649"/>
                  <a:pt x="304237" y="463505"/>
                </a:cubicBezTo>
                <a:cubicBezTo>
                  <a:pt x="277400" y="446421"/>
                  <a:pt x="251350" y="427641"/>
                  <a:pt x="226573" y="407649"/>
                </a:cubicBezTo>
                <a:cubicBezTo>
                  <a:pt x="201856" y="387657"/>
                  <a:pt x="177078" y="367060"/>
                  <a:pt x="155693" y="343615"/>
                </a:cubicBezTo>
                <a:cubicBezTo>
                  <a:pt x="134308" y="320231"/>
                  <a:pt x="115285" y="293939"/>
                  <a:pt x="98202" y="267162"/>
                </a:cubicBezTo>
                <a:cubicBezTo>
                  <a:pt x="81178" y="240385"/>
                  <a:pt x="67063" y="211609"/>
                  <a:pt x="53311" y="182894"/>
                </a:cubicBezTo>
                <a:cubicBezTo>
                  <a:pt x="39559" y="154178"/>
                  <a:pt x="22294" y="124251"/>
                  <a:pt x="15630" y="94930"/>
                </a:cubicBezTo>
                <a:cubicBezTo>
                  <a:pt x="9027" y="65609"/>
                  <a:pt x="0" y="14055"/>
                  <a:pt x="13388" y="7027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artery_muscle_soft_light_187"/>
          <p:cNvSpPr/>
          <p:nvPr/>
        </p:nvSpPr>
        <p:spPr>
          <a:xfrm>
            <a:off x="9250924" y="2860758"/>
            <a:ext cx="626122" cy="574496"/>
          </a:xfrm>
          <a:custGeom>
            <a:avLst/>
            <a:gdLst/>
            <a:ahLst/>
            <a:cxnLst/>
            <a:rect l="0" t="0" r="r" b="b"/>
            <a:pathLst>
              <a:path w="626122" h="574496">
                <a:moveTo>
                  <a:pt x="12585" y="6395"/>
                </a:moveTo>
                <a:cubicBezTo>
                  <a:pt x="25170" y="0"/>
                  <a:pt x="64748" y="33022"/>
                  <a:pt x="90203" y="48017"/>
                </a:cubicBezTo>
                <a:cubicBezTo>
                  <a:pt x="115601" y="63012"/>
                  <a:pt x="140201" y="80047"/>
                  <a:pt x="165030" y="96310"/>
                </a:cubicBezTo>
                <a:cubicBezTo>
                  <a:pt x="189858" y="112628"/>
                  <a:pt x="214345" y="129387"/>
                  <a:pt x="239173" y="145650"/>
                </a:cubicBezTo>
                <a:cubicBezTo>
                  <a:pt x="263945" y="161968"/>
                  <a:pt x="288944" y="178065"/>
                  <a:pt x="313830" y="194218"/>
                </a:cubicBezTo>
                <a:cubicBezTo>
                  <a:pt x="338772" y="210371"/>
                  <a:pt x="364170" y="225807"/>
                  <a:pt x="388714" y="242511"/>
                </a:cubicBezTo>
                <a:cubicBezTo>
                  <a:pt x="413201" y="259215"/>
                  <a:pt x="438143" y="275588"/>
                  <a:pt x="460808" y="294442"/>
                </a:cubicBezTo>
                <a:cubicBezTo>
                  <a:pt x="483529" y="313241"/>
                  <a:pt x="505681" y="333418"/>
                  <a:pt x="524986" y="355469"/>
                </a:cubicBezTo>
                <a:cubicBezTo>
                  <a:pt x="544290" y="377466"/>
                  <a:pt x="560748" y="401998"/>
                  <a:pt x="576636" y="426530"/>
                </a:cubicBezTo>
                <a:cubicBezTo>
                  <a:pt x="592524" y="451063"/>
                  <a:pt x="614733" y="479123"/>
                  <a:pt x="620313" y="502608"/>
                </a:cubicBezTo>
                <a:cubicBezTo>
                  <a:pt x="625894" y="526093"/>
                  <a:pt x="626122" y="560383"/>
                  <a:pt x="610063" y="567439"/>
                </a:cubicBezTo>
                <a:cubicBezTo>
                  <a:pt x="594004" y="574496"/>
                  <a:pt x="551580" y="555421"/>
                  <a:pt x="523961" y="544891"/>
                </a:cubicBezTo>
                <a:cubicBezTo>
                  <a:pt x="496342" y="534417"/>
                  <a:pt x="470944" y="517768"/>
                  <a:pt x="444350" y="504372"/>
                </a:cubicBezTo>
                <a:cubicBezTo>
                  <a:pt x="417756" y="490976"/>
                  <a:pt x="390764" y="478241"/>
                  <a:pt x="364398" y="464459"/>
                </a:cubicBezTo>
                <a:cubicBezTo>
                  <a:pt x="338032" y="450732"/>
                  <a:pt x="311267" y="437391"/>
                  <a:pt x="285983" y="421789"/>
                </a:cubicBezTo>
                <a:cubicBezTo>
                  <a:pt x="260756" y="406243"/>
                  <a:pt x="236269" y="389153"/>
                  <a:pt x="212978" y="370961"/>
                </a:cubicBezTo>
                <a:cubicBezTo>
                  <a:pt x="189744" y="352768"/>
                  <a:pt x="166453" y="334024"/>
                  <a:pt x="146351" y="312690"/>
                </a:cubicBezTo>
                <a:cubicBezTo>
                  <a:pt x="126249" y="291410"/>
                  <a:pt x="108368" y="267484"/>
                  <a:pt x="92310" y="243117"/>
                </a:cubicBezTo>
                <a:cubicBezTo>
                  <a:pt x="76308" y="218750"/>
                  <a:pt x="63039" y="192564"/>
                  <a:pt x="50113" y="166433"/>
                </a:cubicBezTo>
                <a:cubicBezTo>
                  <a:pt x="37186" y="140302"/>
                  <a:pt x="20956" y="113069"/>
                  <a:pt x="14692" y="86387"/>
                </a:cubicBezTo>
                <a:cubicBezTo>
                  <a:pt x="8485" y="59704"/>
                  <a:pt x="0" y="12790"/>
                  <a:pt x="12585" y="6395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artery_muscle_nucleus_188"/>
          <p:cNvSpPr/>
          <p:nvPr/>
        </p:nvSpPr>
        <p:spPr>
          <a:xfrm>
            <a:off x="9497472" y="3132155"/>
            <a:ext cx="159812" cy="137155"/>
          </a:xfrm>
          <a:custGeom>
            <a:avLst/>
            <a:gdLst/>
            <a:ahLst/>
            <a:cxnLst/>
            <a:rect l="0" t="0" r="r" b="b"/>
            <a:pathLst>
              <a:path w="159812" h="137155">
                <a:moveTo>
                  <a:pt x="24778" y="3756"/>
                </a:moveTo>
                <a:cubicBezTo>
                  <a:pt x="34592" y="0"/>
                  <a:pt x="49555" y="3514"/>
                  <a:pt x="61247" y="6543"/>
                </a:cubicBezTo>
                <a:cubicBezTo>
                  <a:pt x="72939" y="9572"/>
                  <a:pt x="84389" y="15569"/>
                  <a:pt x="94991" y="21809"/>
                </a:cubicBezTo>
                <a:cubicBezTo>
                  <a:pt x="105593" y="27988"/>
                  <a:pt x="115831" y="35500"/>
                  <a:pt x="124736" y="43921"/>
                </a:cubicBezTo>
                <a:cubicBezTo>
                  <a:pt x="133642" y="52281"/>
                  <a:pt x="142971" y="61490"/>
                  <a:pt x="148423" y="72091"/>
                </a:cubicBezTo>
                <a:cubicBezTo>
                  <a:pt x="153876" y="82754"/>
                  <a:pt x="159812" y="97535"/>
                  <a:pt x="157450" y="107713"/>
                </a:cubicBezTo>
                <a:cubicBezTo>
                  <a:pt x="155087" y="117890"/>
                  <a:pt x="144183" y="129280"/>
                  <a:pt x="134187" y="133217"/>
                </a:cubicBezTo>
                <a:cubicBezTo>
                  <a:pt x="124191" y="137155"/>
                  <a:pt x="109288" y="134126"/>
                  <a:pt x="97475" y="131461"/>
                </a:cubicBezTo>
                <a:cubicBezTo>
                  <a:pt x="85661" y="128795"/>
                  <a:pt x="73666" y="123585"/>
                  <a:pt x="63307" y="117163"/>
                </a:cubicBezTo>
                <a:cubicBezTo>
                  <a:pt x="52948" y="110742"/>
                  <a:pt x="43861" y="101837"/>
                  <a:pt x="35319" y="93052"/>
                </a:cubicBezTo>
                <a:cubicBezTo>
                  <a:pt x="26716" y="84268"/>
                  <a:pt x="17387" y="75181"/>
                  <a:pt x="11874" y="64519"/>
                </a:cubicBezTo>
                <a:cubicBezTo>
                  <a:pt x="6361" y="53917"/>
                  <a:pt x="0" y="39378"/>
                  <a:pt x="2181" y="29261"/>
                </a:cubicBezTo>
                <a:cubicBezTo>
                  <a:pt x="4301" y="19144"/>
                  <a:pt x="14903" y="7573"/>
                  <a:pt x="24778" y="3756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artery_nuclear_soft_light_189"/>
          <p:cNvSpPr/>
          <p:nvPr/>
        </p:nvSpPr>
        <p:spPr>
          <a:xfrm>
            <a:off x="9534550" y="3164940"/>
            <a:ext cx="60938" cy="47594"/>
          </a:xfrm>
          <a:custGeom>
            <a:avLst/>
            <a:gdLst/>
            <a:ahLst/>
            <a:cxnLst/>
            <a:rect l="0" t="0" r="r" b="b"/>
            <a:pathLst>
              <a:path w="60938" h="47594">
                <a:moveTo>
                  <a:pt x="2035" y="2749"/>
                </a:moveTo>
                <a:cubicBezTo>
                  <a:pt x="4070" y="0"/>
                  <a:pt x="18451" y="7194"/>
                  <a:pt x="34154" y="18819"/>
                </a:cubicBezTo>
                <a:cubicBezTo>
                  <a:pt x="49858" y="30443"/>
                  <a:pt x="60938" y="42095"/>
                  <a:pt x="58903" y="44845"/>
                </a:cubicBezTo>
                <a:cubicBezTo>
                  <a:pt x="56868" y="47594"/>
                  <a:pt x="42487" y="40399"/>
                  <a:pt x="26784" y="28775"/>
                </a:cubicBezTo>
                <a:cubicBezTo>
                  <a:pt x="11080" y="17151"/>
                  <a:pt x="0" y="5499"/>
                  <a:pt x="2035" y="2749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artery_intercellular_collagen_septum_190"/>
          <p:cNvSpPr/>
          <p:nvPr/>
        </p:nvSpPr>
        <p:spPr>
          <a:xfrm>
            <a:off x="9206623" y="3075996"/>
            <a:ext cx="511303" cy="715037"/>
          </a:xfrm>
          <a:custGeom>
            <a:avLst/>
            <a:gdLst/>
            <a:ahLst/>
            <a:cxnLst/>
            <a:rect l="0" t="0" r="r" b="b"/>
            <a:pathLst>
              <a:path w="511303" h="715037">
                <a:moveTo>
                  <a:pt x="28897" y="3332"/>
                </a:moveTo>
                <a:cubicBezTo>
                  <a:pt x="45072" y="0"/>
                  <a:pt x="75787" y="40165"/>
                  <a:pt x="98081" y="60460"/>
                </a:cubicBezTo>
                <a:cubicBezTo>
                  <a:pt x="120314" y="80694"/>
                  <a:pt x="140972" y="103351"/>
                  <a:pt x="162478" y="124857"/>
                </a:cubicBezTo>
                <a:cubicBezTo>
                  <a:pt x="183924" y="146303"/>
                  <a:pt x="205430" y="167809"/>
                  <a:pt x="226876" y="189255"/>
                </a:cubicBezTo>
                <a:cubicBezTo>
                  <a:pt x="248382" y="210761"/>
                  <a:pt x="270070" y="232025"/>
                  <a:pt x="291273" y="253652"/>
                </a:cubicBezTo>
                <a:cubicBezTo>
                  <a:pt x="312537" y="275340"/>
                  <a:pt x="335012" y="296059"/>
                  <a:pt x="354398" y="319322"/>
                </a:cubicBezTo>
                <a:cubicBezTo>
                  <a:pt x="373784" y="342585"/>
                  <a:pt x="391777" y="367363"/>
                  <a:pt x="407467" y="393231"/>
                </a:cubicBezTo>
                <a:cubicBezTo>
                  <a:pt x="423158" y="419159"/>
                  <a:pt x="436122" y="446905"/>
                  <a:pt x="448420" y="474591"/>
                </a:cubicBezTo>
                <a:cubicBezTo>
                  <a:pt x="460718" y="502337"/>
                  <a:pt x="470895" y="531052"/>
                  <a:pt x="481255" y="559586"/>
                </a:cubicBezTo>
                <a:cubicBezTo>
                  <a:pt x="491554" y="588120"/>
                  <a:pt x="509486" y="620470"/>
                  <a:pt x="510394" y="645853"/>
                </a:cubicBezTo>
                <a:cubicBezTo>
                  <a:pt x="511303" y="671176"/>
                  <a:pt x="503670" y="708433"/>
                  <a:pt x="486707" y="711705"/>
                </a:cubicBezTo>
                <a:cubicBezTo>
                  <a:pt x="469684" y="715037"/>
                  <a:pt x="433578" y="682505"/>
                  <a:pt x="408497" y="665603"/>
                </a:cubicBezTo>
                <a:cubicBezTo>
                  <a:pt x="383417" y="648700"/>
                  <a:pt x="359669" y="629436"/>
                  <a:pt x="336164" y="610232"/>
                </a:cubicBezTo>
                <a:cubicBezTo>
                  <a:pt x="312719" y="591027"/>
                  <a:pt x="288607" y="572187"/>
                  <a:pt x="267647" y="550378"/>
                </a:cubicBezTo>
                <a:cubicBezTo>
                  <a:pt x="246686" y="528569"/>
                  <a:pt x="229056" y="503488"/>
                  <a:pt x="210579" y="479437"/>
                </a:cubicBezTo>
                <a:cubicBezTo>
                  <a:pt x="192102" y="455326"/>
                  <a:pt x="174049" y="430851"/>
                  <a:pt x="156905" y="405832"/>
                </a:cubicBezTo>
                <a:cubicBezTo>
                  <a:pt x="139700" y="380812"/>
                  <a:pt x="123767" y="354944"/>
                  <a:pt x="107531" y="329318"/>
                </a:cubicBezTo>
                <a:cubicBezTo>
                  <a:pt x="91295" y="303632"/>
                  <a:pt x="73788" y="278672"/>
                  <a:pt x="59490" y="251956"/>
                </a:cubicBezTo>
                <a:cubicBezTo>
                  <a:pt x="45254" y="225240"/>
                  <a:pt x="31744" y="197615"/>
                  <a:pt x="22051" y="169021"/>
                </a:cubicBezTo>
                <a:cubicBezTo>
                  <a:pt x="12298" y="140427"/>
                  <a:pt x="0" y="108076"/>
                  <a:pt x="1151" y="80451"/>
                </a:cubicBezTo>
                <a:cubicBezTo>
                  <a:pt x="2302" y="52827"/>
                  <a:pt x="12783" y="6664"/>
                  <a:pt x="28897" y="3332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artery_smooth_muscle_cell_191"/>
          <p:cNvSpPr/>
          <p:nvPr/>
        </p:nvSpPr>
        <p:spPr>
          <a:xfrm>
            <a:off x="9206623" y="3075996"/>
            <a:ext cx="511303" cy="715037"/>
          </a:xfrm>
          <a:custGeom>
            <a:avLst/>
            <a:gdLst/>
            <a:ahLst/>
            <a:cxnLst/>
            <a:rect l="0" t="0" r="r" b="b"/>
            <a:pathLst>
              <a:path w="511303" h="715037">
                <a:moveTo>
                  <a:pt x="28897" y="3332"/>
                </a:moveTo>
                <a:cubicBezTo>
                  <a:pt x="45072" y="0"/>
                  <a:pt x="75787" y="40165"/>
                  <a:pt x="98081" y="60460"/>
                </a:cubicBezTo>
                <a:cubicBezTo>
                  <a:pt x="120314" y="80694"/>
                  <a:pt x="140972" y="103351"/>
                  <a:pt x="162478" y="124857"/>
                </a:cubicBezTo>
                <a:cubicBezTo>
                  <a:pt x="183924" y="146303"/>
                  <a:pt x="205430" y="167809"/>
                  <a:pt x="226876" y="189255"/>
                </a:cubicBezTo>
                <a:cubicBezTo>
                  <a:pt x="248382" y="210761"/>
                  <a:pt x="270070" y="232025"/>
                  <a:pt x="291273" y="253652"/>
                </a:cubicBezTo>
                <a:cubicBezTo>
                  <a:pt x="312537" y="275340"/>
                  <a:pt x="335012" y="296059"/>
                  <a:pt x="354398" y="319322"/>
                </a:cubicBezTo>
                <a:cubicBezTo>
                  <a:pt x="373784" y="342585"/>
                  <a:pt x="391777" y="367363"/>
                  <a:pt x="407467" y="393231"/>
                </a:cubicBezTo>
                <a:cubicBezTo>
                  <a:pt x="423158" y="419159"/>
                  <a:pt x="436122" y="446905"/>
                  <a:pt x="448420" y="474591"/>
                </a:cubicBezTo>
                <a:cubicBezTo>
                  <a:pt x="460718" y="502337"/>
                  <a:pt x="470895" y="531052"/>
                  <a:pt x="481255" y="559586"/>
                </a:cubicBezTo>
                <a:cubicBezTo>
                  <a:pt x="491554" y="588120"/>
                  <a:pt x="509486" y="620470"/>
                  <a:pt x="510394" y="645853"/>
                </a:cubicBezTo>
                <a:cubicBezTo>
                  <a:pt x="511303" y="671176"/>
                  <a:pt x="503670" y="708433"/>
                  <a:pt x="486707" y="711705"/>
                </a:cubicBezTo>
                <a:cubicBezTo>
                  <a:pt x="469684" y="715037"/>
                  <a:pt x="433578" y="682505"/>
                  <a:pt x="408497" y="665603"/>
                </a:cubicBezTo>
                <a:cubicBezTo>
                  <a:pt x="383417" y="648700"/>
                  <a:pt x="359669" y="629436"/>
                  <a:pt x="336164" y="610232"/>
                </a:cubicBezTo>
                <a:cubicBezTo>
                  <a:pt x="312719" y="591027"/>
                  <a:pt x="288607" y="572187"/>
                  <a:pt x="267647" y="550378"/>
                </a:cubicBezTo>
                <a:cubicBezTo>
                  <a:pt x="246686" y="528569"/>
                  <a:pt x="229056" y="503488"/>
                  <a:pt x="210579" y="479437"/>
                </a:cubicBezTo>
                <a:cubicBezTo>
                  <a:pt x="192102" y="455326"/>
                  <a:pt x="174049" y="430851"/>
                  <a:pt x="156905" y="405832"/>
                </a:cubicBezTo>
                <a:cubicBezTo>
                  <a:pt x="139700" y="380812"/>
                  <a:pt x="123767" y="354944"/>
                  <a:pt x="107531" y="329318"/>
                </a:cubicBezTo>
                <a:cubicBezTo>
                  <a:pt x="91295" y="303632"/>
                  <a:pt x="73788" y="278672"/>
                  <a:pt x="59490" y="251956"/>
                </a:cubicBezTo>
                <a:cubicBezTo>
                  <a:pt x="45254" y="225240"/>
                  <a:pt x="31744" y="197615"/>
                  <a:pt x="22051" y="169021"/>
                </a:cubicBezTo>
                <a:cubicBezTo>
                  <a:pt x="12298" y="140427"/>
                  <a:pt x="0" y="108076"/>
                  <a:pt x="1151" y="80451"/>
                </a:cubicBezTo>
                <a:cubicBezTo>
                  <a:pt x="2302" y="52827"/>
                  <a:pt x="12783" y="6664"/>
                  <a:pt x="28897" y="3332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artery_muscle_soft_light_192"/>
          <p:cNvSpPr/>
          <p:nvPr/>
        </p:nvSpPr>
        <p:spPr>
          <a:xfrm>
            <a:off x="9215849" y="3100709"/>
            <a:ext cx="480625" cy="650683"/>
          </a:xfrm>
          <a:custGeom>
            <a:avLst/>
            <a:gdLst/>
            <a:ahLst/>
            <a:cxnLst/>
            <a:rect l="0" t="0" r="r" b="b"/>
            <a:pathLst>
              <a:path w="480625" h="650683">
                <a:moveTo>
                  <a:pt x="27163" y="3032"/>
                </a:moveTo>
                <a:cubicBezTo>
                  <a:pt x="42368" y="0"/>
                  <a:pt x="71240" y="36550"/>
                  <a:pt x="92196" y="55018"/>
                </a:cubicBezTo>
                <a:cubicBezTo>
                  <a:pt x="113095" y="73431"/>
                  <a:pt x="132513" y="94049"/>
                  <a:pt x="152729" y="113620"/>
                </a:cubicBezTo>
                <a:cubicBezTo>
                  <a:pt x="172888" y="133136"/>
                  <a:pt x="193104" y="152706"/>
                  <a:pt x="213263" y="172222"/>
                </a:cubicBezTo>
                <a:cubicBezTo>
                  <a:pt x="233479" y="191793"/>
                  <a:pt x="253866" y="211143"/>
                  <a:pt x="273797" y="230824"/>
                </a:cubicBezTo>
                <a:cubicBezTo>
                  <a:pt x="293785" y="250560"/>
                  <a:pt x="314912" y="269414"/>
                  <a:pt x="333134" y="290583"/>
                </a:cubicBezTo>
                <a:cubicBezTo>
                  <a:pt x="351357" y="311752"/>
                  <a:pt x="368270" y="334300"/>
                  <a:pt x="383019" y="357840"/>
                </a:cubicBezTo>
                <a:cubicBezTo>
                  <a:pt x="397768" y="381435"/>
                  <a:pt x="409955" y="406684"/>
                  <a:pt x="421515" y="431878"/>
                </a:cubicBezTo>
                <a:cubicBezTo>
                  <a:pt x="433075" y="457127"/>
                  <a:pt x="442642" y="483258"/>
                  <a:pt x="452380" y="509223"/>
                </a:cubicBezTo>
                <a:cubicBezTo>
                  <a:pt x="462060" y="535189"/>
                  <a:pt x="478916" y="564627"/>
                  <a:pt x="479771" y="587726"/>
                </a:cubicBezTo>
                <a:cubicBezTo>
                  <a:pt x="480625" y="610770"/>
                  <a:pt x="473450" y="644674"/>
                  <a:pt x="457505" y="647651"/>
                </a:cubicBezTo>
                <a:cubicBezTo>
                  <a:pt x="441503" y="650683"/>
                  <a:pt x="407563" y="621079"/>
                  <a:pt x="383987" y="605698"/>
                </a:cubicBezTo>
                <a:cubicBezTo>
                  <a:pt x="360412" y="590317"/>
                  <a:pt x="338089" y="572787"/>
                  <a:pt x="315994" y="555311"/>
                </a:cubicBezTo>
                <a:cubicBezTo>
                  <a:pt x="293956" y="537835"/>
                  <a:pt x="271291" y="520690"/>
                  <a:pt x="251588" y="500844"/>
                </a:cubicBezTo>
                <a:cubicBezTo>
                  <a:pt x="231884" y="480997"/>
                  <a:pt x="215313" y="458174"/>
                  <a:pt x="197945" y="436288"/>
                </a:cubicBezTo>
                <a:cubicBezTo>
                  <a:pt x="180576" y="414347"/>
                  <a:pt x="163606" y="392075"/>
                  <a:pt x="147490" y="369307"/>
                </a:cubicBezTo>
                <a:cubicBezTo>
                  <a:pt x="131318" y="346539"/>
                  <a:pt x="116341" y="322999"/>
                  <a:pt x="101079" y="299679"/>
                </a:cubicBezTo>
                <a:cubicBezTo>
                  <a:pt x="85818" y="276305"/>
                  <a:pt x="69360" y="253592"/>
                  <a:pt x="55921" y="229280"/>
                </a:cubicBezTo>
                <a:cubicBezTo>
                  <a:pt x="42539" y="204968"/>
                  <a:pt x="29840" y="179830"/>
                  <a:pt x="20728" y="153809"/>
                </a:cubicBezTo>
                <a:cubicBezTo>
                  <a:pt x="11560" y="127788"/>
                  <a:pt x="0" y="98349"/>
                  <a:pt x="1082" y="73211"/>
                </a:cubicBezTo>
                <a:cubicBezTo>
                  <a:pt x="2164" y="48072"/>
                  <a:pt x="12016" y="6064"/>
                  <a:pt x="27163" y="3032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artery_muscle_nucleus_193"/>
          <p:cNvSpPr/>
          <p:nvPr/>
        </p:nvSpPr>
        <p:spPr>
          <a:xfrm>
            <a:off x="9455550" y="3447600"/>
            <a:ext cx="123646" cy="146666"/>
          </a:xfrm>
          <a:custGeom>
            <a:avLst/>
            <a:gdLst/>
            <a:ahLst/>
            <a:cxnLst/>
            <a:rect l="0" t="0" r="r" b="b"/>
            <a:pathLst>
              <a:path w="123646" h="146666">
                <a:moveTo>
                  <a:pt x="18538" y="3695"/>
                </a:moveTo>
                <a:cubicBezTo>
                  <a:pt x="26777" y="0"/>
                  <a:pt x="41074" y="4301"/>
                  <a:pt x="51070" y="8239"/>
                </a:cubicBezTo>
                <a:cubicBezTo>
                  <a:pt x="61126" y="12177"/>
                  <a:pt x="70213" y="20052"/>
                  <a:pt x="78573" y="27383"/>
                </a:cubicBezTo>
                <a:cubicBezTo>
                  <a:pt x="86994" y="34713"/>
                  <a:pt x="94991" y="43073"/>
                  <a:pt x="101473" y="52100"/>
                </a:cubicBezTo>
                <a:cubicBezTo>
                  <a:pt x="107955" y="61187"/>
                  <a:pt x="114134" y="71183"/>
                  <a:pt x="117527" y="81602"/>
                </a:cubicBezTo>
                <a:cubicBezTo>
                  <a:pt x="120980" y="92083"/>
                  <a:pt x="123646" y="104623"/>
                  <a:pt x="121889" y="114861"/>
                </a:cubicBezTo>
                <a:cubicBezTo>
                  <a:pt x="120193" y="125100"/>
                  <a:pt x="115104" y="139336"/>
                  <a:pt x="107289" y="142971"/>
                </a:cubicBezTo>
                <a:cubicBezTo>
                  <a:pt x="99474" y="146666"/>
                  <a:pt x="84995" y="141154"/>
                  <a:pt x="75060" y="136913"/>
                </a:cubicBezTo>
                <a:cubicBezTo>
                  <a:pt x="65124" y="132672"/>
                  <a:pt x="55916" y="124857"/>
                  <a:pt x="47617" y="117406"/>
                </a:cubicBezTo>
                <a:cubicBezTo>
                  <a:pt x="39317" y="109954"/>
                  <a:pt x="31866" y="101291"/>
                  <a:pt x="25323" y="92204"/>
                </a:cubicBezTo>
                <a:cubicBezTo>
                  <a:pt x="18841" y="83117"/>
                  <a:pt x="12601" y="73363"/>
                  <a:pt x="8602" y="63004"/>
                </a:cubicBezTo>
                <a:cubicBezTo>
                  <a:pt x="4665" y="52705"/>
                  <a:pt x="0" y="40105"/>
                  <a:pt x="1636" y="30230"/>
                </a:cubicBezTo>
                <a:cubicBezTo>
                  <a:pt x="3271" y="20355"/>
                  <a:pt x="10238" y="7330"/>
                  <a:pt x="18538" y="3695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artery_nuclear_soft_light_194"/>
          <p:cNvSpPr/>
          <p:nvPr/>
        </p:nvSpPr>
        <p:spPr>
          <a:xfrm>
            <a:off x="9484166" y="3480498"/>
            <a:ext cx="44301" cy="55123"/>
          </a:xfrm>
          <a:custGeom>
            <a:avLst/>
            <a:gdLst/>
            <a:ahLst/>
            <a:cxnLst/>
            <a:rect l="0" t="0" r="r" b="b"/>
            <a:pathLst>
              <a:path w="44301" h="55123">
                <a:moveTo>
                  <a:pt x="2388" y="1834"/>
                </a:moveTo>
                <a:cubicBezTo>
                  <a:pt x="4776" y="0"/>
                  <a:pt x="15560" y="10031"/>
                  <a:pt x="26474" y="24240"/>
                </a:cubicBezTo>
                <a:cubicBezTo>
                  <a:pt x="37389" y="38448"/>
                  <a:pt x="44301" y="51454"/>
                  <a:pt x="41913" y="53288"/>
                </a:cubicBezTo>
                <a:cubicBezTo>
                  <a:pt x="39525" y="55123"/>
                  <a:pt x="28741" y="45091"/>
                  <a:pt x="17827" y="30883"/>
                </a:cubicBezTo>
                <a:cubicBezTo>
                  <a:pt x="6912" y="16674"/>
                  <a:pt x="0" y="3669"/>
                  <a:pt x="2388" y="1834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artery_intercellular_collagen_septum_195"/>
          <p:cNvSpPr/>
          <p:nvPr/>
        </p:nvSpPr>
        <p:spPr>
          <a:xfrm>
            <a:off x="9875315" y="3213030"/>
            <a:ext cx="676325" cy="630829"/>
          </a:xfrm>
          <a:custGeom>
            <a:avLst/>
            <a:gdLst/>
            <a:ahLst/>
            <a:cxnLst/>
            <a:rect l="0" t="0" r="r" b="b"/>
            <a:pathLst>
              <a:path w="676325" h="630829">
                <a:moveTo>
                  <a:pt x="13025" y="9451"/>
                </a:moveTo>
                <a:cubicBezTo>
                  <a:pt x="25989" y="0"/>
                  <a:pt x="73606" y="26837"/>
                  <a:pt x="102685" y="39196"/>
                </a:cubicBezTo>
                <a:cubicBezTo>
                  <a:pt x="131763" y="51615"/>
                  <a:pt x="159631" y="68335"/>
                  <a:pt x="187559" y="83844"/>
                </a:cubicBezTo>
                <a:cubicBezTo>
                  <a:pt x="215547" y="99292"/>
                  <a:pt x="242869" y="116012"/>
                  <a:pt x="270494" y="132066"/>
                </a:cubicBezTo>
                <a:cubicBezTo>
                  <a:pt x="298119" y="148120"/>
                  <a:pt x="326107" y="163750"/>
                  <a:pt x="353429" y="180289"/>
                </a:cubicBezTo>
                <a:cubicBezTo>
                  <a:pt x="380751" y="196888"/>
                  <a:pt x="409164" y="212276"/>
                  <a:pt x="434426" y="231601"/>
                </a:cubicBezTo>
                <a:cubicBezTo>
                  <a:pt x="459688" y="250926"/>
                  <a:pt x="482588" y="273705"/>
                  <a:pt x="505063" y="296362"/>
                </a:cubicBezTo>
                <a:cubicBezTo>
                  <a:pt x="527539" y="318959"/>
                  <a:pt x="550438" y="341798"/>
                  <a:pt x="569279" y="367423"/>
                </a:cubicBezTo>
                <a:cubicBezTo>
                  <a:pt x="588120" y="392988"/>
                  <a:pt x="602901" y="421764"/>
                  <a:pt x="618168" y="449813"/>
                </a:cubicBezTo>
                <a:cubicBezTo>
                  <a:pt x="633374" y="477862"/>
                  <a:pt x="653547" y="507244"/>
                  <a:pt x="660756" y="535778"/>
                </a:cubicBezTo>
                <a:cubicBezTo>
                  <a:pt x="667965" y="564311"/>
                  <a:pt x="676325" y="611504"/>
                  <a:pt x="661362" y="621136"/>
                </a:cubicBezTo>
                <a:cubicBezTo>
                  <a:pt x="646398" y="630829"/>
                  <a:pt x="600720" y="604537"/>
                  <a:pt x="570915" y="593754"/>
                </a:cubicBezTo>
                <a:cubicBezTo>
                  <a:pt x="541048" y="583031"/>
                  <a:pt x="511788" y="569279"/>
                  <a:pt x="482406" y="556678"/>
                </a:cubicBezTo>
                <a:cubicBezTo>
                  <a:pt x="453024" y="544077"/>
                  <a:pt x="423339" y="532082"/>
                  <a:pt x="394624" y="518149"/>
                </a:cubicBezTo>
                <a:cubicBezTo>
                  <a:pt x="365848" y="504154"/>
                  <a:pt x="336648" y="490403"/>
                  <a:pt x="309993" y="473016"/>
                </a:cubicBezTo>
                <a:cubicBezTo>
                  <a:pt x="283398" y="455629"/>
                  <a:pt x="258559" y="435092"/>
                  <a:pt x="234872" y="413828"/>
                </a:cubicBezTo>
                <a:cubicBezTo>
                  <a:pt x="211125" y="392504"/>
                  <a:pt x="187498" y="370149"/>
                  <a:pt x="167809" y="345190"/>
                </a:cubicBezTo>
                <a:cubicBezTo>
                  <a:pt x="148120" y="320291"/>
                  <a:pt x="133278" y="291515"/>
                  <a:pt x="116739" y="264193"/>
                </a:cubicBezTo>
                <a:cubicBezTo>
                  <a:pt x="100140" y="236871"/>
                  <a:pt x="83844" y="209307"/>
                  <a:pt x="68517" y="181258"/>
                </a:cubicBezTo>
                <a:cubicBezTo>
                  <a:pt x="53129" y="153209"/>
                  <a:pt x="33925" y="124615"/>
                  <a:pt x="24656" y="96021"/>
                </a:cubicBezTo>
                <a:cubicBezTo>
                  <a:pt x="15448" y="67366"/>
                  <a:pt x="0" y="18901"/>
                  <a:pt x="13025" y="9451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artery_smooth_muscle_cell_196"/>
          <p:cNvSpPr/>
          <p:nvPr/>
        </p:nvSpPr>
        <p:spPr>
          <a:xfrm>
            <a:off x="9875315" y="3213030"/>
            <a:ext cx="676325" cy="630829"/>
          </a:xfrm>
          <a:custGeom>
            <a:avLst/>
            <a:gdLst/>
            <a:ahLst/>
            <a:cxnLst/>
            <a:rect l="0" t="0" r="r" b="b"/>
            <a:pathLst>
              <a:path w="676325" h="630829">
                <a:moveTo>
                  <a:pt x="13025" y="9451"/>
                </a:moveTo>
                <a:cubicBezTo>
                  <a:pt x="25989" y="0"/>
                  <a:pt x="73606" y="26837"/>
                  <a:pt x="102685" y="39196"/>
                </a:cubicBezTo>
                <a:cubicBezTo>
                  <a:pt x="131763" y="51615"/>
                  <a:pt x="159631" y="68335"/>
                  <a:pt x="187559" y="83844"/>
                </a:cubicBezTo>
                <a:cubicBezTo>
                  <a:pt x="215547" y="99292"/>
                  <a:pt x="242869" y="116012"/>
                  <a:pt x="270494" y="132066"/>
                </a:cubicBezTo>
                <a:cubicBezTo>
                  <a:pt x="298119" y="148120"/>
                  <a:pt x="326107" y="163750"/>
                  <a:pt x="353429" y="180289"/>
                </a:cubicBezTo>
                <a:cubicBezTo>
                  <a:pt x="380751" y="196888"/>
                  <a:pt x="409164" y="212276"/>
                  <a:pt x="434426" y="231601"/>
                </a:cubicBezTo>
                <a:cubicBezTo>
                  <a:pt x="459688" y="250926"/>
                  <a:pt x="482588" y="273705"/>
                  <a:pt x="505063" y="296362"/>
                </a:cubicBezTo>
                <a:cubicBezTo>
                  <a:pt x="527539" y="318959"/>
                  <a:pt x="550438" y="341798"/>
                  <a:pt x="569279" y="367423"/>
                </a:cubicBezTo>
                <a:cubicBezTo>
                  <a:pt x="588120" y="392988"/>
                  <a:pt x="602901" y="421764"/>
                  <a:pt x="618168" y="449813"/>
                </a:cubicBezTo>
                <a:cubicBezTo>
                  <a:pt x="633374" y="477862"/>
                  <a:pt x="653547" y="507244"/>
                  <a:pt x="660756" y="535778"/>
                </a:cubicBezTo>
                <a:cubicBezTo>
                  <a:pt x="667965" y="564311"/>
                  <a:pt x="676325" y="611504"/>
                  <a:pt x="661362" y="621136"/>
                </a:cubicBezTo>
                <a:cubicBezTo>
                  <a:pt x="646398" y="630829"/>
                  <a:pt x="600720" y="604537"/>
                  <a:pt x="570915" y="593754"/>
                </a:cubicBezTo>
                <a:cubicBezTo>
                  <a:pt x="541048" y="583031"/>
                  <a:pt x="511788" y="569279"/>
                  <a:pt x="482406" y="556678"/>
                </a:cubicBezTo>
                <a:cubicBezTo>
                  <a:pt x="453024" y="544077"/>
                  <a:pt x="423339" y="532082"/>
                  <a:pt x="394624" y="518149"/>
                </a:cubicBezTo>
                <a:cubicBezTo>
                  <a:pt x="365848" y="504154"/>
                  <a:pt x="336648" y="490403"/>
                  <a:pt x="309993" y="473016"/>
                </a:cubicBezTo>
                <a:cubicBezTo>
                  <a:pt x="283398" y="455629"/>
                  <a:pt x="258559" y="435092"/>
                  <a:pt x="234872" y="413828"/>
                </a:cubicBezTo>
                <a:cubicBezTo>
                  <a:pt x="211125" y="392504"/>
                  <a:pt x="187498" y="370149"/>
                  <a:pt x="167809" y="345190"/>
                </a:cubicBezTo>
                <a:cubicBezTo>
                  <a:pt x="148120" y="320291"/>
                  <a:pt x="133278" y="291515"/>
                  <a:pt x="116739" y="264193"/>
                </a:cubicBezTo>
                <a:cubicBezTo>
                  <a:pt x="100140" y="236871"/>
                  <a:pt x="83844" y="209307"/>
                  <a:pt x="68517" y="181258"/>
                </a:cubicBezTo>
                <a:cubicBezTo>
                  <a:pt x="53129" y="153209"/>
                  <a:pt x="33925" y="124615"/>
                  <a:pt x="24656" y="96021"/>
                </a:cubicBezTo>
                <a:cubicBezTo>
                  <a:pt x="15448" y="67366"/>
                  <a:pt x="0" y="18901"/>
                  <a:pt x="13025" y="9451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artery_muscle_soft_light_197"/>
          <p:cNvSpPr/>
          <p:nvPr/>
        </p:nvSpPr>
        <p:spPr>
          <a:xfrm>
            <a:off x="9889917" y="3233681"/>
            <a:ext cx="635746" cy="574054"/>
          </a:xfrm>
          <a:custGeom>
            <a:avLst/>
            <a:gdLst/>
            <a:ahLst/>
            <a:cxnLst/>
            <a:rect l="0" t="0" r="r" b="b"/>
            <a:pathLst>
              <a:path w="635746" h="574054">
                <a:moveTo>
                  <a:pt x="12243" y="8600"/>
                </a:moveTo>
                <a:cubicBezTo>
                  <a:pt x="24430" y="0"/>
                  <a:pt x="69189" y="24422"/>
                  <a:pt x="96524" y="35668"/>
                </a:cubicBezTo>
                <a:cubicBezTo>
                  <a:pt x="123858" y="46970"/>
                  <a:pt x="150053" y="62185"/>
                  <a:pt x="176305" y="76298"/>
                </a:cubicBezTo>
                <a:cubicBezTo>
                  <a:pt x="202614" y="90356"/>
                  <a:pt x="228297" y="105571"/>
                  <a:pt x="254264" y="120180"/>
                </a:cubicBezTo>
                <a:cubicBezTo>
                  <a:pt x="280232" y="134790"/>
                  <a:pt x="306541" y="149013"/>
                  <a:pt x="332223" y="164063"/>
                </a:cubicBezTo>
                <a:cubicBezTo>
                  <a:pt x="357906" y="179168"/>
                  <a:pt x="384614" y="193171"/>
                  <a:pt x="408360" y="210757"/>
                </a:cubicBezTo>
                <a:cubicBezTo>
                  <a:pt x="432107" y="228343"/>
                  <a:pt x="453632" y="249071"/>
                  <a:pt x="474759" y="269689"/>
                </a:cubicBezTo>
                <a:cubicBezTo>
                  <a:pt x="495886" y="290252"/>
                  <a:pt x="517412" y="311036"/>
                  <a:pt x="535122" y="334355"/>
                </a:cubicBezTo>
                <a:cubicBezTo>
                  <a:pt x="552832" y="357619"/>
                  <a:pt x="566727" y="383806"/>
                  <a:pt x="581078" y="409330"/>
                </a:cubicBezTo>
                <a:cubicBezTo>
                  <a:pt x="595371" y="434855"/>
                  <a:pt x="614334" y="461592"/>
                  <a:pt x="621111" y="487558"/>
                </a:cubicBezTo>
                <a:cubicBezTo>
                  <a:pt x="627887" y="513523"/>
                  <a:pt x="635746" y="556468"/>
                  <a:pt x="621680" y="565234"/>
                </a:cubicBezTo>
                <a:cubicBezTo>
                  <a:pt x="607615" y="574054"/>
                  <a:pt x="564677" y="550129"/>
                  <a:pt x="536660" y="540316"/>
                </a:cubicBezTo>
                <a:cubicBezTo>
                  <a:pt x="508585" y="530558"/>
                  <a:pt x="481080" y="518044"/>
                  <a:pt x="453462" y="506577"/>
                </a:cubicBezTo>
                <a:cubicBezTo>
                  <a:pt x="425843" y="495110"/>
                  <a:pt x="397939" y="484195"/>
                  <a:pt x="370947" y="471515"/>
                </a:cubicBezTo>
                <a:cubicBezTo>
                  <a:pt x="343897" y="458781"/>
                  <a:pt x="316449" y="446266"/>
                  <a:pt x="291393" y="430444"/>
                </a:cubicBezTo>
                <a:cubicBezTo>
                  <a:pt x="266394" y="414622"/>
                  <a:pt x="243046" y="395934"/>
                  <a:pt x="220780" y="376584"/>
                </a:cubicBezTo>
                <a:cubicBezTo>
                  <a:pt x="198457" y="357178"/>
                  <a:pt x="176248" y="336836"/>
                  <a:pt x="157741" y="314123"/>
                </a:cubicBezTo>
                <a:cubicBezTo>
                  <a:pt x="139233" y="291465"/>
                  <a:pt x="125281" y="265279"/>
                  <a:pt x="109735" y="240416"/>
                </a:cubicBezTo>
                <a:cubicBezTo>
                  <a:pt x="94132" y="215553"/>
                  <a:pt x="78813" y="190469"/>
                  <a:pt x="64406" y="164945"/>
                </a:cubicBezTo>
                <a:cubicBezTo>
                  <a:pt x="49942" y="139420"/>
                  <a:pt x="31890" y="113400"/>
                  <a:pt x="23177" y="87379"/>
                </a:cubicBezTo>
                <a:cubicBezTo>
                  <a:pt x="14521" y="61303"/>
                  <a:pt x="0" y="17200"/>
                  <a:pt x="12243" y="8600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artery_muscle_nucleus_198"/>
          <p:cNvSpPr/>
          <p:nvPr/>
        </p:nvSpPr>
        <p:spPr>
          <a:xfrm>
            <a:off x="10111338" y="3482373"/>
            <a:ext cx="175321" cy="143032"/>
          </a:xfrm>
          <a:custGeom>
            <a:avLst/>
            <a:gdLst/>
            <a:ahLst/>
            <a:cxnLst/>
            <a:rect l="0" t="0" r="r" b="b"/>
            <a:pathLst>
              <a:path w="175321" h="143032">
                <a:moveTo>
                  <a:pt x="5210" y="5271"/>
                </a:moveTo>
                <a:cubicBezTo>
                  <a:pt x="10359" y="0"/>
                  <a:pt x="33138" y="4180"/>
                  <a:pt x="47071" y="4604"/>
                </a:cubicBezTo>
                <a:cubicBezTo>
                  <a:pt x="61005" y="4968"/>
                  <a:pt x="75847" y="3514"/>
                  <a:pt x="88872" y="7451"/>
                </a:cubicBezTo>
                <a:cubicBezTo>
                  <a:pt x="101837" y="11450"/>
                  <a:pt x="114013" y="19931"/>
                  <a:pt x="124978" y="28412"/>
                </a:cubicBezTo>
                <a:cubicBezTo>
                  <a:pt x="136004" y="36954"/>
                  <a:pt x="146666" y="47253"/>
                  <a:pt x="154784" y="58521"/>
                </a:cubicBezTo>
                <a:cubicBezTo>
                  <a:pt x="162902" y="69729"/>
                  <a:pt x="172171" y="83056"/>
                  <a:pt x="173746" y="95900"/>
                </a:cubicBezTo>
                <a:cubicBezTo>
                  <a:pt x="175321" y="108743"/>
                  <a:pt x="172595" y="128007"/>
                  <a:pt x="164174" y="135520"/>
                </a:cubicBezTo>
                <a:cubicBezTo>
                  <a:pt x="155814" y="143032"/>
                  <a:pt x="136792" y="142426"/>
                  <a:pt x="123403" y="140911"/>
                </a:cubicBezTo>
                <a:cubicBezTo>
                  <a:pt x="109954" y="139457"/>
                  <a:pt x="96869" y="131339"/>
                  <a:pt x="83662" y="126735"/>
                </a:cubicBezTo>
                <a:cubicBezTo>
                  <a:pt x="70456" y="122131"/>
                  <a:pt x="53432" y="121646"/>
                  <a:pt x="44285" y="113286"/>
                </a:cubicBezTo>
                <a:cubicBezTo>
                  <a:pt x="35076" y="104926"/>
                  <a:pt x="33320" y="89417"/>
                  <a:pt x="28594" y="76574"/>
                </a:cubicBezTo>
                <a:cubicBezTo>
                  <a:pt x="23869" y="63731"/>
                  <a:pt x="19992" y="48222"/>
                  <a:pt x="16054" y="36349"/>
                </a:cubicBezTo>
                <a:cubicBezTo>
                  <a:pt x="12177" y="24414"/>
                  <a:pt x="0" y="10541"/>
                  <a:pt x="5210" y="5271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artery_nuclear_soft_light_199"/>
          <p:cNvSpPr/>
          <p:nvPr/>
        </p:nvSpPr>
        <p:spPr>
          <a:xfrm>
            <a:off x="10153582" y="3512909"/>
            <a:ext cx="67085" cy="52940"/>
          </a:xfrm>
          <a:custGeom>
            <a:avLst/>
            <a:gdLst/>
            <a:ahLst/>
            <a:cxnLst/>
            <a:rect l="0" t="0" r="r" b="b"/>
            <a:pathLst>
              <a:path w="67085" h="52940">
                <a:moveTo>
                  <a:pt x="2238" y="2984"/>
                </a:moveTo>
                <a:cubicBezTo>
                  <a:pt x="4477" y="0"/>
                  <a:pt x="20307" y="8097"/>
                  <a:pt x="37596" y="21068"/>
                </a:cubicBezTo>
                <a:cubicBezTo>
                  <a:pt x="54884" y="34039"/>
                  <a:pt x="67085" y="46973"/>
                  <a:pt x="64847" y="49957"/>
                </a:cubicBezTo>
                <a:cubicBezTo>
                  <a:pt x="62608" y="52940"/>
                  <a:pt x="46778" y="44844"/>
                  <a:pt x="29489" y="31872"/>
                </a:cubicBezTo>
                <a:cubicBezTo>
                  <a:pt x="12201" y="18901"/>
                  <a:pt x="0" y="5967"/>
                  <a:pt x="2238" y="2984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artery_intercellular_collagen_septum_200"/>
          <p:cNvSpPr/>
          <p:nvPr/>
        </p:nvSpPr>
        <p:spPr>
          <a:xfrm>
            <a:off x="10468887" y="3253983"/>
            <a:ext cx="585091" cy="596722"/>
          </a:xfrm>
          <a:custGeom>
            <a:avLst/>
            <a:gdLst/>
            <a:ahLst/>
            <a:cxnLst/>
            <a:rect l="0" t="0" r="r" b="b"/>
            <a:pathLst>
              <a:path w="585091" h="596722">
                <a:moveTo>
                  <a:pt x="11329" y="6664"/>
                </a:moveTo>
                <a:cubicBezTo>
                  <a:pt x="22657" y="0"/>
                  <a:pt x="62944" y="31199"/>
                  <a:pt x="87721" y="45799"/>
                </a:cubicBezTo>
                <a:cubicBezTo>
                  <a:pt x="112559" y="60399"/>
                  <a:pt x="135944" y="78210"/>
                  <a:pt x="160297" y="94143"/>
                </a:cubicBezTo>
                <a:cubicBezTo>
                  <a:pt x="184590" y="110015"/>
                  <a:pt x="209368" y="125221"/>
                  <a:pt x="233661" y="141093"/>
                </a:cubicBezTo>
                <a:cubicBezTo>
                  <a:pt x="258014" y="156965"/>
                  <a:pt x="282125" y="173201"/>
                  <a:pt x="306176" y="189437"/>
                </a:cubicBezTo>
                <a:cubicBezTo>
                  <a:pt x="330287" y="205672"/>
                  <a:pt x="355428" y="220636"/>
                  <a:pt x="378207" y="238507"/>
                </a:cubicBezTo>
                <a:cubicBezTo>
                  <a:pt x="401046" y="256318"/>
                  <a:pt x="423218" y="275522"/>
                  <a:pt x="443089" y="296483"/>
                </a:cubicBezTo>
                <a:cubicBezTo>
                  <a:pt x="463020" y="317444"/>
                  <a:pt x="481194" y="340465"/>
                  <a:pt x="497733" y="364212"/>
                </a:cubicBezTo>
                <a:cubicBezTo>
                  <a:pt x="514211" y="388021"/>
                  <a:pt x="528144" y="413768"/>
                  <a:pt x="542017" y="439212"/>
                </a:cubicBezTo>
                <a:cubicBezTo>
                  <a:pt x="555951" y="464716"/>
                  <a:pt x="577094" y="492281"/>
                  <a:pt x="581092" y="517119"/>
                </a:cubicBezTo>
                <a:cubicBezTo>
                  <a:pt x="585091" y="542017"/>
                  <a:pt x="582486" y="580305"/>
                  <a:pt x="566129" y="588544"/>
                </a:cubicBezTo>
                <a:cubicBezTo>
                  <a:pt x="549711" y="596722"/>
                  <a:pt x="510213" y="575276"/>
                  <a:pt x="482769" y="566310"/>
                </a:cubicBezTo>
                <a:cubicBezTo>
                  <a:pt x="455326" y="557405"/>
                  <a:pt x="428247" y="546137"/>
                  <a:pt x="401470" y="534869"/>
                </a:cubicBezTo>
                <a:cubicBezTo>
                  <a:pt x="374754" y="523661"/>
                  <a:pt x="346765" y="514029"/>
                  <a:pt x="322290" y="498884"/>
                </a:cubicBezTo>
                <a:cubicBezTo>
                  <a:pt x="297816" y="483739"/>
                  <a:pt x="276491" y="463141"/>
                  <a:pt x="254682" y="443937"/>
                </a:cubicBezTo>
                <a:cubicBezTo>
                  <a:pt x="232873" y="424793"/>
                  <a:pt x="211851" y="404620"/>
                  <a:pt x="191496" y="383962"/>
                </a:cubicBezTo>
                <a:cubicBezTo>
                  <a:pt x="171141" y="363304"/>
                  <a:pt x="150422" y="342585"/>
                  <a:pt x="132490" y="319928"/>
                </a:cubicBezTo>
                <a:cubicBezTo>
                  <a:pt x="114559" y="297271"/>
                  <a:pt x="97475" y="273523"/>
                  <a:pt x="83965" y="248079"/>
                </a:cubicBezTo>
                <a:cubicBezTo>
                  <a:pt x="70456" y="222635"/>
                  <a:pt x="62035" y="194283"/>
                  <a:pt x="51312" y="167264"/>
                </a:cubicBezTo>
                <a:cubicBezTo>
                  <a:pt x="40650" y="140245"/>
                  <a:pt x="26534" y="112802"/>
                  <a:pt x="19810" y="86025"/>
                </a:cubicBezTo>
                <a:cubicBezTo>
                  <a:pt x="13146" y="59248"/>
                  <a:pt x="0" y="13388"/>
                  <a:pt x="11329" y="6664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artery_smooth_muscle_cell_201"/>
          <p:cNvSpPr/>
          <p:nvPr/>
        </p:nvSpPr>
        <p:spPr>
          <a:xfrm>
            <a:off x="10468887" y="3253983"/>
            <a:ext cx="585091" cy="596722"/>
          </a:xfrm>
          <a:custGeom>
            <a:avLst/>
            <a:gdLst/>
            <a:ahLst/>
            <a:cxnLst/>
            <a:rect l="0" t="0" r="r" b="b"/>
            <a:pathLst>
              <a:path w="585091" h="596722">
                <a:moveTo>
                  <a:pt x="11329" y="6664"/>
                </a:moveTo>
                <a:cubicBezTo>
                  <a:pt x="22657" y="0"/>
                  <a:pt x="62944" y="31199"/>
                  <a:pt x="87721" y="45799"/>
                </a:cubicBezTo>
                <a:cubicBezTo>
                  <a:pt x="112559" y="60399"/>
                  <a:pt x="135944" y="78210"/>
                  <a:pt x="160297" y="94143"/>
                </a:cubicBezTo>
                <a:cubicBezTo>
                  <a:pt x="184590" y="110015"/>
                  <a:pt x="209368" y="125221"/>
                  <a:pt x="233661" y="141093"/>
                </a:cubicBezTo>
                <a:cubicBezTo>
                  <a:pt x="258014" y="156965"/>
                  <a:pt x="282125" y="173201"/>
                  <a:pt x="306176" y="189437"/>
                </a:cubicBezTo>
                <a:cubicBezTo>
                  <a:pt x="330287" y="205672"/>
                  <a:pt x="355428" y="220636"/>
                  <a:pt x="378207" y="238507"/>
                </a:cubicBezTo>
                <a:cubicBezTo>
                  <a:pt x="401046" y="256318"/>
                  <a:pt x="423218" y="275522"/>
                  <a:pt x="443089" y="296483"/>
                </a:cubicBezTo>
                <a:cubicBezTo>
                  <a:pt x="463020" y="317444"/>
                  <a:pt x="481194" y="340465"/>
                  <a:pt x="497733" y="364212"/>
                </a:cubicBezTo>
                <a:cubicBezTo>
                  <a:pt x="514211" y="388021"/>
                  <a:pt x="528144" y="413768"/>
                  <a:pt x="542017" y="439212"/>
                </a:cubicBezTo>
                <a:cubicBezTo>
                  <a:pt x="555951" y="464716"/>
                  <a:pt x="577094" y="492281"/>
                  <a:pt x="581092" y="517119"/>
                </a:cubicBezTo>
                <a:cubicBezTo>
                  <a:pt x="585091" y="542017"/>
                  <a:pt x="582486" y="580305"/>
                  <a:pt x="566129" y="588544"/>
                </a:cubicBezTo>
                <a:cubicBezTo>
                  <a:pt x="549711" y="596722"/>
                  <a:pt x="510213" y="575276"/>
                  <a:pt x="482769" y="566310"/>
                </a:cubicBezTo>
                <a:cubicBezTo>
                  <a:pt x="455326" y="557405"/>
                  <a:pt x="428247" y="546137"/>
                  <a:pt x="401470" y="534869"/>
                </a:cubicBezTo>
                <a:cubicBezTo>
                  <a:pt x="374754" y="523661"/>
                  <a:pt x="346765" y="514029"/>
                  <a:pt x="322290" y="498884"/>
                </a:cubicBezTo>
                <a:cubicBezTo>
                  <a:pt x="297816" y="483739"/>
                  <a:pt x="276491" y="463141"/>
                  <a:pt x="254682" y="443937"/>
                </a:cubicBezTo>
                <a:cubicBezTo>
                  <a:pt x="232873" y="424793"/>
                  <a:pt x="211851" y="404620"/>
                  <a:pt x="191496" y="383962"/>
                </a:cubicBezTo>
                <a:cubicBezTo>
                  <a:pt x="171141" y="363304"/>
                  <a:pt x="150422" y="342585"/>
                  <a:pt x="132490" y="319928"/>
                </a:cubicBezTo>
                <a:cubicBezTo>
                  <a:pt x="114559" y="297271"/>
                  <a:pt x="97475" y="273523"/>
                  <a:pt x="83965" y="248079"/>
                </a:cubicBezTo>
                <a:cubicBezTo>
                  <a:pt x="70456" y="222635"/>
                  <a:pt x="62035" y="194283"/>
                  <a:pt x="51312" y="167264"/>
                </a:cubicBezTo>
                <a:cubicBezTo>
                  <a:pt x="40650" y="140245"/>
                  <a:pt x="26534" y="112802"/>
                  <a:pt x="19810" y="86025"/>
                </a:cubicBezTo>
                <a:cubicBezTo>
                  <a:pt x="13146" y="59248"/>
                  <a:pt x="0" y="13388"/>
                  <a:pt x="11329" y="6664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artery_muscle_soft_light_202"/>
          <p:cNvSpPr/>
          <p:nvPr/>
        </p:nvSpPr>
        <p:spPr>
          <a:xfrm>
            <a:off x="10480730" y="3275190"/>
            <a:ext cx="549985" cy="543017"/>
          </a:xfrm>
          <a:custGeom>
            <a:avLst/>
            <a:gdLst/>
            <a:ahLst/>
            <a:cxnLst/>
            <a:rect l="0" t="0" r="r" b="b"/>
            <a:pathLst>
              <a:path w="549985" h="543017">
                <a:moveTo>
                  <a:pt x="10649" y="6064"/>
                </a:moveTo>
                <a:cubicBezTo>
                  <a:pt x="21298" y="0"/>
                  <a:pt x="59167" y="28391"/>
                  <a:pt x="82458" y="41677"/>
                </a:cubicBezTo>
                <a:cubicBezTo>
                  <a:pt x="105806" y="54963"/>
                  <a:pt x="127787" y="71171"/>
                  <a:pt x="150679" y="85670"/>
                </a:cubicBezTo>
                <a:cubicBezTo>
                  <a:pt x="173515" y="100114"/>
                  <a:pt x="196806" y="113951"/>
                  <a:pt x="219641" y="128395"/>
                </a:cubicBezTo>
                <a:cubicBezTo>
                  <a:pt x="242533" y="142838"/>
                  <a:pt x="265198" y="157613"/>
                  <a:pt x="287805" y="172387"/>
                </a:cubicBezTo>
                <a:cubicBezTo>
                  <a:pt x="310470" y="187162"/>
                  <a:pt x="334103" y="200778"/>
                  <a:pt x="355514" y="217041"/>
                </a:cubicBezTo>
                <a:cubicBezTo>
                  <a:pt x="376983" y="233249"/>
                  <a:pt x="397825" y="250725"/>
                  <a:pt x="416504" y="269800"/>
                </a:cubicBezTo>
                <a:cubicBezTo>
                  <a:pt x="435239" y="288874"/>
                  <a:pt x="452323" y="309823"/>
                  <a:pt x="467869" y="331433"/>
                </a:cubicBezTo>
                <a:cubicBezTo>
                  <a:pt x="483358" y="353099"/>
                  <a:pt x="496456" y="376529"/>
                  <a:pt x="509496" y="399683"/>
                </a:cubicBezTo>
                <a:cubicBezTo>
                  <a:pt x="522594" y="422892"/>
                  <a:pt x="542468" y="447975"/>
                  <a:pt x="546227" y="470578"/>
                </a:cubicBezTo>
                <a:cubicBezTo>
                  <a:pt x="549985" y="493236"/>
                  <a:pt x="547536" y="528077"/>
                  <a:pt x="532161" y="535575"/>
                </a:cubicBezTo>
                <a:cubicBezTo>
                  <a:pt x="516729" y="543017"/>
                  <a:pt x="479600" y="523502"/>
                  <a:pt x="453803" y="515342"/>
                </a:cubicBezTo>
                <a:cubicBezTo>
                  <a:pt x="428007" y="507239"/>
                  <a:pt x="402552" y="496985"/>
                  <a:pt x="377382" y="486731"/>
                </a:cubicBezTo>
                <a:cubicBezTo>
                  <a:pt x="352268" y="476532"/>
                  <a:pt x="325959" y="467766"/>
                  <a:pt x="302953" y="453984"/>
                </a:cubicBezTo>
                <a:cubicBezTo>
                  <a:pt x="279947" y="440202"/>
                  <a:pt x="259902" y="421458"/>
                  <a:pt x="239401" y="403983"/>
                </a:cubicBezTo>
                <a:cubicBezTo>
                  <a:pt x="218901" y="386562"/>
                  <a:pt x="199140" y="368204"/>
                  <a:pt x="180007" y="349405"/>
                </a:cubicBezTo>
                <a:cubicBezTo>
                  <a:pt x="160873" y="330606"/>
                  <a:pt x="141397" y="311752"/>
                  <a:pt x="124541" y="291134"/>
                </a:cubicBezTo>
                <a:cubicBezTo>
                  <a:pt x="107685" y="270516"/>
                  <a:pt x="91626" y="248906"/>
                  <a:pt x="78927" y="225752"/>
                </a:cubicBezTo>
                <a:cubicBezTo>
                  <a:pt x="66228" y="202598"/>
                  <a:pt x="58313" y="176798"/>
                  <a:pt x="48233" y="152210"/>
                </a:cubicBezTo>
                <a:cubicBezTo>
                  <a:pt x="38211" y="127623"/>
                  <a:pt x="24942" y="102650"/>
                  <a:pt x="18621" y="78283"/>
                </a:cubicBezTo>
                <a:cubicBezTo>
                  <a:pt x="12357" y="53916"/>
                  <a:pt x="0" y="12183"/>
                  <a:pt x="10649" y="6064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artery_muscle_nucleus_203"/>
          <p:cNvSpPr/>
          <p:nvPr/>
        </p:nvSpPr>
        <p:spPr>
          <a:xfrm>
            <a:off x="10704607" y="3528717"/>
            <a:ext cx="150301" cy="145273"/>
          </a:xfrm>
          <a:custGeom>
            <a:avLst/>
            <a:gdLst/>
            <a:ahLst/>
            <a:cxnLst/>
            <a:rect l="0" t="0" r="r" b="b"/>
            <a:pathLst>
              <a:path w="150301" h="145273">
                <a:moveTo>
                  <a:pt x="34228" y="1817"/>
                </a:moveTo>
                <a:cubicBezTo>
                  <a:pt x="45072" y="0"/>
                  <a:pt x="58885" y="5271"/>
                  <a:pt x="69971" y="9935"/>
                </a:cubicBezTo>
                <a:cubicBezTo>
                  <a:pt x="81057" y="14661"/>
                  <a:pt x="91235" y="22294"/>
                  <a:pt x="100685" y="29988"/>
                </a:cubicBezTo>
                <a:cubicBezTo>
                  <a:pt x="110076" y="37742"/>
                  <a:pt x="119284" y="46587"/>
                  <a:pt x="126493" y="56401"/>
                </a:cubicBezTo>
                <a:cubicBezTo>
                  <a:pt x="133702" y="66154"/>
                  <a:pt x="140608" y="77422"/>
                  <a:pt x="143880" y="88751"/>
                </a:cubicBezTo>
                <a:cubicBezTo>
                  <a:pt x="147090" y="100080"/>
                  <a:pt x="150301" y="115164"/>
                  <a:pt x="145818" y="124312"/>
                </a:cubicBezTo>
                <a:cubicBezTo>
                  <a:pt x="141275" y="133460"/>
                  <a:pt x="127583" y="142123"/>
                  <a:pt x="116921" y="143698"/>
                </a:cubicBezTo>
                <a:cubicBezTo>
                  <a:pt x="106259" y="145273"/>
                  <a:pt x="92871" y="138791"/>
                  <a:pt x="81905" y="133763"/>
                </a:cubicBezTo>
                <a:cubicBezTo>
                  <a:pt x="70940" y="128795"/>
                  <a:pt x="60642" y="121344"/>
                  <a:pt x="51130" y="113710"/>
                </a:cubicBezTo>
                <a:cubicBezTo>
                  <a:pt x="41619" y="106138"/>
                  <a:pt x="32290" y="97596"/>
                  <a:pt x="24778" y="88085"/>
                </a:cubicBezTo>
                <a:cubicBezTo>
                  <a:pt x="17266" y="78573"/>
                  <a:pt x="9451" y="67790"/>
                  <a:pt x="6119" y="56643"/>
                </a:cubicBezTo>
                <a:cubicBezTo>
                  <a:pt x="2787" y="45436"/>
                  <a:pt x="0" y="29988"/>
                  <a:pt x="4665" y="20840"/>
                </a:cubicBezTo>
                <a:cubicBezTo>
                  <a:pt x="9390" y="11692"/>
                  <a:pt x="23324" y="3635"/>
                  <a:pt x="34228" y="1817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artery_nuclear_soft_light_204"/>
          <p:cNvSpPr/>
          <p:nvPr/>
        </p:nvSpPr>
        <p:spPr>
          <a:xfrm>
            <a:off x="10740015" y="3562479"/>
            <a:ext cx="56040" cy="52911"/>
          </a:xfrm>
          <a:custGeom>
            <a:avLst/>
            <a:gdLst/>
            <a:ahLst/>
            <a:cxnLst/>
            <a:rect l="0" t="0" r="r" b="b"/>
            <a:pathLst>
              <a:path w="56040" h="52911">
                <a:moveTo>
                  <a:pt x="2336" y="2505"/>
                </a:moveTo>
                <a:cubicBezTo>
                  <a:pt x="4671" y="0"/>
                  <a:pt x="18064" y="8693"/>
                  <a:pt x="32249" y="21920"/>
                </a:cubicBezTo>
                <a:cubicBezTo>
                  <a:pt x="46434" y="35148"/>
                  <a:pt x="56040" y="47902"/>
                  <a:pt x="53704" y="50407"/>
                </a:cubicBezTo>
                <a:cubicBezTo>
                  <a:pt x="51368" y="52911"/>
                  <a:pt x="37976" y="44219"/>
                  <a:pt x="23791" y="30991"/>
                </a:cubicBezTo>
                <a:cubicBezTo>
                  <a:pt x="9606" y="17763"/>
                  <a:pt x="0" y="5009"/>
                  <a:pt x="2336" y="2505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artery_intercellular_collagen_septum_205"/>
          <p:cNvSpPr/>
          <p:nvPr/>
        </p:nvSpPr>
        <p:spPr>
          <a:xfrm>
            <a:off x="9652135" y="3426941"/>
            <a:ext cx="622045" cy="579578"/>
          </a:xfrm>
          <a:custGeom>
            <a:avLst/>
            <a:gdLst/>
            <a:ahLst/>
            <a:cxnLst/>
            <a:rect l="0" t="0" r="r" b="b"/>
            <a:pathLst>
              <a:path w="622045" h="579578">
                <a:moveTo>
                  <a:pt x="11086" y="8542"/>
                </a:moveTo>
                <a:cubicBezTo>
                  <a:pt x="22112" y="0"/>
                  <a:pt x="66578" y="24959"/>
                  <a:pt x="93961" y="34773"/>
                </a:cubicBezTo>
                <a:cubicBezTo>
                  <a:pt x="121344" y="44527"/>
                  <a:pt x="148423" y="56098"/>
                  <a:pt x="175442" y="67305"/>
                </a:cubicBezTo>
                <a:cubicBezTo>
                  <a:pt x="202401" y="78573"/>
                  <a:pt x="229602" y="89478"/>
                  <a:pt x="255833" y="102321"/>
                </a:cubicBezTo>
                <a:cubicBezTo>
                  <a:pt x="282065" y="115104"/>
                  <a:pt x="308599" y="128129"/>
                  <a:pt x="332771" y="144304"/>
                </a:cubicBezTo>
                <a:cubicBezTo>
                  <a:pt x="357003" y="160479"/>
                  <a:pt x="379358" y="179744"/>
                  <a:pt x="401046" y="199251"/>
                </a:cubicBezTo>
                <a:cubicBezTo>
                  <a:pt x="422734" y="218758"/>
                  <a:pt x="443876" y="239295"/>
                  <a:pt x="462959" y="261346"/>
                </a:cubicBezTo>
                <a:cubicBezTo>
                  <a:pt x="482042" y="283398"/>
                  <a:pt x="499308" y="307266"/>
                  <a:pt x="515544" y="331559"/>
                </a:cubicBezTo>
                <a:cubicBezTo>
                  <a:pt x="531719" y="355792"/>
                  <a:pt x="546500" y="381115"/>
                  <a:pt x="560252" y="406861"/>
                </a:cubicBezTo>
                <a:cubicBezTo>
                  <a:pt x="574004" y="432669"/>
                  <a:pt x="589634" y="458900"/>
                  <a:pt x="598055" y="486041"/>
                </a:cubicBezTo>
                <a:cubicBezTo>
                  <a:pt x="606476" y="513181"/>
                  <a:pt x="622045" y="559768"/>
                  <a:pt x="610777" y="569642"/>
                </a:cubicBezTo>
                <a:cubicBezTo>
                  <a:pt x="599569" y="579578"/>
                  <a:pt x="556920" y="556496"/>
                  <a:pt x="530628" y="545531"/>
                </a:cubicBezTo>
                <a:cubicBezTo>
                  <a:pt x="504397" y="534627"/>
                  <a:pt x="479195" y="517846"/>
                  <a:pt x="453327" y="504154"/>
                </a:cubicBezTo>
                <a:cubicBezTo>
                  <a:pt x="427520" y="490463"/>
                  <a:pt x="401349" y="477317"/>
                  <a:pt x="375662" y="463444"/>
                </a:cubicBezTo>
                <a:cubicBezTo>
                  <a:pt x="349915" y="449571"/>
                  <a:pt x="324168" y="435577"/>
                  <a:pt x="298967" y="420795"/>
                </a:cubicBezTo>
                <a:cubicBezTo>
                  <a:pt x="273705" y="406074"/>
                  <a:pt x="246322" y="393594"/>
                  <a:pt x="224271" y="374996"/>
                </a:cubicBezTo>
                <a:cubicBezTo>
                  <a:pt x="202219" y="356398"/>
                  <a:pt x="184772" y="332165"/>
                  <a:pt x="166779" y="309205"/>
                </a:cubicBezTo>
                <a:cubicBezTo>
                  <a:pt x="148787" y="286305"/>
                  <a:pt x="132551" y="261710"/>
                  <a:pt x="116315" y="237417"/>
                </a:cubicBezTo>
                <a:cubicBezTo>
                  <a:pt x="100080" y="213124"/>
                  <a:pt x="84147" y="188588"/>
                  <a:pt x="69365" y="163447"/>
                </a:cubicBezTo>
                <a:cubicBezTo>
                  <a:pt x="54523" y="138246"/>
                  <a:pt x="37257" y="112135"/>
                  <a:pt x="27564" y="86267"/>
                </a:cubicBezTo>
                <a:cubicBezTo>
                  <a:pt x="17871" y="60460"/>
                  <a:pt x="0" y="17144"/>
                  <a:pt x="11086" y="8542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artery_smooth_muscle_cell_206"/>
          <p:cNvSpPr/>
          <p:nvPr/>
        </p:nvSpPr>
        <p:spPr>
          <a:xfrm>
            <a:off x="9652135" y="3426941"/>
            <a:ext cx="622045" cy="579578"/>
          </a:xfrm>
          <a:custGeom>
            <a:avLst/>
            <a:gdLst/>
            <a:ahLst/>
            <a:cxnLst/>
            <a:rect l="0" t="0" r="r" b="b"/>
            <a:pathLst>
              <a:path w="622045" h="579578">
                <a:moveTo>
                  <a:pt x="11086" y="8542"/>
                </a:moveTo>
                <a:cubicBezTo>
                  <a:pt x="22112" y="0"/>
                  <a:pt x="66578" y="24959"/>
                  <a:pt x="93961" y="34773"/>
                </a:cubicBezTo>
                <a:cubicBezTo>
                  <a:pt x="121344" y="44527"/>
                  <a:pt x="148423" y="56098"/>
                  <a:pt x="175442" y="67305"/>
                </a:cubicBezTo>
                <a:cubicBezTo>
                  <a:pt x="202401" y="78573"/>
                  <a:pt x="229602" y="89478"/>
                  <a:pt x="255833" y="102321"/>
                </a:cubicBezTo>
                <a:cubicBezTo>
                  <a:pt x="282065" y="115104"/>
                  <a:pt x="308599" y="128129"/>
                  <a:pt x="332771" y="144304"/>
                </a:cubicBezTo>
                <a:cubicBezTo>
                  <a:pt x="357003" y="160479"/>
                  <a:pt x="379358" y="179744"/>
                  <a:pt x="401046" y="199251"/>
                </a:cubicBezTo>
                <a:cubicBezTo>
                  <a:pt x="422734" y="218758"/>
                  <a:pt x="443876" y="239295"/>
                  <a:pt x="462959" y="261346"/>
                </a:cubicBezTo>
                <a:cubicBezTo>
                  <a:pt x="482042" y="283398"/>
                  <a:pt x="499308" y="307266"/>
                  <a:pt x="515544" y="331559"/>
                </a:cubicBezTo>
                <a:cubicBezTo>
                  <a:pt x="531719" y="355792"/>
                  <a:pt x="546500" y="381115"/>
                  <a:pt x="560252" y="406861"/>
                </a:cubicBezTo>
                <a:cubicBezTo>
                  <a:pt x="574004" y="432669"/>
                  <a:pt x="589634" y="458900"/>
                  <a:pt x="598055" y="486041"/>
                </a:cubicBezTo>
                <a:cubicBezTo>
                  <a:pt x="606476" y="513181"/>
                  <a:pt x="622045" y="559768"/>
                  <a:pt x="610777" y="569642"/>
                </a:cubicBezTo>
                <a:cubicBezTo>
                  <a:pt x="599569" y="579578"/>
                  <a:pt x="556920" y="556496"/>
                  <a:pt x="530628" y="545531"/>
                </a:cubicBezTo>
                <a:cubicBezTo>
                  <a:pt x="504397" y="534627"/>
                  <a:pt x="479195" y="517846"/>
                  <a:pt x="453327" y="504154"/>
                </a:cubicBezTo>
                <a:cubicBezTo>
                  <a:pt x="427520" y="490463"/>
                  <a:pt x="401349" y="477317"/>
                  <a:pt x="375662" y="463444"/>
                </a:cubicBezTo>
                <a:cubicBezTo>
                  <a:pt x="349915" y="449571"/>
                  <a:pt x="324168" y="435577"/>
                  <a:pt x="298967" y="420795"/>
                </a:cubicBezTo>
                <a:cubicBezTo>
                  <a:pt x="273705" y="406074"/>
                  <a:pt x="246322" y="393594"/>
                  <a:pt x="224271" y="374996"/>
                </a:cubicBezTo>
                <a:cubicBezTo>
                  <a:pt x="202219" y="356398"/>
                  <a:pt x="184772" y="332165"/>
                  <a:pt x="166779" y="309205"/>
                </a:cubicBezTo>
                <a:cubicBezTo>
                  <a:pt x="148787" y="286305"/>
                  <a:pt x="132551" y="261710"/>
                  <a:pt x="116315" y="237417"/>
                </a:cubicBezTo>
                <a:cubicBezTo>
                  <a:pt x="100080" y="213124"/>
                  <a:pt x="84147" y="188588"/>
                  <a:pt x="69365" y="163447"/>
                </a:cubicBezTo>
                <a:cubicBezTo>
                  <a:pt x="54523" y="138246"/>
                  <a:pt x="37257" y="112135"/>
                  <a:pt x="27564" y="86267"/>
                </a:cubicBezTo>
                <a:cubicBezTo>
                  <a:pt x="17871" y="60460"/>
                  <a:pt x="0" y="17144"/>
                  <a:pt x="11086" y="8542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artery_muscle_soft_light_207"/>
          <p:cNvSpPr/>
          <p:nvPr/>
        </p:nvSpPr>
        <p:spPr>
          <a:xfrm>
            <a:off x="9665440" y="3444921"/>
            <a:ext cx="584722" cy="527416"/>
          </a:xfrm>
          <a:custGeom>
            <a:avLst/>
            <a:gdLst/>
            <a:ahLst/>
            <a:cxnLst/>
            <a:rect l="0" t="0" r="r" b="b"/>
            <a:pathLst>
              <a:path w="584722" h="527416">
                <a:moveTo>
                  <a:pt x="10421" y="7773"/>
                </a:moveTo>
                <a:cubicBezTo>
                  <a:pt x="20785" y="0"/>
                  <a:pt x="62584" y="22713"/>
                  <a:pt x="88323" y="31644"/>
                </a:cubicBezTo>
                <a:cubicBezTo>
                  <a:pt x="114063" y="40520"/>
                  <a:pt x="139518" y="51049"/>
                  <a:pt x="164916" y="61248"/>
                </a:cubicBezTo>
                <a:cubicBezTo>
                  <a:pt x="190257" y="71502"/>
                  <a:pt x="215826" y="81425"/>
                  <a:pt x="240483" y="93112"/>
                </a:cubicBezTo>
                <a:cubicBezTo>
                  <a:pt x="265141" y="104744"/>
                  <a:pt x="290083" y="116597"/>
                  <a:pt x="312805" y="131316"/>
                </a:cubicBezTo>
                <a:cubicBezTo>
                  <a:pt x="335583" y="146036"/>
                  <a:pt x="356596" y="163567"/>
                  <a:pt x="376983" y="181318"/>
                </a:cubicBezTo>
                <a:cubicBezTo>
                  <a:pt x="397370" y="199070"/>
                  <a:pt x="417244" y="217758"/>
                  <a:pt x="435182" y="237825"/>
                </a:cubicBezTo>
                <a:cubicBezTo>
                  <a:pt x="453120" y="257892"/>
                  <a:pt x="469349" y="279612"/>
                  <a:pt x="484611" y="301719"/>
                </a:cubicBezTo>
                <a:cubicBezTo>
                  <a:pt x="499816" y="323770"/>
                  <a:pt x="513710" y="346814"/>
                  <a:pt x="526637" y="370244"/>
                </a:cubicBezTo>
                <a:cubicBezTo>
                  <a:pt x="539564" y="393729"/>
                  <a:pt x="554256" y="417599"/>
                  <a:pt x="562172" y="442297"/>
                </a:cubicBezTo>
                <a:cubicBezTo>
                  <a:pt x="570087" y="466995"/>
                  <a:pt x="584722" y="509389"/>
                  <a:pt x="574130" y="518375"/>
                </a:cubicBezTo>
                <a:cubicBezTo>
                  <a:pt x="563595" y="527416"/>
                  <a:pt x="523505" y="506412"/>
                  <a:pt x="498791" y="496433"/>
                </a:cubicBezTo>
                <a:cubicBezTo>
                  <a:pt x="474133" y="486510"/>
                  <a:pt x="450443" y="471240"/>
                  <a:pt x="426127" y="458781"/>
                </a:cubicBezTo>
                <a:cubicBezTo>
                  <a:pt x="401868" y="446321"/>
                  <a:pt x="377268" y="434359"/>
                  <a:pt x="353123" y="421734"/>
                </a:cubicBezTo>
                <a:cubicBezTo>
                  <a:pt x="328920" y="409110"/>
                  <a:pt x="304718" y="396375"/>
                  <a:pt x="281029" y="382924"/>
                </a:cubicBezTo>
                <a:cubicBezTo>
                  <a:pt x="257282" y="369527"/>
                  <a:pt x="231543" y="358171"/>
                  <a:pt x="210814" y="341246"/>
                </a:cubicBezTo>
                <a:cubicBezTo>
                  <a:pt x="190086" y="324322"/>
                  <a:pt x="173685" y="302270"/>
                  <a:pt x="156773" y="281377"/>
                </a:cubicBezTo>
                <a:cubicBezTo>
                  <a:pt x="139860" y="260538"/>
                  <a:pt x="124598" y="238156"/>
                  <a:pt x="109336" y="216049"/>
                </a:cubicBezTo>
                <a:cubicBezTo>
                  <a:pt x="94075" y="193943"/>
                  <a:pt x="79098" y="171615"/>
                  <a:pt x="65203" y="148737"/>
                </a:cubicBezTo>
                <a:cubicBezTo>
                  <a:pt x="51251" y="125804"/>
                  <a:pt x="35022" y="102043"/>
                  <a:pt x="25910" y="78503"/>
                </a:cubicBezTo>
                <a:cubicBezTo>
                  <a:pt x="16799" y="55018"/>
                  <a:pt x="0" y="15601"/>
                  <a:pt x="10421" y="7773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artery_muscle_nucleus_208"/>
          <p:cNvSpPr/>
          <p:nvPr/>
        </p:nvSpPr>
        <p:spPr>
          <a:xfrm>
            <a:off x="9850598" y="3609775"/>
            <a:ext cx="149817" cy="137640"/>
          </a:xfrm>
          <a:custGeom>
            <a:avLst/>
            <a:gdLst/>
            <a:ahLst/>
            <a:cxnLst/>
            <a:rect l="0" t="0" r="r" b="b"/>
            <a:pathLst>
              <a:path w="149817" h="137640">
                <a:moveTo>
                  <a:pt x="17266" y="5028"/>
                </a:moveTo>
                <a:cubicBezTo>
                  <a:pt x="26050" y="0"/>
                  <a:pt x="41801" y="2241"/>
                  <a:pt x="53493" y="4241"/>
                </a:cubicBezTo>
                <a:cubicBezTo>
                  <a:pt x="65185" y="6240"/>
                  <a:pt x="77241" y="10905"/>
                  <a:pt x="87479" y="16963"/>
                </a:cubicBezTo>
                <a:cubicBezTo>
                  <a:pt x="97778" y="23021"/>
                  <a:pt x="106744" y="31926"/>
                  <a:pt x="115225" y="40529"/>
                </a:cubicBezTo>
                <a:cubicBezTo>
                  <a:pt x="123706" y="49131"/>
                  <a:pt x="132733" y="58218"/>
                  <a:pt x="138306" y="68699"/>
                </a:cubicBezTo>
                <a:cubicBezTo>
                  <a:pt x="143880" y="79240"/>
                  <a:pt x="149817" y="92871"/>
                  <a:pt x="148787" y="103533"/>
                </a:cubicBezTo>
                <a:cubicBezTo>
                  <a:pt x="147696" y="114134"/>
                  <a:pt x="140669" y="127462"/>
                  <a:pt x="131824" y="132551"/>
                </a:cubicBezTo>
                <a:cubicBezTo>
                  <a:pt x="122979" y="137640"/>
                  <a:pt x="107471" y="136004"/>
                  <a:pt x="95839" y="134066"/>
                </a:cubicBezTo>
                <a:cubicBezTo>
                  <a:pt x="84147" y="132066"/>
                  <a:pt x="72334" y="126735"/>
                  <a:pt x="61974" y="120798"/>
                </a:cubicBezTo>
                <a:cubicBezTo>
                  <a:pt x="51554" y="114861"/>
                  <a:pt x="41740" y="107046"/>
                  <a:pt x="33441" y="98383"/>
                </a:cubicBezTo>
                <a:cubicBezTo>
                  <a:pt x="25141" y="89720"/>
                  <a:pt x="17508" y="79543"/>
                  <a:pt x="12116" y="68881"/>
                </a:cubicBezTo>
                <a:cubicBezTo>
                  <a:pt x="6664" y="58218"/>
                  <a:pt x="0" y="45012"/>
                  <a:pt x="909" y="34349"/>
                </a:cubicBezTo>
                <a:cubicBezTo>
                  <a:pt x="1757" y="23687"/>
                  <a:pt x="8542" y="10056"/>
                  <a:pt x="17266" y="5028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artery_nuclear_soft_light_209"/>
          <p:cNvSpPr/>
          <p:nvPr/>
        </p:nvSpPr>
        <p:spPr>
          <a:xfrm>
            <a:off x="9884498" y="3641782"/>
            <a:ext cx="57359" cy="49756"/>
          </a:xfrm>
          <a:custGeom>
            <a:avLst/>
            <a:gdLst/>
            <a:ahLst/>
            <a:cxnLst/>
            <a:rect l="0" t="0" r="r" b="b"/>
            <a:pathLst>
              <a:path w="57359" h="49756">
                <a:moveTo>
                  <a:pt x="2226" y="2650"/>
                </a:moveTo>
                <a:cubicBezTo>
                  <a:pt x="4453" y="0"/>
                  <a:pt x="18101" y="7804"/>
                  <a:pt x="32711" y="20080"/>
                </a:cubicBezTo>
                <a:cubicBezTo>
                  <a:pt x="47321" y="32357"/>
                  <a:pt x="57359" y="44457"/>
                  <a:pt x="55133" y="47106"/>
                </a:cubicBezTo>
                <a:cubicBezTo>
                  <a:pt x="52906" y="49756"/>
                  <a:pt x="39258" y="41952"/>
                  <a:pt x="24648" y="29676"/>
                </a:cubicBezTo>
                <a:cubicBezTo>
                  <a:pt x="10039" y="17399"/>
                  <a:pt x="0" y="5299"/>
                  <a:pt x="2226" y="2650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artery_intercellular_collagen_septum_210"/>
          <p:cNvSpPr/>
          <p:nvPr/>
        </p:nvSpPr>
        <p:spPr>
          <a:xfrm>
            <a:off x="11038832" y="3627161"/>
            <a:ext cx="615078" cy="537656"/>
          </a:xfrm>
          <a:custGeom>
            <a:avLst/>
            <a:gdLst/>
            <a:ahLst/>
            <a:cxnLst/>
            <a:rect l="0" t="0" r="r" b="b"/>
            <a:pathLst>
              <a:path w="615078" h="537656">
                <a:moveTo>
                  <a:pt x="12116" y="7815"/>
                </a:moveTo>
                <a:cubicBezTo>
                  <a:pt x="24293" y="0"/>
                  <a:pt x="64882" y="26837"/>
                  <a:pt x="90629" y="38590"/>
                </a:cubicBezTo>
                <a:cubicBezTo>
                  <a:pt x="116376" y="50282"/>
                  <a:pt x="141275" y="65003"/>
                  <a:pt x="166598" y="78210"/>
                </a:cubicBezTo>
                <a:cubicBezTo>
                  <a:pt x="191920" y="91417"/>
                  <a:pt x="217364" y="104442"/>
                  <a:pt x="242687" y="117648"/>
                </a:cubicBezTo>
                <a:cubicBezTo>
                  <a:pt x="268010" y="130915"/>
                  <a:pt x="293696" y="143516"/>
                  <a:pt x="318413" y="157753"/>
                </a:cubicBezTo>
                <a:cubicBezTo>
                  <a:pt x="343191" y="171989"/>
                  <a:pt x="368150" y="186286"/>
                  <a:pt x="391171" y="203067"/>
                </a:cubicBezTo>
                <a:cubicBezTo>
                  <a:pt x="414131" y="219848"/>
                  <a:pt x="436425" y="238265"/>
                  <a:pt x="456356" y="258499"/>
                </a:cubicBezTo>
                <a:cubicBezTo>
                  <a:pt x="476348" y="278793"/>
                  <a:pt x="493189" y="302178"/>
                  <a:pt x="510818" y="324653"/>
                </a:cubicBezTo>
                <a:cubicBezTo>
                  <a:pt x="528508" y="347129"/>
                  <a:pt x="545834" y="369907"/>
                  <a:pt x="562252" y="393231"/>
                </a:cubicBezTo>
                <a:cubicBezTo>
                  <a:pt x="578669" y="416615"/>
                  <a:pt x="603568" y="442059"/>
                  <a:pt x="609323" y="464837"/>
                </a:cubicBezTo>
                <a:cubicBezTo>
                  <a:pt x="615078" y="487555"/>
                  <a:pt x="612655" y="521905"/>
                  <a:pt x="596601" y="529780"/>
                </a:cubicBezTo>
                <a:cubicBezTo>
                  <a:pt x="580608" y="537656"/>
                  <a:pt x="540806" y="519300"/>
                  <a:pt x="513302" y="512151"/>
                </a:cubicBezTo>
                <a:cubicBezTo>
                  <a:pt x="485738" y="505003"/>
                  <a:pt x="458295" y="496400"/>
                  <a:pt x="431336" y="486949"/>
                </a:cubicBezTo>
                <a:cubicBezTo>
                  <a:pt x="404438" y="477499"/>
                  <a:pt x="377904" y="466837"/>
                  <a:pt x="351733" y="455569"/>
                </a:cubicBezTo>
                <a:cubicBezTo>
                  <a:pt x="325501" y="444300"/>
                  <a:pt x="298119" y="434183"/>
                  <a:pt x="274068" y="419341"/>
                </a:cubicBezTo>
                <a:cubicBezTo>
                  <a:pt x="249957" y="404438"/>
                  <a:pt x="228087" y="385658"/>
                  <a:pt x="207308" y="366272"/>
                </a:cubicBezTo>
                <a:cubicBezTo>
                  <a:pt x="186468" y="346947"/>
                  <a:pt x="168476" y="324350"/>
                  <a:pt x="149211" y="303268"/>
                </a:cubicBezTo>
                <a:cubicBezTo>
                  <a:pt x="130007" y="282186"/>
                  <a:pt x="108137" y="262921"/>
                  <a:pt x="91962" y="239658"/>
                </a:cubicBezTo>
                <a:cubicBezTo>
                  <a:pt x="75787" y="216395"/>
                  <a:pt x="64519" y="189497"/>
                  <a:pt x="52160" y="163811"/>
                </a:cubicBezTo>
                <a:cubicBezTo>
                  <a:pt x="39862" y="138064"/>
                  <a:pt x="24535" y="111227"/>
                  <a:pt x="17871" y="85237"/>
                </a:cubicBezTo>
                <a:cubicBezTo>
                  <a:pt x="11147" y="59248"/>
                  <a:pt x="0" y="15569"/>
                  <a:pt x="12116" y="7815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artery_smooth_muscle_cell_211"/>
          <p:cNvSpPr/>
          <p:nvPr/>
        </p:nvSpPr>
        <p:spPr>
          <a:xfrm>
            <a:off x="11038832" y="3627161"/>
            <a:ext cx="615078" cy="537656"/>
          </a:xfrm>
          <a:custGeom>
            <a:avLst/>
            <a:gdLst/>
            <a:ahLst/>
            <a:cxnLst/>
            <a:rect l="0" t="0" r="r" b="b"/>
            <a:pathLst>
              <a:path w="615078" h="537656">
                <a:moveTo>
                  <a:pt x="12116" y="7815"/>
                </a:moveTo>
                <a:cubicBezTo>
                  <a:pt x="24293" y="0"/>
                  <a:pt x="64882" y="26837"/>
                  <a:pt x="90629" y="38590"/>
                </a:cubicBezTo>
                <a:cubicBezTo>
                  <a:pt x="116376" y="50282"/>
                  <a:pt x="141275" y="65003"/>
                  <a:pt x="166598" y="78210"/>
                </a:cubicBezTo>
                <a:cubicBezTo>
                  <a:pt x="191920" y="91417"/>
                  <a:pt x="217364" y="104442"/>
                  <a:pt x="242687" y="117648"/>
                </a:cubicBezTo>
                <a:cubicBezTo>
                  <a:pt x="268010" y="130915"/>
                  <a:pt x="293696" y="143516"/>
                  <a:pt x="318413" y="157753"/>
                </a:cubicBezTo>
                <a:cubicBezTo>
                  <a:pt x="343191" y="171989"/>
                  <a:pt x="368150" y="186286"/>
                  <a:pt x="391171" y="203067"/>
                </a:cubicBezTo>
                <a:cubicBezTo>
                  <a:pt x="414131" y="219848"/>
                  <a:pt x="436425" y="238265"/>
                  <a:pt x="456356" y="258499"/>
                </a:cubicBezTo>
                <a:cubicBezTo>
                  <a:pt x="476348" y="278793"/>
                  <a:pt x="493189" y="302178"/>
                  <a:pt x="510818" y="324653"/>
                </a:cubicBezTo>
                <a:cubicBezTo>
                  <a:pt x="528508" y="347129"/>
                  <a:pt x="545834" y="369907"/>
                  <a:pt x="562252" y="393231"/>
                </a:cubicBezTo>
                <a:cubicBezTo>
                  <a:pt x="578669" y="416615"/>
                  <a:pt x="603568" y="442059"/>
                  <a:pt x="609323" y="464837"/>
                </a:cubicBezTo>
                <a:cubicBezTo>
                  <a:pt x="615078" y="487555"/>
                  <a:pt x="612655" y="521905"/>
                  <a:pt x="596601" y="529780"/>
                </a:cubicBezTo>
                <a:cubicBezTo>
                  <a:pt x="580608" y="537656"/>
                  <a:pt x="540806" y="519300"/>
                  <a:pt x="513302" y="512151"/>
                </a:cubicBezTo>
                <a:cubicBezTo>
                  <a:pt x="485738" y="505003"/>
                  <a:pt x="458295" y="496400"/>
                  <a:pt x="431336" y="486949"/>
                </a:cubicBezTo>
                <a:cubicBezTo>
                  <a:pt x="404438" y="477499"/>
                  <a:pt x="377904" y="466837"/>
                  <a:pt x="351733" y="455569"/>
                </a:cubicBezTo>
                <a:cubicBezTo>
                  <a:pt x="325501" y="444300"/>
                  <a:pt x="298119" y="434183"/>
                  <a:pt x="274068" y="419341"/>
                </a:cubicBezTo>
                <a:cubicBezTo>
                  <a:pt x="249957" y="404438"/>
                  <a:pt x="228087" y="385658"/>
                  <a:pt x="207308" y="366272"/>
                </a:cubicBezTo>
                <a:cubicBezTo>
                  <a:pt x="186468" y="346947"/>
                  <a:pt x="168476" y="324350"/>
                  <a:pt x="149211" y="303268"/>
                </a:cubicBezTo>
                <a:cubicBezTo>
                  <a:pt x="130007" y="282186"/>
                  <a:pt x="108137" y="262921"/>
                  <a:pt x="91962" y="239658"/>
                </a:cubicBezTo>
                <a:cubicBezTo>
                  <a:pt x="75787" y="216395"/>
                  <a:pt x="64519" y="189497"/>
                  <a:pt x="52160" y="163811"/>
                </a:cubicBezTo>
                <a:cubicBezTo>
                  <a:pt x="39862" y="138064"/>
                  <a:pt x="24535" y="111227"/>
                  <a:pt x="17871" y="85237"/>
                </a:cubicBezTo>
                <a:cubicBezTo>
                  <a:pt x="11147" y="59248"/>
                  <a:pt x="0" y="15569"/>
                  <a:pt x="12116" y="7815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artery_muscle_soft_light_212"/>
          <p:cNvSpPr/>
          <p:nvPr/>
        </p:nvSpPr>
        <p:spPr>
          <a:xfrm>
            <a:off x="11051875" y="3645838"/>
            <a:ext cx="578173" cy="489267"/>
          </a:xfrm>
          <a:custGeom>
            <a:avLst/>
            <a:gdLst/>
            <a:ahLst/>
            <a:cxnLst/>
            <a:rect l="0" t="0" r="r" b="b"/>
            <a:pathLst>
              <a:path w="578173" h="489267">
                <a:moveTo>
                  <a:pt x="11389" y="7112"/>
                </a:moveTo>
                <a:cubicBezTo>
                  <a:pt x="22835" y="0"/>
                  <a:pt x="60989" y="24422"/>
                  <a:pt x="85191" y="35117"/>
                </a:cubicBezTo>
                <a:cubicBezTo>
                  <a:pt x="109393" y="45757"/>
                  <a:pt x="132798" y="59153"/>
                  <a:pt x="156602" y="71171"/>
                </a:cubicBezTo>
                <a:cubicBezTo>
                  <a:pt x="180405" y="83189"/>
                  <a:pt x="204322" y="95042"/>
                  <a:pt x="228126" y="107060"/>
                </a:cubicBezTo>
                <a:cubicBezTo>
                  <a:pt x="251929" y="119133"/>
                  <a:pt x="276075" y="130600"/>
                  <a:pt x="299309" y="143555"/>
                </a:cubicBezTo>
                <a:cubicBezTo>
                  <a:pt x="322599" y="156510"/>
                  <a:pt x="346061" y="169521"/>
                  <a:pt x="367701" y="184791"/>
                </a:cubicBezTo>
                <a:cubicBezTo>
                  <a:pt x="389283" y="200062"/>
                  <a:pt x="410239" y="216821"/>
                  <a:pt x="428975" y="235234"/>
                </a:cubicBezTo>
                <a:cubicBezTo>
                  <a:pt x="447767" y="253702"/>
                  <a:pt x="463598" y="274982"/>
                  <a:pt x="480169" y="295434"/>
                </a:cubicBezTo>
                <a:cubicBezTo>
                  <a:pt x="496797" y="315887"/>
                  <a:pt x="513084" y="336615"/>
                  <a:pt x="528516" y="357840"/>
                </a:cubicBezTo>
                <a:cubicBezTo>
                  <a:pt x="543949" y="379120"/>
                  <a:pt x="567354" y="402274"/>
                  <a:pt x="572764" y="423002"/>
                </a:cubicBezTo>
                <a:cubicBezTo>
                  <a:pt x="578173" y="443675"/>
                  <a:pt x="575896" y="474933"/>
                  <a:pt x="560805" y="482100"/>
                </a:cubicBezTo>
                <a:cubicBezTo>
                  <a:pt x="545771" y="489267"/>
                  <a:pt x="508358" y="472563"/>
                  <a:pt x="482504" y="466057"/>
                </a:cubicBezTo>
                <a:cubicBezTo>
                  <a:pt x="456594" y="459552"/>
                  <a:pt x="430797" y="451724"/>
                  <a:pt x="405456" y="443124"/>
                </a:cubicBezTo>
                <a:cubicBezTo>
                  <a:pt x="380172" y="434524"/>
                  <a:pt x="355230" y="424821"/>
                  <a:pt x="330629" y="414567"/>
                </a:cubicBezTo>
                <a:cubicBezTo>
                  <a:pt x="305971" y="404313"/>
                  <a:pt x="280232" y="395107"/>
                  <a:pt x="257624" y="381600"/>
                </a:cubicBezTo>
                <a:cubicBezTo>
                  <a:pt x="234959" y="368039"/>
                  <a:pt x="214402" y="350949"/>
                  <a:pt x="194869" y="333308"/>
                </a:cubicBezTo>
                <a:cubicBezTo>
                  <a:pt x="175280" y="315722"/>
                  <a:pt x="158367" y="295159"/>
                  <a:pt x="140258" y="275974"/>
                </a:cubicBezTo>
                <a:cubicBezTo>
                  <a:pt x="122206" y="256789"/>
                  <a:pt x="101649" y="239258"/>
                  <a:pt x="86444" y="218089"/>
                </a:cubicBezTo>
                <a:cubicBezTo>
                  <a:pt x="71240" y="196919"/>
                  <a:pt x="60648" y="172442"/>
                  <a:pt x="49031" y="149068"/>
                </a:cubicBezTo>
                <a:cubicBezTo>
                  <a:pt x="37471" y="125638"/>
                  <a:pt x="23063" y="101216"/>
                  <a:pt x="16799" y="77566"/>
                </a:cubicBezTo>
                <a:cubicBezTo>
                  <a:pt x="10478" y="53916"/>
                  <a:pt x="0" y="14168"/>
                  <a:pt x="11389" y="7112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artery_muscle_nucleus_213"/>
          <p:cNvSpPr/>
          <p:nvPr/>
        </p:nvSpPr>
        <p:spPr>
          <a:xfrm>
            <a:off x="11261103" y="3840770"/>
            <a:ext cx="159449" cy="142789"/>
          </a:xfrm>
          <a:custGeom>
            <a:avLst/>
            <a:gdLst/>
            <a:ahLst/>
            <a:cxnLst/>
            <a:rect l="0" t="0" r="r" b="b"/>
            <a:pathLst>
              <a:path w="159449" h="142789">
                <a:moveTo>
                  <a:pt x="24354" y="4241"/>
                </a:moveTo>
                <a:cubicBezTo>
                  <a:pt x="34289" y="0"/>
                  <a:pt x="49495" y="3756"/>
                  <a:pt x="61429" y="6543"/>
                </a:cubicBezTo>
                <a:cubicBezTo>
                  <a:pt x="73363" y="9269"/>
                  <a:pt x="85237" y="14539"/>
                  <a:pt x="95900" y="20900"/>
                </a:cubicBezTo>
                <a:cubicBezTo>
                  <a:pt x="106501" y="27201"/>
                  <a:pt x="116315" y="35622"/>
                  <a:pt x="125100" y="44406"/>
                </a:cubicBezTo>
                <a:cubicBezTo>
                  <a:pt x="133884" y="53190"/>
                  <a:pt x="143213" y="62762"/>
                  <a:pt x="148605" y="73606"/>
                </a:cubicBezTo>
                <a:cubicBezTo>
                  <a:pt x="153997" y="84450"/>
                  <a:pt x="159449" y="98747"/>
                  <a:pt x="157510" y="109530"/>
                </a:cubicBezTo>
                <a:cubicBezTo>
                  <a:pt x="155632" y="120374"/>
                  <a:pt x="146788" y="133944"/>
                  <a:pt x="137216" y="138367"/>
                </a:cubicBezTo>
                <a:cubicBezTo>
                  <a:pt x="127705" y="142789"/>
                  <a:pt x="112135" y="139518"/>
                  <a:pt x="100443" y="136246"/>
                </a:cubicBezTo>
                <a:cubicBezTo>
                  <a:pt x="88751" y="132975"/>
                  <a:pt x="77604" y="125524"/>
                  <a:pt x="67063" y="118799"/>
                </a:cubicBezTo>
                <a:cubicBezTo>
                  <a:pt x="56583" y="112075"/>
                  <a:pt x="46344" y="104442"/>
                  <a:pt x="37318" y="95900"/>
                </a:cubicBezTo>
                <a:cubicBezTo>
                  <a:pt x="28231" y="87358"/>
                  <a:pt x="18598" y="78210"/>
                  <a:pt x="12722" y="67548"/>
                </a:cubicBezTo>
                <a:cubicBezTo>
                  <a:pt x="6785" y="56946"/>
                  <a:pt x="0" y="42649"/>
                  <a:pt x="1939" y="32108"/>
                </a:cubicBezTo>
                <a:cubicBezTo>
                  <a:pt x="3877" y="21567"/>
                  <a:pt x="14418" y="8542"/>
                  <a:pt x="24354" y="4241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artery_nuclear_soft_light_214"/>
          <p:cNvSpPr/>
          <p:nvPr/>
        </p:nvSpPr>
        <p:spPr>
          <a:xfrm>
            <a:off x="11299444" y="3874404"/>
            <a:ext cx="60716" cy="49896"/>
          </a:xfrm>
          <a:custGeom>
            <a:avLst/>
            <a:gdLst/>
            <a:ahLst/>
            <a:cxnLst/>
            <a:rect l="0" t="0" r="r" b="b"/>
            <a:pathLst>
              <a:path w="60716" h="49896">
                <a:moveTo>
                  <a:pt x="2144" y="2722"/>
                </a:moveTo>
                <a:cubicBezTo>
                  <a:pt x="4288" y="0"/>
                  <a:pt x="18658" y="7745"/>
                  <a:pt x="34240" y="20020"/>
                </a:cubicBezTo>
                <a:cubicBezTo>
                  <a:pt x="49823" y="32295"/>
                  <a:pt x="60716" y="44452"/>
                  <a:pt x="58572" y="47174"/>
                </a:cubicBezTo>
                <a:cubicBezTo>
                  <a:pt x="56428" y="49896"/>
                  <a:pt x="42058" y="42151"/>
                  <a:pt x="26476" y="29876"/>
                </a:cubicBezTo>
                <a:cubicBezTo>
                  <a:pt x="10894" y="17601"/>
                  <a:pt x="0" y="5444"/>
                  <a:pt x="2144" y="2722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artery_intercellular_collagen_septum_215"/>
          <p:cNvSpPr/>
          <p:nvPr/>
        </p:nvSpPr>
        <p:spPr>
          <a:xfrm>
            <a:off x="10553155" y="3641337"/>
            <a:ext cx="604900" cy="580426"/>
          </a:xfrm>
          <a:custGeom>
            <a:avLst/>
            <a:gdLst/>
            <a:ahLst/>
            <a:cxnLst/>
            <a:rect l="0" t="0" r="r" b="b"/>
            <a:pathLst>
              <a:path w="604900" h="580426">
                <a:moveTo>
                  <a:pt x="11934" y="6967"/>
                </a:moveTo>
                <a:cubicBezTo>
                  <a:pt x="23808" y="0"/>
                  <a:pt x="63973" y="30715"/>
                  <a:pt x="89236" y="44709"/>
                </a:cubicBezTo>
                <a:cubicBezTo>
                  <a:pt x="114498" y="58642"/>
                  <a:pt x="138730" y="75423"/>
                  <a:pt x="163508" y="90690"/>
                </a:cubicBezTo>
                <a:cubicBezTo>
                  <a:pt x="188285" y="106017"/>
                  <a:pt x="213124" y="121222"/>
                  <a:pt x="237962" y="136489"/>
                </a:cubicBezTo>
                <a:cubicBezTo>
                  <a:pt x="262739" y="151755"/>
                  <a:pt x="288002" y="166416"/>
                  <a:pt x="312355" y="182349"/>
                </a:cubicBezTo>
                <a:cubicBezTo>
                  <a:pt x="336709" y="198281"/>
                  <a:pt x="361305" y="214093"/>
                  <a:pt x="384083" y="232086"/>
                </a:cubicBezTo>
                <a:cubicBezTo>
                  <a:pt x="406922" y="250078"/>
                  <a:pt x="428852" y="269646"/>
                  <a:pt x="449268" y="290243"/>
                </a:cubicBezTo>
                <a:cubicBezTo>
                  <a:pt x="469684" y="310901"/>
                  <a:pt x="489373" y="332650"/>
                  <a:pt x="506699" y="355913"/>
                </a:cubicBezTo>
                <a:cubicBezTo>
                  <a:pt x="524025" y="379176"/>
                  <a:pt x="538807" y="404559"/>
                  <a:pt x="553104" y="429882"/>
                </a:cubicBezTo>
                <a:cubicBezTo>
                  <a:pt x="567401" y="455205"/>
                  <a:pt x="586181" y="483920"/>
                  <a:pt x="592421" y="507910"/>
                </a:cubicBezTo>
                <a:cubicBezTo>
                  <a:pt x="598721" y="531961"/>
                  <a:pt x="604900" y="567583"/>
                  <a:pt x="590846" y="574004"/>
                </a:cubicBezTo>
                <a:cubicBezTo>
                  <a:pt x="576730" y="580426"/>
                  <a:pt x="535111" y="556920"/>
                  <a:pt x="508032" y="546319"/>
                </a:cubicBezTo>
                <a:cubicBezTo>
                  <a:pt x="481012" y="535656"/>
                  <a:pt x="454417" y="523601"/>
                  <a:pt x="428610" y="510273"/>
                </a:cubicBezTo>
                <a:cubicBezTo>
                  <a:pt x="402803" y="496885"/>
                  <a:pt x="378267" y="480891"/>
                  <a:pt x="353247" y="465988"/>
                </a:cubicBezTo>
                <a:cubicBezTo>
                  <a:pt x="328167" y="451146"/>
                  <a:pt x="302723" y="436910"/>
                  <a:pt x="278309" y="421098"/>
                </a:cubicBezTo>
                <a:cubicBezTo>
                  <a:pt x="253895" y="405286"/>
                  <a:pt x="230086" y="388324"/>
                  <a:pt x="206642" y="371058"/>
                </a:cubicBezTo>
                <a:cubicBezTo>
                  <a:pt x="183257" y="353793"/>
                  <a:pt x="157753" y="338102"/>
                  <a:pt x="137761" y="317444"/>
                </a:cubicBezTo>
                <a:cubicBezTo>
                  <a:pt x="117769" y="296786"/>
                  <a:pt x="101110" y="272129"/>
                  <a:pt x="86691" y="247110"/>
                </a:cubicBezTo>
                <a:cubicBezTo>
                  <a:pt x="72334" y="222029"/>
                  <a:pt x="62883" y="193920"/>
                  <a:pt x="51433" y="167203"/>
                </a:cubicBezTo>
                <a:cubicBezTo>
                  <a:pt x="39983" y="140427"/>
                  <a:pt x="24414" y="113226"/>
                  <a:pt x="17811" y="86510"/>
                </a:cubicBezTo>
                <a:cubicBezTo>
                  <a:pt x="11268" y="59793"/>
                  <a:pt x="0" y="13934"/>
                  <a:pt x="11934" y="6967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artery_smooth_muscle_cell_216"/>
          <p:cNvSpPr/>
          <p:nvPr/>
        </p:nvSpPr>
        <p:spPr>
          <a:xfrm>
            <a:off x="10553155" y="3641337"/>
            <a:ext cx="604900" cy="580426"/>
          </a:xfrm>
          <a:custGeom>
            <a:avLst/>
            <a:gdLst/>
            <a:ahLst/>
            <a:cxnLst/>
            <a:rect l="0" t="0" r="r" b="b"/>
            <a:pathLst>
              <a:path w="604900" h="580426">
                <a:moveTo>
                  <a:pt x="11934" y="6967"/>
                </a:moveTo>
                <a:cubicBezTo>
                  <a:pt x="23808" y="0"/>
                  <a:pt x="63973" y="30715"/>
                  <a:pt x="89236" y="44709"/>
                </a:cubicBezTo>
                <a:cubicBezTo>
                  <a:pt x="114498" y="58642"/>
                  <a:pt x="138730" y="75423"/>
                  <a:pt x="163508" y="90690"/>
                </a:cubicBezTo>
                <a:cubicBezTo>
                  <a:pt x="188285" y="106017"/>
                  <a:pt x="213124" y="121222"/>
                  <a:pt x="237962" y="136489"/>
                </a:cubicBezTo>
                <a:cubicBezTo>
                  <a:pt x="262739" y="151755"/>
                  <a:pt x="288002" y="166416"/>
                  <a:pt x="312355" y="182349"/>
                </a:cubicBezTo>
                <a:cubicBezTo>
                  <a:pt x="336709" y="198281"/>
                  <a:pt x="361305" y="214093"/>
                  <a:pt x="384083" y="232086"/>
                </a:cubicBezTo>
                <a:cubicBezTo>
                  <a:pt x="406922" y="250078"/>
                  <a:pt x="428852" y="269646"/>
                  <a:pt x="449268" y="290243"/>
                </a:cubicBezTo>
                <a:cubicBezTo>
                  <a:pt x="469684" y="310901"/>
                  <a:pt x="489373" y="332650"/>
                  <a:pt x="506699" y="355913"/>
                </a:cubicBezTo>
                <a:cubicBezTo>
                  <a:pt x="524025" y="379176"/>
                  <a:pt x="538807" y="404559"/>
                  <a:pt x="553104" y="429882"/>
                </a:cubicBezTo>
                <a:cubicBezTo>
                  <a:pt x="567401" y="455205"/>
                  <a:pt x="586181" y="483920"/>
                  <a:pt x="592421" y="507910"/>
                </a:cubicBezTo>
                <a:cubicBezTo>
                  <a:pt x="598721" y="531961"/>
                  <a:pt x="604900" y="567583"/>
                  <a:pt x="590846" y="574004"/>
                </a:cubicBezTo>
                <a:cubicBezTo>
                  <a:pt x="576730" y="580426"/>
                  <a:pt x="535111" y="556920"/>
                  <a:pt x="508032" y="546319"/>
                </a:cubicBezTo>
                <a:cubicBezTo>
                  <a:pt x="481012" y="535656"/>
                  <a:pt x="454417" y="523601"/>
                  <a:pt x="428610" y="510273"/>
                </a:cubicBezTo>
                <a:cubicBezTo>
                  <a:pt x="402803" y="496885"/>
                  <a:pt x="378267" y="480891"/>
                  <a:pt x="353247" y="465988"/>
                </a:cubicBezTo>
                <a:cubicBezTo>
                  <a:pt x="328167" y="451146"/>
                  <a:pt x="302723" y="436910"/>
                  <a:pt x="278309" y="421098"/>
                </a:cubicBezTo>
                <a:cubicBezTo>
                  <a:pt x="253895" y="405286"/>
                  <a:pt x="230086" y="388324"/>
                  <a:pt x="206642" y="371058"/>
                </a:cubicBezTo>
                <a:cubicBezTo>
                  <a:pt x="183257" y="353793"/>
                  <a:pt x="157753" y="338102"/>
                  <a:pt x="137761" y="317444"/>
                </a:cubicBezTo>
                <a:cubicBezTo>
                  <a:pt x="117769" y="296786"/>
                  <a:pt x="101110" y="272129"/>
                  <a:pt x="86691" y="247110"/>
                </a:cubicBezTo>
                <a:cubicBezTo>
                  <a:pt x="72334" y="222029"/>
                  <a:pt x="62883" y="193920"/>
                  <a:pt x="51433" y="167203"/>
                </a:cubicBezTo>
                <a:cubicBezTo>
                  <a:pt x="39983" y="140427"/>
                  <a:pt x="24414" y="113226"/>
                  <a:pt x="17811" y="86510"/>
                </a:cubicBezTo>
                <a:cubicBezTo>
                  <a:pt x="11268" y="59793"/>
                  <a:pt x="0" y="13934"/>
                  <a:pt x="11934" y="6967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artery_muscle_soft_light_217"/>
          <p:cNvSpPr/>
          <p:nvPr/>
        </p:nvSpPr>
        <p:spPr>
          <a:xfrm>
            <a:off x="10565416" y="3661394"/>
            <a:ext cx="568606" cy="528187"/>
          </a:xfrm>
          <a:custGeom>
            <a:avLst/>
            <a:gdLst/>
            <a:ahLst/>
            <a:cxnLst/>
            <a:rect l="0" t="0" r="r" b="b"/>
            <a:pathLst>
              <a:path w="568606" h="528187">
                <a:moveTo>
                  <a:pt x="11218" y="6340"/>
                </a:moveTo>
                <a:cubicBezTo>
                  <a:pt x="22380" y="0"/>
                  <a:pt x="60135" y="27950"/>
                  <a:pt x="83882" y="40685"/>
                </a:cubicBezTo>
                <a:cubicBezTo>
                  <a:pt x="107628" y="53365"/>
                  <a:pt x="130406" y="68635"/>
                  <a:pt x="153697" y="82528"/>
                </a:cubicBezTo>
                <a:cubicBezTo>
                  <a:pt x="176988" y="96475"/>
                  <a:pt x="200336" y="110312"/>
                  <a:pt x="223684" y="124205"/>
                </a:cubicBezTo>
                <a:cubicBezTo>
                  <a:pt x="246975" y="138097"/>
                  <a:pt x="270722" y="151438"/>
                  <a:pt x="293614" y="165937"/>
                </a:cubicBezTo>
                <a:cubicBezTo>
                  <a:pt x="316506" y="180436"/>
                  <a:pt x="339626" y="194825"/>
                  <a:pt x="361038" y="211198"/>
                </a:cubicBezTo>
                <a:cubicBezTo>
                  <a:pt x="382507" y="227571"/>
                  <a:pt x="403121" y="245378"/>
                  <a:pt x="422312" y="264121"/>
                </a:cubicBezTo>
                <a:cubicBezTo>
                  <a:pt x="441503" y="282920"/>
                  <a:pt x="460010" y="302711"/>
                  <a:pt x="476297" y="323881"/>
                </a:cubicBezTo>
                <a:cubicBezTo>
                  <a:pt x="492583" y="345050"/>
                  <a:pt x="506478" y="368149"/>
                  <a:pt x="519918" y="391193"/>
                </a:cubicBezTo>
                <a:cubicBezTo>
                  <a:pt x="533357" y="414237"/>
                  <a:pt x="551010" y="440368"/>
                  <a:pt x="556876" y="462198"/>
                </a:cubicBezTo>
                <a:cubicBezTo>
                  <a:pt x="562798" y="484085"/>
                  <a:pt x="568606" y="516500"/>
                  <a:pt x="555395" y="522344"/>
                </a:cubicBezTo>
                <a:cubicBezTo>
                  <a:pt x="542127" y="528187"/>
                  <a:pt x="503005" y="506798"/>
                  <a:pt x="477550" y="497150"/>
                </a:cubicBezTo>
                <a:cubicBezTo>
                  <a:pt x="452152" y="487447"/>
                  <a:pt x="427152" y="476477"/>
                  <a:pt x="402893" y="464349"/>
                </a:cubicBezTo>
                <a:cubicBezTo>
                  <a:pt x="378634" y="452165"/>
                  <a:pt x="355571" y="437611"/>
                  <a:pt x="332053" y="424049"/>
                </a:cubicBezTo>
                <a:cubicBezTo>
                  <a:pt x="308477" y="410543"/>
                  <a:pt x="284559" y="397588"/>
                  <a:pt x="261610" y="383199"/>
                </a:cubicBezTo>
                <a:cubicBezTo>
                  <a:pt x="238661" y="368811"/>
                  <a:pt x="216281" y="353375"/>
                  <a:pt x="194243" y="337663"/>
                </a:cubicBezTo>
                <a:cubicBezTo>
                  <a:pt x="172262" y="321951"/>
                  <a:pt x="148288" y="307673"/>
                  <a:pt x="129495" y="288874"/>
                </a:cubicBezTo>
                <a:cubicBezTo>
                  <a:pt x="110703" y="270075"/>
                  <a:pt x="95043" y="247638"/>
                  <a:pt x="81490" y="224870"/>
                </a:cubicBezTo>
                <a:cubicBezTo>
                  <a:pt x="67994" y="202046"/>
                  <a:pt x="59110" y="176467"/>
                  <a:pt x="48347" y="152155"/>
                </a:cubicBezTo>
                <a:cubicBezTo>
                  <a:pt x="37584" y="127788"/>
                  <a:pt x="22949" y="103035"/>
                  <a:pt x="16742" y="78724"/>
                </a:cubicBezTo>
                <a:cubicBezTo>
                  <a:pt x="10592" y="54412"/>
                  <a:pt x="0" y="12680"/>
                  <a:pt x="11218" y="6340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artery_muscle_nucleus_218"/>
          <p:cNvSpPr/>
          <p:nvPr/>
        </p:nvSpPr>
        <p:spPr>
          <a:xfrm>
            <a:off x="10764279" y="3872817"/>
            <a:ext cx="153149" cy="151695"/>
          </a:xfrm>
          <a:custGeom>
            <a:avLst/>
            <a:gdLst/>
            <a:ahLst/>
            <a:cxnLst/>
            <a:rect l="0" t="0" r="r" b="b"/>
            <a:pathLst>
              <a:path w="153149" h="151695">
                <a:moveTo>
                  <a:pt x="139760" y="136852"/>
                </a:moveTo>
                <a:cubicBezTo>
                  <a:pt x="132733" y="144122"/>
                  <a:pt x="121586" y="149271"/>
                  <a:pt x="110257" y="150483"/>
                </a:cubicBezTo>
                <a:cubicBezTo>
                  <a:pt x="98929" y="151695"/>
                  <a:pt x="84329" y="149271"/>
                  <a:pt x="71728" y="144122"/>
                </a:cubicBezTo>
                <a:cubicBezTo>
                  <a:pt x="59066" y="138912"/>
                  <a:pt x="45012" y="129583"/>
                  <a:pt x="34471" y="119405"/>
                </a:cubicBezTo>
                <a:cubicBezTo>
                  <a:pt x="23990" y="109227"/>
                  <a:pt x="14176" y="95536"/>
                  <a:pt x="8542" y="83056"/>
                </a:cubicBezTo>
                <a:cubicBezTo>
                  <a:pt x="2908" y="70637"/>
                  <a:pt x="0" y="56159"/>
                  <a:pt x="788" y="44769"/>
                </a:cubicBezTo>
                <a:cubicBezTo>
                  <a:pt x="1636" y="33441"/>
                  <a:pt x="6361" y="22112"/>
                  <a:pt x="13388" y="14842"/>
                </a:cubicBezTo>
                <a:cubicBezTo>
                  <a:pt x="20416" y="7573"/>
                  <a:pt x="31563" y="2423"/>
                  <a:pt x="42891" y="1212"/>
                </a:cubicBezTo>
                <a:cubicBezTo>
                  <a:pt x="54220" y="0"/>
                  <a:pt x="68820" y="2423"/>
                  <a:pt x="81421" y="7573"/>
                </a:cubicBezTo>
                <a:cubicBezTo>
                  <a:pt x="94082" y="12783"/>
                  <a:pt x="108137" y="22112"/>
                  <a:pt x="118678" y="32290"/>
                </a:cubicBezTo>
                <a:cubicBezTo>
                  <a:pt x="129159" y="42467"/>
                  <a:pt x="138973" y="56159"/>
                  <a:pt x="144607" y="68638"/>
                </a:cubicBezTo>
                <a:cubicBezTo>
                  <a:pt x="150241" y="81057"/>
                  <a:pt x="153149" y="95536"/>
                  <a:pt x="152361" y="106925"/>
                </a:cubicBezTo>
                <a:cubicBezTo>
                  <a:pt x="151513" y="118254"/>
                  <a:pt x="146788" y="129583"/>
                  <a:pt x="139760" y="136852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artery_nuclear_soft_light_219"/>
          <p:cNvSpPr/>
          <p:nvPr/>
        </p:nvSpPr>
        <p:spPr>
          <a:xfrm>
            <a:off x="10799089" y="3907731"/>
            <a:ext cx="59296" cy="57635"/>
          </a:xfrm>
          <a:custGeom>
            <a:avLst/>
            <a:gdLst/>
            <a:ahLst/>
            <a:cxnLst/>
            <a:rect l="0" t="0" r="r" b="b"/>
            <a:pathLst>
              <a:path w="59296" h="57635">
                <a:moveTo>
                  <a:pt x="2789" y="2889"/>
                </a:moveTo>
                <a:cubicBezTo>
                  <a:pt x="5577" y="0"/>
                  <a:pt x="19863" y="9267"/>
                  <a:pt x="34697" y="23587"/>
                </a:cubicBezTo>
                <a:cubicBezTo>
                  <a:pt x="49531" y="37907"/>
                  <a:pt x="59296" y="51858"/>
                  <a:pt x="56508" y="54747"/>
                </a:cubicBezTo>
                <a:cubicBezTo>
                  <a:pt x="53719" y="57635"/>
                  <a:pt x="39433" y="48368"/>
                  <a:pt x="24599" y="34048"/>
                </a:cubicBezTo>
                <a:cubicBezTo>
                  <a:pt x="9765" y="19728"/>
                  <a:pt x="0" y="5777"/>
                  <a:pt x="2789" y="2889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artery_intercellular_collagen_septum_220"/>
          <p:cNvSpPr/>
          <p:nvPr/>
        </p:nvSpPr>
        <p:spPr>
          <a:xfrm>
            <a:off x="10239164" y="3775039"/>
            <a:ext cx="673478" cy="631193"/>
          </a:xfrm>
          <a:custGeom>
            <a:avLst/>
            <a:gdLst/>
            <a:ahLst/>
            <a:cxnLst/>
            <a:rect l="0" t="0" r="r" b="b"/>
            <a:pathLst>
              <a:path w="673478" h="631193">
                <a:moveTo>
                  <a:pt x="13388" y="10117"/>
                </a:moveTo>
                <a:cubicBezTo>
                  <a:pt x="26716" y="0"/>
                  <a:pt x="74939" y="26171"/>
                  <a:pt x="104805" y="37257"/>
                </a:cubicBezTo>
                <a:cubicBezTo>
                  <a:pt x="134732" y="48404"/>
                  <a:pt x="164417" y="61974"/>
                  <a:pt x="192890" y="76817"/>
                </a:cubicBezTo>
                <a:cubicBezTo>
                  <a:pt x="221423" y="91659"/>
                  <a:pt x="248503" y="109227"/>
                  <a:pt x="275764" y="126311"/>
                </a:cubicBezTo>
                <a:cubicBezTo>
                  <a:pt x="303086" y="143395"/>
                  <a:pt x="330469" y="160479"/>
                  <a:pt x="356579" y="179259"/>
                </a:cubicBezTo>
                <a:cubicBezTo>
                  <a:pt x="382629" y="198100"/>
                  <a:pt x="408194" y="217910"/>
                  <a:pt x="432245" y="239234"/>
                </a:cubicBezTo>
                <a:cubicBezTo>
                  <a:pt x="456295" y="260559"/>
                  <a:pt x="479437" y="283216"/>
                  <a:pt x="500883" y="307145"/>
                </a:cubicBezTo>
                <a:cubicBezTo>
                  <a:pt x="522329" y="331075"/>
                  <a:pt x="541896" y="356882"/>
                  <a:pt x="560858" y="382811"/>
                </a:cubicBezTo>
                <a:cubicBezTo>
                  <a:pt x="579820" y="408800"/>
                  <a:pt x="597267" y="435940"/>
                  <a:pt x="614775" y="462959"/>
                </a:cubicBezTo>
                <a:cubicBezTo>
                  <a:pt x="632283" y="489918"/>
                  <a:pt x="658999" y="518270"/>
                  <a:pt x="665905" y="544865"/>
                </a:cubicBezTo>
                <a:cubicBezTo>
                  <a:pt x="672872" y="571460"/>
                  <a:pt x="673478" y="614109"/>
                  <a:pt x="656455" y="622651"/>
                </a:cubicBezTo>
                <a:cubicBezTo>
                  <a:pt x="639492" y="631193"/>
                  <a:pt x="594602" y="605688"/>
                  <a:pt x="563887" y="596177"/>
                </a:cubicBezTo>
                <a:cubicBezTo>
                  <a:pt x="533173" y="586666"/>
                  <a:pt x="502095" y="577457"/>
                  <a:pt x="472289" y="565523"/>
                </a:cubicBezTo>
                <a:cubicBezTo>
                  <a:pt x="442483" y="553649"/>
                  <a:pt x="413525" y="539352"/>
                  <a:pt x="384992" y="524691"/>
                </a:cubicBezTo>
                <a:cubicBezTo>
                  <a:pt x="356398" y="509970"/>
                  <a:pt x="328591" y="493553"/>
                  <a:pt x="300784" y="477317"/>
                </a:cubicBezTo>
                <a:cubicBezTo>
                  <a:pt x="273038" y="461081"/>
                  <a:pt x="243293" y="447087"/>
                  <a:pt x="218334" y="427217"/>
                </a:cubicBezTo>
                <a:cubicBezTo>
                  <a:pt x="193435" y="407346"/>
                  <a:pt x="170535" y="383417"/>
                  <a:pt x="151271" y="357973"/>
                </a:cubicBezTo>
                <a:cubicBezTo>
                  <a:pt x="132006" y="332529"/>
                  <a:pt x="117830" y="302905"/>
                  <a:pt x="102806" y="274492"/>
                </a:cubicBezTo>
                <a:cubicBezTo>
                  <a:pt x="87782" y="246080"/>
                  <a:pt x="74090" y="216819"/>
                  <a:pt x="61066" y="187377"/>
                </a:cubicBezTo>
                <a:cubicBezTo>
                  <a:pt x="48101" y="157995"/>
                  <a:pt x="32653" y="127462"/>
                  <a:pt x="24717" y="97959"/>
                </a:cubicBezTo>
                <a:cubicBezTo>
                  <a:pt x="16720" y="68396"/>
                  <a:pt x="0" y="20234"/>
                  <a:pt x="13388" y="10117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artery_smooth_muscle_cell_221"/>
          <p:cNvSpPr/>
          <p:nvPr/>
        </p:nvSpPr>
        <p:spPr>
          <a:xfrm>
            <a:off x="10239164" y="3775039"/>
            <a:ext cx="673478" cy="631193"/>
          </a:xfrm>
          <a:custGeom>
            <a:avLst/>
            <a:gdLst/>
            <a:ahLst/>
            <a:cxnLst/>
            <a:rect l="0" t="0" r="r" b="b"/>
            <a:pathLst>
              <a:path w="673478" h="631193">
                <a:moveTo>
                  <a:pt x="13388" y="10117"/>
                </a:moveTo>
                <a:cubicBezTo>
                  <a:pt x="26716" y="0"/>
                  <a:pt x="74939" y="26171"/>
                  <a:pt x="104805" y="37257"/>
                </a:cubicBezTo>
                <a:cubicBezTo>
                  <a:pt x="134732" y="48404"/>
                  <a:pt x="164417" y="61974"/>
                  <a:pt x="192890" y="76817"/>
                </a:cubicBezTo>
                <a:cubicBezTo>
                  <a:pt x="221423" y="91659"/>
                  <a:pt x="248503" y="109227"/>
                  <a:pt x="275764" y="126311"/>
                </a:cubicBezTo>
                <a:cubicBezTo>
                  <a:pt x="303086" y="143395"/>
                  <a:pt x="330469" y="160479"/>
                  <a:pt x="356579" y="179259"/>
                </a:cubicBezTo>
                <a:cubicBezTo>
                  <a:pt x="382629" y="198100"/>
                  <a:pt x="408194" y="217910"/>
                  <a:pt x="432245" y="239234"/>
                </a:cubicBezTo>
                <a:cubicBezTo>
                  <a:pt x="456295" y="260559"/>
                  <a:pt x="479437" y="283216"/>
                  <a:pt x="500883" y="307145"/>
                </a:cubicBezTo>
                <a:cubicBezTo>
                  <a:pt x="522329" y="331075"/>
                  <a:pt x="541896" y="356882"/>
                  <a:pt x="560858" y="382811"/>
                </a:cubicBezTo>
                <a:cubicBezTo>
                  <a:pt x="579820" y="408800"/>
                  <a:pt x="597267" y="435940"/>
                  <a:pt x="614775" y="462959"/>
                </a:cubicBezTo>
                <a:cubicBezTo>
                  <a:pt x="632283" y="489918"/>
                  <a:pt x="658999" y="518270"/>
                  <a:pt x="665905" y="544865"/>
                </a:cubicBezTo>
                <a:cubicBezTo>
                  <a:pt x="672872" y="571460"/>
                  <a:pt x="673478" y="614109"/>
                  <a:pt x="656455" y="622651"/>
                </a:cubicBezTo>
                <a:cubicBezTo>
                  <a:pt x="639492" y="631193"/>
                  <a:pt x="594602" y="605688"/>
                  <a:pt x="563887" y="596177"/>
                </a:cubicBezTo>
                <a:cubicBezTo>
                  <a:pt x="533173" y="586666"/>
                  <a:pt x="502095" y="577457"/>
                  <a:pt x="472289" y="565523"/>
                </a:cubicBezTo>
                <a:cubicBezTo>
                  <a:pt x="442483" y="553649"/>
                  <a:pt x="413525" y="539352"/>
                  <a:pt x="384992" y="524691"/>
                </a:cubicBezTo>
                <a:cubicBezTo>
                  <a:pt x="356398" y="509970"/>
                  <a:pt x="328591" y="493553"/>
                  <a:pt x="300784" y="477317"/>
                </a:cubicBezTo>
                <a:cubicBezTo>
                  <a:pt x="273038" y="461081"/>
                  <a:pt x="243293" y="447087"/>
                  <a:pt x="218334" y="427217"/>
                </a:cubicBezTo>
                <a:cubicBezTo>
                  <a:pt x="193435" y="407346"/>
                  <a:pt x="170535" y="383417"/>
                  <a:pt x="151271" y="357973"/>
                </a:cubicBezTo>
                <a:cubicBezTo>
                  <a:pt x="132006" y="332529"/>
                  <a:pt x="117830" y="302905"/>
                  <a:pt x="102806" y="274492"/>
                </a:cubicBezTo>
                <a:cubicBezTo>
                  <a:pt x="87782" y="246080"/>
                  <a:pt x="74090" y="216819"/>
                  <a:pt x="61066" y="187377"/>
                </a:cubicBezTo>
                <a:cubicBezTo>
                  <a:pt x="48101" y="157995"/>
                  <a:pt x="32653" y="127462"/>
                  <a:pt x="24717" y="97959"/>
                </a:cubicBezTo>
                <a:cubicBezTo>
                  <a:pt x="16720" y="68396"/>
                  <a:pt x="0" y="20234"/>
                  <a:pt x="13388" y="10117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artery_muscle_soft_light_222"/>
          <p:cNvSpPr/>
          <p:nvPr/>
        </p:nvSpPr>
        <p:spPr>
          <a:xfrm>
            <a:off x="10253359" y="3796503"/>
            <a:ext cx="633069" cy="574385"/>
          </a:xfrm>
          <a:custGeom>
            <a:avLst/>
            <a:gdLst/>
            <a:ahLst/>
            <a:cxnLst/>
            <a:rect l="0" t="0" r="r" b="b"/>
            <a:pathLst>
              <a:path w="633069" h="574385">
                <a:moveTo>
                  <a:pt x="12585" y="9206"/>
                </a:moveTo>
                <a:cubicBezTo>
                  <a:pt x="25113" y="0"/>
                  <a:pt x="70442" y="23816"/>
                  <a:pt x="98517" y="33904"/>
                </a:cubicBezTo>
                <a:cubicBezTo>
                  <a:pt x="126648" y="44048"/>
                  <a:pt x="154552" y="56397"/>
                  <a:pt x="181316" y="69903"/>
                </a:cubicBezTo>
                <a:cubicBezTo>
                  <a:pt x="208138" y="83410"/>
                  <a:pt x="233593" y="99397"/>
                  <a:pt x="259218" y="114943"/>
                </a:cubicBezTo>
                <a:cubicBezTo>
                  <a:pt x="284901" y="130489"/>
                  <a:pt x="310641" y="146036"/>
                  <a:pt x="335185" y="163126"/>
                </a:cubicBezTo>
                <a:cubicBezTo>
                  <a:pt x="359671" y="180271"/>
                  <a:pt x="383703" y="198298"/>
                  <a:pt x="406310" y="217703"/>
                </a:cubicBezTo>
                <a:cubicBezTo>
                  <a:pt x="428918" y="237108"/>
                  <a:pt x="450671" y="257726"/>
                  <a:pt x="470830" y="279502"/>
                </a:cubicBezTo>
                <a:cubicBezTo>
                  <a:pt x="490989" y="301278"/>
                  <a:pt x="509383" y="324763"/>
                  <a:pt x="527207" y="348358"/>
                </a:cubicBezTo>
                <a:cubicBezTo>
                  <a:pt x="545031" y="372008"/>
                  <a:pt x="561431" y="396706"/>
                  <a:pt x="577889" y="421293"/>
                </a:cubicBezTo>
                <a:cubicBezTo>
                  <a:pt x="594346" y="445825"/>
                  <a:pt x="619459" y="471625"/>
                  <a:pt x="625951" y="495827"/>
                </a:cubicBezTo>
                <a:cubicBezTo>
                  <a:pt x="632500" y="520028"/>
                  <a:pt x="633069" y="558839"/>
                  <a:pt x="617068" y="566612"/>
                </a:cubicBezTo>
                <a:cubicBezTo>
                  <a:pt x="601123" y="574385"/>
                  <a:pt x="558926" y="551176"/>
                  <a:pt x="530054" y="542521"/>
                </a:cubicBezTo>
                <a:cubicBezTo>
                  <a:pt x="501182" y="533866"/>
                  <a:pt x="471969" y="525486"/>
                  <a:pt x="443952" y="514626"/>
                </a:cubicBezTo>
                <a:cubicBezTo>
                  <a:pt x="415934" y="503821"/>
                  <a:pt x="388714" y="490810"/>
                  <a:pt x="361892" y="477469"/>
                </a:cubicBezTo>
                <a:cubicBezTo>
                  <a:pt x="335014" y="464073"/>
                  <a:pt x="308875" y="449133"/>
                  <a:pt x="282737" y="434359"/>
                </a:cubicBezTo>
                <a:cubicBezTo>
                  <a:pt x="256656" y="419584"/>
                  <a:pt x="228695" y="406849"/>
                  <a:pt x="205234" y="388767"/>
                </a:cubicBezTo>
                <a:cubicBezTo>
                  <a:pt x="181829" y="370685"/>
                  <a:pt x="160303" y="348909"/>
                  <a:pt x="142194" y="325755"/>
                </a:cubicBezTo>
                <a:cubicBezTo>
                  <a:pt x="124085" y="302601"/>
                  <a:pt x="110760" y="275643"/>
                  <a:pt x="96637" y="249788"/>
                </a:cubicBezTo>
                <a:cubicBezTo>
                  <a:pt x="82515" y="223933"/>
                  <a:pt x="69645" y="197305"/>
                  <a:pt x="57402" y="170513"/>
                </a:cubicBezTo>
                <a:cubicBezTo>
                  <a:pt x="45215" y="143775"/>
                  <a:pt x="30694" y="115991"/>
                  <a:pt x="23234" y="89143"/>
                </a:cubicBezTo>
                <a:cubicBezTo>
                  <a:pt x="15717" y="62240"/>
                  <a:pt x="0" y="18413"/>
                  <a:pt x="12585" y="9206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artery_muscle_nucleus_223"/>
          <p:cNvSpPr/>
          <p:nvPr/>
        </p:nvSpPr>
        <p:spPr>
          <a:xfrm>
            <a:off x="10493240" y="4051712"/>
            <a:ext cx="151271" cy="138730"/>
          </a:xfrm>
          <a:custGeom>
            <a:avLst/>
            <a:gdLst/>
            <a:ahLst/>
            <a:cxnLst/>
            <a:rect l="0" t="0" r="r" b="b"/>
            <a:pathLst>
              <a:path w="151271" h="138730">
                <a:moveTo>
                  <a:pt x="16902" y="5452"/>
                </a:moveTo>
                <a:cubicBezTo>
                  <a:pt x="25747" y="0"/>
                  <a:pt x="41801" y="1999"/>
                  <a:pt x="53735" y="3756"/>
                </a:cubicBezTo>
                <a:cubicBezTo>
                  <a:pt x="65609" y="5513"/>
                  <a:pt x="77483" y="10541"/>
                  <a:pt x="88327" y="16054"/>
                </a:cubicBezTo>
                <a:cubicBezTo>
                  <a:pt x="99232" y="21627"/>
                  <a:pt x="110318" y="28412"/>
                  <a:pt x="118981" y="36894"/>
                </a:cubicBezTo>
                <a:cubicBezTo>
                  <a:pt x="127644" y="45436"/>
                  <a:pt x="135035" y="56219"/>
                  <a:pt x="140245" y="67124"/>
                </a:cubicBezTo>
                <a:cubicBezTo>
                  <a:pt x="145515" y="78028"/>
                  <a:pt x="151271" y="91235"/>
                  <a:pt x="150362" y="102261"/>
                </a:cubicBezTo>
                <a:cubicBezTo>
                  <a:pt x="149514" y="113286"/>
                  <a:pt x="143516" y="127583"/>
                  <a:pt x="134793" y="133157"/>
                </a:cubicBezTo>
                <a:cubicBezTo>
                  <a:pt x="126129" y="138730"/>
                  <a:pt x="110015" y="137337"/>
                  <a:pt x="98141" y="135641"/>
                </a:cubicBezTo>
                <a:cubicBezTo>
                  <a:pt x="86267" y="133944"/>
                  <a:pt x="74272" y="128674"/>
                  <a:pt x="63610" y="122979"/>
                </a:cubicBezTo>
                <a:cubicBezTo>
                  <a:pt x="52887" y="117224"/>
                  <a:pt x="42467" y="109773"/>
                  <a:pt x="33925" y="101170"/>
                </a:cubicBezTo>
                <a:cubicBezTo>
                  <a:pt x="25383" y="92568"/>
                  <a:pt x="17871" y="82148"/>
                  <a:pt x="12359" y="71364"/>
                </a:cubicBezTo>
                <a:cubicBezTo>
                  <a:pt x="6846" y="60520"/>
                  <a:pt x="0" y="47253"/>
                  <a:pt x="788" y="36288"/>
                </a:cubicBezTo>
                <a:cubicBezTo>
                  <a:pt x="1575" y="25323"/>
                  <a:pt x="8057" y="10905"/>
                  <a:pt x="16902" y="5452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artery_nuclear_soft_light_224"/>
          <p:cNvSpPr/>
          <p:nvPr/>
        </p:nvSpPr>
        <p:spPr>
          <a:xfrm>
            <a:off x="10527936" y="4084077"/>
            <a:ext cx="58434" cy="49769"/>
          </a:xfrm>
          <a:custGeom>
            <a:avLst/>
            <a:gdLst/>
            <a:ahLst/>
            <a:cxnLst/>
            <a:rect l="0" t="0" r="r" b="b"/>
            <a:pathLst>
              <a:path w="58434" h="49769">
                <a:moveTo>
                  <a:pt x="2287" y="2787"/>
                </a:moveTo>
                <a:cubicBezTo>
                  <a:pt x="4574" y="0"/>
                  <a:pt x="18485" y="7634"/>
                  <a:pt x="33358" y="19838"/>
                </a:cubicBezTo>
                <a:cubicBezTo>
                  <a:pt x="48231" y="32041"/>
                  <a:pt x="58434" y="44194"/>
                  <a:pt x="56147" y="46981"/>
                </a:cubicBezTo>
                <a:cubicBezTo>
                  <a:pt x="53860" y="49769"/>
                  <a:pt x="39949" y="42135"/>
                  <a:pt x="25076" y="29931"/>
                </a:cubicBezTo>
                <a:cubicBezTo>
                  <a:pt x="10203" y="17727"/>
                  <a:pt x="0" y="5574"/>
                  <a:pt x="2287" y="2787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artery_intercellular_collagen_septum_225"/>
          <p:cNvSpPr/>
          <p:nvPr/>
        </p:nvSpPr>
        <p:spPr>
          <a:xfrm>
            <a:off x="9801467" y="3811388"/>
            <a:ext cx="590967" cy="545834"/>
          </a:xfrm>
          <a:custGeom>
            <a:avLst/>
            <a:gdLst/>
            <a:ahLst/>
            <a:cxnLst/>
            <a:rect l="0" t="0" r="r" b="b"/>
            <a:pathLst>
              <a:path w="590967" h="545834">
                <a:moveTo>
                  <a:pt x="17387" y="6361"/>
                </a:moveTo>
                <a:cubicBezTo>
                  <a:pt x="32290" y="0"/>
                  <a:pt x="68517" y="28776"/>
                  <a:pt x="93355" y="41983"/>
                </a:cubicBezTo>
                <a:cubicBezTo>
                  <a:pt x="118193" y="55129"/>
                  <a:pt x="142062" y="70940"/>
                  <a:pt x="166416" y="85419"/>
                </a:cubicBezTo>
                <a:cubicBezTo>
                  <a:pt x="190769" y="99898"/>
                  <a:pt x="215123" y="114316"/>
                  <a:pt x="239416" y="128856"/>
                </a:cubicBezTo>
                <a:cubicBezTo>
                  <a:pt x="263769" y="143395"/>
                  <a:pt x="288668" y="157086"/>
                  <a:pt x="312295" y="172656"/>
                </a:cubicBezTo>
                <a:cubicBezTo>
                  <a:pt x="335921" y="188225"/>
                  <a:pt x="359608" y="203976"/>
                  <a:pt x="381236" y="222211"/>
                </a:cubicBezTo>
                <a:cubicBezTo>
                  <a:pt x="402803" y="240385"/>
                  <a:pt x="422431" y="261164"/>
                  <a:pt x="441756" y="281822"/>
                </a:cubicBezTo>
                <a:cubicBezTo>
                  <a:pt x="461081" y="302481"/>
                  <a:pt x="479922" y="323744"/>
                  <a:pt x="497066" y="346159"/>
                </a:cubicBezTo>
                <a:cubicBezTo>
                  <a:pt x="514271" y="368635"/>
                  <a:pt x="529780" y="392443"/>
                  <a:pt x="544804" y="416433"/>
                </a:cubicBezTo>
                <a:cubicBezTo>
                  <a:pt x="559828" y="440423"/>
                  <a:pt x="583394" y="469260"/>
                  <a:pt x="587150" y="490039"/>
                </a:cubicBezTo>
                <a:cubicBezTo>
                  <a:pt x="590967" y="510879"/>
                  <a:pt x="584303" y="537110"/>
                  <a:pt x="567461" y="541472"/>
                </a:cubicBezTo>
                <a:cubicBezTo>
                  <a:pt x="550681" y="545834"/>
                  <a:pt x="513302" y="524934"/>
                  <a:pt x="486344" y="516271"/>
                </a:cubicBezTo>
                <a:cubicBezTo>
                  <a:pt x="459385" y="507668"/>
                  <a:pt x="432124" y="499732"/>
                  <a:pt x="405589" y="489736"/>
                </a:cubicBezTo>
                <a:cubicBezTo>
                  <a:pt x="379115" y="479801"/>
                  <a:pt x="352702" y="469139"/>
                  <a:pt x="327379" y="456538"/>
                </a:cubicBezTo>
                <a:cubicBezTo>
                  <a:pt x="302117" y="443998"/>
                  <a:pt x="277037" y="430488"/>
                  <a:pt x="253955" y="414373"/>
                </a:cubicBezTo>
                <a:cubicBezTo>
                  <a:pt x="230874" y="398259"/>
                  <a:pt x="210276" y="378267"/>
                  <a:pt x="188770" y="359851"/>
                </a:cubicBezTo>
                <a:cubicBezTo>
                  <a:pt x="167324" y="341373"/>
                  <a:pt x="143334" y="324835"/>
                  <a:pt x="125100" y="303571"/>
                </a:cubicBezTo>
                <a:cubicBezTo>
                  <a:pt x="106925" y="282307"/>
                  <a:pt x="93598" y="256803"/>
                  <a:pt x="79724" y="232207"/>
                </a:cubicBezTo>
                <a:cubicBezTo>
                  <a:pt x="65791" y="207671"/>
                  <a:pt x="54341" y="181622"/>
                  <a:pt x="41680" y="156238"/>
                </a:cubicBezTo>
                <a:cubicBezTo>
                  <a:pt x="29079" y="130855"/>
                  <a:pt x="8118" y="105047"/>
                  <a:pt x="4059" y="80027"/>
                </a:cubicBezTo>
                <a:cubicBezTo>
                  <a:pt x="0" y="55068"/>
                  <a:pt x="2484" y="12722"/>
                  <a:pt x="17387" y="6361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artery_smooth_muscle_cell_226"/>
          <p:cNvSpPr/>
          <p:nvPr/>
        </p:nvSpPr>
        <p:spPr>
          <a:xfrm>
            <a:off x="9801467" y="3811388"/>
            <a:ext cx="590967" cy="545834"/>
          </a:xfrm>
          <a:custGeom>
            <a:avLst/>
            <a:gdLst/>
            <a:ahLst/>
            <a:cxnLst/>
            <a:rect l="0" t="0" r="r" b="b"/>
            <a:pathLst>
              <a:path w="590967" h="545834">
                <a:moveTo>
                  <a:pt x="17387" y="6361"/>
                </a:moveTo>
                <a:cubicBezTo>
                  <a:pt x="32290" y="0"/>
                  <a:pt x="68517" y="28776"/>
                  <a:pt x="93355" y="41983"/>
                </a:cubicBezTo>
                <a:cubicBezTo>
                  <a:pt x="118193" y="55129"/>
                  <a:pt x="142062" y="70940"/>
                  <a:pt x="166416" y="85419"/>
                </a:cubicBezTo>
                <a:cubicBezTo>
                  <a:pt x="190769" y="99898"/>
                  <a:pt x="215123" y="114316"/>
                  <a:pt x="239416" y="128856"/>
                </a:cubicBezTo>
                <a:cubicBezTo>
                  <a:pt x="263769" y="143395"/>
                  <a:pt x="288668" y="157086"/>
                  <a:pt x="312295" y="172656"/>
                </a:cubicBezTo>
                <a:cubicBezTo>
                  <a:pt x="335921" y="188225"/>
                  <a:pt x="359608" y="203976"/>
                  <a:pt x="381236" y="222211"/>
                </a:cubicBezTo>
                <a:cubicBezTo>
                  <a:pt x="402803" y="240385"/>
                  <a:pt x="422431" y="261164"/>
                  <a:pt x="441756" y="281822"/>
                </a:cubicBezTo>
                <a:cubicBezTo>
                  <a:pt x="461081" y="302481"/>
                  <a:pt x="479922" y="323744"/>
                  <a:pt x="497066" y="346159"/>
                </a:cubicBezTo>
                <a:cubicBezTo>
                  <a:pt x="514271" y="368635"/>
                  <a:pt x="529780" y="392443"/>
                  <a:pt x="544804" y="416433"/>
                </a:cubicBezTo>
                <a:cubicBezTo>
                  <a:pt x="559828" y="440423"/>
                  <a:pt x="583394" y="469260"/>
                  <a:pt x="587150" y="490039"/>
                </a:cubicBezTo>
                <a:cubicBezTo>
                  <a:pt x="590967" y="510879"/>
                  <a:pt x="584303" y="537110"/>
                  <a:pt x="567461" y="541472"/>
                </a:cubicBezTo>
                <a:cubicBezTo>
                  <a:pt x="550681" y="545834"/>
                  <a:pt x="513302" y="524934"/>
                  <a:pt x="486344" y="516271"/>
                </a:cubicBezTo>
                <a:cubicBezTo>
                  <a:pt x="459385" y="507668"/>
                  <a:pt x="432124" y="499732"/>
                  <a:pt x="405589" y="489736"/>
                </a:cubicBezTo>
                <a:cubicBezTo>
                  <a:pt x="379115" y="479801"/>
                  <a:pt x="352702" y="469139"/>
                  <a:pt x="327379" y="456538"/>
                </a:cubicBezTo>
                <a:cubicBezTo>
                  <a:pt x="302117" y="443998"/>
                  <a:pt x="277037" y="430488"/>
                  <a:pt x="253955" y="414373"/>
                </a:cubicBezTo>
                <a:cubicBezTo>
                  <a:pt x="230874" y="398259"/>
                  <a:pt x="210276" y="378267"/>
                  <a:pt x="188770" y="359851"/>
                </a:cubicBezTo>
                <a:cubicBezTo>
                  <a:pt x="167324" y="341373"/>
                  <a:pt x="143334" y="324835"/>
                  <a:pt x="125100" y="303571"/>
                </a:cubicBezTo>
                <a:cubicBezTo>
                  <a:pt x="106925" y="282307"/>
                  <a:pt x="93598" y="256803"/>
                  <a:pt x="79724" y="232207"/>
                </a:cubicBezTo>
                <a:cubicBezTo>
                  <a:pt x="65791" y="207671"/>
                  <a:pt x="54341" y="181622"/>
                  <a:pt x="41680" y="156238"/>
                </a:cubicBezTo>
                <a:cubicBezTo>
                  <a:pt x="29079" y="130855"/>
                  <a:pt x="8118" y="105047"/>
                  <a:pt x="4059" y="80027"/>
                </a:cubicBezTo>
                <a:cubicBezTo>
                  <a:pt x="0" y="55068"/>
                  <a:pt x="2484" y="12722"/>
                  <a:pt x="17387" y="6361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artery_muscle_soft_light_227"/>
          <p:cNvSpPr/>
          <p:nvPr/>
        </p:nvSpPr>
        <p:spPr>
          <a:xfrm>
            <a:off x="9813118" y="3829842"/>
            <a:ext cx="555509" cy="496709"/>
          </a:xfrm>
          <a:custGeom>
            <a:avLst/>
            <a:gdLst/>
            <a:ahLst/>
            <a:cxnLst/>
            <a:rect l="0" t="0" r="r" b="b"/>
            <a:pathLst>
              <a:path w="555509" h="496709">
                <a:moveTo>
                  <a:pt x="16344" y="5789"/>
                </a:moveTo>
                <a:cubicBezTo>
                  <a:pt x="30352" y="0"/>
                  <a:pt x="64406" y="26186"/>
                  <a:pt x="87754" y="38204"/>
                </a:cubicBezTo>
                <a:cubicBezTo>
                  <a:pt x="111102" y="50167"/>
                  <a:pt x="133539" y="64556"/>
                  <a:pt x="156431" y="77731"/>
                </a:cubicBezTo>
                <a:cubicBezTo>
                  <a:pt x="179323" y="90907"/>
                  <a:pt x="202215" y="104028"/>
                  <a:pt x="225051" y="117259"/>
                </a:cubicBezTo>
                <a:cubicBezTo>
                  <a:pt x="247943" y="130489"/>
                  <a:pt x="271348" y="142949"/>
                  <a:pt x="293557" y="157117"/>
                </a:cubicBezTo>
                <a:cubicBezTo>
                  <a:pt x="315766" y="171285"/>
                  <a:pt x="338032" y="185618"/>
                  <a:pt x="358362" y="202212"/>
                </a:cubicBezTo>
                <a:cubicBezTo>
                  <a:pt x="378634" y="218750"/>
                  <a:pt x="397085" y="237660"/>
                  <a:pt x="415251" y="256458"/>
                </a:cubicBezTo>
                <a:cubicBezTo>
                  <a:pt x="433416" y="275257"/>
                  <a:pt x="451127" y="294607"/>
                  <a:pt x="467242" y="315005"/>
                </a:cubicBezTo>
                <a:cubicBezTo>
                  <a:pt x="483415" y="335458"/>
                  <a:pt x="497993" y="357123"/>
                  <a:pt x="512116" y="378954"/>
                </a:cubicBezTo>
                <a:cubicBezTo>
                  <a:pt x="526239" y="400785"/>
                  <a:pt x="548391" y="427026"/>
                  <a:pt x="551921" y="445936"/>
                </a:cubicBezTo>
                <a:cubicBezTo>
                  <a:pt x="555509" y="464900"/>
                  <a:pt x="549245" y="488770"/>
                  <a:pt x="533414" y="492740"/>
                </a:cubicBezTo>
                <a:cubicBezTo>
                  <a:pt x="517640" y="496709"/>
                  <a:pt x="482504" y="477690"/>
                  <a:pt x="457163" y="469806"/>
                </a:cubicBezTo>
                <a:cubicBezTo>
                  <a:pt x="431822" y="461978"/>
                  <a:pt x="406196" y="454756"/>
                  <a:pt x="381254" y="445660"/>
                </a:cubicBezTo>
                <a:cubicBezTo>
                  <a:pt x="356368" y="436619"/>
                  <a:pt x="331540" y="426916"/>
                  <a:pt x="307737" y="415449"/>
                </a:cubicBezTo>
                <a:cubicBezTo>
                  <a:pt x="283990" y="404038"/>
                  <a:pt x="260414" y="391744"/>
                  <a:pt x="238718" y="377080"/>
                </a:cubicBezTo>
                <a:cubicBezTo>
                  <a:pt x="217021" y="362416"/>
                  <a:pt x="197660" y="344223"/>
                  <a:pt x="177444" y="327464"/>
                </a:cubicBezTo>
                <a:cubicBezTo>
                  <a:pt x="157285" y="310650"/>
                  <a:pt x="134734" y="295600"/>
                  <a:pt x="117594" y="276250"/>
                </a:cubicBezTo>
                <a:cubicBezTo>
                  <a:pt x="100510" y="256899"/>
                  <a:pt x="87982" y="233690"/>
                  <a:pt x="74941" y="211308"/>
                </a:cubicBezTo>
                <a:cubicBezTo>
                  <a:pt x="61843" y="188981"/>
                  <a:pt x="51081" y="165276"/>
                  <a:pt x="39179" y="142177"/>
                </a:cubicBezTo>
                <a:cubicBezTo>
                  <a:pt x="27334" y="119078"/>
                  <a:pt x="7631" y="95593"/>
                  <a:pt x="3815" y="72825"/>
                </a:cubicBezTo>
                <a:cubicBezTo>
                  <a:pt x="0" y="50112"/>
                  <a:pt x="2335" y="11577"/>
                  <a:pt x="16344" y="5789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artery_muscle_nucleus_228"/>
          <p:cNvSpPr/>
          <p:nvPr/>
        </p:nvSpPr>
        <p:spPr>
          <a:xfrm>
            <a:off x="9977212" y="4012093"/>
            <a:ext cx="152543" cy="135580"/>
          </a:xfrm>
          <a:custGeom>
            <a:avLst/>
            <a:gdLst/>
            <a:ahLst/>
            <a:cxnLst/>
            <a:rect l="0" t="0" r="r" b="b"/>
            <a:pathLst>
              <a:path w="152543" h="135580">
                <a:moveTo>
                  <a:pt x="29321" y="2666"/>
                </a:moveTo>
                <a:cubicBezTo>
                  <a:pt x="39499" y="0"/>
                  <a:pt x="53251" y="5089"/>
                  <a:pt x="64337" y="8905"/>
                </a:cubicBezTo>
                <a:cubicBezTo>
                  <a:pt x="75423" y="12722"/>
                  <a:pt x="85964" y="19022"/>
                  <a:pt x="95900" y="25565"/>
                </a:cubicBezTo>
                <a:cubicBezTo>
                  <a:pt x="105774" y="32047"/>
                  <a:pt x="115770" y="39256"/>
                  <a:pt x="123767" y="47859"/>
                </a:cubicBezTo>
                <a:cubicBezTo>
                  <a:pt x="131763" y="56461"/>
                  <a:pt x="139700" y="66336"/>
                  <a:pt x="143940" y="76998"/>
                </a:cubicBezTo>
                <a:cubicBezTo>
                  <a:pt x="148181" y="87661"/>
                  <a:pt x="152543" y="102442"/>
                  <a:pt x="149211" y="111772"/>
                </a:cubicBezTo>
                <a:cubicBezTo>
                  <a:pt x="145879" y="121101"/>
                  <a:pt x="133944" y="130310"/>
                  <a:pt x="123888" y="132915"/>
                </a:cubicBezTo>
                <a:cubicBezTo>
                  <a:pt x="113832" y="135580"/>
                  <a:pt x="99898" y="131218"/>
                  <a:pt x="88812" y="127523"/>
                </a:cubicBezTo>
                <a:cubicBezTo>
                  <a:pt x="77725" y="123827"/>
                  <a:pt x="67124" y="117466"/>
                  <a:pt x="57310" y="110803"/>
                </a:cubicBezTo>
                <a:cubicBezTo>
                  <a:pt x="47556" y="104139"/>
                  <a:pt x="38287" y="96203"/>
                  <a:pt x="30290" y="87539"/>
                </a:cubicBezTo>
                <a:cubicBezTo>
                  <a:pt x="22233" y="78876"/>
                  <a:pt x="13631" y="69123"/>
                  <a:pt x="9148" y="58703"/>
                </a:cubicBezTo>
                <a:cubicBezTo>
                  <a:pt x="4665" y="48283"/>
                  <a:pt x="0" y="34168"/>
                  <a:pt x="3393" y="24838"/>
                </a:cubicBezTo>
                <a:cubicBezTo>
                  <a:pt x="6724" y="15509"/>
                  <a:pt x="19204" y="5331"/>
                  <a:pt x="29321" y="2666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artery_nuclear_soft_light_229"/>
          <p:cNvSpPr/>
          <p:nvPr/>
        </p:nvSpPr>
        <p:spPr>
          <a:xfrm>
            <a:off x="10012830" y="4044333"/>
            <a:ext cx="57802" cy="47352"/>
          </a:xfrm>
          <a:custGeom>
            <a:avLst/>
            <a:gdLst/>
            <a:ahLst/>
            <a:cxnLst/>
            <a:rect l="0" t="0" r="r" b="b"/>
            <a:pathLst>
              <a:path w="57802" h="47352">
                <a:moveTo>
                  <a:pt x="2025" y="2580"/>
                </a:moveTo>
                <a:cubicBezTo>
                  <a:pt x="4051" y="0"/>
                  <a:pt x="17725" y="7353"/>
                  <a:pt x="32568" y="19004"/>
                </a:cubicBezTo>
                <a:cubicBezTo>
                  <a:pt x="47411" y="30655"/>
                  <a:pt x="57802" y="42192"/>
                  <a:pt x="55776" y="44772"/>
                </a:cubicBezTo>
                <a:cubicBezTo>
                  <a:pt x="53751" y="47352"/>
                  <a:pt x="40077" y="39999"/>
                  <a:pt x="25234" y="28348"/>
                </a:cubicBezTo>
                <a:cubicBezTo>
                  <a:pt x="10391" y="16697"/>
                  <a:pt x="0" y="5161"/>
                  <a:pt x="2025" y="2580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artery_intercellular_collagen_septum_230"/>
          <p:cNvSpPr/>
          <p:nvPr/>
        </p:nvSpPr>
        <p:spPr>
          <a:xfrm>
            <a:off x="11123100" y="3997674"/>
            <a:ext cx="685413" cy="582486"/>
          </a:xfrm>
          <a:custGeom>
            <a:avLst/>
            <a:gdLst/>
            <a:ahLst/>
            <a:cxnLst/>
            <a:rect l="0" t="0" r="r" b="b"/>
            <a:pathLst>
              <a:path w="685413" h="582486">
                <a:moveTo>
                  <a:pt x="11571" y="7936"/>
                </a:moveTo>
                <a:cubicBezTo>
                  <a:pt x="23142" y="0"/>
                  <a:pt x="68456" y="29442"/>
                  <a:pt x="96505" y="41922"/>
                </a:cubicBezTo>
                <a:cubicBezTo>
                  <a:pt x="124494" y="54341"/>
                  <a:pt x="151816" y="69183"/>
                  <a:pt x="179622" y="82572"/>
                </a:cubicBezTo>
                <a:cubicBezTo>
                  <a:pt x="207368" y="95960"/>
                  <a:pt x="235478" y="108743"/>
                  <a:pt x="263164" y="122252"/>
                </a:cubicBezTo>
                <a:cubicBezTo>
                  <a:pt x="290910" y="135762"/>
                  <a:pt x="318595" y="149332"/>
                  <a:pt x="345917" y="163629"/>
                </a:cubicBezTo>
                <a:cubicBezTo>
                  <a:pt x="373300" y="177866"/>
                  <a:pt x="401227" y="191315"/>
                  <a:pt x="427217" y="207793"/>
                </a:cubicBezTo>
                <a:cubicBezTo>
                  <a:pt x="453145" y="224271"/>
                  <a:pt x="478408" y="242505"/>
                  <a:pt x="501671" y="262558"/>
                </a:cubicBezTo>
                <a:cubicBezTo>
                  <a:pt x="524934" y="282610"/>
                  <a:pt x="547288" y="304359"/>
                  <a:pt x="566735" y="328046"/>
                </a:cubicBezTo>
                <a:cubicBezTo>
                  <a:pt x="586242" y="351733"/>
                  <a:pt x="603204" y="378086"/>
                  <a:pt x="618652" y="404681"/>
                </a:cubicBezTo>
                <a:cubicBezTo>
                  <a:pt x="634100" y="431276"/>
                  <a:pt x="650397" y="459567"/>
                  <a:pt x="659484" y="487555"/>
                </a:cubicBezTo>
                <a:cubicBezTo>
                  <a:pt x="668571" y="515544"/>
                  <a:pt x="685413" y="562615"/>
                  <a:pt x="673115" y="572550"/>
                </a:cubicBezTo>
                <a:cubicBezTo>
                  <a:pt x="660756" y="582486"/>
                  <a:pt x="614533" y="557042"/>
                  <a:pt x="585515" y="547227"/>
                </a:cubicBezTo>
                <a:cubicBezTo>
                  <a:pt x="556557" y="537474"/>
                  <a:pt x="527599" y="525842"/>
                  <a:pt x="499247" y="513787"/>
                </a:cubicBezTo>
                <a:cubicBezTo>
                  <a:pt x="470895" y="501731"/>
                  <a:pt x="442241" y="489918"/>
                  <a:pt x="415403" y="475015"/>
                </a:cubicBezTo>
                <a:cubicBezTo>
                  <a:pt x="388505" y="460052"/>
                  <a:pt x="363607" y="441453"/>
                  <a:pt x="338102" y="424127"/>
                </a:cubicBezTo>
                <a:cubicBezTo>
                  <a:pt x="312598" y="406801"/>
                  <a:pt x="286669" y="389959"/>
                  <a:pt x="262437" y="370937"/>
                </a:cubicBezTo>
                <a:cubicBezTo>
                  <a:pt x="238204" y="351915"/>
                  <a:pt x="215365" y="331014"/>
                  <a:pt x="192768" y="310053"/>
                </a:cubicBezTo>
                <a:cubicBezTo>
                  <a:pt x="170111" y="289153"/>
                  <a:pt x="146303" y="269040"/>
                  <a:pt x="126796" y="245353"/>
                </a:cubicBezTo>
                <a:cubicBezTo>
                  <a:pt x="107289" y="221726"/>
                  <a:pt x="92386" y="194222"/>
                  <a:pt x="75787" y="168233"/>
                </a:cubicBezTo>
                <a:cubicBezTo>
                  <a:pt x="59127" y="142305"/>
                  <a:pt x="37681" y="116315"/>
                  <a:pt x="27019" y="89599"/>
                </a:cubicBezTo>
                <a:cubicBezTo>
                  <a:pt x="16296" y="62883"/>
                  <a:pt x="0" y="15872"/>
                  <a:pt x="11571" y="7936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artery_smooth_muscle_cell_231"/>
          <p:cNvSpPr/>
          <p:nvPr/>
        </p:nvSpPr>
        <p:spPr>
          <a:xfrm>
            <a:off x="11123100" y="3997674"/>
            <a:ext cx="685413" cy="582486"/>
          </a:xfrm>
          <a:custGeom>
            <a:avLst/>
            <a:gdLst/>
            <a:ahLst/>
            <a:cxnLst/>
            <a:rect l="0" t="0" r="r" b="b"/>
            <a:pathLst>
              <a:path w="685413" h="582486">
                <a:moveTo>
                  <a:pt x="11571" y="7936"/>
                </a:moveTo>
                <a:cubicBezTo>
                  <a:pt x="23142" y="0"/>
                  <a:pt x="68456" y="29442"/>
                  <a:pt x="96505" y="41922"/>
                </a:cubicBezTo>
                <a:cubicBezTo>
                  <a:pt x="124494" y="54341"/>
                  <a:pt x="151816" y="69183"/>
                  <a:pt x="179622" y="82572"/>
                </a:cubicBezTo>
                <a:cubicBezTo>
                  <a:pt x="207368" y="95960"/>
                  <a:pt x="235478" y="108743"/>
                  <a:pt x="263164" y="122252"/>
                </a:cubicBezTo>
                <a:cubicBezTo>
                  <a:pt x="290910" y="135762"/>
                  <a:pt x="318595" y="149332"/>
                  <a:pt x="345917" y="163629"/>
                </a:cubicBezTo>
                <a:cubicBezTo>
                  <a:pt x="373300" y="177866"/>
                  <a:pt x="401227" y="191315"/>
                  <a:pt x="427217" y="207793"/>
                </a:cubicBezTo>
                <a:cubicBezTo>
                  <a:pt x="453145" y="224271"/>
                  <a:pt x="478408" y="242505"/>
                  <a:pt x="501671" y="262558"/>
                </a:cubicBezTo>
                <a:cubicBezTo>
                  <a:pt x="524934" y="282610"/>
                  <a:pt x="547288" y="304359"/>
                  <a:pt x="566735" y="328046"/>
                </a:cubicBezTo>
                <a:cubicBezTo>
                  <a:pt x="586242" y="351733"/>
                  <a:pt x="603204" y="378086"/>
                  <a:pt x="618652" y="404681"/>
                </a:cubicBezTo>
                <a:cubicBezTo>
                  <a:pt x="634100" y="431276"/>
                  <a:pt x="650397" y="459567"/>
                  <a:pt x="659484" y="487555"/>
                </a:cubicBezTo>
                <a:cubicBezTo>
                  <a:pt x="668571" y="515544"/>
                  <a:pt x="685413" y="562615"/>
                  <a:pt x="673115" y="572550"/>
                </a:cubicBezTo>
                <a:cubicBezTo>
                  <a:pt x="660756" y="582486"/>
                  <a:pt x="614533" y="557042"/>
                  <a:pt x="585515" y="547227"/>
                </a:cubicBezTo>
                <a:cubicBezTo>
                  <a:pt x="556557" y="537474"/>
                  <a:pt x="527599" y="525842"/>
                  <a:pt x="499247" y="513787"/>
                </a:cubicBezTo>
                <a:cubicBezTo>
                  <a:pt x="470895" y="501731"/>
                  <a:pt x="442241" y="489918"/>
                  <a:pt x="415403" y="475015"/>
                </a:cubicBezTo>
                <a:cubicBezTo>
                  <a:pt x="388505" y="460052"/>
                  <a:pt x="363607" y="441453"/>
                  <a:pt x="338102" y="424127"/>
                </a:cubicBezTo>
                <a:cubicBezTo>
                  <a:pt x="312598" y="406801"/>
                  <a:pt x="286669" y="389959"/>
                  <a:pt x="262437" y="370937"/>
                </a:cubicBezTo>
                <a:cubicBezTo>
                  <a:pt x="238204" y="351915"/>
                  <a:pt x="215365" y="331014"/>
                  <a:pt x="192768" y="310053"/>
                </a:cubicBezTo>
                <a:cubicBezTo>
                  <a:pt x="170111" y="289153"/>
                  <a:pt x="146303" y="269040"/>
                  <a:pt x="126796" y="245353"/>
                </a:cubicBezTo>
                <a:cubicBezTo>
                  <a:pt x="107289" y="221726"/>
                  <a:pt x="92386" y="194222"/>
                  <a:pt x="75787" y="168233"/>
                </a:cubicBezTo>
                <a:cubicBezTo>
                  <a:pt x="59127" y="142305"/>
                  <a:pt x="37681" y="116315"/>
                  <a:pt x="27019" y="89599"/>
                </a:cubicBezTo>
                <a:cubicBezTo>
                  <a:pt x="16296" y="62883"/>
                  <a:pt x="0" y="15872"/>
                  <a:pt x="11571" y="7936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artery_muscle_soft_light_232"/>
          <p:cNvSpPr/>
          <p:nvPr/>
        </p:nvSpPr>
        <p:spPr>
          <a:xfrm>
            <a:off x="11138818" y="4017545"/>
            <a:ext cx="644288" cy="530062"/>
          </a:xfrm>
          <a:custGeom>
            <a:avLst/>
            <a:gdLst/>
            <a:ahLst/>
            <a:cxnLst/>
            <a:rect l="0" t="0" r="r" b="b"/>
            <a:pathLst>
              <a:path w="644288" h="530062">
                <a:moveTo>
                  <a:pt x="10877" y="7222"/>
                </a:moveTo>
                <a:cubicBezTo>
                  <a:pt x="21753" y="0"/>
                  <a:pt x="64349" y="26793"/>
                  <a:pt x="90715" y="38149"/>
                </a:cubicBezTo>
                <a:cubicBezTo>
                  <a:pt x="117024" y="49450"/>
                  <a:pt x="142707" y="62957"/>
                  <a:pt x="168845" y="75140"/>
                </a:cubicBezTo>
                <a:cubicBezTo>
                  <a:pt x="194926" y="87324"/>
                  <a:pt x="221349" y="98956"/>
                  <a:pt x="247374" y="111250"/>
                </a:cubicBezTo>
                <a:cubicBezTo>
                  <a:pt x="273455" y="123543"/>
                  <a:pt x="299479" y="135892"/>
                  <a:pt x="325162" y="148902"/>
                </a:cubicBezTo>
                <a:cubicBezTo>
                  <a:pt x="350902" y="161858"/>
                  <a:pt x="377154" y="174096"/>
                  <a:pt x="401584" y="189091"/>
                </a:cubicBezTo>
                <a:cubicBezTo>
                  <a:pt x="425957" y="204086"/>
                  <a:pt x="449703" y="220680"/>
                  <a:pt x="471570" y="238928"/>
                </a:cubicBezTo>
                <a:cubicBezTo>
                  <a:pt x="493438" y="257175"/>
                  <a:pt x="514451" y="276966"/>
                  <a:pt x="532730" y="298522"/>
                </a:cubicBezTo>
                <a:cubicBezTo>
                  <a:pt x="551067" y="320077"/>
                  <a:pt x="567012" y="344058"/>
                  <a:pt x="581533" y="368259"/>
                </a:cubicBezTo>
                <a:cubicBezTo>
                  <a:pt x="596054" y="392461"/>
                  <a:pt x="611373" y="418206"/>
                  <a:pt x="619915" y="443675"/>
                </a:cubicBezTo>
                <a:cubicBezTo>
                  <a:pt x="628457" y="469145"/>
                  <a:pt x="644288" y="511980"/>
                  <a:pt x="632728" y="521021"/>
                </a:cubicBezTo>
                <a:cubicBezTo>
                  <a:pt x="621111" y="530062"/>
                  <a:pt x="577661" y="506908"/>
                  <a:pt x="550384" y="497977"/>
                </a:cubicBezTo>
                <a:cubicBezTo>
                  <a:pt x="523163" y="489101"/>
                  <a:pt x="495943" y="478517"/>
                  <a:pt x="469293" y="467546"/>
                </a:cubicBezTo>
                <a:cubicBezTo>
                  <a:pt x="442642" y="456575"/>
                  <a:pt x="415706" y="445825"/>
                  <a:pt x="390479" y="432264"/>
                </a:cubicBezTo>
                <a:cubicBezTo>
                  <a:pt x="365195" y="418647"/>
                  <a:pt x="341790" y="401722"/>
                  <a:pt x="317816" y="385956"/>
                </a:cubicBezTo>
                <a:cubicBezTo>
                  <a:pt x="293842" y="370189"/>
                  <a:pt x="269469" y="354863"/>
                  <a:pt x="246690" y="337553"/>
                </a:cubicBezTo>
                <a:cubicBezTo>
                  <a:pt x="223912" y="320242"/>
                  <a:pt x="202443" y="301223"/>
                  <a:pt x="181202" y="282148"/>
                </a:cubicBezTo>
                <a:cubicBezTo>
                  <a:pt x="159905" y="263129"/>
                  <a:pt x="137525" y="244826"/>
                  <a:pt x="119188" y="223271"/>
                </a:cubicBezTo>
                <a:cubicBezTo>
                  <a:pt x="100851" y="201771"/>
                  <a:pt x="86843" y="176742"/>
                  <a:pt x="71240" y="153092"/>
                </a:cubicBezTo>
                <a:cubicBezTo>
                  <a:pt x="55579" y="129497"/>
                  <a:pt x="35420" y="105847"/>
                  <a:pt x="25398" y="81535"/>
                </a:cubicBezTo>
                <a:cubicBezTo>
                  <a:pt x="15318" y="57224"/>
                  <a:pt x="0" y="14444"/>
                  <a:pt x="10877" y="7222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artery_muscle_nucleus_233"/>
          <p:cNvSpPr/>
          <p:nvPr/>
        </p:nvSpPr>
        <p:spPr>
          <a:xfrm>
            <a:off x="11411405" y="4234909"/>
            <a:ext cx="155027" cy="141032"/>
          </a:xfrm>
          <a:custGeom>
            <a:avLst/>
            <a:gdLst/>
            <a:ahLst/>
            <a:cxnLst/>
            <a:rect l="0" t="0" r="r" b="b"/>
            <a:pathLst>
              <a:path w="155027" h="141032">
                <a:moveTo>
                  <a:pt x="25202" y="3635"/>
                </a:moveTo>
                <a:cubicBezTo>
                  <a:pt x="34895" y="0"/>
                  <a:pt x="49676" y="4725"/>
                  <a:pt x="61126" y="8239"/>
                </a:cubicBezTo>
                <a:cubicBezTo>
                  <a:pt x="72637" y="11692"/>
                  <a:pt x="83723" y="18053"/>
                  <a:pt x="94022" y="24535"/>
                </a:cubicBezTo>
                <a:cubicBezTo>
                  <a:pt x="104381" y="31017"/>
                  <a:pt x="114619" y="38348"/>
                  <a:pt x="123100" y="47011"/>
                </a:cubicBezTo>
                <a:cubicBezTo>
                  <a:pt x="131582" y="55734"/>
                  <a:pt x="139942" y="65851"/>
                  <a:pt x="144849" y="76695"/>
                </a:cubicBezTo>
                <a:cubicBezTo>
                  <a:pt x="149695" y="87479"/>
                  <a:pt x="155027" y="101776"/>
                  <a:pt x="152240" y="111893"/>
                </a:cubicBezTo>
                <a:cubicBezTo>
                  <a:pt x="149514" y="122071"/>
                  <a:pt x="138306" y="133823"/>
                  <a:pt x="128371" y="137398"/>
                </a:cubicBezTo>
                <a:cubicBezTo>
                  <a:pt x="118436" y="141032"/>
                  <a:pt x="103896" y="137216"/>
                  <a:pt x="92568" y="133581"/>
                </a:cubicBezTo>
                <a:cubicBezTo>
                  <a:pt x="81300" y="129946"/>
                  <a:pt x="70759" y="122313"/>
                  <a:pt x="60460" y="115770"/>
                </a:cubicBezTo>
                <a:cubicBezTo>
                  <a:pt x="50222" y="109167"/>
                  <a:pt x="39802" y="102382"/>
                  <a:pt x="30957" y="94143"/>
                </a:cubicBezTo>
                <a:cubicBezTo>
                  <a:pt x="22112" y="85843"/>
                  <a:pt x="12056" y="76756"/>
                  <a:pt x="7391" y="66094"/>
                </a:cubicBezTo>
                <a:cubicBezTo>
                  <a:pt x="2726" y="55371"/>
                  <a:pt x="0" y="40407"/>
                  <a:pt x="2968" y="30048"/>
                </a:cubicBezTo>
                <a:cubicBezTo>
                  <a:pt x="5937" y="19628"/>
                  <a:pt x="15509" y="7270"/>
                  <a:pt x="25202" y="3635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artery_nuclear_soft_light_234"/>
          <p:cNvSpPr/>
          <p:nvPr/>
        </p:nvSpPr>
        <p:spPr>
          <a:xfrm>
            <a:off x="11446638" y="4269187"/>
            <a:ext cx="59177" cy="48730"/>
          </a:xfrm>
          <a:custGeom>
            <a:avLst/>
            <a:gdLst/>
            <a:ahLst/>
            <a:cxnLst/>
            <a:rect l="0" t="0" r="r" b="b"/>
            <a:pathLst>
              <a:path w="59177" h="48730">
                <a:moveTo>
                  <a:pt x="2122" y="2688"/>
                </a:moveTo>
                <a:cubicBezTo>
                  <a:pt x="4243" y="0"/>
                  <a:pt x="18261" y="7526"/>
                  <a:pt x="33430" y="19497"/>
                </a:cubicBezTo>
                <a:cubicBezTo>
                  <a:pt x="48600" y="31469"/>
                  <a:pt x="59177" y="43353"/>
                  <a:pt x="57055" y="46041"/>
                </a:cubicBezTo>
                <a:cubicBezTo>
                  <a:pt x="54934" y="48730"/>
                  <a:pt x="40917" y="41204"/>
                  <a:pt x="25747" y="29233"/>
                </a:cubicBezTo>
                <a:cubicBezTo>
                  <a:pt x="10577" y="17261"/>
                  <a:pt x="0" y="5377"/>
                  <a:pt x="2122" y="2688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artery_intercellular_collagen_septum_235"/>
          <p:cNvSpPr/>
          <p:nvPr/>
        </p:nvSpPr>
        <p:spPr>
          <a:xfrm>
            <a:off x="11745206" y="4102843"/>
            <a:ext cx="590543" cy="474652"/>
          </a:xfrm>
          <a:custGeom>
            <a:avLst/>
            <a:gdLst/>
            <a:ahLst/>
            <a:cxnLst/>
            <a:rect l="0" t="0" r="r" b="b"/>
            <a:pathLst>
              <a:path w="590543" h="474652">
                <a:moveTo>
                  <a:pt x="9875" y="9329"/>
                </a:moveTo>
                <a:cubicBezTo>
                  <a:pt x="19749" y="0"/>
                  <a:pt x="62338" y="15145"/>
                  <a:pt x="88448" y="19689"/>
                </a:cubicBezTo>
                <a:cubicBezTo>
                  <a:pt x="114619" y="24172"/>
                  <a:pt x="140608" y="30836"/>
                  <a:pt x="166658" y="36530"/>
                </a:cubicBezTo>
                <a:cubicBezTo>
                  <a:pt x="192647" y="42164"/>
                  <a:pt x="218879" y="47314"/>
                  <a:pt x="244686" y="53735"/>
                </a:cubicBezTo>
                <a:cubicBezTo>
                  <a:pt x="270554" y="60096"/>
                  <a:pt x="297755" y="64155"/>
                  <a:pt x="321685" y="74939"/>
                </a:cubicBezTo>
                <a:cubicBezTo>
                  <a:pt x="345675" y="85661"/>
                  <a:pt x="367787" y="101594"/>
                  <a:pt x="388324" y="118193"/>
                </a:cubicBezTo>
                <a:cubicBezTo>
                  <a:pt x="408861" y="134793"/>
                  <a:pt x="427217" y="154845"/>
                  <a:pt x="445027" y="174534"/>
                </a:cubicBezTo>
                <a:cubicBezTo>
                  <a:pt x="462838" y="194283"/>
                  <a:pt x="480588" y="214456"/>
                  <a:pt x="495310" y="236508"/>
                </a:cubicBezTo>
                <a:cubicBezTo>
                  <a:pt x="510031" y="258559"/>
                  <a:pt x="521602" y="282913"/>
                  <a:pt x="533233" y="306842"/>
                </a:cubicBezTo>
                <a:cubicBezTo>
                  <a:pt x="544865" y="330832"/>
                  <a:pt x="556496" y="355065"/>
                  <a:pt x="564978" y="380145"/>
                </a:cubicBezTo>
                <a:cubicBezTo>
                  <a:pt x="573459" y="405226"/>
                  <a:pt x="590543" y="442483"/>
                  <a:pt x="584121" y="457386"/>
                </a:cubicBezTo>
                <a:cubicBezTo>
                  <a:pt x="577700" y="472228"/>
                  <a:pt x="547288" y="474652"/>
                  <a:pt x="526388" y="469502"/>
                </a:cubicBezTo>
                <a:cubicBezTo>
                  <a:pt x="505548" y="464413"/>
                  <a:pt x="481437" y="440847"/>
                  <a:pt x="458961" y="426611"/>
                </a:cubicBezTo>
                <a:cubicBezTo>
                  <a:pt x="436425" y="412374"/>
                  <a:pt x="413707" y="398380"/>
                  <a:pt x="391232" y="384083"/>
                </a:cubicBezTo>
                <a:cubicBezTo>
                  <a:pt x="368756" y="369725"/>
                  <a:pt x="346341" y="355428"/>
                  <a:pt x="324108" y="340707"/>
                </a:cubicBezTo>
                <a:cubicBezTo>
                  <a:pt x="301875" y="325986"/>
                  <a:pt x="279944" y="310780"/>
                  <a:pt x="258014" y="295695"/>
                </a:cubicBezTo>
                <a:cubicBezTo>
                  <a:pt x="236023" y="280611"/>
                  <a:pt x="213487" y="266253"/>
                  <a:pt x="192344" y="250139"/>
                </a:cubicBezTo>
                <a:cubicBezTo>
                  <a:pt x="171141" y="234024"/>
                  <a:pt x="149877" y="217546"/>
                  <a:pt x="130976" y="198887"/>
                </a:cubicBezTo>
                <a:cubicBezTo>
                  <a:pt x="112075" y="180228"/>
                  <a:pt x="95960" y="158783"/>
                  <a:pt x="78998" y="138246"/>
                </a:cubicBezTo>
                <a:cubicBezTo>
                  <a:pt x="62035" y="117709"/>
                  <a:pt x="40771" y="97111"/>
                  <a:pt x="29261" y="75666"/>
                </a:cubicBezTo>
                <a:cubicBezTo>
                  <a:pt x="17750" y="54159"/>
                  <a:pt x="0" y="18659"/>
                  <a:pt x="9875" y="9329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artery_smooth_muscle_cell_236"/>
          <p:cNvSpPr/>
          <p:nvPr/>
        </p:nvSpPr>
        <p:spPr>
          <a:xfrm>
            <a:off x="11745206" y="4102843"/>
            <a:ext cx="590543" cy="474652"/>
          </a:xfrm>
          <a:custGeom>
            <a:avLst/>
            <a:gdLst/>
            <a:ahLst/>
            <a:cxnLst/>
            <a:rect l="0" t="0" r="r" b="b"/>
            <a:pathLst>
              <a:path w="590543" h="474652">
                <a:moveTo>
                  <a:pt x="9875" y="9329"/>
                </a:moveTo>
                <a:cubicBezTo>
                  <a:pt x="19749" y="0"/>
                  <a:pt x="62338" y="15145"/>
                  <a:pt x="88448" y="19689"/>
                </a:cubicBezTo>
                <a:cubicBezTo>
                  <a:pt x="114619" y="24172"/>
                  <a:pt x="140608" y="30836"/>
                  <a:pt x="166658" y="36530"/>
                </a:cubicBezTo>
                <a:cubicBezTo>
                  <a:pt x="192647" y="42164"/>
                  <a:pt x="218879" y="47314"/>
                  <a:pt x="244686" y="53735"/>
                </a:cubicBezTo>
                <a:cubicBezTo>
                  <a:pt x="270554" y="60096"/>
                  <a:pt x="297755" y="64155"/>
                  <a:pt x="321685" y="74939"/>
                </a:cubicBezTo>
                <a:cubicBezTo>
                  <a:pt x="345675" y="85661"/>
                  <a:pt x="367787" y="101594"/>
                  <a:pt x="388324" y="118193"/>
                </a:cubicBezTo>
                <a:cubicBezTo>
                  <a:pt x="408861" y="134793"/>
                  <a:pt x="427217" y="154845"/>
                  <a:pt x="445027" y="174534"/>
                </a:cubicBezTo>
                <a:cubicBezTo>
                  <a:pt x="462838" y="194283"/>
                  <a:pt x="480588" y="214456"/>
                  <a:pt x="495310" y="236508"/>
                </a:cubicBezTo>
                <a:cubicBezTo>
                  <a:pt x="510031" y="258559"/>
                  <a:pt x="521602" y="282913"/>
                  <a:pt x="533233" y="306842"/>
                </a:cubicBezTo>
                <a:cubicBezTo>
                  <a:pt x="544865" y="330832"/>
                  <a:pt x="556496" y="355065"/>
                  <a:pt x="564978" y="380145"/>
                </a:cubicBezTo>
                <a:cubicBezTo>
                  <a:pt x="573459" y="405226"/>
                  <a:pt x="590543" y="442483"/>
                  <a:pt x="584121" y="457386"/>
                </a:cubicBezTo>
                <a:cubicBezTo>
                  <a:pt x="577700" y="472228"/>
                  <a:pt x="547288" y="474652"/>
                  <a:pt x="526388" y="469502"/>
                </a:cubicBezTo>
                <a:cubicBezTo>
                  <a:pt x="505548" y="464413"/>
                  <a:pt x="481437" y="440847"/>
                  <a:pt x="458961" y="426611"/>
                </a:cubicBezTo>
                <a:cubicBezTo>
                  <a:pt x="436425" y="412374"/>
                  <a:pt x="413707" y="398380"/>
                  <a:pt x="391232" y="384083"/>
                </a:cubicBezTo>
                <a:cubicBezTo>
                  <a:pt x="368756" y="369725"/>
                  <a:pt x="346341" y="355428"/>
                  <a:pt x="324108" y="340707"/>
                </a:cubicBezTo>
                <a:cubicBezTo>
                  <a:pt x="301875" y="325986"/>
                  <a:pt x="279944" y="310780"/>
                  <a:pt x="258014" y="295695"/>
                </a:cubicBezTo>
                <a:cubicBezTo>
                  <a:pt x="236023" y="280611"/>
                  <a:pt x="213487" y="266253"/>
                  <a:pt x="192344" y="250139"/>
                </a:cubicBezTo>
                <a:cubicBezTo>
                  <a:pt x="171141" y="234024"/>
                  <a:pt x="149877" y="217546"/>
                  <a:pt x="130976" y="198887"/>
                </a:cubicBezTo>
                <a:cubicBezTo>
                  <a:pt x="112075" y="180228"/>
                  <a:pt x="95960" y="158783"/>
                  <a:pt x="78998" y="138246"/>
                </a:cubicBezTo>
                <a:cubicBezTo>
                  <a:pt x="62035" y="117709"/>
                  <a:pt x="40771" y="97111"/>
                  <a:pt x="29261" y="75666"/>
                </a:cubicBezTo>
                <a:cubicBezTo>
                  <a:pt x="17750" y="54159"/>
                  <a:pt x="0" y="18659"/>
                  <a:pt x="9875" y="9329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artery_muscle_soft_light_237"/>
          <p:cNvSpPr/>
          <p:nvPr/>
        </p:nvSpPr>
        <p:spPr>
          <a:xfrm>
            <a:off x="11758274" y="4114388"/>
            <a:ext cx="555110" cy="431933"/>
          </a:xfrm>
          <a:custGeom>
            <a:avLst/>
            <a:gdLst/>
            <a:ahLst/>
            <a:cxnLst/>
            <a:rect l="0" t="0" r="r" b="b"/>
            <a:pathLst>
              <a:path w="555110" h="431933">
                <a:moveTo>
                  <a:pt x="9282" y="8490"/>
                </a:moveTo>
                <a:cubicBezTo>
                  <a:pt x="18564" y="0"/>
                  <a:pt x="58598" y="13782"/>
                  <a:pt x="83141" y="17917"/>
                </a:cubicBezTo>
                <a:cubicBezTo>
                  <a:pt x="107742" y="21996"/>
                  <a:pt x="132172" y="28060"/>
                  <a:pt x="156659" y="33243"/>
                </a:cubicBezTo>
                <a:cubicBezTo>
                  <a:pt x="181088" y="38370"/>
                  <a:pt x="205746" y="43055"/>
                  <a:pt x="230005" y="48899"/>
                </a:cubicBezTo>
                <a:cubicBezTo>
                  <a:pt x="254321" y="54688"/>
                  <a:pt x="279890" y="58381"/>
                  <a:pt x="302384" y="68194"/>
                </a:cubicBezTo>
                <a:cubicBezTo>
                  <a:pt x="324934" y="77952"/>
                  <a:pt x="345720" y="92451"/>
                  <a:pt x="365024" y="107556"/>
                </a:cubicBezTo>
                <a:cubicBezTo>
                  <a:pt x="384329" y="122661"/>
                  <a:pt x="401584" y="140909"/>
                  <a:pt x="418326" y="158826"/>
                </a:cubicBezTo>
                <a:cubicBezTo>
                  <a:pt x="435068" y="176798"/>
                  <a:pt x="451753" y="195155"/>
                  <a:pt x="465591" y="215222"/>
                </a:cubicBezTo>
                <a:cubicBezTo>
                  <a:pt x="479429" y="235289"/>
                  <a:pt x="490306" y="257451"/>
                  <a:pt x="501239" y="279227"/>
                </a:cubicBezTo>
                <a:cubicBezTo>
                  <a:pt x="512173" y="301057"/>
                  <a:pt x="523107" y="323109"/>
                  <a:pt x="531079" y="345932"/>
                </a:cubicBezTo>
                <a:cubicBezTo>
                  <a:pt x="539051" y="368755"/>
                  <a:pt x="555110" y="402660"/>
                  <a:pt x="549074" y="416221"/>
                </a:cubicBezTo>
                <a:cubicBezTo>
                  <a:pt x="543038" y="429728"/>
                  <a:pt x="514451" y="431933"/>
                  <a:pt x="494804" y="427247"/>
                </a:cubicBezTo>
                <a:cubicBezTo>
                  <a:pt x="475215" y="422616"/>
                  <a:pt x="452550" y="401171"/>
                  <a:pt x="431423" y="388216"/>
                </a:cubicBezTo>
                <a:cubicBezTo>
                  <a:pt x="410239" y="375261"/>
                  <a:pt x="388885" y="362526"/>
                  <a:pt x="367758" y="349516"/>
                </a:cubicBezTo>
                <a:cubicBezTo>
                  <a:pt x="346631" y="336450"/>
                  <a:pt x="325561" y="323440"/>
                  <a:pt x="304661" y="310043"/>
                </a:cubicBezTo>
                <a:cubicBezTo>
                  <a:pt x="283762" y="296647"/>
                  <a:pt x="263148" y="282810"/>
                  <a:pt x="242533" y="269083"/>
                </a:cubicBezTo>
                <a:cubicBezTo>
                  <a:pt x="221862" y="255356"/>
                  <a:pt x="200678" y="242290"/>
                  <a:pt x="180804" y="227626"/>
                </a:cubicBezTo>
                <a:cubicBezTo>
                  <a:pt x="160873" y="212962"/>
                  <a:pt x="140885" y="197967"/>
                  <a:pt x="123117" y="180987"/>
                </a:cubicBezTo>
                <a:cubicBezTo>
                  <a:pt x="105350" y="164008"/>
                  <a:pt x="90203" y="144492"/>
                  <a:pt x="74258" y="125804"/>
                </a:cubicBezTo>
                <a:cubicBezTo>
                  <a:pt x="58313" y="107115"/>
                  <a:pt x="38325" y="88371"/>
                  <a:pt x="27505" y="68856"/>
                </a:cubicBezTo>
                <a:cubicBezTo>
                  <a:pt x="16685" y="49285"/>
                  <a:pt x="0" y="16980"/>
                  <a:pt x="9282" y="8490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artery_muscle_nucleus_238"/>
          <p:cNvSpPr/>
          <p:nvPr/>
        </p:nvSpPr>
        <p:spPr>
          <a:xfrm>
            <a:off x="11959359" y="4228245"/>
            <a:ext cx="151331" cy="124615"/>
          </a:xfrm>
          <a:custGeom>
            <a:avLst/>
            <a:gdLst/>
            <a:ahLst/>
            <a:cxnLst/>
            <a:rect l="0" t="0" r="r" b="b"/>
            <a:pathLst>
              <a:path w="151331" h="124615">
                <a:moveTo>
                  <a:pt x="22778" y="4483"/>
                </a:moveTo>
                <a:cubicBezTo>
                  <a:pt x="32047" y="0"/>
                  <a:pt x="46041" y="1696"/>
                  <a:pt x="57249" y="3393"/>
                </a:cubicBezTo>
                <a:cubicBezTo>
                  <a:pt x="68396" y="5089"/>
                  <a:pt x="79724" y="9451"/>
                  <a:pt x="89963" y="14600"/>
                </a:cubicBezTo>
                <a:cubicBezTo>
                  <a:pt x="100201" y="19689"/>
                  <a:pt x="110197" y="26413"/>
                  <a:pt x="118617" y="34107"/>
                </a:cubicBezTo>
                <a:cubicBezTo>
                  <a:pt x="127038" y="41801"/>
                  <a:pt x="135338" y="50827"/>
                  <a:pt x="140487" y="60763"/>
                </a:cubicBezTo>
                <a:cubicBezTo>
                  <a:pt x="145637" y="70637"/>
                  <a:pt x="151331" y="83783"/>
                  <a:pt x="149453" y="93658"/>
                </a:cubicBezTo>
                <a:cubicBezTo>
                  <a:pt x="147575" y="103533"/>
                  <a:pt x="138367" y="115346"/>
                  <a:pt x="129280" y="120011"/>
                </a:cubicBezTo>
                <a:cubicBezTo>
                  <a:pt x="120193" y="124615"/>
                  <a:pt x="106138" y="123161"/>
                  <a:pt x="95051" y="121344"/>
                </a:cubicBezTo>
                <a:cubicBezTo>
                  <a:pt x="83965" y="119526"/>
                  <a:pt x="72879" y="114437"/>
                  <a:pt x="62762" y="108985"/>
                </a:cubicBezTo>
                <a:cubicBezTo>
                  <a:pt x="52705" y="103593"/>
                  <a:pt x="43134" y="96505"/>
                  <a:pt x="34592" y="88812"/>
                </a:cubicBezTo>
                <a:cubicBezTo>
                  <a:pt x="26110" y="81118"/>
                  <a:pt x="17205" y="72576"/>
                  <a:pt x="11753" y="62883"/>
                </a:cubicBezTo>
                <a:cubicBezTo>
                  <a:pt x="6300" y="53129"/>
                  <a:pt x="0" y="40165"/>
                  <a:pt x="1878" y="30412"/>
                </a:cubicBezTo>
                <a:cubicBezTo>
                  <a:pt x="3695" y="20719"/>
                  <a:pt x="13570" y="9027"/>
                  <a:pt x="22778" y="4483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artery_nuclear_soft_light_239"/>
          <p:cNvSpPr/>
          <p:nvPr/>
        </p:nvSpPr>
        <p:spPr>
          <a:xfrm>
            <a:off x="11994244" y="4257206"/>
            <a:ext cx="58298" cy="41794"/>
          </a:xfrm>
          <a:custGeom>
            <a:avLst/>
            <a:gdLst/>
            <a:ahLst/>
            <a:cxnLst/>
            <a:rect l="0" t="0" r="r" b="b"/>
            <a:pathLst>
              <a:path w="58298" h="41794">
                <a:moveTo>
                  <a:pt x="1855" y="2797"/>
                </a:moveTo>
                <a:cubicBezTo>
                  <a:pt x="3710" y="0"/>
                  <a:pt x="17434" y="5836"/>
                  <a:pt x="32508" y="15832"/>
                </a:cubicBezTo>
                <a:cubicBezTo>
                  <a:pt x="47582" y="25828"/>
                  <a:pt x="58298" y="36200"/>
                  <a:pt x="56443" y="38997"/>
                </a:cubicBezTo>
                <a:cubicBezTo>
                  <a:pt x="54588" y="41794"/>
                  <a:pt x="40864" y="35958"/>
                  <a:pt x="25790" y="25962"/>
                </a:cubicBezTo>
                <a:cubicBezTo>
                  <a:pt x="10716" y="15966"/>
                  <a:pt x="0" y="5595"/>
                  <a:pt x="1855" y="2797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artery_intercellular_collagen_septum_240"/>
          <p:cNvSpPr/>
          <p:nvPr/>
        </p:nvSpPr>
        <p:spPr>
          <a:xfrm>
            <a:off x="10908280" y="4187656"/>
            <a:ext cx="622408" cy="550983"/>
          </a:xfrm>
          <a:custGeom>
            <a:avLst/>
            <a:gdLst/>
            <a:ahLst/>
            <a:cxnLst/>
            <a:rect l="0" t="0" r="r" b="b"/>
            <a:pathLst>
              <a:path w="622408" h="550983">
                <a:moveTo>
                  <a:pt x="11207" y="8905"/>
                </a:moveTo>
                <a:cubicBezTo>
                  <a:pt x="22415" y="0"/>
                  <a:pt x="66821" y="22354"/>
                  <a:pt x="93840" y="32108"/>
                </a:cubicBezTo>
                <a:cubicBezTo>
                  <a:pt x="120859" y="41922"/>
                  <a:pt x="147030" y="55189"/>
                  <a:pt x="173201" y="67608"/>
                </a:cubicBezTo>
                <a:cubicBezTo>
                  <a:pt x="199372" y="80088"/>
                  <a:pt x="225422" y="92992"/>
                  <a:pt x="250926" y="106744"/>
                </a:cubicBezTo>
                <a:cubicBezTo>
                  <a:pt x="276431" y="120435"/>
                  <a:pt x="301754" y="134611"/>
                  <a:pt x="326349" y="150059"/>
                </a:cubicBezTo>
                <a:cubicBezTo>
                  <a:pt x="350885" y="165446"/>
                  <a:pt x="375481" y="181137"/>
                  <a:pt x="398138" y="199069"/>
                </a:cubicBezTo>
                <a:cubicBezTo>
                  <a:pt x="420856" y="216940"/>
                  <a:pt x="442180" y="236871"/>
                  <a:pt x="462414" y="257529"/>
                </a:cubicBezTo>
                <a:cubicBezTo>
                  <a:pt x="482648" y="278188"/>
                  <a:pt x="501671" y="300300"/>
                  <a:pt x="519542" y="323017"/>
                </a:cubicBezTo>
                <a:cubicBezTo>
                  <a:pt x="537413" y="345796"/>
                  <a:pt x="554134" y="369665"/>
                  <a:pt x="569642" y="394079"/>
                </a:cubicBezTo>
                <a:cubicBezTo>
                  <a:pt x="585151" y="418554"/>
                  <a:pt x="606233" y="445209"/>
                  <a:pt x="612473" y="469684"/>
                </a:cubicBezTo>
                <a:cubicBezTo>
                  <a:pt x="618774" y="494219"/>
                  <a:pt x="622408" y="531295"/>
                  <a:pt x="607324" y="541169"/>
                </a:cubicBezTo>
                <a:cubicBezTo>
                  <a:pt x="592239" y="550983"/>
                  <a:pt x="550196" y="534808"/>
                  <a:pt x="522026" y="528750"/>
                </a:cubicBezTo>
                <a:cubicBezTo>
                  <a:pt x="493856" y="522632"/>
                  <a:pt x="465746" y="514211"/>
                  <a:pt x="438424" y="504760"/>
                </a:cubicBezTo>
                <a:cubicBezTo>
                  <a:pt x="411102" y="495310"/>
                  <a:pt x="384204" y="484223"/>
                  <a:pt x="358033" y="471986"/>
                </a:cubicBezTo>
                <a:cubicBezTo>
                  <a:pt x="331802" y="459809"/>
                  <a:pt x="304783" y="447754"/>
                  <a:pt x="281035" y="431518"/>
                </a:cubicBezTo>
                <a:cubicBezTo>
                  <a:pt x="257348" y="415222"/>
                  <a:pt x="236811" y="394200"/>
                  <a:pt x="215789" y="374390"/>
                </a:cubicBezTo>
                <a:cubicBezTo>
                  <a:pt x="194707" y="354520"/>
                  <a:pt x="172959" y="334710"/>
                  <a:pt x="154845" y="312295"/>
                </a:cubicBezTo>
                <a:cubicBezTo>
                  <a:pt x="136731" y="289940"/>
                  <a:pt x="121525" y="264981"/>
                  <a:pt x="106986" y="240022"/>
                </a:cubicBezTo>
                <a:cubicBezTo>
                  <a:pt x="92507" y="215002"/>
                  <a:pt x="81057" y="188104"/>
                  <a:pt x="67669" y="162417"/>
                </a:cubicBezTo>
                <a:cubicBezTo>
                  <a:pt x="54341" y="136671"/>
                  <a:pt x="36167" y="111287"/>
                  <a:pt x="26777" y="85661"/>
                </a:cubicBezTo>
                <a:cubicBezTo>
                  <a:pt x="17326" y="60096"/>
                  <a:pt x="0" y="17811"/>
                  <a:pt x="11207" y="8905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artery_smooth_muscle_cell_241"/>
          <p:cNvSpPr/>
          <p:nvPr/>
        </p:nvSpPr>
        <p:spPr>
          <a:xfrm>
            <a:off x="10908280" y="4187656"/>
            <a:ext cx="622408" cy="550983"/>
          </a:xfrm>
          <a:custGeom>
            <a:avLst/>
            <a:gdLst/>
            <a:ahLst/>
            <a:cxnLst/>
            <a:rect l="0" t="0" r="r" b="b"/>
            <a:pathLst>
              <a:path w="622408" h="550983">
                <a:moveTo>
                  <a:pt x="11207" y="8905"/>
                </a:moveTo>
                <a:cubicBezTo>
                  <a:pt x="22415" y="0"/>
                  <a:pt x="66821" y="22354"/>
                  <a:pt x="93840" y="32108"/>
                </a:cubicBezTo>
                <a:cubicBezTo>
                  <a:pt x="120859" y="41922"/>
                  <a:pt x="147030" y="55189"/>
                  <a:pt x="173201" y="67608"/>
                </a:cubicBezTo>
                <a:cubicBezTo>
                  <a:pt x="199372" y="80088"/>
                  <a:pt x="225422" y="92992"/>
                  <a:pt x="250926" y="106744"/>
                </a:cubicBezTo>
                <a:cubicBezTo>
                  <a:pt x="276431" y="120435"/>
                  <a:pt x="301754" y="134611"/>
                  <a:pt x="326349" y="150059"/>
                </a:cubicBezTo>
                <a:cubicBezTo>
                  <a:pt x="350885" y="165446"/>
                  <a:pt x="375481" y="181137"/>
                  <a:pt x="398138" y="199069"/>
                </a:cubicBezTo>
                <a:cubicBezTo>
                  <a:pt x="420856" y="216940"/>
                  <a:pt x="442180" y="236871"/>
                  <a:pt x="462414" y="257529"/>
                </a:cubicBezTo>
                <a:cubicBezTo>
                  <a:pt x="482648" y="278188"/>
                  <a:pt x="501671" y="300300"/>
                  <a:pt x="519542" y="323017"/>
                </a:cubicBezTo>
                <a:cubicBezTo>
                  <a:pt x="537413" y="345796"/>
                  <a:pt x="554134" y="369665"/>
                  <a:pt x="569642" y="394079"/>
                </a:cubicBezTo>
                <a:cubicBezTo>
                  <a:pt x="585151" y="418554"/>
                  <a:pt x="606233" y="445209"/>
                  <a:pt x="612473" y="469684"/>
                </a:cubicBezTo>
                <a:cubicBezTo>
                  <a:pt x="618774" y="494219"/>
                  <a:pt x="622408" y="531295"/>
                  <a:pt x="607324" y="541169"/>
                </a:cubicBezTo>
                <a:cubicBezTo>
                  <a:pt x="592239" y="550983"/>
                  <a:pt x="550196" y="534808"/>
                  <a:pt x="522026" y="528750"/>
                </a:cubicBezTo>
                <a:cubicBezTo>
                  <a:pt x="493856" y="522632"/>
                  <a:pt x="465746" y="514211"/>
                  <a:pt x="438424" y="504760"/>
                </a:cubicBezTo>
                <a:cubicBezTo>
                  <a:pt x="411102" y="495310"/>
                  <a:pt x="384204" y="484223"/>
                  <a:pt x="358033" y="471986"/>
                </a:cubicBezTo>
                <a:cubicBezTo>
                  <a:pt x="331802" y="459809"/>
                  <a:pt x="304783" y="447754"/>
                  <a:pt x="281035" y="431518"/>
                </a:cubicBezTo>
                <a:cubicBezTo>
                  <a:pt x="257348" y="415222"/>
                  <a:pt x="236811" y="394200"/>
                  <a:pt x="215789" y="374390"/>
                </a:cubicBezTo>
                <a:cubicBezTo>
                  <a:pt x="194707" y="354520"/>
                  <a:pt x="172959" y="334710"/>
                  <a:pt x="154845" y="312295"/>
                </a:cubicBezTo>
                <a:cubicBezTo>
                  <a:pt x="136731" y="289940"/>
                  <a:pt x="121525" y="264981"/>
                  <a:pt x="106986" y="240022"/>
                </a:cubicBezTo>
                <a:cubicBezTo>
                  <a:pt x="92507" y="215002"/>
                  <a:pt x="81057" y="188104"/>
                  <a:pt x="67669" y="162417"/>
                </a:cubicBezTo>
                <a:cubicBezTo>
                  <a:pt x="54341" y="136671"/>
                  <a:pt x="36167" y="111287"/>
                  <a:pt x="26777" y="85661"/>
                </a:cubicBezTo>
                <a:cubicBezTo>
                  <a:pt x="17326" y="60096"/>
                  <a:pt x="0" y="17811"/>
                  <a:pt x="11207" y="8905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artery_muscle_soft_light_242"/>
          <p:cNvSpPr/>
          <p:nvPr/>
        </p:nvSpPr>
        <p:spPr>
          <a:xfrm>
            <a:off x="10921785" y="4206230"/>
            <a:ext cx="585064" cy="501395"/>
          </a:xfrm>
          <a:custGeom>
            <a:avLst/>
            <a:gdLst/>
            <a:ahLst/>
            <a:cxnLst/>
            <a:rect l="0" t="0" r="r" b="b"/>
            <a:pathLst>
              <a:path w="585064" h="501395">
                <a:moveTo>
                  <a:pt x="10535" y="8104"/>
                </a:moveTo>
                <a:cubicBezTo>
                  <a:pt x="21070" y="0"/>
                  <a:pt x="62812" y="20342"/>
                  <a:pt x="88209" y="29218"/>
                </a:cubicBezTo>
                <a:cubicBezTo>
                  <a:pt x="113607" y="38149"/>
                  <a:pt x="138208" y="50222"/>
                  <a:pt x="162809" y="61524"/>
                </a:cubicBezTo>
                <a:cubicBezTo>
                  <a:pt x="187409" y="72880"/>
                  <a:pt x="211896" y="84622"/>
                  <a:pt x="235871" y="97137"/>
                </a:cubicBezTo>
                <a:cubicBezTo>
                  <a:pt x="259845" y="109596"/>
                  <a:pt x="283648" y="122496"/>
                  <a:pt x="306768" y="136554"/>
                </a:cubicBezTo>
                <a:cubicBezTo>
                  <a:pt x="329832" y="150556"/>
                  <a:pt x="352952" y="164835"/>
                  <a:pt x="374250" y="181153"/>
                </a:cubicBezTo>
                <a:cubicBezTo>
                  <a:pt x="395604" y="197416"/>
                  <a:pt x="415649" y="215553"/>
                  <a:pt x="434669" y="234352"/>
                </a:cubicBezTo>
                <a:cubicBezTo>
                  <a:pt x="453689" y="253151"/>
                  <a:pt x="471570" y="273273"/>
                  <a:pt x="488369" y="293946"/>
                </a:cubicBezTo>
                <a:cubicBezTo>
                  <a:pt x="505169" y="314674"/>
                  <a:pt x="520886" y="336395"/>
                  <a:pt x="535464" y="358612"/>
                </a:cubicBezTo>
                <a:cubicBezTo>
                  <a:pt x="550042" y="380884"/>
                  <a:pt x="569859" y="405140"/>
                  <a:pt x="575725" y="427412"/>
                </a:cubicBezTo>
                <a:cubicBezTo>
                  <a:pt x="581647" y="449739"/>
                  <a:pt x="585064" y="483478"/>
                  <a:pt x="570884" y="492464"/>
                </a:cubicBezTo>
                <a:cubicBezTo>
                  <a:pt x="556705" y="501395"/>
                  <a:pt x="517184" y="486676"/>
                  <a:pt x="490704" y="481163"/>
                </a:cubicBezTo>
                <a:cubicBezTo>
                  <a:pt x="464224" y="475595"/>
                  <a:pt x="437801" y="467932"/>
                  <a:pt x="412119" y="459332"/>
                </a:cubicBezTo>
                <a:cubicBezTo>
                  <a:pt x="386436" y="450732"/>
                  <a:pt x="361152" y="440643"/>
                  <a:pt x="336551" y="429507"/>
                </a:cubicBezTo>
                <a:cubicBezTo>
                  <a:pt x="311894" y="418426"/>
                  <a:pt x="286496" y="407456"/>
                  <a:pt x="264173" y="392681"/>
                </a:cubicBezTo>
                <a:cubicBezTo>
                  <a:pt x="241907" y="377852"/>
                  <a:pt x="222602" y="358722"/>
                  <a:pt x="202842" y="340695"/>
                </a:cubicBezTo>
                <a:cubicBezTo>
                  <a:pt x="183025" y="322613"/>
                  <a:pt x="162581" y="304586"/>
                  <a:pt x="145554" y="284188"/>
                </a:cubicBezTo>
                <a:cubicBezTo>
                  <a:pt x="128527" y="263846"/>
                  <a:pt x="114234" y="241133"/>
                  <a:pt x="100567" y="218420"/>
                </a:cubicBezTo>
                <a:cubicBezTo>
                  <a:pt x="86957" y="195652"/>
                  <a:pt x="76194" y="171174"/>
                  <a:pt x="63609" y="147800"/>
                </a:cubicBezTo>
                <a:cubicBezTo>
                  <a:pt x="51081" y="124370"/>
                  <a:pt x="33997" y="101271"/>
                  <a:pt x="25170" y="77952"/>
                </a:cubicBezTo>
                <a:cubicBezTo>
                  <a:pt x="16287" y="54688"/>
                  <a:pt x="0" y="16208"/>
                  <a:pt x="10535" y="8104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artery_muscle_nucleus_243"/>
          <p:cNvSpPr/>
          <p:nvPr/>
        </p:nvSpPr>
        <p:spPr>
          <a:xfrm>
            <a:off x="11152361" y="4415259"/>
            <a:ext cx="148363" cy="141275"/>
          </a:xfrm>
          <a:custGeom>
            <a:avLst/>
            <a:gdLst/>
            <a:ahLst/>
            <a:cxnLst/>
            <a:rect l="0" t="0" r="r" b="b"/>
            <a:pathLst>
              <a:path w="148363" h="141275">
                <a:moveTo>
                  <a:pt x="18114" y="5392"/>
                </a:moveTo>
                <a:cubicBezTo>
                  <a:pt x="27322" y="0"/>
                  <a:pt x="43921" y="2605"/>
                  <a:pt x="56159" y="5028"/>
                </a:cubicBezTo>
                <a:cubicBezTo>
                  <a:pt x="68396" y="7391"/>
                  <a:pt x="80754" y="13267"/>
                  <a:pt x="91538" y="19810"/>
                </a:cubicBezTo>
                <a:cubicBezTo>
                  <a:pt x="102321" y="26413"/>
                  <a:pt x="112681" y="34834"/>
                  <a:pt x="120859" y="44406"/>
                </a:cubicBezTo>
                <a:cubicBezTo>
                  <a:pt x="128977" y="53978"/>
                  <a:pt x="136549" y="65609"/>
                  <a:pt x="140487" y="77362"/>
                </a:cubicBezTo>
                <a:cubicBezTo>
                  <a:pt x="144425" y="89115"/>
                  <a:pt x="148363" y="104805"/>
                  <a:pt x="144425" y="114983"/>
                </a:cubicBezTo>
                <a:cubicBezTo>
                  <a:pt x="140487" y="125160"/>
                  <a:pt x="127765" y="135398"/>
                  <a:pt x="116921" y="138367"/>
                </a:cubicBezTo>
                <a:cubicBezTo>
                  <a:pt x="106077" y="141275"/>
                  <a:pt x="91477" y="134368"/>
                  <a:pt x="79422" y="132672"/>
                </a:cubicBezTo>
                <a:cubicBezTo>
                  <a:pt x="67305" y="130915"/>
                  <a:pt x="53311" y="131945"/>
                  <a:pt x="44406" y="127947"/>
                </a:cubicBezTo>
                <a:cubicBezTo>
                  <a:pt x="35440" y="123949"/>
                  <a:pt x="31139" y="117648"/>
                  <a:pt x="25686" y="108622"/>
                </a:cubicBezTo>
                <a:cubicBezTo>
                  <a:pt x="20234" y="99656"/>
                  <a:pt x="15872" y="85722"/>
                  <a:pt x="11753" y="73909"/>
                </a:cubicBezTo>
                <a:cubicBezTo>
                  <a:pt x="7633" y="62035"/>
                  <a:pt x="0" y="48889"/>
                  <a:pt x="1090" y="37500"/>
                </a:cubicBezTo>
                <a:cubicBezTo>
                  <a:pt x="2120" y="26110"/>
                  <a:pt x="8905" y="10783"/>
                  <a:pt x="18114" y="5392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artery_nuclear_soft_light_244"/>
          <p:cNvSpPr/>
          <p:nvPr/>
        </p:nvSpPr>
        <p:spPr>
          <a:xfrm>
            <a:off x="11183855" y="4451588"/>
            <a:ext cx="54539" cy="50805"/>
          </a:xfrm>
          <a:custGeom>
            <a:avLst/>
            <a:gdLst/>
            <a:ahLst/>
            <a:cxnLst/>
            <a:rect l="0" t="0" r="r" b="b"/>
            <a:pathLst>
              <a:path w="54539" h="50805">
                <a:moveTo>
                  <a:pt x="2606" y="2850"/>
                </a:moveTo>
                <a:cubicBezTo>
                  <a:pt x="5213" y="0"/>
                  <a:pt x="18368" y="7786"/>
                  <a:pt x="31989" y="20241"/>
                </a:cubicBezTo>
                <a:cubicBezTo>
                  <a:pt x="45610" y="32697"/>
                  <a:pt x="54539" y="45104"/>
                  <a:pt x="51932" y="47954"/>
                </a:cubicBezTo>
                <a:cubicBezTo>
                  <a:pt x="49326" y="50805"/>
                  <a:pt x="36171" y="43019"/>
                  <a:pt x="22550" y="30563"/>
                </a:cubicBezTo>
                <a:cubicBezTo>
                  <a:pt x="8929" y="18108"/>
                  <a:pt x="0" y="5701"/>
                  <a:pt x="2606" y="2850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artery_intercellular_collagen_septum_245"/>
          <p:cNvSpPr/>
          <p:nvPr/>
        </p:nvSpPr>
        <p:spPr>
          <a:xfrm>
            <a:off x="10451379" y="4280708"/>
            <a:ext cx="733332" cy="526448"/>
          </a:xfrm>
          <a:custGeom>
            <a:avLst/>
            <a:gdLst/>
            <a:ahLst/>
            <a:cxnLst/>
            <a:rect l="0" t="0" r="r" b="b"/>
            <a:pathLst>
              <a:path w="733332" h="526448">
                <a:moveTo>
                  <a:pt x="11450" y="9027"/>
                </a:moveTo>
                <a:cubicBezTo>
                  <a:pt x="22960" y="0"/>
                  <a:pt x="70819" y="25202"/>
                  <a:pt x="100201" y="35076"/>
                </a:cubicBezTo>
                <a:cubicBezTo>
                  <a:pt x="129522" y="44951"/>
                  <a:pt x="158480" y="57067"/>
                  <a:pt x="187559" y="68214"/>
                </a:cubicBezTo>
                <a:cubicBezTo>
                  <a:pt x="216637" y="79300"/>
                  <a:pt x="245777" y="90326"/>
                  <a:pt x="274795" y="101655"/>
                </a:cubicBezTo>
                <a:cubicBezTo>
                  <a:pt x="303813" y="112983"/>
                  <a:pt x="333437" y="123100"/>
                  <a:pt x="361608" y="136186"/>
                </a:cubicBezTo>
                <a:cubicBezTo>
                  <a:pt x="389778" y="149271"/>
                  <a:pt x="417463" y="163871"/>
                  <a:pt x="443876" y="180228"/>
                </a:cubicBezTo>
                <a:cubicBezTo>
                  <a:pt x="470290" y="196525"/>
                  <a:pt x="496279" y="214275"/>
                  <a:pt x="520148" y="234085"/>
                </a:cubicBezTo>
                <a:cubicBezTo>
                  <a:pt x="544017" y="253895"/>
                  <a:pt x="565886" y="276491"/>
                  <a:pt x="587211" y="299149"/>
                </a:cubicBezTo>
                <a:cubicBezTo>
                  <a:pt x="608475" y="321806"/>
                  <a:pt x="628103" y="346099"/>
                  <a:pt x="647913" y="370089"/>
                </a:cubicBezTo>
                <a:cubicBezTo>
                  <a:pt x="667723" y="394139"/>
                  <a:pt x="694015" y="418735"/>
                  <a:pt x="706071" y="443210"/>
                </a:cubicBezTo>
                <a:cubicBezTo>
                  <a:pt x="718187" y="467685"/>
                  <a:pt x="733332" y="507426"/>
                  <a:pt x="720549" y="516937"/>
                </a:cubicBezTo>
                <a:cubicBezTo>
                  <a:pt x="707706" y="526448"/>
                  <a:pt x="659484" y="507305"/>
                  <a:pt x="629315" y="500217"/>
                </a:cubicBezTo>
                <a:cubicBezTo>
                  <a:pt x="599085" y="493189"/>
                  <a:pt x="569339" y="483315"/>
                  <a:pt x="539473" y="474530"/>
                </a:cubicBezTo>
                <a:cubicBezTo>
                  <a:pt x="509546" y="465807"/>
                  <a:pt x="478832" y="459082"/>
                  <a:pt x="449934" y="447754"/>
                </a:cubicBezTo>
                <a:cubicBezTo>
                  <a:pt x="421098" y="436425"/>
                  <a:pt x="393776" y="421037"/>
                  <a:pt x="366212" y="406559"/>
                </a:cubicBezTo>
                <a:cubicBezTo>
                  <a:pt x="338708" y="392140"/>
                  <a:pt x="310053" y="378752"/>
                  <a:pt x="284609" y="361123"/>
                </a:cubicBezTo>
                <a:cubicBezTo>
                  <a:pt x="259165" y="343494"/>
                  <a:pt x="236447" y="321927"/>
                  <a:pt x="213608" y="300845"/>
                </a:cubicBezTo>
                <a:cubicBezTo>
                  <a:pt x="190769" y="279763"/>
                  <a:pt x="169081" y="257227"/>
                  <a:pt x="147515" y="234751"/>
                </a:cubicBezTo>
                <a:cubicBezTo>
                  <a:pt x="125948" y="212336"/>
                  <a:pt x="103593" y="190466"/>
                  <a:pt x="84207" y="166234"/>
                </a:cubicBezTo>
                <a:cubicBezTo>
                  <a:pt x="64822" y="141941"/>
                  <a:pt x="43315" y="115467"/>
                  <a:pt x="31199" y="89236"/>
                </a:cubicBezTo>
                <a:cubicBezTo>
                  <a:pt x="19083" y="63065"/>
                  <a:pt x="0" y="18053"/>
                  <a:pt x="11450" y="9027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artery_smooth_muscle_cell_246"/>
          <p:cNvSpPr/>
          <p:nvPr/>
        </p:nvSpPr>
        <p:spPr>
          <a:xfrm>
            <a:off x="10451379" y="4280708"/>
            <a:ext cx="733332" cy="526448"/>
          </a:xfrm>
          <a:custGeom>
            <a:avLst/>
            <a:gdLst/>
            <a:ahLst/>
            <a:cxnLst/>
            <a:rect l="0" t="0" r="r" b="b"/>
            <a:pathLst>
              <a:path w="733332" h="526448">
                <a:moveTo>
                  <a:pt x="11450" y="9027"/>
                </a:moveTo>
                <a:cubicBezTo>
                  <a:pt x="22960" y="0"/>
                  <a:pt x="70819" y="25202"/>
                  <a:pt x="100201" y="35076"/>
                </a:cubicBezTo>
                <a:cubicBezTo>
                  <a:pt x="129522" y="44951"/>
                  <a:pt x="158480" y="57067"/>
                  <a:pt x="187559" y="68214"/>
                </a:cubicBezTo>
                <a:cubicBezTo>
                  <a:pt x="216637" y="79300"/>
                  <a:pt x="245777" y="90326"/>
                  <a:pt x="274795" y="101655"/>
                </a:cubicBezTo>
                <a:cubicBezTo>
                  <a:pt x="303813" y="112983"/>
                  <a:pt x="333437" y="123100"/>
                  <a:pt x="361608" y="136186"/>
                </a:cubicBezTo>
                <a:cubicBezTo>
                  <a:pt x="389778" y="149271"/>
                  <a:pt x="417463" y="163871"/>
                  <a:pt x="443876" y="180228"/>
                </a:cubicBezTo>
                <a:cubicBezTo>
                  <a:pt x="470290" y="196525"/>
                  <a:pt x="496279" y="214275"/>
                  <a:pt x="520148" y="234085"/>
                </a:cubicBezTo>
                <a:cubicBezTo>
                  <a:pt x="544017" y="253895"/>
                  <a:pt x="565886" y="276491"/>
                  <a:pt x="587211" y="299149"/>
                </a:cubicBezTo>
                <a:cubicBezTo>
                  <a:pt x="608475" y="321806"/>
                  <a:pt x="628103" y="346099"/>
                  <a:pt x="647913" y="370089"/>
                </a:cubicBezTo>
                <a:cubicBezTo>
                  <a:pt x="667723" y="394139"/>
                  <a:pt x="694015" y="418735"/>
                  <a:pt x="706071" y="443210"/>
                </a:cubicBezTo>
                <a:cubicBezTo>
                  <a:pt x="718187" y="467685"/>
                  <a:pt x="733332" y="507426"/>
                  <a:pt x="720549" y="516937"/>
                </a:cubicBezTo>
                <a:cubicBezTo>
                  <a:pt x="707706" y="526448"/>
                  <a:pt x="659484" y="507305"/>
                  <a:pt x="629315" y="500217"/>
                </a:cubicBezTo>
                <a:cubicBezTo>
                  <a:pt x="599085" y="493189"/>
                  <a:pt x="569339" y="483315"/>
                  <a:pt x="539473" y="474530"/>
                </a:cubicBezTo>
                <a:cubicBezTo>
                  <a:pt x="509546" y="465807"/>
                  <a:pt x="478832" y="459082"/>
                  <a:pt x="449934" y="447754"/>
                </a:cubicBezTo>
                <a:cubicBezTo>
                  <a:pt x="421098" y="436425"/>
                  <a:pt x="393776" y="421037"/>
                  <a:pt x="366212" y="406559"/>
                </a:cubicBezTo>
                <a:cubicBezTo>
                  <a:pt x="338708" y="392140"/>
                  <a:pt x="310053" y="378752"/>
                  <a:pt x="284609" y="361123"/>
                </a:cubicBezTo>
                <a:cubicBezTo>
                  <a:pt x="259165" y="343494"/>
                  <a:pt x="236447" y="321927"/>
                  <a:pt x="213608" y="300845"/>
                </a:cubicBezTo>
                <a:cubicBezTo>
                  <a:pt x="190769" y="279763"/>
                  <a:pt x="169081" y="257227"/>
                  <a:pt x="147515" y="234751"/>
                </a:cubicBezTo>
                <a:cubicBezTo>
                  <a:pt x="125948" y="212336"/>
                  <a:pt x="103593" y="190466"/>
                  <a:pt x="84207" y="166234"/>
                </a:cubicBezTo>
                <a:cubicBezTo>
                  <a:pt x="64822" y="141941"/>
                  <a:pt x="43315" y="115467"/>
                  <a:pt x="31199" y="89236"/>
                </a:cubicBezTo>
                <a:cubicBezTo>
                  <a:pt x="19083" y="63065"/>
                  <a:pt x="0" y="18053"/>
                  <a:pt x="11450" y="9027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artery_muscle_soft_light_247"/>
          <p:cNvSpPr/>
          <p:nvPr/>
        </p:nvSpPr>
        <p:spPr>
          <a:xfrm>
            <a:off x="10468366" y="4298061"/>
            <a:ext cx="689332" cy="479068"/>
          </a:xfrm>
          <a:custGeom>
            <a:avLst/>
            <a:gdLst/>
            <a:ahLst/>
            <a:cxnLst/>
            <a:rect l="0" t="0" r="r" b="b"/>
            <a:pathLst>
              <a:path w="689332" h="479068">
                <a:moveTo>
                  <a:pt x="10763" y="8214"/>
                </a:moveTo>
                <a:cubicBezTo>
                  <a:pt x="21583" y="0"/>
                  <a:pt x="66570" y="22934"/>
                  <a:pt x="94189" y="31919"/>
                </a:cubicBezTo>
                <a:cubicBezTo>
                  <a:pt x="121751" y="40905"/>
                  <a:pt x="148971" y="51931"/>
                  <a:pt x="176305" y="62075"/>
                </a:cubicBezTo>
                <a:cubicBezTo>
                  <a:pt x="203639" y="72163"/>
                  <a:pt x="231030" y="82197"/>
                  <a:pt x="258307" y="92506"/>
                </a:cubicBezTo>
                <a:cubicBezTo>
                  <a:pt x="285585" y="102815"/>
                  <a:pt x="313431" y="112021"/>
                  <a:pt x="339911" y="123929"/>
                </a:cubicBezTo>
                <a:cubicBezTo>
                  <a:pt x="366391" y="135837"/>
                  <a:pt x="392415" y="149123"/>
                  <a:pt x="417244" y="164008"/>
                </a:cubicBezTo>
                <a:cubicBezTo>
                  <a:pt x="442072" y="178837"/>
                  <a:pt x="466502" y="194990"/>
                  <a:pt x="488939" y="213017"/>
                </a:cubicBezTo>
                <a:cubicBezTo>
                  <a:pt x="511376" y="231044"/>
                  <a:pt x="531933" y="251607"/>
                  <a:pt x="551978" y="272225"/>
                </a:cubicBezTo>
                <a:cubicBezTo>
                  <a:pt x="571966" y="292843"/>
                  <a:pt x="590417" y="314950"/>
                  <a:pt x="609038" y="336781"/>
                </a:cubicBezTo>
                <a:cubicBezTo>
                  <a:pt x="627660" y="358667"/>
                  <a:pt x="652374" y="381049"/>
                  <a:pt x="663706" y="403321"/>
                </a:cubicBezTo>
                <a:cubicBezTo>
                  <a:pt x="675096" y="425593"/>
                  <a:pt x="689332" y="461757"/>
                  <a:pt x="677316" y="470413"/>
                </a:cubicBezTo>
                <a:cubicBezTo>
                  <a:pt x="665244" y="479068"/>
                  <a:pt x="619915" y="461647"/>
                  <a:pt x="591556" y="455197"/>
                </a:cubicBezTo>
                <a:cubicBezTo>
                  <a:pt x="563140" y="448802"/>
                  <a:pt x="535179" y="439816"/>
                  <a:pt x="507105" y="431823"/>
                </a:cubicBezTo>
                <a:cubicBezTo>
                  <a:pt x="478973" y="423884"/>
                  <a:pt x="450102" y="417765"/>
                  <a:pt x="422938" y="407456"/>
                </a:cubicBezTo>
                <a:cubicBezTo>
                  <a:pt x="395832" y="397147"/>
                  <a:pt x="370149" y="383144"/>
                  <a:pt x="344239" y="369968"/>
                </a:cubicBezTo>
                <a:cubicBezTo>
                  <a:pt x="318385" y="356848"/>
                  <a:pt x="291450" y="344664"/>
                  <a:pt x="267533" y="328622"/>
                </a:cubicBezTo>
                <a:cubicBezTo>
                  <a:pt x="243615" y="312579"/>
                  <a:pt x="222260" y="292954"/>
                  <a:pt x="200792" y="273769"/>
                </a:cubicBezTo>
                <a:cubicBezTo>
                  <a:pt x="179323" y="254584"/>
                  <a:pt x="158936" y="234076"/>
                  <a:pt x="138664" y="213623"/>
                </a:cubicBezTo>
                <a:cubicBezTo>
                  <a:pt x="118391" y="193226"/>
                  <a:pt x="97378" y="173324"/>
                  <a:pt x="79155" y="151273"/>
                </a:cubicBezTo>
                <a:cubicBezTo>
                  <a:pt x="60932" y="129166"/>
                  <a:pt x="40716" y="105075"/>
                  <a:pt x="29327" y="81204"/>
                </a:cubicBezTo>
                <a:cubicBezTo>
                  <a:pt x="17938" y="57389"/>
                  <a:pt x="0" y="16428"/>
                  <a:pt x="10763" y="8214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artery_muscle_nucleus_248"/>
          <p:cNvSpPr/>
          <p:nvPr/>
        </p:nvSpPr>
        <p:spPr>
          <a:xfrm>
            <a:off x="10736291" y="4488319"/>
            <a:ext cx="155935" cy="132612"/>
          </a:xfrm>
          <a:custGeom>
            <a:avLst/>
            <a:gdLst/>
            <a:ahLst/>
            <a:cxnLst/>
            <a:rect l="0" t="0" r="r" b="b"/>
            <a:pathLst>
              <a:path w="155935" h="132612">
                <a:moveTo>
                  <a:pt x="22112" y="4907"/>
                </a:moveTo>
                <a:cubicBezTo>
                  <a:pt x="31563" y="0"/>
                  <a:pt x="46647" y="1333"/>
                  <a:pt x="58218" y="3271"/>
                </a:cubicBezTo>
                <a:cubicBezTo>
                  <a:pt x="69850" y="5149"/>
                  <a:pt x="81300" y="10662"/>
                  <a:pt x="91780" y="16357"/>
                </a:cubicBezTo>
                <a:cubicBezTo>
                  <a:pt x="102261" y="22051"/>
                  <a:pt x="112559" y="29261"/>
                  <a:pt x="121222" y="37560"/>
                </a:cubicBezTo>
                <a:cubicBezTo>
                  <a:pt x="129885" y="45799"/>
                  <a:pt x="138064" y="55553"/>
                  <a:pt x="143637" y="65973"/>
                </a:cubicBezTo>
                <a:cubicBezTo>
                  <a:pt x="149211" y="76393"/>
                  <a:pt x="155935" y="89781"/>
                  <a:pt x="154603" y="100140"/>
                </a:cubicBezTo>
                <a:cubicBezTo>
                  <a:pt x="153270" y="110500"/>
                  <a:pt x="144728" y="123464"/>
                  <a:pt x="135580" y="128068"/>
                </a:cubicBezTo>
                <a:cubicBezTo>
                  <a:pt x="126372" y="132612"/>
                  <a:pt x="111166" y="129825"/>
                  <a:pt x="99474" y="127583"/>
                </a:cubicBezTo>
                <a:cubicBezTo>
                  <a:pt x="87842" y="125342"/>
                  <a:pt x="76211" y="120374"/>
                  <a:pt x="65609" y="114740"/>
                </a:cubicBezTo>
                <a:cubicBezTo>
                  <a:pt x="55007" y="109167"/>
                  <a:pt x="44709" y="102018"/>
                  <a:pt x="35864" y="94022"/>
                </a:cubicBezTo>
                <a:cubicBezTo>
                  <a:pt x="27019" y="86085"/>
                  <a:pt x="18356" y="77180"/>
                  <a:pt x="12601" y="66942"/>
                </a:cubicBezTo>
                <a:cubicBezTo>
                  <a:pt x="6906" y="56704"/>
                  <a:pt x="0" y="42952"/>
                  <a:pt x="1575" y="32593"/>
                </a:cubicBezTo>
                <a:cubicBezTo>
                  <a:pt x="3150" y="22294"/>
                  <a:pt x="12661" y="9814"/>
                  <a:pt x="22112" y="4907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artery_nuclear_soft_light_249"/>
          <p:cNvSpPr/>
          <p:nvPr/>
        </p:nvSpPr>
        <p:spPr>
          <a:xfrm>
            <a:off x="10772665" y="4519437"/>
            <a:ext cx="60044" cy="45598"/>
          </a:xfrm>
          <a:custGeom>
            <a:avLst/>
            <a:gdLst/>
            <a:ahLst/>
            <a:cxnLst/>
            <a:rect l="0" t="0" r="r" b="b"/>
            <a:pathLst>
              <a:path w="60044" h="45598">
                <a:moveTo>
                  <a:pt x="2001" y="2804"/>
                </a:moveTo>
                <a:cubicBezTo>
                  <a:pt x="4002" y="0"/>
                  <a:pt x="18169" y="6679"/>
                  <a:pt x="33645" y="17722"/>
                </a:cubicBezTo>
                <a:cubicBezTo>
                  <a:pt x="49121" y="28764"/>
                  <a:pt x="60044" y="39990"/>
                  <a:pt x="58043" y="42794"/>
                </a:cubicBezTo>
                <a:cubicBezTo>
                  <a:pt x="56043" y="45598"/>
                  <a:pt x="41875" y="38919"/>
                  <a:pt x="26399" y="27876"/>
                </a:cubicBezTo>
                <a:cubicBezTo>
                  <a:pt x="10924" y="16833"/>
                  <a:pt x="0" y="5608"/>
                  <a:pt x="2001" y="2804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artery_intercellular_collagen_septum_250"/>
          <p:cNvSpPr/>
          <p:nvPr/>
        </p:nvSpPr>
        <p:spPr>
          <a:xfrm>
            <a:off x="11742055" y="4282283"/>
            <a:ext cx="561827" cy="654577"/>
          </a:xfrm>
          <a:custGeom>
            <a:avLst/>
            <a:gdLst/>
            <a:ahLst/>
            <a:cxnLst/>
            <a:rect l="0" t="0" r="r" b="b"/>
            <a:pathLst>
              <a:path w="561827" h="654577">
                <a:moveTo>
                  <a:pt x="11510" y="7088"/>
                </a:moveTo>
                <a:cubicBezTo>
                  <a:pt x="23021" y="0"/>
                  <a:pt x="65246" y="30290"/>
                  <a:pt x="91235" y="44345"/>
                </a:cubicBezTo>
                <a:cubicBezTo>
                  <a:pt x="117224" y="58461"/>
                  <a:pt x="142062" y="75908"/>
                  <a:pt x="167506" y="91598"/>
                </a:cubicBezTo>
                <a:cubicBezTo>
                  <a:pt x="193011" y="107289"/>
                  <a:pt x="218455" y="122979"/>
                  <a:pt x="243959" y="138609"/>
                </a:cubicBezTo>
                <a:cubicBezTo>
                  <a:pt x="269403" y="154300"/>
                  <a:pt x="295453" y="169142"/>
                  <a:pt x="320352" y="185681"/>
                </a:cubicBezTo>
                <a:cubicBezTo>
                  <a:pt x="345251" y="202159"/>
                  <a:pt x="371058" y="218031"/>
                  <a:pt x="393291" y="237720"/>
                </a:cubicBezTo>
                <a:cubicBezTo>
                  <a:pt x="415525" y="257408"/>
                  <a:pt x="436728" y="279581"/>
                  <a:pt x="453872" y="303753"/>
                </a:cubicBezTo>
                <a:cubicBezTo>
                  <a:pt x="471017" y="327864"/>
                  <a:pt x="484163" y="355428"/>
                  <a:pt x="496158" y="382690"/>
                </a:cubicBezTo>
                <a:cubicBezTo>
                  <a:pt x="508153" y="409951"/>
                  <a:pt x="516634" y="438909"/>
                  <a:pt x="525903" y="467321"/>
                </a:cubicBezTo>
                <a:cubicBezTo>
                  <a:pt x="535172" y="495734"/>
                  <a:pt x="547591" y="524025"/>
                  <a:pt x="551710" y="553164"/>
                </a:cubicBezTo>
                <a:cubicBezTo>
                  <a:pt x="555830" y="582364"/>
                  <a:pt x="561827" y="630042"/>
                  <a:pt x="550559" y="642339"/>
                </a:cubicBezTo>
                <a:cubicBezTo>
                  <a:pt x="539352" y="654577"/>
                  <a:pt x="506214" y="639553"/>
                  <a:pt x="484223" y="626710"/>
                </a:cubicBezTo>
                <a:cubicBezTo>
                  <a:pt x="462293" y="613866"/>
                  <a:pt x="440666" y="585817"/>
                  <a:pt x="418796" y="565341"/>
                </a:cubicBezTo>
                <a:cubicBezTo>
                  <a:pt x="396987" y="544925"/>
                  <a:pt x="374935" y="524752"/>
                  <a:pt x="353308" y="504094"/>
                </a:cubicBezTo>
                <a:cubicBezTo>
                  <a:pt x="331681" y="483496"/>
                  <a:pt x="310720" y="462111"/>
                  <a:pt x="288971" y="441635"/>
                </a:cubicBezTo>
                <a:cubicBezTo>
                  <a:pt x="267162" y="421098"/>
                  <a:pt x="243899" y="402136"/>
                  <a:pt x="222695" y="381175"/>
                </a:cubicBezTo>
                <a:cubicBezTo>
                  <a:pt x="201432" y="360154"/>
                  <a:pt x="181137" y="338163"/>
                  <a:pt x="161388" y="315687"/>
                </a:cubicBezTo>
                <a:cubicBezTo>
                  <a:pt x="141699" y="293212"/>
                  <a:pt x="121344" y="270857"/>
                  <a:pt x="104442" y="246322"/>
                </a:cubicBezTo>
                <a:cubicBezTo>
                  <a:pt x="87600" y="221787"/>
                  <a:pt x="73848" y="195010"/>
                  <a:pt x="60157" y="168476"/>
                </a:cubicBezTo>
                <a:cubicBezTo>
                  <a:pt x="46466" y="141941"/>
                  <a:pt x="30351" y="114074"/>
                  <a:pt x="22233" y="87176"/>
                </a:cubicBezTo>
                <a:cubicBezTo>
                  <a:pt x="14115" y="60278"/>
                  <a:pt x="0" y="14237"/>
                  <a:pt x="11510" y="7088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artery_smooth_muscle_cell_251"/>
          <p:cNvSpPr/>
          <p:nvPr/>
        </p:nvSpPr>
        <p:spPr>
          <a:xfrm>
            <a:off x="11742055" y="4282283"/>
            <a:ext cx="561827" cy="654577"/>
          </a:xfrm>
          <a:custGeom>
            <a:avLst/>
            <a:gdLst/>
            <a:ahLst/>
            <a:cxnLst/>
            <a:rect l="0" t="0" r="r" b="b"/>
            <a:pathLst>
              <a:path w="561827" h="654577">
                <a:moveTo>
                  <a:pt x="11510" y="7088"/>
                </a:moveTo>
                <a:cubicBezTo>
                  <a:pt x="23021" y="0"/>
                  <a:pt x="65246" y="30290"/>
                  <a:pt x="91235" y="44345"/>
                </a:cubicBezTo>
                <a:cubicBezTo>
                  <a:pt x="117224" y="58461"/>
                  <a:pt x="142062" y="75908"/>
                  <a:pt x="167506" y="91598"/>
                </a:cubicBezTo>
                <a:cubicBezTo>
                  <a:pt x="193011" y="107289"/>
                  <a:pt x="218455" y="122979"/>
                  <a:pt x="243959" y="138609"/>
                </a:cubicBezTo>
                <a:cubicBezTo>
                  <a:pt x="269403" y="154300"/>
                  <a:pt x="295453" y="169142"/>
                  <a:pt x="320352" y="185681"/>
                </a:cubicBezTo>
                <a:cubicBezTo>
                  <a:pt x="345251" y="202159"/>
                  <a:pt x="371058" y="218031"/>
                  <a:pt x="393291" y="237720"/>
                </a:cubicBezTo>
                <a:cubicBezTo>
                  <a:pt x="415525" y="257408"/>
                  <a:pt x="436728" y="279581"/>
                  <a:pt x="453872" y="303753"/>
                </a:cubicBezTo>
                <a:cubicBezTo>
                  <a:pt x="471017" y="327864"/>
                  <a:pt x="484163" y="355428"/>
                  <a:pt x="496158" y="382690"/>
                </a:cubicBezTo>
                <a:cubicBezTo>
                  <a:pt x="508153" y="409951"/>
                  <a:pt x="516634" y="438909"/>
                  <a:pt x="525903" y="467321"/>
                </a:cubicBezTo>
                <a:cubicBezTo>
                  <a:pt x="535172" y="495734"/>
                  <a:pt x="547591" y="524025"/>
                  <a:pt x="551710" y="553164"/>
                </a:cubicBezTo>
                <a:cubicBezTo>
                  <a:pt x="555830" y="582364"/>
                  <a:pt x="561827" y="630042"/>
                  <a:pt x="550559" y="642339"/>
                </a:cubicBezTo>
                <a:cubicBezTo>
                  <a:pt x="539352" y="654577"/>
                  <a:pt x="506214" y="639553"/>
                  <a:pt x="484223" y="626710"/>
                </a:cubicBezTo>
                <a:cubicBezTo>
                  <a:pt x="462293" y="613866"/>
                  <a:pt x="440666" y="585817"/>
                  <a:pt x="418796" y="565341"/>
                </a:cubicBezTo>
                <a:cubicBezTo>
                  <a:pt x="396987" y="544925"/>
                  <a:pt x="374935" y="524752"/>
                  <a:pt x="353308" y="504094"/>
                </a:cubicBezTo>
                <a:cubicBezTo>
                  <a:pt x="331681" y="483496"/>
                  <a:pt x="310720" y="462111"/>
                  <a:pt x="288971" y="441635"/>
                </a:cubicBezTo>
                <a:cubicBezTo>
                  <a:pt x="267162" y="421098"/>
                  <a:pt x="243899" y="402136"/>
                  <a:pt x="222695" y="381175"/>
                </a:cubicBezTo>
                <a:cubicBezTo>
                  <a:pt x="201432" y="360154"/>
                  <a:pt x="181137" y="338163"/>
                  <a:pt x="161388" y="315687"/>
                </a:cubicBezTo>
                <a:cubicBezTo>
                  <a:pt x="141699" y="293212"/>
                  <a:pt x="121344" y="270857"/>
                  <a:pt x="104442" y="246322"/>
                </a:cubicBezTo>
                <a:cubicBezTo>
                  <a:pt x="87600" y="221787"/>
                  <a:pt x="73848" y="195010"/>
                  <a:pt x="60157" y="168476"/>
                </a:cubicBezTo>
                <a:cubicBezTo>
                  <a:pt x="46466" y="141941"/>
                  <a:pt x="30351" y="114074"/>
                  <a:pt x="22233" y="87176"/>
                </a:cubicBezTo>
                <a:cubicBezTo>
                  <a:pt x="14115" y="60278"/>
                  <a:pt x="0" y="14237"/>
                  <a:pt x="11510" y="7088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artery_muscle_soft_light_252"/>
          <p:cNvSpPr/>
          <p:nvPr/>
        </p:nvSpPr>
        <p:spPr>
          <a:xfrm>
            <a:off x="11754033" y="4302771"/>
            <a:ext cx="528118" cy="595665"/>
          </a:xfrm>
          <a:custGeom>
            <a:avLst/>
            <a:gdLst/>
            <a:ahLst/>
            <a:cxnLst/>
            <a:rect l="0" t="0" r="r" b="b"/>
            <a:pathLst>
              <a:path w="528118" h="595665">
                <a:moveTo>
                  <a:pt x="10820" y="6450"/>
                </a:moveTo>
                <a:cubicBezTo>
                  <a:pt x="21640" y="0"/>
                  <a:pt x="61331" y="27564"/>
                  <a:pt x="85761" y="40354"/>
                </a:cubicBezTo>
                <a:cubicBezTo>
                  <a:pt x="110191" y="53199"/>
                  <a:pt x="133539" y="69076"/>
                  <a:pt x="157456" y="83354"/>
                </a:cubicBezTo>
                <a:cubicBezTo>
                  <a:pt x="181430" y="97633"/>
                  <a:pt x="205348" y="111911"/>
                  <a:pt x="229322" y="126134"/>
                </a:cubicBezTo>
                <a:cubicBezTo>
                  <a:pt x="253239" y="140413"/>
                  <a:pt x="277726" y="153919"/>
                  <a:pt x="301131" y="168969"/>
                </a:cubicBezTo>
                <a:cubicBezTo>
                  <a:pt x="324536" y="183964"/>
                  <a:pt x="348795" y="198408"/>
                  <a:pt x="369694" y="216325"/>
                </a:cubicBezTo>
                <a:cubicBezTo>
                  <a:pt x="390593" y="234242"/>
                  <a:pt x="410524" y="254419"/>
                  <a:pt x="426640" y="276415"/>
                </a:cubicBezTo>
                <a:cubicBezTo>
                  <a:pt x="442756" y="298356"/>
                  <a:pt x="455113" y="323440"/>
                  <a:pt x="466388" y="348248"/>
                </a:cubicBezTo>
                <a:cubicBezTo>
                  <a:pt x="477664" y="373055"/>
                  <a:pt x="485636" y="399407"/>
                  <a:pt x="494349" y="425262"/>
                </a:cubicBezTo>
                <a:cubicBezTo>
                  <a:pt x="503062" y="451118"/>
                  <a:pt x="514735" y="476863"/>
                  <a:pt x="518608" y="503380"/>
                </a:cubicBezTo>
                <a:cubicBezTo>
                  <a:pt x="522480" y="529952"/>
                  <a:pt x="528118" y="573338"/>
                  <a:pt x="517526" y="584529"/>
                </a:cubicBezTo>
                <a:cubicBezTo>
                  <a:pt x="506991" y="595665"/>
                  <a:pt x="475841" y="581993"/>
                  <a:pt x="455170" y="570306"/>
                </a:cubicBezTo>
                <a:cubicBezTo>
                  <a:pt x="434555" y="558618"/>
                  <a:pt x="414226" y="533094"/>
                  <a:pt x="393668" y="514460"/>
                </a:cubicBezTo>
                <a:cubicBezTo>
                  <a:pt x="373168" y="495882"/>
                  <a:pt x="352439" y="477524"/>
                  <a:pt x="332109" y="458725"/>
                </a:cubicBezTo>
                <a:cubicBezTo>
                  <a:pt x="311780" y="439982"/>
                  <a:pt x="292076" y="420521"/>
                  <a:pt x="271633" y="401888"/>
                </a:cubicBezTo>
                <a:cubicBezTo>
                  <a:pt x="251132" y="383199"/>
                  <a:pt x="229265" y="365944"/>
                  <a:pt x="209334" y="346869"/>
                </a:cubicBezTo>
                <a:cubicBezTo>
                  <a:pt x="189346" y="327740"/>
                  <a:pt x="170269" y="307728"/>
                  <a:pt x="151704" y="287275"/>
                </a:cubicBezTo>
                <a:cubicBezTo>
                  <a:pt x="133197" y="266823"/>
                  <a:pt x="114063" y="246480"/>
                  <a:pt x="98175" y="224153"/>
                </a:cubicBezTo>
                <a:cubicBezTo>
                  <a:pt x="82344" y="201826"/>
                  <a:pt x="69417" y="177459"/>
                  <a:pt x="56547" y="153313"/>
                </a:cubicBezTo>
                <a:cubicBezTo>
                  <a:pt x="43678" y="129166"/>
                  <a:pt x="28530" y="103807"/>
                  <a:pt x="20899" y="79330"/>
                </a:cubicBezTo>
                <a:cubicBezTo>
                  <a:pt x="13268" y="54853"/>
                  <a:pt x="0" y="12955"/>
                  <a:pt x="10820" y="6450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artery_muscle_nucleus_253"/>
          <p:cNvSpPr/>
          <p:nvPr/>
        </p:nvSpPr>
        <p:spPr>
          <a:xfrm>
            <a:off x="11999282" y="4545568"/>
            <a:ext cx="146364" cy="146666"/>
          </a:xfrm>
          <a:custGeom>
            <a:avLst/>
            <a:gdLst/>
            <a:ahLst/>
            <a:cxnLst/>
            <a:rect l="0" t="0" r="r" b="b"/>
            <a:pathLst>
              <a:path w="146364" h="146666">
                <a:moveTo>
                  <a:pt x="30593" y="2302"/>
                </a:moveTo>
                <a:cubicBezTo>
                  <a:pt x="40892" y="0"/>
                  <a:pt x="54462" y="6300"/>
                  <a:pt x="65488" y="10723"/>
                </a:cubicBezTo>
                <a:cubicBezTo>
                  <a:pt x="76574" y="15206"/>
                  <a:pt x="87176" y="21930"/>
                  <a:pt x="96929" y="29018"/>
                </a:cubicBezTo>
                <a:cubicBezTo>
                  <a:pt x="106622" y="36106"/>
                  <a:pt x="116861" y="43739"/>
                  <a:pt x="123767" y="53251"/>
                </a:cubicBezTo>
                <a:cubicBezTo>
                  <a:pt x="130734" y="62822"/>
                  <a:pt x="135217" y="74939"/>
                  <a:pt x="138367" y="86388"/>
                </a:cubicBezTo>
                <a:cubicBezTo>
                  <a:pt x="141517" y="97838"/>
                  <a:pt x="146364" y="112317"/>
                  <a:pt x="142789" y="121949"/>
                </a:cubicBezTo>
                <a:cubicBezTo>
                  <a:pt x="139154" y="131582"/>
                  <a:pt x="126796" y="141820"/>
                  <a:pt x="116618" y="144243"/>
                </a:cubicBezTo>
                <a:cubicBezTo>
                  <a:pt x="106441" y="146666"/>
                  <a:pt x="92628" y="141154"/>
                  <a:pt x="81663" y="136671"/>
                </a:cubicBezTo>
                <a:cubicBezTo>
                  <a:pt x="70698" y="132188"/>
                  <a:pt x="60339" y="124797"/>
                  <a:pt x="50888" y="117285"/>
                </a:cubicBezTo>
                <a:cubicBezTo>
                  <a:pt x="41437" y="109833"/>
                  <a:pt x="32229" y="101352"/>
                  <a:pt x="25020" y="91780"/>
                </a:cubicBezTo>
                <a:cubicBezTo>
                  <a:pt x="17811" y="82208"/>
                  <a:pt x="11207" y="71122"/>
                  <a:pt x="7633" y="59915"/>
                </a:cubicBezTo>
                <a:cubicBezTo>
                  <a:pt x="4120" y="48646"/>
                  <a:pt x="0" y="34046"/>
                  <a:pt x="3817" y="24475"/>
                </a:cubicBezTo>
                <a:cubicBezTo>
                  <a:pt x="7633" y="14842"/>
                  <a:pt x="20295" y="4604"/>
                  <a:pt x="30593" y="2302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artery_nuclear_soft_light_254"/>
          <p:cNvSpPr/>
          <p:nvPr/>
        </p:nvSpPr>
        <p:spPr>
          <a:xfrm>
            <a:off x="12033836" y="4579913"/>
            <a:ext cx="53872" cy="53442"/>
          </a:xfrm>
          <a:custGeom>
            <a:avLst/>
            <a:gdLst/>
            <a:ahLst/>
            <a:cxnLst/>
            <a:rect l="0" t="0" r="r" b="b"/>
            <a:pathLst>
              <a:path w="53872" h="53442">
                <a:moveTo>
                  <a:pt x="2421" y="2445"/>
                </a:moveTo>
                <a:cubicBezTo>
                  <a:pt x="4842" y="0"/>
                  <a:pt x="17781" y="8887"/>
                  <a:pt x="31320" y="22294"/>
                </a:cubicBezTo>
                <a:cubicBezTo>
                  <a:pt x="44859" y="35702"/>
                  <a:pt x="53872" y="48553"/>
                  <a:pt x="51451" y="50997"/>
                </a:cubicBezTo>
                <a:cubicBezTo>
                  <a:pt x="49029" y="53442"/>
                  <a:pt x="36091" y="44555"/>
                  <a:pt x="22552" y="31148"/>
                </a:cubicBezTo>
                <a:cubicBezTo>
                  <a:pt x="9013" y="17741"/>
                  <a:pt x="0" y="4890"/>
                  <a:pt x="2421" y="2445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artery_intercellular_collagen_septum_255"/>
          <p:cNvSpPr/>
          <p:nvPr/>
        </p:nvSpPr>
        <p:spPr>
          <a:xfrm>
            <a:off x="11529659" y="4533634"/>
            <a:ext cx="646035" cy="532688"/>
          </a:xfrm>
          <a:custGeom>
            <a:avLst/>
            <a:gdLst/>
            <a:ahLst/>
            <a:cxnLst/>
            <a:rect l="0" t="0" r="r" b="b"/>
            <a:pathLst>
              <a:path w="646035" h="532688">
                <a:moveTo>
                  <a:pt x="12661" y="9390"/>
                </a:moveTo>
                <a:cubicBezTo>
                  <a:pt x="25383" y="0"/>
                  <a:pt x="68154" y="23324"/>
                  <a:pt x="95597" y="32108"/>
                </a:cubicBezTo>
                <a:cubicBezTo>
                  <a:pt x="123040" y="40892"/>
                  <a:pt x="150301" y="51433"/>
                  <a:pt x="177260" y="62035"/>
                </a:cubicBezTo>
                <a:cubicBezTo>
                  <a:pt x="204218" y="72637"/>
                  <a:pt x="231419" y="82996"/>
                  <a:pt x="257348" y="95778"/>
                </a:cubicBezTo>
                <a:cubicBezTo>
                  <a:pt x="283276" y="108622"/>
                  <a:pt x="308236" y="123646"/>
                  <a:pt x="332832" y="138912"/>
                </a:cubicBezTo>
                <a:cubicBezTo>
                  <a:pt x="357427" y="154178"/>
                  <a:pt x="382508" y="169263"/>
                  <a:pt x="404983" y="187316"/>
                </a:cubicBezTo>
                <a:cubicBezTo>
                  <a:pt x="427459" y="205430"/>
                  <a:pt x="447269" y="226997"/>
                  <a:pt x="467745" y="247473"/>
                </a:cubicBezTo>
                <a:cubicBezTo>
                  <a:pt x="488222" y="267949"/>
                  <a:pt x="508880" y="288365"/>
                  <a:pt x="528023" y="310114"/>
                </a:cubicBezTo>
                <a:cubicBezTo>
                  <a:pt x="547106" y="331862"/>
                  <a:pt x="565159" y="354701"/>
                  <a:pt x="582364" y="377964"/>
                </a:cubicBezTo>
                <a:cubicBezTo>
                  <a:pt x="599569" y="401288"/>
                  <a:pt x="622893" y="425581"/>
                  <a:pt x="631253" y="449874"/>
                </a:cubicBezTo>
                <a:cubicBezTo>
                  <a:pt x="639553" y="474106"/>
                  <a:pt x="646035" y="514514"/>
                  <a:pt x="632283" y="523601"/>
                </a:cubicBezTo>
                <a:cubicBezTo>
                  <a:pt x="618592" y="532688"/>
                  <a:pt x="576185" y="512817"/>
                  <a:pt x="548742" y="504397"/>
                </a:cubicBezTo>
                <a:cubicBezTo>
                  <a:pt x="521299" y="496037"/>
                  <a:pt x="494643" y="483617"/>
                  <a:pt x="467564" y="473198"/>
                </a:cubicBezTo>
                <a:cubicBezTo>
                  <a:pt x="440544" y="462778"/>
                  <a:pt x="412920" y="453630"/>
                  <a:pt x="386506" y="441817"/>
                </a:cubicBezTo>
                <a:cubicBezTo>
                  <a:pt x="360093" y="429943"/>
                  <a:pt x="334407" y="416494"/>
                  <a:pt x="309205" y="402257"/>
                </a:cubicBezTo>
                <a:cubicBezTo>
                  <a:pt x="284003" y="388021"/>
                  <a:pt x="258681" y="373421"/>
                  <a:pt x="235357" y="356398"/>
                </a:cubicBezTo>
                <a:cubicBezTo>
                  <a:pt x="212033" y="339374"/>
                  <a:pt x="189800" y="320291"/>
                  <a:pt x="169203" y="300057"/>
                </a:cubicBezTo>
                <a:cubicBezTo>
                  <a:pt x="148544" y="279823"/>
                  <a:pt x="129885" y="257469"/>
                  <a:pt x="111590" y="235054"/>
                </a:cubicBezTo>
                <a:cubicBezTo>
                  <a:pt x="93355" y="212578"/>
                  <a:pt x="74999" y="189800"/>
                  <a:pt x="59612" y="165386"/>
                </a:cubicBezTo>
                <a:cubicBezTo>
                  <a:pt x="44285" y="140911"/>
                  <a:pt x="27383" y="114256"/>
                  <a:pt x="19568" y="88266"/>
                </a:cubicBezTo>
                <a:cubicBezTo>
                  <a:pt x="11753" y="62277"/>
                  <a:pt x="0" y="18720"/>
                  <a:pt x="12661" y="9390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artery_smooth_muscle_cell_256"/>
          <p:cNvSpPr/>
          <p:nvPr/>
        </p:nvSpPr>
        <p:spPr>
          <a:xfrm>
            <a:off x="11529659" y="4533634"/>
            <a:ext cx="646035" cy="532688"/>
          </a:xfrm>
          <a:custGeom>
            <a:avLst/>
            <a:gdLst/>
            <a:ahLst/>
            <a:cxnLst/>
            <a:rect l="0" t="0" r="r" b="b"/>
            <a:pathLst>
              <a:path w="646035" h="532688">
                <a:moveTo>
                  <a:pt x="12661" y="9390"/>
                </a:moveTo>
                <a:cubicBezTo>
                  <a:pt x="25383" y="0"/>
                  <a:pt x="68154" y="23324"/>
                  <a:pt x="95597" y="32108"/>
                </a:cubicBezTo>
                <a:cubicBezTo>
                  <a:pt x="123040" y="40892"/>
                  <a:pt x="150301" y="51433"/>
                  <a:pt x="177260" y="62035"/>
                </a:cubicBezTo>
                <a:cubicBezTo>
                  <a:pt x="204218" y="72637"/>
                  <a:pt x="231419" y="82996"/>
                  <a:pt x="257348" y="95778"/>
                </a:cubicBezTo>
                <a:cubicBezTo>
                  <a:pt x="283276" y="108622"/>
                  <a:pt x="308236" y="123646"/>
                  <a:pt x="332832" y="138912"/>
                </a:cubicBezTo>
                <a:cubicBezTo>
                  <a:pt x="357427" y="154178"/>
                  <a:pt x="382508" y="169263"/>
                  <a:pt x="404983" y="187316"/>
                </a:cubicBezTo>
                <a:cubicBezTo>
                  <a:pt x="427459" y="205430"/>
                  <a:pt x="447269" y="226997"/>
                  <a:pt x="467745" y="247473"/>
                </a:cubicBezTo>
                <a:cubicBezTo>
                  <a:pt x="488222" y="267949"/>
                  <a:pt x="508880" y="288365"/>
                  <a:pt x="528023" y="310114"/>
                </a:cubicBezTo>
                <a:cubicBezTo>
                  <a:pt x="547106" y="331862"/>
                  <a:pt x="565159" y="354701"/>
                  <a:pt x="582364" y="377964"/>
                </a:cubicBezTo>
                <a:cubicBezTo>
                  <a:pt x="599569" y="401288"/>
                  <a:pt x="622893" y="425581"/>
                  <a:pt x="631253" y="449874"/>
                </a:cubicBezTo>
                <a:cubicBezTo>
                  <a:pt x="639553" y="474106"/>
                  <a:pt x="646035" y="514514"/>
                  <a:pt x="632283" y="523601"/>
                </a:cubicBezTo>
                <a:cubicBezTo>
                  <a:pt x="618592" y="532688"/>
                  <a:pt x="576185" y="512817"/>
                  <a:pt x="548742" y="504397"/>
                </a:cubicBezTo>
                <a:cubicBezTo>
                  <a:pt x="521299" y="496037"/>
                  <a:pt x="494643" y="483617"/>
                  <a:pt x="467564" y="473198"/>
                </a:cubicBezTo>
                <a:cubicBezTo>
                  <a:pt x="440544" y="462778"/>
                  <a:pt x="412920" y="453630"/>
                  <a:pt x="386506" y="441817"/>
                </a:cubicBezTo>
                <a:cubicBezTo>
                  <a:pt x="360093" y="429943"/>
                  <a:pt x="334407" y="416494"/>
                  <a:pt x="309205" y="402257"/>
                </a:cubicBezTo>
                <a:cubicBezTo>
                  <a:pt x="284003" y="388021"/>
                  <a:pt x="258681" y="373421"/>
                  <a:pt x="235357" y="356398"/>
                </a:cubicBezTo>
                <a:cubicBezTo>
                  <a:pt x="212033" y="339374"/>
                  <a:pt x="189800" y="320291"/>
                  <a:pt x="169203" y="300057"/>
                </a:cubicBezTo>
                <a:cubicBezTo>
                  <a:pt x="148544" y="279823"/>
                  <a:pt x="129885" y="257469"/>
                  <a:pt x="111590" y="235054"/>
                </a:cubicBezTo>
                <a:cubicBezTo>
                  <a:pt x="93355" y="212578"/>
                  <a:pt x="74999" y="189800"/>
                  <a:pt x="59612" y="165386"/>
                </a:cubicBezTo>
                <a:cubicBezTo>
                  <a:pt x="44285" y="140911"/>
                  <a:pt x="27383" y="114256"/>
                  <a:pt x="19568" y="88266"/>
                </a:cubicBezTo>
                <a:cubicBezTo>
                  <a:pt x="11753" y="62277"/>
                  <a:pt x="0" y="18720"/>
                  <a:pt x="12661" y="9390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artery_muscle_soft_light_257"/>
          <p:cNvSpPr/>
          <p:nvPr/>
        </p:nvSpPr>
        <p:spPr>
          <a:xfrm>
            <a:off x="11543229" y="4550108"/>
            <a:ext cx="607273" cy="484746"/>
          </a:xfrm>
          <a:custGeom>
            <a:avLst/>
            <a:gdLst/>
            <a:ahLst/>
            <a:cxnLst/>
            <a:rect l="0" t="0" r="r" b="b"/>
            <a:pathLst>
              <a:path w="607273" h="484746">
                <a:moveTo>
                  <a:pt x="11902" y="8545"/>
                </a:moveTo>
                <a:cubicBezTo>
                  <a:pt x="23860" y="0"/>
                  <a:pt x="64064" y="21225"/>
                  <a:pt x="89861" y="29218"/>
                </a:cubicBezTo>
                <a:cubicBezTo>
                  <a:pt x="115657" y="37212"/>
                  <a:pt x="141283" y="46804"/>
                  <a:pt x="166624" y="56452"/>
                </a:cubicBezTo>
                <a:cubicBezTo>
                  <a:pt x="191965" y="66099"/>
                  <a:pt x="217534" y="75526"/>
                  <a:pt x="241907" y="87158"/>
                </a:cubicBezTo>
                <a:cubicBezTo>
                  <a:pt x="266280" y="98846"/>
                  <a:pt x="289742" y="112518"/>
                  <a:pt x="312862" y="126410"/>
                </a:cubicBezTo>
                <a:cubicBezTo>
                  <a:pt x="335982" y="140302"/>
                  <a:pt x="359557" y="154029"/>
                  <a:pt x="380684" y="170458"/>
                </a:cubicBezTo>
                <a:cubicBezTo>
                  <a:pt x="401811" y="186941"/>
                  <a:pt x="420433" y="206567"/>
                  <a:pt x="439681" y="225200"/>
                </a:cubicBezTo>
                <a:cubicBezTo>
                  <a:pt x="458928" y="243834"/>
                  <a:pt x="478347" y="262412"/>
                  <a:pt x="496342" y="282203"/>
                </a:cubicBezTo>
                <a:cubicBezTo>
                  <a:pt x="514280" y="301995"/>
                  <a:pt x="531250" y="322778"/>
                  <a:pt x="547423" y="343948"/>
                </a:cubicBezTo>
                <a:cubicBezTo>
                  <a:pt x="563595" y="365172"/>
                  <a:pt x="585519" y="387279"/>
                  <a:pt x="593378" y="409385"/>
                </a:cubicBezTo>
                <a:cubicBezTo>
                  <a:pt x="601180" y="431437"/>
                  <a:pt x="607273" y="468208"/>
                  <a:pt x="594346" y="476477"/>
                </a:cubicBezTo>
                <a:cubicBezTo>
                  <a:pt x="581476" y="484746"/>
                  <a:pt x="541614" y="466664"/>
                  <a:pt x="515817" y="459001"/>
                </a:cubicBezTo>
                <a:cubicBezTo>
                  <a:pt x="490021" y="451393"/>
                  <a:pt x="464965" y="440092"/>
                  <a:pt x="439510" y="430610"/>
                </a:cubicBezTo>
                <a:cubicBezTo>
                  <a:pt x="414112" y="421128"/>
                  <a:pt x="388144" y="412803"/>
                  <a:pt x="363316" y="402053"/>
                </a:cubicBezTo>
                <a:cubicBezTo>
                  <a:pt x="338487" y="391248"/>
                  <a:pt x="314342" y="379009"/>
                  <a:pt x="290653" y="366054"/>
                </a:cubicBezTo>
                <a:cubicBezTo>
                  <a:pt x="266963" y="353099"/>
                  <a:pt x="243160" y="339813"/>
                  <a:pt x="221235" y="324322"/>
                </a:cubicBezTo>
                <a:cubicBezTo>
                  <a:pt x="199311" y="308831"/>
                  <a:pt x="178412" y="291465"/>
                  <a:pt x="159050" y="273052"/>
                </a:cubicBezTo>
                <a:cubicBezTo>
                  <a:pt x="139632" y="254639"/>
                  <a:pt x="122092" y="234297"/>
                  <a:pt x="104895" y="213899"/>
                </a:cubicBezTo>
                <a:cubicBezTo>
                  <a:pt x="87754" y="193446"/>
                  <a:pt x="70499" y="172718"/>
                  <a:pt x="56035" y="150501"/>
                </a:cubicBezTo>
                <a:cubicBezTo>
                  <a:pt x="41628" y="128229"/>
                  <a:pt x="25740" y="103973"/>
                  <a:pt x="18394" y="80322"/>
                </a:cubicBezTo>
                <a:cubicBezTo>
                  <a:pt x="11048" y="56672"/>
                  <a:pt x="0" y="17035"/>
                  <a:pt x="11902" y="8545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artery_muscle_nucleus_258"/>
          <p:cNvSpPr/>
          <p:nvPr/>
        </p:nvSpPr>
        <p:spPr>
          <a:xfrm>
            <a:off x="11758897" y="4732824"/>
            <a:ext cx="159631" cy="135762"/>
          </a:xfrm>
          <a:custGeom>
            <a:avLst/>
            <a:gdLst/>
            <a:ahLst/>
            <a:cxnLst/>
            <a:rect l="0" t="0" r="r" b="b"/>
            <a:pathLst>
              <a:path w="159631" h="135762">
                <a:moveTo>
                  <a:pt x="28655" y="2847"/>
                </a:moveTo>
                <a:cubicBezTo>
                  <a:pt x="38893" y="0"/>
                  <a:pt x="53190" y="5392"/>
                  <a:pt x="64519" y="9329"/>
                </a:cubicBezTo>
                <a:cubicBezTo>
                  <a:pt x="75908" y="13328"/>
                  <a:pt x="86691" y="19992"/>
                  <a:pt x="96808" y="26716"/>
                </a:cubicBezTo>
                <a:cubicBezTo>
                  <a:pt x="106865" y="33501"/>
                  <a:pt x="116255" y="41559"/>
                  <a:pt x="125100" y="49979"/>
                </a:cubicBezTo>
                <a:cubicBezTo>
                  <a:pt x="133884" y="58400"/>
                  <a:pt x="144425" y="66760"/>
                  <a:pt x="149635" y="77180"/>
                </a:cubicBezTo>
                <a:cubicBezTo>
                  <a:pt x="154905" y="87600"/>
                  <a:pt x="159631" y="103290"/>
                  <a:pt x="156662" y="112620"/>
                </a:cubicBezTo>
                <a:cubicBezTo>
                  <a:pt x="153694" y="121949"/>
                  <a:pt x="142062" y="130855"/>
                  <a:pt x="132006" y="133339"/>
                </a:cubicBezTo>
                <a:cubicBezTo>
                  <a:pt x="121889" y="135762"/>
                  <a:pt x="107592" y="130976"/>
                  <a:pt x="96142" y="127341"/>
                </a:cubicBezTo>
                <a:cubicBezTo>
                  <a:pt x="84692" y="123646"/>
                  <a:pt x="73788" y="117406"/>
                  <a:pt x="63246" y="111227"/>
                </a:cubicBezTo>
                <a:cubicBezTo>
                  <a:pt x="52705" y="105108"/>
                  <a:pt x="41680" y="98807"/>
                  <a:pt x="32895" y="90508"/>
                </a:cubicBezTo>
                <a:cubicBezTo>
                  <a:pt x="24172" y="82208"/>
                  <a:pt x="15569" y="72212"/>
                  <a:pt x="10602" y="61490"/>
                </a:cubicBezTo>
                <a:cubicBezTo>
                  <a:pt x="5634" y="50827"/>
                  <a:pt x="0" y="36288"/>
                  <a:pt x="2968" y="26534"/>
                </a:cubicBezTo>
                <a:cubicBezTo>
                  <a:pt x="5998" y="16720"/>
                  <a:pt x="18417" y="5695"/>
                  <a:pt x="28655" y="2847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artery_nuclear_soft_light_259"/>
          <p:cNvSpPr/>
          <p:nvPr/>
        </p:nvSpPr>
        <p:spPr>
          <a:xfrm>
            <a:off x="11796222" y="4766331"/>
            <a:ext cx="61051" cy="46878"/>
          </a:xfrm>
          <a:custGeom>
            <a:avLst/>
            <a:gdLst/>
            <a:ahLst/>
            <a:cxnLst/>
            <a:rect l="0" t="0" r="r" b="b"/>
            <a:pathLst>
              <a:path w="61051" h="46878">
                <a:moveTo>
                  <a:pt x="1899" y="2610"/>
                </a:moveTo>
                <a:cubicBezTo>
                  <a:pt x="3798" y="0"/>
                  <a:pt x="18154" y="7209"/>
                  <a:pt x="33964" y="18713"/>
                </a:cubicBezTo>
                <a:cubicBezTo>
                  <a:pt x="49774" y="30216"/>
                  <a:pt x="61051" y="41657"/>
                  <a:pt x="59152" y="44268"/>
                </a:cubicBezTo>
                <a:cubicBezTo>
                  <a:pt x="57253" y="46878"/>
                  <a:pt x="42897" y="39669"/>
                  <a:pt x="27087" y="28165"/>
                </a:cubicBezTo>
                <a:cubicBezTo>
                  <a:pt x="11277" y="16662"/>
                  <a:pt x="0" y="5220"/>
                  <a:pt x="1899" y="2610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artery_intercellular_collagen_septum_260"/>
          <p:cNvSpPr/>
          <p:nvPr/>
        </p:nvSpPr>
        <p:spPr>
          <a:xfrm>
            <a:off x="11237537" y="4708046"/>
            <a:ext cx="749447" cy="549832"/>
          </a:xfrm>
          <a:custGeom>
            <a:avLst/>
            <a:gdLst/>
            <a:ahLst/>
            <a:cxnLst/>
            <a:rect l="0" t="0" r="r" b="b"/>
            <a:pathLst>
              <a:path w="749447" h="549832">
                <a:moveTo>
                  <a:pt x="9027" y="9572"/>
                </a:moveTo>
                <a:cubicBezTo>
                  <a:pt x="17993" y="0"/>
                  <a:pt x="71243" y="19871"/>
                  <a:pt x="102139" y="26777"/>
                </a:cubicBezTo>
                <a:cubicBezTo>
                  <a:pt x="132975" y="33683"/>
                  <a:pt x="163690" y="42649"/>
                  <a:pt x="194283" y="51009"/>
                </a:cubicBezTo>
                <a:cubicBezTo>
                  <a:pt x="224937" y="59430"/>
                  <a:pt x="256076" y="66578"/>
                  <a:pt x="285942" y="77241"/>
                </a:cubicBezTo>
                <a:cubicBezTo>
                  <a:pt x="315748" y="87903"/>
                  <a:pt x="345251" y="100322"/>
                  <a:pt x="373239" y="115164"/>
                </a:cubicBezTo>
                <a:cubicBezTo>
                  <a:pt x="401167" y="130007"/>
                  <a:pt x="428125" y="147515"/>
                  <a:pt x="453630" y="166234"/>
                </a:cubicBezTo>
                <a:cubicBezTo>
                  <a:pt x="479195" y="184954"/>
                  <a:pt x="503791" y="205369"/>
                  <a:pt x="526388" y="227542"/>
                </a:cubicBezTo>
                <a:cubicBezTo>
                  <a:pt x="548924" y="249775"/>
                  <a:pt x="568734" y="274916"/>
                  <a:pt x="589028" y="299330"/>
                </a:cubicBezTo>
                <a:cubicBezTo>
                  <a:pt x="609323" y="323805"/>
                  <a:pt x="629133" y="348704"/>
                  <a:pt x="648095" y="374148"/>
                </a:cubicBezTo>
                <a:cubicBezTo>
                  <a:pt x="667057" y="399652"/>
                  <a:pt x="687169" y="424975"/>
                  <a:pt x="702739" y="452237"/>
                </a:cubicBezTo>
                <a:cubicBezTo>
                  <a:pt x="718369" y="479437"/>
                  <a:pt x="749447" y="525600"/>
                  <a:pt x="741571" y="537716"/>
                </a:cubicBezTo>
                <a:cubicBezTo>
                  <a:pt x="733696" y="549832"/>
                  <a:pt x="684686" y="532749"/>
                  <a:pt x="655546" y="524873"/>
                </a:cubicBezTo>
                <a:cubicBezTo>
                  <a:pt x="626407" y="516998"/>
                  <a:pt x="596056" y="502519"/>
                  <a:pt x="566674" y="490463"/>
                </a:cubicBezTo>
                <a:cubicBezTo>
                  <a:pt x="537292" y="478408"/>
                  <a:pt x="507971" y="466110"/>
                  <a:pt x="479316" y="452479"/>
                </a:cubicBezTo>
                <a:cubicBezTo>
                  <a:pt x="450661" y="438848"/>
                  <a:pt x="421704" y="425157"/>
                  <a:pt x="394745" y="408558"/>
                </a:cubicBezTo>
                <a:cubicBezTo>
                  <a:pt x="367787" y="391959"/>
                  <a:pt x="342403" y="372451"/>
                  <a:pt x="317444" y="352884"/>
                </a:cubicBezTo>
                <a:cubicBezTo>
                  <a:pt x="292545" y="333256"/>
                  <a:pt x="268858" y="311871"/>
                  <a:pt x="245050" y="290849"/>
                </a:cubicBezTo>
                <a:cubicBezTo>
                  <a:pt x="221242" y="269827"/>
                  <a:pt x="196949" y="249230"/>
                  <a:pt x="174594" y="226754"/>
                </a:cubicBezTo>
                <a:cubicBezTo>
                  <a:pt x="152179" y="204279"/>
                  <a:pt x="131763" y="179804"/>
                  <a:pt x="110681" y="156056"/>
                </a:cubicBezTo>
                <a:cubicBezTo>
                  <a:pt x="89599" y="132248"/>
                  <a:pt x="65064" y="108561"/>
                  <a:pt x="48101" y="84147"/>
                </a:cubicBezTo>
                <a:cubicBezTo>
                  <a:pt x="31199" y="59733"/>
                  <a:pt x="0" y="19144"/>
                  <a:pt x="9027" y="9572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artery_smooth_muscle_cell_261"/>
          <p:cNvSpPr/>
          <p:nvPr/>
        </p:nvSpPr>
        <p:spPr>
          <a:xfrm>
            <a:off x="11237537" y="4708046"/>
            <a:ext cx="749447" cy="549832"/>
          </a:xfrm>
          <a:custGeom>
            <a:avLst/>
            <a:gdLst/>
            <a:ahLst/>
            <a:cxnLst/>
            <a:rect l="0" t="0" r="r" b="b"/>
            <a:pathLst>
              <a:path w="749447" h="549832">
                <a:moveTo>
                  <a:pt x="9027" y="9572"/>
                </a:moveTo>
                <a:cubicBezTo>
                  <a:pt x="17993" y="0"/>
                  <a:pt x="71243" y="19871"/>
                  <a:pt x="102139" y="26777"/>
                </a:cubicBezTo>
                <a:cubicBezTo>
                  <a:pt x="132975" y="33683"/>
                  <a:pt x="163690" y="42649"/>
                  <a:pt x="194283" y="51009"/>
                </a:cubicBezTo>
                <a:cubicBezTo>
                  <a:pt x="224937" y="59430"/>
                  <a:pt x="256076" y="66578"/>
                  <a:pt x="285942" y="77241"/>
                </a:cubicBezTo>
                <a:cubicBezTo>
                  <a:pt x="315748" y="87903"/>
                  <a:pt x="345251" y="100322"/>
                  <a:pt x="373239" y="115164"/>
                </a:cubicBezTo>
                <a:cubicBezTo>
                  <a:pt x="401167" y="130007"/>
                  <a:pt x="428125" y="147515"/>
                  <a:pt x="453630" y="166234"/>
                </a:cubicBezTo>
                <a:cubicBezTo>
                  <a:pt x="479195" y="184954"/>
                  <a:pt x="503791" y="205369"/>
                  <a:pt x="526388" y="227542"/>
                </a:cubicBezTo>
                <a:cubicBezTo>
                  <a:pt x="548924" y="249775"/>
                  <a:pt x="568734" y="274916"/>
                  <a:pt x="589028" y="299330"/>
                </a:cubicBezTo>
                <a:cubicBezTo>
                  <a:pt x="609323" y="323805"/>
                  <a:pt x="629133" y="348704"/>
                  <a:pt x="648095" y="374148"/>
                </a:cubicBezTo>
                <a:cubicBezTo>
                  <a:pt x="667057" y="399652"/>
                  <a:pt x="687169" y="424975"/>
                  <a:pt x="702739" y="452237"/>
                </a:cubicBezTo>
                <a:cubicBezTo>
                  <a:pt x="718369" y="479437"/>
                  <a:pt x="749447" y="525600"/>
                  <a:pt x="741571" y="537716"/>
                </a:cubicBezTo>
                <a:cubicBezTo>
                  <a:pt x="733696" y="549832"/>
                  <a:pt x="684686" y="532749"/>
                  <a:pt x="655546" y="524873"/>
                </a:cubicBezTo>
                <a:cubicBezTo>
                  <a:pt x="626407" y="516998"/>
                  <a:pt x="596056" y="502519"/>
                  <a:pt x="566674" y="490463"/>
                </a:cubicBezTo>
                <a:cubicBezTo>
                  <a:pt x="537292" y="478408"/>
                  <a:pt x="507971" y="466110"/>
                  <a:pt x="479316" y="452479"/>
                </a:cubicBezTo>
                <a:cubicBezTo>
                  <a:pt x="450661" y="438848"/>
                  <a:pt x="421704" y="425157"/>
                  <a:pt x="394745" y="408558"/>
                </a:cubicBezTo>
                <a:cubicBezTo>
                  <a:pt x="367787" y="391959"/>
                  <a:pt x="342403" y="372451"/>
                  <a:pt x="317444" y="352884"/>
                </a:cubicBezTo>
                <a:cubicBezTo>
                  <a:pt x="292545" y="333256"/>
                  <a:pt x="268858" y="311871"/>
                  <a:pt x="245050" y="290849"/>
                </a:cubicBezTo>
                <a:cubicBezTo>
                  <a:pt x="221242" y="269827"/>
                  <a:pt x="196949" y="249230"/>
                  <a:pt x="174594" y="226754"/>
                </a:cubicBezTo>
                <a:cubicBezTo>
                  <a:pt x="152179" y="204279"/>
                  <a:pt x="131763" y="179804"/>
                  <a:pt x="110681" y="156056"/>
                </a:cubicBezTo>
                <a:cubicBezTo>
                  <a:pt x="89599" y="132248"/>
                  <a:pt x="65064" y="108561"/>
                  <a:pt x="48101" y="84147"/>
                </a:cubicBezTo>
                <a:cubicBezTo>
                  <a:pt x="31199" y="59733"/>
                  <a:pt x="0" y="19144"/>
                  <a:pt x="9027" y="9572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artery_muscle_soft_light_262"/>
          <p:cNvSpPr/>
          <p:nvPr/>
        </p:nvSpPr>
        <p:spPr>
          <a:xfrm>
            <a:off x="11254942" y="4724275"/>
            <a:ext cx="704480" cy="500348"/>
          </a:xfrm>
          <a:custGeom>
            <a:avLst/>
            <a:gdLst/>
            <a:ahLst/>
            <a:cxnLst/>
            <a:rect l="0" t="0" r="r" b="b"/>
            <a:pathLst>
              <a:path w="704480" h="500348">
                <a:moveTo>
                  <a:pt x="8485" y="8710"/>
                </a:moveTo>
                <a:cubicBezTo>
                  <a:pt x="16913" y="0"/>
                  <a:pt x="66969" y="18082"/>
                  <a:pt x="96011" y="24367"/>
                </a:cubicBezTo>
                <a:cubicBezTo>
                  <a:pt x="124997" y="30652"/>
                  <a:pt x="153868" y="38811"/>
                  <a:pt x="182626" y="46418"/>
                </a:cubicBezTo>
                <a:cubicBezTo>
                  <a:pt x="211441" y="54081"/>
                  <a:pt x="240711" y="60586"/>
                  <a:pt x="268785" y="70289"/>
                </a:cubicBezTo>
                <a:cubicBezTo>
                  <a:pt x="296803" y="79992"/>
                  <a:pt x="324536" y="91293"/>
                  <a:pt x="350845" y="104800"/>
                </a:cubicBezTo>
                <a:cubicBezTo>
                  <a:pt x="377097" y="118306"/>
                  <a:pt x="402438" y="134238"/>
                  <a:pt x="426412" y="151273"/>
                </a:cubicBezTo>
                <a:cubicBezTo>
                  <a:pt x="450443" y="168308"/>
                  <a:pt x="473563" y="186886"/>
                  <a:pt x="494804" y="207063"/>
                </a:cubicBezTo>
                <a:cubicBezTo>
                  <a:pt x="515988" y="227295"/>
                  <a:pt x="534610" y="250174"/>
                  <a:pt x="553687" y="272391"/>
                </a:cubicBezTo>
                <a:cubicBezTo>
                  <a:pt x="572764" y="294663"/>
                  <a:pt x="591385" y="317320"/>
                  <a:pt x="609209" y="340474"/>
                </a:cubicBezTo>
                <a:cubicBezTo>
                  <a:pt x="627033" y="363684"/>
                  <a:pt x="645939" y="386727"/>
                  <a:pt x="660574" y="411535"/>
                </a:cubicBezTo>
                <a:cubicBezTo>
                  <a:pt x="675266" y="436288"/>
                  <a:pt x="704480" y="478296"/>
                  <a:pt x="697077" y="489322"/>
                </a:cubicBezTo>
                <a:cubicBezTo>
                  <a:pt x="689674" y="500348"/>
                  <a:pt x="643604" y="484801"/>
                  <a:pt x="616213" y="477635"/>
                </a:cubicBezTo>
                <a:cubicBezTo>
                  <a:pt x="588822" y="470468"/>
                  <a:pt x="560292" y="457292"/>
                  <a:pt x="532673" y="446321"/>
                </a:cubicBezTo>
                <a:cubicBezTo>
                  <a:pt x="505055" y="435351"/>
                  <a:pt x="477493" y="424160"/>
                  <a:pt x="450557" y="411756"/>
                </a:cubicBezTo>
                <a:cubicBezTo>
                  <a:pt x="423622" y="399352"/>
                  <a:pt x="396402" y="386893"/>
                  <a:pt x="371061" y="371788"/>
                </a:cubicBezTo>
                <a:cubicBezTo>
                  <a:pt x="345720" y="356682"/>
                  <a:pt x="321859" y="338931"/>
                  <a:pt x="298397" y="321124"/>
                </a:cubicBezTo>
                <a:cubicBezTo>
                  <a:pt x="274993" y="303263"/>
                  <a:pt x="252727" y="283802"/>
                  <a:pt x="230347" y="264673"/>
                </a:cubicBezTo>
                <a:cubicBezTo>
                  <a:pt x="207967" y="245543"/>
                  <a:pt x="185132" y="226799"/>
                  <a:pt x="164119" y="206346"/>
                </a:cubicBezTo>
                <a:cubicBezTo>
                  <a:pt x="143049" y="185894"/>
                  <a:pt x="123858" y="163622"/>
                  <a:pt x="104040" y="142011"/>
                </a:cubicBezTo>
                <a:cubicBezTo>
                  <a:pt x="84223" y="120346"/>
                  <a:pt x="61160" y="98791"/>
                  <a:pt x="45215" y="76574"/>
                </a:cubicBezTo>
                <a:cubicBezTo>
                  <a:pt x="29327" y="54357"/>
                  <a:pt x="0" y="17421"/>
                  <a:pt x="8485" y="8710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artery_muscle_nucleus_263"/>
          <p:cNvSpPr/>
          <p:nvPr/>
        </p:nvSpPr>
        <p:spPr>
          <a:xfrm>
            <a:off x="11533051" y="4900633"/>
            <a:ext cx="153209" cy="142668"/>
          </a:xfrm>
          <a:custGeom>
            <a:avLst/>
            <a:gdLst/>
            <a:ahLst/>
            <a:cxnLst/>
            <a:rect l="0" t="0" r="r" b="b"/>
            <a:pathLst>
              <a:path w="153209" h="142668">
                <a:moveTo>
                  <a:pt x="18962" y="4544"/>
                </a:moveTo>
                <a:cubicBezTo>
                  <a:pt x="27928" y="0"/>
                  <a:pt x="43739" y="4180"/>
                  <a:pt x="55432" y="7149"/>
                </a:cubicBezTo>
                <a:cubicBezTo>
                  <a:pt x="67184" y="10117"/>
                  <a:pt x="78634" y="16236"/>
                  <a:pt x="89236" y="22415"/>
                </a:cubicBezTo>
                <a:cubicBezTo>
                  <a:pt x="99898" y="28655"/>
                  <a:pt x="110439" y="35803"/>
                  <a:pt x="119223" y="44285"/>
                </a:cubicBezTo>
                <a:cubicBezTo>
                  <a:pt x="128007" y="52827"/>
                  <a:pt x="136549" y="62883"/>
                  <a:pt x="141941" y="73606"/>
                </a:cubicBezTo>
                <a:cubicBezTo>
                  <a:pt x="147333" y="84268"/>
                  <a:pt x="153209" y="97778"/>
                  <a:pt x="151513" y="108500"/>
                </a:cubicBezTo>
                <a:cubicBezTo>
                  <a:pt x="149756" y="119284"/>
                  <a:pt x="140851" y="133702"/>
                  <a:pt x="131521" y="138185"/>
                </a:cubicBezTo>
                <a:cubicBezTo>
                  <a:pt x="122131" y="142668"/>
                  <a:pt x="107107" y="138124"/>
                  <a:pt x="95294" y="135459"/>
                </a:cubicBezTo>
                <a:cubicBezTo>
                  <a:pt x="83541" y="132793"/>
                  <a:pt x="71425" y="128007"/>
                  <a:pt x="60642" y="122192"/>
                </a:cubicBezTo>
                <a:cubicBezTo>
                  <a:pt x="49858" y="116376"/>
                  <a:pt x="39135" y="109227"/>
                  <a:pt x="30472" y="100564"/>
                </a:cubicBezTo>
                <a:cubicBezTo>
                  <a:pt x="21870" y="91962"/>
                  <a:pt x="13631" y="81481"/>
                  <a:pt x="8845" y="70456"/>
                </a:cubicBezTo>
                <a:cubicBezTo>
                  <a:pt x="3998" y="59430"/>
                  <a:pt x="0" y="45496"/>
                  <a:pt x="1696" y="34531"/>
                </a:cubicBezTo>
                <a:cubicBezTo>
                  <a:pt x="3393" y="23505"/>
                  <a:pt x="9996" y="9148"/>
                  <a:pt x="18962" y="4544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artery_nuclear_soft_light_264"/>
          <p:cNvSpPr/>
          <p:nvPr/>
        </p:nvSpPr>
        <p:spPr>
          <a:xfrm>
            <a:off x="11566761" y="4935487"/>
            <a:ext cx="59194" cy="49757"/>
          </a:xfrm>
          <a:custGeom>
            <a:avLst/>
            <a:gdLst/>
            <a:ahLst/>
            <a:cxnLst/>
            <a:rect l="0" t="0" r="r" b="b"/>
            <a:pathLst>
              <a:path w="59194" h="49757">
                <a:moveTo>
                  <a:pt x="2209" y="2732"/>
                </a:moveTo>
                <a:cubicBezTo>
                  <a:pt x="4418" y="0"/>
                  <a:pt x="18471" y="7701"/>
                  <a:pt x="33597" y="19932"/>
                </a:cubicBezTo>
                <a:cubicBezTo>
                  <a:pt x="48722" y="32163"/>
                  <a:pt x="59194" y="44293"/>
                  <a:pt x="56985" y="47025"/>
                </a:cubicBezTo>
                <a:cubicBezTo>
                  <a:pt x="54776" y="49757"/>
                  <a:pt x="40723" y="42056"/>
                  <a:pt x="25597" y="29825"/>
                </a:cubicBezTo>
                <a:cubicBezTo>
                  <a:pt x="10471" y="17593"/>
                  <a:pt x="0" y="5463"/>
                  <a:pt x="2209" y="2732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artery_intercellular_collagen_septum_265"/>
          <p:cNvSpPr/>
          <p:nvPr/>
        </p:nvSpPr>
        <p:spPr>
          <a:xfrm>
            <a:off x="11931492" y="5041908"/>
            <a:ext cx="532749" cy="575579"/>
          </a:xfrm>
          <a:custGeom>
            <a:avLst/>
            <a:gdLst/>
            <a:ahLst/>
            <a:cxnLst/>
            <a:rect l="0" t="0" r="r" b="b"/>
            <a:pathLst>
              <a:path w="532749" h="575579">
                <a:moveTo>
                  <a:pt x="11147" y="9511"/>
                </a:moveTo>
                <a:cubicBezTo>
                  <a:pt x="22294" y="0"/>
                  <a:pt x="64882" y="18417"/>
                  <a:pt x="91538" y="24656"/>
                </a:cubicBezTo>
                <a:cubicBezTo>
                  <a:pt x="118193" y="30896"/>
                  <a:pt x="145031" y="38105"/>
                  <a:pt x="171081" y="46890"/>
                </a:cubicBezTo>
                <a:cubicBezTo>
                  <a:pt x="197130" y="55674"/>
                  <a:pt x="223241" y="65185"/>
                  <a:pt x="247776" y="77422"/>
                </a:cubicBezTo>
                <a:cubicBezTo>
                  <a:pt x="272251" y="89660"/>
                  <a:pt x="297149" y="102927"/>
                  <a:pt x="318110" y="120253"/>
                </a:cubicBezTo>
                <a:cubicBezTo>
                  <a:pt x="339071" y="137579"/>
                  <a:pt x="356822" y="159631"/>
                  <a:pt x="373421" y="181379"/>
                </a:cubicBezTo>
                <a:cubicBezTo>
                  <a:pt x="389959" y="203188"/>
                  <a:pt x="405347" y="226512"/>
                  <a:pt x="417524" y="250987"/>
                </a:cubicBezTo>
                <a:cubicBezTo>
                  <a:pt x="429700" y="275522"/>
                  <a:pt x="437031" y="302481"/>
                  <a:pt x="446603" y="328288"/>
                </a:cubicBezTo>
                <a:cubicBezTo>
                  <a:pt x="456114" y="354156"/>
                  <a:pt x="465383" y="380085"/>
                  <a:pt x="474712" y="406013"/>
                </a:cubicBezTo>
                <a:cubicBezTo>
                  <a:pt x="484042" y="431881"/>
                  <a:pt x="493734" y="457749"/>
                  <a:pt x="502519" y="483799"/>
                </a:cubicBezTo>
                <a:cubicBezTo>
                  <a:pt x="511303" y="509849"/>
                  <a:pt x="532749" y="549105"/>
                  <a:pt x="527539" y="562373"/>
                </a:cubicBezTo>
                <a:cubicBezTo>
                  <a:pt x="522329" y="575579"/>
                  <a:pt x="491251" y="571884"/>
                  <a:pt x="471259" y="563221"/>
                </a:cubicBezTo>
                <a:cubicBezTo>
                  <a:pt x="451328" y="554558"/>
                  <a:pt x="428671" y="528326"/>
                  <a:pt x="407770" y="510334"/>
                </a:cubicBezTo>
                <a:cubicBezTo>
                  <a:pt x="386930" y="492402"/>
                  <a:pt x="366090" y="474349"/>
                  <a:pt x="346038" y="455508"/>
                </a:cubicBezTo>
                <a:cubicBezTo>
                  <a:pt x="326047" y="436607"/>
                  <a:pt x="307085" y="416554"/>
                  <a:pt x="287638" y="397108"/>
                </a:cubicBezTo>
                <a:cubicBezTo>
                  <a:pt x="268131" y="377601"/>
                  <a:pt x="248685" y="358154"/>
                  <a:pt x="229178" y="338647"/>
                </a:cubicBezTo>
                <a:cubicBezTo>
                  <a:pt x="209731" y="319201"/>
                  <a:pt x="190042" y="299936"/>
                  <a:pt x="170778" y="280247"/>
                </a:cubicBezTo>
                <a:cubicBezTo>
                  <a:pt x="151513" y="260619"/>
                  <a:pt x="130673" y="242142"/>
                  <a:pt x="113529" y="220757"/>
                </a:cubicBezTo>
                <a:cubicBezTo>
                  <a:pt x="96384" y="199372"/>
                  <a:pt x="82693" y="175200"/>
                  <a:pt x="67851" y="151998"/>
                </a:cubicBezTo>
                <a:cubicBezTo>
                  <a:pt x="53008" y="128795"/>
                  <a:pt x="33986" y="105411"/>
                  <a:pt x="24535" y="81663"/>
                </a:cubicBezTo>
                <a:cubicBezTo>
                  <a:pt x="15085" y="57915"/>
                  <a:pt x="0" y="19022"/>
                  <a:pt x="11147" y="9511"/>
                </a:cubicBezTo>
                <a:close/>
              </a:path>
            </a:pathLst>
          </a:custGeom>
          <a:noFill/>
          <a:ln w="19385" cap="rnd">
            <a:solidFill>
              <a:srgbClr val="FFE6D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artery_smooth_muscle_cell_266"/>
          <p:cNvSpPr/>
          <p:nvPr/>
        </p:nvSpPr>
        <p:spPr>
          <a:xfrm>
            <a:off x="11931492" y="5041908"/>
            <a:ext cx="532749" cy="575579"/>
          </a:xfrm>
          <a:custGeom>
            <a:avLst/>
            <a:gdLst/>
            <a:ahLst/>
            <a:cxnLst/>
            <a:rect l="0" t="0" r="r" b="b"/>
            <a:pathLst>
              <a:path w="532749" h="575579">
                <a:moveTo>
                  <a:pt x="11147" y="9511"/>
                </a:moveTo>
                <a:cubicBezTo>
                  <a:pt x="22294" y="0"/>
                  <a:pt x="64882" y="18417"/>
                  <a:pt x="91538" y="24656"/>
                </a:cubicBezTo>
                <a:cubicBezTo>
                  <a:pt x="118193" y="30896"/>
                  <a:pt x="145031" y="38105"/>
                  <a:pt x="171081" y="46890"/>
                </a:cubicBezTo>
                <a:cubicBezTo>
                  <a:pt x="197130" y="55674"/>
                  <a:pt x="223241" y="65185"/>
                  <a:pt x="247776" y="77422"/>
                </a:cubicBezTo>
                <a:cubicBezTo>
                  <a:pt x="272251" y="89660"/>
                  <a:pt x="297149" y="102927"/>
                  <a:pt x="318110" y="120253"/>
                </a:cubicBezTo>
                <a:cubicBezTo>
                  <a:pt x="339071" y="137579"/>
                  <a:pt x="356822" y="159631"/>
                  <a:pt x="373421" y="181379"/>
                </a:cubicBezTo>
                <a:cubicBezTo>
                  <a:pt x="389959" y="203188"/>
                  <a:pt x="405347" y="226512"/>
                  <a:pt x="417524" y="250987"/>
                </a:cubicBezTo>
                <a:cubicBezTo>
                  <a:pt x="429700" y="275522"/>
                  <a:pt x="437031" y="302481"/>
                  <a:pt x="446603" y="328288"/>
                </a:cubicBezTo>
                <a:cubicBezTo>
                  <a:pt x="456114" y="354156"/>
                  <a:pt x="465383" y="380085"/>
                  <a:pt x="474712" y="406013"/>
                </a:cubicBezTo>
                <a:cubicBezTo>
                  <a:pt x="484042" y="431881"/>
                  <a:pt x="493734" y="457749"/>
                  <a:pt x="502519" y="483799"/>
                </a:cubicBezTo>
                <a:cubicBezTo>
                  <a:pt x="511303" y="509849"/>
                  <a:pt x="532749" y="549105"/>
                  <a:pt x="527539" y="562373"/>
                </a:cubicBezTo>
                <a:cubicBezTo>
                  <a:pt x="522329" y="575579"/>
                  <a:pt x="491251" y="571884"/>
                  <a:pt x="471259" y="563221"/>
                </a:cubicBezTo>
                <a:cubicBezTo>
                  <a:pt x="451328" y="554558"/>
                  <a:pt x="428671" y="528326"/>
                  <a:pt x="407770" y="510334"/>
                </a:cubicBezTo>
                <a:cubicBezTo>
                  <a:pt x="386930" y="492402"/>
                  <a:pt x="366090" y="474349"/>
                  <a:pt x="346038" y="455508"/>
                </a:cubicBezTo>
                <a:cubicBezTo>
                  <a:pt x="326047" y="436607"/>
                  <a:pt x="307085" y="416554"/>
                  <a:pt x="287638" y="397108"/>
                </a:cubicBezTo>
                <a:cubicBezTo>
                  <a:pt x="268131" y="377601"/>
                  <a:pt x="248685" y="358154"/>
                  <a:pt x="229178" y="338647"/>
                </a:cubicBezTo>
                <a:cubicBezTo>
                  <a:pt x="209731" y="319201"/>
                  <a:pt x="190042" y="299936"/>
                  <a:pt x="170778" y="280247"/>
                </a:cubicBezTo>
                <a:cubicBezTo>
                  <a:pt x="151513" y="260619"/>
                  <a:pt x="130673" y="242142"/>
                  <a:pt x="113529" y="220757"/>
                </a:cubicBezTo>
                <a:cubicBezTo>
                  <a:pt x="96384" y="199372"/>
                  <a:pt x="82693" y="175200"/>
                  <a:pt x="67851" y="151998"/>
                </a:cubicBezTo>
                <a:cubicBezTo>
                  <a:pt x="53008" y="128795"/>
                  <a:pt x="33986" y="105411"/>
                  <a:pt x="24535" y="81663"/>
                </a:cubicBezTo>
                <a:cubicBezTo>
                  <a:pt x="15085" y="57915"/>
                  <a:pt x="0" y="19022"/>
                  <a:pt x="11147" y="9511"/>
                </a:cubicBezTo>
                <a:close/>
              </a:path>
            </a:pathLst>
          </a:custGeom>
          <a:gradFill rotWithShape="1">
            <a:gsLst>
              <a:gs pos="0">
                <a:srgbClr val="F4B6A5"/>
              </a:gs>
              <a:gs pos="23000">
                <a:srgbClr val="EAA493"/>
              </a:gs>
              <a:gs pos="53000">
                <a:srgbClr val="D78377"/>
              </a:gs>
              <a:gs pos="80000">
                <a:srgbClr val="C36B62"/>
              </a:gs>
              <a:gs pos="100000">
                <a:srgbClr val="AC5955"/>
              </a:gs>
            </a:gsLst>
            <a:path path="circle">
              <a:fillToRect l="36000" t="28000" r="64000" b="72000"/>
            </a:path>
            <a:tileRect/>
          </a:gradFill>
          <a:ln w="4361" cap="rnd">
            <a:solidFill>
              <a:srgbClr val="AD645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artery_muscle_soft_light_267"/>
          <p:cNvSpPr/>
          <p:nvPr/>
        </p:nvSpPr>
        <p:spPr>
          <a:xfrm>
            <a:off x="11941871" y="5056430"/>
            <a:ext cx="500784" cy="523777"/>
          </a:xfrm>
          <a:custGeom>
            <a:avLst/>
            <a:gdLst/>
            <a:ahLst/>
            <a:cxnLst/>
            <a:rect l="0" t="0" r="r" b="b"/>
            <a:pathLst>
              <a:path w="500784" h="523777">
                <a:moveTo>
                  <a:pt x="10478" y="8655"/>
                </a:moveTo>
                <a:cubicBezTo>
                  <a:pt x="20956" y="0"/>
                  <a:pt x="60989" y="16759"/>
                  <a:pt x="86046" y="22437"/>
                </a:cubicBezTo>
                <a:cubicBezTo>
                  <a:pt x="111102" y="28116"/>
                  <a:pt x="136329" y="34676"/>
                  <a:pt x="160816" y="42670"/>
                </a:cubicBezTo>
                <a:cubicBezTo>
                  <a:pt x="185302" y="50663"/>
                  <a:pt x="209846" y="59318"/>
                  <a:pt x="232909" y="70454"/>
                </a:cubicBezTo>
                <a:cubicBezTo>
                  <a:pt x="255916" y="81590"/>
                  <a:pt x="279320" y="93664"/>
                  <a:pt x="299024" y="109430"/>
                </a:cubicBezTo>
                <a:cubicBezTo>
                  <a:pt x="318727" y="125197"/>
                  <a:pt x="335412" y="145264"/>
                  <a:pt x="351016" y="165055"/>
                </a:cubicBezTo>
                <a:cubicBezTo>
                  <a:pt x="366562" y="184901"/>
                  <a:pt x="381026" y="206126"/>
                  <a:pt x="392472" y="228398"/>
                </a:cubicBezTo>
                <a:cubicBezTo>
                  <a:pt x="403918" y="250725"/>
                  <a:pt x="410809" y="275257"/>
                  <a:pt x="419806" y="298742"/>
                </a:cubicBezTo>
                <a:cubicBezTo>
                  <a:pt x="428747" y="322282"/>
                  <a:pt x="437460" y="345877"/>
                  <a:pt x="446229" y="369472"/>
                </a:cubicBezTo>
                <a:cubicBezTo>
                  <a:pt x="454999" y="393012"/>
                  <a:pt x="464110" y="416552"/>
                  <a:pt x="472368" y="440257"/>
                </a:cubicBezTo>
                <a:cubicBezTo>
                  <a:pt x="480625" y="463963"/>
                  <a:pt x="500784" y="499686"/>
                  <a:pt x="495886" y="511759"/>
                </a:cubicBezTo>
                <a:cubicBezTo>
                  <a:pt x="490989" y="523777"/>
                  <a:pt x="461776" y="520414"/>
                  <a:pt x="442983" y="512531"/>
                </a:cubicBezTo>
                <a:cubicBezTo>
                  <a:pt x="424248" y="504648"/>
                  <a:pt x="402950" y="480777"/>
                  <a:pt x="383304" y="464404"/>
                </a:cubicBezTo>
                <a:cubicBezTo>
                  <a:pt x="363715" y="448086"/>
                  <a:pt x="344125" y="431657"/>
                  <a:pt x="325276" y="414512"/>
                </a:cubicBezTo>
                <a:cubicBezTo>
                  <a:pt x="306484" y="397312"/>
                  <a:pt x="288660" y="379065"/>
                  <a:pt x="270380" y="361368"/>
                </a:cubicBezTo>
                <a:cubicBezTo>
                  <a:pt x="252043" y="343617"/>
                  <a:pt x="233764" y="325920"/>
                  <a:pt x="215427" y="308169"/>
                </a:cubicBezTo>
                <a:cubicBezTo>
                  <a:pt x="197147" y="290473"/>
                  <a:pt x="178640" y="272942"/>
                  <a:pt x="160531" y="255025"/>
                </a:cubicBezTo>
                <a:cubicBezTo>
                  <a:pt x="142422" y="237163"/>
                  <a:pt x="122833" y="220349"/>
                  <a:pt x="106717" y="200889"/>
                </a:cubicBezTo>
                <a:cubicBezTo>
                  <a:pt x="90601" y="181428"/>
                  <a:pt x="77731" y="159432"/>
                  <a:pt x="63780" y="138318"/>
                </a:cubicBezTo>
                <a:cubicBezTo>
                  <a:pt x="49828" y="117203"/>
                  <a:pt x="31947" y="95924"/>
                  <a:pt x="23063" y="74313"/>
                </a:cubicBezTo>
                <a:cubicBezTo>
                  <a:pt x="14180" y="52703"/>
                  <a:pt x="0" y="17310"/>
                  <a:pt x="10478" y="8655"/>
                </a:cubicBezTo>
                <a:close/>
              </a:path>
            </a:pathLst>
          </a:custGeom>
          <a:gradFill rotWithShape="1">
            <a:gsLst>
              <a:gs pos="0">
                <a:srgbClr val="FFF0D9">
                  <a:alpha val="23000"/>
                </a:srgbClr>
              </a:gs>
              <a:gs pos="35000">
                <a:srgbClr val="FFDCC3">
                  <a:alpha val="8000"/>
                </a:srgbClr>
              </a:gs>
              <a:gs pos="100000">
                <a:srgbClr val="F6BEA8">
                  <a:alpha val="0"/>
                </a:srgbClr>
              </a:gs>
            </a:gsLst>
            <a:path path="circle">
              <a:fillToRect l="32000" t="20000" r="68000" b="80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artery_muscle_nucleus_268"/>
          <p:cNvSpPr/>
          <p:nvPr/>
        </p:nvSpPr>
        <p:spPr>
          <a:xfrm>
            <a:off x="12144918" y="5222681"/>
            <a:ext cx="123403" cy="130188"/>
          </a:xfrm>
          <a:custGeom>
            <a:avLst/>
            <a:gdLst/>
            <a:ahLst/>
            <a:cxnLst/>
            <a:rect l="0" t="0" r="r" b="b"/>
            <a:pathLst>
              <a:path w="123403" h="130188">
                <a:moveTo>
                  <a:pt x="18962" y="3635"/>
                </a:moveTo>
                <a:cubicBezTo>
                  <a:pt x="26959" y="0"/>
                  <a:pt x="40226" y="3514"/>
                  <a:pt x="50040" y="6361"/>
                </a:cubicBezTo>
                <a:cubicBezTo>
                  <a:pt x="59915" y="9269"/>
                  <a:pt x="69789" y="14600"/>
                  <a:pt x="78149" y="20840"/>
                </a:cubicBezTo>
                <a:cubicBezTo>
                  <a:pt x="86510" y="27019"/>
                  <a:pt x="94082" y="35137"/>
                  <a:pt x="100201" y="43679"/>
                </a:cubicBezTo>
                <a:cubicBezTo>
                  <a:pt x="106259" y="52160"/>
                  <a:pt x="111166" y="62035"/>
                  <a:pt x="114680" y="71910"/>
                </a:cubicBezTo>
                <a:cubicBezTo>
                  <a:pt x="118254" y="81724"/>
                  <a:pt x="123403" y="93598"/>
                  <a:pt x="121586" y="102685"/>
                </a:cubicBezTo>
                <a:cubicBezTo>
                  <a:pt x="119768" y="111772"/>
                  <a:pt x="112075" y="122555"/>
                  <a:pt x="103836" y="126372"/>
                </a:cubicBezTo>
                <a:cubicBezTo>
                  <a:pt x="95657" y="130188"/>
                  <a:pt x="82148" y="128674"/>
                  <a:pt x="72455" y="125705"/>
                </a:cubicBezTo>
                <a:cubicBezTo>
                  <a:pt x="62762" y="122737"/>
                  <a:pt x="53978" y="115225"/>
                  <a:pt x="45739" y="108682"/>
                </a:cubicBezTo>
                <a:cubicBezTo>
                  <a:pt x="37500" y="102079"/>
                  <a:pt x="29685" y="94506"/>
                  <a:pt x="23142" y="86328"/>
                </a:cubicBezTo>
                <a:cubicBezTo>
                  <a:pt x="16599" y="78089"/>
                  <a:pt x="10056" y="69062"/>
                  <a:pt x="6543" y="59369"/>
                </a:cubicBezTo>
                <a:cubicBezTo>
                  <a:pt x="3029" y="49676"/>
                  <a:pt x="0" y="37500"/>
                  <a:pt x="2060" y="28231"/>
                </a:cubicBezTo>
                <a:cubicBezTo>
                  <a:pt x="4120" y="18962"/>
                  <a:pt x="10905" y="7270"/>
                  <a:pt x="18962" y="3635"/>
                </a:cubicBezTo>
                <a:close/>
              </a:path>
            </a:pathLst>
          </a:custGeom>
          <a:gradFill rotWithShape="1">
            <a:gsLst>
              <a:gs pos="0">
                <a:srgbClr val="D99482"/>
              </a:gs>
              <a:gs pos="32000">
                <a:srgbClr val="BC6A5D"/>
              </a:gs>
              <a:gs pos="68000">
                <a:srgbClr val="A04E49"/>
              </a:gs>
              <a:gs pos="100000">
                <a:srgbClr val="7F343A"/>
              </a:gs>
            </a:gsLst>
            <a:path path="circle">
              <a:fillToRect l="28000" t="23000" r="72000" b="77000"/>
            </a:path>
            <a:tileRect/>
          </a:gradFill>
          <a:ln w="4543" cap="rnd">
            <a:solidFill>
              <a:srgbClr val="7E353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artery_nuclear_soft_light_269"/>
          <p:cNvSpPr/>
          <p:nvPr/>
        </p:nvSpPr>
        <p:spPr>
          <a:xfrm>
            <a:off x="12171939" y="5251440"/>
            <a:ext cx="44584" cy="48861"/>
          </a:xfrm>
          <a:custGeom>
            <a:avLst/>
            <a:gdLst/>
            <a:ahLst/>
            <a:cxnLst/>
            <a:rect l="0" t="0" r="r" b="b"/>
            <a:pathLst>
              <a:path w="44584" h="48861">
                <a:moveTo>
                  <a:pt x="2269" y="2028"/>
                </a:moveTo>
                <a:cubicBezTo>
                  <a:pt x="4538" y="0"/>
                  <a:pt x="15342" y="8386"/>
                  <a:pt x="26401" y="20758"/>
                </a:cubicBezTo>
                <a:cubicBezTo>
                  <a:pt x="37459" y="33131"/>
                  <a:pt x="44584" y="44805"/>
                  <a:pt x="42315" y="46833"/>
                </a:cubicBezTo>
                <a:cubicBezTo>
                  <a:pt x="40046" y="48861"/>
                  <a:pt x="29242" y="40475"/>
                  <a:pt x="18184" y="28103"/>
                </a:cubicBezTo>
                <a:cubicBezTo>
                  <a:pt x="7125" y="15730"/>
                  <a:pt x="0" y="4056"/>
                  <a:pt x="2269" y="2028"/>
                </a:cubicBezTo>
                <a:close/>
              </a:path>
            </a:pathLst>
          </a:custGeom>
          <a:solidFill>
            <a:srgbClr val="E6AB94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artery_interstitial_long_fiber_270"/>
          <p:cNvSpPr/>
          <p:nvPr/>
        </p:nvSpPr>
        <p:spPr>
          <a:xfrm>
            <a:off x="9362679" y="3167170"/>
            <a:ext cx="248382" cy="199917"/>
          </a:xfrm>
          <a:custGeom>
            <a:avLst/>
            <a:gdLst/>
            <a:ahLst/>
            <a:cxnLst/>
            <a:rect l="0" t="0" r="r" b="b"/>
            <a:pathLst>
              <a:path w="248382" h="199917">
                <a:moveTo>
                  <a:pt x="0" y="0"/>
                </a:moveTo>
                <a:cubicBezTo>
                  <a:pt x="19040" y="19040"/>
                  <a:pt x="97795" y="104718"/>
                  <a:pt x="133278" y="133278"/>
                </a:cubicBezTo>
                <a:cubicBezTo>
                  <a:pt x="168761" y="161838"/>
                  <a:pt x="231938" y="190397"/>
                  <a:pt x="248382" y="199917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artery_interstitial_long_fiber_271"/>
          <p:cNvSpPr/>
          <p:nvPr/>
        </p:nvSpPr>
        <p:spPr>
          <a:xfrm>
            <a:off x="9435376" y="3694224"/>
            <a:ext cx="144529" cy="216360"/>
          </a:xfrm>
          <a:custGeom>
            <a:avLst/>
            <a:gdLst/>
            <a:ahLst/>
            <a:cxnLst/>
            <a:rect l="0" t="0" r="r" b="b"/>
            <a:pathLst>
              <a:path w="144529" h="216360">
                <a:moveTo>
                  <a:pt x="0" y="0"/>
                </a:moveTo>
                <a:cubicBezTo>
                  <a:pt x="14713" y="24232"/>
                  <a:pt x="83082" y="141932"/>
                  <a:pt x="102988" y="169627"/>
                </a:cubicBezTo>
                <a:cubicBezTo>
                  <a:pt x="122893" y="197321"/>
                  <a:pt x="134143" y="188666"/>
                  <a:pt x="139336" y="193859"/>
                </a:cubicBezTo>
                <a:cubicBezTo>
                  <a:pt x="144529" y="199052"/>
                  <a:pt x="141932" y="203379"/>
                  <a:pt x="139336" y="205975"/>
                </a:cubicBezTo>
                <a:cubicBezTo>
                  <a:pt x="136740" y="208571"/>
                  <a:pt x="125489" y="216360"/>
                  <a:pt x="121162" y="212033"/>
                </a:cubicBezTo>
                <a:cubicBezTo>
                  <a:pt x="116835" y="207706"/>
                  <a:pt x="110777" y="180877"/>
                  <a:pt x="109046" y="175685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artery_interstitial_long_fiber_272"/>
          <p:cNvSpPr/>
          <p:nvPr/>
        </p:nvSpPr>
        <p:spPr>
          <a:xfrm>
            <a:off x="9683758" y="3906258"/>
            <a:ext cx="206841" cy="243189"/>
          </a:xfrm>
          <a:custGeom>
            <a:avLst/>
            <a:gdLst/>
            <a:ahLst/>
            <a:cxnLst/>
            <a:rect l="0" t="0" r="r" b="b"/>
            <a:pathLst>
              <a:path w="206841" h="243189">
                <a:moveTo>
                  <a:pt x="0" y="0"/>
                </a:moveTo>
                <a:cubicBezTo>
                  <a:pt x="6058" y="5193"/>
                  <a:pt x="35483" y="32021"/>
                  <a:pt x="42407" y="36349"/>
                </a:cubicBezTo>
                <a:cubicBezTo>
                  <a:pt x="49330" y="40676"/>
                  <a:pt x="34618" y="16443"/>
                  <a:pt x="48465" y="30290"/>
                </a:cubicBezTo>
                <a:cubicBezTo>
                  <a:pt x="62312" y="44138"/>
                  <a:pt x="127220" y="110777"/>
                  <a:pt x="139336" y="133278"/>
                </a:cubicBezTo>
                <a:cubicBezTo>
                  <a:pt x="151452" y="155780"/>
                  <a:pt x="126354" y="173088"/>
                  <a:pt x="133278" y="187801"/>
                </a:cubicBezTo>
                <a:cubicBezTo>
                  <a:pt x="140202" y="202513"/>
                  <a:pt x="177416" y="229342"/>
                  <a:pt x="187801" y="236266"/>
                </a:cubicBezTo>
                <a:cubicBezTo>
                  <a:pt x="198186" y="243189"/>
                  <a:pt x="205110" y="239727"/>
                  <a:pt x="205975" y="236266"/>
                </a:cubicBezTo>
                <a:cubicBezTo>
                  <a:pt x="206841" y="232804"/>
                  <a:pt x="195590" y="215495"/>
                  <a:pt x="193859" y="212033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artery_interstitial_long_fiber_273"/>
          <p:cNvSpPr/>
          <p:nvPr/>
        </p:nvSpPr>
        <p:spPr>
          <a:xfrm>
            <a:off x="10739597" y="4029150"/>
            <a:ext cx="301174" cy="161838"/>
          </a:xfrm>
          <a:custGeom>
            <a:avLst/>
            <a:gdLst/>
            <a:ahLst/>
            <a:cxnLst/>
            <a:rect l="0" t="0" r="r" b="b"/>
            <a:pathLst>
              <a:path w="301174" h="161838">
                <a:moveTo>
                  <a:pt x="4327" y="10385"/>
                </a:moveTo>
                <a:cubicBezTo>
                  <a:pt x="6058" y="10385"/>
                  <a:pt x="0" y="0"/>
                  <a:pt x="16443" y="10385"/>
                </a:cubicBezTo>
                <a:cubicBezTo>
                  <a:pt x="32887" y="20771"/>
                  <a:pt x="78755" y="61446"/>
                  <a:pt x="119431" y="83082"/>
                </a:cubicBezTo>
                <a:cubicBezTo>
                  <a:pt x="160107" y="104718"/>
                  <a:pt x="275210" y="150587"/>
                  <a:pt x="301174" y="161838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artery_interstitial_long_fiber_274"/>
          <p:cNvSpPr/>
          <p:nvPr/>
        </p:nvSpPr>
        <p:spPr>
          <a:xfrm>
            <a:off x="9950314" y="4154639"/>
            <a:ext cx="278672" cy="186935"/>
          </a:xfrm>
          <a:custGeom>
            <a:avLst/>
            <a:gdLst/>
            <a:ahLst/>
            <a:cxnLst/>
            <a:rect l="0" t="0" r="r" b="b"/>
            <a:pathLst>
              <a:path w="278672" h="186935">
                <a:moveTo>
                  <a:pt x="0" y="12116"/>
                </a:moveTo>
                <a:cubicBezTo>
                  <a:pt x="2596" y="12116"/>
                  <a:pt x="4327" y="0"/>
                  <a:pt x="18174" y="12116"/>
                </a:cubicBezTo>
                <a:cubicBezTo>
                  <a:pt x="32021" y="24232"/>
                  <a:pt x="83948" y="84813"/>
                  <a:pt x="96929" y="96929"/>
                </a:cubicBezTo>
                <a:cubicBezTo>
                  <a:pt x="109911" y="109046"/>
                  <a:pt x="99526" y="90006"/>
                  <a:pt x="109046" y="96929"/>
                </a:cubicBezTo>
                <a:cubicBezTo>
                  <a:pt x="118566" y="103853"/>
                  <a:pt x="142798" y="133278"/>
                  <a:pt x="163568" y="145394"/>
                </a:cubicBezTo>
                <a:cubicBezTo>
                  <a:pt x="184339" y="157510"/>
                  <a:pt x="237996" y="176550"/>
                  <a:pt x="254440" y="181743"/>
                </a:cubicBezTo>
                <a:cubicBezTo>
                  <a:pt x="270883" y="186935"/>
                  <a:pt x="275210" y="181743"/>
                  <a:pt x="278672" y="181743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artery_interstitial_long_fiber_275"/>
          <p:cNvSpPr/>
          <p:nvPr/>
        </p:nvSpPr>
        <p:spPr>
          <a:xfrm>
            <a:off x="10080996" y="4312150"/>
            <a:ext cx="219822" cy="111642"/>
          </a:xfrm>
          <a:custGeom>
            <a:avLst/>
            <a:gdLst/>
            <a:ahLst/>
            <a:cxnLst/>
            <a:rect l="0" t="0" r="r" b="b"/>
            <a:pathLst>
              <a:path w="219822" h="111642">
                <a:moveTo>
                  <a:pt x="8654" y="0"/>
                </a:moveTo>
                <a:cubicBezTo>
                  <a:pt x="7789" y="2596"/>
                  <a:pt x="0" y="12116"/>
                  <a:pt x="2596" y="18174"/>
                </a:cubicBezTo>
                <a:cubicBezTo>
                  <a:pt x="5193" y="24232"/>
                  <a:pt x="15578" y="38079"/>
                  <a:pt x="26829" y="42407"/>
                </a:cubicBezTo>
                <a:cubicBezTo>
                  <a:pt x="38079" y="46734"/>
                  <a:pt x="72697" y="49330"/>
                  <a:pt x="81352" y="48465"/>
                </a:cubicBezTo>
                <a:cubicBezTo>
                  <a:pt x="90006" y="47599"/>
                  <a:pt x="89140" y="36349"/>
                  <a:pt x="87410" y="36349"/>
                </a:cubicBezTo>
                <a:cubicBezTo>
                  <a:pt x="85679" y="36349"/>
                  <a:pt x="70101" y="44138"/>
                  <a:pt x="69235" y="48465"/>
                </a:cubicBezTo>
                <a:cubicBezTo>
                  <a:pt x="68370" y="52792"/>
                  <a:pt x="76159" y="64043"/>
                  <a:pt x="81352" y="66639"/>
                </a:cubicBezTo>
                <a:cubicBezTo>
                  <a:pt x="86544" y="69235"/>
                  <a:pt x="100391" y="64908"/>
                  <a:pt x="105584" y="66639"/>
                </a:cubicBezTo>
                <a:cubicBezTo>
                  <a:pt x="110777" y="68370"/>
                  <a:pt x="111642" y="78755"/>
                  <a:pt x="117700" y="78755"/>
                </a:cubicBezTo>
                <a:cubicBezTo>
                  <a:pt x="123758" y="78755"/>
                  <a:pt x="141067" y="66639"/>
                  <a:pt x="147991" y="66639"/>
                </a:cubicBezTo>
                <a:cubicBezTo>
                  <a:pt x="154914" y="66639"/>
                  <a:pt x="156645" y="76159"/>
                  <a:pt x="166165" y="78755"/>
                </a:cubicBezTo>
                <a:cubicBezTo>
                  <a:pt x="175685" y="81352"/>
                  <a:pt x="209437" y="80486"/>
                  <a:pt x="214630" y="84813"/>
                </a:cubicBezTo>
                <a:cubicBezTo>
                  <a:pt x="219822" y="89140"/>
                  <a:pt x="209437" y="106449"/>
                  <a:pt x="202513" y="109046"/>
                </a:cubicBezTo>
                <a:cubicBezTo>
                  <a:pt x="195590" y="111642"/>
                  <a:pt x="171357" y="103853"/>
                  <a:pt x="166165" y="102988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artery_interstitial_long_fiber_276"/>
          <p:cNvSpPr/>
          <p:nvPr/>
        </p:nvSpPr>
        <p:spPr>
          <a:xfrm>
            <a:off x="10386497" y="4403021"/>
            <a:ext cx="290788" cy="214630"/>
          </a:xfrm>
          <a:custGeom>
            <a:avLst/>
            <a:gdLst/>
            <a:ahLst/>
            <a:cxnLst/>
            <a:rect l="0" t="0" r="r" b="b"/>
            <a:pathLst>
              <a:path w="290788" h="214630">
                <a:moveTo>
                  <a:pt x="0" y="0"/>
                </a:moveTo>
                <a:cubicBezTo>
                  <a:pt x="10385" y="6058"/>
                  <a:pt x="57119" y="35483"/>
                  <a:pt x="72697" y="42407"/>
                </a:cubicBezTo>
                <a:cubicBezTo>
                  <a:pt x="88275" y="49330"/>
                  <a:pt x="96064" y="38945"/>
                  <a:pt x="109046" y="48465"/>
                </a:cubicBezTo>
                <a:cubicBezTo>
                  <a:pt x="122027" y="57985"/>
                  <a:pt x="151452" y="97795"/>
                  <a:pt x="163568" y="109046"/>
                </a:cubicBezTo>
                <a:cubicBezTo>
                  <a:pt x="175685" y="120296"/>
                  <a:pt x="187801" y="121162"/>
                  <a:pt x="193859" y="127220"/>
                </a:cubicBezTo>
                <a:cubicBezTo>
                  <a:pt x="199917" y="133278"/>
                  <a:pt x="196455" y="140202"/>
                  <a:pt x="205975" y="151452"/>
                </a:cubicBezTo>
                <a:cubicBezTo>
                  <a:pt x="215495" y="162703"/>
                  <a:pt x="248382" y="197321"/>
                  <a:pt x="260498" y="205975"/>
                </a:cubicBezTo>
                <a:cubicBezTo>
                  <a:pt x="272614" y="214630"/>
                  <a:pt x="286461" y="211168"/>
                  <a:pt x="290788" y="212033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artery_interstitial_long_fiber_277"/>
          <p:cNvSpPr/>
          <p:nvPr/>
        </p:nvSpPr>
        <p:spPr>
          <a:xfrm>
            <a:off x="10422845" y="4487835"/>
            <a:ext cx="138471" cy="158376"/>
          </a:xfrm>
          <a:custGeom>
            <a:avLst/>
            <a:gdLst/>
            <a:ahLst/>
            <a:cxnLst/>
            <a:rect l="0" t="0" r="r" b="b"/>
            <a:pathLst>
              <a:path w="138471" h="158376">
                <a:moveTo>
                  <a:pt x="0" y="0"/>
                </a:moveTo>
                <a:cubicBezTo>
                  <a:pt x="6924" y="3462"/>
                  <a:pt x="30290" y="9520"/>
                  <a:pt x="48465" y="24232"/>
                </a:cubicBezTo>
                <a:cubicBezTo>
                  <a:pt x="66639" y="38945"/>
                  <a:pt x="115969" y="87410"/>
                  <a:pt x="127220" y="102988"/>
                </a:cubicBezTo>
                <a:cubicBezTo>
                  <a:pt x="138471" y="118566"/>
                  <a:pt x="128951" y="127220"/>
                  <a:pt x="127220" y="133278"/>
                </a:cubicBezTo>
                <a:cubicBezTo>
                  <a:pt x="125489" y="139336"/>
                  <a:pt x="121162" y="143663"/>
                  <a:pt x="115104" y="145394"/>
                </a:cubicBezTo>
                <a:cubicBezTo>
                  <a:pt x="109046" y="147125"/>
                  <a:pt x="99526" y="158376"/>
                  <a:pt x="84813" y="145394"/>
                </a:cubicBezTo>
                <a:cubicBezTo>
                  <a:pt x="70101" y="132413"/>
                  <a:pt x="19905" y="72697"/>
                  <a:pt x="12116" y="54523"/>
                </a:cubicBezTo>
                <a:cubicBezTo>
                  <a:pt x="4327" y="36349"/>
                  <a:pt x="28560" y="24232"/>
                  <a:pt x="30290" y="18174"/>
                </a:cubicBezTo>
                <a:cubicBezTo>
                  <a:pt x="32021" y="12116"/>
                  <a:pt x="25098" y="12982"/>
                  <a:pt x="24232" y="12116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artery_interstitial_long_fiber_278"/>
          <p:cNvSpPr/>
          <p:nvPr/>
        </p:nvSpPr>
        <p:spPr>
          <a:xfrm>
            <a:off x="10550065" y="4594284"/>
            <a:ext cx="357427" cy="269152"/>
          </a:xfrm>
          <a:custGeom>
            <a:avLst/>
            <a:gdLst/>
            <a:ahLst/>
            <a:cxnLst/>
            <a:rect l="0" t="0" r="r" b="b"/>
            <a:pathLst>
              <a:path w="357427" h="269152">
                <a:moveTo>
                  <a:pt x="0" y="2596"/>
                </a:moveTo>
                <a:cubicBezTo>
                  <a:pt x="3462" y="3462"/>
                  <a:pt x="23367" y="0"/>
                  <a:pt x="24232" y="8654"/>
                </a:cubicBezTo>
                <a:cubicBezTo>
                  <a:pt x="25098" y="17309"/>
                  <a:pt x="3462" y="49330"/>
                  <a:pt x="6058" y="63177"/>
                </a:cubicBezTo>
                <a:cubicBezTo>
                  <a:pt x="8654" y="77024"/>
                  <a:pt x="35483" y="94333"/>
                  <a:pt x="42407" y="105584"/>
                </a:cubicBezTo>
                <a:cubicBezTo>
                  <a:pt x="49330" y="116835"/>
                  <a:pt x="24232" y="125489"/>
                  <a:pt x="54523" y="141932"/>
                </a:cubicBezTo>
                <a:cubicBezTo>
                  <a:pt x="84813" y="158376"/>
                  <a:pt x="221553" y="210302"/>
                  <a:pt x="254440" y="220688"/>
                </a:cubicBezTo>
                <a:cubicBezTo>
                  <a:pt x="287327" y="231073"/>
                  <a:pt x="274345" y="209437"/>
                  <a:pt x="284730" y="214630"/>
                </a:cubicBezTo>
                <a:cubicBezTo>
                  <a:pt x="295116" y="219822"/>
                  <a:pt x="316752" y="249247"/>
                  <a:pt x="327137" y="257036"/>
                </a:cubicBezTo>
                <a:cubicBezTo>
                  <a:pt x="337522" y="264825"/>
                  <a:pt x="353100" y="267421"/>
                  <a:pt x="357427" y="269152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artery_interstitial_long_fiber_279"/>
          <p:cNvSpPr/>
          <p:nvPr/>
        </p:nvSpPr>
        <p:spPr>
          <a:xfrm>
            <a:off x="10568239" y="4602938"/>
            <a:ext cx="204244" cy="145394"/>
          </a:xfrm>
          <a:custGeom>
            <a:avLst/>
            <a:gdLst/>
            <a:ahLst/>
            <a:cxnLst/>
            <a:rect l="0" t="0" r="r" b="b"/>
            <a:pathLst>
              <a:path w="204244" h="145394">
                <a:moveTo>
                  <a:pt x="0" y="0"/>
                </a:moveTo>
                <a:cubicBezTo>
                  <a:pt x="2596" y="4327"/>
                  <a:pt x="865" y="14713"/>
                  <a:pt x="18174" y="30290"/>
                </a:cubicBezTo>
                <a:cubicBezTo>
                  <a:pt x="35483" y="45868"/>
                  <a:pt x="104718" y="97795"/>
                  <a:pt x="121162" y="109046"/>
                </a:cubicBezTo>
                <a:cubicBezTo>
                  <a:pt x="137605" y="120296"/>
                  <a:pt x="126354" y="104718"/>
                  <a:pt x="133278" y="109046"/>
                </a:cubicBezTo>
                <a:cubicBezTo>
                  <a:pt x="140202" y="113373"/>
                  <a:pt x="160107" y="135874"/>
                  <a:pt x="169627" y="139336"/>
                </a:cubicBezTo>
                <a:cubicBezTo>
                  <a:pt x="179146" y="142798"/>
                  <a:pt x="195590" y="132413"/>
                  <a:pt x="199917" y="133278"/>
                </a:cubicBezTo>
                <a:cubicBezTo>
                  <a:pt x="204244" y="134143"/>
                  <a:pt x="202513" y="145394"/>
                  <a:pt x="199917" y="145394"/>
                </a:cubicBezTo>
                <a:cubicBezTo>
                  <a:pt x="197321" y="145394"/>
                  <a:pt x="181743" y="135009"/>
                  <a:pt x="181743" y="133278"/>
                </a:cubicBezTo>
                <a:cubicBezTo>
                  <a:pt x="181743" y="131547"/>
                  <a:pt x="197321" y="133278"/>
                  <a:pt x="199917" y="133278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artery_interstitial_long_fiber_280"/>
          <p:cNvSpPr/>
          <p:nvPr/>
        </p:nvSpPr>
        <p:spPr>
          <a:xfrm>
            <a:off x="10822679" y="4772565"/>
            <a:ext cx="369544" cy="115104"/>
          </a:xfrm>
          <a:custGeom>
            <a:avLst/>
            <a:gdLst/>
            <a:ahLst/>
            <a:cxnLst/>
            <a:rect l="0" t="0" r="r" b="b"/>
            <a:pathLst>
              <a:path w="369544" h="115104">
                <a:moveTo>
                  <a:pt x="0" y="0"/>
                </a:moveTo>
                <a:cubicBezTo>
                  <a:pt x="9520" y="4327"/>
                  <a:pt x="38079" y="22501"/>
                  <a:pt x="66639" y="30290"/>
                </a:cubicBezTo>
                <a:cubicBezTo>
                  <a:pt x="95199" y="38079"/>
                  <a:pt x="171357" y="45868"/>
                  <a:pt x="199917" y="54523"/>
                </a:cubicBezTo>
                <a:cubicBezTo>
                  <a:pt x="228477" y="63177"/>
                  <a:pt x="251844" y="85679"/>
                  <a:pt x="266556" y="90871"/>
                </a:cubicBezTo>
                <a:cubicBezTo>
                  <a:pt x="281269" y="96064"/>
                  <a:pt x="288192" y="87410"/>
                  <a:pt x="302905" y="90871"/>
                </a:cubicBezTo>
                <a:cubicBezTo>
                  <a:pt x="317617" y="94333"/>
                  <a:pt x="360024" y="111642"/>
                  <a:pt x="369544" y="115104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artery_interstitial_long_fiber_281"/>
          <p:cNvSpPr/>
          <p:nvPr/>
        </p:nvSpPr>
        <p:spPr>
          <a:xfrm>
            <a:off x="10975862" y="4857378"/>
            <a:ext cx="335791" cy="149721"/>
          </a:xfrm>
          <a:custGeom>
            <a:avLst/>
            <a:gdLst/>
            <a:ahLst/>
            <a:cxnLst/>
            <a:rect l="0" t="0" r="r" b="b"/>
            <a:pathLst>
              <a:path w="335791" h="149721">
                <a:moveTo>
                  <a:pt x="10385" y="0"/>
                </a:moveTo>
                <a:cubicBezTo>
                  <a:pt x="9520" y="2596"/>
                  <a:pt x="0" y="10385"/>
                  <a:pt x="4327" y="18174"/>
                </a:cubicBezTo>
                <a:cubicBezTo>
                  <a:pt x="8654" y="25963"/>
                  <a:pt x="30290" y="48465"/>
                  <a:pt x="40676" y="54523"/>
                </a:cubicBezTo>
                <a:cubicBezTo>
                  <a:pt x="51061" y="60581"/>
                  <a:pt x="70101" y="61446"/>
                  <a:pt x="77024" y="60581"/>
                </a:cubicBezTo>
                <a:cubicBezTo>
                  <a:pt x="83948" y="59715"/>
                  <a:pt x="84813" y="50196"/>
                  <a:pt x="89140" y="48465"/>
                </a:cubicBezTo>
                <a:cubicBezTo>
                  <a:pt x="93468" y="46734"/>
                  <a:pt x="98660" y="43272"/>
                  <a:pt x="107315" y="48465"/>
                </a:cubicBezTo>
                <a:cubicBezTo>
                  <a:pt x="115969" y="53657"/>
                  <a:pt x="136740" y="79621"/>
                  <a:pt x="149721" y="84813"/>
                </a:cubicBezTo>
                <a:cubicBezTo>
                  <a:pt x="162703" y="90006"/>
                  <a:pt x="189532" y="83082"/>
                  <a:pt x="198186" y="84813"/>
                </a:cubicBezTo>
                <a:cubicBezTo>
                  <a:pt x="206841" y="86544"/>
                  <a:pt x="205110" y="95199"/>
                  <a:pt x="210302" y="96929"/>
                </a:cubicBezTo>
                <a:cubicBezTo>
                  <a:pt x="215495" y="98660"/>
                  <a:pt x="225880" y="94333"/>
                  <a:pt x="234535" y="96929"/>
                </a:cubicBezTo>
                <a:cubicBezTo>
                  <a:pt x="243189" y="99526"/>
                  <a:pt x="257902" y="112507"/>
                  <a:pt x="270883" y="115104"/>
                </a:cubicBezTo>
                <a:cubicBezTo>
                  <a:pt x="283865" y="117700"/>
                  <a:pt x="316752" y="110777"/>
                  <a:pt x="325406" y="115104"/>
                </a:cubicBezTo>
                <a:cubicBezTo>
                  <a:pt x="334060" y="119431"/>
                  <a:pt x="335791" y="141067"/>
                  <a:pt x="331464" y="145394"/>
                </a:cubicBezTo>
                <a:cubicBezTo>
                  <a:pt x="327137" y="149721"/>
                  <a:pt x="300308" y="149721"/>
                  <a:pt x="295116" y="145394"/>
                </a:cubicBezTo>
                <a:cubicBezTo>
                  <a:pt x="289923" y="141067"/>
                  <a:pt x="295116" y="119431"/>
                  <a:pt x="295116" y="115104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artery_interstitial_long_fiber_282"/>
          <p:cNvSpPr/>
          <p:nvPr/>
        </p:nvSpPr>
        <p:spPr>
          <a:xfrm>
            <a:off x="11270978" y="4996714"/>
            <a:ext cx="302905" cy="278672"/>
          </a:xfrm>
          <a:custGeom>
            <a:avLst/>
            <a:gdLst/>
            <a:ahLst/>
            <a:cxnLst/>
            <a:rect l="0" t="0" r="r" b="b"/>
            <a:pathLst>
              <a:path w="302905" h="278672">
                <a:moveTo>
                  <a:pt x="0" y="0"/>
                </a:moveTo>
                <a:cubicBezTo>
                  <a:pt x="865" y="5193"/>
                  <a:pt x="3462" y="31156"/>
                  <a:pt x="6058" y="36349"/>
                </a:cubicBezTo>
                <a:cubicBezTo>
                  <a:pt x="8654" y="41541"/>
                  <a:pt x="1731" y="21636"/>
                  <a:pt x="18174" y="36349"/>
                </a:cubicBezTo>
                <a:cubicBezTo>
                  <a:pt x="34618" y="51061"/>
                  <a:pt x="102988" y="123758"/>
                  <a:pt x="121162" y="139336"/>
                </a:cubicBezTo>
                <a:cubicBezTo>
                  <a:pt x="139336" y="154914"/>
                  <a:pt x="131547" y="134143"/>
                  <a:pt x="145394" y="145394"/>
                </a:cubicBezTo>
                <a:cubicBezTo>
                  <a:pt x="159241" y="156645"/>
                  <a:pt x="204244" y="206841"/>
                  <a:pt x="218091" y="218091"/>
                </a:cubicBezTo>
                <a:cubicBezTo>
                  <a:pt x="231938" y="229342"/>
                  <a:pt x="235400" y="218091"/>
                  <a:pt x="242324" y="224149"/>
                </a:cubicBezTo>
                <a:cubicBezTo>
                  <a:pt x="249247" y="230207"/>
                  <a:pt x="257902" y="252709"/>
                  <a:pt x="266556" y="260498"/>
                </a:cubicBezTo>
                <a:cubicBezTo>
                  <a:pt x="275210" y="268287"/>
                  <a:pt x="297712" y="276076"/>
                  <a:pt x="302905" y="278672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artery_interstitial_long_fiber_283"/>
          <p:cNvSpPr/>
          <p:nvPr/>
        </p:nvSpPr>
        <p:spPr>
          <a:xfrm>
            <a:off x="11476953" y="5111818"/>
            <a:ext cx="127220" cy="154049"/>
          </a:xfrm>
          <a:custGeom>
            <a:avLst/>
            <a:gdLst/>
            <a:ahLst/>
            <a:cxnLst/>
            <a:rect l="0" t="0" r="r" b="b"/>
            <a:pathLst>
              <a:path w="127220" h="154049">
                <a:moveTo>
                  <a:pt x="0" y="0"/>
                </a:moveTo>
                <a:cubicBezTo>
                  <a:pt x="5193" y="5193"/>
                  <a:pt x="21636" y="16443"/>
                  <a:pt x="36349" y="36349"/>
                </a:cubicBezTo>
                <a:cubicBezTo>
                  <a:pt x="51061" y="56254"/>
                  <a:pt x="91737" y="124624"/>
                  <a:pt x="102988" y="139336"/>
                </a:cubicBezTo>
                <a:cubicBezTo>
                  <a:pt x="114238" y="154049"/>
                  <a:pt x="111642" y="142798"/>
                  <a:pt x="115104" y="139336"/>
                </a:cubicBezTo>
                <a:cubicBezTo>
                  <a:pt x="118566" y="135874"/>
                  <a:pt x="127220" y="122893"/>
                  <a:pt x="127220" y="115104"/>
                </a:cubicBezTo>
                <a:cubicBezTo>
                  <a:pt x="127220" y="107315"/>
                  <a:pt x="118566" y="89140"/>
                  <a:pt x="115104" y="84813"/>
                </a:cubicBezTo>
                <a:cubicBezTo>
                  <a:pt x="111642" y="80486"/>
                  <a:pt x="108180" y="89140"/>
                  <a:pt x="102988" y="84813"/>
                </a:cubicBezTo>
                <a:cubicBezTo>
                  <a:pt x="97795" y="80486"/>
                  <a:pt x="82217" y="58850"/>
                  <a:pt x="78755" y="54523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artery_interstitial_long_fiber_284"/>
          <p:cNvSpPr/>
          <p:nvPr/>
        </p:nvSpPr>
        <p:spPr>
          <a:xfrm>
            <a:off x="11598115" y="5230383"/>
            <a:ext cx="222419" cy="77890"/>
          </a:xfrm>
          <a:custGeom>
            <a:avLst/>
            <a:gdLst/>
            <a:ahLst/>
            <a:cxnLst/>
            <a:rect l="0" t="0" r="r" b="b"/>
            <a:pathLst>
              <a:path w="222419" h="77890">
                <a:moveTo>
                  <a:pt x="0" y="2596"/>
                </a:moveTo>
                <a:cubicBezTo>
                  <a:pt x="1731" y="4327"/>
                  <a:pt x="4327" y="12982"/>
                  <a:pt x="12116" y="14713"/>
                </a:cubicBezTo>
                <a:cubicBezTo>
                  <a:pt x="19905" y="16443"/>
                  <a:pt x="45003" y="16443"/>
                  <a:pt x="54523" y="14713"/>
                </a:cubicBezTo>
                <a:cubicBezTo>
                  <a:pt x="64043" y="12982"/>
                  <a:pt x="59715" y="0"/>
                  <a:pt x="78755" y="2596"/>
                </a:cubicBezTo>
                <a:cubicBezTo>
                  <a:pt x="97795" y="5193"/>
                  <a:pt x="167896" y="24232"/>
                  <a:pt x="187801" y="32887"/>
                </a:cubicBezTo>
                <a:cubicBezTo>
                  <a:pt x="207706" y="41541"/>
                  <a:pt x="213764" y="57119"/>
                  <a:pt x="218091" y="63177"/>
                </a:cubicBezTo>
                <a:cubicBezTo>
                  <a:pt x="222419" y="69235"/>
                  <a:pt x="219822" y="73563"/>
                  <a:pt x="218091" y="75293"/>
                </a:cubicBezTo>
                <a:cubicBezTo>
                  <a:pt x="216360" y="77024"/>
                  <a:pt x="211168" y="77890"/>
                  <a:pt x="205975" y="75293"/>
                </a:cubicBezTo>
                <a:cubicBezTo>
                  <a:pt x="200782" y="72697"/>
                  <a:pt x="183474" y="62312"/>
                  <a:pt x="181743" y="57119"/>
                </a:cubicBezTo>
                <a:cubicBezTo>
                  <a:pt x="180012" y="51927"/>
                  <a:pt x="192128" y="41541"/>
                  <a:pt x="193859" y="38945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artery_interstitial_long_fiber_285"/>
          <p:cNvSpPr/>
          <p:nvPr/>
        </p:nvSpPr>
        <p:spPr>
          <a:xfrm>
            <a:off x="11749567" y="5335967"/>
            <a:ext cx="303770" cy="122027"/>
          </a:xfrm>
          <a:custGeom>
            <a:avLst/>
            <a:gdLst/>
            <a:ahLst/>
            <a:cxnLst/>
            <a:rect l="0" t="0" r="r" b="b"/>
            <a:pathLst>
              <a:path w="303770" h="122027">
                <a:moveTo>
                  <a:pt x="0" y="0"/>
                </a:moveTo>
                <a:cubicBezTo>
                  <a:pt x="2596" y="4327"/>
                  <a:pt x="7789" y="25963"/>
                  <a:pt x="18174" y="30290"/>
                </a:cubicBezTo>
                <a:cubicBezTo>
                  <a:pt x="28560" y="34618"/>
                  <a:pt x="57985" y="28560"/>
                  <a:pt x="72697" y="30290"/>
                </a:cubicBezTo>
                <a:cubicBezTo>
                  <a:pt x="87410" y="32021"/>
                  <a:pt x="101257" y="32021"/>
                  <a:pt x="121162" y="42407"/>
                </a:cubicBezTo>
                <a:cubicBezTo>
                  <a:pt x="141067" y="52792"/>
                  <a:pt x="192128" y="94333"/>
                  <a:pt x="212033" y="102988"/>
                </a:cubicBezTo>
                <a:cubicBezTo>
                  <a:pt x="231938" y="111642"/>
                  <a:pt x="249247" y="100391"/>
                  <a:pt x="260498" y="102988"/>
                </a:cubicBezTo>
                <a:cubicBezTo>
                  <a:pt x="271749" y="105584"/>
                  <a:pt x="284730" y="122027"/>
                  <a:pt x="290788" y="121162"/>
                </a:cubicBezTo>
                <a:cubicBezTo>
                  <a:pt x="296847" y="120296"/>
                  <a:pt x="303770" y="102988"/>
                  <a:pt x="302905" y="96929"/>
                </a:cubicBezTo>
                <a:cubicBezTo>
                  <a:pt x="302039" y="90871"/>
                  <a:pt x="287327" y="81352"/>
                  <a:pt x="284730" y="78755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artery_interstitial_long_fiber_286"/>
          <p:cNvSpPr/>
          <p:nvPr/>
        </p:nvSpPr>
        <p:spPr>
          <a:xfrm>
            <a:off x="12161518" y="5528095"/>
            <a:ext cx="255305" cy="228477"/>
          </a:xfrm>
          <a:custGeom>
            <a:avLst/>
            <a:gdLst/>
            <a:ahLst/>
            <a:cxnLst/>
            <a:rect l="0" t="0" r="r" b="b"/>
            <a:pathLst>
              <a:path w="255305" h="228477">
                <a:moveTo>
                  <a:pt x="0" y="1731"/>
                </a:moveTo>
                <a:cubicBezTo>
                  <a:pt x="4327" y="3462"/>
                  <a:pt x="10385" y="0"/>
                  <a:pt x="30290" y="13847"/>
                </a:cubicBezTo>
                <a:cubicBezTo>
                  <a:pt x="50196" y="27694"/>
                  <a:pt x="123758" y="84813"/>
                  <a:pt x="139336" y="98660"/>
                </a:cubicBezTo>
                <a:cubicBezTo>
                  <a:pt x="154914" y="112507"/>
                  <a:pt x="133278" y="102988"/>
                  <a:pt x="139336" y="110777"/>
                </a:cubicBezTo>
                <a:cubicBezTo>
                  <a:pt x="145394" y="118566"/>
                  <a:pt x="175685" y="141067"/>
                  <a:pt x="181743" y="153183"/>
                </a:cubicBezTo>
                <a:cubicBezTo>
                  <a:pt x="187801" y="165299"/>
                  <a:pt x="178281" y="186070"/>
                  <a:pt x="181743" y="195590"/>
                </a:cubicBezTo>
                <a:cubicBezTo>
                  <a:pt x="185205" y="205110"/>
                  <a:pt x="195590" y="216360"/>
                  <a:pt x="205975" y="219822"/>
                </a:cubicBezTo>
                <a:cubicBezTo>
                  <a:pt x="216360" y="223284"/>
                  <a:pt x="253574" y="228477"/>
                  <a:pt x="254440" y="219822"/>
                </a:cubicBezTo>
                <a:cubicBezTo>
                  <a:pt x="255305" y="211168"/>
                  <a:pt x="214630" y="166165"/>
                  <a:pt x="212033" y="159241"/>
                </a:cubicBezTo>
                <a:cubicBezTo>
                  <a:pt x="209437" y="152318"/>
                  <a:pt x="232804" y="167030"/>
                  <a:pt x="236266" y="171357"/>
                </a:cubicBezTo>
                <a:cubicBezTo>
                  <a:pt x="239727" y="175685"/>
                  <a:pt x="236266" y="186935"/>
                  <a:pt x="236266" y="189532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artery_interstitial_long_fiber_287"/>
          <p:cNvSpPr/>
          <p:nvPr/>
        </p:nvSpPr>
        <p:spPr>
          <a:xfrm>
            <a:off x="12537119" y="5596465"/>
            <a:ext cx="196455" cy="300308"/>
          </a:xfrm>
          <a:custGeom>
            <a:avLst/>
            <a:gdLst/>
            <a:ahLst/>
            <a:cxnLst/>
            <a:rect l="0" t="0" r="r" b="b"/>
            <a:pathLst>
              <a:path w="196455" h="300308">
                <a:moveTo>
                  <a:pt x="0" y="0"/>
                </a:moveTo>
                <a:cubicBezTo>
                  <a:pt x="2596" y="14713"/>
                  <a:pt x="12982" y="85679"/>
                  <a:pt x="18174" y="102988"/>
                </a:cubicBezTo>
                <a:cubicBezTo>
                  <a:pt x="23367" y="120296"/>
                  <a:pt x="26829" y="115969"/>
                  <a:pt x="36349" y="121162"/>
                </a:cubicBezTo>
                <a:cubicBezTo>
                  <a:pt x="45868" y="126354"/>
                  <a:pt x="77024" y="134143"/>
                  <a:pt x="84813" y="139336"/>
                </a:cubicBezTo>
                <a:cubicBezTo>
                  <a:pt x="92602" y="144529"/>
                  <a:pt x="90871" y="140202"/>
                  <a:pt x="90871" y="157510"/>
                </a:cubicBezTo>
                <a:cubicBezTo>
                  <a:pt x="90871" y="174819"/>
                  <a:pt x="79621" y="241458"/>
                  <a:pt x="84813" y="260498"/>
                </a:cubicBezTo>
                <a:cubicBezTo>
                  <a:pt x="90006" y="279538"/>
                  <a:pt x="112507" y="285596"/>
                  <a:pt x="127220" y="290788"/>
                </a:cubicBezTo>
                <a:cubicBezTo>
                  <a:pt x="141932" y="295981"/>
                  <a:pt x="179146" y="300308"/>
                  <a:pt x="187801" y="296847"/>
                </a:cubicBezTo>
                <a:cubicBezTo>
                  <a:pt x="196455" y="293385"/>
                  <a:pt x="196455" y="276941"/>
                  <a:pt x="187801" y="266556"/>
                </a:cubicBezTo>
                <a:cubicBezTo>
                  <a:pt x="179146" y="256171"/>
                  <a:pt x="141932" y="230207"/>
                  <a:pt x="127220" y="224149"/>
                </a:cubicBezTo>
                <a:cubicBezTo>
                  <a:pt x="112507" y="218091"/>
                  <a:pt x="90871" y="224149"/>
                  <a:pt x="84813" y="224149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artery_interstitial_long_fiber_288"/>
          <p:cNvSpPr/>
          <p:nvPr/>
        </p:nvSpPr>
        <p:spPr>
          <a:xfrm>
            <a:off x="12821850" y="6026590"/>
            <a:ext cx="315021" cy="212033"/>
          </a:xfrm>
          <a:custGeom>
            <a:avLst/>
            <a:gdLst/>
            <a:ahLst/>
            <a:cxnLst/>
            <a:rect l="0" t="0" r="r" b="b"/>
            <a:pathLst>
              <a:path w="315021" h="212033">
                <a:moveTo>
                  <a:pt x="0" y="0"/>
                </a:moveTo>
                <a:cubicBezTo>
                  <a:pt x="6058" y="2596"/>
                  <a:pt x="30290" y="8654"/>
                  <a:pt x="42407" y="18174"/>
                </a:cubicBezTo>
                <a:cubicBezTo>
                  <a:pt x="54523" y="27694"/>
                  <a:pt x="69235" y="57119"/>
                  <a:pt x="84813" y="66639"/>
                </a:cubicBezTo>
                <a:cubicBezTo>
                  <a:pt x="100391" y="76159"/>
                  <a:pt x="137605" y="77890"/>
                  <a:pt x="151452" y="84813"/>
                </a:cubicBezTo>
                <a:cubicBezTo>
                  <a:pt x="165299" y="91737"/>
                  <a:pt x="173954" y="109911"/>
                  <a:pt x="181743" y="115104"/>
                </a:cubicBezTo>
                <a:cubicBezTo>
                  <a:pt x="189532" y="120296"/>
                  <a:pt x="193859" y="110777"/>
                  <a:pt x="205975" y="121162"/>
                </a:cubicBezTo>
                <a:cubicBezTo>
                  <a:pt x="218091" y="131547"/>
                  <a:pt x="250978" y="174819"/>
                  <a:pt x="266556" y="187801"/>
                </a:cubicBezTo>
                <a:cubicBezTo>
                  <a:pt x="282134" y="200782"/>
                  <a:pt x="308097" y="208571"/>
                  <a:pt x="315021" y="212033"/>
                </a:cubicBezTo>
              </a:path>
            </a:pathLst>
          </a:custGeom>
          <a:noFill/>
          <a:ln w="3331" cap="rnd">
            <a:solidFill>
              <a:srgbClr val="FFEAD8">
                <a:alpha val="34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artery_far_wall_lip_289"/>
          <p:cNvSpPr/>
          <p:nvPr/>
        </p:nvSpPr>
        <p:spPr>
          <a:xfrm>
            <a:off x="8750812" y="1071071"/>
            <a:ext cx="4246722" cy="2435353"/>
          </a:xfrm>
          <a:custGeom>
            <a:avLst/>
            <a:gdLst/>
            <a:ahLst/>
            <a:cxnLst/>
            <a:rect l="0" t="0" r="r" b="b"/>
            <a:pathLst>
              <a:path w="4246722" h="2435353">
                <a:moveTo>
                  <a:pt x="218091" y="1350955"/>
                </a:moveTo>
                <a:cubicBezTo>
                  <a:pt x="18174" y="1144979"/>
                  <a:pt x="0" y="902656"/>
                  <a:pt x="48465" y="630042"/>
                </a:cubicBezTo>
                <a:cubicBezTo>
                  <a:pt x="109046" y="290788"/>
                  <a:pt x="272614" y="60581"/>
                  <a:pt x="551286" y="42407"/>
                </a:cubicBezTo>
                <a:cubicBezTo>
                  <a:pt x="926888" y="0"/>
                  <a:pt x="1562988" y="266556"/>
                  <a:pt x="2205145" y="636100"/>
                </a:cubicBezTo>
                <a:cubicBezTo>
                  <a:pt x="2962407" y="1078340"/>
                  <a:pt x="3689378" y="1605394"/>
                  <a:pt x="4246722" y="2035519"/>
                </a:cubicBezTo>
                <a:lnTo>
                  <a:pt x="3901411" y="2435353"/>
                </a:lnTo>
                <a:cubicBezTo>
                  <a:pt x="3489461" y="2144565"/>
                  <a:pt x="3162324" y="1823486"/>
                  <a:pt x="2683735" y="1496349"/>
                </a:cubicBezTo>
                <a:cubicBezTo>
                  <a:pt x="1980996" y="1011701"/>
                  <a:pt x="1308548" y="575519"/>
                  <a:pt x="836017" y="418008"/>
                </a:cubicBezTo>
                <a:cubicBezTo>
                  <a:pt x="660332" y="363486"/>
                  <a:pt x="527054" y="357427"/>
                  <a:pt x="418008" y="424066"/>
                </a:cubicBezTo>
                <a:cubicBezTo>
                  <a:pt x="254440" y="539170"/>
                  <a:pt x="236266" y="690622"/>
                  <a:pt x="272614" y="945062"/>
                </a:cubicBezTo>
                <a:cubicBezTo>
                  <a:pt x="290788" y="1157096"/>
                  <a:pt x="363486" y="1278257"/>
                  <a:pt x="478589" y="1387303"/>
                </a:cubicBezTo>
                <a:close/>
              </a:path>
            </a:pathLst>
          </a:custGeom>
          <a:gradFill rotWithShape="1">
            <a:gsLst>
              <a:gs pos="0">
                <a:srgbClr val="FFF1E8"/>
              </a:gs>
              <a:gs pos="34000">
                <a:srgbClr val="F6CCC4"/>
              </a:gs>
              <a:gs pos="70000">
                <a:srgbClr val="E8A7A3"/>
              </a:gs>
              <a:gs pos="100000">
                <a:srgbClr val="F8DBD0"/>
              </a:gs>
            </a:gsLst>
            <a:lin ang="5280000" scaled="1"/>
          </a:gradFill>
          <a:ln w="6058" cap="rnd">
            <a:solidFill>
              <a:srgbClr val="C4838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artery_fine_lip_lamella_290"/>
          <p:cNvSpPr/>
          <p:nvPr/>
        </p:nvSpPr>
        <p:spPr>
          <a:xfrm>
            <a:off x="8765351" y="1155884"/>
            <a:ext cx="4174025" cy="1985843"/>
          </a:xfrm>
          <a:custGeom>
            <a:avLst/>
            <a:gdLst/>
            <a:ahLst/>
            <a:cxnLst/>
            <a:rect l="0" t="0" r="r" b="b"/>
            <a:pathLst>
              <a:path w="4174025" h="1985843">
                <a:moveTo>
                  <a:pt x="212033" y="1199502"/>
                </a:moveTo>
                <a:cubicBezTo>
                  <a:pt x="0" y="896598"/>
                  <a:pt x="77544" y="167203"/>
                  <a:pt x="512515" y="18174"/>
                </a:cubicBezTo>
                <a:cubicBezTo>
                  <a:pt x="1088033" y="0"/>
                  <a:pt x="1942224" y="617925"/>
                  <a:pt x="2596498" y="1017759"/>
                </a:cubicBezTo>
                <a:cubicBezTo>
                  <a:pt x="3287121" y="1447884"/>
                  <a:pt x="3789942" y="1778656"/>
                  <a:pt x="4174025" y="1985843"/>
                </a:cubicBezTo>
              </a:path>
            </a:pathLst>
          </a:custGeom>
          <a:noFill/>
          <a:ln w="3937" cap="rnd">
            <a:solidFill>
              <a:srgbClr val="F9E5DA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artery_fine_lip_lamella_291"/>
          <p:cNvSpPr/>
          <p:nvPr/>
        </p:nvSpPr>
        <p:spPr>
          <a:xfrm>
            <a:off x="8769895" y="1168866"/>
            <a:ext cx="4164289" cy="1978703"/>
          </a:xfrm>
          <a:custGeom>
            <a:avLst/>
            <a:gdLst/>
            <a:ahLst/>
            <a:cxnLst/>
            <a:rect l="0" t="0" r="r" b="b"/>
            <a:pathLst>
              <a:path w="4164289" h="1978703">
                <a:moveTo>
                  <a:pt x="202297" y="1183275"/>
                </a:moveTo>
                <a:cubicBezTo>
                  <a:pt x="0" y="883616"/>
                  <a:pt x="76894" y="159414"/>
                  <a:pt x="507971" y="18174"/>
                </a:cubicBezTo>
                <a:cubicBezTo>
                  <a:pt x="1083490" y="0"/>
                  <a:pt x="1937681" y="611435"/>
                  <a:pt x="2591955" y="1011269"/>
                </a:cubicBezTo>
                <a:cubicBezTo>
                  <a:pt x="3282577" y="1441393"/>
                  <a:pt x="3785399" y="1770867"/>
                  <a:pt x="4164289" y="1978703"/>
                </a:cubicBezTo>
              </a:path>
            </a:pathLst>
          </a:custGeom>
          <a:noFill/>
          <a:ln w="3937" cap="rnd">
            <a:solidFill>
              <a:srgbClr val="DF9B97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artery_fine_lip_lamella_292"/>
          <p:cNvSpPr/>
          <p:nvPr/>
        </p:nvSpPr>
        <p:spPr>
          <a:xfrm>
            <a:off x="8774438" y="1181847"/>
            <a:ext cx="4154553" cy="1971563"/>
          </a:xfrm>
          <a:custGeom>
            <a:avLst/>
            <a:gdLst/>
            <a:ahLst/>
            <a:cxnLst/>
            <a:rect l="0" t="0" r="r" b="b"/>
            <a:pathLst>
              <a:path w="4154553" h="1971563">
                <a:moveTo>
                  <a:pt x="192561" y="1167048"/>
                </a:moveTo>
                <a:cubicBezTo>
                  <a:pt x="0" y="870634"/>
                  <a:pt x="76245" y="151625"/>
                  <a:pt x="503427" y="18174"/>
                </a:cubicBezTo>
                <a:cubicBezTo>
                  <a:pt x="1078946" y="0"/>
                  <a:pt x="1933137" y="604944"/>
                  <a:pt x="2587411" y="1004778"/>
                </a:cubicBezTo>
                <a:cubicBezTo>
                  <a:pt x="3278034" y="1434902"/>
                  <a:pt x="3780855" y="1763078"/>
                  <a:pt x="4154553" y="1971563"/>
                </a:cubicBezTo>
              </a:path>
            </a:pathLst>
          </a:custGeom>
          <a:noFill/>
          <a:ln w="3937" cap="rnd">
            <a:solidFill>
              <a:srgbClr val="F7CBC0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artery_fine_lip_lamella_293"/>
          <p:cNvSpPr/>
          <p:nvPr/>
        </p:nvSpPr>
        <p:spPr>
          <a:xfrm>
            <a:off x="8778982" y="1194829"/>
            <a:ext cx="4144817" cy="1964423"/>
          </a:xfrm>
          <a:custGeom>
            <a:avLst/>
            <a:gdLst/>
            <a:ahLst/>
            <a:cxnLst/>
            <a:rect l="0" t="0" r="r" b="b"/>
            <a:pathLst>
              <a:path w="4144817" h="1964423">
                <a:moveTo>
                  <a:pt x="182825" y="1150821"/>
                </a:moveTo>
                <a:cubicBezTo>
                  <a:pt x="0" y="857653"/>
                  <a:pt x="75596" y="143836"/>
                  <a:pt x="498884" y="18174"/>
                </a:cubicBezTo>
                <a:cubicBezTo>
                  <a:pt x="1074403" y="0"/>
                  <a:pt x="1928594" y="598453"/>
                  <a:pt x="2582867" y="998287"/>
                </a:cubicBezTo>
                <a:cubicBezTo>
                  <a:pt x="3273490" y="1428412"/>
                  <a:pt x="3776312" y="1755289"/>
                  <a:pt x="4144817" y="1964423"/>
                </a:cubicBezTo>
              </a:path>
            </a:pathLst>
          </a:custGeom>
          <a:noFill/>
          <a:ln w="3937" cap="rnd">
            <a:solidFill>
              <a:srgbClr val="FFF8EC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artery_fine_lip_lamella_294"/>
          <p:cNvSpPr/>
          <p:nvPr/>
        </p:nvSpPr>
        <p:spPr>
          <a:xfrm>
            <a:off x="8783526" y="1207810"/>
            <a:ext cx="4135080" cy="1957283"/>
          </a:xfrm>
          <a:custGeom>
            <a:avLst/>
            <a:gdLst/>
            <a:ahLst/>
            <a:cxnLst/>
            <a:rect l="0" t="0" r="r" b="b"/>
            <a:pathLst>
              <a:path w="4135080" h="1957283">
                <a:moveTo>
                  <a:pt x="173088" y="1134594"/>
                </a:moveTo>
                <a:cubicBezTo>
                  <a:pt x="0" y="844671"/>
                  <a:pt x="74947" y="136047"/>
                  <a:pt x="494340" y="18174"/>
                </a:cubicBezTo>
                <a:cubicBezTo>
                  <a:pt x="1069859" y="0"/>
                  <a:pt x="1924050" y="591962"/>
                  <a:pt x="2578324" y="991796"/>
                </a:cubicBezTo>
                <a:cubicBezTo>
                  <a:pt x="3268946" y="1421921"/>
                  <a:pt x="3771768" y="1747500"/>
                  <a:pt x="4135080" y="1957283"/>
                </a:cubicBezTo>
              </a:path>
            </a:pathLst>
          </a:custGeom>
          <a:noFill/>
          <a:ln w="3937" cap="rnd">
            <a:solidFill>
              <a:srgbClr val="F9E5DA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artery_fine_lip_lamella_295"/>
          <p:cNvSpPr/>
          <p:nvPr/>
        </p:nvSpPr>
        <p:spPr>
          <a:xfrm>
            <a:off x="8788069" y="1220792"/>
            <a:ext cx="4125344" cy="1950143"/>
          </a:xfrm>
          <a:custGeom>
            <a:avLst/>
            <a:gdLst/>
            <a:ahLst/>
            <a:cxnLst/>
            <a:rect l="0" t="0" r="r" b="b"/>
            <a:pathLst>
              <a:path w="4125344" h="1950143">
                <a:moveTo>
                  <a:pt x="163352" y="1118367"/>
                </a:moveTo>
                <a:cubicBezTo>
                  <a:pt x="0" y="831689"/>
                  <a:pt x="74298" y="128258"/>
                  <a:pt x="489797" y="18174"/>
                </a:cubicBezTo>
                <a:cubicBezTo>
                  <a:pt x="1065315" y="0"/>
                  <a:pt x="1919506" y="585471"/>
                  <a:pt x="2573780" y="985305"/>
                </a:cubicBezTo>
                <a:cubicBezTo>
                  <a:pt x="3264403" y="1415430"/>
                  <a:pt x="3767224" y="1739711"/>
                  <a:pt x="4125344" y="1950143"/>
                </a:cubicBezTo>
              </a:path>
            </a:pathLst>
          </a:custGeom>
          <a:noFill/>
          <a:ln w="3937" cap="rnd">
            <a:solidFill>
              <a:srgbClr val="DF9B97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artery_fine_lip_lamella_296"/>
          <p:cNvSpPr/>
          <p:nvPr/>
        </p:nvSpPr>
        <p:spPr>
          <a:xfrm>
            <a:off x="8792613" y="1233774"/>
            <a:ext cx="4115608" cy="1943003"/>
          </a:xfrm>
          <a:custGeom>
            <a:avLst/>
            <a:gdLst/>
            <a:ahLst/>
            <a:cxnLst/>
            <a:rect l="0" t="0" r="r" b="b"/>
            <a:pathLst>
              <a:path w="4115608" h="1943003">
                <a:moveTo>
                  <a:pt x="153616" y="1102140"/>
                </a:moveTo>
                <a:cubicBezTo>
                  <a:pt x="0" y="818708"/>
                  <a:pt x="73649" y="120469"/>
                  <a:pt x="485253" y="18174"/>
                </a:cubicBezTo>
                <a:cubicBezTo>
                  <a:pt x="1060772" y="0"/>
                  <a:pt x="1914963" y="578981"/>
                  <a:pt x="2569237" y="978815"/>
                </a:cubicBezTo>
                <a:cubicBezTo>
                  <a:pt x="3259859" y="1408939"/>
                  <a:pt x="3762681" y="1731922"/>
                  <a:pt x="4115608" y="1943003"/>
                </a:cubicBezTo>
              </a:path>
            </a:pathLst>
          </a:custGeom>
          <a:noFill/>
          <a:ln w="3937" cap="rnd">
            <a:solidFill>
              <a:srgbClr val="F7CBC0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artery_fine_lip_lamella_297"/>
          <p:cNvSpPr/>
          <p:nvPr/>
        </p:nvSpPr>
        <p:spPr>
          <a:xfrm>
            <a:off x="8797156" y="1246755"/>
            <a:ext cx="4105872" cy="1935863"/>
          </a:xfrm>
          <a:custGeom>
            <a:avLst/>
            <a:gdLst/>
            <a:ahLst/>
            <a:cxnLst/>
            <a:rect l="0" t="0" r="r" b="b"/>
            <a:pathLst>
              <a:path w="4105872" h="1935863">
                <a:moveTo>
                  <a:pt x="143880" y="1085913"/>
                </a:moveTo>
                <a:cubicBezTo>
                  <a:pt x="0" y="805726"/>
                  <a:pt x="73000" y="112681"/>
                  <a:pt x="480710" y="18174"/>
                </a:cubicBezTo>
                <a:cubicBezTo>
                  <a:pt x="1056228" y="0"/>
                  <a:pt x="1910419" y="572490"/>
                  <a:pt x="2564693" y="972324"/>
                </a:cubicBezTo>
                <a:cubicBezTo>
                  <a:pt x="3255316" y="1402448"/>
                  <a:pt x="3758137" y="1724133"/>
                  <a:pt x="4105872" y="1935863"/>
                </a:cubicBezTo>
              </a:path>
            </a:pathLst>
          </a:custGeom>
          <a:noFill/>
          <a:ln w="3937" cap="rnd">
            <a:solidFill>
              <a:srgbClr val="FFF8EC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artery_fine_lip_lamella_298"/>
          <p:cNvSpPr/>
          <p:nvPr/>
        </p:nvSpPr>
        <p:spPr>
          <a:xfrm>
            <a:off x="8801700" y="1259737"/>
            <a:ext cx="4096136" cy="1928723"/>
          </a:xfrm>
          <a:custGeom>
            <a:avLst/>
            <a:gdLst/>
            <a:ahLst/>
            <a:cxnLst/>
            <a:rect l="0" t="0" r="r" b="b"/>
            <a:pathLst>
              <a:path w="4096136" h="1928723">
                <a:moveTo>
                  <a:pt x="134143" y="1069686"/>
                </a:moveTo>
                <a:cubicBezTo>
                  <a:pt x="0" y="792745"/>
                  <a:pt x="72351" y="104892"/>
                  <a:pt x="476166" y="18174"/>
                </a:cubicBezTo>
                <a:cubicBezTo>
                  <a:pt x="1051685" y="0"/>
                  <a:pt x="1905876" y="565999"/>
                  <a:pt x="2560150" y="965833"/>
                </a:cubicBezTo>
                <a:cubicBezTo>
                  <a:pt x="3250772" y="1395957"/>
                  <a:pt x="3753594" y="1716344"/>
                  <a:pt x="4096136" y="1928723"/>
                </a:cubicBezTo>
              </a:path>
            </a:pathLst>
          </a:custGeom>
          <a:noFill/>
          <a:ln w="3937" cap="rnd">
            <a:solidFill>
              <a:srgbClr val="F9E5DA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artery_fine_lip_lamella_299"/>
          <p:cNvSpPr/>
          <p:nvPr/>
        </p:nvSpPr>
        <p:spPr>
          <a:xfrm>
            <a:off x="8806243" y="1272719"/>
            <a:ext cx="4086399" cy="1921583"/>
          </a:xfrm>
          <a:custGeom>
            <a:avLst/>
            <a:gdLst/>
            <a:ahLst/>
            <a:cxnLst/>
            <a:rect l="0" t="0" r="r" b="b"/>
            <a:pathLst>
              <a:path w="4086399" h="1921583">
                <a:moveTo>
                  <a:pt x="124407" y="1053459"/>
                </a:moveTo>
                <a:cubicBezTo>
                  <a:pt x="0" y="779763"/>
                  <a:pt x="71702" y="97103"/>
                  <a:pt x="471622" y="18174"/>
                </a:cubicBezTo>
                <a:cubicBezTo>
                  <a:pt x="1047141" y="0"/>
                  <a:pt x="1901332" y="559508"/>
                  <a:pt x="2555606" y="959342"/>
                </a:cubicBezTo>
                <a:cubicBezTo>
                  <a:pt x="3246229" y="1389467"/>
                  <a:pt x="3749050" y="1708555"/>
                  <a:pt x="4086399" y="1921583"/>
                </a:cubicBezTo>
              </a:path>
            </a:pathLst>
          </a:custGeom>
          <a:noFill/>
          <a:ln w="3937" cap="rnd">
            <a:solidFill>
              <a:srgbClr val="DF9B97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artery_fine_lip_lamella_300"/>
          <p:cNvSpPr/>
          <p:nvPr/>
        </p:nvSpPr>
        <p:spPr>
          <a:xfrm>
            <a:off x="8810787" y="1285700"/>
            <a:ext cx="4076663" cy="1914444"/>
          </a:xfrm>
          <a:custGeom>
            <a:avLst/>
            <a:gdLst/>
            <a:ahLst/>
            <a:cxnLst/>
            <a:rect l="0" t="0" r="r" b="b"/>
            <a:pathLst>
              <a:path w="4076663" h="1914444">
                <a:moveTo>
                  <a:pt x="114671" y="1037232"/>
                </a:moveTo>
                <a:cubicBezTo>
                  <a:pt x="0" y="766781"/>
                  <a:pt x="71053" y="89314"/>
                  <a:pt x="467079" y="18174"/>
                </a:cubicBezTo>
                <a:cubicBezTo>
                  <a:pt x="1042598" y="0"/>
                  <a:pt x="1896789" y="553017"/>
                  <a:pt x="2551063" y="952851"/>
                </a:cubicBezTo>
                <a:cubicBezTo>
                  <a:pt x="3241685" y="1382976"/>
                  <a:pt x="3744507" y="1700766"/>
                  <a:pt x="4076663" y="1914444"/>
                </a:cubicBezTo>
              </a:path>
            </a:pathLst>
          </a:custGeom>
          <a:noFill/>
          <a:ln w="3937" cap="rnd">
            <a:solidFill>
              <a:srgbClr val="F7CBC0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artery_fine_lip_lamella_301"/>
          <p:cNvSpPr/>
          <p:nvPr/>
        </p:nvSpPr>
        <p:spPr>
          <a:xfrm>
            <a:off x="8815331" y="1298682"/>
            <a:ext cx="4066927" cy="1907304"/>
          </a:xfrm>
          <a:custGeom>
            <a:avLst/>
            <a:gdLst/>
            <a:ahLst/>
            <a:cxnLst/>
            <a:rect l="0" t="0" r="r" b="b"/>
            <a:pathLst>
              <a:path w="4066927" h="1907304">
                <a:moveTo>
                  <a:pt x="104935" y="1021005"/>
                </a:moveTo>
                <a:cubicBezTo>
                  <a:pt x="0" y="753800"/>
                  <a:pt x="70404" y="81525"/>
                  <a:pt x="462535" y="18174"/>
                </a:cubicBezTo>
                <a:cubicBezTo>
                  <a:pt x="1038054" y="0"/>
                  <a:pt x="1892245" y="546526"/>
                  <a:pt x="2546519" y="946361"/>
                </a:cubicBezTo>
                <a:cubicBezTo>
                  <a:pt x="3237141" y="1376485"/>
                  <a:pt x="3739963" y="1692977"/>
                  <a:pt x="4066927" y="1907304"/>
                </a:cubicBezTo>
              </a:path>
            </a:pathLst>
          </a:custGeom>
          <a:noFill/>
          <a:ln w="3937" cap="rnd">
            <a:solidFill>
              <a:srgbClr val="FFF8EC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artery_fine_lip_lamella_302"/>
          <p:cNvSpPr/>
          <p:nvPr/>
        </p:nvSpPr>
        <p:spPr>
          <a:xfrm>
            <a:off x="8819874" y="1311663"/>
            <a:ext cx="4057191" cy="1900164"/>
          </a:xfrm>
          <a:custGeom>
            <a:avLst/>
            <a:gdLst/>
            <a:ahLst/>
            <a:cxnLst/>
            <a:rect l="0" t="0" r="r" b="b"/>
            <a:pathLst>
              <a:path w="4057191" h="1900164">
                <a:moveTo>
                  <a:pt x="95199" y="1004778"/>
                </a:moveTo>
                <a:cubicBezTo>
                  <a:pt x="0" y="740818"/>
                  <a:pt x="69755" y="73736"/>
                  <a:pt x="457992" y="18174"/>
                </a:cubicBezTo>
                <a:cubicBezTo>
                  <a:pt x="1033510" y="0"/>
                  <a:pt x="1887701" y="540036"/>
                  <a:pt x="2541975" y="939870"/>
                </a:cubicBezTo>
                <a:cubicBezTo>
                  <a:pt x="3232598" y="1369994"/>
                  <a:pt x="3735419" y="1685188"/>
                  <a:pt x="4057191" y="1900164"/>
                </a:cubicBezTo>
              </a:path>
            </a:pathLst>
          </a:custGeom>
          <a:noFill/>
          <a:ln w="3937" cap="rnd">
            <a:solidFill>
              <a:srgbClr val="F9E5DA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artery_fine_lip_lamella_303"/>
          <p:cNvSpPr/>
          <p:nvPr/>
        </p:nvSpPr>
        <p:spPr>
          <a:xfrm>
            <a:off x="8824418" y="1324645"/>
            <a:ext cx="4047454" cy="1893024"/>
          </a:xfrm>
          <a:custGeom>
            <a:avLst/>
            <a:gdLst/>
            <a:ahLst/>
            <a:cxnLst/>
            <a:rect l="0" t="0" r="r" b="b"/>
            <a:pathLst>
              <a:path w="4047454" h="1893024">
                <a:moveTo>
                  <a:pt x="85462" y="988551"/>
                </a:moveTo>
                <a:cubicBezTo>
                  <a:pt x="0" y="727836"/>
                  <a:pt x="69106" y="65947"/>
                  <a:pt x="453448" y="18174"/>
                </a:cubicBezTo>
                <a:cubicBezTo>
                  <a:pt x="1028967" y="0"/>
                  <a:pt x="1883158" y="533545"/>
                  <a:pt x="2537432" y="933379"/>
                </a:cubicBezTo>
                <a:cubicBezTo>
                  <a:pt x="3228054" y="1363503"/>
                  <a:pt x="3730876" y="1677399"/>
                  <a:pt x="4047454" y="1893024"/>
                </a:cubicBezTo>
              </a:path>
            </a:pathLst>
          </a:custGeom>
          <a:noFill/>
          <a:ln w="3937" cap="rnd">
            <a:solidFill>
              <a:srgbClr val="DF9B97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artery_fine_lip_lamella_304"/>
          <p:cNvSpPr/>
          <p:nvPr/>
        </p:nvSpPr>
        <p:spPr>
          <a:xfrm>
            <a:off x="8828961" y="1337627"/>
            <a:ext cx="4037718" cy="1885884"/>
          </a:xfrm>
          <a:custGeom>
            <a:avLst/>
            <a:gdLst/>
            <a:ahLst/>
            <a:cxnLst/>
            <a:rect l="0" t="0" r="r" b="b"/>
            <a:pathLst>
              <a:path w="4037718" h="1885884">
                <a:moveTo>
                  <a:pt x="75726" y="972324"/>
                </a:moveTo>
                <a:cubicBezTo>
                  <a:pt x="0" y="714855"/>
                  <a:pt x="68456" y="58158"/>
                  <a:pt x="448905" y="18174"/>
                </a:cubicBezTo>
                <a:cubicBezTo>
                  <a:pt x="1024423" y="0"/>
                  <a:pt x="1878614" y="527054"/>
                  <a:pt x="2532888" y="926888"/>
                </a:cubicBezTo>
                <a:cubicBezTo>
                  <a:pt x="3223511" y="1357013"/>
                  <a:pt x="3726332" y="1669610"/>
                  <a:pt x="4037718" y="1885884"/>
                </a:cubicBezTo>
              </a:path>
            </a:pathLst>
          </a:custGeom>
          <a:noFill/>
          <a:ln w="3937" cap="rnd">
            <a:solidFill>
              <a:srgbClr val="F7CBC0">
                <a:alpha val="7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artery_lumen_305"/>
          <p:cNvSpPr/>
          <p:nvPr/>
        </p:nvSpPr>
        <p:spPr>
          <a:xfrm>
            <a:off x="9023426" y="1440614"/>
            <a:ext cx="3634855" cy="2859419"/>
          </a:xfrm>
          <a:custGeom>
            <a:avLst/>
            <a:gdLst/>
            <a:ahLst/>
            <a:cxnLst/>
            <a:rect l="0" t="0" r="r" b="b"/>
            <a:pathLst>
              <a:path w="3634855" h="2859419">
                <a:moveTo>
                  <a:pt x="181743" y="48465"/>
                </a:moveTo>
                <a:cubicBezTo>
                  <a:pt x="315021" y="0"/>
                  <a:pt x="448299" y="48465"/>
                  <a:pt x="587635" y="96929"/>
                </a:cubicBezTo>
                <a:cubicBezTo>
                  <a:pt x="1084398" y="290788"/>
                  <a:pt x="1726556" y="666390"/>
                  <a:pt x="2411121" y="1138921"/>
                </a:cubicBezTo>
                <a:cubicBezTo>
                  <a:pt x="2877594" y="1466058"/>
                  <a:pt x="3241079" y="1781079"/>
                  <a:pt x="3634855" y="2065809"/>
                </a:cubicBezTo>
                <a:cubicBezTo>
                  <a:pt x="3562158" y="2314191"/>
                  <a:pt x="3489461" y="2586805"/>
                  <a:pt x="3434938" y="2859419"/>
                </a:cubicBezTo>
                <a:cubicBezTo>
                  <a:pt x="3186556" y="2750374"/>
                  <a:pt x="2932116" y="2617096"/>
                  <a:pt x="2683735" y="2465643"/>
                </a:cubicBezTo>
                <a:cubicBezTo>
                  <a:pt x="1968880" y="2053693"/>
                  <a:pt x="1193444" y="1605394"/>
                  <a:pt x="411950" y="1169212"/>
                </a:cubicBezTo>
                <a:cubicBezTo>
                  <a:pt x="224149" y="1060166"/>
                  <a:pt x="90871" y="920830"/>
                  <a:pt x="60581" y="799668"/>
                </a:cubicBezTo>
                <a:cubicBezTo>
                  <a:pt x="0" y="660332"/>
                  <a:pt x="18174" y="502822"/>
                  <a:pt x="36349" y="363486"/>
                </a:cubicBezTo>
                <a:cubicBezTo>
                  <a:pt x="42407" y="205975"/>
                  <a:pt x="78755" y="102988"/>
                  <a:pt x="181743" y="48465"/>
                </a:cubicBezTo>
                <a:close/>
              </a:path>
            </a:pathLst>
          </a:custGeom>
          <a:gradFill rotWithShape="1">
            <a:gsLst>
              <a:gs pos="0">
                <a:srgbClr val="F7C7BF"/>
              </a:gs>
              <a:gs pos="30000">
                <a:srgbClr val="EDB2AB"/>
              </a:gs>
              <a:gs pos="63000">
                <a:srgbClr val="D88B86"/>
              </a:gs>
              <a:gs pos="83000">
                <a:srgbClr val="C97A79"/>
              </a:gs>
              <a:gs pos="100000">
                <a:srgbClr val="B76B70"/>
              </a:gs>
            </a:gsLst>
            <a:path path="circle">
              <a:fillToRect l="54000" t="58000" r="46000" b="42000"/>
            </a:path>
            <a:tileRect/>
          </a:gradFill>
          <a:ln w="5755" cap="rnd">
            <a:solidFill>
              <a:srgbClr val="B6797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8" name="artery_fine_subendothelial_306"/>
          <p:cNvSpPr/>
          <p:nvPr/>
        </p:nvSpPr>
        <p:spPr>
          <a:xfrm>
            <a:off x="11270978" y="2403851"/>
            <a:ext cx="60581" cy="60581"/>
          </a:xfrm>
          <a:custGeom>
            <a:avLst/>
            <a:gdLst/>
            <a:ahLst/>
            <a:cxnLst/>
            <a:rect l="0" t="0" r="r" b="b"/>
            <a:pathLst>
              <a:path w="60581" h="60581">
                <a:moveTo>
                  <a:pt x="0" y="0"/>
                </a:moveTo>
                <a:cubicBezTo>
                  <a:pt x="8654" y="8654"/>
                  <a:pt x="51927" y="51927"/>
                  <a:pt x="60581" y="60581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artery_fine_subendothelial_307"/>
          <p:cNvSpPr/>
          <p:nvPr/>
        </p:nvSpPr>
        <p:spPr>
          <a:xfrm>
            <a:off x="9405086" y="2561361"/>
            <a:ext cx="78755" cy="46734"/>
          </a:xfrm>
          <a:custGeom>
            <a:avLst/>
            <a:gdLst/>
            <a:ahLst/>
            <a:cxnLst/>
            <a:rect l="0" t="0" r="r" b="b"/>
            <a:pathLst>
              <a:path w="78755" h="46734">
                <a:moveTo>
                  <a:pt x="0" y="0"/>
                </a:moveTo>
                <a:cubicBezTo>
                  <a:pt x="6058" y="1731"/>
                  <a:pt x="32887" y="6058"/>
                  <a:pt x="42407" y="12116"/>
                </a:cubicBezTo>
                <a:cubicBezTo>
                  <a:pt x="51927" y="18174"/>
                  <a:pt x="61446" y="38079"/>
                  <a:pt x="66639" y="42407"/>
                </a:cubicBezTo>
                <a:cubicBezTo>
                  <a:pt x="71832" y="46734"/>
                  <a:pt x="77024" y="42407"/>
                  <a:pt x="78755" y="42407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0" name="artery_fine_subendothelial_308"/>
          <p:cNvSpPr/>
          <p:nvPr/>
        </p:nvSpPr>
        <p:spPr>
          <a:xfrm>
            <a:off x="9568654" y="2621942"/>
            <a:ext cx="78755" cy="42407"/>
          </a:xfrm>
          <a:custGeom>
            <a:avLst/>
            <a:gdLst/>
            <a:ahLst/>
            <a:cxnLst/>
            <a:rect l="0" t="0" r="r" b="b"/>
            <a:pathLst>
              <a:path w="78755" h="42407">
                <a:moveTo>
                  <a:pt x="0" y="0"/>
                </a:moveTo>
                <a:cubicBezTo>
                  <a:pt x="4327" y="865"/>
                  <a:pt x="19040" y="0"/>
                  <a:pt x="30290" y="6058"/>
                </a:cubicBezTo>
                <a:cubicBezTo>
                  <a:pt x="41541" y="12116"/>
                  <a:pt x="71832" y="37214"/>
                  <a:pt x="78755" y="42407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artery_fine_subendothelial_309"/>
          <p:cNvSpPr/>
          <p:nvPr/>
        </p:nvSpPr>
        <p:spPr>
          <a:xfrm>
            <a:off x="9907907" y="2852150"/>
            <a:ext cx="60581" cy="54523"/>
          </a:xfrm>
          <a:custGeom>
            <a:avLst/>
            <a:gdLst/>
            <a:ahLst/>
            <a:cxnLst/>
            <a:rect l="0" t="0" r="r" b="b"/>
            <a:pathLst>
              <a:path w="60581" h="54523">
                <a:moveTo>
                  <a:pt x="0" y="0"/>
                </a:moveTo>
                <a:cubicBezTo>
                  <a:pt x="8654" y="7789"/>
                  <a:pt x="51927" y="46734"/>
                  <a:pt x="60581" y="54523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artery_fine_subendothelial_310"/>
          <p:cNvSpPr/>
          <p:nvPr/>
        </p:nvSpPr>
        <p:spPr>
          <a:xfrm>
            <a:off x="12113053" y="2894556"/>
            <a:ext cx="490705" cy="363486"/>
          </a:xfrm>
          <a:custGeom>
            <a:avLst/>
            <a:gdLst/>
            <a:ahLst/>
            <a:cxnLst/>
            <a:rect l="0" t="0" r="r" b="b"/>
            <a:pathLst>
              <a:path w="490705" h="363486">
                <a:moveTo>
                  <a:pt x="0" y="0"/>
                </a:moveTo>
                <a:cubicBezTo>
                  <a:pt x="1731" y="5193"/>
                  <a:pt x="11251" y="27694"/>
                  <a:pt x="12116" y="36349"/>
                </a:cubicBezTo>
                <a:cubicBezTo>
                  <a:pt x="12982" y="45003"/>
                  <a:pt x="2596" y="51061"/>
                  <a:pt x="6058" y="60581"/>
                </a:cubicBezTo>
                <a:cubicBezTo>
                  <a:pt x="9520" y="70101"/>
                  <a:pt x="31156" y="91737"/>
                  <a:pt x="36349" y="102988"/>
                </a:cubicBezTo>
                <a:cubicBezTo>
                  <a:pt x="41541" y="114238"/>
                  <a:pt x="25963" y="121162"/>
                  <a:pt x="42407" y="139336"/>
                </a:cubicBezTo>
                <a:cubicBezTo>
                  <a:pt x="58850" y="157510"/>
                  <a:pt x="130682" y="217226"/>
                  <a:pt x="151452" y="230207"/>
                </a:cubicBezTo>
                <a:cubicBezTo>
                  <a:pt x="172223" y="243189"/>
                  <a:pt x="167030" y="223284"/>
                  <a:pt x="187801" y="230207"/>
                </a:cubicBezTo>
                <a:cubicBezTo>
                  <a:pt x="208571" y="237131"/>
                  <a:pt x="261363" y="265691"/>
                  <a:pt x="296847" y="278672"/>
                </a:cubicBezTo>
                <a:cubicBezTo>
                  <a:pt x="332330" y="291654"/>
                  <a:pt x="408488" y="308963"/>
                  <a:pt x="436183" y="321079"/>
                </a:cubicBezTo>
                <a:cubicBezTo>
                  <a:pt x="463877" y="333195"/>
                  <a:pt x="482916" y="357427"/>
                  <a:pt x="490705" y="363486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artery_fine_subendothelial_311"/>
          <p:cNvSpPr/>
          <p:nvPr/>
        </p:nvSpPr>
        <p:spPr>
          <a:xfrm>
            <a:off x="10289567" y="3021776"/>
            <a:ext cx="115104" cy="109046"/>
          </a:xfrm>
          <a:custGeom>
            <a:avLst/>
            <a:gdLst/>
            <a:ahLst/>
            <a:cxnLst/>
            <a:rect l="0" t="0" r="r" b="b"/>
            <a:pathLst>
              <a:path w="115104" h="109046">
                <a:moveTo>
                  <a:pt x="0" y="0"/>
                </a:moveTo>
                <a:cubicBezTo>
                  <a:pt x="16443" y="15578"/>
                  <a:pt x="98660" y="93468"/>
                  <a:pt x="115104" y="109046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artery_fine_subendothelial_312"/>
          <p:cNvSpPr/>
          <p:nvPr/>
        </p:nvSpPr>
        <p:spPr>
          <a:xfrm>
            <a:off x="12155460" y="3027834"/>
            <a:ext cx="173954" cy="171357"/>
          </a:xfrm>
          <a:custGeom>
            <a:avLst/>
            <a:gdLst/>
            <a:ahLst/>
            <a:cxnLst/>
            <a:rect l="0" t="0" r="r" b="b"/>
            <a:pathLst>
              <a:path w="173954" h="171357">
                <a:moveTo>
                  <a:pt x="0" y="0"/>
                </a:moveTo>
                <a:cubicBezTo>
                  <a:pt x="865" y="10385"/>
                  <a:pt x="865" y="57119"/>
                  <a:pt x="6058" y="72697"/>
                </a:cubicBezTo>
                <a:cubicBezTo>
                  <a:pt x="11251" y="88275"/>
                  <a:pt x="32021" y="101257"/>
                  <a:pt x="36349" y="109046"/>
                </a:cubicBezTo>
                <a:cubicBezTo>
                  <a:pt x="40676" y="116835"/>
                  <a:pt x="31156" y="120296"/>
                  <a:pt x="36349" y="127220"/>
                </a:cubicBezTo>
                <a:cubicBezTo>
                  <a:pt x="41541" y="134143"/>
                  <a:pt x="57119" y="152318"/>
                  <a:pt x="72697" y="157510"/>
                </a:cubicBezTo>
                <a:cubicBezTo>
                  <a:pt x="88275" y="162703"/>
                  <a:pt x="131547" y="164434"/>
                  <a:pt x="145394" y="163568"/>
                </a:cubicBezTo>
                <a:cubicBezTo>
                  <a:pt x="159241" y="162703"/>
                  <a:pt x="166165" y="150587"/>
                  <a:pt x="169627" y="151452"/>
                </a:cubicBezTo>
                <a:cubicBezTo>
                  <a:pt x="173088" y="152318"/>
                  <a:pt x="173954" y="167896"/>
                  <a:pt x="169627" y="169627"/>
                </a:cubicBezTo>
                <a:cubicBezTo>
                  <a:pt x="165299" y="171357"/>
                  <a:pt x="143663" y="164434"/>
                  <a:pt x="139336" y="163568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artery_fine_subendothelial_313"/>
          <p:cNvSpPr/>
          <p:nvPr/>
        </p:nvSpPr>
        <p:spPr>
          <a:xfrm>
            <a:off x="12088820" y="3033892"/>
            <a:ext cx="45868" cy="62312"/>
          </a:xfrm>
          <a:custGeom>
            <a:avLst/>
            <a:gdLst/>
            <a:ahLst/>
            <a:cxnLst/>
            <a:rect l="0" t="0" r="r" b="b"/>
            <a:pathLst>
              <a:path w="45868" h="62312">
                <a:moveTo>
                  <a:pt x="42407" y="0"/>
                </a:moveTo>
                <a:cubicBezTo>
                  <a:pt x="42407" y="4327"/>
                  <a:pt x="45868" y="21636"/>
                  <a:pt x="42407" y="30290"/>
                </a:cubicBezTo>
                <a:cubicBezTo>
                  <a:pt x="38945" y="38945"/>
                  <a:pt x="24232" y="58850"/>
                  <a:pt x="18174" y="60581"/>
                </a:cubicBezTo>
                <a:cubicBezTo>
                  <a:pt x="12116" y="62312"/>
                  <a:pt x="2596" y="45003"/>
                  <a:pt x="0" y="42407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artery_fine_subendothelial_314"/>
          <p:cNvSpPr/>
          <p:nvPr/>
        </p:nvSpPr>
        <p:spPr>
          <a:xfrm>
            <a:off x="12108726" y="3088415"/>
            <a:ext cx="125489" cy="122893"/>
          </a:xfrm>
          <a:custGeom>
            <a:avLst/>
            <a:gdLst/>
            <a:ahLst/>
            <a:cxnLst/>
            <a:rect l="0" t="0" r="r" b="b"/>
            <a:pathLst>
              <a:path w="125489" h="122893">
                <a:moveTo>
                  <a:pt x="4327" y="0"/>
                </a:moveTo>
                <a:cubicBezTo>
                  <a:pt x="5193" y="5193"/>
                  <a:pt x="0" y="20771"/>
                  <a:pt x="10385" y="36349"/>
                </a:cubicBezTo>
                <a:cubicBezTo>
                  <a:pt x="20771" y="51927"/>
                  <a:pt x="61446" y="96929"/>
                  <a:pt x="77024" y="109046"/>
                </a:cubicBezTo>
                <a:cubicBezTo>
                  <a:pt x="92602" y="121162"/>
                  <a:pt x="113373" y="122893"/>
                  <a:pt x="119431" y="121162"/>
                </a:cubicBezTo>
                <a:cubicBezTo>
                  <a:pt x="125489" y="119431"/>
                  <a:pt x="119431" y="100391"/>
                  <a:pt x="119431" y="96929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artery_fine_subendothelial_315"/>
          <p:cNvSpPr/>
          <p:nvPr/>
        </p:nvSpPr>
        <p:spPr>
          <a:xfrm>
            <a:off x="12252389" y="3112648"/>
            <a:ext cx="37214" cy="78755"/>
          </a:xfrm>
          <a:custGeom>
            <a:avLst/>
            <a:gdLst/>
            <a:ahLst/>
            <a:cxnLst/>
            <a:rect l="0" t="0" r="r" b="b"/>
            <a:pathLst>
              <a:path w="37214" h="78755">
                <a:moveTo>
                  <a:pt x="0" y="0"/>
                </a:moveTo>
                <a:cubicBezTo>
                  <a:pt x="4327" y="3462"/>
                  <a:pt x="25098" y="14713"/>
                  <a:pt x="30290" y="24232"/>
                </a:cubicBezTo>
                <a:cubicBezTo>
                  <a:pt x="35483" y="33752"/>
                  <a:pt x="37214" y="58850"/>
                  <a:pt x="36349" y="66639"/>
                </a:cubicBezTo>
                <a:cubicBezTo>
                  <a:pt x="35483" y="74428"/>
                  <a:pt x="25963" y="77024"/>
                  <a:pt x="24232" y="78755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artery_fine_subendothelial_316"/>
          <p:cNvSpPr/>
          <p:nvPr/>
        </p:nvSpPr>
        <p:spPr>
          <a:xfrm>
            <a:off x="10386497" y="3130822"/>
            <a:ext cx="34618" cy="38945"/>
          </a:xfrm>
          <a:custGeom>
            <a:avLst/>
            <a:gdLst/>
            <a:ahLst/>
            <a:cxnLst/>
            <a:rect l="0" t="0" r="r" b="b"/>
            <a:pathLst>
              <a:path w="34618" h="38945">
                <a:moveTo>
                  <a:pt x="0" y="0"/>
                </a:moveTo>
                <a:cubicBezTo>
                  <a:pt x="4327" y="5193"/>
                  <a:pt x="25963" y="33752"/>
                  <a:pt x="30290" y="36349"/>
                </a:cubicBezTo>
                <a:cubicBezTo>
                  <a:pt x="34618" y="38945"/>
                  <a:pt x="32021" y="20771"/>
                  <a:pt x="30290" y="18174"/>
                </a:cubicBezTo>
                <a:cubicBezTo>
                  <a:pt x="28560" y="15578"/>
                  <a:pt x="19905" y="18174"/>
                  <a:pt x="18174" y="18174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artery_fine_subendothelial_317"/>
          <p:cNvSpPr/>
          <p:nvPr/>
        </p:nvSpPr>
        <p:spPr>
          <a:xfrm>
            <a:off x="12185750" y="3130822"/>
            <a:ext cx="127220" cy="48465"/>
          </a:xfrm>
          <a:custGeom>
            <a:avLst/>
            <a:gdLst/>
            <a:ahLst/>
            <a:cxnLst/>
            <a:rect l="0" t="0" r="r" b="b"/>
            <a:pathLst>
              <a:path w="127220" h="48465">
                <a:moveTo>
                  <a:pt x="0" y="0"/>
                </a:moveTo>
                <a:cubicBezTo>
                  <a:pt x="10385" y="4327"/>
                  <a:pt x="57985" y="25963"/>
                  <a:pt x="72697" y="30290"/>
                </a:cubicBezTo>
                <a:cubicBezTo>
                  <a:pt x="87410" y="34618"/>
                  <a:pt x="95199" y="27694"/>
                  <a:pt x="102988" y="30290"/>
                </a:cubicBezTo>
                <a:cubicBezTo>
                  <a:pt x="110777" y="32887"/>
                  <a:pt x="123758" y="45868"/>
                  <a:pt x="127220" y="48465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artery_fine_subendothelial_318"/>
          <p:cNvSpPr/>
          <p:nvPr/>
        </p:nvSpPr>
        <p:spPr>
          <a:xfrm>
            <a:off x="12219502" y="3191403"/>
            <a:ext cx="214630" cy="57119"/>
          </a:xfrm>
          <a:custGeom>
            <a:avLst/>
            <a:gdLst/>
            <a:ahLst/>
            <a:cxnLst/>
            <a:rect l="0" t="0" r="r" b="b"/>
            <a:pathLst>
              <a:path w="214630" h="57119">
                <a:moveTo>
                  <a:pt x="105584" y="0"/>
                </a:moveTo>
                <a:cubicBezTo>
                  <a:pt x="117700" y="5193"/>
                  <a:pt x="177416" y="28560"/>
                  <a:pt x="190397" y="36349"/>
                </a:cubicBezTo>
                <a:cubicBezTo>
                  <a:pt x="203379" y="44138"/>
                  <a:pt x="214630" y="51927"/>
                  <a:pt x="196455" y="54523"/>
                </a:cubicBezTo>
                <a:cubicBezTo>
                  <a:pt x="178281" y="57119"/>
                  <a:pt x="87410" y="56254"/>
                  <a:pt x="63177" y="54523"/>
                </a:cubicBezTo>
                <a:cubicBezTo>
                  <a:pt x="38945" y="52792"/>
                  <a:pt x="35483" y="47599"/>
                  <a:pt x="26829" y="42407"/>
                </a:cubicBezTo>
                <a:cubicBezTo>
                  <a:pt x="18174" y="37214"/>
                  <a:pt x="5193" y="22501"/>
                  <a:pt x="2596" y="18174"/>
                </a:cubicBezTo>
                <a:cubicBezTo>
                  <a:pt x="0" y="13847"/>
                  <a:pt x="7789" y="12982"/>
                  <a:pt x="8654" y="12116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artery_fine_subendothelial_319"/>
          <p:cNvSpPr/>
          <p:nvPr/>
        </p:nvSpPr>
        <p:spPr>
          <a:xfrm>
            <a:off x="10560450" y="3197461"/>
            <a:ext cx="128951" cy="78755"/>
          </a:xfrm>
          <a:custGeom>
            <a:avLst/>
            <a:gdLst/>
            <a:ahLst/>
            <a:cxnLst/>
            <a:rect l="0" t="0" r="r" b="b"/>
            <a:pathLst>
              <a:path w="128951" h="78755">
                <a:moveTo>
                  <a:pt x="7789" y="0"/>
                </a:moveTo>
                <a:cubicBezTo>
                  <a:pt x="6924" y="1731"/>
                  <a:pt x="0" y="10385"/>
                  <a:pt x="1731" y="12116"/>
                </a:cubicBezTo>
                <a:cubicBezTo>
                  <a:pt x="3462" y="13847"/>
                  <a:pt x="12116" y="6058"/>
                  <a:pt x="19905" y="12116"/>
                </a:cubicBezTo>
                <a:cubicBezTo>
                  <a:pt x="27694" y="18174"/>
                  <a:pt x="40676" y="45003"/>
                  <a:pt x="56254" y="54523"/>
                </a:cubicBezTo>
                <a:cubicBezTo>
                  <a:pt x="71832" y="64043"/>
                  <a:pt x="118566" y="75293"/>
                  <a:pt x="128951" y="78755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artery_fine_subendothelial_320"/>
          <p:cNvSpPr/>
          <p:nvPr/>
        </p:nvSpPr>
        <p:spPr>
          <a:xfrm>
            <a:off x="12415957" y="3239868"/>
            <a:ext cx="109911" cy="113373"/>
          </a:xfrm>
          <a:custGeom>
            <a:avLst/>
            <a:gdLst/>
            <a:ahLst/>
            <a:cxnLst/>
            <a:rect l="0" t="0" r="r" b="b"/>
            <a:pathLst>
              <a:path w="109911" h="113373">
                <a:moveTo>
                  <a:pt x="0" y="0"/>
                </a:moveTo>
                <a:cubicBezTo>
                  <a:pt x="9520" y="8654"/>
                  <a:pt x="51927" y="50196"/>
                  <a:pt x="66639" y="60581"/>
                </a:cubicBezTo>
                <a:cubicBezTo>
                  <a:pt x="81352" y="70966"/>
                  <a:pt x="97795" y="73563"/>
                  <a:pt x="102988" y="72697"/>
                </a:cubicBezTo>
                <a:cubicBezTo>
                  <a:pt x="108180" y="71832"/>
                  <a:pt x="109911" y="61446"/>
                  <a:pt x="102988" y="54523"/>
                </a:cubicBezTo>
                <a:cubicBezTo>
                  <a:pt x="96064" y="47599"/>
                  <a:pt x="61446" y="25098"/>
                  <a:pt x="54523" y="24232"/>
                </a:cubicBezTo>
                <a:cubicBezTo>
                  <a:pt x="47599" y="23367"/>
                  <a:pt x="56254" y="45003"/>
                  <a:pt x="54523" y="48465"/>
                </a:cubicBezTo>
                <a:cubicBezTo>
                  <a:pt x="52792" y="51927"/>
                  <a:pt x="44138" y="45868"/>
                  <a:pt x="42407" y="48465"/>
                </a:cubicBezTo>
                <a:cubicBezTo>
                  <a:pt x="40676" y="51061"/>
                  <a:pt x="38945" y="58850"/>
                  <a:pt x="42407" y="66639"/>
                </a:cubicBezTo>
                <a:cubicBezTo>
                  <a:pt x="45868" y="74428"/>
                  <a:pt x="58850" y="96929"/>
                  <a:pt x="66639" y="102988"/>
                </a:cubicBezTo>
                <a:cubicBezTo>
                  <a:pt x="74428" y="109046"/>
                  <a:pt x="91737" y="113373"/>
                  <a:pt x="96929" y="109046"/>
                </a:cubicBezTo>
                <a:cubicBezTo>
                  <a:pt x="102122" y="104718"/>
                  <a:pt x="102122" y="77890"/>
                  <a:pt x="102988" y="72697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artery_fine_subendothelial_321"/>
          <p:cNvSpPr/>
          <p:nvPr/>
        </p:nvSpPr>
        <p:spPr>
          <a:xfrm>
            <a:off x="12282679" y="3245926"/>
            <a:ext cx="121162" cy="90871"/>
          </a:xfrm>
          <a:custGeom>
            <a:avLst/>
            <a:gdLst/>
            <a:ahLst/>
            <a:cxnLst/>
            <a:rect l="0" t="0" r="r" b="b"/>
            <a:pathLst>
              <a:path w="121162" h="90871">
                <a:moveTo>
                  <a:pt x="0" y="0"/>
                </a:moveTo>
                <a:cubicBezTo>
                  <a:pt x="2596" y="4327"/>
                  <a:pt x="865" y="17309"/>
                  <a:pt x="18174" y="30290"/>
                </a:cubicBezTo>
                <a:cubicBezTo>
                  <a:pt x="35483" y="43272"/>
                  <a:pt x="106449" y="82217"/>
                  <a:pt x="121162" y="90871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artery_fine_subendothelial_322"/>
          <p:cNvSpPr/>
          <p:nvPr/>
        </p:nvSpPr>
        <p:spPr>
          <a:xfrm>
            <a:off x="12338068" y="3245926"/>
            <a:ext cx="223284" cy="171357"/>
          </a:xfrm>
          <a:custGeom>
            <a:avLst/>
            <a:gdLst/>
            <a:ahLst/>
            <a:cxnLst/>
            <a:rect l="0" t="0" r="r" b="b"/>
            <a:pathLst>
              <a:path w="223284" h="171357">
                <a:moveTo>
                  <a:pt x="17309" y="0"/>
                </a:moveTo>
                <a:cubicBezTo>
                  <a:pt x="15578" y="1731"/>
                  <a:pt x="0" y="6924"/>
                  <a:pt x="5193" y="12116"/>
                </a:cubicBezTo>
                <a:cubicBezTo>
                  <a:pt x="10385" y="17309"/>
                  <a:pt x="42407" y="22501"/>
                  <a:pt x="53657" y="36349"/>
                </a:cubicBezTo>
                <a:cubicBezTo>
                  <a:pt x="64908" y="50196"/>
                  <a:pt x="71832" y="90871"/>
                  <a:pt x="83948" y="109046"/>
                </a:cubicBezTo>
                <a:cubicBezTo>
                  <a:pt x="96064" y="127220"/>
                  <a:pt x="119431" y="155780"/>
                  <a:pt x="138471" y="163568"/>
                </a:cubicBezTo>
                <a:cubicBezTo>
                  <a:pt x="157510" y="171357"/>
                  <a:pt x="211168" y="168761"/>
                  <a:pt x="217226" y="163568"/>
                </a:cubicBezTo>
                <a:cubicBezTo>
                  <a:pt x="223284" y="158376"/>
                  <a:pt x="186935" y="135874"/>
                  <a:pt x="180877" y="127220"/>
                </a:cubicBezTo>
                <a:cubicBezTo>
                  <a:pt x="174819" y="118566"/>
                  <a:pt x="175685" y="106449"/>
                  <a:pt x="174819" y="102988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artery_fine_subendothelial_323"/>
          <p:cNvSpPr/>
          <p:nvPr/>
        </p:nvSpPr>
        <p:spPr>
          <a:xfrm>
            <a:off x="12361435" y="3245926"/>
            <a:ext cx="18174" cy="72697"/>
          </a:xfrm>
          <a:custGeom>
            <a:avLst/>
            <a:gdLst/>
            <a:ahLst/>
            <a:cxnLst/>
            <a:rect l="0" t="0" r="r" b="b"/>
            <a:pathLst>
              <a:path w="18174" h="72697">
                <a:moveTo>
                  <a:pt x="0" y="0"/>
                </a:moveTo>
                <a:cubicBezTo>
                  <a:pt x="2596" y="10385"/>
                  <a:pt x="15578" y="62312"/>
                  <a:pt x="18174" y="72697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artery_fine_subendothelial_324"/>
          <p:cNvSpPr/>
          <p:nvPr/>
        </p:nvSpPr>
        <p:spPr>
          <a:xfrm>
            <a:off x="12518945" y="3330739"/>
            <a:ext cx="114238" cy="75293"/>
          </a:xfrm>
          <a:custGeom>
            <a:avLst/>
            <a:gdLst/>
            <a:ahLst/>
            <a:cxnLst/>
            <a:rect l="0" t="0" r="r" b="b"/>
            <a:pathLst>
              <a:path w="114238" h="75293">
                <a:moveTo>
                  <a:pt x="0" y="0"/>
                </a:moveTo>
                <a:cubicBezTo>
                  <a:pt x="3462" y="1731"/>
                  <a:pt x="16443" y="10385"/>
                  <a:pt x="24232" y="12116"/>
                </a:cubicBezTo>
                <a:cubicBezTo>
                  <a:pt x="32021" y="13847"/>
                  <a:pt x="43272" y="6924"/>
                  <a:pt x="54523" y="12116"/>
                </a:cubicBezTo>
                <a:cubicBezTo>
                  <a:pt x="65774" y="17309"/>
                  <a:pt x="95199" y="39810"/>
                  <a:pt x="102988" y="48465"/>
                </a:cubicBezTo>
                <a:cubicBezTo>
                  <a:pt x="110777" y="57119"/>
                  <a:pt x="114238" y="70101"/>
                  <a:pt x="109046" y="72697"/>
                </a:cubicBezTo>
                <a:cubicBezTo>
                  <a:pt x="103853" y="75293"/>
                  <a:pt x="77890" y="70101"/>
                  <a:pt x="66639" y="66639"/>
                </a:cubicBezTo>
                <a:cubicBezTo>
                  <a:pt x="55388" y="63177"/>
                  <a:pt x="34618" y="56254"/>
                  <a:pt x="30290" y="48465"/>
                </a:cubicBezTo>
                <a:cubicBezTo>
                  <a:pt x="25963" y="40676"/>
                  <a:pt x="35483" y="17309"/>
                  <a:pt x="36349" y="12116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artery_fine_subendothelial_325"/>
          <p:cNvSpPr/>
          <p:nvPr/>
        </p:nvSpPr>
        <p:spPr>
          <a:xfrm>
            <a:off x="12532792" y="3361029"/>
            <a:ext cx="102122" cy="120296"/>
          </a:xfrm>
          <a:custGeom>
            <a:avLst/>
            <a:gdLst/>
            <a:ahLst/>
            <a:cxnLst/>
            <a:rect l="0" t="0" r="r" b="b"/>
            <a:pathLst>
              <a:path w="102122" h="120296">
                <a:moveTo>
                  <a:pt x="22501" y="0"/>
                </a:moveTo>
                <a:cubicBezTo>
                  <a:pt x="23367" y="3462"/>
                  <a:pt x="30290" y="18174"/>
                  <a:pt x="28560" y="24232"/>
                </a:cubicBezTo>
                <a:cubicBezTo>
                  <a:pt x="26829" y="30290"/>
                  <a:pt x="12982" y="34618"/>
                  <a:pt x="10385" y="42407"/>
                </a:cubicBezTo>
                <a:cubicBezTo>
                  <a:pt x="7789" y="50196"/>
                  <a:pt x="0" y="68370"/>
                  <a:pt x="10385" y="78755"/>
                </a:cubicBezTo>
                <a:cubicBezTo>
                  <a:pt x="20771" y="89140"/>
                  <a:pt x="70966" y="109911"/>
                  <a:pt x="83082" y="115104"/>
                </a:cubicBezTo>
                <a:cubicBezTo>
                  <a:pt x="95199" y="120296"/>
                  <a:pt x="93468" y="118566"/>
                  <a:pt x="95199" y="115104"/>
                </a:cubicBezTo>
                <a:cubicBezTo>
                  <a:pt x="96929" y="111642"/>
                  <a:pt x="102122" y="103853"/>
                  <a:pt x="95199" y="90871"/>
                </a:cubicBezTo>
                <a:cubicBezTo>
                  <a:pt x="88275" y="77890"/>
                  <a:pt x="55388" y="32021"/>
                  <a:pt x="46734" y="24232"/>
                </a:cubicBezTo>
                <a:cubicBezTo>
                  <a:pt x="38079" y="16443"/>
                  <a:pt x="33752" y="33752"/>
                  <a:pt x="34618" y="36349"/>
                </a:cubicBezTo>
                <a:cubicBezTo>
                  <a:pt x="35483" y="38945"/>
                  <a:pt x="50196" y="43272"/>
                  <a:pt x="52792" y="42407"/>
                </a:cubicBezTo>
                <a:cubicBezTo>
                  <a:pt x="55388" y="41541"/>
                  <a:pt x="55388" y="31156"/>
                  <a:pt x="52792" y="30290"/>
                </a:cubicBezTo>
                <a:cubicBezTo>
                  <a:pt x="50196" y="29425"/>
                  <a:pt x="37214" y="35483"/>
                  <a:pt x="34618" y="36349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artery_fine_subendothelial_326"/>
          <p:cNvSpPr/>
          <p:nvPr/>
        </p:nvSpPr>
        <p:spPr>
          <a:xfrm>
            <a:off x="12549235" y="3373146"/>
            <a:ext cx="67504" cy="48465"/>
          </a:xfrm>
          <a:custGeom>
            <a:avLst/>
            <a:gdLst/>
            <a:ahLst/>
            <a:cxnLst/>
            <a:rect l="0" t="0" r="r" b="b"/>
            <a:pathLst>
              <a:path w="67504" h="48465">
                <a:moveTo>
                  <a:pt x="0" y="0"/>
                </a:moveTo>
                <a:cubicBezTo>
                  <a:pt x="6058" y="6058"/>
                  <a:pt x="34618" y="36349"/>
                  <a:pt x="42407" y="42407"/>
                </a:cubicBezTo>
                <a:cubicBezTo>
                  <a:pt x="50196" y="48465"/>
                  <a:pt x="51061" y="44138"/>
                  <a:pt x="54523" y="42407"/>
                </a:cubicBezTo>
                <a:cubicBezTo>
                  <a:pt x="57985" y="40676"/>
                  <a:pt x="65774" y="32887"/>
                  <a:pt x="66639" y="30290"/>
                </a:cubicBezTo>
                <a:cubicBezTo>
                  <a:pt x="67504" y="27694"/>
                  <a:pt x="64043" y="23367"/>
                  <a:pt x="60581" y="24232"/>
                </a:cubicBezTo>
                <a:cubicBezTo>
                  <a:pt x="57119" y="25098"/>
                  <a:pt x="45868" y="35483"/>
                  <a:pt x="42407" y="36349"/>
                </a:cubicBezTo>
                <a:cubicBezTo>
                  <a:pt x="38945" y="37214"/>
                  <a:pt x="37214" y="31156"/>
                  <a:pt x="36349" y="30290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artery_fine_subendothelial_327"/>
          <p:cNvSpPr/>
          <p:nvPr/>
        </p:nvSpPr>
        <p:spPr>
          <a:xfrm>
            <a:off x="12536254" y="3379204"/>
            <a:ext cx="31156" cy="66639"/>
          </a:xfrm>
          <a:custGeom>
            <a:avLst/>
            <a:gdLst/>
            <a:ahLst/>
            <a:cxnLst/>
            <a:rect l="0" t="0" r="r" b="b"/>
            <a:pathLst>
              <a:path w="31156" h="66639">
                <a:moveTo>
                  <a:pt x="25098" y="0"/>
                </a:moveTo>
                <a:cubicBezTo>
                  <a:pt x="21636" y="5193"/>
                  <a:pt x="0" y="26829"/>
                  <a:pt x="865" y="36349"/>
                </a:cubicBezTo>
                <a:cubicBezTo>
                  <a:pt x="1731" y="45868"/>
                  <a:pt x="26829" y="62312"/>
                  <a:pt x="31156" y="66639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artery_fine_subendothelial_328"/>
          <p:cNvSpPr/>
          <p:nvPr/>
        </p:nvSpPr>
        <p:spPr>
          <a:xfrm>
            <a:off x="12627991" y="3397378"/>
            <a:ext cx="20771" cy="54523"/>
          </a:xfrm>
          <a:custGeom>
            <a:avLst/>
            <a:gdLst/>
            <a:ahLst/>
            <a:cxnLst/>
            <a:rect l="0" t="0" r="r" b="b"/>
            <a:pathLst>
              <a:path w="20771" h="54523">
                <a:moveTo>
                  <a:pt x="0" y="0"/>
                </a:moveTo>
                <a:cubicBezTo>
                  <a:pt x="2596" y="1731"/>
                  <a:pt x="15578" y="6924"/>
                  <a:pt x="18174" y="12116"/>
                </a:cubicBezTo>
                <a:cubicBezTo>
                  <a:pt x="20771" y="17309"/>
                  <a:pt x="20771" y="30290"/>
                  <a:pt x="18174" y="36349"/>
                </a:cubicBezTo>
                <a:cubicBezTo>
                  <a:pt x="15578" y="42407"/>
                  <a:pt x="2596" y="51927"/>
                  <a:pt x="0" y="54523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artery_fine_subendothelial_329"/>
          <p:cNvSpPr/>
          <p:nvPr/>
        </p:nvSpPr>
        <p:spPr>
          <a:xfrm>
            <a:off x="11531476" y="3579121"/>
            <a:ext cx="66639" cy="66639"/>
          </a:xfrm>
          <a:custGeom>
            <a:avLst/>
            <a:gdLst/>
            <a:ahLst/>
            <a:cxnLst/>
            <a:rect l="0" t="0" r="r" b="b"/>
            <a:pathLst>
              <a:path w="66639" h="66639">
                <a:moveTo>
                  <a:pt x="0" y="0"/>
                </a:moveTo>
                <a:cubicBezTo>
                  <a:pt x="9520" y="9520"/>
                  <a:pt x="57119" y="57119"/>
                  <a:pt x="66639" y="66639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artery_fine_subendothelial_330"/>
          <p:cNvSpPr/>
          <p:nvPr/>
        </p:nvSpPr>
        <p:spPr>
          <a:xfrm>
            <a:off x="9502015" y="3766922"/>
            <a:ext cx="54523" cy="72697"/>
          </a:xfrm>
          <a:custGeom>
            <a:avLst/>
            <a:gdLst/>
            <a:ahLst/>
            <a:cxnLst/>
            <a:rect l="0" t="0" r="r" b="b"/>
            <a:pathLst>
              <a:path w="54523" h="72697">
                <a:moveTo>
                  <a:pt x="0" y="0"/>
                </a:moveTo>
                <a:cubicBezTo>
                  <a:pt x="7789" y="10385"/>
                  <a:pt x="46734" y="62312"/>
                  <a:pt x="54523" y="72697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artery_fine_subendothelial_331"/>
          <p:cNvSpPr/>
          <p:nvPr/>
        </p:nvSpPr>
        <p:spPr>
          <a:xfrm>
            <a:off x="12143343" y="4015303"/>
            <a:ext cx="272614" cy="241458"/>
          </a:xfrm>
          <a:custGeom>
            <a:avLst/>
            <a:gdLst/>
            <a:ahLst/>
            <a:cxnLst/>
            <a:rect l="0" t="0" r="r" b="b"/>
            <a:pathLst>
              <a:path w="272614" h="241458">
                <a:moveTo>
                  <a:pt x="0" y="0"/>
                </a:moveTo>
                <a:cubicBezTo>
                  <a:pt x="6924" y="5193"/>
                  <a:pt x="41541" y="24232"/>
                  <a:pt x="48465" y="36349"/>
                </a:cubicBezTo>
                <a:cubicBezTo>
                  <a:pt x="55388" y="48465"/>
                  <a:pt x="45003" y="72697"/>
                  <a:pt x="48465" y="84813"/>
                </a:cubicBezTo>
                <a:cubicBezTo>
                  <a:pt x="51927" y="96929"/>
                  <a:pt x="64908" y="115969"/>
                  <a:pt x="72697" y="121162"/>
                </a:cubicBezTo>
                <a:cubicBezTo>
                  <a:pt x="80486" y="126354"/>
                  <a:pt x="90006" y="113373"/>
                  <a:pt x="102988" y="121162"/>
                </a:cubicBezTo>
                <a:cubicBezTo>
                  <a:pt x="115969" y="128951"/>
                  <a:pt x="146260" y="164434"/>
                  <a:pt x="163568" y="175685"/>
                </a:cubicBezTo>
                <a:cubicBezTo>
                  <a:pt x="180877" y="186935"/>
                  <a:pt x="210302" y="191263"/>
                  <a:pt x="224149" y="199917"/>
                </a:cubicBezTo>
                <a:cubicBezTo>
                  <a:pt x="237996" y="208571"/>
                  <a:pt x="253574" y="231073"/>
                  <a:pt x="260498" y="236266"/>
                </a:cubicBezTo>
                <a:cubicBezTo>
                  <a:pt x="267421" y="241458"/>
                  <a:pt x="270883" y="236266"/>
                  <a:pt x="272614" y="236266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artery_fine_subendothelial_332"/>
          <p:cNvSpPr/>
          <p:nvPr/>
        </p:nvSpPr>
        <p:spPr>
          <a:xfrm>
            <a:off x="12141612" y="4027420"/>
            <a:ext cx="25963" cy="36349"/>
          </a:xfrm>
          <a:custGeom>
            <a:avLst/>
            <a:gdLst/>
            <a:ahLst/>
            <a:cxnLst/>
            <a:rect l="0" t="0" r="r" b="b"/>
            <a:pathLst>
              <a:path w="25963" h="36349">
                <a:moveTo>
                  <a:pt x="13847" y="0"/>
                </a:moveTo>
                <a:cubicBezTo>
                  <a:pt x="12116" y="3462"/>
                  <a:pt x="0" y="19040"/>
                  <a:pt x="1731" y="24232"/>
                </a:cubicBezTo>
                <a:cubicBezTo>
                  <a:pt x="3462" y="29425"/>
                  <a:pt x="22501" y="34618"/>
                  <a:pt x="25963" y="36349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artery_fine_subendothelial_333"/>
          <p:cNvSpPr/>
          <p:nvPr/>
        </p:nvSpPr>
        <p:spPr>
          <a:xfrm>
            <a:off x="11858613" y="4039536"/>
            <a:ext cx="115104" cy="88275"/>
          </a:xfrm>
          <a:custGeom>
            <a:avLst/>
            <a:gdLst/>
            <a:ahLst/>
            <a:cxnLst/>
            <a:rect l="0" t="0" r="r" b="b"/>
            <a:pathLst>
              <a:path w="115104" h="88275">
                <a:moveTo>
                  <a:pt x="0" y="0"/>
                </a:moveTo>
                <a:cubicBezTo>
                  <a:pt x="3462" y="1731"/>
                  <a:pt x="11251" y="865"/>
                  <a:pt x="24232" y="12116"/>
                </a:cubicBezTo>
                <a:cubicBezTo>
                  <a:pt x="37214" y="23367"/>
                  <a:pt x="77890" y="69235"/>
                  <a:pt x="90871" y="78755"/>
                </a:cubicBezTo>
                <a:cubicBezTo>
                  <a:pt x="103853" y="88275"/>
                  <a:pt x="111642" y="78755"/>
                  <a:pt x="115104" y="78755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artery_fine_subendothelial_334"/>
          <p:cNvSpPr/>
          <p:nvPr/>
        </p:nvSpPr>
        <p:spPr>
          <a:xfrm>
            <a:off x="12165845" y="4045594"/>
            <a:ext cx="32021" cy="44138"/>
          </a:xfrm>
          <a:custGeom>
            <a:avLst/>
            <a:gdLst/>
            <a:ahLst/>
            <a:cxnLst/>
            <a:rect l="0" t="0" r="r" b="b"/>
            <a:pathLst>
              <a:path w="32021" h="44138">
                <a:moveTo>
                  <a:pt x="1731" y="0"/>
                </a:moveTo>
                <a:cubicBezTo>
                  <a:pt x="1731" y="4327"/>
                  <a:pt x="0" y="24232"/>
                  <a:pt x="1731" y="30290"/>
                </a:cubicBezTo>
                <a:cubicBezTo>
                  <a:pt x="3462" y="36349"/>
                  <a:pt x="9520" y="40676"/>
                  <a:pt x="13847" y="42407"/>
                </a:cubicBezTo>
                <a:cubicBezTo>
                  <a:pt x="18174" y="44138"/>
                  <a:pt x="29425" y="42407"/>
                  <a:pt x="32021" y="42407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artery_fine_subendothelial_335"/>
          <p:cNvSpPr/>
          <p:nvPr/>
        </p:nvSpPr>
        <p:spPr>
          <a:xfrm>
            <a:off x="9841268" y="4099251"/>
            <a:ext cx="48465" cy="49330"/>
          </a:xfrm>
          <a:custGeom>
            <a:avLst/>
            <a:gdLst/>
            <a:ahLst/>
            <a:cxnLst/>
            <a:rect l="0" t="0" r="r" b="b"/>
            <a:pathLst>
              <a:path w="48465" h="49330">
                <a:moveTo>
                  <a:pt x="0" y="865"/>
                </a:moveTo>
                <a:cubicBezTo>
                  <a:pt x="2596" y="1731"/>
                  <a:pt x="11251" y="0"/>
                  <a:pt x="18174" y="6924"/>
                </a:cubicBezTo>
                <a:cubicBezTo>
                  <a:pt x="25098" y="13847"/>
                  <a:pt x="44138" y="43272"/>
                  <a:pt x="48465" y="49330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artery_fine_subendothelial_336"/>
          <p:cNvSpPr/>
          <p:nvPr/>
        </p:nvSpPr>
        <p:spPr>
          <a:xfrm>
            <a:off x="12216040" y="4136465"/>
            <a:ext cx="85679" cy="90006"/>
          </a:xfrm>
          <a:custGeom>
            <a:avLst/>
            <a:gdLst/>
            <a:ahLst/>
            <a:cxnLst/>
            <a:rect l="0" t="0" r="r" b="b"/>
            <a:pathLst>
              <a:path w="85679" h="90006">
                <a:moveTo>
                  <a:pt x="0" y="0"/>
                </a:moveTo>
                <a:cubicBezTo>
                  <a:pt x="865" y="3462"/>
                  <a:pt x="865" y="16443"/>
                  <a:pt x="6058" y="24232"/>
                </a:cubicBezTo>
                <a:cubicBezTo>
                  <a:pt x="11251" y="32021"/>
                  <a:pt x="30290" y="50196"/>
                  <a:pt x="36349" y="54523"/>
                </a:cubicBezTo>
                <a:cubicBezTo>
                  <a:pt x="42407" y="58850"/>
                  <a:pt x="43272" y="50196"/>
                  <a:pt x="48465" y="54523"/>
                </a:cubicBezTo>
                <a:cubicBezTo>
                  <a:pt x="53657" y="58850"/>
                  <a:pt x="67504" y="81352"/>
                  <a:pt x="72697" y="84813"/>
                </a:cubicBezTo>
                <a:cubicBezTo>
                  <a:pt x="77890" y="88275"/>
                  <a:pt x="85679" y="81352"/>
                  <a:pt x="84813" y="78755"/>
                </a:cubicBezTo>
                <a:cubicBezTo>
                  <a:pt x="83948" y="76159"/>
                  <a:pt x="70101" y="65774"/>
                  <a:pt x="66639" y="66639"/>
                </a:cubicBezTo>
                <a:cubicBezTo>
                  <a:pt x="63177" y="67504"/>
                  <a:pt x="64908" y="82217"/>
                  <a:pt x="60581" y="84813"/>
                </a:cubicBezTo>
                <a:cubicBezTo>
                  <a:pt x="56254" y="87410"/>
                  <a:pt x="40676" y="90006"/>
                  <a:pt x="36349" y="84813"/>
                </a:cubicBezTo>
                <a:cubicBezTo>
                  <a:pt x="32021" y="79621"/>
                  <a:pt x="31156" y="53657"/>
                  <a:pt x="30290" y="48465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artery_fine_subendothelial_337"/>
          <p:cNvSpPr/>
          <p:nvPr/>
        </p:nvSpPr>
        <p:spPr>
          <a:xfrm>
            <a:off x="12261043" y="4203104"/>
            <a:ext cx="27694" cy="54523"/>
          </a:xfrm>
          <a:custGeom>
            <a:avLst/>
            <a:gdLst/>
            <a:ahLst/>
            <a:cxnLst/>
            <a:rect l="0" t="0" r="r" b="b"/>
            <a:pathLst>
              <a:path w="27694" h="54523">
                <a:moveTo>
                  <a:pt x="27694" y="0"/>
                </a:moveTo>
                <a:cubicBezTo>
                  <a:pt x="24232" y="3462"/>
                  <a:pt x="6924" y="17309"/>
                  <a:pt x="3462" y="24232"/>
                </a:cubicBezTo>
                <a:cubicBezTo>
                  <a:pt x="0" y="31156"/>
                  <a:pt x="1731" y="44138"/>
                  <a:pt x="3462" y="48465"/>
                </a:cubicBezTo>
                <a:cubicBezTo>
                  <a:pt x="5193" y="52792"/>
                  <a:pt x="13847" y="53657"/>
                  <a:pt x="15578" y="54523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artery_fine_subendothelial_338"/>
          <p:cNvSpPr/>
          <p:nvPr/>
        </p:nvSpPr>
        <p:spPr>
          <a:xfrm>
            <a:off x="12276621" y="4209162"/>
            <a:ext cx="55388" cy="72697"/>
          </a:xfrm>
          <a:custGeom>
            <a:avLst/>
            <a:gdLst/>
            <a:ahLst/>
            <a:cxnLst/>
            <a:rect l="0" t="0" r="r" b="b"/>
            <a:pathLst>
              <a:path w="55388" h="72697">
                <a:moveTo>
                  <a:pt x="0" y="0"/>
                </a:moveTo>
                <a:cubicBezTo>
                  <a:pt x="6924" y="6058"/>
                  <a:pt x="41541" y="32021"/>
                  <a:pt x="48465" y="42407"/>
                </a:cubicBezTo>
                <a:cubicBezTo>
                  <a:pt x="55388" y="52792"/>
                  <a:pt x="48465" y="68370"/>
                  <a:pt x="48465" y="72697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artery_fine_subendothelial_339"/>
          <p:cNvSpPr/>
          <p:nvPr/>
        </p:nvSpPr>
        <p:spPr>
          <a:xfrm>
            <a:off x="12312970" y="4233395"/>
            <a:ext cx="77024" cy="12982"/>
          </a:xfrm>
          <a:custGeom>
            <a:avLst/>
            <a:gdLst/>
            <a:ahLst/>
            <a:cxnLst/>
            <a:rect l="0" t="0" r="r" b="b"/>
            <a:pathLst>
              <a:path w="77024" h="12982">
                <a:moveTo>
                  <a:pt x="72697" y="0"/>
                </a:moveTo>
                <a:cubicBezTo>
                  <a:pt x="71832" y="1731"/>
                  <a:pt x="77024" y="11251"/>
                  <a:pt x="66639" y="12116"/>
                </a:cubicBezTo>
                <a:cubicBezTo>
                  <a:pt x="56254" y="12982"/>
                  <a:pt x="9520" y="6924"/>
                  <a:pt x="0" y="6058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artery_fine_subendothelial_340"/>
          <p:cNvSpPr/>
          <p:nvPr/>
        </p:nvSpPr>
        <p:spPr>
          <a:xfrm>
            <a:off x="10173598" y="4357153"/>
            <a:ext cx="91737" cy="76159"/>
          </a:xfrm>
          <a:custGeom>
            <a:avLst/>
            <a:gdLst/>
            <a:ahLst/>
            <a:cxnLst/>
            <a:rect l="0" t="0" r="r" b="b"/>
            <a:pathLst>
              <a:path w="91737" h="76159">
                <a:moveTo>
                  <a:pt x="865" y="9520"/>
                </a:moveTo>
                <a:cubicBezTo>
                  <a:pt x="2596" y="9520"/>
                  <a:pt x="0" y="0"/>
                  <a:pt x="12982" y="9520"/>
                </a:cubicBezTo>
                <a:cubicBezTo>
                  <a:pt x="25963" y="19040"/>
                  <a:pt x="80486" y="66639"/>
                  <a:pt x="91737" y="76159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3" name="artery_fine_subendothelial_341"/>
          <p:cNvSpPr/>
          <p:nvPr/>
        </p:nvSpPr>
        <p:spPr>
          <a:xfrm>
            <a:off x="10338032" y="4421195"/>
            <a:ext cx="66639" cy="18174"/>
          </a:xfrm>
          <a:custGeom>
            <a:avLst/>
            <a:gdLst/>
            <a:ahLst/>
            <a:cxnLst/>
            <a:rect l="0" t="0" r="r" b="b"/>
            <a:pathLst>
              <a:path w="66639" h="18174">
                <a:moveTo>
                  <a:pt x="0" y="0"/>
                </a:moveTo>
                <a:cubicBezTo>
                  <a:pt x="9520" y="2596"/>
                  <a:pt x="57119" y="15578"/>
                  <a:pt x="66639" y="18174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artery_fine_subendothelial_342"/>
          <p:cNvSpPr/>
          <p:nvPr/>
        </p:nvSpPr>
        <p:spPr>
          <a:xfrm>
            <a:off x="10544007" y="4566590"/>
            <a:ext cx="66639" cy="60581"/>
          </a:xfrm>
          <a:custGeom>
            <a:avLst/>
            <a:gdLst/>
            <a:ahLst/>
            <a:cxnLst/>
            <a:rect l="0" t="0" r="r" b="b"/>
            <a:pathLst>
              <a:path w="66639" h="60581">
                <a:moveTo>
                  <a:pt x="0" y="0"/>
                </a:moveTo>
                <a:cubicBezTo>
                  <a:pt x="9520" y="8654"/>
                  <a:pt x="57119" y="51927"/>
                  <a:pt x="66639" y="60581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5" name="artery_fine_subendothelial_343"/>
          <p:cNvSpPr/>
          <p:nvPr/>
        </p:nvSpPr>
        <p:spPr>
          <a:xfrm>
            <a:off x="11065003" y="4869494"/>
            <a:ext cx="84813" cy="48465"/>
          </a:xfrm>
          <a:custGeom>
            <a:avLst/>
            <a:gdLst/>
            <a:ahLst/>
            <a:cxnLst/>
            <a:rect l="0" t="0" r="r" b="b"/>
            <a:pathLst>
              <a:path w="84813" h="48465">
                <a:moveTo>
                  <a:pt x="0" y="0"/>
                </a:moveTo>
                <a:cubicBezTo>
                  <a:pt x="6058" y="5193"/>
                  <a:pt x="30290" y="29425"/>
                  <a:pt x="42407" y="36349"/>
                </a:cubicBezTo>
                <a:cubicBezTo>
                  <a:pt x="54523" y="43272"/>
                  <a:pt x="78755" y="46734"/>
                  <a:pt x="84813" y="48465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artery_fine_subendothelial_344"/>
          <p:cNvSpPr/>
          <p:nvPr/>
        </p:nvSpPr>
        <p:spPr>
          <a:xfrm>
            <a:off x="11143758" y="4978540"/>
            <a:ext cx="193859" cy="109046"/>
          </a:xfrm>
          <a:custGeom>
            <a:avLst/>
            <a:gdLst/>
            <a:ahLst/>
            <a:cxnLst/>
            <a:rect l="0" t="0" r="r" b="b"/>
            <a:pathLst>
              <a:path w="193859" h="109046">
                <a:moveTo>
                  <a:pt x="0" y="0"/>
                </a:moveTo>
                <a:cubicBezTo>
                  <a:pt x="7789" y="3462"/>
                  <a:pt x="43272" y="20771"/>
                  <a:pt x="54523" y="24232"/>
                </a:cubicBezTo>
                <a:cubicBezTo>
                  <a:pt x="65774" y="27694"/>
                  <a:pt x="58850" y="12116"/>
                  <a:pt x="78755" y="24232"/>
                </a:cubicBezTo>
                <a:cubicBezTo>
                  <a:pt x="98660" y="36349"/>
                  <a:pt x="177416" y="96929"/>
                  <a:pt x="193859" y="109046"/>
                </a:cubicBezTo>
              </a:path>
            </a:pathLst>
          </a:custGeom>
          <a:noFill/>
          <a:ln w="6161" cap="rnd">
            <a:solidFill>
              <a:srgbClr val="C9C2DC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artery_fine_subendothelial_345"/>
          <p:cNvSpPr/>
          <p:nvPr/>
        </p:nvSpPr>
        <p:spPr>
          <a:xfrm>
            <a:off x="11446663" y="5105760"/>
            <a:ext cx="84813" cy="90871"/>
          </a:xfrm>
          <a:custGeom>
            <a:avLst/>
            <a:gdLst/>
            <a:ahLst/>
            <a:cxnLst/>
            <a:rect l="0" t="0" r="r" b="b"/>
            <a:pathLst>
              <a:path w="84813" h="90871">
                <a:moveTo>
                  <a:pt x="0" y="0"/>
                </a:moveTo>
                <a:cubicBezTo>
                  <a:pt x="2596" y="865"/>
                  <a:pt x="15578" y="3462"/>
                  <a:pt x="18174" y="6058"/>
                </a:cubicBezTo>
                <a:cubicBezTo>
                  <a:pt x="20771" y="8654"/>
                  <a:pt x="8654" y="6058"/>
                  <a:pt x="18174" y="18174"/>
                </a:cubicBezTo>
                <a:cubicBezTo>
                  <a:pt x="27694" y="30290"/>
                  <a:pt x="75293" y="80486"/>
                  <a:pt x="84813" y="90871"/>
                </a:cubicBezTo>
              </a:path>
            </a:pathLst>
          </a:custGeom>
          <a:noFill/>
          <a:ln w="4634" cap="rnd">
            <a:solidFill>
              <a:srgbClr val="9998C1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artery_fine_subendothelial_346"/>
          <p:cNvSpPr/>
          <p:nvPr/>
        </p:nvSpPr>
        <p:spPr>
          <a:xfrm>
            <a:off x="11737451" y="5262405"/>
            <a:ext cx="193859" cy="122027"/>
          </a:xfrm>
          <a:custGeom>
            <a:avLst/>
            <a:gdLst/>
            <a:ahLst/>
            <a:cxnLst/>
            <a:rect l="0" t="0" r="r" b="b"/>
            <a:pathLst>
              <a:path w="193859" h="122027">
                <a:moveTo>
                  <a:pt x="0" y="6924"/>
                </a:moveTo>
                <a:cubicBezTo>
                  <a:pt x="1731" y="6924"/>
                  <a:pt x="3462" y="0"/>
                  <a:pt x="12116" y="6924"/>
                </a:cubicBezTo>
                <a:cubicBezTo>
                  <a:pt x="20771" y="13847"/>
                  <a:pt x="34618" y="38945"/>
                  <a:pt x="60581" y="55388"/>
                </a:cubicBezTo>
                <a:cubicBezTo>
                  <a:pt x="86544" y="71832"/>
                  <a:pt x="174819" y="112507"/>
                  <a:pt x="193859" y="122027"/>
                </a:cubicBezTo>
              </a:path>
            </a:pathLst>
          </a:custGeom>
          <a:noFill/>
          <a:ln w="5397" cap="rnd">
            <a:solidFill>
              <a:srgbClr val="BBB4D5">
                <a:alpha val="78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9" name="artery_endothelial_cell_347"/>
          <p:cNvSpPr/>
          <p:nvPr/>
        </p:nvSpPr>
        <p:spPr>
          <a:xfrm>
            <a:off x="8994044" y="1273108"/>
            <a:ext cx="590058" cy="320715"/>
          </a:xfrm>
          <a:custGeom>
            <a:avLst/>
            <a:gdLst/>
            <a:ahLst/>
            <a:cxnLst/>
            <a:rect l="0" t="0" r="r" b="b"/>
            <a:pathLst>
              <a:path w="590058" h="320715">
                <a:moveTo>
                  <a:pt x="291818" y="3695"/>
                </a:moveTo>
                <a:cubicBezTo>
                  <a:pt x="311144" y="121"/>
                  <a:pt x="332226" y="0"/>
                  <a:pt x="351793" y="2908"/>
                </a:cubicBezTo>
                <a:cubicBezTo>
                  <a:pt x="371422" y="5755"/>
                  <a:pt x="390141" y="14842"/>
                  <a:pt x="409285" y="21022"/>
                </a:cubicBezTo>
                <a:cubicBezTo>
                  <a:pt x="428489" y="27201"/>
                  <a:pt x="448602" y="31684"/>
                  <a:pt x="466897" y="40044"/>
                </a:cubicBezTo>
                <a:cubicBezTo>
                  <a:pt x="485193" y="48344"/>
                  <a:pt x="502579" y="59248"/>
                  <a:pt x="518936" y="70880"/>
                </a:cubicBezTo>
                <a:cubicBezTo>
                  <a:pt x="535354" y="82511"/>
                  <a:pt x="553467" y="94203"/>
                  <a:pt x="565220" y="109712"/>
                </a:cubicBezTo>
                <a:cubicBezTo>
                  <a:pt x="576973" y="125221"/>
                  <a:pt x="590058" y="146848"/>
                  <a:pt x="589331" y="163932"/>
                </a:cubicBezTo>
                <a:cubicBezTo>
                  <a:pt x="588604" y="181016"/>
                  <a:pt x="575519" y="203007"/>
                  <a:pt x="560858" y="212154"/>
                </a:cubicBezTo>
                <a:cubicBezTo>
                  <a:pt x="546198" y="221302"/>
                  <a:pt x="521178" y="218697"/>
                  <a:pt x="501247" y="218818"/>
                </a:cubicBezTo>
                <a:cubicBezTo>
                  <a:pt x="481255" y="218939"/>
                  <a:pt x="461142" y="214759"/>
                  <a:pt x="441090" y="212760"/>
                </a:cubicBezTo>
                <a:cubicBezTo>
                  <a:pt x="420977" y="210761"/>
                  <a:pt x="400925" y="206884"/>
                  <a:pt x="380872" y="206884"/>
                </a:cubicBezTo>
                <a:cubicBezTo>
                  <a:pt x="360820" y="206944"/>
                  <a:pt x="340647" y="210095"/>
                  <a:pt x="320715" y="212942"/>
                </a:cubicBezTo>
                <a:cubicBezTo>
                  <a:pt x="300784" y="215789"/>
                  <a:pt x="280732" y="218818"/>
                  <a:pt x="261286" y="223968"/>
                </a:cubicBezTo>
                <a:cubicBezTo>
                  <a:pt x="241839" y="229056"/>
                  <a:pt x="222514" y="235660"/>
                  <a:pt x="204037" y="243596"/>
                </a:cubicBezTo>
                <a:cubicBezTo>
                  <a:pt x="185559" y="251593"/>
                  <a:pt x="167446" y="260983"/>
                  <a:pt x="150422" y="271645"/>
                </a:cubicBezTo>
                <a:cubicBezTo>
                  <a:pt x="133399" y="282368"/>
                  <a:pt x="119708" y="300603"/>
                  <a:pt x="101776" y="307812"/>
                </a:cubicBezTo>
                <a:cubicBezTo>
                  <a:pt x="83783" y="315021"/>
                  <a:pt x="58703" y="320715"/>
                  <a:pt x="42588" y="314900"/>
                </a:cubicBezTo>
                <a:cubicBezTo>
                  <a:pt x="26534" y="309084"/>
                  <a:pt x="10299" y="289698"/>
                  <a:pt x="5149" y="272796"/>
                </a:cubicBezTo>
                <a:cubicBezTo>
                  <a:pt x="0" y="255833"/>
                  <a:pt x="5695" y="231964"/>
                  <a:pt x="11692" y="213245"/>
                </a:cubicBezTo>
                <a:cubicBezTo>
                  <a:pt x="17690" y="194525"/>
                  <a:pt x="29866" y="177017"/>
                  <a:pt x="41256" y="160418"/>
                </a:cubicBezTo>
                <a:cubicBezTo>
                  <a:pt x="52645" y="143880"/>
                  <a:pt x="65730" y="128068"/>
                  <a:pt x="79967" y="113892"/>
                </a:cubicBezTo>
                <a:cubicBezTo>
                  <a:pt x="94203" y="99716"/>
                  <a:pt x="110257" y="87055"/>
                  <a:pt x="126675" y="75423"/>
                </a:cubicBezTo>
                <a:cubicBezTo>
                  <a:pt x="143092" y="63792"/>
                  <a:pt x="160297" y="52705"/>
                  <a:pt x="178471" y="44163"/>
                </a:cubicBezTo>
                <a:cubicBezTo>
                  <a:pt x="196646" y="35682"/>
                  <a:pt x="216819" y="31139"/>
                  <a:pt x="235660" y="24354"/>
                </a:cubicBezTo>
                <a:cubicBezTo>
                  <a:pt x="254561" y="17629"/>
                  <a:pt x="272432" y="7270"/>
                  <a:pt x="291818" y="3695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artery_endothelial_soft_light_348"/>
          <p:cNvSpPr/>
          <p:nvPr/>
        </p:nvSpPr>
        <p:spPr>
          <a:xfrm>
            <a:off x="9006738" y="1295277"/>
            <a:ext cx="554655" cy="262987"/>
          </a:xfrm>
          <a:custGeom>
            <a:avLst/>
            <a:gdLst/>
            <a:ahLst/>
            <a:cxnLst/>
            <a:rect l="0" t="0" r="r" b="b"/>
            <a:pathLst>
              <a:path w="554655" h="262987">
                <a:moveTo>
                  <a:pt x="274309" y="3030"/>
                </a:moveTo>
                <a:cubicBezTo>
                  <a:pt x="292475" y="99"/>
                  <a:pt x="312292" y="0"/>
                  <a:pt x="330686" y="2384"/>
                </a:cubicBezTo>
                <a:cubicBezTo>
                  <a:pt x="349136" y="4719"/>
                  <a:pt x="366733" y="12171"/>
                  <a:pt x="384728" y="17238"/>
                </a:cubicBezTo>
                <a:cubicBezTo>
                  <a:pt x="402780" y="22305"/>
                  <a:pt x="421686" y="25981"/>
                  <a:pt x="438883" y="32836"/>
                </a:cubicBezTo>
                <a:cubicBezTo>
                  <a:pt x="456081" y="39642"/>
                  <a:pt x="472425" y="48583"/>
                  <a:pt x="487800" y="58121"/>
                </a:cubicBezTo>
                <a:cubicBezTo>
                  <a:pt x="503232" y="67659"/>
                  <a:pt x="520259" y="77247"/>
                  <a:pt x="531307" y="89964"/>
                </a:cubicBezTo>
                <a:cubicBezTo>
                  <a:pt x="542354" y="102681"/>
                  <a:pt x="554655" y="120415"/>
                  <a:pt x="553971" y="134424"/>
                </a:cubicBezTo>
                <a:cubicBezTo>
                  <a:pt x="553288" y="148433"/>
                  <a:pt x="540988" y="166465"/>
                  <a:pt x="527207" y="173967"/>
                </a:cubicBezTo>
                <a:cubicBezTo>
                  <a:pt x="513426" y="181468"/>
                  <a:pt x="489907" y="179332"/>
                  <a:pt x="471172" y="179431"/>
                </a:cubicBezTo>
                <a:cubicBezTo>
                  <a:pt x="452380" y="179530"/>
                  <a:pt x="433473" y="176103"/>
                  <a:pt x="414624" y="174463"/>
                </a:cubicBezTo>
                <a:cubicBezTo>
                  <a:pt x="395718" y="172824"/>
                  <a:pt x="376869" y="169645"/>
                  <a:pt x="358020" y="169645"/>
                </a:cubicBezTo>
                <a:cubicBezTo>
                  <a:pt x="339171" y="169694"/>
                  <a:pt x="320208" y="172278"/>
                  <a:pt x="301472" y="174612"/>
                </a:cubicBezTo>
                <a:cubicBezTo>
                  <a:pt x="282737" y="176947"/>
                  <a:pt x="263888" y="179431"/>
                  <a:pt x="245608" y="183653"/>
                </a:cubicBezTo>
                <a:cubicBezTo>
                  <a:pt x="227329" y="187826"/>
                  <a:pt x="209163" y="193241"/>
                  <a:pt x="191794" y="199749"/>
                </a:cubicBezTo>
                <a:cubicBezTo>
                  <a:pt x="174426" y="206306"/>
                  <a:pt x="157399" y="214006"/>
                  <a:pt x="141397" y="222749"/>
                </a:cubicBezTo>
                <a:cubicBezTo>
                  <a:pt x="125395" y="231541"/>
                  <a:pt x="112525" y="246494"/>
                  <a:pt x="95669" y="252406"/>
                </a:cubicBezTo>
                <a:cubicBezTo>
                  <a:pt x="78756" y="258317"/>
                  <a:pt x="55181" y="262987"/>
                  <a:pt x="40033" y="258218"/>
                </a:cubicBezTo>
                <a:cubicBezTo>
                  <a:pt x="24942" y="253449"/>
                  <a:pt x="9681" y="237552"/>
                  <a:pt x="4840" y="223693"/>
                </a:cubicBezTo>
                <a:cubicBezTo>
                  <a:pt x="0" y="209783"/>
                  <a:pt x="5353" y="190211"/>
                  <a:pt x="10991" y="174861"/>
                </a:cubicBezTo>
                <a:cubicBezTo>
                  <a:pt x="16628" y="159511"/>
                  <a:pt x="28074" y="145154"/>
                  <a:pt x="38780" y="131543"/>
                </a:cubicBezTo>
                <a:cubicBezTo>
                  <a:pt x="49486" y="117981"/>
                  <a:pt x="61786" y="105016"/>
                  <a:pt x="75169" y="93392"/>
                </a:cubicBezTo>
                <a:cubicBezTo>
                  <a:pt x="88551" y="81767"/>
                  <a:pt x="103642" y="71385"/>
                  <a:pt x="119074" y="61847"/>
                </a:cubicBezTo>
                <a:cubicBezTo>
                  <a:pt x="134507" y="52309"/>
                  <a:pt x="150679" y="43218"/>
                  <a:pt x="167763" y="36214"/>
                </a:cubicBezTo>
                <a:cubicBezTo>
                  <a:pt x="184847" y="29259"/>
                  <a:pt x="203810" y="25534"/>
                  <a:pt x="221520" y="19970"/>
                </a:cubicBezTo>
                <a:cubicBezTo>
                  <a:pt x="239287" y="14456"/>
                  <a:pt x="256086" y="5961"/>
                  <a:pt x="274309" y="303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artery_endothelial_nucleus_349"/>
          <p:cNvSpPr/>
          <p:nvPr/>
        </p:nvSpPr>
        <p:spPr>
          <a:xfrm>
            <a:off x="9196869" y="1335264"/>
            <a:ext cx="174049" cy="103715"/>
          </a:xfrm>
          <a:custGeom>
            <a:avLst/>
            <a:gdLst/>
            <a:ahLst/>
            <a:cxnLst/>
            <a:rect l="0" t="0" r="r" b="b"/>
            <a:pathLst>
              <a:path w="174049" h="103715">
                <a:moveTo>
                  <a:pt x="88933" y="1212"/>
                </a:moveTo>
                <a:cubicBezTo>
                  <a:pt x="101049" y="121"/>
                  <a:pt x="113650" y="0"/>
                  <a:pt x="125524" y="2181"/>
                </a:cubicBezTo>
                <a:cubicBezTo>
                  <a:pt x="137337" y="4362"/>
                  <a:pt x="152119" y="6846"/>
                  <a:pt x="160055" y="14297"/>
                </a:cubicBezTo>
                <a:cubicBezTo>
                  <a:pt x="167991" y="21749"/>
                  <a:pt x="174049" y="36470"/>
                  <a:pt x="173019" y="46950"/>
                </a:cubicBezTo>
                <a:cubicBezTo>
                  <a:pt x="171929" y="57491"/>
                  <a:pt x="162417" y="69850"/>
                  <a:pt x="153633" y="77483"/>
                </a:cubicBezTo>
                <a:cubicBezTo>
                  <a:pt x="144910" y="85177"/>
                  <a:pt x="132006" y="89054"/>
                  <a:pt x="120495" y="93052"/>
                </a:cubicBezTo>
                <a:cubicBezTo>
                  <a:pt x="108985" y="97051"/>
                  <a:pt x="96748" y="100080"/>
                  <a:pt x="84632" y="101473"/>
                </a:cubicBezTo>
                <a:cubicBezTo>
                  <a:pt x="72515" y="102866"/>
                  <a:pt x="59612" y="103715"/>
                  <a:pt x="47798" y="101534"/>
                </a:cubicBezTo>
                <a:cubicBezTo>
                  <a:pt x="35985" y="99413"/>
                  <a:pt x="21567" y="96263"/>
                  <a:pt x="13812" y="88569"/>
                </a:cubicBezTo>
                <a:cubicBezTo>
                  <a:pt x="5998" y="80936"/>
                  <a:pt x="0" y="66094"/>
                  <a:pt x="1030" y="55432"/>
                </a:cubicBezTo>
                <a:cubicBezTo>
                  <a:pt x="1999" y="44769"/>
                  <a:pt x="11268" y="32411"/>
                  <a:pt x="19871" y="24656"/>
                </a:cubicBezTo>
                <a:cubicBezTo>
                  <a:pt x="28534" y="16902"/>
                  <a:pt x="41377" y="12783"/>
                  <a:pt x="52887" y="8845"/>
                </a:cubicBezTo>
                <a:cubicBezTo>
                  <a:pt x="64398" y="4968"/>
                  <a:pt x="76817" y="2363"/>
                  <a:pt x="88933" y="1212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artery_endothelial_cell_350"/>
          <p:cNvSpPr/>
          <p:nvPr/>
        </p:nvSpPr>
        <p:spPr>
          <a:xfrm>
            <a:off x="9575682" y="1395481"/>
            <a:ext cx="559768" cy="284246"/>
          </a:xfrm>
          <a:custGeom>
            <a:avLst/>
            <a:gdLst/>
            <a:ahLst/>
            <a:cxnLst/>
            <a:rect l="0" t="0" r="r" b="b"/>
            <a:pathLst>
              <a:path w="559768" h="284246">
                <a:moveTo>
                  <a:pt x="97838" y="1575"/>
                </a:moveTo>
                <a:cubicBezTo>
                  <a:pt x="115891" y="0"/>
                  <a:pt x="134368" y="4422"/>
                  <a:pt x="152785" y="5392"/>
                </a:cubicBezTo>
                <a:cubicBezTo>
                  <a:pt x="171141" y="6422"/>
                  <a:pt x="189861" y="5392"/>
                  <a:pt x="208156" y="7451"/>
                </a:cubicBezTo>
                <a:cubicBezTo>
                  <a:pt x="226451" y="9572"/>
                  <a:pt x="244626" y="13691"/>
                  <a:pt x="262618" y="17871"/>
                </a:cubicBezTo>
                <a:cubicBezTo>
                  <a:pt x="280611" y="22112"/>
                  <a:pt x="298543" y="26959"/>
                  <a:pt x="316051" y="32653"/>
                </a:cubicBezTo>
                <a:cubicBezTo>
                  <a:pt x="333619" y="38408"/>
                  <a:pt x="350945" y="44951"/>
                  <a:pt x="367847" y="52342"/>
                </a:cubicBezTo>
                <a:cubicBezTo>
                  <a:pt x="384810" y="59793"/>
                  <a:pt x="401227" y="68456"/>
                  <a:pt x="417524" y="77180"/>
                </a:cubicBezTo>
                <a:cubicBezTo>
                  <a:pt x="433820" y="85904"/>
                  <a:pt x="450419" y="94324"/>
                  <a:pt x="465625" y="104744"/>
                </a:cubicBezTo>
                <a:cubicBezTo>
                  <a:pt x="480770" y="115104"/>
                  <a:pt x="495370" y="126796"/>
                  <a:pt x="508516" y="139639"/>
                </a:cubicBezTo>
                <a:cubicBezTo>
                  <a:pt x="521602" y="152422"/>
                  <a:pt x="536323" y="165810"/>
                  <a:pt x="544259" y="181622"/>
                </a:cubicBezTo>
                <a:cubicBezTo>
                  <a:pt x="552256" y="197433"/>
                  <a:pt x="559768" y="218515"/>
                  <a:pt x="556193" y="234448"/>
                </a:cubicBezTo>
                <a:cubicBezTo>
                  <a:pt x="552680" y="250320"/>
                  <a:pt x="537474" y="269585"/>
                  <a:pt x="522934" y="276915"/>
                </a:cubicBezTo>
                <a:cubicBezTo>
                  <a:pt x="508395" y="284246"/>
                  <a:pt x="486889" y="280490"/>
                  <a:pt x="468957" y="278490"/>
                </a:cubicBezTo>
                <a:cubicBezTo>
                  <a:pt x="451025" y="276431"/>
                  <a:pt x="433154" y="269343"/>
                  <a:pt x="415222" y="264860"/>
                </a:cubicBezTo>
                <a:cubicBezTo>
                  <a:pt x="397290" y="260377"/>
                  <a:pt x="379297" y="256076"/>
                  <a:pt x="361365" y="251593"/>
                </a:cubicBezTo>
                <a:cubicBezTo>
                  <a:pt x="343433" y="247110"/>
                  <a:pt x="325441" y="242808"/>
                  <a:pt x="307569" y="238083"/>
                </a:cubicBezTo>
                <a:cubicBezTo>
                  <a:pt x="289637" y="233358"/>
                  <a:pt x="271887" y="228269"/>
                  <a:pt x="254076" y="223301"/>
                </a:cubicBezTo>
                <a:cubicBezTo>
                  <a:pt x="236266" y="218334"/>
                  <a:pt x="218334" y="213729"/>
                  <a:pt x="200705" y="208277"/>
                </a:cubicBezTo>
                <a:cubicBezTo>
                  <a:pt x="183015" y="202764"/>
                  <a:pt x="165568" y="196585"/>
                  <a:pt x="148120" y="190406"/>
                </a:cubicBezTo>
                <a:cubicBezTo>
                  <a:pt x="130673" y="184227"/>
                  <a:pt x="113105" y="178471"/>
                  <a:pt x="96021" y="171383"/>
                </a:cubicBezTo>
                <a:cubicBezTo>
                  <a:pt x="78998" y="164295"/>
                  <a:pt x="60581" y="158480"/>
                  <a:pt x="45920" y="147878"/>
                </a:cubicBezTo>
                <a:cubicBezTo>
                  <a:pt x="31260" y="137276"/>
                  <a:pt x="14721" y="123464"/>
                  <a:pt x="8057" y="107713"/>
                </a:cubicBezTo>
                <a:cubicBezTo>
                  <a:pt x="1393" y="92022"/>
                  <a:pt x="0" y="69062"/>
                  <a:pt x="6058" y="53614"/>
                </a:cubicBezTo>
                <a:cubicBezTo>
                  <a:pt x="12116" y="38105"/>
                  <a:pt x="29079" y="23627"/>
                  <a:pt x="44406" y="14963"/>
                </a:cubicBezTo>
                <a:cubicBezTo>
                  <a:pt x="59672" y="6300"/>
                  <a:pt x="79785" y="3150"/>
                  <a:pt x="97838" y="1575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3" name="artery_endothelial_soft_light_351"/>
          <p:cNvSpPr/>
          <p:nvPr/>
        </p:nvSpPr>
        <p:spPr>
          <a:xfrm>
            <a:off x="9588285" y="1414663"/>
            <a:ext cx="526182" cy="233081"/>
          </a:xfrm>
          <a:custGeom>
            <a:avLst/>
            <a:gdLst/>
            <a:ahLst/>
            <a:cxnLst/>
            <a:rect l="0" t="0" r="r" b="b"/>
            <a:pathLst>
              <a:path w="526182" h="233081">
                <a:moveTo>
                  <a:pt x="91968" y="1292"/>
                </a:moveTo>
                <a:cubicBezTo>
                  <a:pt x="108938" y="0"/>
                  <a:pt x="126306" y="3626"/>
                  <a:pt x="143618" y="4421"/>
                </a:cubicBezTo>
                <a:cubicBezTo>
                  <a:pt x="160873" y="5266"/>
                  <a:pt x="178469" y="4421"/>
                  <a:pt x="195667" y="6110"/>
                </a:cubicBezTo>
                <a:cubicBezTo>
                  <a:pt x="212864" y="7849"/>
                  <a:pt x="229948" y="11227"/>
                  <a:pt x="246861" y="14655"/>
                </a:cubicBezTo>
                <a:cubicBezTo>
                  <a:pt x="263774" y="18132"/>
                  <a:pt x="280630" y="22106"/>
                  <a:pt x="297088" y="26776"/>
                </a:cubicBezTo>
                <a:cubicBezTo>
                  <a:pt x="313602" y="31495"/>
                  <a:pt x="329889" y="36860"/>
                  <a:pt x="345777" y="42920"/>
                </a:cubicBezTo>
                <a:cubicBezTo>
                  <a:pt x="361721" y="49031"/>
                  <a:pt x="377154" y="56134"/>
                  <a:pt x="392472" y="63288"/>
                </a:cubicBezTo>
                <a:cubicBezTo>
                  <a:pt x="407791" y="70441"/>
                  <a:pt x="423394" y="77346"/>
                  <a:pt x="437687" y="85890"/>
                </a:cubicBezTo>
                <a:cubicBezTo>
                  <a:pt x="451924" y="94385"/>
                  <a:pt x="465648" y="103973"/>
                  <a:pt x="478005" y="114504"/>
                </a:cubicBezTo>
                <a:cubicBezTo>
                  <a:pt x="490306" y="124986"/>
                  <a:pt x="504144" y="135964"/>
                  <a:pt x="511603" y="148930"/>
                </a:cubicBezTo>
                <a:cubicBezTo>
                  <a:pt x="519120" y="161895"/>
                  <a:pt x="526182" y="179183"/>
                  <a:pt x="522822" y="192247"/>
                </a:cubicBezTo>
                <a:cubicBezTo>
                  <a:pt x="519519" y="205263"/>
                  <a:pt x="505225" y="221060"/>
                  <a:pt x="491558" y="227071"/>
                </a:cubicBezTo>
                <a:cubicBezTo>
                  <a:pt x="477891" y="233081"/>
                  <a:pt x="457676" y="230002"/>
                  <a:pt x="440819" y="228362"/>
                </a:cubicBezTo>
                <a:cubicBezTo>
                  <a:pt x="423963" y="226673"/>
                  <a:pt x="407164" y="220861"/>
                  <a:pt x="390308" y="217185"/>
                </a:cubicBezTo>
                <a:cubicBezTo>
                  <a:pt x="373452" y="213509"/>
                  <a:pt x="356539" y="209982"/>
                  <a:pt x="339683" y="206306"/>
                </a:cubicBezTo>
                <a:cubicBezTo>
                  <a:pt x="322827" y="202630"/>
                  <a:pt x="305914" y="199103"/>
                  <a:pt x="289115" y="195228"/>
                </a:cubicBezTo>
                <a:cubicBezTo>
                  <a:pt x="272259" y="191353"/>
                  <a:pt x="255574" y="187181"/>
                  <a:pt x="238832" y="183107"/>
                </a:cubicBezTo>
                <a:cubicBezTo>
                  <a:pt x="222090" y="179034"/>
                  <a:pt x="205234" y="175258"/>
                  <a:pt x="188662" y="170787"/>
                </a:cubicBezTo>
                <a:cubicBezTo>
                  <a:pt x="172034" y="166267"/>
                  <a:pt x="155634" y="161200"/>
                  <a:pt x="139233" y="156133"/>
                </a:cubicBezTo>
                <a:cubicBezTo>
                  <a:pt x="122833" y="151066"/>
                  <a:pt x="106318" y="146347"/>
                  <a:pt x="90260" y="140534"/>
                </a:cubicBezTo>
                <a:cubicBezTo>
                  <a:pt x="74258" y="134722"/>
                  <a:pt x="56946" y="129953"/>
                  <a:pt x="43165" y="121260"/>
                </a:cubicBezTo>
                <a:cubicBezTo>
                  <a:pt x="29384" y="112567"/>
                  <a:pt x="13838" y="101240"/>
                  <a:pt x="7574" y="88325"/>
                </a:cubicBezTo>
                <a:cubicBezTo>
                  <a:pt x="1310" y="75458"/>
                  <a:pt x="0" y="56631"/>
                  <a:pt x="5695" y="43964"/>
                </a:cubicBezTo>
                <a:cubicBezTo>
                  <a:pt x="11389" y="31246"/>
                  <a:pt x="27334" y="19374"/>
                  <a:pt x="41741" y="12270"/>
                </a:cubicBezTo>
                <a:cubicBezTo>
                  <a:pt x="56092" y="5166"/>
                  <a:pt x="74998" y="2583"/>
                  <a:pt x="91968" y="129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artery_endothelial_nucleus_352"/>
          <p:cNvSpPr/>
          <p:nvPr/>
        </p:nvSpPr>
        <p:spPr>
          <a:xfrm>
            <a:off x="9764876" y="1459031"/>
            <a:ext cx="182894" cy="111954"/>
          </a:xfrm>
          <a:custGeom>
            <a:avLst/>
            <a:gdLst/>
            <a:ahLst/>
            <a:cxnLst/>
            <a:rect l="0" t="0" r="r" b="b"/>
            <a:pathLst>
              <a:path w="182894" h="111954">
                <a:moveTo>
                  <a:pt x="24232" y="5149"/>
                </a:moveTo>
                <a:cubicBezTo>
                  <a:pt x="34410" y="0"/>
                  <a:pt x="49858" y="2302"/>
                  <a:pt x="62580" y="2847"/>
                </a:cubicBezTo>
                <a:cubicBezTo>
                  <a:pt x="75302" y="3332"/>
                  <a:pt x="88266" y="4907"/>
                  <a:pt x="100564" y="8118"/>
                </a:cubicBezTo>
                <a:cubicBezTo>
                  <a:pt x="112862" y="11389"/>
                  <a:pt x="125281" y="15993"/>
                  <a:pt x="136307" y="22173"/>
                </a:cubicBezTo>
                <a:cubicBezTo>
                  <a:pt x="147393" y="28291"/>
                  <a:pt x="159388" y="35500"/>
                  <a:pt x="166900" y="45072"/>
                </a:cubicBezTo>
                <a:cubicBezTo>
                  <a:pt x="174473" y="54705"/>
                  <a:pt x="182894" y="69426"/>
                  <a:pt x="181379" y="79664"/>
                </a:cubicBezTo>
                <a:cubicBezTo>
                  <a:pt x="179925" y="89963"/>
                  <a:pt x="168294" y="101352"/>
                  <a:pt x="158056" y="106683"/>
                </a:cubicBezTo>
                <a:cubicBezTo>
                  <a:pt x="147817" y="111954"/>
                  <a:pt x="132733" y="111954"/>
                  <a:pt x="120132" y="111408"/>
                </a:cubicBezTo>
                <a:cubicBezTo>
                  <a:pt x="107531" y="110924"/>
                  <a:pt x="94688" y="107168"/>
                  <a:pt x="82451" y="103472"/>
                </a:cubicBezTo>
                <a:cubicBezTo>
                  <a:pt x="70213" y="99777"/>
                  <a:pt x="57976" y="95233"/>
                  <a:pt x="46647" y="89417"/>
                </a:cubicBezTo>
                <a:cubicBezTo>
                  <a:pt x="35379" y="83541"/>
                  <a:pt x="22233" y="77544"/>
                  <a:pt x="14721" y="68275"/>
                </a:cubicBezTo>
                <a:cubicBezTo>
                  <a:pt x="7209" y="59006"/>
                  <a:pt x="0" y="44345"/>
                  <a:pt x="1575" y="33865"/>
                </a:cubicBezTo>
                <a:cubicBezTo>
                  <a:pt x="3150" y="23324"/>
                  <a:pt x="14055" y="10299"/>
                  <a:pt x="24232" y="5149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5" name="artery_endothelial_cell_353"/>
          <p:cNvSpPr/>
          <p:nvPr/>
        </p:nvSpPr>
        <p:spPr>
          <a:xfrm>
            <a:off x="10114004" y="1602668"/>
            <a:ext cx="602780" cy="359911"/>
          </a:xfrm>
          <a:custGeom>
            <a:avLst/>
            <a:gdLst/>
            <a:ahLst/>
            <a:cxnLst/>
            <a:rect l="0" t="0" r="r" b="b"/>
            <a:pathLst>
              <a:path w="602780" h="359911">
                <a:moveTo>
                  <a:pt x="50403" y="6603"/>
                </a:moveTo>
                <a:cubicBezTo>
                  <a:pt x="67851" y="0"/>
                  <a:pt x="91114" y="6119"/>
                  <a:pt x="111287" y="6119"/>
                </a:cubicBezTo>
                <a:cubicBezTo>
                  <a:pt x="131521" y="6119"/>
                  <a:pt x="152179" y="3150"/>
                  <a:pt x="171686" y="6724"/>
                </a:cubicBezTo>
                <a:cubicBezTo>
                  <a:pt x="191133" y="10299"/>
                  <a:pt x="209004" y="21143"/>
                  <a:pt x="228208" y="27625"/>
                </a:cubicBezTo>
                <a:cubicBezTo>
                  <a:pt x="247352" y="34107"/>
                  <a:pt x="267404" y="38832"/>
                  <a:pt x="286608" y="45617"/>
                </a:cubicBezTo>
                <a:cubicBezTo>
                  <a:pt x="305752" y="52402"/>
                  <a:pt x="324835" y="59854"/>
                  <a:pt x="343373" y="68275"/>
                </a:cubicBezTo>
                <a:cubicBezTo>
                  <a:pt x="361850" y="76635"/>
                  <a:pt x="379964" y="86146"/>
                  <a:pt x="397774" y="95960"/>
                </a:cubicBezTo>
                <a:cubicBezTo>
                  <a:pt x="415585" y="105774"/>
                  <a:pt x="433456" y="115710"/>
                  <a:pt x="450237" y="127099"/>
                </a:cubicBezTo>
                <a:cubicBezTo>
                  <a:pt x="467018" y="138549"/>
                  <a:pt x="483315" y="150968"/>
                  <a:pt x="498581" y="164356"/>
                </a:cubicBezTo>
                <a:cubicBezTo>
                  <a:pt x="513908" y="177744"/>
                  <a:pt x="528266" y="192466"/>
                  <a:pt x="542017" y="207429"/>
                </a:cubicBezTo>
                <a:cubicBezTo>
                  <a:pt x="555769" y="222393"/>
                  <a:pt x="571642" y="236690"/>
                  <a:pt x="581213" y="254076"/>
                </a:cubicBezTo>
                <a:cubicBezTo>
                  <a:pt x="590725" y="271403"/>
                  <a:pt x="602780" y="294726"/>
                  <a:pt x="599206" y="311447"/>
                </a:cubicBezTo>
                <a:cubicBezTo>
                  <a:pt x="595632" y="328106"/>
                  <a:pt x="576427" y="348340"/>
                  <a:pt x="559889" y="354095"/>
                </a:cubicBezTo>
                <a:cubicBezTo>
                  <a:pt x="543290" y="359911"/>
                  <a:pt x="519178" y="351551"/>
                  <a:pt x="499793" y="346281"/>
                </a:cubicBezTo>
                <a:cubicBezTo>
                  <a:pt x="480407" y="341010"/>
                  <a:pt x="462354" y="330166"/>
                  <a:pt x="443573" y="322351"/>
                </a:cubicBezTo>
                <a:cubicBezTo>
                  <a:pt x="424733" y="314597"/>
                  <a:pt x="405650" y="307448"/>
                  <a:pt x="386870" y="299512"/>
                </a:cubicBezTo>
                <a:cubicBezTo>
                  <a:pt x="368150" y="291515"/>
                  <a:pt x="349734" y="282852"/>
                  <a:pt x="331075" y="274613"/>
                </a:cubicBezTo>
                <a:cubicBezTo>
                  <a:pt x="312476" y="266435"/>
                  <a:pt x="293817" y="258135"/>
                  <a:pt x="275098" y="250139"/>
                </a:cubicBezTo>
                <a:cubicBezTo>
                  <a:pt x="256378" y="242142"/>
                  <a:pt x="237356" y="234751"/>
                  <a:pt x="218697" y="226754"/>
                </a:cubicBezTo>
                <a:cubicBezTo>
                  <a:pt x="199978" y="218697"/>
                  <a:pt x="181076" y="211003"/>
                  <a:pt x="162842" y="201977"/>
                </a:cubicBezTo>
                <a:cubicBezTo>
                  <a:pt x="144667" y="192890"/>
                  <a:pt x="127220" y="182227"/>
                  <a:pt x="109409" y="172353"/>
                </a:cubicBezTo>
                <a:cubicBezTo>
                  <a:pt x="91598" y="162478"/>
                  <a:pt x="72515" y="154300"/>
                  <a:pt x="55977" y="142729"/>
                </a:cubicBezTo>
                <a:cubicBezTo>
                  <a:pt x="39499" y="131218"/>
                  <a:pt x="18477" y="119223"/>
                  <a:pt x="10299" y="103048"/>
                </a:cubicBezTo>
                <a:cubicBezTo>
                  <a:pt x="2060" y="86812"/>
                  <a:pt x="0" y="61550"/>
                  <a:pt x="6664" y="45496"/>
                </a:cubicBezTo>
                <a:cubicBezTo>
                  <a:pt x="13388" y="29382"/>
                  <a:pt x="32956" y="13146"/>
                  <a:pt x="50403" y="6603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artery_endothelial_soft_light_354"/>
          <p:cNvSpPr/>
          <p:nvPr/>
        </p:nvSpPr>
        <p:spPr>
          <a:xfrm>
            <a:off x="10127814" y="1627498"/>
            <a:ext cx="566613" cy="295127"/>
          </a:xfrm>
          <a:custGeom>
            <a:avLst/>
            <a:gdLst/>
            <a:ahLst/>
            <a:cxnLst/>
            <a:rect l="0" t="0" r="r" b="b"/>
            <a:pathLst>
              <a:path w="566613" h="295127">
                <a:moveTo>
                  <a:pt x="47379" y="5415"/>
                </a:moveTo>
                <a:cubicBezTo>
                  <a:pt x="63780" y="0"/>
                  <a:pt x="85647" y="5017"/>
                  <a:pt x="104610" y="5017"/>
                </a:cubicBezTo>
                <a:cubicBezTo>
                  <a:pt x="123630" y="5017"/>
                  <a:pt x="143049" y="2583"/>
                  <a:pt x="161385" y="5514"/>
                </a:cubicBezTo>
                <a:cubicBezTo>
                  <a:pt x="179665" y="8445"/>
                  <a:pt x="196464" y="17337"/>
                  <a:pt x="214516" y="22652"/>
                </a:cubicBezTo>
                <a:cubicBezTo>
                  <a:pt x="232511" y="27968"/>
                  <a:pt x="251360" y="31843"/>
                  <a:pt x="269412" y="37406"/>
                </a:cubicBezTo>
                <a:cubicBezTo>
                  <a:pt x="287407" y="42970"/>
                  <a:pt x="305345" y="49080"/>
                  <a:pt x="322770" y="55985"/>
                </a:cubicBezTo>
                <a:cubicBezTo>
                  <a:pt x="340139" y="62841"/>
                  <a:pt x="357166" y="70640"/>
                  <a:pt x="373908" y="78687"/>
                </a:cubicBezTo>
                <a:cubicBezTo>
                  <a:pt x="390650" y="86735"/>
                  <a:pt x="407449" y="94882"/>
                  <a:pt x="423223" y="104221"/>
                </a:cubicBezTo>
                <a:cubicBezTo>
                  <a:pt x="438997" y="113610"/>
                  <a:pt x="454316" y="123793"/>
                  <a:pt x="468666" y="134772"/>
                </a:cubicBezTo>
                <a:cubicBezTo>
                  <a:pt x="483073" y="145750"/>
                  <a:pt x="496570" y="157822"/>
                  <a:pt x="509496" y="170092"/>
                </a:cubicBezTo>
                <a:cubicBezTo>
                  <a:pt x="522423" y="182362"/>
                  <a:pt x="537343" y="194086"/>
                  <a:pt x="546341" y="208343"/>
                </a:cubicBezTo>
                <a:cubicBezTo>
                  <a:pt x="555281" y="222550"/>
                  <a:pt x="566613" y="241675"/>
                  <a:pt x="563254" y="255386"/>
                </a:cubicBezTo>
                <a:cubicBezTo>
                  <a:pt x="559894" y="269047"/>
                  <a:pt x="541842" y="285639"/>
                  <a:pt x="526296" y="290358"/>
                </a:cubicBezTo>
                <a:cubicBezTo>
                  <a:pt x="510692" y="295127"/>
                  <a:pt x="488028" y="288272"/>
                  <a:pt x="469805" y="283950"/>
                </a:cubicBezTo>
                <a:cubicBezTo>
                  <a:pt x="451582" y="279628"/>
                  <a:pt x="434612" y="270736"/>
                  <a:pt x="416959" y="264328"/>
                </a:cubicBezTo>
                <a:cubicBezTo>
                  <a:pt x="399249" y="257969"/>
                  <a:pt x="381311" y="252107"/>
                  <a:pt x="363658" y="245600"/>
                </a:cubicBezTo>
                <a:cubicBezTo>
                  <a:pt x="346061" y="239043"/>
                  <a:pt x="328750" y="231939"/>
                  <a:pt x="311210" y="225183"/>
                </a:cubicBezTo>
                <a:cubicBezTo>
                  <a:pt x="293728" y="218477"/>
                  <a:pt x="276188" y="211671"/>
                  <a:pt x="258592" y="205114"/>
                </a:cubicBezTo>
                <a:cubicBezTo>
                  <a:pt x="240996" y="198556"/>
                  <a:pt x="223115" y="192496"/>
                  <a:pt x="205575" y="185939"/>
                </a:cubicBezTo>
                <a:cubicBezTo>
                  <a:pt x="187979" y="179332"/>
                  <a:pt x="170212" y="173023"/>
                  <a:pt x="153071" y="165621"/>
                </a:cubicBezTo>
                <a:cubicBezTo>
                  <a:pt x="135987" y="158170"/>
                  <a:pt x="119587" y="149426"/>
                  <a:pt x="102845" y="141329"/>
                </a:cubicBezTo>
                <a:cubicBezTo>
                  <a:pt x="86102" y="133232"/>
                  <a:pt x="68164" y="126526"/>
                  <a:pt x="52618" y="117037"/>
                </a:cubicBezTo>
                <a:cubicBezTo>
                  <a:pt x="37129" y="107599"/>
                  <a:pt x="17369" y="97763"/>
                  <a:pt x="9681" y="84499"/>
                </a:cubicBezTo>
                <a:cubicBezTo>
                  <a:pt x="1936" y="71186"/>
                  <a:pt x="0" y="50471"/>
                  <a:pt x="6264" y="37307"/>
                </a:cubicBezTo>
                <a:cubicBezTo>
                  <a:pt x="12585" y="24093"/>
                  <a:pt x="30979" y="10780"/>
                  <a:pt x="47379" y="5415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artery_endothelial_nucleus_355"/>
          <p:cNvSpPr/>
          <p:nvPr/>
        </p:nvSpPr>
        <p:spPr>
          <a:xfrm>
            <a:off x="10341667" y="1700688"/>
            <a:ext cx="183681" cy="124251"/>
          </a:xfrm>
          <a:custGeom>
            <a:avLst/>
            <a:gdLst/>
            <a:ahLst/>
            <a:cxnLst/>
            <a:rect l="0" t="0" r="r" b="b"/>
            <a:pathLst>
              <a:path w="183681" h="124251">
                <a:moveTo>
                  <a:pt x="16902" y="5816"/>
                </a:moveTo>
                <a:cubicBezTo>
                  <a:pt x="26353" y="0"/>
                  <a:pt x="43618" y="2484"/>
                  <a:pt x="56704" y="3514"/>
                </a:cubicBezTo>
                <a:cubicBezTo>
                  <a:pt x="69789" y="4483"/>
                  <a:pt x="82935" y="7512"/>
                  <a:pt x="95415" y="11753"/>
                </a:cubicBezTo>
                <a:cubicBezTo>
                  <a:pt x="107834" y="15993"/>
                  <a:pt x="120071" y="21991"/>
                  <a:pt x="131339" y="28897"/>
                </a:cubicBezTo>
                <a:cubicBezTo>
                  <a:pt x="142668" y="35743"/>
                  <a:pt x="154360" y="43376"/>
                  <a:pt x="163023" y="53069"/>
                </a:cubicBezTo>
                <a:cubicBezTo>
                  <a:pt x="171686" y="62762"/>
                  <a:pt x="182894" y="76090"/>
                  <a:pt x="183318" y="86994"/>
                </a:cubicBezTo>
                <a:cubicBezTo>
                  <a:pt x="183681" y="97899"/>
                  <a:pt x="174897" y="112741"/>
                  <a:pt x="165386" y="118496"/>
                </a:cubicBezTo>
                <a:cubicBezTo>
                  <a:pt x="155875" y="124251"/>
                  <a:pt x="139276" y="122495"/>
                  <a:pt x="126311" y="121465"/>
                </a:cubicBezTo>
                <a:cubicBezTo>
                  <a:pt x="113286" y="120495"/>
                  <a:pt x="99898" y="116739"/>
                  <a:pt x="87358" y="112499"/>
                </a:cubicBezTo>
                <a:cubicBezTo>
                  <a:pt x="74817" y="108198"/>
                  <a:pt x="62641" y="102321"/>
                  <a:pt x="51070" y="95778"/>
                </a:cubicBezTo>
                <a:cubicBezTo>
                  <a:pt x="39499" y="89236"/>
                  <a:pt x="26534" y="82814"/>
                  <a:pt x="18053" y="73303"/>
                </a:cubicBezTo>
                <a:cubicBezTo>
                  <a:pt x="9572" y="63731"/>
                  <a:pt x="363" y="49858"/>
                  <a:pt x="182" y="38590"/>
                </a:cubicBezTo>
                <a:cubicBezTo>
                  <a:pt x="0" y="27383"/>
                  <a:pt x="7512" y="11692"/>
                  <a:pt x="16902" y="5816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artery_endothelial_cell_356"/>
          <p:cNvSpPr/>
          <p:nvPr/>
        </p:nvSpPr>
        <p:spPr>
          <a:xfrm>
            <a:off x="8898084" y="1583282"/>
            <a:ext cx="345917" cy="761805"/>
          </a:xfrm>
          <a:custGeom>
            <a:avLst/>
            <a:gdLst/>
            <a:ahLst/>
            <a:cxnLst/>
            <a:rect l="0" t="0" r="r" b="b"/>
            <a:pathLst>
              <a:path w="345917" h="761805">
                <a:moveTo>
                  <a:pt x="121283" y="1817"/>
                </a:moveTo>
                <a:cubicBezTo>
                  <a:pt x="138427" y="0"/>
                  <a:pt x="164538" y="23687"/>
                  <a:pt x="173807" y="42831"/>
                </a:cubicBezTo>
                <a:cubicBezTo>
                  <a:pt x="183076" y="62035"/>
                  <a:pt x="177320" y="92204"/>
                  <a:pt x="176836" y="116800"/>
                </a:cubicBezTo>
                <a:cubicBezTo>
                  <a:pt x="176351" y="141396"/>
                  <a:pt x="170717" y="165931"/>
                  <a:pt x="170838" y="190466"/>
                </a:cubicBezTo>
                <a:cubicBezTo>
                  <a:pt x="170899" y="215062"/>
                  <a:pt x="173383" y="239900"/>
                  <a:pt x="177381" y="264193"/>
                </a:cubicBezTo>
                <a:cubicBezTo>
                  <a:pt x="181440" y="288486"/>
                  <a:pt x="187680" y="312658"/>
                  <a:pt x="195131" y="336164"/>
                </a:cubicBezTo>
                <a:cubicBezTo>
                  <a:pt x="202522" y="359669"/>
                  <a:pt x="212033" y="382569"/>
                  <a:pt x="222029" y="405165"/>
                </a:cubicBezTo>
                <a:cubicBezTo>
                  <a:pt x="232086" y="427701"/>
                  <a:pt x="244202" y="449389"/>
                  <a:pt x="255227" y="471501"/>
                </a:cubicBezTo>
                <a:cubicBezTo>
                  <a:pt x="266314" y="493674"/>
                  <a:pt x="277400" y="515786"/>
                  <a:pt x="288426" y="537898"/>
                </a:cubicBezTo>
                <a:cubicBezTo>
                  <a:pt x="299451" y="560010"/>
                  <a:pt x="312113" y="581516"/>
                  <a:pt x="321564" y="604295"/>
                </a:cubicBezTo>
                <a:cubicBezTo>
                  <a:pt x="331014" y="627013"/>
                  <a:pt x="344403" y="651184"/>
                  <a:pt x="345129" y="674387"/>
                </a:cubicBezTo>
                <a:cubicBezTo>
                  <a:pt x="345917" y="697589"/>
                  <a:pt x="340647" y="729455"/>
                  <a:pt x="326168" y="743510"/>
                </a:cubicBezTo>
                <a:cubicBezTo>
                  <a:pt x="311628" y="757564"/>
                  <a:pt x="280368" y="761805"/>
                  <a:pt x="258075" y="758715"/>
                </a:cubicBezTo>
                <a:cubicBezTo>
                  <a:pt x="235781" y="755565"/>
                  <a:pt x="212276" y="739087"/>
                  <a:pt x="192405" y="724851"/>
                </a:cubicBezTo>
                <a:cubicBezTo>
                  <a:pt x="172534" y="710675"/>
                  <a:pt x="155875" y="691410"/>
                  <a:pt x="138912" y="673599"/>
                </a:cubicBezTo>
                <a:cubicBezTo>
                  <a:pt x="121889" y="655728"/>
                  <a:pt x="104442" y="637796"/>
                  <a:pt x="90266" y="617744"/>
                </a:cubicBezTo>
                <a:cubicBezTo>
                  <a:pt x="76090" y="597691"/>
                  <a:pt x="64398" y="575519"/>
                  <a:pt x="53796" y="553286"/>
                </a:cubicBezTo>
                <a:cubicBezTo>
                  <a:pt x="43255" y="531052"/>
                  <a:pt x="33865" y="507910"/>
                  <a:pt x="26837" y="484344"/>
                </a:cubicBezTo>
                <a:cubicBezTo>
                  <a:pt x="19810" y="460778"/>
                  <a:pt x="15933" y="436122"/>
                  <a:pt x="11632" y="411829"/>
                </a:cubicBezTo>
                <a:cubicBezTo>
                  <a:pt x="7330" y="387536"/>
                  <a:pt x="2363" y="363122"/>
                  <a:pt x="1151" y="338587"/>
                </a:cubicBezTo>
                <a:cubicBezTo>
                  <a:pt x="0" y="314051"/>
                  <a:pt x="1878" y="289153"/>
                  <a:pt x="4544" y="264678"/>
                </a:cubicBezTo>
                <a:cubicBezTo>
                  <a:pt x="7209" y="240143"/>
                  <a:pt x="11086" y="215547"/>
                  <a:pt x="17084" y="191678"/>
                </a:cubicBezTo>
                <a:cubicBezTo>
                  <a:pt x="23021" y="167749"/>
                  <a:pt x="31381" y="144183"/>
                  <a:pt x="40407" y="121222"/>
                </a:cubicBezTo>
                <a:cubicBezTo>
                  <a:pt x="49434" y="98262"/>
                  <a:pt x="57612" y="73727"/>
                  <a:pt x="71122" y="53796"/>
                </a:cubicBezTo>
                <a:cubicBezTo>
                  <a:pt x="84571" y="33865"/>
                  <a:pt x="104199" y="3635"/>
                  <a:pt x="121283" y="1817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artery_endothelial_soft_light_357"/>
          <p:cNvSpPr/>
          <p:nvPr/>
        </p:nvSpPr>
        <p:spPr>
          <a:xfrm>
            <a:off x="8902938" y="1653235"/>
            <a:ext cx="325162" cy="624680"/>
          </a:xfrm>
          <a:custGeom>
            <a:avLst/>
            <a:gdLst/>
            <a:ahLst/>
            <a:cxnLst/>
            <a:rect l="0" t="0" r="r" b="b"/>
            <a:pathLst>
              <a:path w="325162" h="624680">
                <a:moveTo>
                  <a:pt x="114006" y="1490"/>
                </a:moveTo>
                <a:cubicBezTo>
                  <a:pt x="130122" y="0"/>
                  <a:pt x="154666" y="19423"/>
                  <a:pt x="163378" y="35121"/>
                </a:cubicBezTo>
                <a:cubicBezTo>
                  <a:pt x="172091" y="50869"/>
                  <a:pt x="166681" y="75607"/>
                  <a:pt x="166226" y="95776"/>
                </a:cubicBezTo>
                <a:cubicBezTo>
                  <a:pt x="165770" y="115945"/>
                  <a:pt x="160474" y="136064"/>
                  <a:pt x="160588" y="156182"/>
                </a:cubicBezTo>
                <a:cubicBezTo>
                  <a:pt x="160645" y="176351"/>
                  <a:pt x="162980" y="196718"/>
                  <a:pt x="166738" y="216639"/>
                </a:cubicBezTo>
                <a:cubicBezTo>
                  <a:pt x="170553" y="236559"/>
                  <a:pt x="176419" y="256380"/>
                  <a:pt x="183423" y="275654"/>
                </a:cubicBezTo>
                <a:cubicBezTo>
                  <a:pt x="190371" y="294929"/>
                  <a:pt x="199311" y="313706"/>
                  <a:pt x="208707" y="332235"/>
                </a:cubicBezTo>
                <a:cubicBezTo>
                  <a:pt x="218160" y="350715"/>
                  <a:pt x="229550" y="368499"/>
                  <a:pt x="239914" y="386631"/>
                </a:cubicBezTo>
                <a:cubicBezTo>
                  <a:pt x="250335" y="404813"/>
                  <a:pt x="260756" y="422944"/>
                  <a:pt x="271120" y="441076"/>
                </a:cubicBezTo>
                <a:cubicBezTo>
                  <a:pt x="281484" y="459208"/>
                  <a:pt x="293386" y="476843"/>
                  <a:pt x="302270" y="495522"/>
                </a:cubicBezTo>
                <a:cubicBezTo>
                  <a:pt x="311153" y="514150"/>
                  <a:pt x="323738" y="533971"/>
                  <a:pt x="324422" y="552997"/>
                </a:cubicBezTo>
                <a:cubicBezTo>
                  <a:pt x="325162" y="572023"/>
                  <a:pt x="320208" y="598153"/>
                  <a:pt x="306598" y="609678"/>
                </a:cubicBezTo>
                <a:cubicBezTo>
                  <a:pt x="292931" y="621203"/>
                  <a:pt x="263546" y="624680"/>
                  <a:pt x="242590" y="622147"/>
                </a:cubicBezTo>
                <a:cubicBezTo>
                  <a:pt x="221634" y="619563"/>
                  <a:pt x="199539" y="606052"/>
                  <a:pt x="180861" y="594378"/>
                </a:cubicBezTo>
                <a:cubicBezTo>
                  <a:pt x="162182" y="582753"/>
                  <a:pt x="146522" y="566956"/>
                  <a:pt x="130577" y="552351"/>
                </a:cubicBezTo>
                <a:cubicBezTo>
                  <a:pt x="114575" y="537697"/>
                  <a:pt x="98175" y="522993"/>
                  <a:pt x="84850" y="506550"/>
                </a:cubicBezTo>
                <a:cubicBezTo>
                  <a:pt x="71524" y="490107"/>
                  <a:pt x="60534" y="471925"/>
                  <a:pt x="50568" y="453694"/>
                </a:cubicBezTo>
                <a:cubicBezTo>
                  <a:pt x="40659" y="435463"/>
                  <a:pt x="31833" y="416487"/>
                  <a:pt x="25227" y="397162"/>
                </a:cubicBezTo>
                <a:cubicBezTo>
                  <a:pt x="18621" y="377838"/>
                  <a:pt x="14977" y="357620"/>
                  <a:pt x="10934" y="337700"/>
                </a:cubicBezTo>
                <a:cubicBezTo>
                  <a:pt x="6890" y="317780"/>
                  <a:pt x="2221" y="297760"/>
                  <a:pt x="1082" y="277641"/>
                </a:cubicBezTo>
                <a:cubicBezTo>
                  <a:pt x="0" y="257522"/>
                  <a:pt x="1765" y="237105"/>
                  <a:pt x="4271" y="217036"/>
                </a:cubicBezTo>
                <a:cubicBezTo>
                  <a:pt x="6777" y="196917"/>
                  <a:pt x="10421" y="176748"/>
                  <a:pt x="16059" y="157176"/>
                </a:cubicBezTo>
                <a:cubicBezTo>
                  <a:pt x="21640" y="137554"/>
                  <a:pt x="29498" y="118230"/>
                  <a:pt x="37983" y="99402"/>
                </a:cubicBezTo>
                <a:cubicBezTo>
                  <a:pt x="46468" y="80575"/>
                  <a:pt x="54156" y="60456"/>
                  <a:pt x="66855" y="44113"/>
                </a:cubicBezTo>
                <a:cubicBezTo>
                  <a:pt x="79497" y="27769"/>
                  <a:pt x="97947" y="2981"/>
                  <a:pt x="114006" y="1490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artery_endothelial_nucleus_358"/>
          <p:cNvSpPr/>
          <p:nvPr/>
        </p:nvSpPr>
        <p:spPr>
          <a:xfrm>
            <a:off x="8975446" y="1932834"/>
            <a:ext cx="114680" cy="189558"/>
          </a:xfrm>
          <a:custGeom>
            <a:avLst/>
            <a:gdLst/>
            <a:ahLst/>
            <a:cxnLst/>
            <a:rect l="0" t="0" r="r" b="b"/>
            <a:pathLst>
              <a:path w="114680" h="189558">
                <a:moveTo>
                  <a:pt x="26110" y="3877"/>
                </a:moveTo>
                <a:cubicBezTo>
                  <a:pt x="35985" y="0"/>
                  <a:pt x="52827" y="4604"/>
                  <a:pt x="63065" y="10844"/>
                </a:cubicBezTo>
                <a:cubicBezTo>
                  <a:pt x="73303" y="17084"/>
                  <a:pt x="80815" y="30351"/>
                  <a:pt x="87479" y="41437"/>
                </a:cubicBezTo>
                <a:cubicBezTo>
                  <a:pt x="94143" y="52524"/>
                  <a:pt x="99110" y="65064"/>
                  <a:pt x="103109" y="77483"/>
                </a:cubicBezTo>
                <a:cubicBezTo>
                  <a:pt x="107046" y="89842"/>
                  <a:pt x="109894" y="102866"/>
                  <a:pt x="111227" y="115831"/>
                </a:cubicBezTo>
                <a:cubicBezTo>
                  <a:pt x="112620" y="128795"/>
                  <a:pt x="114680" y="143456"/>
                  <a:pt x="111166" y="155148"/>
                </a:cubicBezTo>
                <a:cubicBezTo>
                  <a:pt x="107592" y="166840"/>
                  <a:pt x="99716" y="182409"/>
                  <a:pt x="90144" y="185983"/>
                </a:cubicBezTo>
                <a:cubicBezTo>
                  <a:pt x="80633" y="189558"/>
                  <a:pt x="64398" y="182894"/>
                  <a:pt x="53978" y="176533"/>
                </a:cubicBezTo>
                <a:cubicBezTo>
                  <a:pt x="43497" y="170111"/>
                  <a:pt x="34531" y="158419"/>
                  <a:pt x="27504" y="147575"/>
                </a:cubicBezTo>
                <a:cubicBezTo>
                  <a:pt x="20537" y="136792"/>
                  <a:pt x="16115" y="123888"/>
                  <a:pt x="11995" y="111590"/>
                </a:cubicBezTo>
                <a:cubicBezTo>
                  <a:pt x="7876" y="99232"/>
                  <a:pt x="4180" y="86388"/>
                  <a:pt x="2787" y="73485"/>
                </a:cubicBezTo>
                <a:cubicBezTo>
                  <a:pt x="1454" y="60642"/>
                  <a:pt x="0" y="45860"/>
                  <a:pt x="3877" y="34228"/>
                </a:cubicBezTo>
                <a:cubicBezTo>
                  <a:pt x="7815" y="22657"/>
                  <a:pt x="16236" y="7815"/>
                  <a:pt x="26110" y="3877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1" name="artery_endothelial_cell_359"/>
          <p:cNvSpPr/>
          <p:nvPr/>
        </p:nvSpPr>
        <p:spPr>
          <a:xfrm>
            <a:off x="10692430" y="1899272"/>
            <a:ext cx="528023" cy="411950"/>
          </a:xfrm>
          <a:custGeom>
            <a:avLst/>
            <a:gdLst/>
            <a:ahLst/>
            <a:cxnLst/>
            <a:rect l="0" t="0" r="r" b="b"/>
            <a:pathLst>
              <a:path w="528023" h="411950">
                <a:moveTo>
                  <a:pt x="35682" y="7149"/>
                </a:moveTo>
                <a:cubicBezTo>
                  <a:pt x="50888" y="0"/>
                  <a:pt x="74212" y="7027"/>
                  <a:pt x="93234" y="9693"/>
                </a:cubicBezTo>
                <a:cubicBezTo>
                  <a:pt x="112256" y="12419"/>
                  <a:pt x="131097" y="18235"/>
                  <a:pt x="149756" y="23384"/>
                </a:cubicBezTo>
                <a:cubicBezTo>
                  <a:pt x="168415" y="28594"/>
                  <a:pt x="187134" y="33986"/>
                  <a:pt x="205248" y="40771"/>
                </a:cubicBezTo>
                <a:cubicBezTo>
                  <a:pt x="223301" y="47617"/>
                  <a:pt x="241051" y="55795"/>
                  <a:pt x="258378" y="64337"/>
                </a:cubicBezTo>
                <a:cubicBezTo>
                  <a:pt x="275764" y="72879"/>
                  <a:pt x="292909" y="82027"/>
                  <a:pt x="309508" y="92083"/>
                </a:cubicBezTo>
                <a:cubicBezTo>
                  <a:pt x="326107" y="102079"/>
                  <a:pt x="342403" y="112802"/>
                  <a:pt x="357851" y="124433"/>
                </a:cubicBezTo>
                <a:cubicBezTo>
                  <a:pt x="373360" y="136065"/>
                  <a:pt x="388081" y="148726"/>
                  <a:pt x="402378" y="161812"/>
                </a:cubicBezTo>
                <a:cubicBezTo>
                  <a:pt x="416615" y="174897"/>
                  <a:pt x="430003" y="189012"/>
                  <a:pt x="443513" y="202946"/>
                </a:cubicBezTo>
                <a:cubicBezTo>
                  <a:pt x="457022" y="216880"/>
                  <a:pt x="471562" y="229965"/>
                  <a:pt x="483375" y="245232"/>
                </a:cubicBezTo>
                <a:cubicBezTo>
                  <a:pt x="495188" y="260498"/>
                  <a:pt x="507123" y="276915"/>
                  <a:pt x="514332" y="294484"/>
                </a:cubicBezTo>
                <a:cubicBezTo>
                  <a:pt x="521541" y="312052"/>
                  <a:pt x="528023" y="332529"/>
                  <a:pt x="526691" y="350642"/>
                </a:cubicBezTo>
                <a:cubicBezTo>
                  <a:pt x="525358" y="368817"/>
                  <a:pt x="518997" y="394806"/>
                  <a:pt x="506275" y="403408"/>
                </a:cubicBezTo>
                <a:cubicBezTo>
                  <a:pt x="493553" y="411950"/>
                  <a:pt x="468533" y="406195"/>
                  <a:pt x="450419" y="402076"/>
                </a:cubicBezTo>
                <a:cubicBezTo>
                  <a:pt x="432245" y="397895"/>
                  <a:pt x="414373" y="387657"/>
                  <a:pt x="397290" y="378570"/>
                </a:cubicBezTo>
                <a:cubicBezTo>
                  <a:pt x="380206" y="369544"/>
                  <a:pt x="364455" y="357912"/>
                  <a:pt x="347977" y="347734"/>
                </a:cubicBezTo>
                <a:cubicBezTo>
                  <a:pt x="331438" y="337557"/>
                  <a:pt x="314536" y="328046"/>
                  <a:pt x="298240" y="317505"/>
                </a:cubicBezTo>
                <a:cubicBezTo>
                  <a:pt x="282004" y="307024"/>
                  <a:pt x="266193" y="295756"/>
                  <a:pt x="250320" y="284670"/>
                </a:cubicBezTo>
                <a:cubicBezTo>
                  <a:pt x="234388" y="273644"/>
                  <a:pt x="218576" y="262376"/>
                  <a:pt x="202825" y="251108"/>
                </a:cubicBezTo>
                <a:cubicBezTo>
                  <a:pt x="187013" y="239840"/>
                  <a:pt x="171262" y="228572"/>
                  <a:pt x="155572" y="217183"/>
                </a:cubicBezTo>
                <a:cubicBezTo>
                  <a:pt x="139881" y="205793"/>
                  <a:pt x="123767" y="194889"/>
                  <a:pt x="108622" y="182894"/>
                </a:cubicBezTo>
                <a:cubicBezTo>
                  <a:pt x="93476" y="170838"/>
                  <a:pt x="78876" y="157995"/>
                  <a:pt x="64519" y="145031"/>
                </a:cubicBezTo>
                <a:cubicBezTo>
                  <a:pt x="50222" y="132127"/>
                  <a:pt x="33017" y="120738"/>
                  <a:pt x="22657" y="105290"/>
                </a:cubicBezTo>
                <a:cubicBezTo>
                  <a:pt x="12237" y="89842"/>
                  <a:pt x="0" y="68820"/>
                  <a:pt x="2120" y="52463"/>
                </a:cubicBezTo>
                <a:cubicBezTo>
                  <a:pt x="4301" y="36106"/>
                  <a:pt x="20476" y="14297"/>
                  <a:pt x="35682" y="7149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2" name="artery_endothelial_soft_light_360"/>
          <p:cNvSpPr/>
          <p:nvPr/>
        </p:nvSpPr>
        <p:spPr>
          <a:xfrm>
            <a:off x="10704815" y="1929314"/>
            <a:ext cx="496342" cy="337799"/>
          </a:xfrm>
          <a:custGeom>
            <a:avLst/>
            <a:gdLst/>
            <a:ahLst/>
            <a:cxnLst/>
            <a:rect l="0" t="0" r="r" b="b"/>
            <a:pathLst>
              <a:path w="496342" h="337799">
                <a:moveTo>
                  <a:pt x="33541" y="5862"/>
                </a:moveTo>
                <a:cubicBezTo>
                  <a:pt x="47835" y="0"/>
                  <a:pt x="69759" y="5762"/>
                  <a:pt x="87640" y="7948"/>
                </a:cubicBezTo>
                <a:cubicBezTo>
                  <a:pt x="105521" y="10184"/>
                  <a:pt x="123231" y="14953"/>
                  <a:pt x="140771" y="19175"/>
                </a:cubicBezTo>
                <a:cubicBezTo>
                  <a:pt x="158310" y="23447"/>
                  <a:pt x="175906" y="27868"/>
                  <a:pt x="192933" y="33432"/>
                </a:cubicBezTo>
                <a:cubicBezTo>
                  <a:pt x="209903" y="39046"/>
                  <a:pt x="226588" y="45752"/>
                  <a:pt x="242875" y="52756"/>
                </a:cubicBezTo>
                <a:cubicBezTo>
                  <a:pt x="259218" y="59761"/>
                  <a:pt x="275334" y="67262"/>
                  <a:pt x="290937" y="75508"/>
                </a:cubicBezTo>
                <a:cubicBezTo>
                  <a:pt x="306541" y="83705"/>
                  <a:pt x="321859" y="92497"/>
                  <a:pt x="336380" y="102035"/>
                </a:cubicBezTo>
                <a:cubicBezTo>
                  <a:pt x="350959" y="111573"/>
                  <a:pt x="364796" y="121955"/>
                  <a:pt x="378236" y="132686"/>
                </a:cubicBezTo>
                <a:cubicBezTo>
                  <a:pt x="391618" y="143416"/>
                  <a:pt x="404203" y="154990"/>
                  <a:pt x="416902" y="166416"/>
                </a:cubicBezTo>
                <a:cubicBezTo>
                  <a:pt x="429601" y="177841"/>
                  <a:pt x="443268" y="188571"/>
                  <a:pt x="454373" y="201090"/>
                </a:cubicBezTo>
                <a:cubicBezTo>
                  <a:pt x="465477" y="213608"/>
                  <a:pt x="476696" y="227071"/>
                  <a:pt x="483472" y="241477"/>
                </a:cubicBezTo>
                <a:cubicBezTo>
                  <a:pt x="490249" y="255883"/>
                  <a:pt x="496342" y="272674"/>
                  <a:pt x="495089" y="287527"/>
                </a:cubicBezTo>
                <a:cubicBezTo>
                  <a:pt x="493836" y="302430"/>
                  <a:pt x="487857" y="323741"/>
                  <a:pt x="475898" y="330795"/>
                </a:cubicBezTo>
                <a:cubicBezTo>
                  <a:pt x="463940" y="337799"/>
                  <a:pt x="440421" y="333080"/>
                  <a:pt x="423394" y="329702"/>
                </a:cubicBezTo>
                <a:cubicBezTo>
                  <a:pt x="406310" y="326274"/>
                  <a:pt x="389511" y="317879"/>
                  <a:pt x="373452" y="310428"/>
                </a:cubicBezTo>
                <a:cubicBezTo>
                  <a:pt x="357393" y="303026"/>
                  <a:pt x="342588" y="293488"/>
                  <a:pt x="327098" y="285142"/>
                </a:cubicBezTo>
                <a:cubicBezTo>
                  <a:pt x="311552" y="276797"/>
                  <a:pt x="295664" y="268997"/>
                  <a:pt x="280345" y="260354"/>
                </a:cubicBezTo>
                <a:cubicBezTo>
                  <a:pt x="265084" y="251760"/>
                  <a:pt x="250221" y="242520"/>
                  <a:pt x="235301" y="233429"/>
                </a:cubicBezTo>
                <a:cubicBezTo>
                  <a:pt x="220324" y="224388"/>
                  <a:pt x="205461" y="215148"/>
                  <a:pt x="190655" y="205908"/>
                </a:cubicBezTo>
                <a:cubicBezTo>
                  <a:pt x="175793" y="196669"/>
                  <a:pt x="160987" y="187429"/>
                  <a:pt x="146237" y="178090"/>
                </a:cubicBezTo>
                <a:cubicBezTo>
                  <a:pt x="131488" y="168751"/>
                  <a:pt x="116341" y="159809"/>
                  <a:pt x="102104" y="149973"/>
                </a:cubicBezTo>
                <a:cubicBezTo>
                  <a:pt x="87868" y="140087"/>
                  <a:pt x="74144" y="129556"/>
                  <a:pt x="60648" y="118925"/>
                </a:cubicBezTo>
                <a:cubicBezTo>
                  <a:pt x="47208" y="108344"/>
                  <a:pt x="31036" y="99005"/>
                  <a:pt x="21298" y="86338"/>
                </a:cubicBezTo>
                <a:cubicBezTo>
                  <a:pt x="11503" y="73670"/>
                  <a:pt x="0" y="56432"/>
                  <a:pt x="1993" y="43020"/>
                </a:cubicBezTo>
                <a:cubicBezTo>
                  <a:pt x="4043" y="29607"/>
                  <a:pt x="19248" y="11724"/>
                  <a:pt x="33541" y="586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artery_endothelial_nucleus_361"/>
          <p:cNvSpPr/>
          <p:nvPr/>
        </p:nvSpPr>
        <p:spPr>
          <a:xfrm>
            <a:off x="10886532" y="2017648"/>
            <a:ext cx="164174" cy="136004"/>
          </a:xfrm>
          <a:custGeom>
            <a:avLst/>
            <a:gdLst/>
            <a:ahLst/>
            <a:cxnLst/>
            <a:rect l="0" t="0" r="r" b="b"/>
            <a:pathLst>
              <a:path w="164174" h="136004">
                <a:moveTo>
                  <a:pt x="29079" y="3574"/>
                </a:moveTo>
                <a:cubicBezTo>
                  <a:pt x="39559" y="0"/>
                  <a:pt x="53856" y="3453"/>
                  <a:pt x="65791" y="5998"/>
                </a:cubicBezTo>
                <a:cubicBezTo>
                  <a:pt x="77725" y="8542"/>
                  <a:pt x="89902" y="12843"/>
                  <a:pt x="100625" y="18780"/>
                </a:cubicBezTo>
                <a:cubicBezTo>
                  <a:pt x="111287" y="24717"/>
                  <a:pt x="121344" y="32895"/>
                  <a:pt x="130007" y="41619"/>
                </a:cubicBezTo>
                <a:cubicBezTo>
                  <a:pt x="138609" y="50343"/>
                  <a:pt x="147090" y="60339"/>
                  <a:pt x="152361" y="71243"/>
                </a:cubicBezTo>
                <a:cubicBezTo>
                  <a:pt x="157692" y="82148"/>
                  <a:pt x="164174" y="96687"/>
                  <a:pt x="161690" y="106925"/>
                </a:cubicBezTo>
                <a:cubicBezTo>
                  <a:pt x="159267" y="117224"/>
                  <a:pt x="147757" y="129461"/>
                  <a:pt x="137700" y="132733"/>
                </a:cubicBezTo>
                <a:cubicBezTo>
                  <a:pt x="127583" y="136004"/>
                  <a:pt x="112923" y="130370"/>
                  <a:pt x="101231" y="126735"/>
                </a:cubicBezTo>
                <a:cubicBezTo>
                  <a:pt x="89539" y="123100"/>
                  <a:pt x="78271" y="117042"/>
                  <a:pt x="67548" y="110924"/>
                </a:cubicBezTo>
                <a:cubicBezTo>
                  <a:pt x="56825" y="104744"/>
                  <a:pt x="46284" y="97778"/>
                  <a:pt x="36894" y="89842"/>
                </a:cubicBezTo>
                <a:cubicBezTo>
                  <a:pt x="27443" y="81845"/>
                  <a:pt x="16781" y="73303"/>
                  <a:pt x="11147" y="62944"/>
                </a:cubicBezTo>
                <a:cubicBezTo>
                  <a:pt x="5452" y="52584"/>
                  <a:pt x="0" y="37560"/>
                  <a:pt x="2968" y="27625"/>
                </a:cubicBezTo>
                <a:cubicBezTo>
                  <a:pt x="5998" y="17750"/>
                  <a:pt x="18598" y="7209"/>
                  <a:pt x="29079" y="3574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artery_endothelial_cell_362"/>
          <p:cNvSpPr/>
          <p:nvPr/>
        </p:nvSpPr>
        <p:spPr>
          <a:xfrm>
            <a:off x="11207368" y="2232770"/>
            <a:ext cx="481134" cy="432548"/>
          </a:xfrm>
          <a:custGeom>
            <a:avLst/>
            <a:gdLst/>
            <a:ahLst/>
            <a:cxnLst/>
            <a:rect l="0" t="0" r="r" b="b"/>
            <a:pathLst>
              <a:path w="481134" h="432548">
                <a:moveTo>
                  <a:pt x="35864" y="7027"/>
                </a:moveTo>
                <a:cubicBezTo>
                  <a:pt x="50343" y="0"/>
                  <a:pt x="73545" y="5634"/>
                  <a:pt x="91053" y="10178"/>
                </a:cubicBezTo>
                <a:cubicBezTo>
                  <a:pt x="108622" y="14782"/>
                  <a:pt x="123888" y="28231"/>
                  <a:pt x="141214" y="34410"/>
                </a:cubicBezTo>
                <a:cubicBezTo>
                  <a:pt x="158540" y="40589"/>
                  <a:pt x="178108" y="40165"/>
                  <a:pt x="194949" y="47314"/>
                </a:cubicBezTo>
                <a:cubicBezTo>
                  <a:pt x="211791" y="54402"/>
                  <a:pt x="226573" y="67063"/>
                  <a:pt x="242324" y="77180"/>
                </a:cubicBezTo>
                <a:cubicBezTo>
                  <a:pt x="258075" y="87358"/>
                  <a:pt x="274007" y="97354"/>
                  <a:pt x="289334" y="108198"/>
                </a:cubicBezTo>
                <a:cubicBezTo>
                  <a:pt x="304722" y="119042"/>
                  <a:pt x="320291" y="129825"/>
                  <a:pt x="334407" y="142183"/>
                </a:cubicBezTo>
                <a:cubicBezTo>
                  <a:pt x="348522" y="154481"/>
                  <a:pt x="361789" y="168112"/>
                  <a:pt x="374148" y="182227"/>
                </a:cubicBezTo>
                <a:cubicBezTo>
                  <a:pt x="386567" y="196343"/>
                  <a:pt x="397532" y="211670"/>
                  <a:pt x="408739" y="226754"/>
                </a:cubicBezTo>
                <a:cubicBezTo>
                  <a:pt x="419947" y="241839"/>
                  <a:pt x="431215" y="257045"/>
                  <a:pt x="441393" y="272796"/>
                </a:cubicBezTo>
                <a:cubicBezTo>
                  <a:pt x="451570" y="288607"/>
                  <a:pt x="463626" y="304177"/>
                  <a:pt x="469866" y="321503"/>
                </a:cubicBezTo>
                <a:cubicBezTo>
                  <a:pt x="476045" y="338829"/>
                  <a:pt x="481134" y="359608"/>
                  <a:pt x="478529" y="376753"/>
                </a:cubicBezTo>
                <a:cubicBezTo>
                  <a:pt x="475924" y="393897"/>
                  <a:pt x="467200" y="416251"/>
                  <a:pt x="454175" y="424369"/>
                </a:cubicBezTo>
                <a:cubicBezTo>
                  <a:pt x="441150" y="432548"/>
                  <a:pt x="417645" y="429640"/>
                  <a:pt x="400379" y="425520"/>
                </a:cubicBezTo>
                <a:cubicBezTo>
                  <a:pt x="383114" y="421401"/>
                  <a:pt x="366817" y="409042"/>
                  <a:pt x="350521" y="399773"/>
                </a:cubicBezTo>
                <a:cubicBezTo>
                  <a:pt x="334225" y="390505"/>
                  <a:pt x="318595" y="379842"/>
                  <a:pt x="302662" y="369847"/>
                </a:cubicBezTo>
                <a:cubicBezTo>
                  <a:pt x="286729" y="359851"/>
                  <a:pt x="270130" y="350764"/>
                  <a:pt x="254925" y="339798"/>
                </a:cubicBezTo>
                <a:cubicBezTo>
                  <a:pt x="239658" y="328833"/>
                  <a:pt x="225846" y="315929"/>
                  <a:pt x="211367" y="303995"/>
                </a:cubicBezTo>
                <a:cubicBezTo>
                  <a:pt x="196888" y="292000"/>
                  <a:pt x="182167" y="280247"/>
                  <a:pt x="167930" y="268010"/>
                </a:cubicBezTo>
                <a:cubicBezTo>
                  <a:pt x="153754" y="255712"/>
                  <a:pt x="139639" y="243354"/>
                  <a:pt x="126008" y="230450"/>
                </a:cubicBezTo>
                <a:cubicBezTo>
                  <a:pt x="112317" y="217546"/>
                  <a:pt x="99353" y="203855"/>
                  <a:pt x="86085" y="190527"/>
                </a:cubicBezTo>
                <a:cubicBezTo>
                  <a:pt x="72758" y="177199"/>
                  <a:pt x="58642" y="164538"/>
                  <a:pt x="46223" y="150483"/>
                </a:cubicBezTo>
                <a:cubicBezTo>
                  <a:pt x="33804" y="136368"/>
                  <a:pt x="18659" y="122373"/>
                  <a:pt x="11632" y="106017"/>
                </a:cubicBezTo>
                <a:cubicBezTo>
                  <a:pt x="4604" y="89599"/>
                  <a:pt x="0" y="68638"/>
                  <a:pt x="4059" y="52160"/>
                </a:cubicBezTo>
                <a:cubicBezTo>
                  <a:pt x="8057" y="35682"/>
                  <a:pt x="21324" y="13994"/>
                  <a:pt x="35864" y="7027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artery_endothelial_soft_light_363"/>
          <p:cNvSpPr/>
          <p:nvPr/>
        </p:nvSpPr>
        <p:spPr>
          <a:xfrm>
            <a:off x="11218052" y="2266062"/>
            <a:ext cx="452266" cy="354689"/>
          </a:xfrm>
          <a:custGeom>
            <a:avLst/>
            <a:gdLst/>
            <a:ahLst/>
            <a:cxnLst/>
            <a:rect l="0" t="0" r="r" b="b"/>
            <a:pathLst>
              <a:path w="452266" h="354689">
                <a:moveTo>
                  <a:pt x="33712" y="5762"/>
                </a:moveTo>
                <a:cubicBezTo>
                  <a:pt x="47322" y="0"/>
                  <a:pt x="69133" y="4620"/>
                  <a:pt x="85590" y="8346"/>
                </a:cubicBezTo>
                <a:cubicBezTo>
                  <a:pt x="102104" y="12121"/>
                  <a:pt x="116455" y="23149"/>
                  <a:pt x="132741" y="28216"/>
                </a:cubicBezTo>
                <a:cubicBezTo>
                  <a:pt x="149028" y="33283"/>
                  <a:pt x="167421" y="32935"/>
                  <a:pt x="183252" y="38797"/>
                </a:cubicBezTo>
                <a:cubicBezTo>
                  <a:pt x="199083" y="44609"/>
                  <a:pt x="212978" y="54992"/>
                  <a:pt x="227784" y="63288"/>
                </a:cubicBezTo>
                <a:cubicBezTo>
                  <a:pt x="242590" y="71633"/>
                  <a:pt x="257567" y="79830"/>
                  <a:pt x="271974" y="88722"/>
                </a:cubicBezTo>
                <a:cubicBezTo>
                  <a:pt x="286439" y="97614"/>
                  <a:pt x="301074" y="106456"/>
                  <a:pt x="314342" y="116590"/>
                </a:cubicBezTo>
                <a:cubicBezTo>
                  <a:pt x="327611" y="126675"/>
                  <a:pt x="340082" y="137852"/>
                  <a:pt x="351699" y="149426"/>
                </a:cubicBezTo>
                <a:cubicBezTo>
                  <a:pt x="363373" y="161001"/>
                  <a:pt x="373680" y="173569"/>
                  <a:pt x="384215" y="185939"/>
                </a:cubicBezTo>
                <a:cubicBezTo>
                  <a:pt x="394750" y="198308"/>
                  <a:pt x="405342" y="210777"/>
                  <a:pt x="414909" y="223693"/>
                </a:cubicBezTo>
                <a:cubicBezTo>
                  <a:pt x="424476" y="236658"/>
                  <a:pt x="435808" y="249425"/>
                  <a:pt x="441674" y="263632"/>
                </a:cubicBezTo>
                <a:cubicBezTo>
                  <a:pt x="447482" y="277840"/>
                  <a:pt x="452266" y="294879"/>
                  <a:pt x="449817" y="308937"/>
                </a:cubicBezTo>
                <a:cubicBezTo>
                  <a:pt x="447368" y="322996"/>
                  <a:pt x="439168" y="341326"/>
                  <a:pt x="426925" y="347983"/>
                </a:cubicBezTo>
                <a:cubicBezTo>
                  <a:pt x="414681" y="354689"/>
                  <a:pt x="392586" y="352305"/>
                  <a:pt x="376357" y="348927"/>
                </a:cubicBezTo>
                <a:cubicBezTo>
                  <a:pt x="360127" y="345549"/>
                  <a:pt x="344808" y="335415"/>
                  <a:pt x="329490" y="327814"/>
                </a:cubicBezTo>
                <a:cubicBezTo>
                  <a:pt x="314171" y="320214"/>
                  <a:pt x="299479" y="311471"/>
                  <a:pt x="284503" y="303274"/>
                </a:cubicBezTo>
                <a:cubicBezTo>
                  <a:pt x="269526" y="295078"/>
                  <a:pt x="253923" y="287626"/>
                  <a:pt x="239629" y="278635"/>
                </a:cubicBezTo>
                <a:cubicBezTo>
                  <a:pt x="225279" y="269643"/>
                  <a:pt x="212295" y="259062"/>
                  <a:pt x="198685" y="249276"/>
                </a:cubicBezTo>
                <a:cubicBezTo>
                  <a:pt x="185075" y="239440"/>
                  <a:pt x="171237" y="229803"/>
                  <a:pt x="157854" y="219768"/>
                </a:cubicBezTo>
                <a:cubicBezTo>
                  <a:pt x="144529" y="209684"/>
                  <a:pt x="131261" y="199550"/>
                  <a:pt x="118448" y="188969"/>
                </a:cubicBezTo>
                <a:cubicBezTo>
                  <a:pt x="105578" y="178388"/>
                  <a:pt x="93392" y="167161"/>
                  <a:pt x="80920" y="156232"/>
                </a:cubicBezTo>
                <a:cubicBezTo>
                  <a:pt x="68392" y="145303"/>
                  <a:pt x="55124" y="134921"/>
                  <a:pt x="43450" y="123396"/>
                </a:cubicBezTo>
                <a:cubicBezTo>
                  <a:pt x="31776" y="111821"/>
                  <a:pt x="17539" y="100346"/>
                  <a:pt x="10934" y="86934"/>
                </a:cubicBezTo>
                <a:cubicBezTo>
                  <a:pt x="4328" y="73471"/>
                  <a:pt x="0" y="56283"/>
                  <a:pt x="3815" y="42771"/>
                </a:cubicBezTo>
                <a:cubicBezTo>
                  <a:pt x="7574" y="29259"/>
                  <a:pt x="20045" y="11475"/>
                  <a:pt x="33712" y="576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artery_endothelial_nucleus_364"/>
          <p:cNvSpPr/>
          <p:nvPr/>
        </p:nvSpPr>
        <p:spPr>
          <a:xfrm>
            <a:off x="11383174" y="2363565"/>
            <a:ext cx="153876" cy="142365"/>
          </a:xfrm>
          <a:custGeom>
            <a:avLst/>
            <a:gdLst/>
            <a:ahLst/>
            <a:cxnLst/>
            <a:rect l="0" t="0" r="r" b="b"/>
            <a:pathLst>
              <a:path w="153876" h="142365">
                <a:moveTo>
                  <a:pt x="29018" y="3090"/>
                </a:moveTo>
                <a:cubicBezTo>
                  <a:pt x="39378" y="0"/>
                  <a:pt x="53796" y="4422"/>
                  <a:pt x="65185" y="8178"/>
                </a:cubicBezTo>
                <a:cubicBezTo>
                  <a:pt x="76574" y="11934"/>
                  <a:pt x="87479" y="18598"/>
                  <a:pt x="97414" y="25565"/>
                </a:cubicBezTo>
                <a:cubicBezTo>
                  <a:pt x="107349" y="32532"/>
                  <a:pt x="116739" y="40953"/>
                  <a:pt x="124736" y="50100"/>
                </a:cubicBezTo>
                <a:cubicBezTo>
                  <a:pt x="132793" y="59248"/>
                  <a:pt x="141032" y="69244"/>
                  <a:pt x="145394" y="80270"/>
                </a:cubicBezTo>
                <a:cubicBezTo>
                  <a:pt x="149756" y="91295"/>
                  <a:pt x="153876" y="106441"/>
                  <a:pt x="150846" y="116255"/>
                </a:cubicBezTo>
                <a:cubicBezTo>
                  <a:pt x="147878" y="126129"/>
                  <a:pt x="137276" y="136368"/>
                  <a:pt x="127402" y="139397"/>
                </a:cubicBezTo>
                <a:cubicBezTo>
                  <a:pt x="117466" y="142365"/>
                  <a:pt x="102685" y="138306"/>
                  <a:pt x="91417" y="134368"/>
                </a:cubicBezTo>
                <a:cubicBezTo>
                  <a:pt x="80149" y="130370"/>
                  <a:pt x="69607" y="122737"/>
                  <a:pt x="59793" y="115528"/>
                </a:cubicBezTo>
                <a:cubicBezTo>
                  <a:pt x="49979" y="108319"/>
                  <a:pt x="40771" y="99898"/>
                  <a:pt x="32411" y="90993"/>
                </a:cubicBezTo>
                <a:cubicBezTo>
                  <a:pt x="24111" y="82148"/>
                  <a:pt x="14661" y="72939"/>
                  <a:pt x="9814" y="62277"/>
                </a:cubicBezTo>
                <a:cubicBezTo>
                  <a:pt x="4907" y="51554"/>
                  <a:pt x="0" y="36651"/>
                  <a:pt x="3150" y="26777"/>
                </a:cubicBezTo>
                <a:cubicBezTo>
                  <a:pt x="6361" y="16963"/>
                  <a:pt x="18720" y="6240"/>
                  <a:pt x="29018" y="3090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artery_endothelial_cell_365"/>
          <p:cNvSpPr/>
          <p:nvPr/>
        </p:nvSpPr>
        <p:spPr>
          <a:xfrm>
            <a:off x="9224494" y="2277419"/>
            <a:ext cx="521905" cy="350521"/>
          </a:xfrm>
          <a:custGeom>
            <a:avLst/>
            <a:gdLst/>
            <a:ahLst/>
            <a:cxnLst/>
            <a:rect l="0" t="0" r="r" b="b"/>
            <a:pathLst>
              <a:path w="521905" h="350521">
                <a:moveTo>
                  <a:pt x="43134" y="4422"/>
                </a:moveTo>
                <a:cubicBezTo>
                  <a:pt x="58158" y="0"/>
                  <a:pt x="78573" y="11450"/>
                  <a:pt x="96324" y="15206"/>
                </a:cubicBezTo>
                <a:cubicBezTo>
                  <a:pt x="114134" y="18962"/>
                  <a:pt x="132127" y="22597"/>
                  <a:pt x="149817" y="27080"/>
                </a:cubicBezTo>
                <a:cubicBezTo>
                  <a:pt x="167506" y="31502"/>
                  <a:pt x="185075" y="36591"/>
                  <a:pt x="202522" y="41983"/>
                </a:cubicBezTo>
                <a:cubicBezTo>
                  <a:pt x="219909" y="47374"/>
                  <a:pt x="237598" y="52524"/>
                  <a:pt x="254440" y="59430"/>
                </a:cubicBezTo>
                <a:cubicBezTo>
                  <a:pt x="271281" y="66397"/>
                  <a:pt x="287638" y="74757"/>
                  <a:pt x="303692" y="83481"/>
                </a:cubicBezTo>
                <a:cubicBezTo>
                  <a:pt x="319686" y="92144"/>
                  <a:pt x="335437" y="101534"/>
                  <a:pt x="350642" y="111590"/>
                </a:cubicBezTo>
                <a:cubicBezTo>
                  <a:pt x="365848" y="121586"/>
                  <a:pt x="380569" y="132430"/>
                  <a:pt x="394866" y="143698"/>
                </a:cubicBezTo>
                <a:cubicBezTo>
                  <a:pt x="409164" y="154966"/>
                  <a:pt x="422976" y="166900"/>
                  <a:pt x="436364" y="179259"/>
                </a:cubicBezTo>
                <a:cubicBezTo>
                  <a:pt x="449753" y="191678"/>
                  <a:pt x="462959" y="204521"/>
                  <a:pt x="475136" y="218031"/>
                </a:cubicBezTo>
                <a:cubicBezTo>
                  <a:pt x="487313" y="231480"/>
                  <a:pt x="502640" y="244626"/>
                  <a:pt x="509486" y="260195"/>
                </a:cubicBezTo>
                <a:cubicBezTo>
                  <a:pt x="516331" y="275825"/>
                  <a:pt x="521905" y="297331"/>
                  <a:pt x="516149" y="311568"/>
                </a:cubicBezTo>
                <a:cubicBezTo>
                  <a:pt x="510334" y="325804"/>
                  <a:pt x="490705" y="340707"/>
                  <a:pt x="474833" y="345614"/>
                </a:cubicBezTo>
                <a:cubicBezTo>
                  <a:pt x="458900" y="350521"/>
                  <a:pt x="438485" y="344524"/>
                  <a:pt x="420734" y="341131"/>
                </a:cubicBezTo>
                <a:cubicBezTo>
                  <a:pt x="402984" y="337739"/>
                  <a:pt x="385598" y="331135"/>
                  <a:pt x="368332" y="325320"/>
                </a:cubicBezTo>
                <a:cubicBezTo>
                  <a:pt x="351066" y="319443"/>
                  <a:pt x="334043" y="312719"/>
                  <a:pt x="317020" y="306176"/>
                </a:cubicBezTo>
                <a:cubicBezTo>
                  <a:pt x="299997" y="299573"/>
                  <a:pt x="282792" y="293272"/>
                  <a:pt x="266193" y="285821"/>
                </a:cubicBezTo>
                <a:cubicBezTo>
                  <a:pt x="249533" y="278309"/>
                  <a:pt x="233297" y="269767"/>
                  <a:pt x="217122" y="261346"/>
                </a:cubicBezTo>
                <a:cubicBezTo>
                  <a:pt x="201007" y="252865"/>
                  <a:pt x="184893" y="244202"/>
                  <a:pt x="169203" y="234993"/>
                </a:cubicBezTo>
                <a:cubicBezTo>
                  <a:pt x="153451" y="225785"/>
                  <a:pt x="138064" y="215850"/>
                  <a:pt x="122737" y="205975"/>
                </a:cubicBezTo>
                <a:cubicBezTo>
                  <a:pt x="107410" y="196040"/>
                  <a:pt x="91356" y="186892"/>
                  <a:pt x="77180" y="175564"/>
                </a:cubicBezTo>
                <a:cubicBezTo>
                  <a:pt x="62944" y="164174"/>
                  <a:pt x="49434" y="151452"/>
                  <a:pt x="37500" y="137822"/>
                </a:cubicBezTo>
                <a:cubicBezTo>
                  <a:pt x="25565" y="124191"/>
                  <a:pt x="10844" y="109894"/>
                  <a:pt x="5634" y="93900"/>
                </a:cubicBezTo>
                <a:cubicBezTo>
                  <a:pt x="485" y="77907"/>
                  <a:pt x="0" y="56885"/>
                  <a:pt x="6240" y="41983"/>
                </a:cubicBezTo>
                <a:cubicBezTo>
                  <a:pt x="12480" y="27080"/>
                  <a:pt x="28170" y="8905"/>
                  <a:pt x="43134" y="4422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artery_endothelial_soft_light_366"/>
          <p:cNvSpPr/>
          <p:nvPr/>
        </p:nvSpPr>
        <p:spPr>
          <a:xfrm>
            <a:off x="9235949" y="2304407"/>
            <a:ext cx="490590" cy="287427"/>
          </a:xfrm>
          <a:custGeom>
            <a:avLst/>
            <a:gdLst/>
            <a:ahLst/>
            <a:cxnLst/>
            <a:rect l="0" t="0" r="r" b="b"/>
            <a:pathLst>
              <a:path w="490590" h="287427">
                <a:moveTo>
                  <a:pt x="40546" y="3626"/>
                </a:moveTo>
                <a:cubicBezTo>
                  <a:pt x="54668" y="0"/>
                  <a:pt x="73859" y="9389"/>
                  <a:pt x="90544" y="12469"/>
                </a:cubicBezTo>
                <a:cubicBezTo>
                  <a:pt x="107286" y="15549"/>
                  <a:pt x="124199" y="18529"/>
                  <a:pt x="140828" y="22205"/>
                </a:cubicBezTo>
                <a:cubicBezTo>
                  <a:pt x="157456" y="25832"/>
                  <a:pt x="173970" y="30005"/>
                  <a:pt x="190371" y="34426"/>
                </a:cubicBezTo>
                <a:cubicBezTo>
                  <a:pt x="206714" y="38847"/>
                  <a:pt x="223342" y="43069"/>
                  <a:pt x="239173" y="48733"/>
                </a:cubicBezTo>
                <a:cubicBezTo>
                  <a:pt x="255004" y="54445"/>
                  <a:pt x="270380" y="61301"/>
                  <a:pt x="285471" y="68454"/>
                </a:cubicBezTo>
                <a:cubicBezTo>
                  <a:pt x="300504" y="75558"/>
                  <a:pt x="315310" y="83258"/>
                  <a:pt x="329604" y="91504"/>
                </a:cubicBezTo>
                <a:cubicBezTo>
                  <a:pt x="343897" y="99700"/>
                  <a:pt x="357735" y="108593"/>
                  <a:pt x="371174" y="117832"/>
                </a:cubicBezTo>
                <a:cubicBezTo>
                  <a:pt x="384614" y="127072"/>
                  <a:pt x="397597" y="136858"/>
                  <a:pt x="410183" y="146992"/>
                </a:cubicBezTo>
                <a:cubicBezTo>
                  <a:pt x="422768" y="157176"/>
                  <a:pt x="435182" y="167707"/>
                  <a:pt x="446628" y="178785"/>
                </a:cubicBezTo>
                <a:cubicBezTo>
                  <a:pt x="458074" y="189813"/>
                  <a:pt x="472481" y="200593"/>
                  <a:pt x="478916" y="213360"/>
                </a:cubicBezTo>
                <a:cubicBezTo>
                  <a:pt x="485351" y="226176"/>
                  <a:pt x="490590" y="243812"/>
                  <a:pt x="485180" y="255485"/>
                </a:cubicBezTo>
                <a:cubicBezTo>
                  <a:pt x="479714" y="267159"/>
                  <a:pt x="461263" y="279380"/>
                  <a:pt x="446343" y="283404"/>
                </a:cubicBezTo>
                <a:cubicBezTo>
                  <a:pt x="431366" y="287427"/>
                  <a:pt x="412176" y="282509"/>
                  <a:pt x="395490" y="279728"/>
                </a:cubicBezTo>
                <a:cubicBezTo>
                  <a:pt x="378805" y="276946"/>
                  <a:pt x="362462" y="271531"/>
                  <a:pt x="346232" y="266762"/>
                </a:cubicBezTo>
                <a:cubicBezTo>
                  <a:pt x="330002" y="261943"/>
                  <a:pt x="314001" y="256429"/>
                  <a:pt x="297999" y="251064"/>
                </a:cubicBezTo>
                <a:cubicBezTo>
                  <a:pt x="281997" y="245650"/>
                  <a:pt x="265824" y="240483"/>
                  <a:pt x="250221" y="234373"/>
                </a:cubicBezTo>
                <a:cubicBezTo>
                  <a:pt x="234561" y="228213"/>
                  <a:pt x="219299" y="221209"/>
                  <a:pt x="204095" y="214304"/>
                </a:cubicBezTo>
                <a:cubicBezTo>
                  <a:pt x="188947" y="207349"/>
                  <a:pt x="173799" y="200245"/>
                  <a:pt x="159050" y="192695"/>
                </a:cubicBezTo>
                <a:cubicBezTo>
                  <a:pt x="144244" y="185144"/>
                  <a:pt x="129780" y="176997"/>
                  <a:pt x="115373" y="168900"/>
                </a:cubicBezTo>
                <a:cubicBezTo>
                  <a:pt x="100965" y="160753"/>
                  <a:pt x="85875" y="153252"/>
                  <a:pt x="72549" y="143962"/>
                </a:cubicBezTo>
                <a:cubicBezTo>
                  <a:pt x="59167" y="134623"/>
                  <a:pt x="46468" y="124191"/>
                  <a:pt x="35250" y="113014"/>
                </a:cubicBezTo>
                <a:cubicBezTo>
                  <a:pt x="24031" y="101837"/>
                  <a:pt x="10193" y="90113"/>
                  <a:pt x="5296" y="76998"/>
                </a:cubicBezTo>
                <a:cubicBezTo>
                  <a:pt x="456" y="63884"/>
                  <a:pt x="0" y="46646"/>
                  <a:pt x="5865" y="34426"/>
                </a:cubicBezTo>
                <a:cubicBezTo>
                  <a:pt x="11731" y="22205"/>
                  <a:pt x="26480" y="7302"/>
                  <a:pt x="40546" y="3626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artery_endothelial_nucleus_367"/>
          <p:cNvSpPr/>
          <p:nvPr/>
        </p:nvSpPr>
        <p:spPr>
          <a:xfrm>
            <a:off x="9397150" y="2380467"/>
            <a:ext cx="156420" cy="113044"/>
          </a:xfrm>
          <a:custGeom>
            <a:avLst/>
            <a:gdLst/>
            <a:ahLst/>
            <a:cxnLst/>
            <a:rect l="0" t="0" r="r" b="b"/>
            <a:pathLst>
              <a:path w="156420" h="113044">
                <a:moveTo>
                  <a:pt x="22415" y="4544"/>
                </a:moveTo>
                <a:cubicBezTo>
                  <a:pt x="31563" y="0"/>
                  <a:pt x="45315" y="1515"/>
                  <a:pt x="56522" y="2666"/>
                </a:cubicBezTo>
                <a:cubicBezTo>
                  <a:pt x="67729" y="3817"/>
                  <a:pt x="78998" y="7330"/>
                  <a:pt x="89539" y="11571"/>
                </a:cubicBezTo>
                <a:cubicBezTo>
                  <a:pt x="100019" y="15812"/>
                  <a:pt x="110378" y="21506"/>
                  <a:pt x="119526" y="28170"/>
                </a:cubicBezTo>
                <a:cubicBezTo>
                  <a:pt x="128613" y="34773"/>
                  <a:pt x="138367" y="42043"/>
                  <a:pt x="144243" y="51251"/>
                </a:cubicBezTo>
                <a:cubicBezTo>
                  <a:pt x="150120" y="60460"/>
                  <a:pt x="156420" y="73788"/>
                  <a:pt x="154905" y="83359"/>
                </a:cubicBezTo>
                <a:cubicBezTo>
                  <a:pt x="153330" y="92931"/>
                  <a:pt x="143819" y="104078"/>
                  <a:pt x="134793" y="108561"/>
                </a:cubicBezTo>
                <a:cubicBezTo>
                  <a:pt x="125766" y="113044"/>
                  <a:pt x="111954" y="111590"/>
                  <a:pt x="100746" y="110318"/>
                </a:cubicBezTo>
                <a:cubicBezTo>
                  <a:pt x="89599" y="109046"/>
                  <a:pt x="78331" y="105108"/>
                  <a:pt x="67851" y="100867"/>
                </a:cubicBezTo>
                <a:cubicBezTo>
                  <a:pt x="57370" y="96566"/>
                  <a:pt x="46950" y="91235"/>
                  <a:pt x="37802" y="84632"/>
                </a:cubicBezTo>
                <a:cubicBezTo>
                  <a:pt x="28655" y="78028"/>
                  <a:pt x="18841" y="70274"/>
                  <a:pt x="12843" y="61187"/>
                </a:cubicBezTo>
                <a:cubicBezTo>
                  <a:pt x="6785" y="52100"/>
                  <a:pt x="0" y="39559"/>
                  <a:pt x="1575" y="30109"/>
                </a:cubicBezTo>
                <a:cubicBezTo>
                  <a:pt x="3211" y="20658"/>
                  <a:pt x="13267" y="9148"/>
                  <a:pt x="22415" y="4544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artery_endothelial_cell_368"/>
          <p:cNvSpPr/>
          <p:nvPr/>
        </p:nvSpPr>
        <p:spPr>
          <a:xfrm>
            <a:off x="9722772" y="2565602"/>
            <a:ext cx="526872" cy="324895"/>
          </a:xfrm>
          <a:custGeom>
            <a:avLst/>
            <a:gdLst/>
            <a:ahLst/>
            <a:cxnLst/>
            <a:rect l="0" t="0" r="r" b="b"/>
            <a:pathLst>
              <a:path w="526872" h="324895">
                <a:moveTo>
                  <a:pt x="29988" y="7209"/>
                </a:moveTo>
                <a:cubicBezTo>
                  <a:pt x="43618" y="0"/>
                  <a:pt x="65791" y="5513"/>
                  <a:pt x="83420" y="7512"/>
                </a:cubicBezTo>
                <a:cubicBezTo>
                  <a:pt x="101110" y="9451"/>
                  <a:pt x="118496" y="15145"/>
                  <a:pt x="136004" y="19022"/>
                </a:cubicBezTo>
                <a:cubicBezTo>
                  <a:pt x="153573" y="22839"/>
                  <a:pt x="171202" y="26232"/>
                  <a:pt x="188588" y="30593"/>
                </a:cubicBezTo>
                <a:cubicBezTo>
                  <a:pt x="205975" y="35016"/>
                  <a:pt x="223362" y="39741"/>
                  <a:pt x="240325" y="45496"/>
                </a:cubicBezTo>
                <a:cubicBezTo>
                  <a:pt x="257287" y="51251"/>
                  <a:pt x="274007" y="57855"/>
                  <a:pt x="290425" y="65185"/>
                </a:cubicBezTo>
                <a:cubicBezTo>
                  <a:pt x="306782" y="72515"/>
                  <a:pt x="322957" y="80512"/>
                  <a:pt x="338526" y="89357"/>
                </a:cubicBezTo>
                <a:cubicBezTo>
                  <a:pt x="354095" y="98202"/>
                  <a:pt x="369180" y="108016"/>
                  <a:pt x="383780" y="118375"/>
                </a:cubicBezTo>
                <a:cubicBezTo>
                  <a:pt x="398380" y="128734"/>
                  <a:pt x="412132" y="140305"/>
                  <a:pt x="426187" y="151392"/>
                </a:cubicBezTo>
                <a:cubicBezTo>
                  <a:pt x="440242" y="162539"/>
                  <a:pt x="455144" y="172837"/>
                  <a:pt x="468169" y="185014"/>
                </a:cubicBezTo>
                <a:cubicBezTo>
                  <a:pt x="481194" y="197251"/>
                  <a:pt x="494704" y="210034"/>
                  <a:pt x="504336" y="224755"/>
                </a:cubicBezTo>
                <a:cubicBezTo>
                  <a:pt x="513969" y="239416"/>
                  <a:pt x="526872" y="257711"/>
                  <a:pt x="525964" y="273099"/>
                </a:cubicBezTo>
                <a:cubicBezTo>
                  <a:pt x="524994" y="288547"/>
                  <a:pt x="512091" y="309387"/>
                  <a:pt x="498581" y="317141"/>
                </a:cubicBezTo>
                <a:cubicBezTo>
                  <a:pt x="485132" y="324895"/>
                  <a:pt x="462656" y="321321"/>
                  <a:pt x="445027" y="319686"/>
                </a:cubicBezTo>
                <a:cubicBezTo>
                  <a:pt x="427398" y="318050"/>
                  <a:pt x="410012" y="312295"/>
                  <a:pt x="392807" y="307448"/>
                </a:cubicBezTo>
                <a:cubicBezTo>
                  <a:pt x="375602" y="302602"/>
                  <a:pt x="358457" y="296907"/>
                  <a:pt x="341737" y="290486"/>
                </a:cubicBezTo>
                <a:cubicBezTo>
                  <a:pt x="324956" y="284125"/>
                  <a:pt x="308842" y="276188"/>
                  <a:pt x="292424" y="268979"/>
                </a:cubicBezTo>
                <a:cubicBezTo>
                  <a:pt x="275946" y="261831"/>
                  <a:pt x="259347" y="254985"/>
                  <a:pt x="243111" y="247412"/>
                </a:cubicBezTo>
                <a:cubicBezTo>
                  <a:pt x="226876" y="239779"/>
                  <a:pt x="210882" y="231540"/>
                  <a:pt x="194949" y="223301"/>
                </a:cubicBezTo>
                <a:cubicBezTo>
                  <a:pt x="179017" y="215062"/>
                  <a:pt x="163023" y="206884"/>
                  <a:pt x="147575" y="197857"/>
                </a:cubicBezTo>
                <a:cubicBezTo>
                  <a:pt x="132066" y="188831"/>
                  <a:pt x="116497" y="179683"/>
                  <a:pt x="102018" y="169203"/>
                </a:cubicBezTo>
                <a:cubicBezTo>
                  <a:pt x="87539" y="158722"/>
                  <a:pt x="74212" y="146545"/>
                  <a:pt x="60581" y="134974"/>
                </a:cubicBezTo>
                <a:cubicBezTo>
                  <a:pt x="46890" y="123403"/>
                  <a:pt x="29866" y="113832"/>
                  <a:pt x="20052" y="99777"/>
                </a:cubicBezTo>
                <a:cubicBezTo>
                  <a:pt x="10238" y="85722"/>
                  <a:pt x="0" y="66094"/>
                  <a:pt x="1636" y="50646"/>
                </a:cubicBezTo>
                <a:cubicBezTo>
                  <a:pt x="3332" y="35198"/>
                  <a:pt x="16357" y="14418"/>
                  <a:pt x="29988" y="7209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artery_endothelial_soft_light_369"/>
          <p:cNvSpPr/>
          <p:nvPr/>
        </p:nvSpPr>
        <p:spPr>
          <a:xfrm>
            <a:off x="9734590" y="2589494"/>
            <a:ext cx="495260" cy="266414"/>
          </a:xfrm>
          <a:custGeom>
            <a:avLst/>
            <a:gdLst/>
            <a:ahLst/>
            <a:cxnLst/>
            <a:rect l="0" t="0" r="r" b="b"/>
            <a:pathLst>
              <a:path w="495260" h="266414">
                <a:moveTo>
                  <a:pt x="28188" y="5911"/>
                </a:moveTo>
                <a:cubicBezTo>
                  <a:pt x="41001" y="0"/>
                  <a:pt x="61843" y="4521"/>
                  <a:pt x="78415" y="6160"/>
                </a:cubicBezTo>
                <a:cubicBezTo>
                  <a:pt x="95043" y="7750"/>
                  <a:pt x="111387" y="12419"/>
                  <a:pt x="127844" y="15598"/>
                </a:cubicBezTo>
                <a:cubicBezTo>
                  <a:pt x="144358" y="18728"/>
                  <a:pt x="160930" y="21510"/>
                  <a:pt x="177273" y="25087"/>
                </a:cubicBezTo>
                <a:cubicBezTo>
                  <a:pt x="193617" y="28713"/>
                  <a:pt x="209960" y="32588"/>
                  <a:pt x="225905" y="37307"/>
                </a:cubicBezTo>
                <a:cubicBezTo>
                  <a:pt x="241850" y="42026"/>
                  <a:pt x="257567" y="47441"/>
                  <a:pt x="272999" y="53452"/>
                </a:cubicBezTo>
                <a:cubicBezTo>
                  <a:pt x="288375" y="59463"/>
                  <a:pt x="303579" y="66020"/>
                  <a:pt x="318215" y="73273"/>
                </a:cubicBezTo>
                <a:cubicBezTo>
                  <a:pt x="332850" y="80525"/>
                  <a:pt x="347029" y="88573"/>
                  <a:pt x="360753" y="97068"/>
                </a:cubicBezTo>
                <a:cubicBezTo>
                  <a:pt x="374477" y="105562"/>
                  <a:pt x="387404" y="115050"/>
                  <a:pt x="400616" y="124141"/>
                </a:cubicBezTo>
                <a:cubicBezTo>
                  <a:pt x="413827" y="133282"/>
                  <a:pt x="427836" y="141727"/>
                  <a:pt x="440079" y="151712"/>
                </a:cubicBezTo>
                <a:cubicBezTo>
                  <a:pt x="452323" y="161746"/>
                  <a:pt x="465022" y="172228"/>
                  <a:pt x="474076" y="184299"/>
                </a:cubicBezTo>
                <a:cubicBezTo>
                  <a:pt x="483130" y="196321"/>
                  <a:pt x="495260" y="211323"/>
                  <a:pt x="494406" y="223941"/>
                </a:cubicBezTo>
                <a:cubicBezTo>
                  <a:pt x="493495" y="236608"/>
                  <a:pt x="481365" y="253697"/>
                  <a:pt x="468666" y="260056"/>
                </a:cubicBezTo>
                <a:cubicBezTo>
                  <a:pt x="456024" y="266414"/>
                  <a:pt x="434897" y="263483"/>
                  <a:pt x="418326" y="262142"/>
                </a:cubicBezTo>
                <a:cubicBezTo>
                  <a:pt x="401754" y="260801"/>
                  <a:pt x="385411" y="256082"/>
                  <a:pt x="369238" y="252107"/>
                </a:cubicBezTo>
                <a:cubicBezTo>
                  <a:pt x="353066" y="248133"/>
                  <a:pt x="336950" y="243464"/>
                  <a:pt x="321233" y="238198"/>
                </a:cubicBezTo>
                <a:cubicBezTo>
                  <a:pt x="305459" y="232982"/>
                  <a:pt x="290311" y="226474"/>
                  <a:pt x="274879" y="220563"/>
                </a:cubicBezTo>
                <a:cubicBezTo>
                  <a:pt x="259389" y="214701"/>
                  <a:pt x="243786" y="209088"/>
                  <a:pt x="228525" y="202878"/>
                </a:cubicBezTo>
                <a:cubicBezTo>
                  <a:pt x="213263" y="196619"/>
                  <a:pt x="198229" y="189863"/>
                  <a:pt x="183252" y="183107"/>
                </a:cubicBezTo>
                <a:cubicBezTo>
                  <a:pt x="168276" y="176351"/>
                  <a:pt x="153242" y="169645"/>
                  <a:pt x="138721" y="162243"/>
                </a:cubicBezTo>
                <a:cubicBezTo>
                  <a:pt x="124142" y="154841"/>
                  <a:pt x="109507" y="147340"/>
                  <a:pt x="95897" y="138746"/>
                </a:cubicBezTo>
                <a:cubicBezTo>
                  <a:pt x="82287" y="130152"/>
                  <a:pt x="69759" y="120167"/>
                  <a:pt x="56946" y="110679"/>
                </a:cubicBezTo>
                <a:cubicBezTo>
                  <a:pt x="44076" y="101191"/>
                  <a:pt x="28074" y="93342"/>
                  <a:pt x="18849" y="81817"/>
                </a:cubicBezTo>
                <a:cubicBezTo>
                  <a:pt x="9624" y="70292"/>
                  <a:pt x="0" y="54197"/>
                  <a:pt x="1538" y="41529"/>
                </a:cubicBezTo>
                <a:cubicBezTo>
                  <a:pt x="3132" y="28862"/>
                  <a:pt x="15375" y="11823"/>
                  <a:pt x="28188" y="5911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artery_endothelial_nucleus_370"/>
          <p:cNvSpPr/>
          <p:nvPr/>
        </p:nvSpPr>
        <p:spPr>
          <a:xfrm>
            <a:off x="9898275" y="2653747"/>
            <a:ext cx="159570" cy="113044"/>
          </a:xfrm>
          <a:custGeom>
            <a:avLst/>
            <a:gdLst/>
            <a:ahLst/>
            <a:cxnLst/>
            <a:rect l="0" t="0" r="r" b="b"/>
            <a:pathLst>
              <a:path w="159570" h="113044">
                <a:moveTo>
                  <a:pt x="29866" y="3574"/>
                </a:moveTo>
                <a:cubicBezTo>
                  <a:pt x="39983" y="0"/>
                  <a:pt x="53129" y="1030"/>
                  <a:pt x="64276" y="2726"/>
                </a:cubicBezTo>
                <a:cubicBezTo>
                  <a:pt x="75484" y="4422"/>
                  <a:pt x="86752" y="8724"/>
                  <a:pt x="96990" y="13812"/>
                </a:cubicBezTo>
                <a:cubicBezTo>
                  <a:pt x="107228" y="18841"/>
                  <a:pt x="116800" y="25868"/>
                  <a:pt x="125705" y="33138"/>
                </a:cubicBezTo>
                <a:cubicBezTo>
                  <a:pt x="134550" y="40347"/>
                  <a:pt x="145273" y="47617"/>
                  <a:pt x="150362" y="57128"/>
                </a:cubicBezTo>
                <a:cubicBezTo>
                  <a:pt x="155511" y="66639"/>
                  <a:pt x="159570" y="81360"/>
                  <a:pt x="156359" y="90144"/>
                </a:cubicBezTo>
                <a:cubicBezTo>
                  <a:pt x="153209" y="98989"/>
                  <a:pt x="141154" y="106865"/>
                  <a:pt x="131218" y="109954"/>
                </a:cubicBezTo>
                <a:cubicBezTo>
                  <a:pt x="121283" y="113044"/>
                  <a:pt x="107895" y="110863"/>
                  <a:pt x="96748" y="108682"/>
                </a:cubicBezTo>
                <a:cubicBezTo>
                  <a:pt x="85601" y="106501"/>
                  <a:pt x="74696" y="101655"/>
                  <a:pt x="64276" y="96929"/>
                </a:cubicBezTo>
                <a:cubicBezTo>
                  <a:pt x="53796" y="92204"/>
                  <a:pt x="43073" y="86994"/>
                  <a:pt x="33925" y="80270"/>
                </a:cubicBezTo>
                <a:cubicBezTo>
                  <a:pt x="24778" y="73606"/>
                  <a:pt x="14297" y="66033"/>
                  <a:pt x="9208" y="56643"/>
                </a:cubicBezTo>
                <a:cubicBezTo>
                  <a:pt x="4120" y="47253"/>
                  <a:pt x="0" y="32835"/>
                  <a:pt x="3393" y="23990"/>
                </a:cubicBezTo>
                <a:cubicBezTo>
                  <a:pt x="6846" y="15145"/>
                  <a:pt x="19689" y="7088"/>
                  <a:pt x="29866" y="3574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artery_endothelial_cell_371"/>
          <p:cNvSpPr/>
          <p:nvPr/>
        </p:nvSpPr>
        <p:spPr>
          <a:xfrm>
            <a:off x="11668086" y="2615702"/>
            <a:ext cx="455750" cy="455084"/>
          </a:xfrm>
          <a:custGeom>
            <a:avLst/>
            <a:gdLst/>
            <a:ahLst/>
            <a:cxnLst/>
            <a:rect l="0" t="0" r="r" b="b"/>
            <a:pathLst>
              <a:path w="455750" h="455084">
                <a:moveTo>
                  <a:pt x="35076" y="5271"/>
                </a:moveTo>
                <a:cubicBezTo>
                  <a:pt x="49434" y="0"/>
                  <a:pt x="71546" y="8905"/>
                  <a:pt x="88812" y="14600"/>
                </a:cubicBezTo>
                <a:cubicBezTo>
                  <a:pt x="106077" y="20295"/>
                  <a:pt x="122131" y="30836"/>
                  <a:pt x="138609" y="39317"/>
                </a:cubicBezTo>
                <a:cubicBezTo>
                  <a:pt x="155027" y="47859"/>
                  <a:pt x="171262" y="56704"/>
                  <a:pt x="187437" y="65791"/>
                </a:cubicBezTo>
                <a:cubicBezTo>
                  <a:pt x="203552" y="74817"/>
                  <a:pt x="220030" y="83481"/>
                  <a:pt x="235417" y="93719"/>
                </a:cubicBezTo>
                <a:cubicBezTo>
                  <a:pt x="250744" y="103957"/>
                  <a:pt x="265405" y="115407"/>
                  <a:pt x="279642" y="127159"/>
                </a:cubicBezTo>
                <a:cubicBezTo>
                  <a:pt x="293939" y="138851"/>
                  <a:pt x="307751" y="151210"/>
                  <a:pt x="321079" y="164053"/>
                </a:cubicBezTo>
                <a:cubicBezTo>
                  <a:pt x="334407" y="176836"/>
                  <a:pt x="347795" y="189800"/>
                  <a:pt x="359608" y="204037"/>
                </a:cubicBezTo>
                <a:cubicBezTo>
                  <a:pt x="371422" y="218212"/>
                  <a:pt x="381660" y="233782"/>
                  <a:pt x="391898" y="249169"/>
                </a:cubicBezTo>
                <a:cubicBezTo>
                  <a:pt x="402197" y="264617"/>
                  <a:pt x="412556" y="280126"/>
                  <a:pt x="421219" y="296362"/>
                </a:cubicBezTo>
                <a:cubicBezTo>
                  <a:pt x="429943" y="312658"/>
                  <a:pt x="438848" y="329318"/>
                  <a:pt x="444240" y="346826"/>
                </a:cubicBezTo>
                <a:cubicBezTo>
                  <a:pt x="449632" y="364334"/>
                  <a:pt x="455750" y="384568"/>
                  <a:pt x="453630" y="401530"/>
                </a:cubicBezTo>
                <a:cubicBezTo>
                  <a:pt x="451510" y="418493"/>
                  <a:pt x="443937" y="442362"/>
                  <a:pt x="431457" y="448723"/>
                </a:cubicBezTo>
                <a:cubicBezTo>
                  <a:pt x="418978" y="455084"/>
                  <a:pt x="395412" y="445876"/>
                  <a:pt x="378691" y="439636"/>
                </a:cubicBezTo>
                <a:cubicBezTo>
                  <a:pt x="361971" y="433396"/>
                  <a:pt x="346402" y="421340"/>
                  <a:pt x="331014" y="411102"/>
                </a:cubicBezTo>
                <a:cubicBezTo>
                  <a:pt x="315627" y="400925"/>
                  <a:pt x="301087" y="389354"/>
                  <a:pt x="286245" y="378328"/>
                </a:cubicBezTo>
                <a:cubicBezTo>
                  <a:pt x="271342" y="367363"/>
                  <a:pt x="255773" y="357125"/>
                  <a:pt x="241778" y="345069"/>
                </a:cubicBezTo>
                <a:cubicBezTo>
                  <a:pt x="227784" y="332953"/>
                  <a:pt x="215910" y="318413"/>
                  <a:pt x="202340" y="305873"/>
                </a:cubicBezTo>
                <a:cubicBezTo>
                  <a:pt x="188770" y="293333"/>
                  <a:pt x="173322" y="282792"/>
                  <a:pt x="160237" y="269767"/>
                </a:cubicBezTo>
                <a:cubicBezTo>
                  <a:pt x="147212" y="256742"/>
                  <a:pt x="136186" y="241718"/>
                  <a:pt x="124070" y="227784"/>
                </a:cubicBezTo>
                <a:cubicBezTo>
                  <a:pt x="111893" y="213851"/>
                  <a:pt x="99353" y="200281"/>
                  <a:pt x="87297" y="186286"/>
                </a:cubicBezTo>
                <a:cubicBezTo>
                  <a:pt x="75302" y="172232"/>
                  <a:pt x="63246" y="158177"/>
                  <a:pt x="51918" y="143577"/>
                </a:cubicBezTo>
                <a:cubicBezTo>
                  <a:pt x="40529" y="128977"/>
                  <a:pt x="27383" y="115043"/>
                  <a:pt x="19144" y="98807"/>
                </a:cubicBezTo>
                <a:cubicBezTo>
                  <a:pt x="10965" y="82572"/>
                  <a:pt x="0" y="61793"/>
                  <a:pt x="2666" y="46223"/>
                </a:cubicBezTo>
                <a:cubicBezTo>
                  <a:pt x="5331" y="30654"/>
                  <a:pt x="20719" y="10541"/>
                  <a:pt x="35076" y="5271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artery_endothelial_soft_light_372"/>
          <p:cNvSpPr/>
          <p:nvPr/>
        </p:nvSpPr>
        <p:spPr>
          <a:xfrm>
            <a:off x="11678167" y="2650357"/>
            <a:ext cx="428405" cy="373169"/>
          </a:xfrm>
          <a:custGeom>
            <a:avLst/>
            <a:gdLst/>
            <a:ahLst/>
            <a:cxnLst/>
            <a:rect l="0" t="0" r="r" b="b"/>
            <a:pathLst>
              <a:path w="428405" h="373169">
                <a:moveTo>
                  <a:pt x="32972" y="4322"/>
                </a:moveTo>
                <a:cubicBezTo>
                  <a:pt x="46468" y="0"/>
                  <a:pt x="67253" y="7302"/>
                  <a:pt x="83483" y="11972"/>
                </a:cubicBezTo>
                <a:cubicBezTo>
                  <a:pt x="99713" y="16642"/>
                  <a:pt x="114803" y="25285"/>
                  <a:pt x="130293" y="32240"/>
                </a:cubicBezTo>
                <a:cubicBezTo>
                  <a:pt x="145725" y="39244"/>
                  <a:pt x="160987" y="46497"/>
                  <a:pt x="176191" y="53949"/>
                </a:cubicBezTo>
                <a:cubicBezTo>
                  <a:pt x="191339" y="61350"/>
                  <a:pt x="206828" y="68454"/>
                  <a:pt x="221292" y="76849"/>
                </a:cubicBezTo>
                <a:cubicBezTo>
                  <a:pt x="235700" y="85245"/>
                  <a:pt x="249481" y="94633"/>
                  <a:pt x="262863" y="104271"/>
                </a:cubicBezTo>
                <a:cubicBezTo>
                  <a:pt x="276302" y="113858"/>
                  <a:pt x="289286" y="123992"/>
                  <a:pt x="301814" y="134524"/>
                </a:cubicBezTo>
                <a:cubicBezTo>
                  <a:pt x="314342" y="145005"/>
                  <a:pt x="326927" y="155636"/>
                  <a:pt x="338032" y="167310"/>
                </a:cubicBezTo>
                <a:cubicBezTo>
                  <a:pt x="349136" y="178934"/>
                  <a:pt x="358760" y="191701"/>
                  <a:pt x="368384" y="204319"/>
                </a:cubicBezTo>
                <a:cubicBezTo>
                  <a:pt x="378065" y="216986"/>
                  <a:pt x="387803" y="229703"/>
                  <a:pt x="395946" y="243017"/>
                </a:cubicBezTo>
                <a:cubicBezTo>
                  <a:pt x="404146" y="256380"/>
                  <a:pt x="412517" y="270041"/>
                  <a:pt x="417585" y="284397"/>
                </a:cubicBezTo>
                <a:cubicBezTo>
                  <a:pt x="422654" y="298754"/>
                  <a:pt x="428405" y="315345"/>
                  <a:pt x="426412" y="329255"/>
                </a:cubicBezTo>
                <a:cubicBezTo>
                  <a:pt x="424419" y="343164"/>
                  <a:pt x="417301" y="362737"/>
                  <a:pt x="405570" y="367953"/>
                </a:cubicBezTo>
                <a:cubicBezTo>
                  <a:pt x="393839" y="373169"/>
                  <a:pt x="371687" y="365618"/>
                  <a:pt x="355970" y="360501"/>
                </a:cubicBezTo>
                <a:cubicBezTo>
                  <a:pt x="340253" y="355385"/>
                  <a:pt x="325618" y="345499"/>
                  <a:pt x="311153" y="337104"/>
                </a:cubicBezTo>
                <a:cubicBezTo>
                  <a:pt x="296689" y="328758"/>
                  <a:pt x="283022" y="319270"/>
                  <a:pt x="269070" y="310229"/>
                </a:cubicBezTo>
                <a:cubicBezTo>
                  <a:pt x="255061" y="301237"/>
                  <a:pt x="240426" y="292842"/>
                  <a:pt x="227272" y="282957"/>
                </a:cubicBezTo>
                <a:cubicBezTo>
                  <a:pt x="214117" y="273021"/>
                  <a:pt x="202956" y="261099"/>
                  <a:pt x="190200" y="250816"/>
                </a:cubicBezTo>
                <a:cubicBezTo>
                  <a:pt x="177444" y="240533"/>
                  <a:pt x="162923" y="231889"/>
                  <a:pt x="150622" y="221209"/>
                </a:cubicBezTo>
                <a:cubicBezTo>
                  <a:pt x="138379" y="210528"/>
                  <a:pt x="128015" y="198209"/>
                  <a:pt x="116626" y="186783"/>
                </a:cubicBezTo>
                <a:cubicBezTo>
                  <a:pt x="105179" y="175358"/>
                  <a:pt x="93392" y="164230"/>
                  <a:pt x="82059" y="152755"/>
                </a:cubicBezTo>
                <a:cubicBezTo>
                  <a:pt x="70784" y="141230"/>
                  <a:pt x="59452" y="129705"/>
                  <a:pt x="48803" y="117733"/>
                </a:cubicBezTo>
                <a:cubicBezTo>
                  <a:pt x="38097" y="105761"/>
                  <a:pt x="25740" y="94335"/>
                  <a:pt x="17995" y="81022"/>
                </a:cubicBezTo>
                <a:cubicBezTo>
                  <a:pt x="10307" y="67709"/>
                  <a:pt x="0" y="50670"/>
                  <a:pt x="2506" y="37903"/>
                </a:cubicBezTo>
                <a:cubicBezTo>
                  <a:pt x="5011" y="25136"/>
                  <a:pt x="19476" y="8644"/>
                  <a:pt x="32972" y="4322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artery_endothelial_nucleus_373"/>
          <p:cNvSpPr/>
          <p:nvPr/>
        </p:nvSpPr>
        <p:spPr>
          <a:xfrm>
            <a:off x="11836986" y="2761884"/>
            <a:ext cx="140427" cy="137095"/>
          </a:xfrm>
          <a:custGeom>
            <a:avLst/>
            <a:gdLst/>
            <a:ahLst/>
            <a:cxnLst/>
            <a:rect l="0" t="0" r="r" b="b"/>
            <a:pathLst>
              <a:path w="140427" h="137095">
                <a:moveTo>
                  <a:pt x="17932" y="4786"/>
                </a:moveTo>
                <a:cubicBezTo>
                  <a:pt x="26534" y="0"/>
                  <a:pt x="41680" y="1333"/>
                  <a:pt x="52584" y="3817"/>
                </a:cubicBezTo>
                <a:cubicBezTo>
                  <a:pt x="63489" y="6240"/>
                  <a:pt x="73909" y="13025"/>
                  <a:pt x="83420" y="19446"/>
                </a:cubicBezTo>
                <a:cubicBezTo>
                  <a:pt x="92931" y="25807"/>
                  <a:pt x="101897" y="33683"/>
                  <a:pt x="109773" y="42164"/>
                </a:cubicBezTo>
                <a:cubicBezTo>
                  <a:pt x="117588" y="50646"/>
                  <a:pt x="125463" y="60036"/>
                  <a:pt x="130370" y="70213"/>
                </a:cubicBezTo>
                <a:cubicBezTo>
                  <a:pt x="135338" y="80391"/>
                  <a:pt x="140427" y="92931"/>
                  <a:pt x="139397" y="103351"/>
                </a:cubicBezTo>
                <a:cubicBezTo>
                  <a:pt x="138427" y="113710"/>
                  <a:pt x="132551" y="127644"/>
                  <a:pt x="124373" y="132369"/>
                </a:cubicBezTo>
                <a:cubicBezTo>
                  <a:pt x="116194" y="137095"/>
                  <a:pt x="101049" y="134611"/>
                  <a:pt x="90326" y="131642"/>
                </a:cubicBezTo>
                <a:cubicBezTo>
                  <a:pt x="79543" y="128734"/>
                  <a:pt x="69426" y="121222"/>
                  <a:pt x="59915" y="114680"/>
                </a:cubicBezTo>
                <a:cubicBezTo>
                  <a:pt x="50343" y="108198"/>
                  <a:pt x="41074" y="100867"/>
                  <a:pt x="33077" y="92568"/>
                </a:cubicBezTo>
                <a:cubicBezTo>
                  <a:pt x="25020" y="84268"/>
                  <a:pt x="17205" y="74999"/>
                  <a:pt x="11874" y="65003"/>
                </a:cubicBezTo>
                <a:cubicBezTo>
                  <a:pt x="6543" y="54947"/>
                  <a:pt x="0" y="42528"/>
                  <a:pt x="1030" y="32471"/>
                </a:cubicBezTo>
                <a:cubicBezTo>
                  <a:pt x="2060" y="22476"/>
                  <a:pt x="9329" y="9572"/>
                  <a:pt x="17932" y="4786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artery_endothelial_cell_374"/>
          <p:cNvSpPr/>
          <p:nvPr/>
        </p:nvSpPr>
        <p:spPr>
          <a:xfrm>
            <a:off x="10231167" y="2833430"/>
            <a:ext cx="492583" cy="341010"/>
          </a:xfrm>
          <a:custGeom>
            <a:avLst/>
            <a:gdLst/>
            <a:ahLst/>
            <a:cxnLst/>
            <a:rect l="0" t="0" r="r" b="b"/>
            <a:pathLst>
              <a:path w="492583" h="341010">
                <a:moveTo>
                  <a:pt x="30472" y="5937"/>
                </a:moveTo>
                <a:cubicBezTo>
                  <a:pt x="43800" y="0"/>
                  <a:pt x="64700" y="7633"/>
                  <a:pt x="81663" y="10480"/>
                </a:cubicBezTo>
                <a:cubicBezTo>
                  <a:pt x="98565" y="13267"/>
                  <a:pt x="115346" y="18295"/>
                  <a:pt x="132127" y="22718"/>
                </a:cubicBezTo>
                <a:cubicBezTo>
                  <a:pt x="148847" y="27080"/>
                  <a:pt x="165689" y="31320"/>
                  <a:pt x="182106" y="36712"/>
                </a:cubicBezTo>
                <a:cubicBezTo>
                  <a:pt x="198524" y="42164"/>
                  <a:pt x="214759" y="48404"/>
                  <a:pt x="230571" y="55310"/>
                </a:cubicBezTo>
                <a:cubicBezTo>
                  <a:pt x="246443" y="62217"/>
                  <a:pt x="262012" y="69971"/>
                  <a:pt x="277218" y="78149"/>
                </a:cubicBezTo>
                <a:cubicBezTo>
                  <a:pt x="292424" y="86388"/>
                  <a:pt x="307388" y="95173"/>
                  <a:pt x="321927" y="104502"/>
                </a:cubicBezTo>
                <a:cubicBezTo>
                  <a:pt x="336466" y="113892"/>
                  <a:pt x="350824" y="123706"/>
                  <a:pt x="364515" y="134187"/>
                </a:cubicBezTo>
                <a:cubicBezTo>
                  <a:pt x="378207" y="144728"/>
                  <a:pt x="391413" y="155875"/>
                  <a:pt x="404135" y="167567"/>
                </a:cubicBezTo>
                <a:cubicBezTo>
                  <a:pt x="416857" y="179259"/>
                  <a:pt x="429216" y="191557"/>
                  <a:pt x="440908" y="204339"/>
                </a:cubicBezTo>
                <a:cubicBezTo>
                  <a:pt x="452539" y="217061"/>
                  <a:pt x="465807" y="229359"/>
                  <a:pt x="474106" y="243959"/>
                </a:cubicBezTo>
                <a:cubicBezTo>
                  <a:pt x="482466" y="258620"/>
                  <a:pt x="492583" y="277158"/>
                  <a:pt x="490887" y="292061"/>
                </a:cubicBezTo>
                <a:cubicBezTo>
                  <a:pt x="489130" y="307024"/>
                  <a:pt x="476772" y="326289"/>
                  <a:pt x="463747" y="333680"/>
                </a:cubicBezTo>
                <a:cubicBezTo>
                  <a:pt x="450722" y="341010"/>
                  <a:pt x="429398" y="338405"/>
                  <a:pt x="412617" y="336224"/>
                </a:cubicBezTo>
                <a:cubicBezTo>
                  <a:pt x="395836" y="334043"/>
                  <a:pt x="379297" y="326713"/>
                  <a:pt x="363122" y="320655"/>
                </a:cubicBezTo>
                <a:cubicBezTo>
                  <a:pt x="346947" y="314657"/>
                  <a:pt x="331256" y="307085"/>
                  <a:pt x="315445" y="300118"/>
                </a:cubicBezTo>
                <a:cubicBezTo>
                  <a:pt x="299633" y="293151"/>
                  <a:pt x="283579" y="286608"/>
                  <a:pt x="268192" y="278733"/>
                </a:cubicBezTo>
                <a:cubicBezTo>
                  <a:pt x="252865" y="270857"/>
                  <a:pt x="238083" y="261710"/>
                  <a:pt x="223241" y="252804"/>
                </a:cubicBezTo>
                <a:cubicBezTo>
                  <a:pt x="208398" y="243959"/>
                  <a:pt x="193617" y="234933"/>
                  <a:pt x="179138" y="225482"/>
                </a:cubicBezTo>
                <a:cubicBezTo>
                  <a:pt x="164659" y="216032"/>
                  <a:pt x="150180" y="206460"/>
                  <a:pt x="136246" y="196161"/>
                </a:cubicBezTo>
                <a:cubicBezTo>
                  <a:pt x="122373" y="185923"/>
                  <a:pt x="108924" y="174958"/>
                  <a:pt x="95718" y="163811"/>
                </a:cubicBezTo>
                <a:cubicBezTo>
                  <a:pt x="82511" y="152724"/>
                  <a:pt x="69607" y="141275"/>
                  <a:pt x="57007" y="129401"/>
                </a:cubicBezTo>
                <a:cubicBezTo>
                  <a:pt x="44466" y="117527"/>
                  <a:pt x="29503" y="106501"/>
                  <a:pt x="20295" y="92628"/>
                </a:cubicBezTo>
                <a:cubicBezTo>
                  <a:pt x="11086" y="78816"/>
                  <a:pt x="0" y="60763"/>
                  <a:pt x="1696" y="46284"/>
                </a:cubicBezTo>
                <a:cubicBezTo>
                  <a:pt x="3393" y="31866"/>
                  <a:pt x="17144" y="11934"/>
                  <a:pt x="30472" y="5937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artery_endothelial_soft_light_375"/>
          <p:cNvSpPr/>
          <p:nvPr/>
        </p:nvSpPr>
        <p:spPr>
          <a:xfrm>
            <a:off x="10242015" y="2858871"/>
            <a:ext cx="463028" cy="279628"/>
          </a:xfrm>
          <a:custGeom>
            <a:avLst/>
            <a:gdLst/>
            <a:ahLst/>
            <a:cxnLst/>
            <a:rect l="0" t="0" r="r" b="b"/>
            <a:pathLst>
              <a:path w="463028" h="279628">
                <a:moveTo>
                  <a:pt x="28644" y="4868"/>
                </a:moveTo>
                <a:cubicBezTo>
                  <a:pt x="41172" y="0"/>
                  <a:pt x="60818" y="6259"/>
                  <a:pt x="76763" y="8594"/>
                </a:cubicBezTo>
                <a:cubicBezTo>
                  <a:pt x="92651" y="10879"/>
                  <a:pt x="108425" y="15002"/>
                  <a:pt x="124199" y="18629"/>
                </a:cubicBezTo>
                <a:cubicBezTo>
                  <a:pt x="139916" y="22205"/>
                  <a:pt x="155747" y="25683"/>
                  <a:pt x="171180" y="30104"/>
                </a:cubicBezTo>
                <a:cubicBezTo>
                  <a:pt x="186612" y="34575"/>
                  <a:pt x="201874" y="39691"/>
                  <a:pt x="216737" y="45355"/>
                </a:cubicBezTo>
                <a:cubicBezTo>
                  <a:pt x="231657" y="51018"/>
                  <a:pt x="246292" y="57376"/>
                  <a:pt x="260585" y="64082"/>
                </a:cubicBezTo>
                <a:cubicBezTo>
                  <a:pt x="274879" y="70838"/>
                  <a:pt x="288944" y="78042"/>
                  <a:pt x="302611" y="85692"/>
                </a:cubicBezTo>
                <a:cubicBezTo>
                  <a:pt x="316278" y="93392"/>
                  <a:pt x="329775" y="101439"/>
                  <a:pt x="342644" y="110033"/>
                </a:cubicBezTo>
                <a:cubicBezTo>
                  <a:pt x="355514" y="118677"/>
                  <a:pt x="367929" y="127817"/>
                  <a:pt x="379887" y="137405"/>
                </a:cubicBezTo>
                <a:cubicBezTo>
                  <a:pt x="391846" y="146992"/>
                  <a:pt x="403463" y="157077"/>
                  <a:pt x="414453" y="167558"/>
                </a:cubicBezTo>
                <a:cubicBezTo>
                  <a:pt x="425387" y="177990"/>
                  <a:pt x="437858" y="188075"/>
                  <a:pt x="445660" y="200047"/>
                </a:cubicBezTo>
                <a:cubicBezTo>
                  <a:pt x="453518" y="212068"/>
                  <a:pt x="463028" y="227269"/>
                  <a:pt x="461434" y="239490"/>
                </a:cubicBezTo>
                <a:cubicBezTo>
                  <a:pt x="459783" y="251760"/>
                  <a:pt x="448166" y="267557"/>
                  <a:pt x="435922" y="273617"/>
                </a:cubicBezTo>
                <a:cubicBezTo>
                  <a:pt x="423679" y="279628"/>
                  <a:pt x="403634" y="277492"/>
                  <a:pt x="387860" y="275704"/>
                </a:cubicBezTo>
                <a:cubicBezTo>
                  <a:pt x="372086" y="273915"/>
                  <a:pt x="356539" y="267905"/>
                  <a:pt x="341335" y="262937"/>
                </a:cubicBezTo>
                <a:cubicBezTo>
                  <a:pt x="326130" y="258019"/>
                  <a:pt x="311381" y="251809"/>
                  <a:pt x="296518" y="246097"/>
                </a:cubicBezTo>
                <a:cubicBezTo>
                  <a:pt x="281655" y="240384"/>
                  <a:pt x="266565" y="235019"/>
                  <a:pt x="252100" y="228561"/>
                </a:cubicBezTo>
                <a:cubicBezTo>
                  <a:pt x="237693" y="222103"/>
                  <a:pt x="223798" y="214602"/>
                  <a:pt x="209846" y="207299"/>
                </a:cubicBezTo>
                <a:cubicBezTo>
                  <a:pt x="195894" y="200047"/>
                  <a:pt x="182000" y="192645"/>
                  <a:pt x="168390" y="184895"/>
                </a:cubicBezTo>
                <a:cubicBezTo>
                  <a:pt x="154779" y="177146"/>
                  <a:pt x="141169" y="169297"/>
                  <a:pt x="128072" y="160852"/>
                </a:cubicBezTo>
                <a:cubicBezTo>
                  <a:pt x="115031" y="152457"/>
                  <a:pt x="102389" y="143465"/>
                  <a:pt x="89975" y="134325"/>
                </a:cubicBezTo>
                <a:cubicBezTo>
                  <a:pt x="77561" y="125234"/>
                  <a:pt x="65431" y="115845"/>
                  <a:pt x="53586" y="106109"/>
                </a:cubicBezTo>
                <a:cubicBezTo>
                  <a:pt x="41798" y="96372"/>
                  <a:pt x="27733" y="87331"/>
                  <a:pt x="19077" y="75955"/>
                </a:cubicBezTo>
                <a:cubicBezTo>
                  <a:pt x="10421" y="64629"/>
                  <a:pt x="0" y="49825"/>
                  <a:pt x="1594" y="37953"/>
                </a:cubicBezTo>
                <a:cubicBezTo>
                  <a:pt x="3189" y="26130"/>
                  <a:pt x="16116" y="9786"/>
                  <a:pt x="28644" y="4868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8" name="artery_endothelial_nucleus_376"/>
          <p:cNvSpPr/>
          <p:nvPr/>
        </p:nvSpPr>
        <p:spPr>
          <a:xfrm>
            <a:off x="10405701" y="2934721"/>
            <a:ext cx="155693" cy="116194"/>
          </a:xfrm>
          <a:custGeom>
            <a:avLst/>
            <a:gdLst/>
            <a:ahLst/>
            <a:cxnLst/>
            <a:rect l="0" t="0" r="r" b="b"/>
            <a:pathLst>
              <a:path w="155693" h="116194">
                <a:moveTo>
                  <a:pt x="30230" y="2120"/>
                </a:moveTo>
                <a:cubicBezTo>
                  <a:pt x="40286" y="0"/>
                  <a:pt x="53251" y="4180"/>
                  <a:pt x="64155" y="7451"/>
                </a:cubicBezTo>
                <a:cubicBezTo>
                  <a:pt x="74999" y="10723"/>
                  <a:pt x="85237" y="16417"/>
                  <a:pt x="95415" y="21688"/>
                </a:cubicBezTo>
                <a:cubicBezTo>
                  <a:pt x="105593" y="26959"/>
                  <a:pt x="116558" y="31805"/>
                  <a:pt x="125100" y="39014"/>
                </a:cubicBezTo>
                <a:cubicBezTo>
                  <a:pt x="133702" y="46163"/>
                  <a:pt x="142305" y="55007"/>
                  <a:pt x="146788" y="64882"/>
                </a:cubicBezTo>
                <a:cubicBezTo>
                  <a:pt x="151271" y="74757"/>
                  <a:pt x="155693" y="90084"/>
                  <a:pt x="152119" y="98262"/>
                </a:cubicBezTo>
                <a:cubicBezTo>
                  <a:pt x="148605" y="106501"/>
                  <a:pt x="135580" y="112075"/>
                  <a:pt x="125463" y="114134"/>
                </a:cubicBezTo>
                <a:cubicBezTo>
                  <a:pt x="115346" y="116194"/>
                  <a:pt x="102442" y="113165"/>
                  <a:pt x="91417" y="110621"/>
                </a:cubicBezTo>
                <a:cubicBezTo>
                  <a:pt x="80330" y="108137"/>
                  <a:pt x="69062" y="104260"/>
                  <a:pt x="59006" y="99050"/>
                </a:cubicBezTo>
                <a:cubicBezTo>
                  <a:pt x="48889" y="93900"/>
                  <a:pt x="39317" y="86994"/>
                  <a:pt x="30836" y="79422"/>
                </a:cubicBezTo>
                <a:cubicBezTo>
                  <a:pt x="22415" y="71849"/>
                  <a:pt x="12964" y="63368"/>
                  <a:pt x="8421" y="53493"/>
                </a:cubicBezTo>
                <a:cubicBezTo>
                  <a:pt x="3877" y="43618"/>
                  <a:pt x="0" y="28715"/>
                  <a:pt x="3635" y="20173"/>
                </a:cubicBezTo>
                <a:cubicBezTo>
                  <a:pt x="7270" y="11571"/>
                  <a:pt x="20113" y="4241"/>
                  <a:pt x="30230" y="2120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9" name="artery_endothelial_cell_377"/>
          <p:cNvSpPr/>
          <p:nvPr/>
        </p:nvSpPr>
        <p:spPr>
          <a:xfrm>
            <a:off x="10698004" y="3124158"/>
            <a:ext cx="499066" cy="360578"/>
          </a:xfrm>
          <a:custGeom>
            <a:avLst/>
            <a:gdLst/>
            <a:ahLst/>
            <a:cxnLst/>
            <a:rect l="0" t="0" r="r" b="b"/>
            <a:pathLst>
              <a:path w="499066" h="360578">
                <a:moveTo>
                  <a:pt x="36167" y="5998"/>
                </a:moveTo>
                <a:cubicBezTo>
                  <a:pt x="50464" y="0"/>
                  <a:pt x="71243" y="6664"/>
                  <a:pt x="88509" y="9754"/>
                </a:cubicBezTo>
                <a:cubicBezTo>
                  <a:pt x="105714" y="12843"/>
                  <a:pt x="122555" y="19628"/>
                  <a:pt x="139578" y="24596"/>
                </a:cubicBezTo>
                <a:cubicBezTo>
                  <a:pt x="156602" y="29624"/>
                  <a:pt x="174049" y="33501"/>
                  <a:pt x="190588" y="39802"/>
                </a:cubicBezTo>
                <a:cubicBezTo>
                  <a:pt x="207126" y="46041"/>
                  <a:pt x="222998" y="54159"/>
                  <a:pt x="238810" y="62217"/>
                </a:cubicBezTo>
                <a:cubicBezTo>
                  <a:pt x="254561" y="70274"/>
                  <a:pt x="270009" y="79119"/>
                  <a:pt x="285215" y="88145"/>
                </a:cubicBezTo>
                <a:cubicBezTo>
                  <a:pt x="300481" y="97172"/>
                  <a:pt x="315687" y="106380"/>
                  <a:pt x="330227" y="116497"/>
                </a:cubicBezTo>
                <a:cubicBezTo>
                  <a:pt x="344766" y="126614"/>
                  <a:pt x="358942" y="137337"/>
                  <a:pt x="372270" y="148968"/>
                </a:cubicBezTo>
                <a:cubicBezTo>
                  <a:pt x="385598" y="160600"/>
                  <a:pt x="397653" y="173746"/>
                  <a:pt x="410254" y="186226"/>
                </a:cubicBezTo>
                <a:cubicBezTo>
                  <a:pt x="422915" y="198766"/>
                  <a:pt x="436061" y="210761"/>
                  <a:pt x="447935" y="223907"/>
                </a:cubicBezTo>
                <a:cubicBezTo>
                  <a:pt x="459809" y="237053"/>
                  <a:pt x="473500" y="249896"/>
                  <a:pt x="481558" y="265042"/>
                </a:cubicBezTo>
                <a:cubicBezTo>
                  <a:pt x="489554" y="280187"/>
                  <a:pt x="499066" y="300118"/>
                  <a:pt x="496097" y="314900"/>
                </a:cubicBezTo>
                <a:cubicBezTo>
                  <a:pt x="493189" y="329681"/>
                  <a:pt x="478044" y="346583"/>
                  <a:pt x="463808" y="353611"/>
                </a:cubicBezTo>
                <a:cubicBezTo>
                  <a:pt x="449632" y="360578"/>
                  <a:pt x="427641" y="359305"/>
                  <a:pt x="410799" y="356882"/>
                </a:cubicBezTo>
                <a:cubicBezTo>
                  <a:pt x="393897" y="354398"/>
                  <a:pt x="378510" y="345735"/>
                  <a:pt x="362516" y="338829"/>
                </a:cubicBezTo>
                <a:cubicBezTo>
                  <a:pt x="346523" y="331923"/>
                  <a:pt x="330469" y="323563"/>
                  <a:pt x="314778" y="315263"/>
                </a:cubicBezTo>
                <a:cubicBezTo>
                  <a:pt x="299149" y="306964"/>
                  <a:pt x="283943" y="297816"/>
                  <a:pt x="268495" y="289092"/>
                </a:cubicBezTo>
                <a:cubicBezTo>
                  <a:pt x="253047" y="280429"/>
                  <a:pt x="237356" y="272129"/>
                  <a:pt x="222150" y="263042"/>
                </a:cubicBezTo>
                <a:cubicBezTo>
                  <a:pt x="206944" y="253955"/>
                  <a:pt x="191920" y="244686"/>
                  <a:pt x="177381" y="234630"/>
                </a:cubicBezTo>
                <a:cubicBezTo>
                  <a:pt x="162842" y="224573"/>
                  <a:pt x="149090" y="213184"/>
                  <a:pt x="134914" y="202643"/>
                </a:cubicBezTo>
                <a:cubicBezTo>
                  <a:pt x="120738" y="192042"/>
                  <a:pt x="106138" y="182167"/>
                  <a:pt x="92325" y="171202"/>
                </a:cubicBezTo>
                <a:cubicBezTo>
                  <a:pt x="78452" y="160237"/>
                  <a:pt x="64095" y="149453"/>
                  <a:pt x="51857" y="136792"/>
                </a:cubicBezTo>
                <a:cubicBezTo>
                  <a:pt x="39681" y="124070"/>
                  <a:pt x="27201" y="110136"/>
                  <a:pt x="19022" y="94991"/>
                </a:cubicBezTo>
                <a:cubicBezTo>
                  <a:pt x="10844" y="79846"/>
                  <a:pt x="0" y="60642"/>
                  <a:pt x="2847" y="45799"/>
                </a:cubicBezTo>
                <a:cubicBezTo>
                  <a:pt x="5695" y="30957"/>
                  <a:pt x="21870" y="11995"/>
                  <a:pt x="36167" y="5998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artery_endothelial_soft_light_378"/>
          <p:cNvSpPr/>
          <p:nvPr/>
        </p:nvSpPr>
        <p:spPr>
          <a:xfrm>
            <a:off x="10708859" y="3151245"/>
            <a:ext cx="469122" cy="295674"/>
          </a:xfrm>
          <a:custGeom>
            <a:avLst/>
            <a:gdLst/>
            <a:ahLst/>
            <a:cxnLst/>
            <a:rect l="0" t="0" r="r" b="b"/>
            <a:pathLst>
              <a:path w="469122" h="295674">
                <a:moveTo>
                  <a:pt x="33997" y="4918"/>
                </a:moveTo>
                <a:cubicBezTo>
                  <a:pt x="47436" y="0"/>
                  <a:pt x="66969" y="5464"/>
                  <a:pt x="83198" y="7998"/>
                </a:cubicBezTo>
                <a:cubicBezTo>
                  <a:pt x="99371" y="10531"/>
                  <a:pt x="115202" y="16095"/>
                  <a:pt x="131204" y="20169"/>
                </a:cubicBezTo>
                <a:cubicBezTo>
                  <a:pt x="147206" y="24292"/>
                  <a:pt x="163606" y="27471"/>
                  <a:pt x="179152" y="32637"/>
                </a:cubicBezTo>
                <a:cubicBezTo>
                  <a:pt x="194699" y="37754"/>
                  <a:pt x="209618" y="44411"/>
                  <a:pt x="224481" y="51018"/>
                </a:cubicBezTo>
                <a:cubicBezTo>
                  <a:pt x="239287" y="57625"/>
                  <a:pt x="253809" y="64877"/>
                  <a:pt x="268102" y="72279"/>
                </a:cubicBezTo>
                <a:cubicBezTo>
                  <a:pt x="282452" y="79681"/>
                  <a:pt x="296746" y="87232"/>
                  <a:pt x="310413" y="95528"/>
                </a:cubicBezTo>
                <a:cubicBezTo>
                  <a:pt x="324080" y="103824"/>
                  <a:pt x="337405" y="112616"/>
                  <a:pt x="349934" y="122154"/>
                </a:cubicBezTo>
                <a:cubicBezTo>
                  <a:pt x="362462" y="131692"/>
                  <a:pt x="373794" y="142472"/>
                  <a:pt x="385639" y="152705"/>
                </a:cubicBezTo>
                <a:cubicBezTo>
                  <a:pt x="397540" y="162988"/>
                  <a:pt x="409898" y="172824"/>
                  <a:pt x="421059" y="183604"/>
                </a:cubicBezTo>
                <a:cubicBezTo>
                  <a:pt x="432221" y="194384"/>
                  <a:pt x="445090" y="204915"/>
                  <a:pt x="452664" y="217334"/>
                </a:cubicBezTo>
                <a:cubicBezTo>
                  <a:pt x="460181" y="229753"/>
                  <a:pt x="469122" y="246097"/>
                  <a:pt x="466331" y="258218"/>
                </a:cubicBezTo>
                <a:cubicBezTo>
                  <a:pt x="463598" y="270339"/>
                  <a:pt x="449361" y="284198"/>
                  <a:pt x="435979" y="289961"/>
                </a:cubicBezTo>
                <a:cubicBezTo>
                  <a:pt x="422654" y="295674"/>
                  <a:pt x="401982" y="294630"/>
                  <a:pt x="386151" y="292643"/>
                </a:cubicBezTo>
                <a:cubicBezTo>
                  <a:pt x="370263" y="290607"/>
                  <a:pt x="355799" y="283503"/>
                  <a:pt x="340765" y="277840"/>
                </a:cubicBezTo>
                <a:cubicBezTo>
                  <a:pt x="325731" y="272177"/>
                  <a:pt x="310641" y="265321"/>
                  <a:pt x="295892" y="258516"/>
                </a:cubicBezTo>
                <a:cubicBezTo>
                  <a:pt x="281200" y="251710"/>
                  <a:pt x="266906" y="244209"/>
                  <a:pt x="252385" y="237056"/>
                </a:cubicBezTo>
                <a:cubicBezTo>
                  <a:pt x="237864" y="229952"/>
                  <a:pt x="223115" y="223146"/>
                  <a:pt x="208821" y="215695"/>
                </a:cubicBezTo>
                <a:cubicBezTo>
                  <a:pt x="194528" y="208243"/>
                  <a:pt x="180405" y="200643"/>
                  <a:pt x="166738" y="192397"/>
                </a:cubicBezTo>
                <a:cubicBezTo>
                  <a:pt x="153071" y="184150"/>
                  <a:pt x="140144" y="174811"/>
                  <a:pt x="126819" y="166167"/>
                </a:cubicBezTo>
                <a:cubicBezTo>
                  <a:pt x="113494" y="157474"/>
                  <a:pt x="99770" y="149377"/>
                  <a:pt x="86786" y="140385"/>
                </a:cubicBezTo>
                <a:cubicBezTo>
                  <a:pt x="73745" y="131394"/>
                  <a:pt x="60249" y="122552"/>
                  <a:pt x="48746" y="112169"/>
                </a:cubicBezTo>
                <a:cubicBezTo>
                  <a:pt x="37300" y="101737"/>
                  <a:pt x="25569" y="90312"/>
                  <a:pt x="17881" y="77893"/>
                </a:cubicBezTo>
                <a:cubicBezTo>
                  <a:pt x="10193" y="65473"/>
                  <a:pt x="0" y="49726"/>
                  <a:pt x="2676" y="37555"/>
                </a:cubicBezTo>
                <a:cubicBezTo>
                  <a:pt x="5353" y="25385"/>
                  <a:pt x="20558" y="9836"/>
                  <a:pt x="33997" y="4918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artery_endothelial_nucleus_379"/>
          <p:cNvSpPr/>
          <p:nvPr/>
        </p:nvSpPr>
        <p:spPr>
          <a:xfrm>
            <a:off x="10874537" y="3228600"/>
            <a:ext cx="151210" cy="123767"/>
          </a:xfrm>
          <a:custGeom>
            <a:avLst/>
            <a:gdLst/>
            <a:ahLst/>
            <a:cxnLst/>
            <a:rect l="0" t="0" r="r" b="b"/>
            <a:pathLst>
              <a:path w="151210" h="123767">
                <a:moveTo>
                  <a:pt x="17144" y="4544"/>
                </a:moveTo>
                <a:cubicBezTo>
                  <a:pt x="25626" y="0"/>
                  <a:pt x="40407" y="2605"/>
                  <a:pt x="51554" y="4725"/>
                </a:cubicBezTo>
                <a:cubicBezTo>
                  <a:pt x="62701" y="6846"/>
                  <a:pt x="73666" y="11995"/>
                  <a:pt x="83965" y="17144"/>
                </a:cubicBezTo>
                <a:cubicBezTo>
                  <a:pt x="94264" y="22294"/>
                  <a:pt x="104320" y="28594"/>
                  <a:pt x="113347" y="35682"/>
                </a:cubicBezTo>
                <a:cubicBezTo>
                  <a:pt x="122434" y="42770"/>
                  <a:pt x="132188" y="50464"/>
                  <a:pt x="138367" y="59733"/>
                </a:cubicBezTo>
                <a:cubicBezTo>
                  <a:pt x="144607" y="69062"/>
                  <a:pt x="151210" y="81724"/>
                  <a:pt x="150483" y="91598"/>
                </a:cubicBezTo>
                <a:cubicBezTo>
                  <a:pt x="149756" y="101534"/>
                  <a:pt x="142365" y="114559"/>
                  <a:pt x="133944" y="119163"/>
                </a:cubicBezTo>
                <a:cubicBezTo>
                  <a:pt x="125524" y="123767"/>
                  <a:pt x="110984" y="121465"/>
                  <a:pt x="99959" y="119284"/>
                </a:cubicBezTo>
                <a:cubicBezTo>
                  <a:pt x="88993" y="117103"/>
                  <a:pt x="78089" y="111287"/>
                  <a:pt x="67911" y="105956"/>
                </a:cubicBezTo>
                <a:cubicBezTo>
                  <a:pt x="57673" y="100625"/>
                  <a:pt x="47859" y="94203"/>
                  <a:pt x="38711" y="87297"/>
                </a:cubicBezTo>
                <a:cubicBezTo>
                  <a:pt x="29624" y="80330"/>
                  <a:pt x="19386" y="73545"/>
                  <a:pt x="13025" y="64337"/>
                </a:cubicBezTo>
                <a:cubicBezTo>
                  <a:pt x="6664" y="55129"/>
                  <a:pt x="0" y="42104"/>
                  <a:pt x="727" y="32168"/>
                </a:cubicBezTo>
                <a:cubicBezTo>
                  <a:pt x="1393" y="22173"/>
                  <a:pt x="8663" y="9148"/>
                  <a:pt x="17144" y="4544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artery_endothelial_cell_380"/>
          <p:cNvSpPr/>
          <p:nvPr/>
        </p:nvSpPr>
        <p:spPr>
          <a:xfrm>
            <a:off x="11172776" y="3427911"/>
            <a:ext cx="483739" cy="363364"/>
          </a:xfrm>
          <a:custGeom>
            <a:avLst/>
            <a:gdLst/>
            <a:ahLst/>
            <a:cxnLst/>
            <a:rect l="0" t="0" r="r" b="b"/>
            <a:pathLst>
              <a:path w="483739" h="363364">
                <a:moveTo>
                  <a:pt x="39681" y="4846"/>
                </a:moveTo>
                <a:cubicBezTo>
                  <a:pt x="53917" y="0"/>
                  <a:pt x="73666" y="8784"/>
                  <a:pt x="90508" y="12359"/>
                </a:cubicBezTo>
                <a:cubicBezTo>
                  <a:pt x="107410" y="15933"/>
                  <a:pt x="124130" y="21446"/>
                  <a:pt x="140851" y="26353"/>
                </a:cubicBezTo>
                <a:cubicBezTo>
                  <a:pt x="157510" y="31320"/>
                  <a:pt x="174594" y="35500"/>
                  <a:pt x="190648" y="41983"/>
                </a:cubicBezTo>
                <a:cubicBezTo>
                  <a:pt x="206763" y="48525"/>
                  <a:pt x="222211" y="56885"/>
                  <a:pt x="237356" y="65367"/>
                </a:cubicBezTo>
                <a:cubicBezTo>
                  <a:pt x="252562" y="73848"/>
                  <a:pt x="267404" y="83056"/>
                  <a:pt x="281762" y="92871"/>
                </a:cubicBezTo>
                <a:cubicBezTo>
                  <a:pt x="296120" y="102685"/>
                  <a:pt x="309871" y="113286"/>
                  <a:pt x="323381" y="124191"/>
                </a:cubicBezTo>
                <a:cubicBezTo>
                  <a:pt x="336890" y="135156"/>
                  <a:pt x="350097" y="146485"/>
                  <a:pt x="362819" y="158359"/>
                </a:cubicBezTo>
                <a:cubicBezTo>
                  <a:pt x="375541" y="170172"/>
                  <a:pt x="387415" y="182954"/>
                  <a:pt x="399713" y="195252"/>
                </a:cubicBezTo>
                <a:cubicBezTo>
                  <a:pt x="412071" y="207611"/>
                  <a:pt x="425157" y="219242"/>
                  <a:pt x="436667" y="232207"/>
                </a:cubicBezTo>
                <a:cubicBezTo>
                  <a:pt x="448238" y="245232"/>
                  <a:pt x="461869" y="258014"/>
                  <a:pt x="469017" y="273159"/>
                </a:cubicBezTo>
                <a:cubicBezTo>
                  <a:pt x="476166" y="288244"/>
                  <a:pt x="483739" y="308599"/>
                  <a:pt x="479498" y="322836"/>
                </a:cubicBezTo>
                <a:cubicBezTo>
                  <a:pt x="475318" y="337133"/>
                  <a:pt x="458295" y="353974"/>
                  <a:pt x="443876" y="358700"/>
                </a:cubicBezTo>
                <a:cubicBezTo>
                  <a:pt x="429458" y="363364"/>
                  <a:pt x="409466" y="355792"/>
                  <a:pt x="392928" y="351127"/>
                </a:cubicBezTo>
                <a:cubicBezTo>
                  <a:pt x="376450" y="346402"/>
                  <a:pt x="360881" y="337496"/>
                  <a:pt x="344948" y="330590"/>
                </a:cubicBezTo>
                <a:cubicBezTo>
                  <a:pt x="328954" y="323684"/>
                  <a:pt x="312840" y="317081"/>
                  <a:pt x="297089" y="309690"/>
                </a:cubicBezTo>
                <a:cubicBezTo>
                  <a:pt x="281338" y="302299"/>
                  <a:pt x="265647" y="294605"/>
                  <a:pt x="250381" y="286366"/>
                </a:cubicBezTo>
                <a:cubicBezTo>
                  <a:pt x="235054" y="278066"/>
                  <a:pt x="220212" y="268979"/>
                  <a:pt x="205309" y="259953"/>
                </a:cubicBezTo>
                <a:cubicBezTo>
                  <a:pt x="190406" y="250987"/>
                  <a:pt x="175261" y="242263"/>
                  <a:pt x="160964" y="232388"/>
                </a:cubicBezTo>
                <a:cubicBezTo>
                  <a:pt x="146606" y="222514"/>
                  <a:pt x="133036" y="211609"/>
                  <a:pt x="119344" y="200826"/>
                </a:cubicBezTo>
                <a:cubicBezTo>
                  <a:pt x="105714" y="190042"/>
                  <a:pt x="92204" y="179077"/>
                  <a:pt x="79058" y="167749"/>
                </a:cubicBezTo>
                <a:cubicBezTo>
                  <a:pt x="65912" y="156420"/>
                  <a:pt x="52100" y="145576"/>
                  <a:pt x="40468" y="132733"/>
                </a:cubicBezTo>
                <a:cubicBezTo>
                  <a:pt x="28837" y="119950"/>
                  <a:pt x="15266" y="106138"/>
                  <a:pt x="9329" y="90932"/>
                </a:cubicBezTo>
                <a:cubicBezTo>
                  <a:pt x="3453" y="75666"/>
                  <a:pt x="0" y="55734"/>
                  <a:pt x="5028" y="41377"/>
                </a:cubicBezTo>
                <a:cubicBezTo>
                  <a:pt x="10117" y="27019"/>
                  <a:pt x="25444" y="9693"/>
                  <a:pt x="39681" y="4846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artery_endothelial_soft_light_381"/>
          <p:cNvSpPr/>
          <p:nvPr/>
        </p:nvSpPr>
        <p:spPr>
          <a:xfrm>
            <a:off x="11183042" y="3455194"/>
            <a:ext cx="454714" cy="297959"/>
          </a:xfrm>
          <a:custGeom>
            <a:avLst/>
            <a:gdLst/>
            <a:ahLst/>
            <a:cxnLst/>
            <a:rect l="0" t="0" r="r" b="b"/>
            <a:pathLst>
              <a:path w="454714" h="297959">
                <a:moveTo>
                  <a:pt x="37300" y="3974"/>
                </a:moveTo>
                <a:cubicBezTo>
                  <a:pt x="50682" y="0"/>
                  <a:pt x="69246" y="7203"/>
                  <a:pt x="85077" y="10134"/>
                </a:cubicBezTo>
                <a:cubicBezTo>
                  <a:pt x="100965" y="13065"/>
                  <a:pt x="116682" y="17585"/>
                  <a:pt x="132400" y="21609"/>
                </a:cubicBezTo>
                <a:cubicBezTo>
                  <a:pt x="148060" y="25683"/>
                  <a:pt x="164119" y="29110"/>
                  <a:pt x="179209" y="34426"/>
                </a:cubicBezTo>
                <a:cubicBezTo>
                  <a:pt x="194357" y="39791"/>
                  <a:pt x="208878" y="46646"/>
                  <a:pt x="223115" y="53601"/>
                </a:cubicBezTo>
                <a:cubicBezTo>
                  <a:pt x="237408" y="60555"/>
                  <a:pt x="251360" y="68106"/>
                  <a:pt x="264856" y="76154"/>
                </a:cubicBezTo>
                <a:cubicBezTo>
                  <a:pt x="278352" y="84201"/>
                  <a:pt x="291279" y="92895"/>
                  <a:pt x="303978" y="101837"/>
                </a:cubicBezTo>
                <a:cubicBezTo>
                  <a:pt x="316677" y="110828"/>
                  <a:pt x="329091" y="120117"/>
                  <a:pt x="341050" y="129854"/>
                </a:cubicBezTo>
                <a:cubicBezTo>
                  <a:pt x="353009" y="139541"/>
                  <a:pt x="364170" y="150023"/>
                  <a:pt x="375730" y="160107"/>
                </a:cubicBezTo>
                <a:cubicBezTo>
                  <a:pt x="387347" y="170241"/>
                  <a:pt x="399647" y="179779"/>
                  <a:pt x="410467" y="190409"/>
                </a:cubicBezTo>
                <a:cubicBezTo>
                  <a:pt x="421344" y="201090"/>
                  <a:pt x="434157" y="211572"/>
                  <a:pt x="440876" y="223991"/>
                </a:cubicBezTo>
                <a:cubicBezTo>
                  <a:pt x="447596" y="236360"/>
                  <a:pt x="454714" y="253051"/>
                  <a:pt x="450728" y="264725"/>
                </a:cubicBezTo>
                <a:cubicBezTo>
                  <a:pt x="446799" y="276449"/>
                  <a:pt x="430797" y="290259"/>
                  <a:pt x="417244" y="294134"/>
                </a:cubicBezTo>
                <a:cubicBezTo>
                  <a:pt x="403691" y="297959"/>
                  <a:pt x="384898" y="291749"/>
                  <a:pt x="369352" y="287924"/>
                </a:cubicBezTo>
                <a:cubicBezTo>
                  <a:pt x="353863" y="284049"/>
                  <a:pt x="339228" y="276747"/>
                  <a:pt x="324251" y="271084"/>
                </a:cubicBezTo>
                <a:cubicBezTo>
                  <a:pt x="309217" y="265421"/>
                  <a:pt x="294069" y="260006"/>
                  <a:pt x="279263" y="253946"/>
                </a:cubicBezTo>
                <a:cubicBezTo>
                  <a:pt x="264458" y="247885"/>
                  <a:pt x="249708" y="241576"/>
                  <a:pt x="235358" y="234820"/>
                </a:cubicBezTo>
                <a:cubicBezTo>
                  <a:pt x="220951" y="228014"/>
                  <a:pt x="206999" y="220563"/>
                  <a:pt x="192990" y="213161"/>
                </a:cubicBezTo>
                <a:cubicBezTo>
                  <a:pt x="178981" y="205809"/>
                  <a:pt x="164745" y="198656"/>
                  <a:pt x="151306" y="190558"/>
                </a:cubicBezTo>
                <a:cubicBezTo>
                  <a:pt x="137809" y="182461"/>
                  <a:pt x="125054" y="173520"/>
                  <a:pt x="112184" y="164677"/>
                </a:cubicBezTo>
                <a:cubicBezTo>
                  <a:pt x="99371" y="155835"/>
                  <a:pt x="86672" y="146843"/>
                  <a:pt x="74315" y="137554"/>
                </a:cubicBezTo>
                <a:cubicBezTo>
                  <a:pt x="61957" y="128264"/>
                  <a:pt x="48974" y="119372"/>
                  <a:pt x="38040" y="108841"/>
                </a:cubicBezTo>
                <a:cubicBezTo>
                  <a:pt x="27106" y="98359"/>
                  <a:pt x="14350" y="87033"/>
                  <a:pt x="8770" y="74564"/>
                </a:cubicBezTo>
                <a:cubicBezTo>
                  <a:pt x="3246" y="62046"/>
                  <a:pt x="0" y="45702"/>
                  <a:pt x="4727" y="33929"/>
                </a:cubicBezTo>
                <a:cubicBezTo>
                  <a:pt x="9510" y="22156"/>
                  <a:pt x="23917" y="7948"/>
                  <a:pt x="37300" y="3974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artery_endothelial_nucleus_382"/>
          <p:cNvSpPr/>
          <p:nvPr/>
        </p:nvSpPr>
        <p:spPr>
          <a:xfrm>
            <a:off x="11335557" y="3532958"/>
            <a:ext cx="145637" cy="118072"/>
          </a:xfrm>
          <a:custGeom>
            <a:avLst/>
            <a:gdLst/>
            <a:ahLst/>
            <a:cxnLst/>
            <a:rect l="0" t="0" r="r" b="b"/>
            <a:pathLst>
              <a:path w="145637" h="118072">
                <a:moveTo>
                  <a:pt x="28291" y="2847"/>
                </a:moveTo>
                <a:cubicBezTo>
                  <a:pt x="37863" y="0"/>
                  <a:pt x="50282" y="3635"/>
                  <a:pt x="60884" y="6240"/>
                </a:cubicBezTo>
                <a:cubicBezTo>
                  <a:pt x="71425" y="8845"/>
                  <a:pt x="82148" y="13025"/>
                  <a:pt x="91720" y="18356"/>
                </a:cubicBezTo>
                <a:cubicBezTo>
                  <a:pt x="101291" y="23687"/>
                  <a:pt x="110621" y="30412"/>
                  <a:pt x="118193" y="38227"/>
                </a:cubicBezTo>
                <a:cubicBezTo>
                  <a:pt x="125827" y="46041"/>
                  <a:pt x="133217" y="55371"/>
                  <a:pt x="137216" y="65185"/>
                </a:cubicBezTo>
                <a:cubicBezTo>
                  <a:pt x="141214" y="75060"/>
                  <a:pt x="145637" y="88933"/>
                  <a:pt x="142244" y="97232"/>
                </a:cubicBezTo>
                <a:cubicBezTo>
                  <a:pt x="138912" y="105593"/>
                  <a:pt x="126856" y="112499"/>
                  <a:pt x="117163" y="115285"/>
                </a:cubicBezTo>
                <a:cubicBezTo>
                  <a:pt x="107410" y="118072"/>
                  <a:pt x="94627" y="116437"/>
                  <a:pt x="84026" y="114013"/>
                </a:cubicBezTo>
                <a:cubicBezTo>
                  <a:pt x="73485" y="111590"/>
                  <a:pt x="63125" y="106259"/>
                  <a:pt x="53675" y="100685"/>
                </a:cubicBezTo>
                <a:cubicBezTo>
                  <a:pt x="44285" y="95112"/>
                  <a:pt x="35319" y="88206"/>
                  <a:pt x="27443" y="80633"/>
                </a:cubicBezTo>
                <a:cubicBezTo>
                  <a:pt x="19568" y="73061"/>
                  <a:pt x="10480" y="64700"/>
                  <a:pt x="6543" y="55129"/>
                </a:cubicBezTo>
                <a:cubicBezTo>
                  <a:pt x="2544" y="45557"/>
                  <a:pt x="0" y="31805"/>
                  <a:pt x="3635" y="23081"/>
                </a:cubicBezTo>
                <a:cubicBezTo>
                  <a:pt x="7270" y="14358"/>
                  <a:pt x="18780" y="5634"/>
                  <a:pt x="28291" y="2847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artery_endothelial_cell_383"/>
          <p:cNvSpPr/>
          <p:nvPr/>
        </p:nvSpPr>
        <p:spPr>
          <a:xfrm>
            <a:off x="11630284" y="3737843"/>
            <a:ext cx="511969" cy="336285"/>
          </a:xfrm>
          <a:custGeom>
            <a:avLst/>
            <a:gdLst/>
            <a:ahLst/>
            <a:cxnLst/>
            <a:rect l="0" t="0" r="r" b="b"/>
            <a:pathLst>
              <a:path w="511969" h="336285">
                <a:moveTo>
                  <a:pt x="36712" y="4362"/>
                </a:moveTo>
                <a:cubicBezTo>
                  <a:pt x="50646" y="0"/>
                  <a:pt x="70153" y="12904"/>
                  <a:pt x="87115" y="17326"/>
                </a:cubicBezTo>
                <a:cubicBezTo>
                  <a:pt x="104017" y="21809"/>
                  <a:pt x="120980" y="27564"/>
                  <a:pt x="138185" y="31078"/>
                </a:cubicBezTo>
                <a:cubicBezTo>
                  <a:pt x="155390" y="34592"/>
                  <a:pt x="173443" y="34289"/>
                  <a:pt x="190466" y="38529"/>
                </a:cubicBezTo>
                <a:cubicBezTo>
                  <a:pt x="207429" y="42710"/>
                  <a:pt x="224210" y="49192"/>
                  <a:pt x="240264" y="56280"/>
                </a:cubicBezTo>
                <a:cubicBezTo>
                  <a:pt x="256318" y="63368"/>
                  <a:pt x="272129" y="71546"/>
                  <a:pt x="286790" y="81178"/>
                </a:cubicBezTo>
                <a:cubicBezTo>
                  <a:pt x="301451" y="90750"/>
                  <a:pt x="314597" y="102685"/>
                  <a:pt x="328227" y="113832"/>
                </a:cubicBezTo>
                <a:cubicBezTo>
                  <a:pt x="341858" y="124978"/>
                  <a:pt x="354701" y="137095"/>
                  <a:pt x="368514" y="147939"/>
                </a:cubicBezTo>
                <a:cubicBezTo>
                  <a:pt x="382387" y="158843"/>
                  <a:pt x="397108" y="168597"/>
                  <a:pt x="411344" y="179017"/>
                </a:cubicBezTo>
                <a:cubicBezTo>
                  <a:pt x="425520" y="189497"/>
                  <a:pt x="440302" y="199311"/>
                  <a:pt x="453691" y="210700"/>
                </a:cubicBezTo>
                <a:cubicBezTo>
                  <a:pt x="467139" y="222090"/>
                  <a:pt x="482769" y="233237"/>
                  <a:pt x="491917" y="247291"/>
                </a:cubicBezTo>
                <a:cubicBezTo>
                  <a:pt x="501065" y="261407"/>
                  <a:pt x="511969" y="281338"/>
                  <a:pt x="508698" y="295211"/>
                </a:cubicBezTo>
                <a:cubicBezTo>
                  <a:pt x="505366" y="309023"/>
                  <a:pt x="486828" y="324471"/>
                  <a:pt x="472047" y="330348"/>
                </a:cubicBezTo>
                <a:cubicBezTo>
                  <a:pt x="457325" y="336285"/>
                  <a:pt x="437152" y="333074"/>
                  <a:pt x="420008" y="330590"/>
                </a:cubicBezTo>
                <a:cubicBezTo>
                  <a:pt x="402924" y="328106"/>
                  <a:pt x="386143" y="320715"/>
                  <a:pt x="369362" y="315384"/>
                </a:cubicBezTo>
                <a:cubicBezTo>
                  <a:pt x="352520" y="310053"/>
                  <a:pt x="335437" y="305146"/>
                  <a:pt x="319080" y="298603"/>
                </a:cubicBezTo>
                <a:cubicBezTo>
                  <a:pt x="302783" y="292121"/>
                  <a:pt x="287396" y="283579"/>
                  <a:pt x="271342" y="276310"/>
                </a:cubicBezTo>
                <a:cubicBezTo>
                  <a:pt x="255288" y="269040"/>
                  <a:pt x="238810" y="262618"/>
                  <a:pt x="222877" y="255046"/>
                </a:cubicBezTo>
                <a:cubicBezTo>
                  <a:pt x="206944" y="247534"/>
                  <a:pt x="190890" y="239961"/>
                  <a:pt x="175685" y="231056"/>
                </a:cubicBezTo>
                <a:cubicBezTo>
                  <a:pt x="160479" y="222150"/>
                  <a:pt x="146121" y="211730"/>
                  <a:pt x="131763" y="201492"/>
                </a:cubicBezTo>
                <a:cubicBezTo>
                  <a:pt x="117406" y="191315"/>
                  <a:pt x="102927" y="181076"/>
                  <a:pt x="89478" y="169687"/>
                </a:cubicBezTo>
                <a:cubicBezTo>
                  <a:pt x="76029" y="158359"/>
                  <a:pt x="63004" y="146242"/>
                  <a:pt x="51009" y="133460"/>
                </a:cubicBezTo>
                <a:cubicBezTo>
                  <a:pt x="38954" y="120617"/>
                  <a:pt x="25323" y="107773"/>
                  <a:pt x="17326" y="92749"/>
                </a:cubicBezTo>
                <a:cubicBezTo>
                  <a:pt x="9390" y="77786"/>
                  <a:pt x="0" y="58097"/>
                  <a:pt x="3211" y="43315"/>
                </a:cubicBezTo>
                <a:cubicBezTo>
                  <a:pt x="6422" y="28594"/>
                  <a:pt x="22718" y="8663"/>
                  <a:pt x="36712" y="4362"/>
                </a:cubicBezTo>
                <a:close/>
              </a:path>
            </a:pathLst>
          </a:custGeom>
          <a:gradFill rotWithShape="1">
            <a:gsLst>
              <a:gs pos="0">
                <a:srgbClr val="F5FCFF"/>
              </a:gs>
              <a:gs pos="24000">
                <a:srgbClr val="DCEFFB"/>
              </a:gs>
              <a:gs pos="60000">
                <a:srgbClr val="ABD2EB"/>
              </a:gs>
              <a:gs pos="82000">
                <a:srgbClr val="86B7D8"/>
              </a:gs>
              <a:gs pos="100000">
                <a:srgbClr val="6F9EC6"/>
              </a:gs>
            </a:gsLst>
            <a:path path="circle">
              <a:fillToRect l="35000" t="27000" r="65000" b="73000"/>
            </a:path>
            <a:tileRect/>
          </a:gradFill>
          <a:ln w="7875" cap="rnd">
            <a:solidFill>
              <a:srgbClr val="487F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artery_endothelial_soft_light_384"/>
          <p:cNvSpPr/>
          <p:nvPr/>
        </p:nvSpPr>
        <p:spPr>
          <a:xfrm>
            <a:off x="11641418" y="3763916"/>
            <a:ext cx="481251" cy="275753"/>
          </a:xfrm>
          <a:custGeom>
            <a:avLst/>
            <a:gdLst/>
            <a:ahLst/>
            <a:cxnLst/>
            <a:rect l="0" t="0" r="r" b="b"/>
            <a:pathLst>
              <a:path w="481251" h="275753">
                <a:moveTo>
                  <a:pt x="34509" y="3577"/>
                </a:moveTo>
                <a:cubicBezTo>
                  <a:pt x="47607" y="0"/>
                  <a:pt x="65944" y="10581"/>
                  <a:pt x="81888" y="14207"/>
                </a:cubicBezTo>
                <a:cubicBezTo>
                  <a:pt x="97776" y="17883"/>
                  <a:pt x="113721" y="22603"/>
                  <a:pt x="129894" y="25484"/>
                </a:cubicBezTo>
                <a:cubicBezTo>
                  <a:pt x="146067" y="28365"/>
                  <a:pt x="163037" y="28117"/>
                  <a:pt x="179038" y="31594"/>
                </a:cubicBezTo>
                <a:cubicBezTo>
                  <a:pt x="194983" y="35022"/>
                  <a:pt x="210757" y="40337"/>
                  <a:pt x="225848" y="46149"/>
                </a:cubicBezTo>
                <a:cubicBezTo>
                  <a:pt x="240939" y="51961"/>
                  <a:pt x="255802" y="58668"/>
                  <a:pt x="269583" y="66566"/>
                </a:cubicBezTo>
                <a:cubicBezTo>
                  <a:pt x="283364" y="74415"/>
                  <a:pt x="295721" y="84201"/>
                  <a:pt x="308534" y="93342"/>
                </a:cubicBezTo>
                <a:cubicBezTo>
                  <a:pt x="321347" y="102482"/>
                  <a:pt x="333419" y="112418"/>
                  <a:pt x="346403" y="121310"/>
                </a:cubicBezTo>
                <a:cubicBezTo>
                  <a:pt x="359444" y="130251"/>
                  <a:pt x="373281" y="138249"/>
                  <a:pt x="386664" y="146794"/>
                </a:cubicBezTo>
                <a:cubicBezTo>
                  <a:pt x="399989" y="155388"/>
                  <a:pt x="413884" y="163435"/>
                  <a:pt x="426469" y="172774"/>
                </a:cubicBezTo>
                <a:cubicBezTo>
                  <a:pt x="439111" y="182114"/>
                  <a:pt x="453803" y="191254"/>
                  <a:pt x="462402" y="202779"/>
                </a:cubicBezTo>
                <a:cubicBezTo>
                  <a:pt x="471001" y="214353"/>
                  <a:pt x="481251" y="230697"/>
                  <a:pt x="478176" y="242073"/>
                </a:cubicBezTo>
                <a:cubicBezTo>
                  <a:pt x="475044" y="253399"/>
                  <a:pt x="457619" y="266067"/>
                  <a:pt x="443724" y="270885"/>
                </a:cubicBezTo>
                <a:cubicBezTo>
                  <a:pt x="429886" y="275753"/>
                  <a:pt x="410923" y="273121"/>
                  <a:pt x="394807" y="271084"/>
                </a:cubicBezTo>
                <a:cubicBezTo>
                  <a:pt x="378748" y="269047"/>
                  <a:pt x="362974" y="262987"/>
                  <a:pt x="347200" y="258615"/>
                </a:cubicBezTo>
                <a:cubicBezTo>
                  <a:pt x="331369" y="254244"/>
                  <a:pt x="315310" y="250220"/>
                  <a:pt x="299935" y="244855"/>
                </a:cubicBezTo>
                <a:cubicBezTo>
                  <a:pt x="284616" y="239539"/>
                  <a:pt x="270152" y="232535"/>
                  <a:pt x="255061" y="226574"/>
                </a:cubicBezTo>
                <a:cubicBezTo>
                  <a:pt x="239971" y="220613"/>
                  <a:pt x="224481" y="215347"/>
                  <a:pt x="209505" y="209137"/>
                </a:cubicBezTo>
                <a:cubicBezTo>
                  <a:pt x="194528" y="202978"/>
                  <a:pt x="179437" y="196768"/>
                  <a:pt x="165144" y="189466"/>
                </a:cubicBezTo>
                <a:cubicBezTo>
                  <a:pt x="150850" y="182163"/>
                  <a:pt x="137354" y="173619"/>
                  <a:pt x="123858" y="165224"/>
                </a:cubicBezTo>
                <a:cubicBezTo>
                  <a:pt x="110361" y="156878"/>
                  <a:pt x="96751" y="148483"/>
                  <a:pt x="84109" y="139143"/>
                </a:cubicBezTo>
                <a:cubicBezTo>
                  <a:pt x="71467" y="129854"/>
                  <a:pt x="59224" y="119919"/>
                  <a:pt x="47949" y="109437"/>
                </a:cubicBezTo>
                <a:cubicBezTo>
                  <a:pt x="36616" y="98906"/>
                  <a:pt x="23803" y="88374"/>
                  <a:pt x="16287" y="76054"/>
                </a:cubicBezTo>
                <a:cubicBezTo>
                  <a:pt x="8827" y="63784"/>
                  <a:pt x="0" y="47640"/>
                  <a:pt x="3018" y="35519"/>
                </a:cubicBezTo>
                <a:cubicBezTo>
                  <a:pt x="6036" y="23447"/>
                  <a:pt x="21355" y="7104"/>
                  <a:pt x="34509" y="3577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35000"/>
                </a:srgbClr>
              </a:gs>
              <a:gs pos="30000">
                <a:srgbClr val="F3FBFF">
                  <a:alpha val="13000"/>
                </a:srgbClr>
              </a:gs>
              <a:gs pos="100000">
                <a:srgbClr val="DBF2FF">
                  <a:alpha val="0"/>
                </a:srgbClr>
              </a:gs>
            </a:gsLst>
            <a:path path="circle">
              <a:fillToRect l="27000" t="18000" r="73000" b="82000"/>
            </a:path>
            <a:tileRect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artery_endothelial_nucleus_385"/>
          <p:cNvSpPr/>
          <p:nvPr/>
        </p:nvSpPr>
        <p:spPr>
          <a:xfrm>
            <a:off x="11788339" y="3834469"/>
            <a:ext cx="144243" cy="106380"/>
          </a:xfrm>
          <a:custGeom>
            <a:avLst/>
            <a:gdLst/>
            <a:ahLst/>
            <a:cxnLst/>
            <a:rect l="0" t="0" r="r" b="b"/>
            <a:pathLst>
              <a:path w="144243" h="106380">
                <a:moveTo>
                  <a:pt x="18114" y="4483"/>
                </a:moveTo>
                <a:cubicBezTo>
                  <a:pt x="26232" y="0"/>
                  <a:pt x="39620" y="1333"/>
                  <a:pt x="50040" y="2484"/>
                </a:cubicBezTo>
                <a:cubicBezTo>
                  <a:pt x="60460" y="3635"/>
                  <a:pt x="70698" y="7633"/>
                  <a:pt x="80633" y="11329"/>
                </a:cubicBezTo>
                <a:cubicBezTo>
                  <a:pt x="90568" y="15024"/>
                  <a:pt x="101049" y="18720"/>
                  <a:pt x="109712" y="24656"/>
                </a:cubicBezTo>
                <a:cubicBezTo>
                  <a:pt x="118375" y="30593"/>
                  <a:pt x="127099" y="38348"/>
                  <a:pt x="132672" y="47011"/>
                </a:cubicBezTo>
                <a:cubicBezTo>
                  <a:pt x="138185" y="55734"/>
                  <a:pt x="144243" y="67669"/>
                  <a:pt x="142971" y="76756"/>
                </a:cubicBezTo>
                <a:cubicBezTo>
                  <a:pt x="141638" y="85904"/>
                  <a:pt x="133036" y="97111"/>
                  <a:pt x="124676" y="101715"/>
                </a:cubicBezTo>
                <a:cubicBezTo>
                  <a:pt x="116376" y="106380"/>
                  <a:pt x="103472" y="105411"/>
                  <a:pt x="93052" y="104442"/>
                </a:cubicBezTo>
                <a:cubicBezTo>
                  <a:pt x="82572" y="103533"/>
                  <a:pt x="72031" y="99959"/>
                  <a:pt x="62156" y="96021"/>
                </a:cubicBezTo>
                <a:cubicBezTo>
                  <a:pt x="52342" y="92083"/>
                  <a:pt x="42528" y="86994"/>
                  <a:pt x="33925" y="80876"/>
                </a:cubicBezTo>
                <a:cubicBezTo>
                  <a:pt x="25323" y="74757"/>
                  <a:pt x="16054" y="67911"/>
                  <a:pt x="10602" y="59309"/>
                </a:cubicBezTo>
                <a:cubicBezTo>
                  <a:pt x="5149" y="50767"/>
                  <a:pt x="0" y="38529"/>
                  <a:pt x="1272" y="29382"/>
                </a:cubicBezTo>
                <a:cubicBezTo>
                  <a:pt x="2544" y="20234"/>
                  <a:pt x="9996" y="8966"/>
                  <a:pt x="18114" y="4483"/>
                </a:cubicBezTo>
                <a:close/>
              </a:path>
            </a:pathLst>
          </a:custGeom>
          <a:gradFill rotWithShape="1">
            <a:gsLst>
              <a:gs pos="0">
                <a:srgbClr val="8ABDDD"/>
              </a:gs>
              <a:gs pos="28000">
                <a:srgbClr val="639AC7"/>
              </a:gs>
              <a:gs pos="64000">
                <a:srgbClr val="3F78AD"/>
              </a:gs>
              <a:gs pos="100000">
                <a:srgbClr val="2D5B8C"/>
              </a:gs>
            </a:gsLst>
            <a:path path="circle">
              <a:fillToRect l="27000" t="22000" r="73000" b="78000"/>
            </a:path>
            <a:tileRect/>
          </a:gradFill>
          <a:ln w="5149" cap="rnd">
            <a:solidFill>
              <a:srgbClr val="32639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artery_longitudinal_cut_386"/>
          <p:cNvSpPr/>
          <p:nvPr/>
        </p:nvSpPr>
        <p:spPr>
          <a:xfrm>
            <a:off x="12288738" y="3106590"/>
            <a:ext cx="1023818" cy="3265312"/>
          </a:xfrm>
          <a:custGeom>
            <a:avLst/>
            <a:gdLst/>
            <a:ahLst/>
            <a:cxnLst/>
            <a:rect l="0" t="0" r="r" b="b"/>
            <a:pathLst>
              <a:path w="1023818" h="3265312">
                <a:moveTo>
                  <a:pt x="708797" y="0"/>
                </a:moveTo>
                <a:cubicBezTo>
                  <a:pt x="605809" y="405892"/>
                  <a:pt x="551286" y="799668"/>
                  <a:pt x="569461" y="1181328"/>
                </a:cubicBezTo>
                <a:cubicBezTo>
                  <a:pt x="593693" y="1811369"/>
                  <a:pt x="769378" y="2368714"/>
                  <a:pt x="926888" y="2841245"/>
                </a:cubicBezTo>
                <a:cubicBezTo>
                  <a:pt x="999585" y="3047220"/>
                  <a:pt x="1023818" y="3210789"/>
                  <a:pt x="975353" y="3265312"/>
                </a:cubicBezTo>
                <a:cubicBezTo>
                  <a:pt x="648216" y="3083569"/>
                  <a:pt x="393776" y="2823071"/>
                  <a:pt x="236266" y="2520166"/>
                </a:cubicBezTo>
                <a:cubicBezTo>
                  <a:pt x="60581" y="2217262"/>
                  <a:pt x="0" y="1920415"/>
                  <a:pt x="48465" y="1617511"/>
                </a:cubicBezTo>
                <a:cubicBezTo>
                  <a:pt x="78755" y="1381245"/>
                  <a:pt x="127220" y="1211618"/>
                  <a:pt x="187801" y="1017759"/>
                </a:cubicBezTo>
                <a:cubicBezTo>
                  <a:pt x="248382" y="793610"/>
                  <a:pt x="296847" y="581577"/>
                  <a:pt x="363486" y="399834"/>
                </a:cubicBezTo>
                <a:close/>
              </a:path>
            </a:pathLst>
          </a:custGeom>
          <a:gradFill rotWithShape="1">
            <a:gsLst>
              <a:gs pos="0">
                <a:srgbClr val="F7DDD0"/>
              </a:gs>
              <a:gs pos="18000">
                <a:srgbClr val="EDC0B5"/>
              </a:gs>
              <a:gs pos="38000">
                <a:srgbClr val="EEE2EF"/>
              </a:gs>
              <a:gs pos="76000">
                <a:srgbClr val="E3D6ED"/>
              </a:gs>
              <a:gs pos="100000">
                <a:srgbClr val="F8EAE3"/>
              </a:gs>
            </a:gsLst>
            <a:lin ang="0" scaled="1"/>
          </a:gradFill>
          <a:ln w="6058" cap="rnd">
            <a:solidFill>
              <a:srgbClr val="AA8DA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artery_cutface_long_collagen_387"/>
          <p:cNvSpPr/>
          <p:nvPr/>
        </p:nvSpPr>
        <p:spPr>
          <a:xfrm>
            <a:off x="12322590" y="3514753"/>
            <a:ext cx="899702" cy="2832555"/>
          </a:xfrm>
          <a:custGeom>
            <a:avLst/>
            <a:gdLst/>
            <a:ahLst/>
            <a:cxnLst/>
            <a:rect l="0" t="0" r="r" b="b"/>
            <a:pathLst>
              <a:path w="899702" h="2832555">
                <a:moveTo>
                  <a:pt x="330190" y="0"/>
                </a:moveTo>
                <a:cubicBezTo>
                  <a:pt x="320920" y="32426"/>
                  <a:pt x="283337" y="160627"/>
                  <a:pt x="265300" y="226984"/>
                </a:cubicBezTo>
                <a:cubicBezTo>
                  <a:pt x="247263" y="293341"/>
                  <a:pt x="223177" y="395690"/>
                  <a:pt x="203930" y="464499"/>
                </a:cubicBezTo>
                <a:cubicBezTo>
                  <a:pt x="184682" y="533307"/>
                  <a:pt x="150773" y="639003"/>
                  <a:pt x="130565" y="708643"/>
                </a:cubicBezTo>
                <a:cubicBezTo>
                  <a:pt x="110358" y="778282"/>
                  <a:pt x="78212" y="882580"/>
                  <a:pt x="62475" y="951975"/>
                </a:cubicBezTo>
                <a:cubicBezTo>
                  <a:pt x="46739" y="1021371"/>
                  <a:pt x="28826" y="1124748"/>
                  <a:pt x="20408" y="1194413"/>
                </a:cubicBezTo>
                <a:cubicBezTo>
                  <a:pt x="11990" y="1264077"/>
                  <a:pt x="0" y="1370657"/>
                  <a:pt x="3547" y="1439627"/>
                </a:cubicBezTo>
                <a:cubicBezTo>
                  <a:pt x="7094" y="1508597"/>
                  <a:pt x="27298" y="1610539"/>
                  <a:pt x="45238" y="1677203"/>
                </a:cubicBezTo>
                <a:cubicBezTo>
                  <a:pt x="63178" y="1743868"/>
                  <a:pt x="102048" y="1841771"/>
                  <a:pt x="129124" y="1906279"/>
                </a:cubicBezTo>
                <a:cubicBezTo>
                  <a:pt x="156201" y="1970788"/>
                  <a:pt x="202433" y="2066384"/>
                  <a:pt x="234774" y="2128763"/>
                </a:cubicBezTo>
                <a:cubicBezTo>
                  <a:pt x="267116" y="2191142"/>
                  <a:pt x="315693" y="2285507"/>
                  <a:pt x="355514" y="2342931"/>
                </a:cubicBezTo>
                <a:cubicBezTo>
                  <a:pt x="395335" y="2400356"/>
                  <a:pt x="464729" y="2480566"/>
                  <a:pt x="513521" y="2530735"/>
                </a:cubicBezTo>
                <a:cubicBezTo>
                  <a:pt x="562314" y="2580904"/>
                  <a:pt x="641893" y="2650996"/>
                  <a:pt x="697061" y="2694113"/>
                </a:cubicBezTo>
                <a:cubicBezTo>
                  <a:pt x="752230" y="2737230"/>
                  <a:pt x="870754" y="2812778"/>
                  <a:pt x="899702" y="2832555"/>
                </a:cubicBezTo>
              </a:path>
            </a:pathLst>
          </a:custGeom>
          <a:noFill/>
          <a:ln w="3331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artery_cutface_long_collagen_388"/>
          <p:cNvSpPr/>
          <p:nvPr/>
        </p:nvSpPr>
        <p:spPr>
          <a:xfrm>
            <a:off x="12356739" y="3524487"/>
            <a:ext cx="847310" cy="2810609"/>
          </a:xfrm>
          <a:custGeom>
            <a:avLst/>
            <a:gdLst/>
            <a:ahLst/>
            <a:cxnLst/>
            <a:rect l="0" t="0" r="r" b="b"/>
            <a:pathLst>
              <a:path w="847310" h="2810609">
                <a:moveTo>
                  <a:pt x="302205" y="0"/>
                </a:moveTo>
                <a:cubicBezTo>
                  <a:pt x="292162" y="33413"/>
                  <a:pt x="252159" y="165401"/>
                  <a:pt x="231907" y="233889"/>
                </a:cubicBezTo>
                <a:cubicBezTo>
                  <a:pt x="211656" y="302376"/>
                  <a:pt x="181127" y="410059"/>
                  <a:pt x="160444" y="479414"/>
                </a:cubicBezTo>
                <a:cubicBezTo>
                  <a:pt x="139761" y="548770"/>
                  <a:pt x="105207" y="652283"/>
                  <a:pt x="87128" y="719375"/>
                </a:cubicBezTo>
                <a:cubicBezTo>
                  <a:pt x="69049" y="786467"/>
                  <a:pt x="44931" y="883585"/>
                  <a:pt x="33891" y="949058"/>
                </a:cubicBezTo>
                <a:cubicBezTo>
                  <a:pt x="22852" y="1014531"/>
                  <a:pt x="14476" y="1110987"/>
                  <a:pt x="9852" y="1177689"/>
                </a:cubicBezTo>
                <a:cubicBezTo>
                  <a:pt x="5227" y="1244391"/>
                  <a:pt x="0" y="1346591"/>
                  <a:pt x="1518" y="1415972"/>
                </a:cubicBezTo>
                <a:cubicBezTo>
                  <a:pt x="3035" y="1485354"/>
                  <a:pt x="9339" y="1593856"/>
                  <a:pt x="20474" y="1663362"/>
                </a:cubicBezTo>
                <a:cubicBezTo>
                  <a:pt x="31610" y="1732867"/>
                  <a:pt x="55559" y="1837450"/>
                  <a:pt x="79468" y="1902513"/>
                </a:cubicBezTo>
                <a:cubicBezTo>
                  <a:pt x="103377" y="1967576"/>
                  <a:pt x="152262" y="2059690"/>
                  <a:pt x="187839" y="2118801"/>
                </a:cubicBezTo>
                <a:cubicBezTo>
                  <a:pt x="223416" y="2177911"/>
                  <a:pt x="285463" y="2262074"/>
                  <a:pt x="328507" y="2316288"/>
                </a:cubicBezTo>
                <a:cubicBezTo>
                  <a:pt x="371552" y="2370502"/>
                  <a:pt x="441844" y="2448295"/>
                  <a:pt x="489151" y="2498298"/>
                </a:cubicBezTo>
                <a:cubicBezTo>
                  <a:pt x="536457" y="2548302"/>
                  <a:pt x="608488" y="2621695"/>
                  <a:pt x="659653" y="2666311"/>
                </a:cubicBezTo>
                <a:cubicBezTo>
                  <a:pt x="710819" y="2710927"/>
                  <a:pt x="820502" y="2789995"/>
                  <a:pt x="847310" y="2810609"/>
                </a:cubicBezTo>
              </a:path>
            </a:pathLst>
          </a:custGeom>
          <a:noFill/>
          <a:ln w="3937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artery_cutface_long_collagen_389"/>
          <p:cNvSpPr/>
          <p:nvPr/>
        </p:nvSpPr>
        <p:spPr>
          <a:xfrm>
            <a:off x="12342563" y="3544608"/>
            <a:ext cx="849206" cy="2775514"/>
          </a:xfrm>
          <a:custGeom>
            <a:avLst/>
            <a:gdLst/>
            <a:ahLst/>
            <a:cxnLst/>
            <a:rect l="0" t="0" r="r" b="b"/>
            <a:pathLst>
              <a:path w="849206" h="2775514">
                <a:moveTo>
                  <a:pt x="314072" y="0"/>
                </a:moveTo>
                <a:cubicBezTo>
                  <a:pt x="302910" y="34587"/>
                  <a:pt x="256356" y="173805"/>
                  <a:pt x="235944" y="242110"/>
                </a:cubicBezTo>
                <a:cubicBezTo>
                  <a:pt x="215532" y="310414"/>
                  <a:pt x="187942" y="413127"/>
                  <a:pt x="171186" y="478131"/>
                </a:cubicBezTo>
                <a:cubicBezTo>
                  <a:pt x="154430" y="543135"/>
                  <a:pt x="132347" y="634015"/>
                  <a:pt x="118655" y="697137"/>
                </a:cubicBezTo>
                <a:cubicBezTo>
                  <a:pt x="104963" y="760260"/>
                  <a:pt x="87934" y="853610"/>
                  <a:pt x="75343" y="919987"/>
                </a:cubicBezTo>
                <a:cubicBezTo>
                  <a:pt x="62752" y="986363"/>
                  <a:pt x="41181" y="1091738"/>
                  <a:pt x="30520" y="1161772"/>
                </a:cubicBezTo>
                <a:cubicBezTo>
                  <a:pt x="19858" y="1231806"/>
                  <a:pt x="0" y="1341316"/>
                  <a:pt x="713" y="1410223"/>
                </a:cubicBezTo>
                <a:cubicBezTo>
                  <a:pt x="1426" y="1479130"/>
                  <a:pt x="17544" y="1579888"/>
                  <a:pt x="35512" y="1644122"/>
                </a:cubicBezTo>
                <a:cubicBezTo>
                  <a:pt x="53479" y="1708355"/>
                  <a:pt x="98258" y="1798707"/>
                  <a:pt x="126486" y="1859855"/>
                </a:cubicBezTo>
                <a:cubicBezTo>
                  <a:pt x="154715" y="1921003"/>
                  <a:pt x="202485" y="2011465"/>
                  <a:pt x="233109" y="2072157"/>
                </a:cubicBezTo>
                <a:cubicBezTo>
                  <a:pt x="263733" y="2132849"/>
                  <a:pt x="305240" y="2227306"/>
                  <a:pt x="340857" y="2284696"/>
                </a:cubicBezTo>
                <a:cubicBezTo>
                  <a:pt x="376473" y="2342086"/>
                  <a:pt x="436747" y="2424050"/>
                  <a:pt x="482424" y="2473888"/>
                </a:cubicBezTo>
                <a:cubicBezTo>
                  <a:pt x="528100" y="2523726"/>
                  <a:pt x="608193" y="2590473"/>
                  <a:pt x="660591" y="2633562"/>
                </a:cubicBezTo>
                <a:cubicBezTo>
                  <a:pt x="712988" y="2676652"/>
                  <a:pt x="822261" y="2755235"/>
                  <a:pt x="849206" y="2775514"/>
                </a:cubicBezTo>
              </a:path>
            </a:pathLst>
          </a:custGeom>
          <a:noFill/>
          <a:ln w="4543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2" name="artery_cutface_long_collagen_390"/>
          <p:cNvSpPr/>
          <p:nvPr/>
        </p:nvSpPr>
        <p:spPr>
          <a:xfrm>
            <a:off x="12379948" y="3571674"/>
            <a:ext cx="847959" cy="2773788"/>
          </a:xfrm>
          <a:custGeom>
            <a:avLst/>
            <a:gdLst/>
            <a:ahLst/>
            <a:cxnLst/>
            <a:rect l="0" t="0" r="r" b="b"/>
            <a:pathLst>
              <a:path w="847959" h="2773788">
                <a:moveTo>
                  <a:pt x="268685" y="0"/>
                </a:moveTo>
                <a:cubicBezTo>
                  <a:pt x="258292" y="34184"/>
                  <a:pt x="215083" y="171645"/>
                  <a:pt x="195932" y="239291"/>
                </a:cubicBezTo>
                <a:cubicBezTo>
                  <a:pt x="176781" y="306937"/>
                  <a:pt x="151635" y="407916"/>
                  <a:pt x="134627" y="473522"/>
                </a:cubicBezTo>
                <a:cubicBezTo>
                  <a:pt x="117619" y="539128"/>
                  <a:pt x="90960" y="634234"/>
                  <a:pt x="76876" y="698534"/>
                </a:cubicBezTo>
                <a:cubicBezTo>
                  <a:pt x="62792" y="762834"/>
                  <a:pt x="45509" y="858258"/>
                  <a:pt x="36041" y="923622"/>
                </a:cubicBezTo>
                <a:cubicBezTo>
                  <a:pt x="26573" y="988985"/>
                  <a:pt x="15391" y="1088320"/>
                  <a:pt x="10600" y="1156079"/>
                </a:cubicBezTo>
                <a:cubicBezTo>
                  <a:pt x="5809" y="1223838"/>
                  <a:pt x="0" y="1328531"/>
                  <a:pt x="2504" y="1397936"/>
                </a:cubicBezTo>
                <a:cubicBezTo>
                  <a:pt x="5008" y="1467342"/>
                  <a:pt x="14920" y="1573805"/>
                  <a:pt x="28127" y="1641915"/>
                </a:cubicBezTo>
                <a:cubicBezTo>
                  <a:pt x="41335" y="1710025"/>
                  <a:pt x="70153" y="1810862"/>
                  <a:pt x="94956" y="1874708"/>
                </a:cubicBezTo>
                <a:cubicBezTo>
                  <a:pt x="119758" y="1938554"/>
                  <a:pt x="167054" y="2030134"/>
                  <a:pt x="201744" y="2088837"/>
                </a:cubicBezTo>
                <a:cubicBezTo>
                  <a:pt x="236433" y="2147540"/>
                  <a:pt x="295542" y="2231969"/>
                  <a:pt x="337781" y="2285627"/>
                </a:cubicBezTo>
                <a:cubicBezTo>
                  <a:pt x="380019" y="2339285"/>
                  <a:pt x="450044" y="2415523"/>
                  <a:pt x="497410" y="2464443"/>
                </a:cubicBezTo>
                <a:cubicBezTo>
                  <a:pt x="544777" y="2513363"/>
                  <a:pt x="619268" y="2583872"/>
                  <a:pt x="669347" y="2628064"/>
                </a:cubicBezTo>
                <a:cubicBezTo>
                  <a:pt x="719425" y="2672256"/>
                  <a:pt x="822443" y="2752970"/>
                  <a:pt x="847959" y="2773788"/>
                </a:cubicBezTo>
              </a:path>
            </a:pathLst>
          </a:custGeom>
          <a:noFill/>
          <a:ln w="3331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3" name="artery_cutface_long_collagen_391"/>
          <p:cNvSpPr/>
          <p:nvPr/>
        </p:nvSpPr>
        <p:spPr>
          <a:xfrm>
            <a:off x="12365707" y="3484667"/>
            <a:ext cx="845696" cy="2847682"/>
          </a:xfrm>
          <a:custGeom>
            <a:avLst/>
            <a:gdLst/>
            <a:ahLst/>
            <a:cxnLst/>
            <a:rect l="0" t="0" r="r" b="b"/>
            <a:pathLst>
              <a:path w="845696" h="2847682">
                <a:moveTo>
                  <a:pt x="313224" y="0"/>
                </a:moveTo>
                <a:cubicBezTo>
                  <a:pt x="302433" y="34187"/>
                  <a:pt x="256095" y="172344"/>
                  <a:pt x="237686" y="239310"/>
                </a:cubicBezTo>
                <a:cubicBezTo>
                  <a:pt x="219277" y="306276"/>
                  <a:pt x="199227" y="403686"/>
                  <a:pt x="184361" y="468760"/>
                </a:cubicBezTo>
                <a:cubicBezTo>
                  <a:pt x="169496" y="533833"/>
                  <a:pt x="148744" y="628634"/>
                  <a:pt x="133628" y="694824"/>
                </a:cubicBezTo>
                <a:cubicBezTo>
                  <a:pt x="118512" y="761013"/>
                  <a:pt x="93620" y="862344"/>
                  <a:pt x="78548" y="932088"/>
                </a:cubicBezTo>
                <a:cubicBezTo>
                  <a:pt x="63476" y="1001833"/>
                  <a:pt x="39191" y="1111252"/>
                  <a:pt x="28125" y="1183032"/>
                </a:cubicBezTo>
                <a:cubicBezTo>
                  <a:pt x="17060" y="1254812"/>
                  <a:pt x="0" y="1364407"/>
                  <a:pt x="1089" y="1434550"/>
                </a:cubicBezTo>
                <a:cubicBezTo>
                  <a:pt x="2178" y="1504694"/>
                  <a:pt x="18307" y="1607786"/>
                  <a:pt x="35748" y="1674037"/>
                </a:cubicBezTo>
                <a:cubicBezTo>
                  <a:pt x="53188" y="1740288"/>
                  <a:pt x="95012" y="1835205"/>
                  <a:pt x="123172" y="1898307"/>
                </a:cubicBezTo>
                <a:cubicBezTo>
                  <a:pt x="151332" y="1961408"/>
                  <a:pt x="201014" y="2053782"/>
                  <a:pt x="232871" y="2115747"/>
                </a:cubicBezTo>
                <a:cubicBezTo>
                  <a:pt x="264728" y="2177712"/>
                  <a:pt x="310234" y="2272822"/>
                  <a:pt x="346169" y="2332062"/>
                </a:cubicBezTo>
                <a:cubicBezTo>
                  <a:pt x="382104" y="2391302"/>
                  <a:pt x="440118" y="2477772"/>
                  <a:pt x="484415" y="2530427"/>
                </a:cubicBezTo>
                <a:cubicBezTo>
                  <a:pt x="528711" y="2583082"/>
                  <a:pt x="604633" y="2655323"/>
                  <a:pt x="656245" y="2700645"/>
                </a:cubicBezTo>
                <a:cubicBezTo>
                  <a:pt x="707856" y="2745968"/>
                  <a:pt x="818632" y="2826677"/>
                  <a:pt x="845696" y="2847682"/>
                </a:cubicBezTo>
              </a:path>
            </a:pathLst>
          </a:custGeom>
          <a:noFill/>
          <a:ln w="3937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4" name="artery_cutface_long_collagen_392"/>
          <p:cNvSpPr/>
          <p:nvPr/>
        </p:nvSpPr>
        <p:spPr>
          <a:xfrm>
            <a:off x="12391598" y="3508725"/>
            <a:ext cx="802620" cy="2810399"/>
          </a:xfrm>
          <a:custGeom>
            <a:avLst/>
            <a:gdLst/>
            <a:ahLst/>
            <a:cxnLst/>
            <a:rect l="0" t="0" r="r" b="b"/>
            <a:pathLst>
              <a:path w="802620" h="2810399">
                <a:moveTo>
                  <a:pt x="281193" y="0"/>
                </a:moveTo>
                <a:cubicBezTo>
                  <a:pt x="272734" y="31711"/>
                  <a:pt x="237209" y="158467"/>
                  <a:pt x="221980" y="221980"/>
                </a:cubicBezTo>
                <a:cubicBezTo>
                  <a:pt x="206751" y="285494"/>
                  <a:pt x="190689" y="378824"/>
                  <a:pt x="174587" y="444593"/>
                </a:cubicBezTo>
                <a:cubicBezTo>
                  <a:pt x="158484" y="510362"/>
                  <a:pt x="128502" y="613206"/>
                  <a:pt x="109261" y="682366"/>
                </a:cubicBezTo>
                <a:cubicBezTo>
                  <a:pt x="90020" y="751525"/>
                  <a:pt x="54907" y="859585"/>
                  <a:pt x="39901" y="928710"/>
                </a:cubicBezTo>
                <a:cubicBezTo>
                  <a:pt x="24894" y="997835"/>
                  <a:pt x="8427" y="1099671"/>
                  <a:pt x="4214" y="1166240"/>
                </a:cubicBezTo>
                <a:cubicBezTo>
                  <a:pt x="0" y="1232810"/>
                  <a:pt x="4294" y="1328500"/>
                  <a:pt x="10405" y="1394699"/>
                </a:cubicBezTo>
                <a:cubicBezTo>
                  <a:pt x="16516" y="1460897"/>
                  <a:pt x="34321" y="1561726"/>
                  <a:pt x="46989" y="1629629"/>
                </a:cubicBezTo>
                <a:cubicBezTo>
                  <a:pt x="59657" y="1697532"/>
                  <a:pt x="78865" y="1803555"/>
                  <a:pt x="99080" y="1870019"/>
                </a:cubicBezTo>
                <a:cubicBezTo>
                  <a:pt x="119295" y="1936483"/>
                  <a:pt x="157138" y="2033960"/>
                  <a:pt x="188496" y="2094880"/>
                </a:cubicBezTo>
                <a:cubicBezTo>
                  <a:pt x="219854" y="2155800"/>
                  <a:pt x="277880" y="2241369"/>
                  <a:pt x="318587" y="2296457"/>
                </a:cubicBezTo>
                <a:cubicBezTo>
                  <a:pt x="359293" y="2351545"/>
                  <a:pt x="428639" y="2429215"/>
                  <a:pt x="473441" y="2480496"/>
                </a:cubicBezTo>
                <a:cubicBezTo>
                  <a:pt x="518242" y="2531777"/>
                  <a:pt x="585172" y="2608294"/>
                  <a:pt x="632197" y="2655423"/>
                </a:cubicBezTo>
                <a:cubicBezTo>
                  <a:pt x="679223" y="2702552"/>
                  <a:pt x="778274" y="2788260"/>
                  <a:pt x="802620" y="2810399"/>
                </a:cubicBezTo>
              </a:path>
            </a:pathLst>
          </a:custGeom>
          <a:noFill/>
          <a:ln w="4543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5" name="artery_cutface_long_collagen_393"/>
          <p:cNvSpPr/>
          <p:nvPr/>
        </p:nvSpPr>
        <p:spPr>
          <a:xfrm>
            <a:off x="12389092" y="3523008"/>
            <a:ext cx="840615" cy="2821862"/>
          </a:xfrm>
          <a:custGeom>
            <a:avLst/>
            <a:gdLst/>
            <a:ahLst/>
            <a:cxnLst/>
            <a:rect l="0" t="0" r="r" b="b"/>
            <a:pathLst>
              <a:path w="840615" h="2821862">
                <a:moveTo>
                  <a:pt x="286708" y="0"/>
                </a:moveTo>
                <a:cubicBezTo>
                  <a:pt x="278560" y="31975"/>
                  <a:pt x="245136" y="159138"/>
                  <a:pt x="229671" y="223823"/>
                </a:cubicBezTo>
                <a:cubicBezTo>
                  <a:pt x="214205" y="288509"/>
                  <a:pt x="194521" y="386390"/>
                  <a:pt x="178450" y="452797"/>
                </a:cubicBezTo>
                <a:cubicBezTo>
                  <a:pt x="162378" y="519204"/>
                  <a:pt x="134476" y="620107"/>
                  <a:pt x="117170" y="688674"/>
                </a:cubicBezTo>
                <a:cubicBezTo>
                  <a:pt x="99865" y="757241"/>
                  <a:pt x="72034" y="862593"/>
                  <a:pt x="57309" y="932766"/>
                </a:cubicBezTo>
                <a:cubicBezTo>
                  <a:pt x="42584" y="1002939"/>
                  <a:pt x="21532" y="1109844"/>
                  <a:pt x="14095" y="1179885"/>
                </a:cubicBezTo>
                <a:cubicBezTo>
                  <a:pt x="6658" y="1249925"/>
                  <a:pt x="0" y="1354913"/>
                  <a:pt x="5249" y="1423050"/>
                </a:cubicBezTo>
                <a:cubicBezTo>
                  <a:pt x="10499" y="1491187"/>
                  <a:pt x="31801" y="1591675"/>
                  <a:pt x="50841" y="1656841"/>
                </a:cubicBezTo>
                <a:cubicBezTo>
                  <a:pt x="69882" y="1722008"/>
                  <a:pt x="110497" y="1816728"/>
                  <a:pt x="138532" y="1879217"/>
                </a:cubicBezTo>
                <a:cubicBezTo>
                  <a:pt x="166568" y="1941706"/>
                  <a:pt x="214843" y="2033467"/>
                  <a:pt x="247089" y="2094264"/>
                </a:cubicBezTo>
                <a:cubicBezTo>
                  <a:pt x="279334" y="2155061"/>
                  <a:pt x="327986" y="2246779"/>
                  <a:pt x="364250" y="2304798"/>
                </a:cubicBezTo>
                <a:cubicBezTo>
                  <a:pt x="400515" y="2362817"/>
                  <a:pt x="458337" y="2447779"/>
                  <a:pt x="500940" y="2500395"/>
                </a:cubicBezTo>
                <a:cubicBezTo>
                  <a:pt x="543544" y="2553012"/>
                  <a:pt x="613951" y="2627190"/>
                  <a:pt x="662476" y="2673114"/>
                </a:cubicBezTo>
                <a:cubicBezTo>
                  <a:pt x="711001" y="2719038"/>
                  <a:pt x="815166" y="2800612"/>
                  <a:pt x="840615" y="2821862"/>
                </a:cubicBezTo>
              </a:path>
            </a:pathLst>
          </a:custGeom>
          <a:noFill/>
          <a:ln w="3331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6" name="artery_cutface_long_collagen_394"/>
          <p:cNvSpPr/>
          <p:nvPr/>
        </p:nvSpPr>
        <p:spPr>
          <a:xfrm>
            <a:off x="12423939" y="3530894"/>
            <a:ext cx="793822" cy="2799080"/>
          </a:xfrm>
          <a:custGeom>
            <a:avLst/>
            <a:gdLst/>
            <a:ahLst/>
            <a:cxnLst/>
            <a:rect l="0" t="0" r="r" b="b"/>
            <a:pathLst>
              <a:path w="793822" h="2799080">
                <a:moveTo>
                  <a:pt x="261218" y="0"/>
                </a:moveTo>
                <a:cubicBezTo>
                  <a:pt x="252987" y="32128"/>
                  <a:pt x="220786" y="158679"/>
                  <a:pt x="203603" y="224896"/>
                </a:cubicBezTo>
                <a:cubicBezTo>
                  <a:pt x="186420" y="291114"/>
                  <a:pt x="160014" y="395025"/>
                  <a:pt x="140939" y="463524"/>
                </a:cubicBezTo>
                <a:cubicBezTo>
                  <a:pt x="121865" y="532024"/>
                  <a:pt x="87519" y="636471"/>
                  <a:pt x="70082" y="704394"/>
                </a:cubicBezTo>
                <a:cubicBezTo>
                  <a:pt x="52644" y="772318"/>
                  <a:pt x="28747" y="872960"/>
                  <a:pt x="18878" y="938988"/>
                </a:cubicBezTo>
                <a:cubicBezTo>
                  <a:pt x="9009" y="1005016"/>
                  <a:pt x="1998" y="1101320"/>
                  <a:pt x="999" y="1166591"/>
                </a:cubicBezTo>
                <a:cubicBezTo>
                  <a:pt x="0" y="1231862"/>
                  <a:pt x="5347" y="1329350"/>
                  <a:pt x="11883" y="1395887"/>
                </a:cubicBezTo>
                <a:cubicBezTo>
                  <a:pt x="18420" y="1462425"/>
                  <a:pt x="33640" y="1564887"/>
                  <a:pt x="46756" y="1632353"/>
                </a:cubicBezTo>
                <a:cubicBezTo>
                  <a:pt x="59871" y="1699818"/>
                  <a:pt x="82645" y="1802859"/>
                  <a:pt x="103694" y="1868148"/>
                </a:cubicBezTo>
                <a:cubicBezTo>
                  <a:pt x="124744" y="1933437"/>
                  <a:pt x="163372" y="2029003"/>
                  <a:pt x="194104" y="2089378"/>
                </a:cubicBezTo>
                <a:cubicBezTo>
                  <a:pt x="224836" y="2149754"/>
                  <a:pt x="279254" y="2236020"/>
                  <a:pt x="318821" y="2290779"/>
                </a:cubicBezTo>
                <a:cubicBezTo>
                  <a:pt x="358388" y="2345537"/>
                  <a:pt x="426292" y="2422421"/>
                  <a:pt x="471074" y="2472686"/>
                </a:cubicBezTo>
                <a:cubicBezTo>
                  <a:pt x="515856" y="2522951"/>
                  <a:pt x="586187" y="2596008"/>
                  <a:pt x="632294" y="2642636"/>
                </a:cubicBezTo>
                <a:cubicBezTo>
                  <a:pt x="678401" y="2689263"/>
                  <a:pt x="770747" y="2776731"/>
                  <a:pt x="793822" y="2799080"/>
                </a:cubicBezTo>
              </a:path>
            </a:pathLst>
          </a:custGeom>
          <a:noFill/>
          <a:ln w="3937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7" name="artery_cutface_long_collagen_395"/>
          <p:cNvSpPr/>
          <p:nvPr/>
        </p:nvSpPr>
        <p:spPr>
          <a:xfrm>
            <a:off x="12430426" y="3433755"/>
            <a:ext cx="774205" cy="2881127"/>
          </a:xfrm>
          <a:custGeom>
            <a:avLst/>
            <a:gdLst/>
            <a:ahLst/>
            <a:cxnLst/>
            <a:rect l="0" t="0" r="r" b="b"/>
            <a:pathLst>
              <a:path w="774205" h="2881127">
                <a:moveTo>
                  <a:pt x="292758" y="0"/>
                </a:moveTo>
                <a:cubicBezTo>
                  <a:pt x="282761" y="33682"/>
                  <a:pt x="242963" y="166408"/>
                  <a:pt x="222780" y="235776"/>
                </a:cubicBezTo>
                <a:cubicBezTo>
                  <a:pt x="202598" y="305145"/>
                  <a:pt x="170523" y="415848"/>
                  <a:pt x="151481" y="485579"/>
                </a:cubicBezTo>
                <a:cubicBezTo>
                  <a:pt x="132439" y="555310"/>
                  <a:pt x="103826" y="657672"/>
                  <a:pt x="89488" y="723894"/>
                </a:cubicBezTo>
                <a:cubicBezTo>
                  <a:pt x="75150" y="790116"/>
                  <a:pt x="59984" y="883471"/>
                  <a:pt x="51114" y="949134"/>
                </a:cubicBezTo>
                <a:cubicBezTo>
                  <a:pt x="42244" y="1014798"/>
                  <a:pt x="34439" y="1114098"/>
                  <a:pt x="27399" y="1183538"/>
                </a:cubicBezTo>
                <a:cubicBezTo>
                  <a:pt x="20359" y="1252978"/>
                  <a:pt x="3672" y="1363449"/>
                  <a:pt x="1836" y="1435214"/>
                </a:cubicBezTo>
                <a:cubicBezTo>
                  <a:pt x="0" y="1506978"/>
                  <a:pt x="1833" y="1617488"/>
                  <a:pt x="14548" y="1685892"/>
                </a:cubicBezTo>
                <a:cubicBezTo>
                  <a:pt x="27263" y="1754296"/>
                  <a:pt x="63643" y="1851129"/>
                  <a:pt x="90841" y="1914040"/>
                </a:cubicBezTo>
                <a:cubicBezTo>
                  <a:pt x="118040" y="1976951"/>
                  <a:pt x="172748" y="2065207"/>
                  <a:pt x="204935" y="2126270"/>
                </a:cubicBezTo>
                <a:cubicBezTo>
                  <a:pt x="237122" y="2187332"/>
                  <a:pt x="282429" y="2281450"/>
                  <a:pt x="316150" y="2341478"/>
                </a:cubicBezTo>
                <a:cubicBezTo>
                  <a:pt x="349872" y="2401506"/>
                  <a:pt x="400482" y="2491761"/>
                  <a:pt x="440985" y="2546465"/>
                </a:cubicBezTo>
                <a:cubicBezTo>
                  <a:pt x="481488" y="2601170"/>
                  <a:pt x="552066" y="2676601"/>
                  <a:pt x="599669" y="2724410"/>
                </a:cubicBezTo>
                <a:cubicBezTo>
                  <a:pt x="647271" y="2772219"/>
                  <a:pt x="749271" y="2858739"/>
                  <a:pt x="774205" y="2881127"/>
                </a:cubicBezTo>
              </a:path>
            </a:pathLst>
          </a:custGeom>
          <a:noFill/>
          <a:ln w="4543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" name="artery_cutface_long_collagen_396"/>
          <p:cNvSpPr/>
          <p:nvPr/>
        </p:nvSpPr>
        <p:spPr>
          <a:xfrm>
            <a:off x="12456084" y="3452066"/>
            <a:ext cx="781108" cy="2890342"/>
          </a:xfrm>
          <a:custGeom>
            <a:avLst/>
            <a:gdLst/>
            <a:ahLst/>
            <a:cxnLst/>
            <a:rect l="0" t="0" r="r" b="b"/>
            <a:pathLst>
              <a:path w="781108" h="2890342">
                <a:moveTo>
                  <a:pt x="266481" y="0"/>
                </a:moveTo>
                <a:cubicBezTo>
                  <a:pt x="256014" y="34749"/>
                  <a:pt x="213184" y="173208"/>
                  <a:pt x="193217" y="243244"/>
                </a:cubicBezTo>
                <a:cubicBezTo>
                  <a:pt x="173250" y="313279"/>
                  <a:pt x="145180" y="420626"/>
                  <a:pt x="126713" y="490248"/>
                </a:cubicBezTo>
                <a:cubicBezTo>
                  <a:pt x="108246" y="559870"/>
                  <a:pt x="79247" y="662823"/>
                  <a:pt x="63948" y="730600"/>
                </a:cubicBezTo>
                <a:cubicBezTo>
                  <a:pt x="48649" y="798377"/>
                  <a:pt x="28466" y="897842"/>
                  <a:pt x="19621" y="964687"/>
                </a:cubicBezTo>
                <a:cubicBezTo>
                  <a:pt x="10776" y="1031532"/>
                  <a:pt x="4062" y="1130981"/>
                  <a:pt x="2031" y="1198516"/>
                </a:cubicBezTo>
                <a:cubicBezTo>
                  <a:pt x="0" y="1266052"/>
                  <a:pt x="450" y="1368396"/>
                  <a:pt x="5402" y="1437436"/>
                </a:cubicBezTo>
                <a:cubicBezTo>
                  <a:pt x="10355" y="1506477"/>
                  <a:pt x="23856" y="1612413"/>
                  <a:pt x="36700" y="1681799"/>
                </a:cubicBezTo>
                <a:cubicBezTo>
                  <a:pt x="49543" y="1751185"/>
                  <a:pt x="74114" y="1856005"/>
                  <a:pt x="95307" y="1923138"/>
                </a:cubicBezTo>
                <a:cubicBezTo>
                  <a:pt x="116500" y="1990270"/>
                  <a:pt x="155183" y="2088810"/>
                  <a:pt x="185049" y="2151725"/>
                </a:cubicBezTo>
                <a:cubicBezTo>
                  <a:pt x="214914" y="2214641"/>
                  <a:pt x="265921" y="2306064"/>
                  <a:pt x="304364" y="2363546"/>
                </a:cubicBezTo>
                <a:cubicBezTo>
                  <a:pt x="342806" y="2421029"/>
                  <a:pt x="409058" y="2501998"/>
                  <a:pt x="454145" y="2554101"/>
                </a:cubicBezTo>
                <a:cubicBezTo>
                  <a:pt x="499232" y="2606203"/>
                  <a:pt x="573266" y="2680229"/>
                  <a:pt x="619975" y="2728264"/>
                </a:cubicBezTo>
                <a:cubicBezTo>
                  <a:pt x="666684" y="2776298"/>
                  <a:pt x="758089" y="2867188"/>
                  <a:pt x="781108" y="2890342"/>
                </a:cubicBezTo>
              </a:path>
            </a:pathLst>
          </a:custGeom>
          <a:noFill/>
          <a:ln w="3331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9" name="artery_cutface_long_collagen_397"/>
          <p:cNvSpPr/>
          <p:nvPr/>
        </p:nvSpPr>
        <p:spPr>
          <a:xfrm>
            <a:off x="12450387" y="3480317"/>
            <a:ext cx="770874" cy="2848350"/>
          </a:xfrm>
          <a:custGeom>
            <a:avLst/>
            <a:gdLst/>
            <a:ahLst/>
            <a:cxnLst/>
            <a:rect l="0" t="0" r="r" b="b"/>
            <a:pathLst>
              <a:path w="770874" h="2848350">
                <a:moveTo>
                  <a:pt x="263292" y="0"/>
                </a:moveTo>
                <a:cubicBezTo>
                  <a:pt x="252844" y="34621"/>
                  <a:pt x="208466" y="174425"/>
                  <a:pt x="190155" y="242348"/>
                </a:cubicBezTo>
                <a:cubicBezTo>
                  <a:pt x="171844" y="310270"/>
                  <a:pt x="149447" y="410269"/>
                  <a:pt x="135112" y="475458"/>
                </a:cubicBezTo>
                <a:cubicBezTo>
                  <a:pt x="120777" y="540647"/>
                  <a:pt x="101465" y="634109"/>
                  <a:pt x="89808" y="698673"/>
                </a:cubicBezTo>
                <a:cubicBezTo>
                  <a:pt x="78151" y="763236"/>
                  <a:pt x="63337" y="860027"/>
                  <a:pt x="53513" y="927404"/>
                </a:cubicBezTo>
                <a:cubicBezTo>
                  <a:pt x="43688" y="994781"/>
                  <a:pt x="28522" y="1099848"/>
                  <a:pt x="21036" y="1170313"/>
                </a:cubicBezTo>
                <a:cubicBezTo>
                  <a:pt x="13549" y="1240777"/>
                  <a:pt x="0" y="1350285"/>
                  <a:pt x="1108" y="1420655"/>
                </a:cubicBezTo>
                <a:cubicBezTo>
                  <a:pt x="2215" y="1491025"/>
                  <a:pt x="13268" y="1596347"/>
                  <a:pt x="28789" y="1662904"/>
                </a:cubicBezTo>
                <a:cubicBezTo>
                  <a:pt x="44310" y="1729461"/>
                  <a:pt x="82342" y="1824450"/>
                  <a:pt x="109755" y="1886556"/>
                </a:cubicBezTo>
                <a:cubicBezTo>
                  <a:pt x="137168" y="1948662"/>
                  <a:pt x="188479" y="2037507"/>
                  <a:pt x="220682" y="2097643"/>
                </a:cubicBezTo>
                <a:cubicBezTo>
                  <a:pt x="252884" y="2157779"/>
                  <a:pt x="300937" y="2248791"/>
                  <a:pt x="335173" y="2307509"/>
                </a:cubicBezTo>
                <a:cubicBezTo>
                  <a:pt x="369409" y="2366227"/>
                  <a:pt x="421322" y="2454104"/>
                  <a:pt x="460334" y="2508668"/>
                </a:cubicBezTo>
                <a:cubicBezTo>
                  <a:pt x="499346" y="2563232"/>
                  <a:pt x="563893" y="2640929"/>
                  <a:pt x="608256" y="2689455"/>
                </a:cubicBezTo>
                <a:cubicBezTo>
                  <a:pt x="652619" y="2737981"/>
                  <a:pt x="747643" y="2825650"/>
                  <a:pt x="770874" y="2848350"/>
                </a:cubicBezTo>
              </a:path>
            </a:pathLst>
          </a:custGeom>
          <a:noFill/>
          <a:ln w="3937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artery_cutface_long_collagen_398"/>
          <p:cNvSpPr/>
          <p:nvPr/>
        </p:nvSpPr>
        <p:spPr>
          <a:xfrm>
            <a:off x="12456680" y="3509679"/>
            <a:ext cx="754392" cy="2802579"/>
          </a:xfrm>
          <a:custGeom>
            <a:avLst/>
            <a:gdLst/>
            <a:ahLst/>
            <a:cxnLst/>
            <a:rect l="0" t="0" r="r" b="b"/>
            <a:pathLst>
              <a:path w="754392" h="2802579">
                <a:moveTo>
                  <a:pt x="247478" y="0"/>
                </a:moveTo>
                <a:cubicBezTo>
                  <a:pt x="239052" y="32346"/>
                  <a:pt x="202763" y="162958"/>
                  <a:pt x="188496" y="226425"/>
                </a:cubicBezTo>
                <a:cubicBezTo>
                  <a:pt x="174229" y="289891"/>
                  <a:pt x="160666" y="380661"/>
                  <a:pt x="147609" y="444267"/>
                </a:cubicBezTo>
                <a:cubicBezTo>
                  <a:pt x="134552" y="507873"/>
                  <a:pt x="112433" y="604437"/>
                  <a:pt x="97098" y="671666"/>
                </a:cubicBezTo>
                <a:cubicBezTo>
                  <a:pt x="81763" y="738895"/>
                  <a:pt x="53591" y="845579"/>
                  <a:pt x="40263" y="914872"/>
                </a:cubicBezTo>
                <a:cubicBezTo>
                  <a:pt x="26936" y="984166"/>
                  <a:pt x="7607" y="1089482"/>
                  <a:pt x="3803" y="1156720"/>
                </a:cubicBezTo>
                <a:cubicBezTo>
                  <a:pt x="0" y="1223958"/>
                  <a:pt x="4886" y="1320779"/>
                  <a:pt x="13639" y="1385537"/>
                </a:cubicBezTo>
                <a:cubicBezTo>
                  <a:pt x="22393" y="1450294"/>
                  <a:pt x="48916" y="1545059"/>
                  <a:pt x="65077" y="1610022"/>
                </a:cubicBezTo>
                <a:cubicBezTo>
                  <a:pt x="81239" y="1674986"/>
                  <a:pt x="107051" y="1774971"/>
                  <a:pt x="126769" y="1840279"/>
                </a:cubicBezTo>
                <a:cubicBezTo>
                  <a:pt x="146488" y="1905588"/>
                  <a:pt x="176524" y="2005032"/>
                  <a:pt x="203105" y="2067180"/>
                </a:cubicBezTo>
                <a:cubicBezTo>
                  <a:pt x="229687" y="2129327"/>
                  <a:pt x="276562" y="2219115"/>
                  <a:pt x="312840" y="2275312"/>
                </a:cubicBezTo>
                <a:cubicBezTo>
                  <a:pt x="349118" y="2331509"/>
                  <a:pt x="414819" y="2409005"/>
                  <a:pt x="457048" y="2460557"/>
                </a:cubicBezTo>
                <a:cubicBezTo>
                  <a:pt x="499277" y="2512110"/>
                  <a:pt x="565964" y="2587319"/>
                  <a:pt x="608442" y="2636179"/>
                </a:cubicBezTo>
                <a:cubicBezTo>
                  <a:pt x="650920" y="2685039"/>
                  <a:pt x="733542" y="2778807"/>
                  <a:pt x="754392" y="2802579"/>
                </a:cubicBezTo>
              </a:path>
            </a:pathLst>
          </a:custGeom>
          <a:noFill/>
          <a:ln w="4543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1" name="artery_cutface_long_collagen_399"/>
          <p:cNvSpPr/>
          <p:nvPr/>
        </p:nvSpPr>
        <p:spPr>
          <a:xfrm>
            <a:off x="12471380" y="3417289"/>
            <a:ext cx="766832" cy="2924784"/>
          </a:xfrm>
          <a:custGeom>
            <a:avLst/>
            <a:gdLst/>
            <a:ahLst/>
            <a:cxnLst/>
            <a:rect l="0" t="0" r="r" b="b"/>
            <a:pathLst>
              <a:path w="766832" h="2924784">
                <a:moveTo>
                  <a:pt x="266116" y="0"/>
                </a:moveTo>
                <a:cubicBezTo>
                  <a:pt x="256775" y="33503"/>
                  <a:pt x="217006" y="167925"/>
                  <a:pt x="200731" y="234519"/>
                </a:cubicBezTo>
                <a:cubicBezTo>
                  <a:pt x="184455" y="301113"/>
                  <a:pt x="165913" y="399703"/>
                  <a:pt x="152187" y="466157"/>
                </a:cubicBezTo>
                <a:cubicBezTo>
                  <a:pt x="138461" y="532611"/>
                  <a:pt x="118143" y="631687"/>
                  <a:pt x="104649" y="699694"/>
                </a:cubicBezTo>
                <a:cubicBezTo>
                  <a:pt x="91155" y="767702"/>
                  <a:pt x="69815" y="871530"/>
                  <a:pt x="57728" y="942211"/>
                </a:cubicBezTo>
                <a:cubicBezTo>
                  <a:pt x="45641" y="1012892"/>
                  <a:pt x="28071" y="1122069"/>
                  <a:pt x="20039" y="1194462"/>
                </a:cubicBezTo>
                <a:cubicBezTo>
                  <a:pt x="12008" y="1266856"/>
                  <a:pt x="0" y="1377294"/>
                  <a:pt x="1508" y="1448966"/>
                </a:cubicBezTo>
                <a:cubicBezTo>
                  <a:pt x="3016" y="1520638"/>
                  <a:pt x="15326" y="1627700"/>
                  <a:pt x="30595" y="1696166"/>
                </a:cubicBezTo>
                <a:cubicBezTo>
                  <a:pt x="45864" y="1764632"/>
                  <a:pt x="81675" y="1863779"/>
                  <a:pt x="108393" y="1928227"/>
                </a:cubicBezTo>
                <a:cubicBezTo>
                  <a:pt x="135110" y="1992675"/>
                  <a:pt x="184941" y="2085434"/>
                  <a:pt x="217617" y="2147300"/>
                </a:cubicBezTo>
                <a:cubicBezTo>
                  <a:pt x="250293" y="2209166"/>
                  <a:pt x="301352" y="2301442"/>
                  <a:pt x="337124" y="2361290"/>
                </a:cubicBezTo>
                <a:cubicBezTo>
                  <a:pt x="372896" y="2421138"/>
                  <a:pt x="428492" y="2509906"/>
                  <a:pt x="468022" y="2566238"/>
                </a:cubicBezTo>
                <a:cubicBezTo>
                  <a:pt x="507551" y="2622570"/>
                  <a:pt x="571141" y="2704394"/>
                  <a:pt x="613828" y="2755615"/>
                </a:cubicBezTo>
                <a:cubicBezTo>
                  <a:pt x="656515" y="2806835"/>
                  <a:pt x="744974" y="2900617"/>
                  <a:pt x="766832" y="2924784"/>
                </a:cubicBezTo>
              </a:path>
            </a:pathLst>
          </a:custGeom>
          <a:noFill/>
          <a:ln w="3331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2" name="artery_cutface_long_collagen_400"/>
          <p:cNvSpPr/>
          <p:nvPr/>
        </p:nvSpPr>
        <p:spPr>
          <a:xfrm>
            <a:off x="12485780" y="3432182"/>
            <a:ext cx="745144" cy="2892876"/>
          </a:xfrm>
          <a:custGeom>
            <a:avLst/>
            <a:gdLst/>
            <a:ahLst/>
            <a:cxnLst/>
            <a:rect l="0" t="0" r="r" b="b"/>
            <a:pathLst>
              <a:path w="745144" h="2892876">
                <a:moveTo>
                  <a:pt x="254252" y="0"/>
                </a:moveTo>
                <a:cubicBezTo>
                  <a:pt x="246506" y="31880"/>
                  <a:pt x="214891" y="158104"/>
                  <a:pt x="200030" y="223162"/>
                </a:cubicBezTo>
                <a:cubicBezTo>
                  <a:pt x="185169" y="288219"/>
                  <a:pt x="166084" y="387350"/>
                  <a:pt x="150226" y="455405"/>
                </a:cubicBezTo>
                <a:cubicBezTo>
                  <a:pt x="134369" y="523461"/>
                  <a:pt x="106039" y="629172"/>
                  <a:pt x="89025" y="699550"/>
                </a:cubicBezTo>
                <a:cubicBezTo>
                  <a:pt x="72012" y="769929"/>
                  <a:pt x="43469" y="877939"/>
                  <a:pt x="31133" y="948053"/>
                </a:cubicBezTo>
                <a:cubicBezTo>
                  <a:pt x="18798" y="1018167"/>
                  <a:pt x="5352" y="1122304"/>
                  <a:pt x="2676" y="1190346"/>
                </a:cubicBezTo>
                <a:cubicBezTo>
                  <a:pt x="0" y="1258389"/>
                  <a:pt x="4374" y="1357589"/>
                  <a:pt x="12402" y="1424352"/>
                </a:cubicBezTo>
                <a:cubicBezTo>
                  <a:pt x="20430" y="1491115"/>
                  <a:pt x="43317" y="1590583"/>
                  <a:pt x="58871" y="1657687"/>
                </a:cubicBezTo>
                <a:cubicBezTo>
                  <a:pt x="74426" y="1724792"/>
                  <a:pt x="101197" y="1827068"/>
                  <a:pt x="121283" y="1894083"/>
                </a:cubicBezTo>
                <a:cubicBezTo>
                  <a:pt x="141369" y="1961097"/>
                  <a:pt x="173402" y="2062326"/>
                  <a:pt x="199474" y="2126789"/>
                </a:cubicBezTo>
                <a:cubicBezTo>
                  <a:pt x="225547" y="2191252"/>
                  <a:pt x="268985" y="2286192"/>
                  <a:pt x="303790" y="2345324"/>
                </a:cubicBezTo>
                <a:cubicBezTo>
                  <a:pt x="338595" y="2404457"/>
                  <a:pt x="400903" y="2487117"/>
                  <a:pt x="443110" y="2540717"/>
                </a:cubicBezTo>
                <a:cubicBezTo>
                  <a:pt x="485317" y="2594317"/>
                  <a:pt x="556092" y="2670217"/>
                  <a:pt x="599240" y="2720525"/>
                </a:cubicBezTo>
                <a:cubicBezTo>
                  <a:pt x="642387" y="2770834"/>
                  <a:pt x="724301" y="2868255"/>
                  <a:pt x="745144" y="2892876"/>
                </a:cubicBezTo>
              </a:path>
            </a:pathLst>
          </a:custGeom>
          <a:noFill/>
          <a:ln w="3937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" name="artery_cutface_long_collagen_401"/>
          <p:cNvSpPr/>
          <p:nvPr/>
        </p:nvSpPr>
        <p:spPr>
          <a:xfrm>
            <a:off x="12519056" y="3440155"/>
            <a:ext cx="697675" cy="2869797"/>
          </a:xfrm>
          <a:custGeom>
            <a:avLst/>
            <a:gdLst/>
            <a:ahLst/>
            <a:cxnLst/>
            <a:rect l="0" t="0" r="r" b="b"/>
            <a:pathLst>
              <a:path w="697675" h="2869797">
                <a:moveTo>
                  <a:pt x="230259" y="0"/>
                </a:moveTo>
                <a:cubicBezTo>
                  <a:pt x="222175" y="32330"/>
                  <a:pt x="190855" y="159063"/>
                  <a:pt x="173673" y="226308"/>
                </a:cubicBezTo>
                <a:cubicBezTo>
                  <a:pt x="156492" y="293553"/>
                  <a:pt x="128095" y="401207"/>
                  <a:pt x="109987" y="470715"/>
                </a:cubicBezTo>
                <a:cubicBezTo>
                  <a:pt x="91879" y="540223"/>
                  <a:pt x="60822" y="645683"/>
                  <a:pt x="46915" y="712865"/>
                </a:cubicBezTo>
                <a:cubicBezTo>
                  <a:pt x="33008" y="780047"/>
                  <a:pt x="18522" y="876038"/>
                  <a:pt x="12638" y="940988"/>
                </a:cubicBezTo>
                <a:cubicBezTo>
                  <a:pt x="6754" y="1005938"/>
                  <a:pt x="7347" y="1100717"/>
                  <a:pt x="5728" y="1167516"/>
                </a:cubicBezTo>
                <a:cubicBezTo>
                  <a:pt x="4109" y="1234315"/>
                  <a:pt x="0" y="1338598"/>
                  <a:pt x="1304" y="1408579"/>
                </a:cubicBezTo>
                <a:cubicBezTo>
                  <a:pt x="2607" y="1478561"/>
                  <a:pt x="4141" y="1588633"/>
                  <a:pt x="14854" y="1657387"/>
                </a:cubicBezTo>
                <a:cubicBezTo>
                  <a:pt x="25567" y="1726141"/>
                  <a:pt x="52177" y="1826556"/>
                  <a:pt x="76294" y="1889855"/>
                </a:cubicBezTo>
                <a:cubicBezTo>
                  <a:pt x="100411" y="1953155"/>
                  <a:pt x="151922" y="2040780"/>
                  <a:pt x="183673" y="2100485"/>
                </a:cubicBezTo>
                <a:cubicBezTo>
                  <a:pt x="215425" y="2160190"/>
                  <a:pt x="265616" y="2248842"/>
                  <a:pt x="298556" y="2307789"/>
                </a:cubicBezTo>
                <a:cubicBezTo>
                  <a:pt x="331497" y="2366736"/>
                  <a:pt x="378521" y="2456835"/>
                  <a:pt x="414257" y="2513116"/>
                </a:cubicBezTo>
                <a:cubicBezTo>
                  <a:pt x="449993" y="2569397"/>
                  <a:pt x="508219" y="2650802"/>
                  <a:pt x="548708" y="2701757"/>
                </a:cubicBezTo>
                <a:cubicBezTo>
                  <a:pt x="589196" y="2752711"/>
                  <a:pt x="676394" y="2845791"/>
                  <a:pt x="697675" y="2869797"/>
                </a:cubicBezTo>
              </a:path>
            </a:pathLst>
          </a:custGeom>
          <a:noFill/>
          <a:ln w="4543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" name="artery_cutface_long_collagen_402"/>
          <p:cNvSpPr/>
          <p:nvPr/>
        </p:nvSpPr>
        <p:spPr>
          <a:xfrm>
            <a:off x="12516532" y="3454003"/>
            <a:ext cx="728704" cy="2885760"/>
          </a:xfrm>
          <a:custGeom>
            <a:avLst/>
            <a:gdLst/>
            <a:ahLst/>
            <a:cxnLst/>
            <a:rect l="0" t="0" r="r" b="b"/>
            <a:pathLst>
              <a:path w="728704" h="2885760">
                <a:moveTo>
                  <a:pt x="237490" y="0"/>
                </a:moveTo>
                <a:cubicBezTo>
                  <a:pt x="228643" y="33671"/>
                  <a:pt x="193058" y="167229"/>
                  <a:pt x="175560" y="235698"/>
                </a:cubicBezTo>
                <a:cubicBezTo>
                  <a:pt x="158062" y="304167"/>
                  <a:pt x="132307" y="409873"/>
                  <a:pt x="115002" y="479282"/>
                </a:cubicBezTo>
                <a:cubicBezTo>
                  <a:pt x="97698" y="548691"/>
                  <a:pt x="68968" y="652969"/>
                  <a:pt x="54428" y="721560"/>
                </a:cubicBezTo>
                <a:cubicBezTo>
                  <a:pt x="39887" y="790152"/>
                  <a:pt x="20898" y="892113"/>
                  <a:pt x="13220" y="959421"/>
                </a:cubicBezTo>
                <a:cubicBezTo>
                  <a:pt x="5543" y="1026729"/>
                  <a:pt x="0" y="1126196"/>
                  <a:pt x="687" y="1192718"/>
                </a:cubicBezTo>
                <a:cubicBezTo>
                  <a:pt x="1375" y="1259241"/>
                  <a:pt x="9067" y="1358462"/>
                  <a:pt x="18031" y="1425076"/>
                </a:cubicBezTo>
                <a:cubicBezTo>
                  <a:pt x="26996" y="1491691"/>
                  <a:pt x="47844" y="1592229"/>
                  <a:pt x="63440" y="1659019"/>
                </a:cubicBezTo>
                <a:cubicBezTo>
                  <a:pt x="79035" y="1725809"/>
                  <a:pt x="106582" y="1826629"/>
                  <a:pt x="127197" y="1892608"/>
                </a:cubicBezTo>
                <a:cubicBezTo>
                  <a:pt x="147812" y="1958587"/>
                  <a:pt x="181694" y="2057309"/>
                  <a:pt x="207743" y="2120872"/>
                </a:cubicBezTo>
                <a:cubicBezTo>
                  <a:pt x="233793" y="2184435"/>
                  <a:pt x="276372" y="2278425"/>
                  <a:pt x="309543" y="2337551"/>
                </a:cubicBezTo>
                <a:cubicBezTo>
                  <a:pt x="342714" y="2396677"/>
                  <a:pt x="399944" y="2480870"/>
                  <a:pt x="439939" y="2534756"/>
                </a:cubicBezTo>
                <a:cubicBezTo>
                  <a:pt x="479935" y="2588642"/>
                  <a:pt x="548260" y="2664609"/>
                  <a:pt x="589512" y="2714753"/>
                </a:cubicBezTo>
                <a:cubicBezTo>
                  <a:pt x="630764" y="2764896"/>
                  <a:pt x="708819" y="2861331"/>
                  <a:pt x="728704" y="2885760"/>
                </a:cubicBezTo>
              </a:path>
            </a:pathLst>
          </a:custGeom>
          <a:noFill/>
          <a:ln w="3331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" name="artery_cutface_long_collagen_403"/>
          <p:cNvSpPr/>
          <p:nvPr/>
        </p:nvSpPr>
        <p:spPr>
          <a:xfrm>
            <a:off x="12540887" y="3360187"/>
            <a:ext cx="691414" cy="2964357"/>
          </a:xfrm>
          <a:custGeom>
            <a:avLst/>
            <a:gdLst/>
            <a:ahLst/>
            <a:cxnLst/>
            <a:rect l="0" t="0" r="r" b="b"/>
            <a:pathLst>
              <a:path w="691414" h="2964357">
                <a:moveTo>
                  <a:pt x="246243" y="0"/>
                </a:moveTo>
                <a:cubicBezTo>
                  <a:pt x="235639" y="35257"/>
                  <a:pt x="191909" y="175865"/>
                  <a:pt x="172020" y="246796"/>
                </a:cubicBezTo>
                <a:cubicBezTo>
                  <a:pt x="152132" y="317727"/>
                  <a:pt x="123631" y="426813"/>
                  <a:pt x="107026" y="496517"/>
                </a:cubicBezTo>
                <a:cubicBezTo>
                  <a:pt x="90421" y="566221"/>
                  <a:pt x="67464" y="667730"/>
                  <a:pt x="55785" y="734722"/>
                </a:cubicBezTo>
                <a:cubicBezTo>
                  <a:pt x="44105" y="801713"/>
                  <a:pt x="31647" y="898522"/>
                  <a:pt x="25269" y="965457"/>
                </a:cubicBezTo>
                <a:cubicBezTo>
                  <a:pt x="18892" y="1032392"/>
                  <a:pt x="14668" y="1133490"/>
                  <a:pt x="11142" y="1203265"/>
                </a:cubicBezTo>
                <a:cubicBezTo>
                  <a:pt x="7617" y="1273040"/>
                  <a:pt x="0" y="1381783"/>
                  <a:pt x="593" y="1453880"/>
                </a:cubicBezTo>
                <a:cubicBezTo>
                  <a:pt x="1187" y="1525977"/>
                  <a:pt x="4584" y="1637411"/>
                  <a:pt x="15295" y="1707945"/>
                </a:cubicBezTo>
                <a:cubicBezTo>
                  <a:pt x="26007" y="1778480"/>
                  <a:pt x="52196" y="1881958"/>
                  <a:pt x="75574" y="1947622"/>
                </a:cubicBezTo>
                <a:cubicBezTo>
                  <a:pt x="98952" y="2013285"/>
                  <a:pt x="147272" y="2105826"/>
                  <a:pt x="178941" y="2167591"/>
                </a:cubicBezTo>
                <a:cubicBezTo>
                  <a:pt x="210611" y="2229357"/>
                  <a:pt x="262757" y="2319917"/>
                  <a:pt x="297261" y="2379977"/>
                </a:cubicBezTo>
                <a:cubicBezTo>
                  <a:pt x="331765" y="2440038"/>
                  <a:pt x="383931" y="2530136"/>
                  <a:pt x="420468" y="2588015"/>
                </a:cubicBezTo>
                <a:cubicBezTo>
                  <a:pt x="457005" y="2645895"/>
                  <a:pt x="514316" y="2731369"/>
                  <a:pt x="553023" y="2785132"/>
                </a:cubicBezTo>
                <a:cubicBezTo>
                  <a:pt x="591729" y="2838895"/>
                  <a:pt x="671644" y="2938753"/>
                  <a:pt x="691414" y="2964357"/>
                </a:cubicBezTo>
              </a:path>
            </a:pathLst>
          </a:custGeom>
          <a:noFill/>
          <a:ln w="3937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6" name="artery_cutface_long_collagen_404"/>
          <p:cNvSpPr/>
          <p:nvPr/>
        </p:nvSpPr>
        <p:spPr>
          <a:xfrm>
            <a:off x="12527873" y="3388029"/>
            <a:ext cx="699903" cy="2917422"/>
          </a:xfrm>
          <a:custGeom>
            <a:avLst/>
            <a:gdLst/>
            <a:ahLst/>
            <a:cxnLst/>
            <a:rect l="0" t="0" r="r" b="b"/>
            <a:pathLst>
              <a:path w="699903" h="2917422">
                <a:moveTo>
                  <a:pt x="250946" y="0"/>
                </a:moveTo>
                <a:cubicBezTo>
                  <a:pt x="240433" y="35063"/>
                  <a:pt x="194845" y="177318"/>
                  <a:pt x="177355" y="245441"/>
                </a:cubicBezTo>
                <a:cubicBezTo>
                  <a:pt x="159865" y="313563"/>
                  <a:pt x="140682" y="411833"/>
                  <a:pt x="128517" y="476860"/>
                </a:cubicBezTo>
                <a:cubicBezTo>
                  <a:pt x="116351" y="541887"/>
                  <a:pt x="102992" y="634660"/>
                  <a:pt x="92198" y="700627"/>
                </a:cubicBezTo>
                <a:cubicBezTo>
                  <a:pt x="81404" y="766594"/>
                  <a:pt x="64052" y="868613"/>
                  <a:pt x="52960" y="938628"/>
                </a:cubicBezTo>
                <a:cubicBezTo>
                  <a:pt x="41868" y="1008642"/>
                  <a:pt x="21320" y="1119625"/>
                  <a:pt x="14556" y="1190727"/>
                </a:cubicBezTo>
                <a:cubicBezTo>
                  <a:pt x="7792" y="1261829"/>
                  <a:pt x="0" y="1368369"/>
                  <a:pt x="5612" y="1436343"/>
                </a:cubicBezTo>
                <a:cubicBezTo>
                  <a:pt x="11224" y="1504317"/>
                  <a:pt x="36239" y="1601320"/>
                  <a:pt x="53841" y="1666545"/>
                </a:cubicBezTo>
                <a:cubicBezTo>
                  <a:pt x="71442" y="1731771"/>
                  <a:pt x="107288" y="1827522"/>
                  <a:pt x="128821" y="1892923"/>
                </a:cubicBezTo>
                <a:cubicBezTo>
                  <a:pt x="150353" y="1958323"/>
                  <a:pt x="181015" y="2059105"/>
                  <a:pt x="204566" y="2124351"/>
                </a:cubicBezTo>
                <a:cubicBezTo>
                  <a:pt x="228117" y="2189597"/>
                  <a:pt x="262784" y="2288724"/>
                  <a:pt x="293677" y="2349645"/>
                </a:cubicBezTo>
                <a:cubicBezTo>
                  <a:pt x="324570" y="2410566"/>
                  <a:pt x="381657" y="2495641"/>
                  <a:pt x="420819" y="2550796"/>
                </a:cubicBezTo>
                <a:cubicBezTo>
                  <a:pt x="459981" y="2605950"/>
                  <a:pt x="527943" y="2683352"/>
                  <a:pt x="567812" y="2735727"/>
                </a:cubicBezTo>
                <a:cubicBezTo>
                  <a:pt x="607681" y="2788102"/>
                  <a:pt x="681033" y="2891466"/>
                  <a:pt x="699903" y="2917422"/>
                </a:cubicBezTo>
              </a:path>
            </a:pathLst>
          </a:custGeom>
          <a:noFill/>
          <a:ln w="4543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artery_cutface_long_collagen_405"/>
          <p:cNvSpPr/>
          <p:nvPr/>
        </p:nvSpPr>
        <p:spPr>
          <a:xfrm>
            <a:off x="12559746" y="3416483"/>
            <a:ext cx="688123" cy="2922415"/>
          </a:xfrm>
          <a:custGeom>
            <a:avLst/>
            <a:gdLst/>
            <a:ahLst/>
            <a:cxnLst/>
            <a:rect l="0" t="0" r="r" b="b"/>
            <a:pathLst>
              <a:path w="688123" h="2922415">
                <a:moveTo>
                  <a:pt x="210572" y="0"/>
                </a:moveTo>
                <a:cubicBezTo>
                  <a:pt x="201374" y="34095"/>
                  <a:pt x="162134" y="171358"/>
                  <a:pt x="146182" y="238668"/>
                </a:cubicBezTo>
                <a:cubicBezTo>
                  <a:pt x="130230" y="305979"/>
                  <a:pt x="111273" y="405263"/>
                  <a:pt x="98909" y="471173"/>
                </a:cubicBezTo>
                <a:cubicBezTo>
                  <a:pt x="86546" y="537084"/>
                  <a:pt x="69389" y="633849"/>
                  <a:pt x="59636" y="700041"/>
                </a:cubicBezTo>
                <a:cubicBezTo>
                  <a:pt x="49884" y="766233"/>
                  <a:pt x="37681" y="866134"/>
                  <a:pt x="30641" y="934518"/>
                </a:cubicBezTo>
                <a:cubicBezTo>
                  <a:pt x="23600" y="1002902"/>
                  <a:pt x="14377" y="1108035"/>
                  <a:pt x="10353" y="1178731"/>
                </a:cubicBezTo>
                <a:cubicBezTo>
                  <a:pt x="6328" y="1249426"/>
                  <a:pt x="0" y="1358193"/>
                  <a:pt x="2470" y="1429388"/>
                </a:cubicBezTo>
                <a:cubicBezTo>
                  <a:pt x="4940" y="1500582"/>
                  <a:pt x="14607" y="1608228"/>
                  <a:pt x="27643" y="1677091"/>
                </a:cubicBezTo>
                <a:cubicBezTo>
                  <a:pt x="40678" y="1745954"/>
                  <a:pt x="70055" y="1846635"/>
                  <a:pt x="93718" y="1911429"/>
                </a:cubicBezTo>
                <a:cubicBezTo>
                  <a:pt x="117380" y="1976223"/>
                  <a:pt x="162467" y="2069277"/>
                  <a:pt x="193279" y="2130652"/>
                </a:cubicBezTo>
                <a:cubicBezTo>
                  <a:pt x="224092" y="2192027"/>
                  <a:pt x="274880" y="2281974"/>
                  <a:pt x="309408" y="2341054"/>
                </a:cubicBezTo>
                <a:cubicBezTo>
                  <a:pt x="343936" y="2400133"/>
                  <a:pt x="398331" y="2487341"/>
                  <a:pt x="434976" y="2544208"/>
                </a:cubicBezTo>
                <a:cubicBezTo>
                  <a:pt x="471621" y="2601074"/>
                  <a:pt x="529759" y="2685089"/>
                  <a:pt x="565923" y="2739119"/>
                </a:cubicBezTo>
                <a:cubicBezTo>
                  <a:pt x="602087" y="2793149"/>
                  <a:pt x="670666" y="2896230"/>
                  <a:pt x="688123" y="2922415"/>
                </a:cubicBezTo>
              </a:path>
            </a:pathLst>
          </a:custGeom>
          <a:noFill/>
          <a:ln w="3331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artery_cutface_long_collagen_406"/>
          <p:cNvSpPr/>
          <p:nvPr/>
        </p:nvSpPr>
        <p:spPr>
          <a:xfrm>
            <a:off x="12554455" y="3438578"/>
            <a:ext cx="688043" cy="2882157"/>
          </a:xfrm>
          <a:custGeom>
            <a:avLst/>
            <a:gdLst/>
            <a:ahLst/>
            <a:cxnLst/>
            <a:rect l="0" t="0" r="r" b="b"/>
            <a:pathLst>
              <a:path w="688043" h="2882157">
                <a:moveTo>
                  <a:pt x="213383" y="0"/>
                </a:moveTo>
                <a:cubicBezTo>
                  <a:pt x="206168" y="31925"/>
                  <a:pt x="175792" y="159474"/>
                  <a:pt x="162876" y="223472"/>
                </a:cubicBezTo>
                <a:cubicBezTo>
                  <a:pt x="149960" y="287469"/>
                  <a:pt x="135328" y="382351"/>
                  <a:pt x="122971" y="447982"/>
                </a:cubicBezTo>
                <a:cubicBezTo>
                  <a:pt x="110614" y="513613"/>
                  <a:pt x="89609" y="614209"/>
                  <a:pt x="76376" y="682888"/>
                </a:cubicBezTo>
                <a:cubicBezTo>
                  <a:pt x="63142" y="751567"/>
                  <a:pt x="40886" y="858560"/>
                  <a:pt x="30335" y="928734"/>
                </a:cubicBezTo>
                <a:cubicBezTo>
                  <a:pt x="19784" y="998908"/>
                  <a:pt x="5034" y="1105368"/>
                  <a:pt x="2517" y="1174105"/>
                </a:cubicBezTo>
                <a:cubicBezTo>
                  <a:pt x="0" y="1242842"/>
                  <a:pt x="3640" y="1343761"/>
                  <a:pt x="12715" y="1409892"/>
                </a:cubicBezTo>
                <a:cubicBezTo>
                  <a:pt x="21790" y="1476023"/>
                  <a:pt x="48064" y="1572318"/>
                  <a:pt x="66040" y="1637023"/>
                </a:cubicBezTo>
                <a:cubicBezTo>
                  <a:pt x="84017" y="1701728"/>
                  <a:pt x="117180" y="1798046"/>
                  <a:pt x="138548" y="1862825"/>
                </a:cubicBezTo>
                <a:cubicBezTo>
                  <a:pt x="159916" y="1927605"/>
                  <a:pt x="191936" y="2026206"/>
                  <a:pt x="215616" y="2090476"/>
                </a:cubicBezTo>
                <a:cubicBezTo>
                  <a:pt x="239297" y="2154747"/>
                  <a:pt x="274826" y="2251914"/>
                  <a:pt x="304310" y="2312718"/>
                </a:cubicBezTo>
                <a:cubicBezTo>
                  <a:pt x="333794" y="2373523"/>
                  <a:pt x="385229" y="2460527"/>
                  <a:pt x="422002" y="2516107"/>
                </a:cubicBezTo>
                <a:cubicBezTo>
                  <a:pt x="458775" y="2571686"/>
                  <a:pt x="523715" y="2649481"/>
                  <a:pt x="561721" y="2701774"/>
                </a:cubicBezTo>
                <a:cubicBezTo>
                  <a:pt x="599727" y="2754067"/>
                  <a:pt x="669997" y="2856388"/>
                  <a:pt x="688043" y="2882157"/>
                </a:cubicBezTo>
              </a:path>
            </a:pathLst>
          </a:custGeom>
          <a:noFill/>
          <a:ln w="3937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artery_cutface_long_collagen_407"/>
          <p:cNvSpPr/>
          <p:nvPr/>
        </p:nvSpPr>
        <p:spPr>
          <a:xfrm>
            <a:off x="12584310" y="3341450"/>
            <a:ext cx="645554" cy="2963151"/>
          </a:xfrm>
          <a:custGeom>
            <a:avLst/>
            <a:gdLst/>
            <a:ahLst/>
            <a:cxnLst/>
            <a:rect l="0" t="0" r="r" b="b"/>
            <a:pathLst>
              <a:path w="645554" h="2963151">
                <a:moveTo>
                  <a:pt x="219106" y="0"/>
                </a:moveTo>
                <a:cubicBezTo>
                  <a:pt x="211731" y="31816"/>
                  <a:pt x="181967" y="157138"/>
                  <a:pt x="167481" y="222709"/>
                </a:cubicBezTo>
                <a:cubicBezTo>
                  <a:pt x="152995" y="288280"/>
                  <a:pt x="133519" y="389302"/>
                  <a:pt x="117704" y="458994"/>
                </a:cubicBezTo>
                <a:cubicBezTo>
                  <a:pt x="101888" y="528687"/>
                  <a:pt x="72319" y="639320"/>
                  <a:pt x="56772" y="710557"/>
                </a:cubicBezTo>
                <a:cubicBezTo>
                  <a:pt x="41224" y="781794"/>
                  <a:pt x="16844" y="888945"/>
                  <a:pt x="8872" y="957652"/>
                </a:cubicBezTo>
                <a:cubicBezTo>
                  <a:pt x="901" y="1026359"/>
                  <a:pt x="0" y="1124554"/>
                  <a:pt x="968" y="1191508"/>
                </a:cubicBezTo>
                <a:cubicBezTo>
                  <a:pt x="1936" y="1258462"/>
                  <a:pt x="10499" y="1357271"/>
                  <a:pt x="15648" y="1426332"/>
                </a:cubicBezTo>
                <a:cubicBezTo>
                  <a:pt x="20798" y="1495393"/>
                  <a:pt x="27989" y="1604006"/>
                  <a:pt x="37014" y="1674935"/>
                </a:cubicBezTo>
                <a:cubicBezTo>
                  <a:pt x="46038" y="1745864"/>
                  <a:pt x="60261" y="1855078"/>
                  <a:pt x="78819" y="1922835"/>
                </a:cubicBezTo>
                <a:cubicBezTo>
                  <a:pt x="97376" y="1990592"/>
                  <a:pt x="137810" y="2086658"/>
                  <a:pt x="166916" y="2149235"/>
                </a:cubicBezTo>
                <a:cubicBezTo>
                  <a:pt x="196022" y="2211812"/>
                  <a:pt x="249205" y="2300699"/>
                  <a:pt x="282562" y="2360875"/>
                </a:cubicBezTo>
                <a:cubicBezTo>
                  <a:pt x="315918" y="2421052"/>
                  <a:pt x="366433" y="2511349"/>
                  <a:pt x="400412" y="2570472"/>
                </a:cubicBezTo>
                <a:cubicBezTo>
                  <a:pt x="434391" y="2629594"/>
                  <a:pt x="485396" y="2718636"/>
                  <a:pt x="520416" y="2774733"/>
                </a:cubicBezTo>
                <a:cubicBezTo>
                  <a:pt x="555437" y="2830830"/>
                  <a:pt x="627678" y="2936234"/>
                  <a:pt x="645554" y="2963151"/>
                </a:cubicBezTo>
              </a:path>
            </a:pathLst>
          </a:custGeom>
          <a:noFill/>
          <a:ln w="4543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artery_cutface_long_collagen_408"/>
          <p:cNvSpPr/>
          <p:nvPr/>
        </p:nvSpPr>
        <p:spPr>
          <a:xfrm>
            <a:off x="12581112" y="3351017"/>
            <a:ext cx="671326" cy="2986379"/>
          </a:xfrm>
          <a:custGeom>
            <a:avLst/>
            <a:gdLst/>
            <a:ahLst/>
            <a:cxnLst/>
            <a:rect l="0" t="0" r="r" b="b"/>
            <a:pathLst>
              <a:path w="671326" h="2986379">
                <a:moveTo>
                  <a:pt x="230223" y="0"/>
                </a:moveTo>
                <a:cubicBezTo>
                  <a:pt x="222330" y="33017"/>
                  <a:pt x="190282" y="163594"/>
                  <a:pt x="174969" y="231120"/>
                </a:cubicBezTo>
                <a:cubicBezTo>
                  <a:pt x="159656" y="298646"/>
                  <a:pt x="138316" y="402631"/>
                  <a:pt x="123034" y="472683"/>
                </a:cubicBezTo>
                <a:cubicBezTo>
                  <a:pt x="107753" y="542735"/>
                  <a:pt x="82447" y="650148"/>
                  <a:pt x="67998" y="721486"/>
                </a:cubicBezTo>
                <a:cubicBezTo>
                  <a:pt x="53548" y="792824"/>
                  <a:pt x="31428" y="901015"/>
                  <a:pt x="21890" y="972047"/>
                </a:cubicBezTo>
                <a:cubicBezTo>
                  <a:pt x="12353" y="1043079"/>
                  <a:pt x="2471" y="1149152"/>
                  <a:pt x="1236" y="1218711"/>
                </a:cubicBezTo>
                <a:cubicBezTo>
                  <a:pt x="0" y="1288270"/>
                  <a:pt x="4464" y="1390990"/>
                  <a:pt x="13241" y="1458959"/>
                </a:cubicBezTo>
                <a:cubicBezTo>
                  <a:pt x="22018" y="1526928"/>
                  <a:pt x="45473" y="1627520"/>
                  <a:pt x="62676" y="1694493"/>
                </a:cubicBezTo>
                <a:cubicBezTo>
                  <a:pt x="79879" y="1761467"/>
                  <a:pt x="111970" y="1861260"/>
                  <a:pt x="133662" y="1927773"/>
                </a:cubicBezTo>
                <a:cubicBezTo>
                  <a:pt x="155355" y="1994286"/>
                  <a:pt x="190068" y="2094274"/>
                  <a:pt x="214525" y="2160083"/>
                </a:cubicBezTo>
                <a:cubicBezTo>
                  <a:pt x="238982" y="2225893"/>
                  <a:pt x="275936" y="2325241"/>
                  <a:pt x="304860" y="2388439"/>
                </a:cubicBezTo>
                <a:cubicBezTo>
                  <a:pt x="333784" y="2451638"/>
                  <a:pt x="381963" y="2543804"/>
                  <a:pt x="416994" y="2602472"/>
                </a:cubicBezTo>
                <a:cubicBezTo>
                  <a:pt x="452026" y="2661140"/>
                  <a:pt x="513746" y="2744273"/>
                  <a:pt x="550079" y="2799117"/>
                </a:cubicBezTo>
                <a:cubicBezTo>
                  <a:pt x="586412" y="2853960"/>
                  <a:pt x="654005" y="2959627"/>
                  <a:pt x="671326" y="2986379"/>
                </a:cubicBezTo>
              </a:path>
            </a:pathLst>
          </a:custGeom>
          <a:noFill/>
          <a:ln w="3331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artery_cutface_long_collagen_409"/>
          <p:cNvSpPr/>
          <p:nvPr/>
        </p:nvSpPr>
        <p:spPr>
          <a:xfrm>
            <a:off x="12614080" y="3362586"/>
            <a:ext cx="630953" cy="2957202"/>
          </a:xfrm>
          <a:custGeom>
            <a:avLst/>
            <a:gdLst/>
            <a:ahLst/>
            <a:cxnLst/>
            <a:rect l="0" t="0" r="r" b="b"/>
            <a:pathLst>
              <a:path w="630953" h="2957202">
                <a:moveTo>
                  <a:pt x="204060" y="0"/>
                </a:moveTo>
                <a:cubicBezTo>
                  <a:pt x="195152" y="34116"/>
                  <a:pt x="159301" y="169218"/>
                  <a:pt x="141703" y="238810"/>
                </a:cubicBezTo>
                <a:cubicBezTo>
                  <a:pt x="124105" y="308401"/>
                  <a:pt x="96976" y="417032"/>
                  <a:pt x="80873" y="487142"/>
                </a:cubicBezTo>
                <a:cubicBezTo>
                  <a:pt x="64769" y="557251"/>
                  <a:pt x="40024" y="661731"/>
                  <a:pt x="28980" y="729574"/>
                </a:cubicBezTo>
                <a:cubicBezTo>
                  <a:pt x="17936" y="797417"/>
                  <a:pt x="7124" y="895842"/>
                  <a:pt x="3562" y="962045"/>
                </a:cubicBezTo>
                <a:cubicBezTo>
                  <a:pt x="0" y="1028249"/>
                  <a:pt x="2552" y="1125747"/>
                  <a:pt x="4045" y="1192996"/>
                </a:cubicBezTo>
                <a:cubicBezTo>
                  <a:pt x="5538" y="1260245"/>
                  <a:pt x="9462" y="1363115"/>
                  <a:pt x="14012" y="1432787"/>
                </a:cubicBezTo>
                <a:cubicBezTo>
                  <a:pt x="18562" y="1502458"/>
                  <a:pt x="25831" y="1610720"/>
                  <a:pt x="35896" y="1680697"/>
                </a:cubicBezTo>
                <a:cubicBezTo>
                  <a:pt x="45961" y="1750674"/>
                  <a:pt x="65172" y="1856006"/>
                  <a:pt x="84467" y="1922625"/>
                </a:cubicBezTo>
                <a:cubicBezTo>
                  <a:pt x="103762" y="1989243"/>
                  <a:pt x="142704" y="2084825"/>
                  <a:pt x="170960" y="2147028"/>
                </a:cubicBezTo>
                <a:cubicBezTo>
                  <a:pt x="199215" y="2209231"/>
                  <a:pt x="249228" y="2298618"/>
                  <a:pt x="282257" y="2358045"/>
                </a:cubicBezTo>
                <a:cubicBezTo>
                  <a:pt x="315285" y="2417471"/>
                  <a:pt x="367933" y="2504970"/>
                  <a:pt x="402159" y="2563014"/>
                </a:cubicBezTo>
                <a:cubicBezTo>
                  <a:pt x="436385" y="2621059"/>
                  <a:pt x="489153" y="2708043"/>
                  <a:pt x="521838" y="2764355"/>
                </a:cubicBezTo>
                <a:cubicBezTo>
                  <a:pt x="554523" y="2820667"/>
                  <a:pt x="615365" y="2929652"/>
                  <a:pt x="630953" y="2957202"/>
                </a:cubicBezTo>
              </a:path>
            </a:pathLst>
          </a:custGeom>
          <a:noFill/>
          <a:ln w="3937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artery_cutface_long_collagen_410"/>
          <p:cNvSpPr/>
          <p:nvPr/>
        </p:nvSpPr>
        <p:spPr>
          <a:xfrm>
            <a:off x="12608416" y="3385790"/>
            <a:ext cx="634345" cy="2913557"/>
          </a:xfrm>
          <a:custGeom>
            <a:avLst/>
            <a:gdLst/>
            <a:ahLst/>
            <a:cxnLst/>
            <a:rect l="0" t="0" r="r" b="b"/>
            <a:pathLst>
              <a:path w="634345" h="2913557">
                <a:moveTo>
                  <a:pt x="206700" y="0"/>
                </a:moveTo>
                <a:cubicBezTo>
                  <a:pt x="196843" y="34983"/>
                  <a:pt x="154837" y="176172"/>
                  <a:pt x="137698" y="244878"/>
                </a:cubicBezTo>
                <a:cubicBezTo>
                  <a:pt x="120560" y="313585"/>
                  <a:pt x="98378" y="415492"/>
                  <a:pt x="86731" y="480946"/>
                </a:cubicBezTo>
                <a:cubicBezTo>
                  <a:pt x="75084" y="546400"/>
                  <a:pt x="63346" y="638698"/>
                  <a:pt x="56170" y="703056"/>
                </a:cubicBezTo>
                <a:cubicBezTo>
                  <a:pt x="48994" y="767414"/>
                  <a:pt x="42591" y="863821"/>
                  <a:pt x="36499" y="931451"/>
                </a:cubicBezTo>
                <a:cubicBezTo>
                  <a:pt x="30408" y="999082"/>
                  <a:pt x="18086" y="1106082"/>
                  <a:pt x="13530" y="1176471"/>
                </a:cubicBezTo>
                <a:cubicBezTo>
                  <a:pt x="8973" y="1246861"/>
                  <a:pt x="0" y="1355613"/>
                  <a:pt x="4604" y="1424179"/>
                </a:cubicBezTo>
                <a:cubicBezTo>
                  <a:pt x="9208" y="1492745"/>
                  <a:pt x="28546" y="1591937"/>
                  <a:pt x="45757" y="1656433"/>
                </a:cubicBezTo>
                <a:cubicBezTo>
                  <a:pt x="62968" y="1720929"/>
                  <a:pt x="102074" y="1812586"/>
                  <a:pt x="125080" y="1875652"/>
                </a:cubicBezTo>
                <a:cubicBezTo>
                  <a:pt x="148087" y="1938718"/>
                  <a:pt x="183863" y="2033892"/>
                  <a:pt x="206802" y="2097896"/>
                </a:cubicBezTo>
                <a:cubicBezTo>
                  <a:pt x="229740" y="2161899"/>
                  <a:pt x="259532" y="2261418"/>
                  <a:pt x="285647" y="2323678"/>
                </a:cubicBezTo>
                <a:cubicBezTo>
                  <a:pt x="311763" y="2385938"/>
                  <a:pt x="356202" y="2476404"/>
                  <a:pt x="389613" y="2533715"/>
                </a:cubicBezTo>
                <a:cubicBezTo>
                  <a:pt x="423024" y="2591027"/>
                  <a:pt x="484564" y="2670594"/>
                  <a:pt x="519525" y="2724857"/>
                </a:cubicBezTo>
                <a:cubicBezTo>
                  <a:pt x="554487" y="2779120"/>
                  <a:pt x="617943" y="2886599"/>
                  <a:pt x="634345" y="2913557"/>
                </a:cubicBezTo>
              </a:path>
            </a:pathLst>
          </a:custGeom>
          <a:noFill/>
          <a:ln w="4543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artery_cutface_long_collagen_411"/>
          <p:cNvSpPr/>
          <p:nvPr/>
        </p:nvSpPr>
        <p:spPr>
          <a:xfrm>
            <a:off x="12645951" y="3294319"/>
            <a:ext cx="611946" cy="3041282"/>
          </a:xfrm>
          <a:custGeom>
            <a:avLst/>
            <a:gdLst/>
            <a:ahLst/>
            <a:cxnLst/>
            <a:rect l="0" t="0" r="r" b="b"/>
            <a:pathLst>
              <a:path w="611946" h="3041282">
                <a:moveTo>
                  <a:pt x="198431" y="0"/>
                </a:moveTo>
                <a:cubicBezTo>
                  <a:pt x="188154" y="35765"/>
                  <a:pt x="144843" y="179219"/>
                  <a:pt x="126490" y="250357"/>
                </a:cubicBezTo>
                <a:cubicBezTo>
                  <a:pt x="108138" y="321495"/>
                  <a:pt x="84000" y="428347"/>
                  <a:pt x="69961" y="497963"/>
                </a:cubicBezTo>
                <a:cubicBezTo>
                  <a:pt x="55922" y="567580"/>
                  <a:pt x="37468" y="669622"/>
                  <a:pt x="28217" y="737673"/>
                </a:cubicBezTo>
                <a:cubicBezTo>
                  <a:pt x="18967" y="805725"/>
                  <a:pt x="9215" y="906006"/>
                  <a:pt x="5209" y="974323"/>
                </a:cubicBezTo>
                <a:cubicBezTo>
                  <a:pt x="1202" y="1042641"/>
                  <a:pt x="339" y="1145714"/>
                  <a:pt x="169" y="1215896"/>
                </a:cubicBezTo>
                <a:cubicBezTo>
                  <a:pt x="0" y="1286078"/>
                  <a:pt x="326" y="1393631"/>
                  <a:pt x="4023" y="1465595"/>
                </a:cubicBezTo>
                <a:cubicBezTo>
                  <a:pt x="7720" y="1537558"/>
                  <a:pt x="15796" y="1647942"/>
                  <a:pt x="26049" y="1719640"/>
                </a:cubicBezTo>
                <a:cubicBezTo>
                  <a:pt x="36302" y="1791337"/>
                  <a:pt x="56898" y="1898689"/>
                  <a:pt x="75795" y="1967476"/>
                </a:cubicBezTo>
                <a:cubicBezTo>
                  <a:pt x="94692" y="2036263"/>
                  <a:pt x="131261" y="2136221"/>
                  <a:pt x="158327" y="2201147"/>
                </a:cubicBezTo>
                <a:cubicBezTo>
                  <a:pt x="185394" y="2266072"/>
                  <a:pt x="232504" y="2360301"/>
                  <a:pt x="265261" y="2421954"/>
                </a:cubicBezTo>
                <a:cubicBezTo>
                  <a:pt x="298018" y="2483606"/>
                  <a:pt x="352316" y="2573216"/>
                  <a:pt x="387626" y="2632715"/>
                </a:cubicBezTo>
                <a:cubicBezTo>
                  <a:pt x="422936" y="2692213"/>
                  <a:pt x="480385" y="2780077"/>
                  <a:pt x="512431" y="2838443"/>
                </a:cubicBezTo>
                <a:cubicBezTo>
                  <a:pt x="544477" y="2896810"/>
                  <a:pt x="597730" y="3012305"/>
                  <a:pt x="611946" y="3041282"/>
                </a:cubicBezTo>
              </a:path>
            </a:pathLst>
          </a:custGeom>
          <a:noFill/>
          <a:ln w="3331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4" name="artery_cutface_long_collagen_412"/>
          <p:cNvSpPr/>
          <p:nvPr/>
        </p:nvSpPr>
        <p:spPr>
          <a:xfrm>
            <a:off x="12630677" y="3324430"/>
            <a:ext cx="621925" cy="2992531"/>
          </a:xfrm>
          <a:custGeom>
            <a:avLst/>
            <a:gdLst/>
            <a:ahLst/>
            <a:cxnLst/>
            <a:rect l="0" t="0" r="r" b="b"/>
            <a:pathLst>
              <a:path w="621925" h="2992531">
                <a:moveTo>
                  <a:pt x="204014" y="0"/>
                </a:moveTo>
                <a:cubicBezTo>
                  <a:pt x="194956" y="34324"/>
                  <a:pt x="155556" y="172976"/>
                  <a:pt x="140612" y="240271"/>
                </a:cubicBezTo>
                <a:cubicBezTo>
                  <a:pt x="125668" y="307566"/>
                  <a:pt x="109908" y="405106"/>
                  <a:pt x="99409" y="471064"/>
                </a:cubicBezTo>
                <a:cubicBezTo>
                  <a:pt x="88909" y="537023"/>
                  <a:pt x="76171" y="634257"/>
                  <a:pt x="67116" y="701980"/>
                </a:cubicBezTo>
                <a:cubicBezTo>
                  <a:pt x="58061" y="769703"/>
                  <a:pt x="44195" y="874172"/>
                  <a:pt x="36024" y="945126"/>
                </a:cubicBezTo>
                <a:cubicBezTo>
                  <a:pt x="27853" y="1016081"/>
                  <a:pt x="14312" y="1126615"/>
                  <a:pt x="9919" y="1198663"/>
                </a:cubicBezTo>
                <a:cubicBezTo>
                  <a:pt x="5527" y="1270712"/>
                  <a:pt x="0" y="1379609"/>
                  <a:pt x="5279" y="1449467"/>
                </a:cubicBezTo>
                <a:cubicBezTo>
                  <a:pt x="10559" y="1519325"/>
                  <a:pt x="30021" y="1621130"/>
                  <a:pt x="46875" y="1687669"/>
                </a:cubicBezTo>
                <a:cubicBezTo>
                  <a:pt x="63730" y="1754208"/>
                  <a:pt x="100234" y="1850255"/>
                  <a:pt x="123258" y="1915239"/>
                </a:cubicBezTo>
                <a:cubicBezTo>
                  <a:pt x="146283" y="1980223"/>
                  <a:pt x="184050" y="2077188"/>
                  <a:pt x="208044" y="2142557"/>
                </a:cubicBezTo>
                <a:cubicBezTo>
                  <a:pt x="232037" y="2207927"/>
                  <a:pt x="265212" y="2308441"/>
                  <a:pt x="291213" y="2372828"/>
                </a:cubicBezTo>
                <a:cubicBezTo>
                  <a:pt x="317215" y="2437215"/>
                  <a:pt x="358533" y="2532765"/>
                  <a:pt x="390055" y="2593269"/>
                </a:cubicBezTo>
                <a:cubicBezTo>
                  <a:pt x="421576" y="2653772"/>
                  <a:pt x="478740" y="2739313"/>
                  <a:pt x="511865" y="2796350"/>
                </a:cubicBezTo>
                <a:cubicBezTo>
                  <a:pt x="544989" y="2853387"/>
                  <a:pt x="606202" y="2964505"/>
                  <a:pt x="621925" y="2992531"/>
                </a:cubicBezTo>
              </a:path>
            </a:pathLst>
          </a:custGeom>
          <a:noFill/>
          <a:ln w="3937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artery_cutface_long_collagen_413"/>
          <p:cNvSpPr/>
          <p:nvPr/>
        </p:nvSpPr>
        <p:spPr>
          <a:xfrm>
            <a:off x="12644227" y="3347212"/>
            <a:ext cx="600845" cy="2951193"/>
          </a:xfrm>
          <a:custGeom>
            <a:avLst/>
            <a:gdLst/>
            <a:ahLst/>
            <a:cxnLst/>
            <a:rect l="0" t="0" r="r" b="b"/>
            <a:pathLst>
              <a:path w="600845" h="2951193">
                <a:moveTo>
                  <a:pt x="187555" y="0"/>
                </a:moveTo>
                <a:cubicBezTo>
                  <a:pt x="180746" y="31862"/>
                  <a:pt x="152118" y="158752"/>
                  <a:pt x="139893" y="223034"/>
                </a:cubicBezTo>
                <a:cubicBezTo>
                  <a:pt x="127668" y="287316"/>
                  <a:pt x="114252" y="382723"/>
                  <a:pt x="101980" y="449975"/>
                </a:cubicBezTo>
                <a:cubicBezTo>
                  <a:pt x="89708" y="517227"/>
                  <a:pt x="66998" y="623309"/>
                  <a:pt x="53988" y="693798"/>
                </a:cubicBezTo>
                <a:cubicBezTo>
                  <a:pt x="40978" y="764287"/>
                  <a:pt x="18243" y="873798"/>
                  <a:pt x="10909" y="943400"/>
                </a:cubicBezTo>
                <a:cubicBezTo>
                  <a:pt x="3576" y="1013002"/>
                  <a:pt x="0" y="1114408"/>
                  <a:pt x="2654" y="1181014"/>
                </a:cubicBezTo>
                <a:cubicBezTo>
                  <a:pt x="5309" y="1247620"/>
                  <a:pt x="20131" y="1343230"/>
                  <a:pt x="29489" y="1409642"/>
                </a:cubicBezTo>
                <a:cubicBezTo>
                  <a:pt x="38847" y="1476053"/>
                  <a:pt x="56835" y="1577290"/>
                  <a:pt x="68159" y="1645895"/>
                </a:cubicBezTo>
                <a:cubicBezTo>
                  <a:pt x="79483" y="1714500"/>
                  <a:pt x="93214" y="1821796"/>
                  <a:pt x="108757" y="1889876"/>
                </a:cubicBezTo>
                <a:cubicBezTo>
                  <a:pt x="124300" y="1957956"/>
                  <a:pt x="152573" y="2058664"/>
                  <a:pt x="176959" y="2122457"/>
                </a:cubicBezTo>
                <a:cubicBezTo>
                  <a:pt x="201344" y="2186249"/>
                  <a:pt x="248360" y="2276415"/>
                  <a:pt x="279457" y="2336422"/>
                </a:cubicBezTo>
                <a:cubicBezTo>
                  <a:pt x="310554" y="2396429"/>
                  <a:pt x="362565" y="2483485"/>
                  <a:pt x="394638" y="2542505"/>
                </a:cubicBezTo>
                <a:cubicBezTo>
                  <a:pt x="426710" y="2601526"/>
                  <a:pt x="474505" y="2691182"/>
                  <a:pt x="503963" y="2749566"/>
                </a:cubicBezTo>
                <a:cubicBezTo>
                  <a:pt x="533421" y="2807950"/>
                  <a:pt x="587005" y="2922389"/>
                  <a:pt x="600845" y="2951193"/>
                </a:cubicBezTo>
              </a:path>
            </a:pathLst>
          </a:custGeom>
          <a:noFill/>
          <a:ln w="4543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artery_cutface_long_collagen_414"/>
          <p:cNvSpPr/>
          <p:nvPr/>
        </p:nvSpPr>
        <p:spPr>
          <a:xfrm>
            <a:off x="12654466" y="3361106"/>
            <a:ext cx="605345" cy="2973865"/>
          </a:xfrm>
          <a:custGeom>
            <a:avLst/>
            <a:gdLst/>
            <a:ahLst/>
            <a:cxnLst/>
            <a:rect l="0" t="0" r="r" b="b"/>
            <a:pathLst>
              <a:path w="605345" h="2973865">
                <a:moveTo>
                  <a:pt x="182758" y="0"/>
                </a:moveTo>
                <a:cubicBezTo>
                  <a:pt x="175992" y="32368"/>
                  <a:pt x="147941" y="160947"/>
                  <a:pt x="135398" y="226573"/>
                </a:cubicBezTo>
                <a:cubicBezTo>
                  <a:pt x="122854" y="292199"/>
                  <a:pt x="106633" y="391646"/>
                  <a:pt x="94954" y="459383"/>
                </a:cubicBezTo>
                <a:cubicBezTo>
                  <a:pt x="83275" y="527119"/>
                  <a:pt x="64506" y="630792"/>
                  <a:pt x="53646" y="700729"/>
                </a:cubicBezTo>
                <a:cubicBezTo>
                  <a:pt x="42786" y="770666"/>
                  <a:pt x="26458" y="878018"/>
                  <a:pt x="18933" y="948943"/>
                </a:cubicBezTo>
                <a:cubicBezTo>
                  <a:pt x="11407" y="1019867"/>
                  <a:pt x="1932" y="1127141"/>
                  <a:pt x="966" y="1197201"/>
                </a:cubicBezTo>
                <a:cubicBezTo>
                  <a:pt x="0" y="1267262"/>
                  <a:pt x="3608" y="1371441"/>
                  <a:pt x="12171" y="1439369"/>
                </a:cubicBezTo>
                <a:cubicBezTo>
                  <a:pt x="20735" y="1507298"/>
                  <a:pt x="43329" y="1607004"/>
                  <a:pt x="60909" y="1672700"/>
                </a:cubicBezTo>
                <a:cubicBezTo>
                  <a:pt x="78489" y="1738396"/>
                  <a:pt x="112692" y="1834722"/>
                  <a:pt x="135234" y="1899242"/>
                </a:cubicBezTo>
                <a:cubicBezTo>
                  <a:pt x="157776" y="1963763"/>
                  <a:pt x="194502" y="2059990"/>
                  <a:pt x="218704" y="2124344"/>
                </a:cubicBezTo>
                <a:cubicBezTo>
                  <a:pt x="242905" y="2188698"/>
                  <a:pt x="278646" y="2286259"/>
                  <a:pt x="304645" y="2349721"/>
                </a:cubicBezTo>
                <a:cubicBezTo>
                  <a:pt x="330644" y="2413182"/>
                  <a:pt x="371218" y="2507792"/>
                  <a:pt x="400696" y="2568577"/>
                </a:cubicBezTo>
                <a:cubicBezTo>
                  <a:pt x="430173" y="2629362"/>
                  <a:pt x="481752" y="2717318"/>
                  <a:pt x="510987" y="2775217"/>
                </a:cubicBezTo>
                <a:cubicBezTo>
                  <a:pt x="540223" y="2833115"/>
                  <a:pt x="591865" y="2945487"/>
                  <a:pt x="605345" y="2973865"/>
                </a:cubicBezTo>
              </a:path>
            </a:pathLst>
          </a:custGeom>
          <a:noFill/>
          <a:ln w="3331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7" name="artery_cutface_long_collagen_415"/>
          <p:cNvSpPr/>
          <p:nvPr/>
        </p:nvSpPr>
        <p:spPr>
          <a:xfrm>
            <a:off x="12672760" y="3259954"/>
            <a:ext cx="585972" cy="3054717"/>
          </a:xfrm>
          <a:custGeom>
            <a:avLst/>
            <a:gdLst/>
            <a:ahLst/>
            <a:cxnLst/>
            <a:rect l="0" t="0" r="r" b="b"/>
            <a:pathLst>
              <a:path w="585972" h="3054717">
                <a:moveTo>
                  <a:pt x="201492" y="0"/>
                </a:moveTo>
                <a:cubicBezTo>
                  <a:pt x="193908" y="33054"/>
                  <a:pt x="163574" y="163094"/>
                  <a:pt x="148401" y="231380"/>
                </a:cubicBezTo>
                <a:cubicBezTo>
                  <a:pt x="133228" y="299666"/>
                  <a:pt x="110543" y="406380"/>
                  <a:pt x="95279" y="478001"/>
                </a:cubicBezTo>
                <a:cubicBezTo>
                  <a:pt x="80015" y="549622"/>
                  <a:pt x="54397" y="660728"/>
                  <a:pt x="41554" y="732727"/>
                </a:cubicBezTo>
                <a:cubicBezTo>
                  <a:pt x="28712" y="804725"/>
                  <a:pt x="10762" y="912182"/>
                  <a:pt x="5381" y="981990"/>
                </a:cubicBezTo>
                <a:cubicBezTo>
                  <a:pt x="0" y="1051797"/>
                  <a:pt x="748" y="1153287"/>
                  <a:pt x="3888" y="1221377"/>
                </a:cubicBezTo>
                <a:cubicBezTo>
                  <a:pt x="7027" y="1289468"/>
                  <a:pt x="19012" y="1389752"/>
                  <a:pt x="27357" y="1458622"/>
                </a:cubicBezTo>
                <a:cubicBezTo>
                  <a:pt x="35703" y="1527491"/>
                  <a:pt x="51262" y="1632836"/>
                  <a:pt x="62307" y="1703464"/>
                </a:cubicBezTo>
                <a:cubicBezTo>
                  <a:pt x="73352" y="1774092"/>
                  <a:pt x="89194" y="1882970"/>
                  <a:pt x="104673" y="1953016"/>
                </a:cubicBezTo>
                <a:cubicBezTo>
                  <a:pt x="120152" y="2023062"/>
                  <a:pt x="147532" y="2127236"/>
                  <a:pt x="170659" y="2193786"/>
                </a:cubicBezTo>
                <a:cubicBezTo>
                  <a:pt x="193786" y="2260335"/>
                  <a:pt x="236300" y="2356292"/>
                  <a:pt x="266561" y="2418863"/>
                </a:cubicBezTo>
                <a:cubicBezTo>
                  <a:pt x="296823" y="2481434"/>
                  <a:pt x="349418" y="2571246"/>
                  <a:pt x="382490" y="2631783"/>
                </a:cubicBezTo>
                <a:cubicBezTo>
                  <a:pt x="415561" y="2692319"/>
                  <a:pt x="468991" y="2782198"/>
                  <a:pt x="498060" y="2842617"/>
                </a:cubicBezTo>
                <a:cubicBezTo>
                  <a:pt x="527129" y="2903037"/>
                  <a:pt x="573413" y="3024417"/>
                  <a:pt x="585972" y="3054717"/>
                </a:cubicBezTo>
              </a:path>
            </a:pathLst>
          </a:custGeom>
          <a:noFill/>
          <a:ln w="3937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8" name="artery_cutface_long_collagen_416"/>
          <p:cNvSpPr/>
          <p:nvPr/>
        </p:nvSpPr>
        <p:spPr>
          <a:xfrm>
            <a:off x="12697328" y="3271015"/>
            <a:ext cx="558388" cy="3023053"/>
          </a:xfrm>
          <a:custGeom>
            <a:avLst/>
            <a:gdLst/>
            <a:ahLst/>
            <a:cxnLst/>
            <a:rect l="0" t="0" r="r" b="b"/>
            <a:pathLst>
              <a:path w="558388" h="3023053">
                <a:moveTo>
                  <a:pt x="184287" y="0"/>
                </a:moveTo>
                <a:cubicBezTo>
                  <a:pt x="175372" y="34505"/>
                  <a:pt x="139430" y="171029"/>
                  <a:pt x="121878" y="241533"/>
                </a:cubicBezTo>
                <a:cubicBezTo>
                  <a:pt x="104326" y="312037"/>
                  <a:pt x="75848" y="423277"/>
                  <a:pt x="61421" y="493531"/>
                </a:cubicBezTo>
                <a:cubicBezTo>
                  <a:pt x="46994" y="563785"/>
                  <a:pt x="28333" y="666340"/>
                  <a:pt x="20886" y="733311"/>
                </a:cubicBezTo>
                <a:cubicBezTo>
                  <a:pt x="13440" y="800282"/>
                  <a:pt x="11105" y="895559"/>
                  <a:pt x="9297" y="962329"/>
                </a:cubicBezTo>
                <a:cubicBezTo>
                  <a:pt x="7488" y="1029099"/>
                  <a:pt x="9269" y="1130512"/>
                  <a:pt x="8227" y="1200700"/>
                </a:cubicBezTo>
                <a:cubicBezTo>
                  <a:pt x="7184" y="1270889"/>
                  <a:pt x="0" y="1381910"/>
                  <a:pt x="1999" y="1453649"/>
                </a:cubicBezTo>
                <a:cubicBezTo>
                  <a:pt x="3999" y="1525389"/>
                  <a:pt x="9625" y="1634416"/>
                  <a:pt x="22222" y="1702877"/>
                </a:cubicBezTo>
                <a:cubicBezTo>
                  <a:pt x="34819" y="1771339"/>
                  <a:pt x="67585" y="1868381"/>
                  <a:pt x="90179" y="1932881"/>
                </a:cubicBezTo>
                <a:cubicBezTo>
                  <a:pt x="112774" y="1997381"/>
                  <a:pt x="155891" y="2090021"/>
                  <a:pt x="180384" y="2154376"/>
                </a:cubicBezTo>
                <a:cubicBezTo>
                  <a:pt x="204876" y="2218732"/>
                  <a:pt x="237698" y="2318327"/>
                  <a:pt x="261626" y="2383368"/>
                </a:cubicBezTo>
                <a:cubicBezTo>
                  <a:pt x="285553" y="2448410"/>
                  <a:pt x="319787" y="2547422"/>
                  <a:pt x="347878" y="2609667"/>
                </a:cubicBezTo>
                <a:cubicBezTo>
                  <a:pt x="375969" y="2671911"/>
                  <a:pt x="428192" y="2760027"/>
                  <a:pt x="458265" y="2819082"/>
                </a:cubicBezTo>
                <a:cubicBezTo>
                  <a:pt x="488338" y="2878137"/>
                  <a:pt x="544084" y="2993914"/>
                  <a:pt x="558388" y="3023053"/>
                </a:cubicBezTo>
              </a:path>
            </a:pathLst>
          </a:custGeom>
          <a:noFill/>
          <a:ln w="4543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9" name="artery_cutface_long_collagen_417"/>
          <p:cNvSpPr/>
          <p:nvPr/>
        </p:nvSpPr>
        <p:spPr>
          <a:xfrm>
            <a:off x="12702593" y="3291966"/>
            <a:ext cx="564653" cy="3040560"/>
          </a:xfrm>
          <a:custGeom>
            <a:avLst/>
            <a:gdLst/>
            <a:ahLst/>
            <a:cxnLst/>
            <a:rect l="0" t="0" r="r" b="b"/>
            <a:pathLst>
              <a:path w="564653" h="3040560">
                <a:moveTo>
                  <a:pt x="178208" y="0"/>
                </a:moveTo>
                <a:cubicBezTo>
                  <a:pt x="169033" y="35259"/>
                  <a:pt x="130976" y="175972"/>
                  <a:pt x="113979" y="246812"/>
                </a:cubicBezTo>
                <a:cubicBezTo>
                  <a:pt x="96982" y="317652"/>
                  <a:pt x="72896" y="425546"/>
                  <a:pt x="59231" y="495880"/>
                </a:cubicBezTo>
                <a:cubicBezTo>
                  <a:pt x="45566" y="566213"/>
                  <a:pt x="26588" y="670503"/>
                  <a:pt x="18325" y="739146"/>
                </a:cubicBezTo>
                <a:cubicBezTo>
                  <a:pt x="10061" y="807789"/>
                  <a:pt x="2767" y="908800"/>
                  <a:pt x="1384" y="976379"/>
                </a:cubicBezTo>
                <a:cubicBezTo>
                  <a:pt x="0" y="1043958"/>
                  <a:pt x="4506" y="1144248"/>
                  <a:pt x="8640" y="1212199"/>
                </a:cubicBezTo>
                <a:cubicBezTo>
                  <a:pt x="12773" y="1280150"/>
                  <a:pt x="22521" y="1382746"/>
                  <a:pt x="30318" y="1452034"/>
                </a:cubicBezTo>
                <a:cubicBezTo>
                  <a:pt x="38115" y="1521322"/>
                  <a:pt x="51947" y="1627156"/>
                  <a:pt x="63218" y="1697214"/>
                </a:cubicBezTo>
                <a:cubicBezTo>
                  <a:pt x="74489" y="1767272"/>
                  <a:pt x="93123" y="1873486"/>
                  <a:pt x="109212" y="1942440"/>
                </a:cubicBezTo>
                <a:cubicBezTo>
                  <a:pt x="125301" y="2011394"/>
                  <a:pt x="153502" y="2113742"/>
                  <a:pt x="175843" y="2179890"/>
                </a:cubicBezTo>
                <a:cubicBezTo>
                  <a:pt x="198183" y="2246039"/>
                  <a:pt x="237188" y="2342713"/>
                  <a:pt x="265598" y="2405479"/>
                </a:cubicBezTo>
                <a:cubicBezTo>
                  <a:pt x="294007" y="2468246"/>
                  <a:pt x="342906" y="2558895"/>
                  <a:pt x="374710" y="2619256"/>
                </a:cubicBezTo>
                <a:cubicBezTo>
                  <a:pt x="406515" y="2679618"/>
                  <a:pt x="461095" y="2767823"/>
                  <a:pt x="488229" y="2828009"/>
                </a:cubicBezTo>
                <a:cubicBezTo>
                  <a:pt x="515364" y="2888195"/>
                  <a:pt x="553735" y="3010196"/>
                  <a:pt x="564653" y="3040560"/>
                </a:cubicBezTo>
              </a:path>
            </a:pathLst>
          </a:custGeom>
          <a:noFill/>
          <a:ln w="3331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artery_cutface_long_collagen_418"/>
          <p:cNvSpPr/>
          <p:nvPr/>
        </p:nvSpPr>
        <p:spPr>
          <a:xfrm>
            <a:off x="12716775" y="3322112"/>
            <a:ext cx="545655" cy="2991178"/>
          </a:xfrm>
          <a:custGeom>
            <a:avLst/>
            <a:gdLst/>
            <a:ahLst/>
            <a:cxnLst/>
            <a:rect l="0" t="0" r="r" b="b"/>
            <a:pathLst>
              <a:path w="545655" h="2991178">
                <a:moveTo>
                  <a:pt x="155372" y="0"/>
                </a:moveTo>
                <a:cubicBezTo>
                  <a:pt x="146435" y="34803"/>
                  <a:pt x="107667" y="175407"/>
                  <a:pt x="92814" y="243618"/>
                </a:cubicBezTo>
                <a:cubicBezTo>
                  <a:pt x="77962" y="311828"/>
                  <a:pt x="60680" y="411612"/>
                  <a:pt x="51404" y="477474"/>
                </a:cubicBezTo>
                <a:cubicBezTo>
                  <a:pt x="42128" y="543336"/>
                  <a:pt x="32982" y="638791"/>
                  <a:pt x="27882" y="704653"/>
                </a:cubicBezTo>
                <a:cubicBezTo>
                  <a:pt x="22781" y="770514"/>
                  <a:pt x="18887" y="869974"/>
                  <a:pt x="15700" y="938503"/>
                </a:cubicBezTo>
                <a:cubicBezTo>
                  <a:pt x="12513" y="1007031"/>
                  <a:pt x="7176" y="1113498"/>
                  <a:pt x="5572" y="1184353"/>
                </a:cubicBezTo>
                <a:cubicBezTo>
                  <a:pt x="3968" y="1255209"/>
                  <a:pt x="0" y="1364318"/>
                  <a:pt x="4474" y="1434492"/>
                </a:cubicBezTo>
                <a:cubicBezTo>
                  <a:pt x="8948" y="1504666"/>
                  <a:pt x="22274" y="1608756"/>
                  <a:pt x="36890" y="1675573"/>
                </a:cubicBezTo>
                <a:cubicBezTo>
                  <a:pt x="51506" y="1742389"/>
                  <a:pt x="84422" y="1838308"/>
                  <a:pt x="106787" y="1902204"/>
                </a:cubicBezTo>
                <a:cubicBezTo>
                  <a:pt x="129152" y="1966101"/>
                  <a:pt x="169118" y="2059275"/>
                  <a:pt x="193446" y="2122850"/>
                </a:cubicBezTo>
                <a:cubicBezTo>
                  <a:pt x="217773" y="2186425"/>
                  <a:pt x="252944" y="2283220"/>
                  <a:pt x="277079" y="2347229"/>
                </a:cubicBezTo>
                <a:cubicBezTo>
                  <a:pt x="301214" y="2411238"/>
                  <a:pt x="336131" y="2508485"/>
                  <a:pt x="362388" y="2570911"/>
                </a:cubicBezTo>
                <a:cubicBezTo>
                  <a:pt x="388645" y="2633337"/>
                  <a:pt x="434696" y="2724175"/>
                  <a:pt x="460877" y="2784213"/>
                </a:cubicBezTo>
                <a:cubicBezTo>
                  <a:pt x="487058" y="2844251"/>
                  <a:pt x="533544" y="2961612"/>
                  <a:pt x="545655" y="2991178"/>
                </a:cubicBezTo>
              </a:path>
            </a:pathLst>
          </a:custGeom>
          <a:noFill/>
          <a:ln w="3937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1" name="artery_cutface_long_collagen_419"/>
          <p:cNvSpPr/>
          <p:nvPr/>
        </p:nvSpPr>
        <p:spPr>
          <a:xfrm>
            <a:off x="12713528" y="3231505"/>
            <a:ext cx="548350" cy="3060052"/>
          </a:xfrm>
          <a:custGeom>
            <a:avLst/>
            <a:gdLst/>
            <a:ahLst/>
            <a:cxnLst/>
            <a:rect l="0" t="0" r="r" b="b"/>
            <a:pathLst>
              <a:path w="548350" h="3060052">
                <a:moveTo>
                  <a:pt x="185452" y="0"/>
                </a:moveTo>
                <a:cubicBezTo>
                  <a:pt x="176493" y="34624"/>
                  <a:pt x="136854" y="174968"/>
                  <a:pt x="122735" y="242368"/>
                </a:cubicBezTo>
                <a:cubicBezTo>
                  <a:pt x="108617" y="309767"/>
                  <a:pt x="96033" y="405311"/>
                  <a:pt x="86623" y="471796"/>
                </a:cubicBezTo>
                <a:cubicBezTo>
                  <a:pt x="77213" y="538281"/>
                  <a:pt x="66185" y="637842"/>
                  <a:pt x="56863" y="707762"/>
                </a:cubicBezTo>
                <a:cubicBezTo>
                  <a:pt x="47542" y="777682"/>
                  <a:pt x="29444" y="888583"/>
                  <a:pt x="21375" y="961237"/>
                </a:cubicBezTo>
                <a:cubicBezTo>
                  <a:pt x="13306" y="1033891"/>
                  <a:pt x="764" y="1145591"/>
                  <a:pt x="382" y="1216338"/>
                </a:cubicBezTo>
                <a:cubicBezTo>
                  <a:pt x="0" y="1287085"/>
                  <a:pt x="8663" y="1388869"/>
                  <a:pt x="18702" y="1456466"/>
                </a:cubicBezTo>
                <a:cubicBezTo>
                  <a:pt x="28742" y="1524063"/>
                  <a:pt x="55948" y="1621656"/>
                  <a:pt x="70658" y="1689517"/>
                </a:cubicBezTo>
                <a:cubicBezTo>
                  <a:pt x="85368" y="1757377"/>
                  <a:pt x="106803" y="1861823"/>
                  <a:pt x="121671" y="1931488"/>
                </a:cubicBezTo>
                <a:cubicBezTo>
                  <a:pt x="136540" y="2001153"/>
                  <a:pt x="155598" y="2108980"/>
                  <a:pt x="174735" y="2177171"/>
                </a:cubicBezTo>
                <a:cubicBezTo>
                  <a:pt x="193873" y="2245362"/>
                  <a:pt x="228562" y="2344945"/>
                  <a:pt x="255634" y="2408825"/>
                </a:cubicBezTo>
                <a:cubicBezTo>
                  <a:pt x="282706" y="2472706"/>
                  <a:pt x="333400" y="2562808"/>
                  <a:pt x="364238" y="2624334"/>
                </a:cubicBezTo>
                <a:cubicBezTo>
                  <a:pt x="395076" y="2685860"/>
                  <a:pt x="445201" y="2777261"/>
                  <a:pt x="471503" y="2839506"/>
                </a:cubicBezTo>
                <a:cubicBezTo>
                  <a:pt x="497805" y="2901752"/>
                  <a:pt x="537372" y="3028546"/>
                  <a:pt x="548350" y="3060052"/>
                </a:cubicBezTo>
              </a:path>
            </a:pathLst>
          </a:custGeom>
          <a:noFill/>
          <a:ln w="4543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artery_cutface_long_collagen_420"/>
          <p:cNvSpPr/>
          <p:nvPr/>
        </p:nvSpPr>
        <p:spPr>
          <a:xfrm>
            <a:off x="12736965" y="3255722"/>
            <a:ext cx="531277" cy="3076476"/>
          </a:xfrm>
          <a:custGeom>
            <a:avLst/>
            <a:gdLst/>
            <a:ahLst/>
            <a:cxnLst/>
            <a:rect l="0" t="0" r="r" b="b"/>
            <a:pathLst>
              <a:path w="531277" h="3076476">
                <a:moveTo>
                  <a:pt x="158085" y="0"/>
                </a:moveTo>
                <a:cubicBezTo>
                  <a:pt x="150390" y="33745"/>
                  <a:pt x="117224" y="169022"/>
                  <a:pt x="104220" y="236216"/>
                </a:cubicBezTo>
                <a:cubicBezTo>
                  <a:pt x="91217" y="303409"/>
                  <a:pt x="76449" y="402818"/>
                  <a:pt x="67059" y="470351"/>
                </a:cubicBezTo>
                <a:cubicBezTo>
                  <a:pt x="57669" y="537885"/>
                  <a:pt x="45746" y="639460"/>
                  <a:pt x="38490" y="708949"/>
                </a:cubicBezTo>
                <a:cubicBezTo>
                  <a:pt x="31234" y="778438"/>
                  <a:pt x="21353" y="884982"/>
                  <a:pt x="16266" y="956775"/>
                </a:cubicBezTo>
                <a:cubicBezTo>
                  <a:pt x="11179" y="1028568"/>
                  <a:pt x="4450" y="1138792"/>
                  <a:pt x="2880" y="1211501"/>
                </a:cubicBezTo>
                <a:cubicBezTo>
                  <a:pt x="1310" y="1284209"/>
                  <a:pt x="0" y="1394239"/>
                  <a:pt x="5276" y="1465735"/>
                </a:cubicBezTo>
                <a:cubicBezTo>
                  <a:pt x="10552" y="1537232"/>
                  <a:pt x="25349" y="1643205"/>
                  <a:pt x="39810" y="1711975"/>
                </a:cubicBezTo>
                <a:cubicBezTo>
                  <a:pt x="54271" y="1780745"/>
                  <a:pt x="84828" y="1880882"/>
                  <a:pt x="106502" y="1947124"/>
                </a:cubicBezTo>
                <a:cubicBezTo>
                  <a:pt x="128177" y="2013367"/>
                  <a:pt x="166790" y="2110340"/>
                  <a:pt x="191531" y="2175672"/>
                </a:cubicBezTo>
                <a:cubicBezTo>
                  <a:pt x="216273" y="2241004"/>
                  <a:pt x="254328" y="2339105"/>
                  <a:pt x="279693" y="2404446"/>
                </a:cubicBezTo>
                <a:cubicBezTo>
                  <a:pt x="305058" y="2469787"/>
                  <a:pt x="342918" y="2568434"/>
                  <a:pt x="369085" y="2633059"/>
                </a:cubicBezTo>
                <a:cubicBezTo>
                  <a:pt x="395253" y="2697683"/>
                  <a:pt x="439695" y="2793471"/>
                  <a:pt x="462865" y="2856817"/>
                </a:cubicBezTo>
                <a:cubicBezTo>
                  <a:pt x="486035" y="2920162"/>
                  <a:pt x="521504" y="3045096"/>
                  <a:pt x="531277" y="3076476"/>
                </a:cubicBezTo>
              </a:path>
            </a:pathLst>
          </a:custGeom>
          <a:noFill/>
          <a:ln w="3331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artery_cutface_long_collagen_421"/>
          <p:cNvSpPr/>
          <p:nvPr/>
        </p:nvSpPr>
        <p:spPr>
          <a:xfrm>
            <a:off x="12736301" y="3269558"/>
            <a:ext cx="535662" cy="3040172"/>
          </a:xfrm>
          <a:custGeom>
            <a:avLst/>
            <a:gdLst/>
            <a:ahLst/>
            <a:cxnLst/>
            <a:rect l="0" t="0" r="r" b="b"/>
            <a:pathLst>
              <a:path w="535662" h="3040172">
                <a:moveTo>
                  <a:pt x="164382" y="0"/>
                </a:moveTo>
                <a:cubicBezTo>
                  <a:pt x="158027" y="32311"/>
                  <a:pt x="132000" y="160039"/>
                  <a:pt x="119895" y="226174"/>
                </a:cubicBezTo>
                <a:cubicBezTo>
                  <a:pt x="107790" y="292308"/>
                  <a:pt x="91439" y="393485"/>
                  <a:pt x="79646" y="462943"/>
                </a:cubicBezTo>
                <a:cubicBezTo>
                  <a:pt x="67852" y="532400"/>
                  <a:pt x="47878" y="640784"/>
                  <a:pt x="37340" y="712378"/>
                </a:cubicBezTo>
                <a:cubicBezTo>
                  <a:pt x="26802" y="783972"/>
                  <a:pt x="10628" y="893466"/>
                  <a:pt x="5880" y="964098"/>
                </a:cubicBezTo>
                <a:cubicBezTo>
                  <a:pt x="1131" y="1034731"/>
                  <a:pt x="0" y="1138755"/>
                  <a:pt x="4098" y="1206805"/>
                </a:cubicBezTo>
                <a:cubicBezTo>
                  <a:pt x="8195" y="1274854"/>
                  <a:pt x="23266" y="1373622"/>
                  <a:pt x="34563" y="1440442"/>
                </a:cubicBezTo>
                <a:cubicBezTo>
                  <a:pt x="45859" y="1507263"/>
                  <a:pt x="69240" y="1606693"/>
                  <a:pt x="83174" y="1674549"/>
                </a:cubicBezTo>
                <a:cubicBezTo>
                  <a:pt x="97107" y="1742406"/>
                  <a:pt x="117264" y="1846496"/>
                  <a:pt x="132099" y="1915436"/>
                </a:cubicBezTo>
                <a:cubicBezTo>
                  <a:pt x="146933" y="1984377"/>
                  <a:pt x="168318" y="2089535"/>
                  <a:pt x="187017" y="2157134"/>
                </a:cubicBezTo>
                <a:cubicBezTo>
                  <a:pt x="205715" y="2224732"/>
                  <a:pt x="237837" y="2324485"/>
                  <a:pt x="262986" y="2388625"/>
                </a:cubicBezTo>
                <a:cubicBezTo>
                  <a:pt x="288135" y="2452765"/>
                  <a:pt x="333692" y="2544605"/>
                  <a:pt x="363060" y="2606111"/>
                </a:cubicBezTo>
                <a:cubicBezTo>
                  <a:pt x="392427" y="2667618"/>
                  <a:pt x="443903" y="2757162"/>
                  <a:pt x="468560" y="2819170"/>
                </a:cubicBezTo>
                <a:cubicBezTo>
                  <a:pt x="493218" y="2881179"/>
                  <a:pt x="526076" y="3008600"/>
                  <a:pt x="535662" y="3040172"/>
                </a:cubicBezTo>
              </a:path>
            </a:pathLst>
          </a:custGeom>
          <a:noFill/>
          <a:ln w="3937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artery_cutface_long_collagen_422"/>
          <p:cNvSpPr/>
          <p:nvPr/>
        </p:nvSpPr>
        <p:spPr>
          <a:xfrm>
            <a:off x="12760391" y="3278075"/>
            <a:ext cx="507419" cy="3011066"/>
          </a:xfrm>
          <a:custGeom>
            <a:avLst/>
            <a:gdLst/>
            <a:ahLst/>
            <a:cxnLst/>
            <a:rect l="0" t="0" r="r" b="b"/>
            <a:pathLst>
              <a:path w="507419" h="3011066">
                <a:moveTo>
                  <a:pt x="151197" y="0"/>
                </a:moveTo>
                <a:cubicBezTo>
                  <a:pt x="144100" y="33091"/>
                  <a:pt x="116233" y="163099"/>
                  <a:pt x="101518" y="231638"/>
                </a:cubicBezTo>
                <a:cubicBezTo>
                  <a:pt x="86804" y="300178"/>
                  <a:pt x="61564" y="409415"/>
                  <a:pt x="48196" y="479776"/>
                </a:cubicBezTo>
                <a:cubicBezTo>
                  <a:pt x="34827" y="550137"/>
                  <a:pt x="14632" y="656359"/>
                  <a:pt x="7941" y="724167"/>
                </a:cubicBezTo>
                <a:cubicBezTo>
                  <a:pt x="1249" y="791976"/>
                  <a:pt x="0" y="888799"/>
                  <a:pt x="1357" y="954438"/>
                </a:cubicBezTo>
                <a:cubicBezTo>
                  <a:pt x="2715" y="1020078"/>
                  <a:pt x="13450" y="1116227"/>
                  <a:pt x="17441" y="1183644"/>
                </a:cubicBezTo>
                <a:cubicBezTo>
                  <a:pt x="21433" y="1251061"/>
                  <a:pt x="25164" y="1356181"/>
                  <a:pt x="29296" y="1426356"/>
                </a:cubicBezTo>
                <a:cubicBezTo>
                  <a:pt x="33427" y="1496531"/>
                  <a:pt x="36466" y="1605871"/>
                  <a:pt x="46361" y="1674872"/>
                </a:cubicBezTo>
                <a:cubicBezTo>
                  <a:pt x="56255" y="1743872"/>
                  <a:pt x="78981" y="1844550"/>
                  <a:pt x="98558" y="1909359"/>
                </a:cubicBezTo>
                <a:cubicBezTo>
                  <a:pt x="118135" y="1974169"/>
                  <a:pt x="159174" y="2065610"/>
                  <a:pt x="183398" y="2128538"/>
                </a:cubicBezTo>
                <a:cubicBezTo>
                  <a:pt x="207622" y="2191467"/>
                  <a:pt x="245095" y="2285787"/>
                  <a:pt x="268128" y="2349859"/>
                </a:cubicBezTo>
                <a:cubicBezTo>
                  <a:pt x="291161" y="2413931"/>
                  <a:pt x="321316" y="2513191"/>
                  <a:pt x="344630" y="2577043"/>
                </a:cubicBezTo>
                <a:cubicBezTo>
                  <a:pt x="367944" y="2640895"/>
                  <a:pt x="408071" y="2734821"/>
                  <a:pt x="431326" y="2796824"/>
                </a:cubicBezTo>
                <a:cubicBezTo>
                  <a:pt x="454582" y="2858827"/>
                  <a:pt x="496549" y="2980460"/>
                  <a:pt x="507419" y="3011066"/>
                </a:cubicBezTo>
              </a:path>
            </a:pathLst>
          </a:custGeom>
          <a:noFill/>
          <a:ln w="4543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artery_cutface_long_collagen_423"/>
          <p:cNvSpPr/>
          <p:nvPr/>
        </p:nvSpPr>
        <p:spPr>
          <a:xfrm>
            <a:off x="12760809" y="3179646"/>
            <a:ext cx="514549" cy="3150213"/>
          </a:xfrm>
          <a:custGeom>
            <a:avLst/>
            <a:gdLst/>
            <a:ahLst/>
            <a:cxnLst/>
            <a:rect l="0" t="0" r="r" b="b"/>
            <a:pathLst>
              <a:path w="514549" h="3150213">
                <a:moveTo>
                  <a:pt x="183247" y="0"/>
                </a:moveTo>
                <a:cubicBezTo>
                  <a:pt x="175010" y="34764"/>
                  <a:pt x="141451" y="172346"/>
                  <a:pt x="125588" y="243351"/>
                </a:cubicBezTo>
                <a:cubicBezTo>
                  <a:pt x="109724" y="314356"/>
                  <a:pt x="86215" y="424157"/>
                  <a:pt x="72203" y="497035"/>
                </a:cubicBezTo>
                <a:cubicBezTo>
                  <a:pt x="58191" y="569913"/>
                  <a:pt x="37416" y="680888"/>
                  <a:pt x="27504" y="753494"/>
                </a:cubicBezTo>
                <a:cubicBezTo>
                  <a:pt x="17591" y="826100"/>
                  <a:pt x="5628" y="934323"/>
                  <a:pt x="2814" y="1005276"/>
                </a:cubicBezTo>
                <a:cubicBezTo>
                  <a:pt x="0" y="1076230"/>
                  <a:pt x="2896" y="1180728"/>
                  <a:pt x="7806" y="1250171"/>
                </a:cubicBezTo>
                <a:cubicBezTo>
                  <a:pt x="12716" y="1319615"/>
                  <a:pt x="26594" y="1422206"/>
                  <a:pt x="37185" y="1491381"/>
                </a:cubicBezTo>
                <a:cubicBezTo>
                  <a:pt x="47776" y="1560555"/>
                  <a:pt x="68429" y="1664388"/>
                  <a:pt x="81940" y="1734393"/>
                </a:cubicBezTo>
                <a:cubicBezTo>
                  <a:pt x="95452" y="1804397"/>
                  <a:pt x="116508" y="1910794"/>
                  <a:pt x="131765" y="1981411"/>
                </a:cubicBezTo>
                <a:cubicBezTo>
                  <a:pt x="147023" y="2052029"/>
                  <a:pt x="170309" y="2158965"/>
                  <a:pt x="188741" y="2228715"/>
                </a:cubicBezTo>
                <a:cubicBezTo>
                  <a:pt x="207174" y="2298465"/>
                  <a:pt x="237309" y="2402451"/>
                  <a:pt x="260791" y="2469661"/>
                </a:cubicBezTo>
                <a:cubicBezTo>
                  <a:pt x="284274" y="2536872"/>
                  <a:pt x="325325" y="2634650"/>
                  <a:pt x="353118" y="2699188"/>
                </a:cubicBezTo>
                <a:cubicBezTo>
                  <a:pt x="380912" y="2763725"/>
                  <a:pt x="432284" y="2856992"/>
                  <a:pt x="455346" y="2921424"/>
                </a:cubicBezTo>
                <a:cubicBezTo>
                  <a:pt x="478408" y="2985856"/>
                  <a:pt x="506092" y="3117529"/>
                  <a:pt x="514549" y="3150213"/>
                </a:cubicBezTo>
              </a:path>
            </a:pathLst>
          </a:custGeom>
          <a:noFill/>
          <a:ln w="3331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artery_cutface_long_collagen_424"/>
          <p:cNvSpPr/>
          <p:nvPr/>
        </p:nvSpPr>
        <p:spPr>
          <a:xfrm>
            <a:off x="12791716" y="3199603"/>
            <a:ext cx="481661" cy="3109599"/>
          </a:xfrm>
          <a:custGeom>
            <a:avLst/>
            <a:gdLst/>
            <a:ahLst/>
            <a:cxnLst/>
            <a:rect l="0" t="0" r="r" b="b"/>
            <a:pathLst>
              <a:path w="481661" h="3109599">
                <a:moveTo>
                  <a:pt x="152634" y="0"/>
                </a:moveTo>
                <a:cubicBezTo>
                  <a:pt x="143318" y="35820"/>
                  <a:pt x="104293" y="179057"/>
                  <a:pt x="87419" y="250739"/>
                </a:cubicBezTo>
                <a:cubicBezTo>
                  <a:pt x="70545" y="322421"/>
                  <a:pt x="46319" y="431558"/>
                  <a:pt x="34518" y="501774"/>
                </a:cubicBezTo>
                <a:cubicBezTo>
                  <a:pt x="22718" y="571990"/>
                  <a:pt x="9634" y="674364"/>
                  <a:pt x="4817" y="742252"/>
                </a:cubicBezTo>
                <a:cubicBezTo>
                  <a:pt x="0" y="810140"/>
                  <a:pt x="54" y="909003"/>
                  <a:pt x="800" y="976989"/>
                </a:cubicBezTo>
                <a:cubicBezTo>
                  <a:pt x="1547" y="1044976"/>
                  <a:pt x="7580" y="1147722"/>
                  <a:pt x="10043" y="1218160"/>
                </a:cubicBezTo>
                <a:cubicBezTo>
                  <a:pt x="12505" y="1288597"/>
                  <a:pt x="14087" y="1397842"/>
                  <a:pt x="18037" y="1470053"/>
                </a:cubicBezTo>
                <a:cubicBezTo>
                  <a:pt x="21987" y="1542263"/>
                  <a:pt x="27607" y="1652852"/>
                  <a:pt x="37693" y="1723635"/>
                </a:cubicBezTo>
                <a:cubicBezTo>
                  <a:pt x="47779" y="1794418"/>
                  <a:pt x="69840" y="1898322"/>
                  <a:pt x="88638" y="1965531"/>
                </a:cubicBezTo>
                <a:cubicBezTo>
                  <a:pt x="107437" y="2032740"/>
                  <a:pt x="145196" y="2129087"/>
                  <a:pt x="169279" y="2194098"/>
                </a:cubicBezTo>
                <a:cubicBezTo>
                  <a:pt x="193362" y="2259108"/>
                  <a:pt x="232880" y="2355249"/>
                  <a:pt x="257219" y="2420607"/>
                </a:cubicBezTo>
                <a:cubicBezTo>
                  <a:pt x="281558" y="2485964"/>
                  <a:pt x="316133" y="2585722"/>
                  <a:pt x="339652" y="2651599"/>
                </a:cubicBezTo>
                <a:cubicBezTo>
                  <a:pt x="363172" y="2717477"/>
                  <a:pt x="401570" y="2816324"/>
                  <a:pt x="421857" y="2881753"/>
                </a:cubicBezTo>
                <a:cubicBezTo>
                  <a:pt x="442144" y="2947181"/>
                  <a:pt x="473118" y="3077049"/>
                  <a:pt x="481661" y="3109599"/>
                </a:cubicBezTo>
              </a:path>
            </a:pathLst>
          </a:custGeom>
          <a:noFill/>
          <a:ln w="3937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7" name="artery_cutface_long_collagen_425"/>
          <p:cNvSpPr/>
          <p:nvPr/>
        </p:nvSpPr>
        <p:spPr>
          <a:xfrm>
            <a:off x="12791001" y="3229650"/>
            <a:ext cx="487639" cy="3055078"/>
          </a:xfrm>
          <a:custGeom>
            <a:avLst/>
            <a:gdLst/>
            <a:ahLst/>
            <a:cxnLst/>
            <a:rect l="0" t="0" r="r" b="b"/>
            <a:pathLst>
              <a:path w="487639" h="3055078">
                <a:moveTo>
                  <a:pt x="145093" y="0"/>
                </a:moveTo>
                <a:cubicBezTo>
                  <a:pt x="136183" y="35180"/>
                  <a:pt x="96668" y="177973"/>
                  <a:pt x="82726" y="246257"/>
                </a:cubicBezTo>
                <a:cubicBezTo>
                  <a:pt x="68783" y="314542"/>
                  <a:pt x="54909" y="412219"/>
                  <a:pt x="47494" y="477991"/>
                </a:cubicBezTo>
                <a:cubicBezTo>
                  <a:pt x="40080" y="543764"/>
                  <a:pt x="35537" y="639136"/>
                  <a:pt x="30822" y="706664"/>
                </a:cubicBezTo>
                <a:cubicBezTo>
                  <a:pt x="26108" y="774193"/>
                  <a:pt x="18880" y="879539"/>
                  <a:pt x="14495" y="950689"/>
                </a:cubicBezTo>
                <a:cubicBezTo>
                  <a:pt x="10109" y="1021840"/>
                  <a:pt x="251" y="1133563"/>
                  <a:pt x="126" y="1204718"/>
                </a:cubicBezTo>
                <a:cubicBezTo>
                  <a:pt x="0" y="1275874"/>
                  <a:pt x="4048" y="1381138"/>
                  <a:pt x="13615" y="1448777"/>
                </a:cubicBezTo>
                <a:cubicBezTo>
                  <a:pt x="23183" y="1516416"/>
                  <a:pt x="50608" y="1612453"/>
                  <a:pt x="67101" y="1678191"/>
                </a:cubicBezTo>
                <a:cubicBezTo>
                  <a:pt x="83594" y="1743929"/>
                  <a:pt x="112858" y="1841554"/>
                  <a:pt x="129068" y="1908944"/>
                </a:cubicBezTo>
                <a:cubicBezTo>
                  <a:pt x="145278" y="1976333"/>
                  <a:pt x="164421" y="2081532"/>
                  <a:pt x="180572" y="2149916"/>
                </a:cubicBezTo>
                <a:cubicBezTo>
                  <a:pt x="196724" y="2218300"/>
                  <a:pt x="220568" y="2321944"/>
                  <a:pt x="242128" y="2387629"/>
                </a:cubicBezTo>
                <a:cubicBezTo>
                  <a:pt x="263688" y="2453314"/>
                  <a:pt x="304732" y="2547006"/>
                  <a:pt x="331493" y="2609713"/>
                </a:cubicBezTo>
                <a:cubicBezTo>
                  <a:pt x="358254" y="2672419"/>
                  <a:pt x="407149" y="2762949"/>
                  <a:pt x="429456" y="2826573"/>
                </a:cubicBezTo>
                <a:cubicBezTo>
                  <a:pt x="451762" y="2890196"/>
                  <a:pt x="479327" y="3022435"/>
                  <a:pt x="487639" y="3055078"/>
                </a:cubicBezTo>
              </a:path>
            </a:pathLst>
          </a:custGeom>
          <a:noFill/>
          <a:ln w="4543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artery_cutface_long_collagen_426"/>
          <p:cNvSpPr/>
          <p:nvPr/>
        </p:nvSpPr>
        <p:spPr>
          <a:xfrm>
            <a:off x="12820334" y="3257575"/>
            <a:ext cx="457514" cy="3071465"/>
          </a:xfrm>
          <a:custGeom>
            <a:avLst/>
            <a:gdLst/>
            <a:ahLst/>
            <a:cxnLst/>
            <a:rect l="0" t="0" r="r" b="b"/>
            <a:pathLst>
              <a:path w="457514" h="3071465">
                <a:moveTo>
                  <a:pt x="109614" y="0"/>
                </a:moveTo>
                <a:cubicBezTo>
                  <a:pt x="101965" y="34257"/>
                  <a:pt x="68591" y="172081"/>
                  <a:pt x="56071" y="239800"/>
                </a:cubicBezTo>
                <a:cubicBezTo>
                  <a:pt x="43552" y="307519"/>
                  <a:pt x="29335" y="407229"/>
                  <a:pt x="21978" y="474031"/>
                </a:cubicBezTo>
                <a:cubicBezTo>
                  <a:pt x="14621" y="540832"/>
                  <a:pt x="7681" y="639904"/>
                  <a:pt x="4575" y="707408"/>
                </a:cubicBezTo>
                <a:cubicBezTo>
                  <a:pt x="1469" y="774912"/>
                  <a:pt x="469" y="877138"/>
                  <a:pt x="235" y="946561"/>
                </a:cubicBezTo>
                <a:cubicBezTo>
                  <a:pt x="0" y="1015984"/>
                  <a:pt x="1211" y="1122289"/>
                  <a:pt x="2932" y="1193368"/>
                </a:cubicBezTo>
                <a:cubicBezTo>
                  <a:pt x="4653" y="1264448"/>
                  <a:pt x="6982" y="1372968"/>
                  <a:pt x="12282" y="1444116"/>
                </a:cubicBezTo>
                <a:cubicBezTo>
                  <a:pt x="17583" y="1515264"/>
                  <a:pt x="28336" y="1622132"/>
                  <a:pt x="40036" y="1691403"/>
                </a:cubicBezTo>
                <a:cubicBezTo>
                  <a:pt x="51736" y="1760674"/>
                  <a:pt x="75578" y="1862447"/>
                  <a:pt x="94181" y="1929011"/>
                </a:cubicBezTo>
                <a:cubicBezTo>
                  <a:pt x="112784" y="1995575"/>
                  <a:pt x="147231" y="2092567"/>
                  <a:pt x="170260" y="2157350"/>
                </a:cubicBezTo>
                <a:cubicBezTo>
                  <a:pt x="193289" y="2222133"/>
                  <a:pt x="231199" y="2317911"/>
                  <a:pt x="255384" y="2382493"/>
                </a:cubicBezTo>
                <a:cubicBezTo>
                  <a:pt x="279568" y="2447074"/>
                  <a:pt x="316225" y="2544262"/>
                  <a:pt x="339553" y="2609419"/>
                </a:cubicBezTo>
                <a:cubicBezTo>
                  <a:pt x="362880" y="2674576"/>
                  <a:pt x="401826" y="2772583"/>
                  <a:pt x="418677" y="2838589"/>
                </a:cubicBezTo>
                <a:cubicBezTo>
                  <a:pt x="435529" y="2904596"/>
                  <a:pt x="451966" y="3038197"/>
                  <a:pt x="457514" y="3071465"/>
                </a:cubicBezTo>
              </a:path>
            </a:pathLst>
          </a:custGeom>
          <a:noFill/>
          <a:ln w="3331" cap="rnd">
            <a:solidFill>
              <a:srgbClr val="BCAAD4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9" name="artery_cutface_long_collagen_427"/>
          <p:cNvSpPr/>
          <p:nvPr/>
        </p:nvSpPr>
        <p:spPr>
          <a:xfrm>
            <a:off x="12808498" y="3163461"/>
            <a:ext cx="475139" cy="3141909"/>
          </a:xfrm>
          <a:custGeom>
            <a:avLst/>
            <a:gdLst/>
            <a:ahLst/>
            <a:cxnLst/>
            <a:rect l="0" t="0" r="r" b="b"/>
            <a:pathLst>
              <a:path w="475139" h="3141909">
                <a:moveTo>
                  <a:pt x="149626" y="0"/>
                </a:moveTo>
                <a:cubicBezTo>
                  <a:pt x="142275" y="33789"/>
                  <a:pt x="110286" y="169322"/>
                  <a:pt x="98169" y="236526"/>
                </a:cubicBezTo>
                <a:cubicBezTo>
                  <a:pt x="86052" y="303731"/>
                  <a:pt x="73516" y="402075"/>
                  <a:pt x="64809" y="470432"/>
                </a:cubicBezTo>
                <a:cubicBezTo>
                  <a:pt x="56103" y="538790"/>
                  <a:pt x="44797" y="643345"/>
                  <a:pt x="37224" y="715031"/>
                </a:cubicBezTo>
                <a:cubicBezTo>
                  <a:pt x="29650" y="786717"/>
                  <a:pt x="16915" y="898657"/>
                  <a:pt x="11796" y="972235"/>
                </a:cubicBezTo>
                <a:cubicBezTo>
                  <a:pt x="6676" y="1045812"/>
                  <a:pt x="0" y="1157972"/>
                  <a:pt x="1384" y="1230073"/>
                </a:cubicBezTo>
                <a:cubicBezTo>
                  <a:pt x="2768" y="1302174"/>
                  <a:pt x="11170" y="1407826"/>
                  <a:pt x="21485" y="1476944"/>
                </a:cubicBezTo>
                <a:cubicBezTo>
                  <a:pt x="31799" y="1546062"/>
                  <a:pt x="57462" y="1646026"/>
                  <a:pt x="73585" y="1713899"/>
                </a:cubicBezTo>
                <a:cubicBezTo>
                  <a:pt x="89708" y="1781772"/>
                  <a:pt x="117799" y="1882938"/>
                  <a:pt x="134347" y="1952056"/>
                </a:cubicBezTo>
                <a:cubicBezTo>
                  <a:pt x="150894" y="2021174"/>
                  <a:pt x="172991" y="2127521"/>
                  <a:pt x="189416" y="2197728"/>
                </a:cubicBezTo>
                <a:cubicBezTo>
                  <a:pt x="205841" y="2267934"/>
                  <a:pt x="229316" y="2374817"/>
                  <a:pt x="249323" y="2443503"/>
                </a:cubicBezTo>
                <a:cubicBezTo>
                  <a:pt x="269331" y="2512189"/>
                  <a:pt x="304627" y="2612567"/>
                  <a:pt x="329470" y="2678532"/>
                </a:cubicBezTo>
                <a:cubicBezTo>
                  <a:pt x="354314" y="2744497"/>
                  <a:pt x="402418" y="2839062"/>
                  <a:pt x="423228" y="2905259"/>
                </a:cubicBezTo>
                <a:cubicBezTo>
                  <a:pt x="444038" y="2971456"/>
                  <a:pt x="467723" y="3108102"/>
                  <a:pt x="475139" y="3141909"/>
                </a:cubicBezTo>
              </a:path>
            </a:pathLst>
          </a:custGeom>
          <a:noFill/>
          <a:ln w="3937" cap="rnd">
            <a:solidFill>
              <a:srgbClr val="A79AC2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0" name="artery_cutface_long_collagen_428"/>
          <p:cNvSpPr/>
          <p:nvPr/>
        </p:nvSpPr>
        <p:spPr>
          <a:xfrm>
            <a:off x="12817624" y="3178178"/>
            <a:ext cx="463220" cy="3105652"/>
          </a:xfrm>
          <a:custGeom>
            <a:avLst/>
            <a:gdLst/>
            <a:ahLst/>
            <a:cxnLst/>
            <a:rect l="0" t="0" r="r" b="b"/>
            <a:pathLst>
              <a:path w="463220" h="3105652">
                <a:moveTo>
                  <a:pt x="145547" y="0"/>
                </a:moveTo>
                <a:cubicBezTo>
                  <a:pt x="139581" y="32277"/>
                  <a:pt x="115662" y="159157"/>
                  <a:pt x="103786" y="225938"/>
                </a:cubicBezTo>
                <a:cubicBezTo>
                  <a:pt x="91910" y="292719"/>
                  <a:pt x="74382" y="396383"/>
                  <a:pt x="62414" y="467468"/>
                </a:cubicBezTo>
                <a:cubicBezTo>
                  <a:pt x="50446" y="538553"/>
                  <a:pt x="28906" y="651356"/>
                  <a:pt x="20012" y="723534"/>
                </a:cubicBezTo>
                <a:cubicBezTo>
                  <a:pt x="11117" y="795712"/>
                  <a:pt x="301" y="903567"/>
                  <a:pt x="151" y="972714"/>
                </a:cubicBezTo>
                <a:cubicBezTo>
                  <a:pt x="0" y="1041860"/>
                  <a:pt x="11503" y="1140247"/>
                  <a:pt x="18957" y="1207560"/>
                </a:cubicBezTo>
                <a:cubicBezTo>
                  <a:pt x="26410" y="1274873"/>
                  <a:pt x="44109" y="1374478"/>
                  <a:pt x="52324" y="1443904"/>
                </a:cubicBezTo>
                <a:cubicBezTo>
                  <a:pt x="60540" y="1513331"/>
                  <a:pt x="68388" y="1622127"/>
                  <a:pt x="76467" y="1693547"/>
                </a:cubicBezTo>
                <a:cubicBezTo>
                  <a:pt x="84545" y="1764967"/>
                  <a:pt x="94659" y="1874663"/>
                  <a:pt x="108875" y="1943845"/>
                </a:cubicBezTo>
                <a:cubicBezTo>
                  <a:pt x="123091" y="2013027"/>
                  <a:pt x="153997" y="2112280"/>
                  <a:pt x="175975" y="2177820"/>
                </a:cubicBezTo>
                <a:cubicBezTo>
                  <a:pt x="197953" y="2243359"/>
                  <a:pt x="239217" y="2337384"/>
                  <a:pt x="262722" y="2402620"/>
                </a:cubicBezTo>
                <a:cubicBezTo>
                  <a:pt x="286227" y="2467856"/>
                  <a:pt x="319236" y="2567628"/>
                  <a:pt x="340509" y="2634472"/>
                </a:cubicBezTo>
                <a:cubicBezTo>
                  <a:pt x="361783" y="2701316"/>
                  <a:pt x="394106" y="2803218"/>
                  <a:pt x="411636" y="2870529"/>
                </a:cubicBezTo>
                <a:cubicBezTo>
                  <a:pt x="429166" y="2937841"/>
                  <a:pt x="455851" y="3072063"/>
                  <a:pt x="463220" y="3105652"/>
                </a:cubicBezTo>
              </a:path>
            </a:pathLst>
          </a:custGeom>
          <a:noFill/>
          <a:ln w="4543" cap="rnd">
            <a:solidFill>
              <a:srgbClr val="C9B9DC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1" name="artery_cutface_long_collagen_429"/>
          <p:cNvSpPr/>
          <p:nvPr/>
        </p:nvSpPr>
        <p:spPr>
          <a:xfrm>
            <a:off x="12827844" y="3188748"/>
            <a:ext cx="454740" cy="3138735"/>
          </a:xfrm>
          <a:custGeom>
            <a:avLst/>
            <a:gdLst/>
            <a:ahLst/>
            <a:cxnLst/>
            <a:rect l="0" t="0" r="r" b="b"/>
            <a:pathLst>
              <a:path w="454740" h="3138735">
                <a:moveTo>
                  <a:pt x="144542" y="0"/>
                </a:moveTo>
                <a:cubicBezTo>
                  <a:pt x="137555" y="33942"/>
                  <a:pt x="108301" y="168850"/>
                  <a:pt x="95629" y="237593"/>
                </a:cubicBezTo>
                <a:cubicBezTo>
                  <a:pt x="82958" y="306335"/>
                  <a:pt x="66406" y="410261"/>
                  <a:pt x="55843" y="481201"/>
                </a:cubicBezTo>
                <a:cubicBezTo>
                  <a:pt x="45281" y="552140"/>
                  <a:pt x="29378" y="661772"/>
                  <a:pt x="21691" y="734170"/>
                </a:cubicBezTo>
                <a:cubicBezTo>
                  <a:pt x="14005" y="806567"/>
                  <a:pt x="4074" y="916378"/>
                  <a:pt x="2037" y="987981"/>
                </a:cubicBezTo>
                <a:cubicBezTo>
                  <a:pt x="0" y="1059585"/>
                  <a:pt x="2079" y="1165817"/>
                  <a:pt x="7434" y="1235393"/>
                </a:cubicBezTo>
                <a:cubicBezTo>
                  <a:pt x="12788" y="1304969"/>
                  <a:pt x="27555" y="1407098"/>
                  <a:pt x="39519" y="1475011"/>
                </a:cubicBezTo>
                <a:cubicBezTo>
                  <a:pt x="51482" y="1542925"/>
                  <a:pt x="76223" y="1642786"/>
                  <a:pt x="91177" y="1710789"/>
                </a:cubicBezTo>
                <a:cubicBezTo>
                  <a:pt x="106132" y="1778792"/>
                  <a:pt x="128058" y="1882441"/>
                  <a:pt x="144201" y="1951031"/>
                </a:cubicBezTo>
                <a:cubicBezTo>
                  <a:pt x="160343" y="2019621"/>
                  <a:pt x="187051" y="2121976"/>
                  <a:pt x="204172" y="2190920"/>
                </a:cubicBezTo>
                <a:cubicBezTo>
                  <a:pt x="221293" y="2259864"/>
                  <a:pt x="245212" y="2365112"/>
                  <a:pt x="264048" y="2433641"/>
                </a:cubicBezTo>
                <a:cubicBezTo>
                  <a:pt x="282884" y="2502169"/>
                  <a:pt x="314066" y="2603815"/>
                  <a:pt x="336022" y="2670621"/>
                </a:cubicBezTo>
                <a:cubicBezTo>
                  <a:pt x="357978" y="2737427"/>
                  <a:pt x="400780" y="2834409"/>
                  <a:pt x="417740" y="2901283"/>
                </a:cubicBezTo>
                <a:cubicBezTo>
                  <a:pt x="434699" y="2968156"/>
                  <a:pt x="449454" y="3104813"/>
                  <a:pt x="454740" y="3138735"/>
                </a:cubicBezTo>
              </a:path>
            </a:pathLst>
          </a:custGeom>
          <a:noFill/>
          <a:ln w="3331" cap="rnd">
            <a:solidFill>
              <a:srgbClr val="FFFFFF">
                <a:alpha val="46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2" name="artery_fine_cutface_430"/>
          <p:cNvSpPr/>
          <p:nvPr/>
        </p:nvSpPr>
        <p:spPr>
          <a:xfrm>
            <a:off x="12814061" y="3342855"/>
            <a:ext cx="13847" cy="212033"/>
          </a:xfrm>
          <a:custGeom>
            <a:avLst/>
            <a:gdLst/>
            <a:ahLst/>
            <a:cxnLst/>
            <a:rect l="0" t="0" r="r" b="b"/>
            <a:pathLst>
              <a:path w="13847" h="212033">
                <a:moveTo>
                  <a:pt x="13847" y="0"/>
                </a:moveTo>
                <a:cubicBezTo>
                  <a:pt x="12116" y="7789"/>
                  <a:pt x="3462" y="24232"/>
                  <a:pt x="1731" y="54523"/>
                </a:cubicBezTo>
                <a:cubicBezTo>
                  <a:pt x="0" y="84813"/>
                  <a:pt x="1731" y="189532"/>
                  <a:pt x="1731" y="212033"/>
                </a:cubicBezTo>
              </a:path>
            </a:pathLst>
          </a:custGeom>
          <a:noFill/>
          <a:ln w="4376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artery_fine_cutface_431"/>
          <p:cNvSpPr/>
          <p:nvPr/>
        </p:nvSpPr>
        <p:spPr>
          <a:xfrm>
            <a:off x="12755211" y="3385262"/>
            <a:ext cx="95" cy="151452"/>
          </a:xfrm>
          <a:custGeom>
            <a:avLst/>
            <a:gdLst/>
            <a:ahLst/>
            <a:cxnLst/>
            <a:rect l="0" t="0" r="r" b="b"/>
            <a:pathLst>
              <a:path w="95" h="151452">
                <a:moveTo>
                  <a:pt x="0" y="0"/>
                </a:moveTo>
                <a:cubicBezTo>
                  <a:pt x="0" y="21636"/>
                  <a:pt x="0" y="129816"/>
                  <a:pt x="0" y="151452"/>
                </a:cubicBezTo>
              </a:path>
            </a:pathLst>
          </a:custGeom>
          <a:noFill/>
          <a:ln w="5097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artery_fine_cutface_432"/>
          <p:cNvSpPr/>
          <p:nvPr/>
        </p:nvSpPr>
        <p:spPr>
          <a:xfrm>
            <a:off x="12711073" y="3445843"/>
            <a:ext cx="15578" cy="117700"/>
          </a:xfrm>
          <a:custGeom>
            <a:avLst/>
            <a:gdLst/>
            <a:ahLst/>
            <a:cxnLst/>
            <a:rect l="0" t="0" r="r" b="b"/>
            <a:pathLst>
              <a:path w="15578" h="117700">
                <a:moveTo>
                  <a:pt x="1731" y="0"/>
                </a:moveTo>
                <a:cubicBezTo>
                  <a:pt x="1731" y="14713"/>
                  <a:pt x="0" y="88275"/>
                  <a:pt x="1731" y="102988"/>
                </a:cubicBezTo>
                <a:cubicBezTo>
                  <a:pt x="3462" y="117700"/>
                  <a:pt x="12116" y="107315"/>
                  <a:pt x="13847" y="102988"/>
                </a:cubicBezTo>
                <a:cubicBezTo>
                  <a:pt x="15578" y="98660"/>
                  <a:pt x="15578" y="77024"/>
                  <a:pt x="13847" y="72697"/>
                </a:cubicBezTo>
                <a:cubicBezTo>
                  <a:pt x="12116" y="68370"/>
                  <a:pt x="3462" y="72697"/>
                  <a:pt x="1731" y="72697"/>
                </a:cubicBezTo>
              </a:path>
            </a:pathLst>
          </a:custGeom>
          <a:noFill/>
          <a:ln w="5818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artery_fine_cutface_433"/>
          <p:cNvSpPr/>
          <p:nvPr/>
        </p:nvSpPr>
        <p:spPr>
          <a:xfrm>
            <a:off x="12712804" y="3539310"/>
            <a:ext cx="13847" cy="112507"/>
          </a:xfrm>
          <a:custGeom>
            <a:avLst/>
            <a:gdLst/>
            <a:ahLst/>
            <a:cxnLst/>
            <a:rect l="0" t="0" r="r" b="b"/>
            <a:pathLst>
              <a:path w="13847" h="112507">
                <a:moveTo>
                  <a:pt x="0" y="3462"/>
                </a:moveTo>
                <a:cubicBezTo>
                  <a:pt x="1731" y="5193"/>
                  <a:pt x="10385" y="0"/>
                  <a:pt x="12116" y="15578"/>
                </a:cubicBezTo>
                <a:cubicBezTo>
                  <a:pt x="13847" y="31156"/>
                  <a:pt x="12116" y="98660"/>
                  <a:pt x="12116" y="112507"/>
                </a:cubicBezTo>
              </a:path>
            </a:pathLst>
          </a:custGeom>
          <a:noFill/>
          <a:ln w="4376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artery_fine_cutface_434"/>
          <p:cNvSpPr/>
          <p:nvPr/>
        </p:nvSpPr>
        <p:spPr>
          <a:xfrm>
            <a:off x="12809733" y="3585179"/>
            <a:ext cx="95" cy="48465"/>
          </a:xfrm>
          <a:custGeom>
            <a:avLst/>
            <a:gdLst/>
            <a:ahLst/>
            <a:cxnLst/>
            <a:rect l="0" t="0" r="r" b="b"/>
            <a:pathLst>
              <a:path w="95" h="48465">
                <a:moveTo>
                  <a:pt x="0" y="0"/>
                </a:moveTo>
                <a:cubicBezTo>
                  <a:pt x="0" y="6924"/>
                  <a:pt x="0" y="41541"/>
                  <a:pt x="0" y="48465"/>
                </a:cubicBezTo>
              </a:path>
            </a:pathLst>
          </a:custGeom>
          <a:noFill/>
          <a:ln w="5097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artery_fine_cutface_435"/>
          <p:cNvSpPr/>
          <p:nvPr/>
        </p:nvSpPr>
        <p:spPr>
          <a:xfrm>
            <a:off x="12761269" y="3615469"/>
            <a:ext cx="13847" cy="72697"/>
          </a:xfrm>
          <a:custGeom>
            <a:avLst/>
            <a:gdLst/>
            <a:ahLst/>
            <a:cxnLst/>
            <a:rect l="0" t="0" r="r" b="b"/>
            <a:pathLst>
              <a:path w="13847" h="72697">
                <a:moveTo>
                  <a:pt x="0" y="0"/>
                </a:moveTo>
                <a:cubicBezTo>
                  <a:pt x="1731" y="3462"/>
                  <a:pt x="10385" y="14713"/>
                  <a:pt x="12116" y="24232"/>
                </a:cubicBezTo>
                <a:cubicBezTo>
                  <a:pt x="13847" y="33752"/>
                  <a:pt x="13847" y="60581"/>
                  <a:pt x="12116" y="66639"/>
                </a:cubicBezTo>
                <a:cubicBezTo>
                  <a:pt x="10385" y="72697"/>
                  <a:pt x="1731" y="66639"/>
                  <a:pt x="0" y="66639"/>
                </a:cubicBezTo>
              </a:path>
            </a:pathLst>
          </a:custGeom>
          <a:noFill/>
          <a:ln w="5818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artery_fine_cutface_436"/>
          <p:cNvSpPr/>
          <p:nvPr/>
        </p:nvSpPr>
        <p:spPr>
          <a:xfrm>
            <a:off x="12711073" y="3663934"/>
            <a:ext cx="101257" cy="514938"/>
          </a:xfrm>
          <a:custGeom>
            <a:avLst/>
            <a:gdLst/>
            <a:ahLst/>
            <a:cxnLst/>
            <a:rect l="0" t="0" r="r" b="b"/>
            <a:pathLst>
              <a:path w="101257" h="514938">
                <a:moveTo>
                  <a:pt x="92602" y="0"/>
                </a:moveTo>
                <a:cubicBezTo>
                  <a:pt x="93468" y="14713"/>
                  <a:pt x="101257" y="76159"/>
                  <a:pt x="98660" y="102988"/>
                </a:cubicBezTo>
                <a:cubicBezTo>
                  <a:pt x="96064" y="129816"/>
                  <a:pt x="78755" y="164434"/>
                  <a:pt x="74428" y="187801"/>
                </a:cubicBezTo>
                <a:cubicBezTo>
                  <a:pt x="70101" y="211168"/>
                  <a:pt x="77890" y="227611"/>
                  <a:pt x="68370" y="266556"/>
                </a:cubicBezTo>
                <a:cubicBezTo>
                  <a:pt x="58850" y="305501"/>
                  <a:pt x="15578" y="424932"/>
                  <a:pt x="7789" y="460415"/>
                </a:cubicBezTo>
                <a:cubicBezTo>
                  <a:pt x="0" y="495898"/>
                  <a:pt x="12982" y="507149"/>
                  <a:pt x="13847" y="514938"/>
                </a:cubicBezTo>
              </a:path>
            </a:pathLst>
          </a:custGeom>
          <a:noFill/>
          <a:ln w="4376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artery_fine_cutface_437"/>
          <p:cNvSpPr/>
          <p:nvPr/>
        </p:nvSpPr>
        <p:spPr>
          <a:xfrm>
            <a:off x="12670397" y="3760863"/>
            <a:ext cx="12116" cy="60581"/>
          </a:xfrm>
          <a:custGeom>
            <a:avLst/>
            <a:gdLst/>
            <a:ahLst/>
            <a:cxnLst/>
            <a:rect l="0" t="0" r="r" b="b"/>
            <a:pathLst>
              <a:path w="12116" h="60581">
                <a:moveTo>
                  <a:pt x="12116" y="0"/>
                </a:moveTo>
                <a:cubicBezTo>
                  <a:pt x="10385" y="8654"/>
                  <a:pt x="1731" y="51927"/>
                  <a:pt x="0" y="60581"/>
                </a:cubicBezTo>
              </a:path>
            </a:pathLst>
          </a:custGeom>
          <a:noFill/>
          <a:ln w="5097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artery_fine_cutface_438"/>
          <p:cNvSpPr/>
          <p:nvPr/>
        </p:nvSpPr>
        <p:spPr>
          <a:xfrm>
            <a:off x="12646165" y="3779038"/>
            <a:ext cx="102988" cy="284730"/>
          </a:xfrm>
          <a:custGeom>
            <a:avLst/>
            <a:gdLst/>
            <a:ahLst/>
            <a:cxnLst/>
            <a:rect l="0" t="0" r="r" b="b"/>
            <a:pathLst>
              <a:path w="102988" h="284730">
                <a:moveTo>
                  <a:pt x="102988" y="0"/>
                </a:moveTo>
                <a:cubicBezTo>
                  <a:pt x="102122" y="9520"/>
                  <a:pt x="101257" y="52792"/>
                  <a:pt x="96929" y="66639"/>
                </a:cubicBezTo>
                <a:cubicBezTo>
                  <a:pt x="92602" y="80486"/>
                  <a:pt x="79621" y="82217"/>
                  <a:pt x="72697" y="96929"/>
                </a:cubicBezTo>
                <a:cubicBezTo>
                  <a:pt x="65774" y="111642"/>
                  <a:pt x="54523" y="157510"/>
                  <a:pt x="48465" y="169627"/>
                </a:cubicBezTo>
                <a:cubicBezTo>
                  <a:pt x="42407" y="181743"/>
                  <a:pt x="32887" y="176550"/>
                  <a:pt x="30290" y="181743"/>
                </a:cubicBezTo>
                <a:cubicBezTo>
                  <a:pt x="27694" y="186935"/>
                  <a:pt x="32887" y="199052"/>
                  <a:pt x="30290" y="205975"/>
                </a:cubicBezTo>
                <a:cubicBezTo>
                  <a:pt x="27694" y="212899"/>
                  <a:pt x="16443" y="218957"/>
                  <a:pt x="12116" y="230207"/>
                </a:cubicBezTo>
                <a:cubicBezTo>
                  <a:pt x="7789" y="241458"/>
                  <a:pt x="1731" y="276941"/>
                  <a:pt x="0" y="284730"/>
                </a:cubicBezTo>
              </a:path>
            </a:pathLst>
          </a:custGeom>
          <a:noFill/>
          <a:ln w="5818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1" name="artery_fine_cutface_439"/>
          <p:cNvSpPr/>
          <p:nvPr/>
        </p:nvSpPr>
        <p:spPr>
          <a:xfrm>
            <a:off x="12688572" y="3785096"/>
            <a:ext cx="18174" cy="102988"/>
          </a:xfrm>
          <a:custGeom>
            <a:avLst/>
            <a:gdLst/>
            <a:ahLst/>
            <a:cxnLst/>
            <a:rect l="0" t="0" r="r" b="b"/>
            <a:pathLst>
              <a:path w="18174" h="102988">
                <a:moveTo>
                  <a:pt x="18174" y="0"/>
                </a:moveTo>
                <a:cubicBezTo>
                  <a:pt x="15578" y="14713"/>
                  <a:pt x="2596" y="88275"/>
                  <a:pt x="0" y="102988"/>
                </a:cubicBezTo>
              </a:path>
            </a:pathLst>
          </a:custGeom>
          <a:noFill/>
          <a:ln w="4376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artery_fine_cutface_440"/>
          <p:cNvSpPr/>
          <p:nvPr/>
        </p:nvSpPr>
        <p:spPr>
          <a:xfrm>
            <a:off x="12667801" y="3857793"/>
            <a:ext cx="76159" cy="260498"/>
          </a:xfrm>
          <a:custGeom>
            <a:avLst/>
            <a:gdLst/>
            <a:ahLst/>
            <a:cxnLst/>
            <a:rect l="0" t="0" r="r" b="b"/>
            <a:pathLst>
              <a:path w="76159" h="260498">
                <a:moveTo>
                  <a:pt x="69235" y="0"/>
                </a:moveTo>
                <a:cubicBezTo>
                  <a:pt x="70101" y="4327"/>
                  <a:pt x="76159" y="18174"/>
                  <a:pt x="75293" y="30290"/>
                </a:cubicBezTo>
                <a:cubicBezTo>
                  <a:pt x="74428" y="42407"/>
                  <a:pt x="70966" y="64908"/>
                  <a:pt x="63177" y="84813"/>
                </a:cubicBezTo>
                <a:cubicBezTo>
                  <a:pt x="55388" y="104718"/>
                  <a:pt x="26829" y="153183"/>
                  <a:pt x="20771" y="169627"/>
                </a:cubicBezTo>
                <a:cubicBezTo>
                  <a:pt x="14713" y="186070"/>
                  <a:pt x="23367" y="192128"/>
                  <a:pt x="20771" y="199917"/>
                </a:cubicBezTo>
                <a:cubicBezTo>
                  <a:pt x="18174" y="207706"/>
                  <a:pt x="5193" y="215495"/>
                  <a:pt x="2596" y="224149"/>
                </a:cubicBezTo>
                <a:cubicBezTo>
                  <a:pt x="0" y="232804"/>
                  <a:pt x="2596" y="255305"/>
                  <a:pt x="2596" y="260498"/>
                </a:cubicBezTo>
              </a:path>
            </a:pathLst>
          </a:custGeom>
          <a:noFill/>
          <a:ln w="5097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artery_fine_cutface_441"/>
          <p:cNvSpPr/>
          <p:nvPr/>
        </p:nvSpPr>
        <p:spPr>
          <a:xfrm>
            <a:off x="12646165" y="3875967"/>
            <a:ext cx="12116" cy="72697"/>
          </a:xfrm>
          <a:custGeom>
            <a:avLst/>
            <a:gdLst/>
            <a:ahLst/>
            <a:cxnLst/>
            <a:rect l="0" t="0" r="r" b="b"/>
            <a:pathLst>
              <a:path w="12116" h="72697">
                <a:moveTo>
                  <a:pt x="12116" y="0"/>
                </a:moveTo>
                <a:cubicBezTo>
                  <a:pt x="10385" y="10385"/>
                  <a:pt x="1731" y="62312"/>
                  <a:pt x="0" y="72697"/>
                </a:cubicBezTo>
              </a:path>
            </a:pathLst>
          </a:custGeom>
          <a:noFill/>
          <a:ln w="5818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artery_fine_cutface_442"/>
          <p:cNvSpPr/>
          <p:nvPr/>
        </p:nvSpPr>
        <p:spPr>
          <a:xfrm>
            <a:off x="12605489" y="3960781"/>
            <a:ext cx="34618" cy="181743"/>
          </a:xfrm>
          <a:custGeom>
            <a:avLst/>
            <a:gdLst/>
            <a:ahLst/>
            <a:cxnLst/>
            <a:rect l="0" t="0" r="r" b="b"/>
            <a:pathLst>
              <a:path w="34618" h="181743">
                <a:moveTo>
                  <a:pt x="34618" y="0"/>
                </a:moveTo>
                <a:cubicBezTo>
                  <a:pt x="30290" y="14713"/>
                  <a:pt x="8654" y="77024"/>
                  <a:pt x="4327" y="102988"/>
                </a:cubicBezTo>
                <a:cubicBezTo>
                  <a:pt x="0" y="128951"/>
                  <a:pt x="4327" y="170492"/>
                  <a:pt x="4327" y="181743"/>
                </a:cubicBezTo>
              </a:path>
            </a:pathLst>
          </a:custGeom>
          <a:noFill/>
          <a:ln w="4376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5" name="artery_fine_cutface_443"/>
          <p:cNvSpPr/>
          <p:nvPr/>
        </p:nvSpPr>
        <p:spPr>
          <a:xfrm>
            <a:off x="12682514" y="3997129"/>
            <a:ext cx="27694" cy="66639"/>
          </a:xfrm>
          <a:custGeom>
            <a:avLst/>
            <a:gdLst/>
            <a:ahLst/>
            <a:cxnLst/>
            <a:rect l="0" t="0" r="r" b="b"/>
            <a:pathLst>
              <a:path w="27694" h="66639">
                <a:moveTo>
                  <a:pt x="24232" y="0"/>
                </a:moveTo>
                <a:cubicBezTo>
                  <a:pt x="24232" y="5193"/>
                  <a:pt x="27694" y="26829"/>
                  <a:pt x="24232" y="36349"/>
                </a:cubicBezTo>
                <a:cubicBezTo>
                  <a:pt x="20771" y="45868"/>
                  <a:pt x="3462" y="62312"/>
                  <a:pt x="0" y="66639"/>
                </a:cubicBezTo>
              </a:path>
            </a:pathLst>
          </a:custGeom>
          <a:noFill/>
          <a:ln w="5097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6" name="artery_fine_cutface_444"/>
          <p:cNvSpPr/>
          <p:nvPr/>
        </p:nvSpPr>
        <p:spPr>
          <a:xfrm>
            <a:off x="12736171" y="4039536"/>
            <a:ext cx="12982" cy="18174"/>
          </a:xfrm>
          <a:custGeom>
            <a:avLst/>
            <a:gdLst/>
            <a:ahLst/>
            <a:cxnLst/>
            <a:rect l="0" t="0" r="r" b="b"/>
            <a:pathLst>
              <a:path w="12982" h="18174">
                <a:moveTo>
                  <a:pt x="6924" y="0"/>
                </a:moveTo>
                <a:cubicBezTo>
                  <a:pt x="6058" y="1731"/>
                  <a:pt x="0" y="9520"/>
                  <a:pt x="865" y="12116"/>
                </a:cubicBezTo>
                <a:cubicBezTo>
                  <a:pt x="1731" y="14713"/>
                  <a:pt x="11251" y="17309"/>
                  <a:pt x="12982" y="18174"/>
                </a:cubicBezTo>
              </a:path>
            </a:pathLst>
          </a:custGeom>
          <a:noFill/>
          <a:ln w="5818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7" name="artery_fine_cutface_445"/>
          <p:cNvSpPr/>
          <p:nvPr/>
        </p:nvSpPr>
        <p:spPr>
          <a:xfrm>
            <a:off x="12640107" y="4075884"/>
            <a:ext cx="36349" cy="84813"/>
          </a:xfrm>
          <a:custGeom>
            <a:avLst/>
            <a:gdLst/>
            <a:ahLst/>
            <a:cxnLst/>
            <a:rect l="0" t="0" r="r" b="b"/>
            <a:pathLst>
              <a:path w="36349" h="84813">
                <a:moveTo>
                  <a:pt x="36349" y="0"/>
                </a:moveTo>
                <a:cubicBezTo>
                  <a:pt x="32887" y="4327"/>
                  <a:pt x="17309" y="18174"/>
                  <a:pt x="12116" y="30290"/>
                </a:cubicBezTo>
                <a:cubicBezTo>
                  <a:pt x="6924" y="42407"/>
                  <a:pt x="1731" y="77024"/>
                  <a:pt x="0" y="84813"/>
                </a:cubicBezTo>
              </a:path>
            </a:pathLst>
          </a:custGeom>
          <a:noFill/>
          <a:ln w="4376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8" name="artery_fine_cutface_446"/>
          <p:cNvSpPr/>
          <p:nvPr/>
        </p:nvSpPr>
        <p:spPr>
          <a:xfrm>
            <a:off x="12621933" y="4130407"/>
            <a:ext cx="42407" cy="333195"/>
          </a:xfrm>
          <a:custGeom>
            <a:avLst/>
            <a:gdLst/>
            <a:ahLst/>
            <a:cxnLst/>
            <a:rect l="0" t="0" r="r" b="b"/>
            <a:pathLst>
              <a:path w="42407" h="333195">
                <a:moveTo>
                  <a:pt x="42407" y="0"/>
                </a:moveTo>
                <a:cubicBezTo>
                  <a:pt x="39810" y="6924"/>
                  <a:pt x="27694" y="18174"/>
                  <a:pt x="24232" y="48465"/>
                </a:cubicBezTo>
                <a:cubicBezTo>
                  <a:pt x="20771" y="78755"/>
                  <a:pt x="21636" y="171357"/>
                  <a:pt x="18174" y="212033"/>
                </a:cubicBezTo>
                <a:cubicBezTo>
                  <a:pt x="14713" y="252709"/>
                  <a:pt x="2596" y="315886"/>
                  <a:pt x="0" y="333195"/>
                </a:cubicBezTo>
              </a:path>
            </a:pathLst>
          </a:custGeom>
          <a:noFill/>
          <a:ln w="5097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9" name="artery_fine_cutface_447"/>
          <p:cNvSpPr/>
          <p:nvPr/>
        </p:nvSpPr>
        <p:spPr>
          <a:xfrm>
            <a:off x="12609816" y="4184930"/>
            <a:ext cx="36349" cy="42407"/>
          </a:xfrm>
          <a:custGeom>
            <a:avLst/>
            <a:gdLst/>
            <a:ahLst/>
            <a:cxnLst/>
            <a:rect l="0" t="0" r="r" b="b"/>
            <a:pathLst>
              <a:path w="36349" h="42407">
                <a:moveTo>
                  <a:pt x="36349" y="0"/>
                </a:moveTo>
                <a:cubicBezTo>
                  <a:pt x="33752" y="865"/>
                  <a:pt x="23367" y="0"/>
                  <a:pt x="18174" y="6058"/>
                </a:cubicBezTo>
                <a:cubicBezTo>
                  <a:pt x="12982" y="12116"/>
                  <a:pt x="2596" y="37214"/>
                  <a:pt x="0" y="42407"/>
                </a:cubicBezTo>
              </a:path>
            </a:pathLst>
          </a:custGeom>
          <a:noFill/>
          <a:ln w="5818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0" name="artery_fine_cutface_448"/>
          <p:cNvSpPr/>
          <p:nvPr/>
        </p:nvSpPr>
        <p:spPr>
          <a:xfrm>
            <a:off x="12694630" y="4184930"/>
            <a:ext cx="33752" cy="98660"/>
          </a:xfrm>
          <a:custGeom>
            <a:avLst/>
            <a:gdLst/>
            <a:ahLst/>
            <a:cxnLst/>
            <a:rect l="0" t="0" r="r" b="b"/>
            <a:pathLst>
              <a:path w="33752" h="98660">
                <a:moveTo>
                  <a:pt x="12116" y="0"/>
                </a:moveTo>
                <a:cubicBezTo>
                  <a:pt x="10385" y="12116"/>
                  <a:pt x="0" y="70966"/>
                  <a:pt x="0" y="84813"/>
                </a:cubicBezTo>
                <a:cubicBezTo>
                  <a:pt x="0" y="98660"/>
                  <a:pt x="8654" y="95199"/>
                  <a:pt x="12116" y="96929"/>
                </a:cubicBezTo>
                <a:cubicBezTo>
                  <a:pt x="15578" y="98660"/>
                  <a:pt x="21636" y="98660"/>
                  <a:pt x="24232" y="96929"/>
                </a:cubicBezTo>
                <a:cubicBezTo>
                  <a:pt x="26829" y="95199"/>
                  <a:pt x="29425" y="91737"/>
                  <a:pt x="30290" y="84813"/>
                </a:cubicBezTo>
                <a:cubicBezTo>
                  <a:pt x="31156" y="77890"/>
                  <a:pt x="33752" y="56254"/>
                  <a:pt x="30290" y="48465"/>
                </a:cubicBezTo>
                <a:cubicBezTo>
                  <a:pt x="26829" y="40676"/>
                  <a:pt x="8654" y="31156"/>
                  <a:pt x="6058" y="30290"/>
                </a:cubicBezTo>
                <a:cubicBezTo>
                  <a:pt x="3462" y="29425"/>
                  <a:pt x="9520" y="40676"/>
                  <a:pt x="12116" y="42407"/>
                </a:cubicBezTo>
                <a:cubicBezTo>
                  <a:pt x="14713" y="44138"/>
                  <a:pt x="21636" y="46734"/>
                  <a:pt x="24232" y="42407"/>
                </a:cubicBezTo>
                <a:cubicBezTo>
                  <a:pt x="26829" y="38079"/>
                  <a:pt x="29425" y="16443"/>
                  <a:pt x="30290" y="12116"/>
                </a:cubicBezTo>
              </a:path>
            </a:pathLst>
          </a:custGeom>
          <a:noFill/>
          <a:ln w="4376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1" name="artery_fine_cutface_449"/>
          <p:cNvSpPr/>
          <p:nvPr/>
        </p:nvSpPr>
        <p:spPr>
          <a:xfrm>
            <a:off x="12431535" y="4233395"/>
            <a:ext cx="208571" cy="678506"/>
          </a:xfrm>
          <a:custGeom>
            <a:avLst/>
            <a:gdLst/>
            <a:ahLst/>
            <a:cxnLst/>
            <a:rect l="0" t="0" r="r" b="b"/>
            <a:pathLst>
              <a:path w="208571" h="678506">
                <a:moveTo>
                  <a:pt x="208571" y="6058"/>
                </a:moveTo>
                <a:cubicBezTo>
                  <a:pt x="205110" y="7789"/>
                  <a:pt x="193859" y="0"/>
                  <a:pt x="184339" y="18174"/>
                </a:cubicBezTo>
                <a:cubicBezTo>
                  <a:pt x="174819" y="36349"/>
                  <a:pt x="152318" y="112507"/>
                  <a:pt x="141932" y="133278"/>
                </a:cubicBezTo>
                <a:cubicBezTo>
                  <a:pt x="131547" y="154049"/>
                  <a:pt x="115969" y="156645"/>
                  <a:pt x="111642" y="163568"/>
                </a:cubicBezTo>
                <a:cubicBezTo>
                  <a:pt x="107315" y="170492"/>
                  <a:pt x="116835" y="174819"/>
                  <a:pt x="111642" y="181743"/>
                </a:cubicBezTo>
                <a:cubicBezTo>
                  <a:pt x="106449" y="188666"/>
                  <a:pt x="81352" y="202513"/>
                  <a:pt x="75293" y="212033"/>
                </a:cubicBezTo>
                <a:cubicBezTo>
                  <a:pt x="69235" y="221553"/>
                  <a:pt x="71832" y="243189"/>
                  <a:pt x="69235" y="248382"/>
                </a:cubicBezTo>
                <a:cubicBezTo>
                  <a:pt x="66639" y="253574"/>
                  <a:pt x="59715" y="245785"/>
                  <a:pt x="57119" y="248382"/>
                </a:cubicBezTo>
                <a:cubicBezTo>
                  <a:pt x="54523" y="250978"/>
                  <a:pt x="55388" y="263094"/>
                  <a:pt x="51061" y="266556"/>
                </a:cubicBezTo>
                <a:cubicBezTo>
                  <a:pt x="46734" y="270018"/>
                  <a:pt x="32021" y="266556"/>
                  <a:pt x="26829" y="272614"/>
                </a:cubicBezTo>
                <a:cubicBezTo>
                  <a:pt x="21636" y="278672"/>
                  <a:pt x="13847" y="299443"/>
                  <a:pt x="14713" y="308963"/>
                </a:cubicBezTo>
                <a:cubicBezTo>
                  <a:pt x="15578" y="318483"/>
                  <a:pt x="31156" y="329733"/>
                  <a:pt x="32887" y="339253"/>
                </a:cubicBezTo>
                <a:cubicBezTo>
                  <a:pt x="34618" y="348773"/>
                  <a:pt x="31156" y="366947"/>
                  <a:pt x="26829" y="375602"/>
                </a:cubicBezTo>
                <a:cubicBezTo>
                  <a:pt x="22501" y="384256"/>
                  <a:pt x="5193" y="356562"/>
                  <a:pt x="2596" y="399834"/>
                </a:cubicBezTo>
                <a:cubicBezTo>
                  <a:pt x="0" y="443106"/>
                  <a:pt x="7789" y="638696"/>
                  <a:pt x="8654" y="678506"/>
                </a:cubicBezTo>
              </a:path>
            </a:pathLst>
          </a:custGeom>
          <a:noFill/>
          <a:ln w="5097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2" name="artery_fine_cutface_450"/>
          <p:cNvSpPr/>
          <p:nvPr/>
        </p:nvSpPr>
        <p:spPr>
          <a:xfrm>
            <a:off x="12506829" y="4275801"/>
            <a:ext cx="66639" cy="84813"/>
          </a:xfrm>
          <a:custGeom>
            <a:avLst/>
            <a:gdLst/>
            <a:ahLst/>
            <a:cxnLst/>
            <a:rect l="0" t="0" r="r" b="b"/>
            <a:pathLst>
              <a:path w="66639" h="84813">
                <a:moveTo>
                  <a:pt x="66639" y="0"/>
                </a:moveTo>
                <a:cubicBezTo>
                  <a:pt x="63177" y="3462"/>
                  <a:pt x="48465" y="14713"/>
                  <a:pt x="42407" y="24232"/>
                </a:cubicBezTo>
                <a:cubicBezTo>
                  <a:pt x="36349" y="33752"/>
                  <a:pt x="30290" y="57985"/>
                  <a:pt x="24232" y="66639"/>
                </a:cubicBezTo>
                <a:cubicBezTo>
                  <a:pt x="18174" y="75293"/>
                  <a:pt x="3462" y="82217"/>
                  <a:pt x="0" y="84813"/>
                </a:cubicBezTo>
              </a:path>
            </a:pathLst>
          </a:custGeom>
          <a:noFill/>
          <a:ln w="5818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artery_fine_cutface_451"/>
          <p:cNvSpPr/>
          <p:nvPr/>
        </p:nvSpPr>
        <p:spPr>
          <a:xfrm>
            <a:off x="12694630" y="4274936"/>
            <a:ext cx="24232" cy="134143"/>
          </a:xfrm>
          <a:custGeom>
            <a:avLst/>
            <a:gdLst/>
            <a:ahLst/>
            <a:cxnLst/>
            <a:rect l="0" t="0" r="r" b="b"/>
            <a:pathLst>
              <a:path w="24232" h="134143">
                <a:moveTo>
                  <a:pt x="24232" y="865"/>
                </a:moveTo>
                <a:cubicBezTo>
                  <a:pt x="21636" y="3462"/>
                  <a:pt x="9520" y="0"/>
                  <a:pt x="6058" y="19040"/>
                </a:cubicBezTo>
                <a:cubicBezTo>
                  <a:pt x="2596" y="38079"/>
                  <a:pt x="865" y="117700"/>
                  <a:pt x="0" y="134143"/>
                </a:cubicBezTo>
              </a:path>
            </a:pathLst>
          </a:custGeom>
          <a:noFill/>
          <a:ln w="4376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artery_fine_cutface_452"/>
          <p:cNvSpPr/>
          <p:nvPr/>
        </p:nvSpPr>
        <p:spPr>
          <a:xfrm>
            <a:off x="12700688" y="4281859"/>
            <a:ext cx="27694" cy="48465"/>
          </a:xfrm>
          <a:custGeom>
            <a:avLst/>
            <a:gdLst/>
            <a:ahLst/>
            <a:cxnLst/>
            <a:rect l="0" t="0" r="r" b="b"/>
            <a:pathLst>
              <a:path w="27694" h="48465">
                <a:moveTo>
                  <a:pt x="12116" y="0"/>
                </a:moveTo>
                <a:cubicBezTo>
                  <a:pt x="13847" y="1731"/>
                  <a:pt x="22501" y="6924"/>
                  <a:pt x="24232" y="12116"/>
                </a:cubicBezTo>
                <a:cubicBezTo>
                  <a:pt x="25963" y="17309"/>
                  <a:pt x="27694" y="31156"/>
                  <a:pt x="24232" y="36349"/>
                </a:cubicBezTo>
                <a:cubicBezTo>
                  <a:pt x="20771" y="41541"/>
                  <a:pt x="3462" y="46734"/>
                  <a:pt x="0" y="48465"/>
                </a:cubicBezTo>
              </a:path>
            </a:pathLst>
          </a:custGeom>
          <a:noFill/>
          <a:ln w="5097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artery_fine_cutface_453"/>
          <p:cNvSpPr/>
          <p:nvPr/>
        </p:nvSpPr>
        <p:spPr>
          <a:xfrm>
            <a:off x="12518945" y="4293976"/>
            <a:ext cx="36349" cy="54523"/>
          </a:xfrm>
          <a:custGeom>
            <a:avLst/>
            <a:gdLst/>
            <a:ahLst/>
            <a:cxnLst/>
            <a:rect l="0" t="0" r="r" b="b"/>
            <a:pathLst>
              <a:path w="36349" h="54523">
                <a:moveTo>
                  <a:pt x="36349" y="0"/>
                </a:moveTo>
                <a:cubicBezTo>
                  <a:pt x="31156" y="7789"/>
                  <a:pt x="5193" y="46734"/>
                  <a:pt x="0" y="54523"/>
                </a:cubicBezTo>
              </a:path>
            </a:pathLst>
          </a:custGeom>
          <a:noFill/>
          <a:ln w="5818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artery_fine_cutface_454"/>
          <p:cNvSpPr/>
          <p:nvPr/>
        </p:nvSpPr>
        <p:spPr>
          <a:xfrm>
            <a:off x="12724055" y="4396963"/>
            <a:ext cx="12982" cy="66639"/>
          </a:xfrm>
          <a:custGeom>
            <a:avLst/>
            <a:gdLst/>
            <a:ahLst/>
            <a:cxnLst/>
            <a:rect l="0" t="0" r="r" b="b"/>
            <a:pathLst>
              <a:path w="12982" h="66639">
                <a:moveTo>
                  <a:pt x="12982" y="0"/>
                </a:moveTo>
                <a:cubicBezTo>
                  <a:pt x="11251" y="4327"/>
                  <a:pt x="1731" y="20771"/>
                  <a:pt x="865" y="30290"/>
                </a:cubicBezTo>
                <a:cubicBezTo>
                  <a:pt x="0" y="39810"/>
                  <a:pt x="6058" y="61446"/>
                  <a:pt x="6924" y="66639"/>
                </a:cubicBezTo>
              </a:path>
            </a:pathLst>
          </a:custGeom>
          <a:noFill/>
          <a:ln w="4376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7" name="artery_fine_cutface_455"/>
          <p:cNvSpPr/>
          <p:nvPr/>
        </p:nvSpPr>
        <p:spPr>
          <a:xfrm>
            <a:off x="12476538" y="4421195"/>
            <a:ext cx="67504" cy="78755"/>
          </a:xfrm>
          <a:custGeom>
            <a:avLst/>
            <a:gdLst/>
            <a:ahLst/>
            <a:cxnLst/>
            <a:rect l="0" t="0" r="r" b="b"/>
            <a:pathLst>
              <a:path w="67504" h="78755">
                <a:moveTo>
                  <a:pt x="60581" y="0"/>
                </a:moveTo>
                <a:cubicBezTo>
                  <a:pt x="61446" y="6058"/>
                  <a:pt x="67504" y="34618"/>
                  <a:pt x="66639" y="42407"/>
                </a:cubicBezTo>
                <a:cubicBezTo>
                  <a:pt x="65774" y="50196"/>
                  <a:pt x="60581" y="52792"/>
                  <a:pt x="54523" y="54523"/>
                </a:cubicBezTo>
                <a:cubicBezTo>
                  <a:pt x="48465" y="56254"/>
                  <a:pt x="32021" y="51061"/>
                  <a:pt x="24232" y="54523"/>
                </a:cubicBezTo>
                <a:cubicBezTo>
                  <a:pt x="16443" y="57985"/>
                  <a:pt x="3462" y="75293"/>
                  <a:pt x="0" y="78755"/>
                </a:cubicBezTo>
              </a:path>
            </a:pathLst>
          </a:custGeom>
          <a:noFill/>
          <a:ln w="5097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8" name="artery_fine_cutface_456"/>
          <p:cNvSpPr/>
          <p:nvPr/>
        </p:nvSpPr>
        <p:spPr>
          <a:xfrm>
            <a:off x="12688572" y="4451486"/>
            <a:ext cx="13847" cy="54523"/>
          </a:xfrm>
          <a:custGeom>
            <a:avLst/>
            <a:gdLst/>
            <a:ahLst/>
            <a:cxnLst/>
            <a:rect l="0" t="0" r="r" b="b"/>
            <a:pathLst>
              <a:path w="13847" h="54523">
                <a:moveTo>
                  <a:pt x="0" y="0"/>
                </a:moveTo>
                <a:cubicBezTo>
                  <a:pt x="1731" y="3462"/>
                  <a:pt x="10385" y="16443"/>
                  <a:pt x="12116" y="24232"/>
                </a:cubicBezTo>
                <a:cubicBezTo>
                  <a:pt x="13847" y="32021"/>
                  <a:pt x="12116" y="50196"/>
                  <a:pt x="12116" y="54523"/>
                </a:cubicBezTo>
              </a:path>
            </a:pathLst>
          </a:custGeom>
          <a:noFill/>
          <a:ln w="5818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9" name="artery_fine_cutface_457"/>
          <p:cNvSpPr/>
          <p:nvPr/>
        </p:nvSpPr>
        <p:spPr>
          <a:xfrm>
            <a:off x="12814061" y="4518125"/>
            <a:ext cx="201648" cy="787552"/>
          </a:xfrm>
          <a:custGeom>
            <a:avLst/>
            <a:gdLst/>
            <a:ahLst/>
            <a:cxnLst/>
            <a:rect l="0" t="0" r="r" b="b"/>
            <a:pathLst>
              <a:path w="201648" h="787552">
                <a:moveTo>
                  <a:pt x="1731" y="0"/>
                </a:moveTo>
                <a:cubicBezTo>
                  <a:pt x="2596" y="24232"/>
                  <a:pt x="0" y="113373"/>
                  <a:pt x="7789" y="169627"/>
                </a:cubicBezTo>
                <a:cubicBezTo>
                  <a:pt x="15578" y="225880"/>
                  <a:pt x="41541" y="337522"/>
                  <a:pt x="56254" y="393776"/>
                </a:cubicBezTo>
                <a:cubicBezTo>
                  <a:pt x="70966" y="450030"/>
                  <a:pt x="90006" y="507149"/>
                  <a:pt x="110777" y="563403"/>
                </a:cubicBezTo>
                <a:cubicBezTo>
                  <a:pt x="131547" y="619656"/>
                  <a:pt x="188666" y="755531"/>
                  <a:pt x="201648" y="787552"/>
                </a:cubicBezTo>
              </a:path>
            </a:pathLst>
          </a:custGeom>
          <a:noFill/>
          <a:ln w="4376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0" name="artery_fine_cutface_458"/>
          <p:cNvSpPr/>
          <p:nvPr/>
        </p:nvSpPr>
        <p:spPr>
          <a:xfrm>
            <a:off x="12705015" y="4524183"/>
            <a:ext cx="27694" cy="169627"/>
          </a:xfrm>
          <a:custGeom>
            <a:avLst/>
            <a:gdLst/>
            <a:ahLst/>
            <a:cxnLst/>
            <a:rect l="0" t="0" r="r" b="b"/>
            <a:pathLst>
              <a:path w="27694" h="169627">
                <a:moveTo>
                  <a:pt x="1731" y="0"/>
                </a:moveTo>
                <a:cubicBezTo>
                  <a:pt x="1731" y="2596"/>
                  <a:pt x="0" y="15578"/>
                  <a:pt x="1731" y="18174"/>
                </a:cubicBezTo>
                <a:cubicBezTo>
                  <a:pt x="3462" y="20771"/>
                  <a:pt x="12116" y="0"/>
                  <a:pt x="13847" y="18174"/>
                </a:cubicBezTo>
                <a:cubicBezTo>
                  <a:pt x="15578" y="36349"/>
                  <a:pt x="12116" y="126354"/>
                  <a:pt x="13847" y="145394"/>
                </a:cubicBezTo>
                <a:cubicBezTo>
                  <a:pt x="15578" y="164434"/>
                  <a:pt x="24232" y="147991"/>
                  <a:pt x="25963" y="151452"/>
                </a:cubicBezTo>
                <a:cubicBezTo>
                  <a:pt x="27694" y="154914"/>
                  <a:pt x="25963" y="167030"/>
                  <a:pt x="25963" y="169627"/>
                </a:cubicBezTo>
              </a:path>
            </a:pathLst>
          </a:custGeom>
          <a:noFill/>
          <a:ln w="5097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1" name="artery_fine_cutface_459"/>
          <p:cNvSpPr/>
          <p:nvPr/>
        </p:nvSpPr>
        <p:spPr>
          <a:xfrm>
            <a:off x="12752614" y="4578706"/>
            <a:ext cx="26829" cy="115104"/>
          </a:xfrm>
          <a:custGeom>
            <a:avLst/>
            <a:gdLst/>
            <a:ahLst/>
            <a:cxnLst/>
            <a:rect l="0" t="0" r="r" b="b"/>
            <a:pathLst>
              <a:path w="26829" h="115104">
                <a:moveTo>
                  <a:pt x="8654" y="0"/>
                </a:moveTo>
                <a:cubicBezTo>
                  <a:pt x="7789" y="6058"/>
                  <a:pt x="0" y="25963"/>
                  <a:pt x="2596" y="42407"/>
                </a:cubicBezTo>
                <a:cubicBezTo>
                  <a:pt x="5193" y="58850"/>
                  <a:pt x="23367" y="104718"/>
                  <a:pt x="26829" y="115104"/>
                </a:cubicBezTo>
              </a:path>
            </a:pathLst>
          </a:custGeom>
          <a:noFill/>
          <a:ln w="5818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2" name="artery_fine_cutface_460"/>
          <p:cNvSpPr/>
          <p:nvPr/>
        </p:nvSpPr>
        <p:spPr>
          <a:xfrm>
            <a:off x="12615874" y="4584764"/>
            <a:ext cx="6058" cy="254440"/>
          </a:xfrm>
          <a:custGeom>
            <a:avLst/>
            <a:gdLst/>
            <a:ahLst/>
            <a:cxnLst/>
            <a:rect l="0" t="0" r="r" b="b"/>
            <a:pathLst>
              <a:path w="6058" h="254440">
                <a:moveTo>
                  <a:pt x="6058" y="0"/>
                </a:moveTo>
                <a:cubicBezTo>
                  <a:pt x="5193" y="36349"/>
                  <a:pt x="865" y="218091"/>
                  <a:pt x="0" y="254440"/>
                </a:cubicBezTo>
              </a:path>
            </a:pathLst>
          </a:custGeom>
          <a:noFill/>
          <a:ln w="4376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3" name="artery_fine_cutface_461"/>
          <p:cNvSpPr/>
          <p:nvPr/>
        </p:nvSpPr>
        <p:spPr>
          <a:xfrm>
            <a:off x="12557024" y="4590822"/>
            <a:ext cx="38945" cy="212033"/>
          </a:xfrm>
          <a:custGeom>
            <a:avLst/>
            <a:gdLst/>
            <a:ahLst/>
            <a:cxnLst/>
            <a:rect l="0" t="0" r="r" b="b"/>
            <a:pathLst>
              <a:path w="38945" h="212033">
                <a:moveTo>
                  <a:pt x="34618" y="0"/>
                </a:moveTo>
                <a:cubicBezTo>
                  <a:pt x="34618" y="4327"/>
                  <a:pt x="38945" y="17309"/>
                  <a:pt x="34618" y="30290"/>
                </a:cubicBezTo>
                <a:cubicBezTo>
                  <a:pt x="30290" y="43272"/>
                  <a:pt x="8654" y="64908"/>
                  <a:pt x="4327" y="90871"/>
                </a:cubicBezTo>
                <a:cubicBezTo>
                  <a:pt x="0" y="116835"/>
                  <a:pt x="4327" y="194724"/>
                  <a:pt x="4327" y="212033"/>
                </a:cubicBezTo>
              </a:path>
            </a:pathLst>
          </a:custGeom>
          <a:noFill/>
          <a:ln w="5097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4" name="artery_fine_cutface_462"/>
          <p:cNvSpPr/>
          <p:nvPr/>
        </p:nvSpPr>
        <p:spPr>
          <a:xfrm>
            <a:off x="12458364" y="4596880"/>
            <a:ext cx="60581" cy="12982"/>
          </a:xfrm>
          <a:custGeom>
            <a:avLst/>
            <a:gdLst/>
            <a:ahLst/>
            <a:cxnLst/>
            <a:rect l="0" t="0" r="r" b="b"/>
            <a:pathLst>
              <a:path w="60581" h="12982">
                <a:moveTo>
                  <a:pt x="0" y="0"/>
                </a:moveTo>
                <a:cubicBezTo>
                  <a:pt x="3462" y="1731"/>
                  <a:pt x="15578" y="11251"/>
                  <a:pt x="24232" y="12116"/>
                </a:cubicBezTo>
                <a:cubicBezTo>
                  <a:pt x="32887" y="12982"/>
                  <a:pt x="55388" y="6924"/>
                  <a:pt x="60581" y="6058"/>
                </a:cubicBezTo>
              </a:path>
            </a:pathLst>
          </a:custGeom>
          <a:noFill/>
          <a:ln w="5818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5" name="artery_fine_cutface_463"/>
          <p:cNvSpPr/>
          <p:nvPr/>
        </p:nvSpPr>
        <p:spPr>
          <a:xfrm>
            <a:off x="12467884" y="4608996"/>
            <a:ext cx="22501" cy="56254"/>
          </a:xfrm>
          <a:custGeom>
            <a:avLst/>
            <a:gdLst/>
            <a:ahLst/>
            <a:cxnLst/>
            <a:rect l="0" t="0" r="r" b="b"/>
            <a:pathLst>
              <a:path w="22501" h="56254">
                <a:moveTo>
                  <a:pt x="14713" y="0"/>
                </a:moveTo>
                <a:cubicBezTo>
                  <a:pt x="15578" y="6924"/>
                  <a:pt x="22501" y="40676"/>
                  <a:pt x="20771" y="48465"/>
                </a:cubicBezTo>
                <a:cubicBezTo>
                  <a:pt x="19040" y="56254"/>
                  <a:pt x="5193" y="55388"/>
                  <a:pt x="2596" y="54523"/>
                </a:cubicBezTo>
                <a:cubicBezTo>
                  <a:pt x="0" y="53657"/>
                  <a:pt x="0" y="45003"/>
                  <a:pt x="2596" y="42407"/>
                </a:cubicBezTo>
                <a:cubicBezTo>
                  <a:pt x="5193" y="39810"/>
                  <a:pt x="18174" y="37214"/>
                  <a:pt x="20771" y="36349"/>
                </a:cubicBezTo>
              </a:path>
            </a:pathLst>
          </a:custGeom>
          <a:noFill/>
          <a:ln w="4376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6" name="artery_fine_cutface_464"/>
          <p:cNvSpPr/>
          <p:nvPr/>
        </p:nvSpPr>
        <p:spPr>
          <a:xfrm>
            <a:off x="12680783" y="4627171"/>
            <a:ext cx="86544" cy="284730"/>
          </a:xfrm>
          <a:custGeom>
            <a:avLst/>
            <a:gdLst/>
            <a:ahLst/>
            <a:cxnLst/>
            <a:rect l="0" t="0" r="r" b="b"/>
            <a:pathLst>
              <a:path w="86544" h="284730">
                <a:moveTo>
                  <a:pt x="7789" y="0"/>
                </a:moveTo>
                <a:cubicBezTo>
                  <a:pt x="8654" y="12982"/>
                  <a:pt x="14713" y="68370"/>
                  <a:pt x="13847" y="90871"/>
                </a:cubicBezTo>
                <a:cubicBezTo>
                  <a:pt x="12982" y="113373"/>
                  <a:pt x="0" y="144529"/>
                  <a:pt x="1731" y="157510"/>
                </a:cubicBezTo>
                <a:cubicBezTo>
                  <a:pt x="3462" y="170492"/>
                  <a:pt x="13847" y="163568"/>
                  <a:pt x="25963" y="181743"/>
                </a:cubicBezTo>
                <a:cubicBezTo>
                  <a:pt x="38079" y="199917"/>
                  <a:pt x="77890" y="270018"/>
                  <a:pt x="86544" y="284730"/>
                </a:cubicBezTo>
              </a:path>
            </a:pathLst>
          </a:custGeom>
          <a:noFill/>
          <a:ln w="5097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7" name="artery_fine_cutface_465"/>
          <p:cNvSpPr/>
          <p:nvPr/>
        </p:nvSpPr>
        <p:spPr>
          <a:xfrm>
            <a:off x="12468749" y="4639287"/>
            <a:ext cx="20771" cy="25098"/>
          </a:xfrm>
          <a:custGeom>
            <a:avLst/>
            <a:gdLst/>
            <a:ahLst/>
            <a:cxnLst/>
            <a:rect l="0" t="0" r="r" b="b"/>
            <a:pathLst>
              <a:path w="20771" h="25098">
                <a:moveTo>
                  <a:pt x="19905" y="0"/>
                </a:moveTo>
                <a:cubicBezTo>
                  <a:pt x="17309" y="2596"/>
                  <a:pt x="3462" y="14713"/>
                  <a:pt x="1731" y="18174"/>
                </a:cubicBezTo>
                <a:cubicBezTo>
                  <a:pt x="0" y="21636"/>
                  <a:pt x="5193" y="25098"/>
                  <a:pt x="7789" y="24232"/>
                </a:cubicBezTo>
                <a:cubicBezTo>
                  <a:pt x="10385" y="23367"/>
                  <a:pt x="19040" y="14713"/>
                  <a:pt x="19905" y="12116"/>
                </a:cubicBezTo>
                <a:cubicBezTo>
                  <a:pt x="20771" y="9520"/>
                  <a:pt x="14713" y="6924"/>
                  <a:pt x="13847" y="6058"/>
                </a:cubicBezTo>
              </a:path>
            </a:pathLst>
          </a:custGeom>
          <a:noFill/>
          <a:ln w="5818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8" name="artery_fine_cutface_466"/>
          <p:cNvSpPr/>
          <p:nvPr/>
        </p:nvSpPr>
        <p:spPr>
          <a:xfrm>
            <a:off x="12385667" y="4675635"/>
            <a:ext cx="6058" cy="84813"/>
          </a:xfrm>
          <a:custGeom>
            <a:avLst/>
            <a:gdLst/>
            <a:ahLst/>
            <a:cxnLst/>
            <a:rect l="0" t="0" r="r" b="b"/>
            <a:pathLst>
              <a:path w="6058" h="84813">
                <a:moveTo>
                  <a:pt x="6058" y="0"/>
                </a:moveTo>
                <a:cubicBezTo>
                  <a:pt x="5193" y="12116"/>
                  <a:pt x="865" y="72697"/>
                  <a:pt x="0" y="84813"/>
                </a:cubicBezTo>
              </a:path>
            </a:pathLst>
          </a:custGeom>
          <a:noFill/>
          <a:ln w="4376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9" name="artery_fine_cutface_467"/>
          <p:cNvSpPr/>
          <p:nvPr/>
        </p:nvSpPr>
        <p:spPr>
          <a:xfrm>
            <a:off x="12755211" y="4699868"/>
            <a:ext cx="60581" cy="278672"/>
          </a:xfrm>
          <a:custGeom>
            <a:avLst/>
            <a:gdLst/>
            <a:ahLst/>
            <a:cxnLst/>
            <a:rect l="0" t="0" r="r" b="b"/>
            <a:pathLst>
              <a:path w="60581" h="278672">
                <a:moveTo>
                  <a:pt x="0" y="0"/>
                </a:moveTo>
                <a:cubicBezTo>
                  <a:pt x="865" y="17309"/>
                  <a:pt x="3462" y="98660"/>
                  <a:pt x="6058" y="121162"/>
                </a:cubicBezTo>
                <a:cubicBezTo>
                  <a:pt x="8654" y="143663"/>
                  <a:pt x="13847" y="149721"/>
                  <a:pt x="18174" y="157510"/>
                </a:cubicBezTo>
                <a:cubicBezTo>
                  <a:pt x="22501" y="165299"/>
                  <a:pt x="33752" y="162703"/>
                  <a:pt x="36349" y="175685"/>
                </a:cubicBezTo>
                <a:cubicBezTo>
                  <a:pt x="38945" y="188666"/>
                  <a:pt x="32887" y="233669"/>
                  <a:pt x="36349" y="248382"/>
                </a:cubicBezTo>
                <a:cubicBezTo>
                  <a:pt x="39810" y="263094"/>
                  <a:pt x="57119" y="274345"/>
                  <a:pt x="60581" y="278672"/>
                </a:cubicBezTo>
              </a:path>
            </a:pathLst>
          </a:custGeom>
          <a:noFill/>
          <a:ln w="5097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0" name="artery_fine_cutface_468"/>
          <p:cNvSpPr/>
          <p:nvPr/>
        </p:nvSpPr>
        <p:spPr>
          <a:xfrm>
            <a:off x="12737036" y="4705926"/>
            <a:ext cx="18174" cy="34618"/>
          </a:xfrm>
          <a:custGeom>
            <a:avLst/>
            <a:gdLst/>
            <a:ahLst/>
            <a:cxnLst/>
            <a:rect l="0" t="0" r="r" b="b"/>
            <a:pathLst>
              <a:path w="18174" h="34618">
                <a:moveTo>
                  <a:pt x="0" y="0"/>
                </a:moveTo>
                <a:cubicBezTo>
                  <a:pt x="865" y="4327"/>
                  <a:pt x="3462" y="25963"/>
                  <a:pt x="6058" y="30290"/>
                </a:cubicBezTo>
                <a:cubicBezTo>
                  <a:pt x="8654" y="34618"/>
                  <a:pt x="16443" y="30290"/>
                  <a:pt x="18174" y="30290"/>
                </a:cubicBezTo>
              </a:path>
            </a:pathLst>
          </a:custGeom>
          <a:noFill/>
          <a:ln w="5818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1" name="artery_fine_cutface_469"/>
          <p:cNvSpPr/>
          <p:nvPr/>
        </p:nvSpPr>
        <p:spPr>
          <a:xfrm>
            <a:off x="12585584" y="4730158"/>
            <a:ext cx="6058" cy="48465"/>
          </a:xfrm>
          <a:custGeom>
            <a:avLst/>
            <a:gdLst/>
            <a:ahLst/>
            <a:cxnLst/>
            <a:rect l="0" t="0" r="r" b="b"/>
            <a:pathLst>
              <a:path w="6058" h="48465">
                <a:moveTo>
                  <a:pt x="6058" y="0"/>
                </a:moveTo>
                <a:cubicBezTo>
                  <a:pt x="5193" y="6924"/>
                  <a:pt x="865" y="41541"/>
                  <a:pt x="0" y="48465"/>
                </a:cubicBezTo>
              </a:path>
            </a:pathLst>
          </a:custGeom>
          <a:noFill/>
          <a:ln w="4376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artery_fine_cutface_470"/>
          <p:cNvSpPr/>
          <p:nvPr/>
        </p:nvSpPr>
        <p:spPr>
          <a:xfrm>
            <a:off x="12675590" y="4790739"/>
            <a:ext cx="12982" cy="78755"/>
          </a:xfrm>
          <a:custGeom>
            <a:avLst/>
            <a:gdLst/>
            <a:ahLst/>
            <a:cxnLst/>
            <a:rect l="0" t="0" r="r" b="b"/>
            <a:pathLst>
              <a:path w="12982" h="78755">
                <a:moveTo>
                  <a:pt x="12982" y="0"/>
                </a:moveTo>
                <a:cubicBezTo>
                  <a:pt x="11251" y="3462"/>
                  <a:pt x="1731" y="12982"/>
                  <a:pt x="865" y="24232"/>
                </a:cubicBezTo>
                <a:cubicBezTo>
                  <a:pt x="0" y="35483"/>
                  <a:pt x="6058" y="70966"/>
                  <a:pt x="6924" y="78755"/>
                </a:cubicBezTo>
              </a:path>
            </a:pathLst>
          </a:custGeom>
          <a:noFill/>
          <a:ln w="5097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3" name="artery_fine_cutface_471"/>
          <p:cNvSpPr/>
          <p:nvPr/>
        </p:nvSpPr>
        <p:spPr>
          <a:xfrm>
            <a:off x="12377878" y="4802855"/>
            <a:ext cx="28560" cy="363486"/>
          </a:xfrm>
          <a:custGeom>
            <a:avLst/>
            <a:gdLst/>
            <a:ahLst/>
            <a:cxnLst/>
            <a:rect l="0" t="0" r="r" b="b"/>
            <a:pathLst>
              <a:path w="28560" h="363486">
                <a:moveTo>
                  <a:pt x="25963" y="0"/>
                </a:moveTo>
                <a:cubicBezTo>
                  <a:pt x="25098" y="10385"/>
                  <a:pt x="23367" y="59715"/>
                  <a:pt x="19905" y="72697"/>
                </a:cubicBezTo>
                <a:cubicBezTo>
                  <a:pt x="16443" y="85679"/>
                  <a:pt x="3462" y="65774"/>
                  <a:pt x="1731" y="90871"/>
                </a:cubicBezTo>
                <a:cubicBezTo>
                  <a:pt x="0" y="115969"/>
                  <a:pt x="4327" y="217226"/>
                  <a:pt x="7789" y="248382"/>
                </a:cubicBezTo>
                <a:cubicBezTo>
                  <a:pt x="11251" y="279538"/>
                  <a:pt x="23367" y="292519"/>
                  <a:pt x="25963" y="308963"/>
                </a:cubicBezTo>
                <a:cubicBezTo>
                  <a:pt x="28560" y="325406"/>
                  <a:pt x="25963" y="355697"/>
                  <a:pt x="25963" y="363486"/>
                </a:cubicBezTo>
              </a:path>
            </a:pathLst>
          </a:custGeom>
          <a:noFill/>
          <a:ln w="5818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4" name="artery_fine_cutface_472"/>
          <p:cNvSpPr/>
          <p:nvPr/>
        </p:nvSpPr>
        <p:spPr>
          <a:xfrm>
            <a:off x="12488655" y="4827088"/>
            <a:ext cx="19040" cy="27694"/>
          </a:xfrm>
          <a:custGeom>
            <a:avLst/>
            <a:gdLst/>
            <a:ahLst/>
            <a:cxnLst/>
            <a:rect l="0" t="0" r="r" b="b"/>
            <a:pathLst>
              <a:path w="19040" h="27694">
                <a:moveTo>
                  <a:pt x="6058" y="0"/>
                </a:moveTo>
                <a:cubicBezTo>
                  <a:pt x="7789" y="3462"/>
                  <a:pt x="19040" y="20771"/>
                  <a:pt x="18174" y="24232"/>
                </a:cubicBezTo>
                <a:cubicBezTo>
                  <a:pt x="17309" y="27694"/>
                  <a:pt x="2596" y="24232"/>
                  <a:pt x="0" y="24232"/>
                </a:cubicBezTo>
              </a:path>
            </a:pathLst>
          </a:custGeom>
          <a:noFill/>
          <a:ln w="4376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5" name="artery_fine_cutface_473"/>
          <p:cNvSpPr/>
          <p:nvPr/>
        </p:nvSpPr>
        <p:spPr>
          <a:xfrm>
            <a:off x="12391725" y="4875552"/>
            <a:ext cx="133278" cy="623983"/>
          </a:xfrm>
          <a:custGeom>
            <a:avLst/>
            <a:gdLst/>
            <a:ahLst/>
            <a:cxnLst/>
            <a:rect l="0" t="0" r="r" b="b"/>
            <a:pathLst>
              <a:path w="133278" h="623983">
                <a:moveTo>
                  <a:pt x="0" y="0"/>
                </a:moveTo>
                <a:cubicBezTo>
                  <a:pt x="4327" y="10385"/>
                  <a:pt x="25098" y="44138"/>
                  <a:pt x="30290" y="72697"/>
                </a:cubicBezTo>
                <a:cubicBezTo>
                  <a:pt x="35483" y="101257"/>
                  <a:pt x="30290" y="147125"/>
                  <a:pt x="36349" y="199917"/>
                </a:cubicBezTo>
                <a:cubicBezTo>
                  <a:pt x="42407" y="252709"/>
                  <a:pt x="64043" y="398969"/>
                  <a:pt x="72697" y="442241"/>
                </a:cubicBezTo>
                <a:cubicBezTo>
                  <a:pt x="81352" y="485513"/>
                  <a:pt x="91737" y="482051"/>
                  <a:pt x="96929" y="502822"/>
                </a:cubicBezTo>
                <a:cubicBezTo>
                  <a:pt x="102122" y="523592"/>
                  <a:pt x="103853" y="570326"/>
                  <a:pt x="109046" y="587635"/>
                </a:cubicBezTo>
                <a:cubicBezTo>
                  <a:pt x="114238" y="604944"/>
                  <a:pt x="129816" y="618791"/>
                  <a:pt x="133278" y="623983"/>
                </a:cubicBezTo>
              </a:path>
            </a:pathLst>
          </a:custGeom>
          <a:noFill/>
          <a:ln w="5097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6" name="artery_fine_cutface_474"/>
          <p:cNvSpPr/>
          <p:nvPr/>
        </p:nvSpPr>
        <p:spPr>
          <a:xfrm>
            <a:off x="12446248" y="4936133"/>
            <a:ext cx="34618" cy="278672"/>
          </a:xfrm>
          <a:custGeom>
            <a:avLst/>
            <a:gdLst/>
            <a:ahLst/>
            <a:cxnLst/>
            <a:rect l="0" t="0" r="r" b="b"/>
            <a:pathLst>
              <a:path w="34618" h="278672">
                <a:moveTo>
                  <a:pt x="0" y="0"/>
                </a:moveTo>
                <a:cubicBezTo>
                  <a:pt x="4327" y="20771"/>
                  <a:pt x="25963" y="105584"/>
                  <a:pt x="30290" y="145394"/>
                </a:cubicBezTo>
                <a:cubicBezTo>
                  <a:pt x="34618" y="185205"/>
                  <a:pt x="30290" y="259633"/>
                  <a:pt x="30290" y="278672"/>
                </a:cubicBezTo>
              </a:path>
            </a:pathLst>
          </a:custGeom>
          <a:noFill/>
          <a:ln w="5818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7" name="artery_fine_cutface_475"/>
          <p:cNvSpPr/>
          <p:nvPr/>
        </p:nvSpPr>
        <p:spPr>
          <a:xfrm>
            <a:off x="12671263" y="4936133"/>
            <a:ext cx="59715" cy="363486"/>
          </a:xfrm>
          <a:custGeom>
            <a:avLst/>
            <a:gdLst/>
            <a:ahLst/>
            <a:cxnLst/>
            <a:rect l="0" t="0" r="r" b="b"/>
            <a:pathLst>
              <a:path w="59715" h="363486">
                <a:moveTo>
                  <a:pt x="5193" y="0"/>
                </a:moveTo>
                <a:cubicBezTo>
                  <a:pt x="5193" y="15578"/>
                  <a:pt x="0" y="72697"/>
                  <a:pt x="5193" y="109046"/>
                </a:cubicBezTo>
                <a:cubicBezTo>
                  <a:pt x="10385" y="145394"/>
                  <a:pt x="36349" y="229342"/>
                  <a:pt x="41541" y="254440"/>
                </a:cubicBezTo>
                <a:cubicBezTo>
                  <a:pt x="46734" y="279538"/>
                  <a:pt x="43272" y="276941"/>
                  <a:pt x="41541" y="284730"/>
                </a:cubicBezTo>
                <a:cubicBezTo>
                  <a:pt x="39810" y="292519"/>
                  <a:pt x="26829" y="297712"/>
                  <a:pt x="29425" y="308963"/>
                </a:cubicBezTo>
                <a:cubicBezTo>
                  <a:pt x="32021" y="320213"/>
                  <a:pt x="55388" y="355697"/>
                  <a:pt x="59715" y="363486"/>
                </a:cubicBezTo>
              </a:path>
            </a:pathLst>
          </a:custGeom>
          <a:noFill/>
          <a:ln w="4376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8" name="artery_fine_cutface_476"/>
          <p:cNvSpPr/>
          <p:nvPr/>
        </p:nvSpPr>
        <p:spPr>
          <a:xfrm>
            <a:off x="12610682" y="4966424"/>
            <a:ext cx="45868" cy="359158"/>
          </a:xfrm>
          <a:custGeom>
            <a:avLst/>
            <a:gdLst/>
            <a:ahLst/>
            <a:cxnLst/>
            <a:rect l="0" t="0" r="r" b="b"/>
            <a:pathLst>
              <a:path w="45868" h="359158">
                <a:moveTo>
                  <a:pt x="17309" y="0"/>
                </a:moveTo>
                <a:cubicBezTo>
                  <a:pt x="15578" y="14713"/>
                  <a:pt x="6924" y="71832"/>
                  <a:pt x="5193" y="102988"/>
                </a:cubicBezTo>
                <a:cubicBezTo>
                  <a:pt x="3462" y="134143"/>
                  <a:pt x="0" y="184339"/>
                  <a:pt x="5193" y="218091"/>
                </a:cubicBezTo>
                <a:cubicBezTo>
                  <a:pt x="10385" y="251844"/>
                  <a:pt x="37214" y="319348"/>
                  <a:pt x="41541" y="339253"/>
                </a:cubicBezTo>
                <a:cubicBezTo>
                  <a:pt x="45868" y="359158"/>
                  <a:pt x="36349" y="354831"/>
                  <a:pt x="35483" y="357427"/>
                </a:cubicBezTo>
              </a:path>
            </a:pathLst>
          </a:custGeom>
          <a:noFill/>
          <a:ln w="5097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9" name="artery_fine_cutface_477"/>
          <p:cNvSpPr/>
          <p:nvPr/>
        </p:nvSpPr>
        <p:spPr>
          <a:xfrm>
            <a:off x="12484327" y="4978540"/>
            <a:ext cx="65774" cy="100391"/>
          </a:xfrm>
          <a:custGeom>
            <a:avLst/>
            <a:gdLst/>
            <a:ahLst/>
            <a:cxnLst/>
            <a:rect l="0" t="0" r="r" b="b"/>
            <a:pathLst>
              <a:path w="65774" h="100391">
                <a:moveTo>
                  <a:pt x="10385" y="0"/>
                </a:moveTo>
                <a:cubicBezTo>
                  <a:pt x="17309" y="5193"/>
                  <a:pt x="51927" y="25963"/>
                  <a:pt x="58850" y="36349"/>
                </a:cubicBezTo>
                <a:cubicBezTo>
                  <a:pt x="65774" y="46734"/>
                  <a:pt x="62312" y="64043"/>
                  <a:pt x="58850" y="72697"/>
                </a:cubicBezTo>
                <a:cubicBezTo>
                  <a:pt x="55388" y="81352"/>
                  <a:pt x="42407" y="100391"/>
                  <a:pt x="34618" y="96929"/>
                </a:cubicBezTo>
                <a:cubicBezTo>
                  <a:pt x="26829" y="93468"/>
                  <a:pt x="8654" y="58850"/>
                  <a:pt x="4327" y="48465"/>
                </a:cubicBezTo>
                <a:cubicBezTo>
                  <a:pt x="0" y="38079"/>
                  <a:pt x="2596" y="30290"/>
                  <a:pt x="4327" y="24232"/>
                </a:cubicBezTo>
                <a:cubicBezTo>
                  <a:pt x="6058" y="18174"/>
                  <a:pt x="14713" y="8654"/>
                  <a:pt x="16443" y="6058"/>
                </a:cubicBezTo>
              </a:path>
            </a:pathLst>
          </a:custGeom>
          <a:noFill/>
          <a:ln w="5818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0" name="artery_fine_cutface_478"/>
          <p:cNvSpPr/>
          <p:nvPr/>
        </p:nvSpPr>
        <p:spPr>
          <a:xfrm>
            <a:off x="12561352" y="4978540"/>
            <a:ext cx="54523" cy="193859"/>
          </a:xfrm>
          <a:custGeom>
            <a:avLst/>
            <a:gdLst/>
            <a:ahLst/>
            <a:cxnLst/>
            <a:rect l="0" t="0" r="r" b="b"/>
            <a:pathLst>
              <a:path w="54523" h="193859">
                <a:moveTo>
                  <a:pt x="0" y="0"/>
                </a:moveTo>
                <a:cubicBezTo>
                  <a:pt x="1731" y="18174"/>
                  <a:pt x="8654" y="102988"/>
                  <a:pt x="12116" y="127220"/>
                </a:cubicBezTo>
                <a:cubicBezTo>
                  <a:pt x="15578" y="151452"/>
                  <a:pt x="18174" y="160107"/>
                  <a:pt x="24232" y="169627"/>
                </a:cubicBezTo>
                <a:cubicBezTo>
                  <a:pt x="30290" y="179146"/>
                  <a:pt x="50196" y="190397"/>
                  <a:pt x="54523" y="193859"/>
                </a:cubicBezTo>
              </a:path>
            </a:pathLst>
          </a:custGeom>
          <a:noFill/>
          <a:ln w="4376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1" name="artery_fine_cutface_479"/>
          <p:cNvSpPr/>
          <p:nvPr/>
        </p:nvSpPr>
        <p:spPr>
          <a:xfrm>
            <a:off x="12846082" y="4978540"/>
            <a:ext cx="24232" cy="115104"/>
          </a:xfrm>
          <a:custGeom>
            <a:avLst/>
            <a:gdLst/>
            <a:ahLst/>
            <a:cxnLst/>
            <a:rect l="0" t="0" r="r" b="b"/>
            <a:pathLst>
              <a:path w="24232" h="115104">
                <a:moveTo>
                  <a:pt x="0" y="0"/>
                </a:moveTo>
                <a:cubicBezTo>
                  <a:pt x="3462" y="16443"/>
                  <a:pt x="20771" y="98660"/>
                  <a:pt x="24232" y="115104"/>
                </a:cubicBezTo>
              </a:path>
            </a:pathLst>
          </a:custGeom>
          <a:noFill/>
          <a:ln w="5097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2" name="artery_fine_cutface_480"/>
          <p:cNvSpPr/>
          <p:nvPr/>
        </p:nvSpPr>
        <p:spPr>
          <a:xfrm>
            <a:off x="12500771" y="4990656"/>
            <a:ext cx="20771" cy="54523"/>
          </a:xfrm>
          <a:custGeom>
            <a:avLst/>
            <a:gdLst/>
            <a:ahLst/>
            <a:cxnLst/>
            <a:rect l="0" t="0" r="r" b="b"/>
            <a:pathLst>
              <a:path w="20771" h="54523">
                <a:moveTo>
                  <a:pt x="18174" y="0"/>
                </a:moveTo>
                <a:cubicBezTo>
                  <a:pt x="18174" y="4327"/>
                  <a:pt x="20771" y="22501"/>
                  <a:pt x="18174" y="30290"/>
                </a:cubicBezTo>
                <a:cubicBezTo>
                  <a:pt x="15578" y="38079"/>
                  <a:pt x="2596" y="51061"/>
                  <a:pt x="0" y="54523"/>
                </a:cubicBezTo>
              </a:path>
            </a:pathLst>
          </a:custGeom>
          <a:noFill/>
          <a:ln w="5818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3" name="artery_fine_cutface_481"/>
          <p:cNvSpPr/>
          <p:nvPr/>
        </p:nvSpPr>
        <p:spPr>
          <a:xfrm>
            <a:off x="12795021" y="5039121"/>
            <a:ext cx="360024" cy="720913"/>
          </a:xfrm>
          <a:custGeom>
            <a:avLst/>
            <a:gdLst/>
            <a:ahLst/>
            <a:cxnLst/>
            <a:rect l="0" t="0" r="r" b="b"/>
            <a:pathLst>
              <a:path w="360024" h="720913">
                <a:moveTo>
                  <a:pt x="8654" y="0"/>
                </a:moveTo>
                <a:cubicBezTo>
                  <a:pt x="7789" y="3462"/>
                  <a:pt x="0" y="6058"/>
                  <a:pt x="2596" y="24232"/>
                </a:cubicBezTo>
                <a:cubicBezTo>
                  <a:pt x="5193" y="42407"/>
                  <a:pt x="10385" y="96929"/>
                  <a:pt x="26829" y="127220"/>
                </a:cubicBezTo>
                <a:cubicBezTo>
                  <a:pt x="43272" y="157510"/>
                  <a:pt x="100391" y="197321"/>
                  <a:pt x="117700" y="236266"/>
                </a:cubicBezTo>
                <a:cubicBezTo>
                  <a:pt x="135009" y="275210"/>
                  <a:pt x="139336" y="373005"/>
                  <a:pt x="147991" y="399834"/>
                </a:cubicBezTo>
                <a:cubicBezTo>
                  <a:pt x="156645" y="426663"/>
                  <a:pt x="171357" y="420605"/>
                  <a:pt x="178281" y="424066"/>
                </a:cubicBezTo>
                <a:cubicBezTo>
                  <a:pt x="185205" y="427528"/>
                  <a:pt x="186070" y="414547"/>
                  <a:pt x="196455" y="424066"/>
                </a:cubicBezTo>
                <a:cubicBezTo>
                  <a:pt x="206841" y="433586"/>
                  <a:pt x="236266" y="461280"/>
                  <a:pt x="250978" y="490705"/>
                </a:cubicBezTo>
                <a:cubicBezTo>
                  <a:pt x="265691" y="520130"/>
                  <a:pt x="283865" y="597155"/>
                  <a:pt x="299443" y="630042"/>
                </a:cubicBezTo>
                <a:cubicBezTo>
                  <a:pt x="315021" y="662928"/>
                  <a:pt x="351369" y="707931"/>
                  <a:pt x="360024" y="720913"/>
                </a:cubicBezTo>
              </a:path>
            </a:pathLst>
          </a:custGeom>
          <a:noFill/>
          <a:ln w="4376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4" name="artery_fine_cutface_482"/>
          <p:cNvSpPr/>
          <p:nvPr/>
        </p:nvSpPr>
        <p:spPr>
          <a:xfrm>
            <a:off x="12476538" y="5166341"/>
            <a:ext cx="117700" cy="94333"/>
          </a:xfrm>
          <a:custGeom>
            <a:avLst/>
            <a:gdLst/>
            <a:ahLst/>
            <a:cxnLst/>
            <a:rect l="0" t="0" r="r" b="b"/>
            <a:pathLst>
              <a:path w="117700" h="94333">
                <a:moveTo>
                  <a:pt x="0" y="0"/>
                </a:moveTo>
                <a:cubicBezTo>
                  <a:pt x="5193" y="1731"/>
                  <a:pt x="22501" y="0"/>
                  <a:pt x="36349" y="12116"/>
                </a:cubicBezTo>
                <a:cubicBezTo>
                  <a:pt x="50196" y="24232"/>
                  <a:pt x="85679" y="75293"/>
                  <a:pt x="96929" y="84813"/>
                </a:cubicBezTo>
                <a:cubicBezTo>
                  <a:pt x="108180" y="94333"/>
                  <a:pt x="112507" y="83082"/>
                  <a:pt x="115104" y="78755"/>
                </a:cubicBezTo>
                <a:cubicBezTo>
                  <a:pt x="117700" y="74428"/>
                  <a:pt x="115104" y="57985"/>
                  <a:pt x="115104" y="54523"/>
                </a:cubicBezTo>
              </a:path>
            </a:pathLst>
          </a:custGeom>
          <a:noFill/>
          <a:ln w="5097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5" name="artery_fine_cutface_483"/>
          <p:cNvSpPr/>
          <p:nvPr/>
        </p:nvSpPr>
        <p:spPr>
          <a:xfrm>
            <a:off x="12820119" y="5172399"/>
            <a:ext cx="19905" cy="139336"/>
          </a:xfrm>
          <a:custGeom>
            <a:avLst/>
            <a:gdLst/>
            <a:ahLst/>
            <a:cxnLst/>
            <a:rect l="0" t="0" r="r" b="b"/>
            <a:pathLst>
              <a:path w="19905" h="139336">
                <a:moveTo>
                  <a:pt x="7789" y="0"/>
                </a:moveTo>
                <a:cubicBezTo>
                  <a:pt x="6924" y="9520"/>
                  <a:pt x="0" y="46734"/>
                  <a:pt x="1731" y="66639"/>
                </a:cubicBezTo>
                <a:cubicBezTo>
                  <a:pt x="3462" y="86544"/>
                  <a:pt x="17309" y="128951"/>
                  <a:pt x="19905" y="139336"/>
                </a:cubicBezTo>
              </a:path>
            </a:pathLst>
          </a:custGeom>
          <a:noFill/>
          <a:ln w="5818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6" name="artery_fine_cutface_484"/>
          <p:cNvSpPr/>
          <p:nvPr/>
        </p:nvSpPr>
        <p:spPr>
          <a:xfrm>
            <a:off x="12694630" y="5190573"/>
            <a:ext cx="6058" cy="42407"/>
          </a:xfrm>
          <a:custGeom>
            <a:avLst/>
            <a:gdLst/>
            <a:ahLst/>
            <a:cxnLst/>
            <a:rect l="0" t="0" r="r" b="b"/>
            <a:pathLst>
              <a:path w="6058" h="42407">
                <a:moveTo>
                  <a:pt x="0" y="0"/>
                </a:moveTo>
                <a:cubicBezTo>
                  <a:pt x="865" y="6058"/>
                  <a:pt x="5193" y="36349"/>
                  <a:pt x="6058" y="42407"/>
                </a:cubicBezTo>
              </a:path>
            </a:pathLst>
          </a:custGeom>
          <a:noFill/>
          <a:ln w="4376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7" name="artery_fine_cutface_485"/>
          <p:cNvSpPr/>
          <p:nvPr/>
        </p:nvSpPr>
        <p:spPr>
          <a:xfrm>
            <a:off x="12900605" y="5208747"/>
            <a:ext cx="6058" cy="48465"/>
          </a:xfrm>
          <a:custGeom>
            <a:avLst/>
            <a:gdLst/>
            <a:ahLst/>
            <a:cxnLst/>
            <a:rect l="0" t="0" r="r" b="b"/>
            <a:pathLst>
              <a:path w="6058" h="48465">
                <a:moveTo>
                  <a:pt x="6058" y="0"/>
                </a:moveTo>
                <a:cubicBezTo>
                  <a:pt x="5193" y="6924"/>
                  <a:pt x="865" y="41541"/>
                  <a:pt x="0" y="48465"/>
                </a:cubicBezTo>
              </a:path>
            </a:pathLst>
          </a:custGeom>
          <a:noFill/>
          <a:ln w="5097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8" name="artery_fine_cutface_486"/>
          <p:cNvSpPr/>
          <p:nvPr/>
        </p:nvSpPr>
        <p:spPr>
          <a:xfrm>
            <a:off x="12712804" y="5214806"/>
            <a:ext cx="20771" cy="60581"/>
          </a:xfrm>
          <a:custGeom>
            <a:avLst/>
            <a:gdLst/>
            <a:ahLst/>
            <a:cxnLst/>
            <a:rect l="0" t="0" r="r" b="b"/>
            <a:pathLst>
              <a:path w="20771" h="60581">
                <a:moveTo>
                  <a:pt x="0" y="0"/>
                </a:moveTo>
                <a:cubicBezTo>
                  <a:pt x="2596" y="5193"/>
                  <a:pt x="15578" y="28560"/>
                  <a:pt x="18174" y="36349"/>
                </a:cubicBezTo>
                <a:cubicBezTo>
                  <a:pt x="20771" y="44138"/>
                  <a:pt x="19905" y="51061"/>
                  <a:pt x="18174" y="54523"/>
                </a:cubicBezTo>
                <a:cubicBezTo>
                  <a:pt x="16443" y="57985"/>
                  <a:pt x="7789" y="59715"/>
                  <a:pt x="6058" y="60581"/>
                </a:cubicBezTo>
              </a:path>
            </a:pathLst>
          </a:custGeom>
          <a:noFill/>
          <a:ln w="5818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9" name="artery_fine_cutface_487"/>
          <p:cNvSpPr/>
          <p:nvPr/>
        </p:nvSpPr>
        <p:spPr>
          <a:xfrm>
            <a:off x="12979360" y="5214806"/>
            <a:ext cx="18174" cy="36349"/>
          </a:xfrm>
          <a:custGeom>
            <a:avLst/>
            <a:gdLst/>
            <a:ahLst/>
            <a:cxnLst/>
            <a:rect l="0" t="0" r="r" b="b"/>
            <a:pathLst>
              <a:path w="18174" h="36349">
                <a:moveTo>
                  <a:pt x="0" y="0"/>
                </a:moveTo>
                <a:cubicBezTo>
                  <a:pt x="2596" y="5193"/>
                  <a:pt x="15578" y="31156"/>
                  <a:pt x="18174" y="36349"/>
                </a:cubicBezTo>
              </a:path>
            </a:pathLst>
          </a:custGeom>
          <a:noFill/>
          <a:ln w="4376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0" name="artery_fine_cutface_488"/>
          <p:cNvSpPr/>
          <p:nvPr/>
        </p:nvSpPr>
        <p:spPr>
          <a:xfrm>
            <a:off x="12478269" y="5232980"/>
            <a:ext cx="38945" cy="133278"/>
          </a:xfrm>
          <a:custGeom>
            <a:avLst/>
            <a:gdLst/>
            <a:ahLst/>
            <a:cxnLst/>
            <a:rect l="0" t="0" r="r" b="b"/>
            <a:pathLst>
              <a:path w="38945" h="133278">
                <a:moveTo>
                  <a:pt x="4327" y="0"/>
                </a:moveTo>
                <a:cubicBezTo>
                  <a:pt x="4327" y="4327"/>
                  <a:pt x="0" y="16443"/>
                  <a:pt x="4327" y="30290"/>
                </a:cubicBezTo>
                <a:cubicBezTo>
                  <a:pt x="8654" y="44138"/>
                  <a:pt x="30290" y="82217"/>
                  <a:pt x="34618" y="96929"/>
                </a:cubicBezTo>
                <a:cubicBezTo>
                  <a:pt x="38945" y="111642"/>
                  <a:pt x="34618" y="128085"/>
                  <a:pt x="34618" y="133278"/>
                </a:cubicBezTo>
              </a:path>
            </a:pathLst>
          </a:custGeom>
          <a:noFill/>
          <a:ln w="5097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1" name="artery_fine_cutface_489"/>
          <p:cNvSpPr/>
          <p:nvPr/>
        </p:nvSpPr>
        <p:spPr>
          <a:xfrm>
            <a:off x="12579526" y="5251154"/>
            <a:ext cx="24232" cy="90871"/>
          </a:xfrm>
          <a:custGeom>
            <a:avLst/>
            <a:gdLst/>
            <a:ahLst/>
            <a:cxnLst/>
            <a:rect l="0" t="0" r="r" b="b"/>
            <a:pathLst>
              <a:path w="24232" h="90871">
                <a:moveTo>
                  <a:pt x="0" y="0"/>
                </a:moveTo>
                <a:cubicBezTo>
                  <a:pt x="865" y="7789"/>
                  <a:pt x="2596" y="41541"/>
                  <a:pt x="6058" y="54523"/>
                </a:cubicBezTo>
                <a:cubicBezTo>
                  <a:pt x="9520" y="67504"/>
                  <a:pt x="21636" y="85679"/>
                  <a:pt x="24232" y="90871"/>
                </a:cubicBezTo>
              </a:path>
            </a:pathLst>
          </a:custGeom>
          <a:noFill/>
          <a:ln w="5818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2" name="artery_fine_cutface_490"/>
          <p:cNvSpPr/>
          <p:nvPr/>
        </p:nvSpPr>
        <p:spPr>
          <a:xfrm>
            <a:off x="12549235" y="5269328"/>
            <a:ext cx="36349" cy="36349"/>
          </a:xfrm>
          <a:custGeom>
            <a:avLst/>
            <a:gdLst/>
            <a:ahLst/>
            <a:cxnLst/>
            <a:rect l="0" t="0" r="r" b="b"/>
            <a:pathLst>
              <a:path w="36349" h="36349">
                <a:moveTo>
                  <a:pt x="0" y="0"/>
                </a:moveTo>
                <a:cubicBezTo>
                  <a:pt x="5193" y="5193"/>
                  <a:pt x="31156" y="31156"/>
                  <a:pt x="36349" y="36349"/>
                </a:cubicBezTo>
              </a:path>
            </a:pathLst>
          </a:custGeom>
          <a:noFill/>
          <a:ln w="4376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3" name="artery_fine_cutface_491"/>
          <p:cNvSpPr/>
          <p:nvPr/>
        </p:nvSpPr>
        <p:spPr>
          <a:xfrm>
            <a:off x="12512887" y="5342025"/>
            <a:ext cx="133278" cy="375602"/>
          </a:xfrm>
          <a:custGeom>
            <a:avLst/>
            <a:gdLst/>
            <a:ahLst/>
            <a:cxnLst/>
            <a:rect l="0" t="0" r="r" b="b"/>
            <a:pathLst>
              <a:path w="133278" h="375602">
                <a:moveTo>
                  <a:pt x="0" y="0"/>
                </a:moveTo>
                <a:cubicBezTo>
                  <a:pt x="2596" y="1731"/>
                  <a:pt x="12116" y="3462"/>
                  <a:pt x="18174" y="12116"/>
                </a:cubicBezTo>
                <a:cubicBezTo>
                  <a:pt x="24232" y="20771"/>
                  <a:pt x="34618" y="37214"/>
                  <a:pt x="42407" y="60581"/>
                </a:cubicBezTo>
                <a:cubicBezTo>
                  <a:pt x="50196" y="83948"/>
                  <a:pt x="63177" y="149721"/>
                  <a:pt x="72697" y="175685"/>
                </a:cubicBezTo>
                <a:cubicBezTo>
                  <a:pt x="82217" y="201648"/>
                  <a:pt x="104718" y="224149"/>
                  <a:pt x="109046" y="242324"/>
                </a:cubicBezTo>
                <a:cubicBezTo>
                  <a:pt x="113373" y="260498"/>
                  <a:pt x="99526" y="283865"/>
                  <a:pt x="102988" y="302905"/>
                </a:cubicBezTo>
                <a:cubicBezTo>
                  <a:pt x="106449" y="321944"/>
                  <a:pt x="128951" y="365216"/>
                  <a:pt x="133278" y="375602"/>
                </a:cubicBezTo>
              </a:path>
            </a:pathLst>
          </a:custGeom>
          <a:noFill/>
          <a:ln w="5097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4" name="artery_fine_cutface_492"/>
          <p:cNvSpPr/>
          <p:nvPr/>
        </p:nvSpPr>
        <p:spPr>
          <a:xfrm>
            <a:off x="12930895" y="5348084"/>
            <a:ext cx="60581" cy="115104"/>
          </a:xfrm>
          <a:custGeom>
            <a:avLst/>
            <a:gdLst/>
            <a:ahLst/>
            <a:cxnLst/>
            <a:rect l="0" t="0" r="r" b="b"/>
            <a:pathLst>
              <a:path w="60581" h="115104">
                <a:moveTo>
                  <a:pt x="0" y="0"/>
                </a:moveTo>
                <a:cubicBezTo>
                  <a:pt x="6058" y="7789"/>
                  <a:pt x="33752" y="38079"/>
                  <a:pt x="42407" y="54523"/>
                </a:cubicBezTo>
                <a:cubicBezTo>
                  <a:pt x="51061" y="70966"/>
                  <a:pt x="57985" y="106449"/>
                  <a:pt x="60581" y="115104"/>
                </a:cubicBezTo>
              </a:path>
            </a:pathLst>
          </a:custGeom>
          <a:noFill/>
          <a:ln w="5818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5" name="artery_fine_cutface_493"/>
          <p:cNvSpPr/>
          <p:nvPr/>
        </p:nvSpPr>
        <p:spPr>
          <a:xfrm>
            <a:off x="12840024" y="5372316"/>
            <a:ext cx="60581" cy="30290"/>
          </a:xfrm>
          <a:custGeom>
            <a:avLst/>
            <a:gdLst/>
            <a:ahLst/>
            <a:cxnLst/>
            <a:rect l="0" t="0" r="r" b="b"/>
            <a:pathLst>
              <a:path w="60581" h="30290">
                <a:moveTo>
                  <a:pt x="0" y="0"/>
                </a:moveTo>
                <a:cubicBezTo>
                  <a:pt x="8654" y="4327"/>
                  <a:pt x="51927" y="25963"/>
                  <a:pt x="60581" y="30290"/>
                </a:cubicBezTo>
              </a:path>
            </a:pathLst>
          </a:custGeom>
          <a:noFill/>
          <a:ln w="4376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6" name="artery_fine_cutface_494"/>
          <p:cNvSpPr/>
          <p:nvPr/>
        </p:nvSpPr>
        <p:spPr>
          <a:xfrm>
            <a:off x="12841755" y="5378374"/>
            <a:ext cx="34618" cy="127220"/>
          </a:xfrm>
          <a:custGeom>
            <a:avLst/>
            <a:gdLst/>
            <a:ahLst/>
            <a:cxnLst/>
            <a:rect l="0" t="0" r="r" b="b"/>
            <a:pathLst>
              <a:path w="34618" h="127220">
                <a:moveTo>
                  <a:pt x="4327" y="0"/>
                </a:moveTo>
                <a:cubicBezTo>
                  <a:pt x="4327" y="5193"/>
                  <a:pt x="0" y="18174"/>
                  <a:pt x="4327" y="36349"/>
                </a:cubicBezTo>
                <a:cubicBezTo>
                  <a:pt x="8654" y="54523"/>
                  <a:pt x="30290" y="114238"/>
                  <a:pt x="34618" y="127220"/>
                </a:cubicBezTo>
              </a:path>
            </a:pathLst>
          </a:custGeom>
          <a:noFill/>
          <a:ln w="5097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7" name="artery_fine_cutface_495"/>
          <p:cNvSpPr/>
          <p:nvPr/>
        </p:nvSpPr>
        <p:spPr>
          <a:xfrm>
            <a:off x="12876372" y="5396548"/>
            <a:ext cx="18174" cy="42407"/>
          </a:xfrm>
          <a:custGeom>
            <a:avLst/>
            <a:gdLst/>
            <a:ahLst/>
            <a:cxnLst/>
            <a:rect l="0" t="0" r="r" b="b"/>
            <a:pathLst>
              <a:path w="18174" h="42407">
                <a:moveTo>
                  <a:pt x="0" y="0"/>
                </a:moveTo>
                <a:cubicBezTo>
                  <a:pt x="2596" y="6058"/>
                  <a:pt x="15578" y="36349"/>
                  <a:pt x="18174" y="42407"/>
                </a:cubicBezTo>
              </a:path>
            </a:pathLst>
          </a:custGeom>
          <a:noFill/>
          <a:ln w="5818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8" name="artery_fine_cutface_496"/>
          <p:cNvSpPr/>
          <p:nvPr/>
        </p:nvSpPr>
        <p:spPr>
          <a:xfrm>
            <a:off x="12634049" y="5438955"/>
            <a:ext cx="84813" cy="157510"/>
          </a:xfrm>
          <a:custGeom>
            <a:avLst/>
            <a:gdLst/>
            <a:ahLst/>
            <a:cxnLst/>
            <a:rect l="0" t="0" r="r" b="b"/>
            <a:pathLst>
              <a:path w="84813" h="157510">
                <a:moveTo>
                  <a:pt x="0" y="0"/>
                </a:moveTo>
                <a:cubicBezTo>
                  <a:pt x="2596" y="3462"/>
                  <a:pt x="14713" y="15578"/>
                  <a:pt x="18174" y="24232"/>
                </a:cubicBezTo>
                <a:cubicBezTo>
                  <a:pt x="21636" y="32887"/>
                  <a:pt x="19040" y="46734"/>
                  <a:pt x="24232" y="60581"/>
                </a:cubicBezTo>
                <a:cubicBezTo>
                  <a:pt x="29425" y="74428"/>
                  <a:pt x="45868" y="107315"/>
                  <a:pt x="54523" y="121162"/>
                </a:cubicBezTo>
                <a:cubicBezTo>
                  <a:pt x="63177" y="135009"/>
                  <a:pt x="80486" y="152318"/>
                  <a:pt x="84813" y="157510"/>
                </a:cubicBezTo>
              </a:path>
            </a:pathLst>
          </a:custGeom>
          <a:noFill/>
          <a:ln w="4376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9" name="artery_fine_cutface_497"/>
          <p:cNvSpPr/>
          <p:nvPr/>
        </p:nvSpPr>
        <p:spPr>
          <a:xfrm>
            <a:off x="12706746" y="5438955"/>
            <a:ext cx="122027" cy="184339"/>
          </a:xfrm>
          <a:custGeom>
            <a:avLst/>
            <a:gdLst/>
            <a:ahLst/>
            <a:cxnLst/>
            <a:rect l="0" t="0" r="r" b="b"/>
            <a:pathLst>
              <a:path w="122027" h="184339">
                <a:moveTo>
                  <a:pt x="0" y="0"/>
                </a:moveTo>
                <a:cubicBezTo>
                  <a:pt x="1731" y="10385"/>
                  <a:pt x="3462" y="48465"/>
                  <a:pt x="12116" y="72697"/>
                </a:cubicBezTo>
                <a:cubicBezTo>
                  <a:pt x="20771" y="96929"/>
                  <a:pt x="46734" y="154914"/>
                  <a:pt x="60581" y="169627"/>
                </a:cubicBezTo>
                <a:cubicBezTo>
                  <a:pt x="74428" y="184339"/>
                  <a:pt x="100391" y="176550"/>
                  <a:pt x="109046" y="175685"/>
                </a:cubicBezTo>
                <a:cubicBezTo>
                  <a:pt x="117700" y="174819"/>
                  <a:pt x="120296" y="172223"/>
                  <a:pt x="121162" y="163568"/>
                </a:cubicBezTo>
                <a:cubicBezTo>
                  <a:pt x="122027" y="154914"/>
                  <a:pt x="121162" y="127220"/>
                  <a:pt x="115104" y="115104"/>
                </a:cubicBezTo>
                <a:cubicBezTo>
                  <a:pt x="109046" y="102988"/>
                  <a:pt x="86544" y="90006"/>
                  <a:pt x="78755" y="78755"/>
                </a:cubicBezTo>
                <a:cubicBezTo>
                  <a:pt x="70966" y="67504"/>
                  <a:pt x="63177" y="42407"/>
                  <a:pt x="60581" y="36349"/>
                </a:cubicBezTo>
              </a:path>
            </a:pathLst>
          </a:custGeom>
          <a:noFill/>
          <a:ln w="5097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0" name="artery_fine_cutface_498"/>
          <p:cNvSpPr/>
          <p:nvPr/>
        </p:nvSpPr>
        <p:spPr>
          <a:xfrm>
            <a:off x="13054653" y="5481362"/>
            <a:ext cx="27694" cy="54523"/>
          </a:xfrm>
          <a:custGeom>
            <a:avLst/>
            <a:gdLst/>
            <a:ahLst/>
            <a:cxnLst/>
            <a:rect l="0" t="0" r="r" b="b"/>
            <a:pathLst>
              <a:path w="27694" h="54523">
                <a:moveTo>
                  <a:pt x="3462" y="0"/>
                </a:moveTo>
                <a:cubicBezTo>
                  <a:pt x="3462" y="2596"/>
                  <a:pt x="0" y="10385"/>
                  <a:pt x="3462" y="18174"/>
                </a:cubicBezTo>
                <a:cubicBezTo>
                  <a:pt x="6924" y="25963"/>
                  <a:pt x="24232" y="49330"/>
                  <a:pt x="27694" y="54523"/>
                </a:cubicBezTo>
              </a:path>
            </a:pathLst>
          </a:custGeom>
          <a:noFill/>
          <a:ln w="5818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1" name="artery_fine_cutface_499"/>
          <p:cNvSpPr/>
          <p:nvPr/>
        </p:nvSpPr>
        <p:spPr>
          <a:xfrm>
            <a:off x="12943011" y="5557520"/>
            <a:ext cx="84813" cy="172223"/>
          </a:xfrm>
          <a:custGeom>
            <a:avLst/>
            <a:gdLst/>
            <a:ahLst/>
            <a:cxnLst/>
            <a:rect l="0" t="0" r="r" b="b"/>
            <a:pathLst>
              <a:path w="84813" h="172223">
                <a:moveTo>
                  <a:pt x="0" y="2596"/>
                </a:moveTo>
                <a:cubicBezTo>
                  <a:pt x="2596" y="3462"/>
                  <a:pt x="12982" y="0"/>
                  <a:pt x="18174" y="8654"/>
                </a:cubicBezTo>
                <a:cubicBezTo>
                  <a:pt x="23367" y="17309"/>
                  <a:pt x="34618" y="50196"/>
                  <a:pt x="36349" y="63177"/>
                </a:cubicBezTo>
                <a:cubicBezTo>
                  <a:pt x="38079" y="76159"/>
                  <a:pt x="23367" y="83948"/>
                  <a:pt x="30290" y="99526"/>
                </a:cubicBezTo>
                <a:cubicBezTo>
                  <a:pt x="37214" y="115104"/>
                  <a:pt x="77024" y="161838"/>
                  <a:pt x="84813" y="172223"/>
                </a:cubicBezTo>
              </a:path>
            </a:pathLst>
          </a:custGeom>
          <a:noFill/>
          <a:ln w="4376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2" name="artery_fine_cutface_500"/>
          <p:cNvSpPr/>
          <p:nvPr/>
        </p:nvSpPr>
        <p:spPr>
          <a:xfrm>
            <a:off x="12935222" y="5560117"/>
            <a:ext cx="44138" cy="78755"/>
          </a:xfrm>
          <a:custGeom>
            <a:avLst/>
            <a:gdLst/>
            <a:ahLst/>
            <a:cxnLst/>
            <a:rect l="0" t="0" r="r" b="b"/>
            <a:pathLst>
              <a:path w="44138" h="78755">
                <a:moveTo>
                  <a:pt x="7789" y="0"/>
                </a:moveTo>
                <a:cubicBezTo>
                  <a:pt x="6924" y="3462"/>
                  <a:pt x="0" y="15578"/>
                  <a:pt x="1731" y="24232"/>
                </a:cubicBezTo>
                <a:cubicBezTo>
                  <a:pt x="3462" y="32887"/>
                  <a:pt x="13847" y="52792"/>
                  <a:pt x="19905" y="60581"/>
                </a:cubicBezTo>
                <a:cubicBezTo>
                  <a:pt x="25963" y="68370"/>
                  <a:pt x="40676" y="76159"/>
                  <a:pt x="44138" y="78755"/>
                </a:cubicBezTo>
              </a:path>
            </a:pathLst>
          </a:custGeom>
          <a:noFill/>
          <a:ln w="5097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3" name="artery_fine_cutface_501"/>
          <p:cNvSpPr/>
          <p:nvPr/>
        </p:nvSpPr>
        <p:spPr>
          <a:xfrm>
            <a:off x="12743094" y="5566175"/>
            <a:ext cx="30290" cy="42407"/>
          </a:xfrm>
          <a:custGeom>
            <a:avLst/>
            <a:gdLst/>
            <a:ahLst/>
            <a:cxnLst/>
            <a:rect l="0" t="0" r="r" b="b"/>
            <a:pathLst>
              <a:path w="30290" h="42407">
                <a:moveTo>
                  <a:pt x="0" y="0"/>
                </a:moveTo>
                <a:cubicBezTo>
                  <a:pt x="4327" y="6058"/>
                  <a:pt x="25963" y="36349"/>
                  <a:pt x="30290" y="42407"/>
                </a:cubicBezTo>
              </a:path>
            </a:pathLst>
          </a:custGeom>
          <a:noFill/>
          <a:ln w="5818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4" name="artery_fine_cutface_502"/>
          <p:cNvSpPr/>
          <p:nvPr/>
        </p:nvSpPr>
        <p:spPr>
          <a:xfrm>
            <a:off x="12827908" y="5596465"/>
            <a:ext cx="103853" cy="171357"/>
          </a:xfrm>
          <a:custGeom>
            <a:avLst/>
            <a:gdLst/>
            <a:ahLst/>
            <a:cxnLst/>
            <a:rect l="0" t="0" r="r" b="b"/>
            <a:pathLst>
              <a:path w="103853" h="171357">
                <a:moveTo>
                  <a:pt x="0" y="0"/>
                </a:moveTo>
                <a:cubicBezTo>
                  <a:pt x="3462" y="2596"/>
                  <a:pt x="21636" y="7789"/>
                  <a:pt x="24232" y="18174"/>
                </a:cubicBezTo>
                <a:cubicBezTo>
                  <a:pt x="26829" y="28560"/>
                  <a:pt x="12982" y="64908"/>
                  <a:pt x="18174" y="72697"/>
                </a:cubicBezTo>
                <a:cubicBezTo>
                  <a:pt x="23367" y="80486"/>
                  <a:pt x="54523" y="69235"/>
                  <a:pt x="60581" y="72697"/>
                </a:cubicBezTo>
                <a:cubicBezTo>
                  <a:pt x="66639" y="76159"/>
                  <a:pt x="58850" y="91737"/>
                  <a:pt x="60581" y="96929"/>
                </a:cubicBezTo>
                <a:cubicBezTo>
                  <a:pt x="62312" y="102122"/>
                  <a:pt x="68370" y="107315"/>
                  <a:pt x="72697" y="109046"/>
                </a:cubicBezTo>
                <a:cubicBezTo>
                  <a:pt x="77024" y="110777"/>
                  <a:pt x="86544" y="101257"/>
                  <a:pt x="90871" y="109046"/>
                </a:cubicBezTo>
                <a:cubicBezTo>
                  <a:pt x="95199" y="116835"/>
                  <a:pt x="103853" y="155780"/>
                  <a:pt x="102988" y="163568"/>
                </a:cubicBezTo>
                <a:cubicBezTo>
                  <a:pt x="102122" y="171357"/>
                  <a:pt x="89140" y="165299"/>
                  <a:pt x="84813" y="163568"/>
                </a:cubicBezTo>
                <a:cubicBezTo>
                  <a:pt x="80486" y="161838"/>
                  <a:pt x="76159" y="161838"/>
                  <a:pt x="72697" y="151452"/>
                </a:cubicBezTo>
                <a:cubicBezTo>
                  <a:pt x="69235" y="141067"/>
                  <a:pt x="62312" y="99526"/>
                  <a:pt x="60581" y="90871"/>
                </a:cubicBezTo>
              </a:path>
            </a:pathLst>
          </a:custGeom>
          <a:noFill/>
          <a:ln w="4376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5" name="artery_fine_cutface_503"/>
          <p:cNvSpPr/>
          <p:nvPr/>
        </p:nvSpPr>
        <p:spPr>
          <a:xfrm>
            <a:off x="12621933" y="5602523"/>
            <a:ext cx="187801" cy="230207"/>
          </a:xfrm>
          <a:custGeom>
            <a:avLst/>
            <a:gdLst/>
            <a:ahLst/>
            <a:cxnLst/>
            <a:rect l="0" t="0" r="r" b="b"/>
            <a:pathLst>
              <a:path w="187801" h="230207">
                <a:moveTo>
                  <a:pt x="0" y="0"/>
                </a:moveTo>
                <a:cubicBezTo>
                  <a:pt x="11251" y="15578"/>
                  <a:pt x="61446" y="87410"/>
                  <a:pt x="78755" y="109046"/>
                </a:cubicBezTo>
                <a:cubicBezTo>
                  <a:pt x="96064" y="130682"/>
                  <a:pt x="112507" y="144529"/>
                  <a:pt x="121162" y="151452"/>
                </a:cubicBezTo>
                <a:cubicBezTo>
                  <a:pt x="129816" y="158376"/>
                  <a:pt x="129816" y="146260"/>
                  <a:pt x="139336" y="157510"/>
                </a:cubicBezTo>
                <a:cubicBezTo>
                  <a:pt x="148856" y="168761"/>
                  <a:pt x="180877" y="219822"/>
                  <a:pt x="187801" y="230207"/>
                </a:cubicBezTo>
              </a:path>
            </a:pathLst>
          </a:custGeom>
          <a:noFill/>
          <a:ln w="5097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6" name="artery_fine_cutface_504"/>
          <p:cNvSpPr/>
          <p:nvPr/>
        </p:nvSpPr>
        <p:spPr>
          <a:xfrm>
            <a:off x="12693764" y="5602523"/>
            <a:ext cx="67504" cy="163568"/>
          </a:xfrm>
          <a:custGeom>
            <a:avLst/>
            <a:gdLst/>
            <a:ahLst/>
            <a:cxnLst/>
            <a:rect l="0" t="0" r="r" b="b"/>
            <a:pathLst>
              <a:path w="67504" h="163568">
                <a:moveTo>
                  <a:pt x="6924" y="0"/>
                </a:moveTo>
                <a:cubicBezTo>
                  <a:pt x="6924" y="4327"/>
                  <a:pt x="0" y="13847"/>
                  <a:pt x="6924" y="30290"/>
                </a:cubicBezTo>
                <a:cubicBezTo>
                  <a:pt x="13847" y="46734"/>
                  <a:pt x="46734" y="96064"/>
                  <a:pt x="55388" y="115104"/>
                </a:cubicBezTo>
                <a:cubicBezTo>
                  <a:pt x="64043" y="134143"/>
                  <a:pt x="65774" y="156645"/>
                  <a:pt x="67504" y="163568"/>
                </a:cubicBezTo>
              </a:path>
            </a:pathLst>
          </a:custGeom>
          <a:noFill/>
          <a:ln w="5818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7" name="artery_fine_cutface_505"/>
          <p:cNvSpPr/>
          <p:nvPr/>
        </p:nvSpPr>
        <p:spPr>
          <a:xfrm>
            <a:off x="12852140" y="5620698"/>
            <a:ext cx="36349" cy="54523"/>
          </a:xfrm>
          <a:custGeom>
            <a:avLst/>
            <a:gdLst/>
            <a:ahLst/>
            <a:cxnLst/>
            <a:rect l="0" t="0" r="r" b="b"/>
            <a:pathLst>
              <a:path w="36349" h="54523">
                <a:moveTo>
                  <a:pt x="0" y="0"/>
                </a:moveTo>
                <a:cubicBezTo>
                  <a:pt x="4327" y="3462"/>
                  <a:pt x="25098" y="16443"/>
                  <a:pt x="30290" y="24232"/>
                </a:cubicBezTo>
                <a:cubicBezTo>
                  <a:pt x="35483" y="32021"/>
                  <a:pt x="35483" y="50196"/>
                  <a:pt x="36349" y="54523"/>
                </a:cubicBezTo>
              </a:path>
            </a:pathLst>
          </a:custGeom>
          <a:noFill/>
          <a:ln w="4376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8" name="artery_fine_cutface_506"/>
          <p:cNvSpPr/>
          <p:nvPr/>
        </p:nvSpPr>
        <p:spPr>
          <a:xfrm>
            <a:off x="12971571" y="5632814"/>
            <a:ext cx="22501" cy="48465"/>
          </a:xfrm>
          <a:custGeom>
            <a:avLst/>
            <a:gdLst/>
            <a:ahLst/>
            <a:cxnLst/>
            <a:rect l="0" t="0" r="r" b="b"/>
            <a:pathLst>
              <a:path w="22501" h="48465">
                <a:moveTo>
                  <a:pt x="7789" y="0"/>
                </a:moveTo>
                <a:cubicBezTo>
                  <a:pt x="6924" y="1731"/>
                  <a:pt x="0" y="7789"/>
                  <a:pt x="1731" y="12116"/>
                </a:cubicBezTo>
                <a:cubicBezTo>
                  <a:pt x="3462" y="16443"/>
                  <a:pt x="17309" y="25098"/>
                  <a:pt x="19905" y="30290"/>
                </a:cubicBezTo>
                <a:cubicBezTo>
                  <a:pt x="22501" y="35483"/>
                  <a:pt x="19905" y="45868"/>
                  <a:pt x="19905" y="48465"/>
                </a:cubicBezTo>
              </a:path>
            </a:pathLst>
          </a:custGeom>
          <a:noFill/>
          <a:ln w="5097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9" name="artery_fine_cutface_507"/>
          <p:cNvSpPr/>
          <p:nvPr/>
        </p:nvSpPr>
        <p:spPr>
          <a:xfrm>
            <a:off x="13041672" y="5717627"/>
            <a:ext cx="149721" cy="248382"/>
          </a:xfrm>
          <a:custGeom>
            <a:avLst/>
            <a:gdLst/>
            <a:ahLst/>
            <a:cxnLst/>
            <a:rect l="0" t="0" r="r" b="b"/>
            <a:pathLst>
              <a:path w="149721" h="248382">
                <a:moveTo>
                  <a:pt x="4327" y="0"/>
                </a:moveTo>
                <a:cubicBezTo>
                  <a:pt x="4327" y="2596"/>
                  <a:pt x="0" y="7789"/>
                  <a:pt x="4327" y="18174"/>
                </a:cubicBezTo>
                <a:cubicBezTo>
                  <a:pt x="8654" y="28560"/>
                  <a:pt x="20771" y="54523"/>
                  <a:pt x="34618" y="72697"/>
                </a:cubicBezTo>
                <a:cubicBezTo>
                  <a:pt x="48465" y="90871"/>
                  <a:pt x="84813" y="120296"/>
                  <a:pt x="101257" y="145394"/>
                </a:cubicBezTo>
                <a:cubicBezTo>
                  <a:pt x="117700" y="170492"/>
                  <a:pt x="142798" y="233669"/>
                  <a:pt x="149721" y="248382"/>
                </a:cubicBezTo>
              </a:path>
            </a:pathLst>
          </a:custGeom>
          <a:noFill/>
          <a:ln w="5818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0" name="artery_fine_cutface_508"/>
          <p:cNvSpPr/>
          <p:nvPr/>
        </p:nvSpPr>
        <p:spPr>
          <a:xfrm>
            <a:off x="12882431" y="5741860"/>
            <a:ext cx="30290" cy="18174"/>
          </a:xfrm>
          <a:custGeom>
            <a:avLst/>
            <a:gdLst/>
            <a:ahLst/>
            <a:cxnLst/>
            <a:rect l="0" t="0" r="r" b="b"/>
            <a:pathLst>
              <a:path w="30290" h="18174">
                <a:moveTo>
                  <a:pt x="0" y="0"/>
                </a:moveTo>
                <a:cubicBezTo>
                  <a:pt x="3462" y="865"/>
                  <a:pt x="19905" y="3462"/>
                  <a:pt x="24232" y="6058"/>
                </a:cubicBezTo>
                <a:cubicBezTo>
                  <a:pt x="28560" y="8654"/>
                  <a:pt x="29425" y="16443"/>
                  <a:pt x="30290" y="18174"/>
                </a:cubicBezTo>
              </a:path>
            </a:pathLst>
          </a:custGeom>
          <a:noFill/>
          <a:ln w="4376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1" name="artery_fine_cutface_509"/>
          <p:cNvSpPr/>
          <p:nvPr/>
        </p:nvSpPr>
        <p:spPr>
          <a:xfrm>
            <a:off x="12706746" y="5778208"/>
            <a:ext cx="42407" cy="54523"/>
          </a:xfrm>
          <a:custGeom>
            <a:avLst/>
            <a:gdLst/>
            <a:ahLst/>
            <a:cxnLst/>
            <a:rect l="0" t="0" r="r" b="b"/>
            <a:pathLst>
              <a:path w="42407" h="54523">
                <a:moveTo>
                  <a:pt x="0" y="0"/>
                </a:moveTo>
                <a:cubicBezTo>
                  <a:pt x="2596" y="1731"/>
                  <a:pt x="12116" y="4327"/>
                  <a:pt x="18174" y="12116"/>
                </a:cubicBezTo>
                <a:cubicBezTo>
                  <a:pt x="24232" y="19905"/>
                  <a:pt x="38945" y="48465"/>
                  <a:pt x="42407" y="54523"/>
                </a:cubicBezTo>
              </a:path>
            </a:pathLst>
          </a:custGeom>
          <a:noFill/>
          <a:ln w="5097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2" name="artery_fine_cutface_510"/>
          <p:cNvSpPr/>
          <p:nvPr/>
        </p:nvSpPr>
        <p:spPr>
          <a:xfrm>
            <a:off x="13021767" y="5838789"/>
            <a:ext cx="218091" cy="296847"/>
          </a:xfrm>
          <a:custGeom>
            <a:avLst/>
            <a:gdLst/>
            <a:ahLst/>
            <a:cxnLst/>
            <a:rect l="0" t="0" r="r" b="b"/>
            <a:pathLst>
              <a:path w="218091" h="296847">
                <a:moveTo>
                  <a:pt x="0" y="0"/>
                </a:moveTo>
                <a:cubicBezTo>
                  <a:pt x="6058" y="11251"/>
                  <a:pt x="34618" y="59715"/>
                  <a:pt x="42407" y="78755"/>
                </a:cubicBezTo>
                <a:cubicBezTo>
                  <a:pt x="50196" y="97795"/>
                  <a:pt x="49330" y="120296"/>
                  <a:pt x="54523" y="133278"/>
                </a:cubicBezTo>
                <a:cubicBezTo>
                  <a:pt x="59715" y="146260"/>
                  <a:pt x="71832" y="163568"/>
                  <a:pt x="78755" y="169627"/>
                </a:cubicBezTo>
                <a:cubicBezTo>
                  <a:pt x="85679" y="175685"/>
                  <a:pt x="83082" y="157510"/>
                  <a:pt x="102988" y="175685"/>
                </a:cubicBezTo>
                <a:cubicBezTo>
                  <a:pt x="122893" y="193859"/>
                  <a:pt x="201648" y="279538"/>
                  <a:pt x="218091" y="296847"/>
                </a:cubicBezTo>
              </a:path>
            </a:pathLst>
          </a:custGeom>
          <a:noFill/>
          <a:ln w="5818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3" name="artery_fine_cutface_511"/>
          <p:cNvSpPr/>
          <p:nvPr/>
        </p:nvSpPr>
        <p:spPr>
          <a:xfrm>
            <a:off x="12991476" y="5869079"/>
            <a:ext cx="90871" cy="109046"/>
          </a:xfrm>
          <a:custGeom>
            <a:avLst/>
            <a:gdLst/>
            <a:ahLst/>
            <a:cxnLst/>
            <a:rect l="0" t="0" r="r" b="b"/>
            <a:pathLst>
              <a:path w="90871" h="109046">
                <a:moveTo>
                  <a:pt x="0" y="0"/>
                </a:moveTo>
                <a:cubicBezTo>
                  <a:pt x="8654" y="12982"/>
                  <a:pt x="47599" y="75293"/>
                  <a:pt x="60581" y="90871"/>
                </a:cubicBezTo>
                <a:cubicBezTo>
                  <a:pt x="73563" y="106449"/>
                  <a:pt x="86544" y="106449"/>
                  <a:pt x="90871" y="109046"/>
                </a:cubicBezTo>
              </a:path>
            </a:pathLst>
          </a:custGeom>
          <a:noFill/>
          <a:ln w="4376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4" name="artery_fine_cutface_512"/>
          <p:cNvSpPr/>
          <p:nvPr/>
        </p:nvSpPr>
        <p:spPr>
          <a:xfrm>
            <a:off x="12827908" y="5893312"/>
            <a:ext cx="169627" cy="181743"/>
          </a:xfrm>
          <a:custGeom>
            <a:avLst/>
            <a:gdLst/>
            <a:ahLst/>
            <a:cxnLst/>
            <a:rect l="0" t="0" r="r" b="b"/>
            <a:pathLst>
              <a:path w="169627" h="181743">
                <a:moveTo>
                  <a:pt x="0" y="0"/>
                </a:moveTo>
                <a:cubicBezTo>
                  <a:pt x="5193" y="9520"/>
                  <a:pt x="19040" y="47599"/>
                  <a:pt x="36349" y="66639"/>
                </a:cubicBezTo>
                <a:cubicBezTo>
                  <a:pt x="53657" y="85679"/>
                  <a:pt x="106449" y="123758"/>
                  <a:pt x="121162" y="133278"/>
                </a:cubicBezTo>
                <a:cubicBezTo>
                  <a:pt x="135874" y="142798"/>
                  <a:pt x="132413" y="126354"/>
                  <a:pt x="139336" y="133278"/>
                </a:cubicBezTo>
                <a:cubicBezTo>
                  <a:pt x="146260" y="140202"/>
                  <a:pt x="165299" y="174819"/>
                  <a:pt x="169627" y="181743"/>
                </a:cubicBezTo>
              </a:path>
            </a:pathLst>
          </a:custGeom>
          <a:noFill/>
          <a:ln w="5097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5" name="artery_fine_cutface_513"/>
          <p:cNvSpPr/>
          <p:nvPr/>
        </p:nvSpPr>
        <p:spPr>
          <a:xfrm>
            <a:off x="12910125" y="5887254"/>
            <a:ext cx="105584" cy="96929"/>
          </a:xfrm>
          <a:custGeom>
            <a:avLst/>
            <a:gdLst/>
            <a:ahLst/>
            <a:cxnLst/>
            <a:rect l="0" t="0" r="r" b="b"/>
            <a:pathLst>
              <a:path w="105584" h="96929">
                <a:moveTo>
                  <a:pt x="2596" y="12116"/>
                </a:moveTo>
                <a:cubicBezTo>
                  <a:pt x="4327" y="12116"/>
                  <a:pt x="0" y="0"/>
                  <a:pt x="14713" y="12116"/>
                </a:cubicBezTo>
                <a:cubicBezTo>
                  <a:pt x="29425" y="24232"/>
                  <a:pt x="92602" y="84813"/>
                  <a:pt x="105584" y="96929"/>
                </a:cubicBezTo>
              </a:path>
            </a:pathLst>
          </a:custGeom>
          <a:noFill/>
          <a:ln w="5818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6" name="artery_fine_cutface_514"/>
          <p:cNvSpPr/>
          <p:nvPr/>
        </p:nvSpPr>
        <p:spPr>
          <a:xfrm>
            <a:off x="12955128" y="5929660"/>
            <a:ext cx="48465" cy="48465"/>
          </a:xfrm>
          <a:custGeom>
            <a:avLst/>
            <a:gdLst/>
            <a:ahLst/>
            <a:cxnLst/>
            <a:rect l="0" t="0" r="r" b="b"/>
            <a:pathLst>
              <a:path w="48465" h="48465">
                <a:moveTo>
                  <a:pt x="0" y="0"/>
                </a:moveTo>
                <a:cubicBezTo>
                  <a:pt x="6924" y="6924"/>
                  <a:pt x="41541" y="41541"/>
                  <a:pt x="48465" y="48465"/>
                </a:cubicBezTo>
              </a:path>
            </a:pathLst>
          </a:custGeom>
          <a:noFill/>
          <a:ln w="4376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7" name="artery_fine_cutface_515"/>
          <p:cNvSpPr/>
          <p:nvPr/>
        </p:nvSpPr>
        <p:spPr>
          <a:xfrm>
            <a:off x="12961186" y="5929660"/>
            <a:ext cx="42407" cy="42407"/>
          </a:xfrm>
          <a:custGeom>
            <a:avLst/>
            <a:gdLst/>
            <a:ahLst/>
            <a:cxnLst/>
            <a:rect l="0" t="0" r="r" b="b"/>
            <a:pathLst>
              <a:path w="42407" h="42407">
                <a:moveTo>
                  <a:pt x="0" y="0"/>
                </a:moveTo>
                <a:cubicBezTo>
                  <a:pt x="6058" y="6058"/>
                  <a:pt x="36349" y="36349"/>
                  <a:pt x="42407" y="42407"/>
                </a:cubicBezTo>
              </a:path>
            </a:pathLst>
          </a:custGeom>
          <a:noFill/>
          <a:ln w="5097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8" name="artery_fine_cutface_516"/>
          <p:cNvSpPr/>
          <p:nvPr/>
        </p:nvSpPr>
        <p:spPr>
          <a:xfrm>
            <a:off x="12858198" y="5941777"/>
            <a:ext cx="30290" cy="36349"/>
          </a:xfrm>
          <a:custGeom>
            <a:avLst/>
            <a:gdLst/>
            <a:ahLst/>
            <a:cxnLst/>
            <a:rect l="0" t="0" r="r" b="b"/>
            <a:pathLst>
              <a:path w="30290" h="36349">
                <a:moveTo>
                  <a:pt x="0" y="0"/>
                </a:moveTo>
                <a:cubicBezTo>
                  <a:pt x="4327" y="5193"/>
                  <a:pt x="25963" y="31156"/>
                  <a:pt x="30290" y="36349"/>
                </a:cubicBezTo>
              </a:path>
            </a:pathLst>
          </a:custGeom>
          <a:noFill/>
          <a:ln w="5818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9" name="artery_fine_cutface_517"/>
          <p:cNvSpPr/>
          <p:nvPr/>
        </p:nvSpPr>
        <p:spPr>
          <a:xfrm>
            <a:off x="13106580" y="6014474"/>
            <a:ext cx="60581" cy="109046"/>
          </a:xfrm>
          <a:custGeom>
            <a:avLst/>
            <a:gdLst/>
            <a:ahLst/>
            <a:cxnLst/>
            <a:rect l="0" t="0" r="r" b="b"/>
            <a:pathLst>
              <a:path w="60581" h="109046">
                <a:moveTo>
                  <a:pt x="0" y="0"/>
                </a:moveTo>
                <a:cubicBezTo>
                  <a:pt x="3462" y="11251"/>
                  <a:pt x="15578" y="63177"/>
                  <a:pt x="24232" y="78755"/>
                </a:cubicBezTo>
                <a:cubicBezTo>
                  <a:pt x="32887" y="94333"/>
                  <a:pt x="55388" y="104718"/>
                  <a:pt x="60581" y="109046"/>
                </a:cubicBezTo>
              </a:path>
            </a:pathLst>
          </a:custGeom>
          <a:noFill/>
          <a:ln w="4376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0" name="artery_fine_cutface_518"/>
          <p:cNvSpPr/>
          <p:nvPr/>
        </p:nvSpPr>
        <p:spPr>
          <a:xfrm>
            <a:off x="13239858" y="6020532"/>
            <a:ext cx="36349" cy="248382"/>
          </a:xfrm>
          <a:custGeom>
            <a:avLst/>
            <a:gdLst/>
            <a:ahLst/>
            <a:cxnLst/>
            <a:rect l="0" t="0" r="r" b="b"/>
            <a:pathLst>
              <a:path w="36349" h="248382">
                <a:moveTo>
                  <a:pt x="0" y="0"/>
                </a:moveTo>
                <a:cubicBezTo>
                  <a:pt x="5193" y="35483"/>
                  <a:pt x="31156" y="212899"/>
                  <a:pt x="36349" y="248382"/>
                </a:cubicBezTo>
              </a:path>
            </a:pathLst>
          </a:custGeom>
          <a:noFill/>
          <a:ln w="5097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1" name="artery_fine_cutface_519"/>
          <p:cNvSpPr/>
          <p:nvPr/>
        </p:nvSpPr>
        <p:spPr>
          <a:xfrm>
            <a:off x="13155045" y="6044764"/>
            <a:ext cx="30290" cy="36349"/>
          </a:xfrm>
          <a:custGeom>
            <a:avLst/>
            <a:gdLst/>
            <a:ahLst/>
            <a:cxnLst/>
            <a:rect l="0" t="0" r="r" b="b"/>
            <a:pathLst>
              <a:path w="30290" h="36349">
                <a:moveTo>
                  <a:pt x="0" y="0"/>
                </a:moveTo>
                <a:cubicBezTo>
                  <a:pt x="4327" y="5193"/>
                  <a:pt x="25963" y="31156"/>
                  <a:pt x="30290" y="36349"/>
                </a:cubicBezTo>
              </a:path>
            </a:pathLst>
          </a:custGeom>
          <a:noFill/>
          <a:ln w="5818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2" name="artery_fine_cutface_520"/>
          <p:cNvSpPr/>
          <p:nvPr/>
        </p:nvSpPr>
        <p:spPr>
          <a:xfrm>
            <a:off x="13088406" y="6050822"/>
            <a:ext cx="36349" cy="24232"/>
          </a:xfrm>
          <a:custGeom>
            <a:avLst/>
            <a:gdLst/>
            <a:ahLst/>
            <a:cxnLst/>
            <a:rect l="0" t="0" r="r" b="b"/>
            <a:pathLst>
              <a:path w="36349" h="24232">
                <a:moveTo>
                  <a:pt x="0" y="0"/>
                </a:moveTo>
                <a:cubicBezTo>
                  <a:pt x="5193" y="3462"/>
                  <a:pt x="31156" y="20771"/>
                  <a:pt x="36349" y="24232"/>
                </a:cubicBezTo>
              </a:path>
            </a:pathLst>
          </a:custGeom>
          <a:noFill/>
          <a:ln w="4376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3" name="artery_fine_cutface_521"/>
          <p:cNvSpPr/>
          <p:nvPr/>
        </p:nvSpPr>
        <p:spPr>
          <a:xfrm>
            <a:off x="13155045" y="6050822"/>
            <a:ext cx="30290" cy="24232"/>
          </a:xfrm>
          <a:custGeom>
            <a:avLst/>
            <a:gdLst/>
            <a:ahLst/>
            <a:cxnLst/>
            <a:rect l="0" t="0" r="r" b="b"/>
            <a:pathLst>
              <a:path w="30290" h="24232">
                <a:moveTo>
                  <a:pt x="0" y="0"/>
                </a:moveTo>
                <a:cubicBezTo>
                  <a:pt x="4327" y="3462"/>
                  <a:pt x="25963" y="20771"/>
                  <a:pt x="30290" y="24232"/>
                </a:cubicBezTo>
              </a:path>
            </a:pathLst>
          </a:custGeom>
          <a:noFill/>
          <a:ln w="5097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4" name="artery_fine_cutface_522"/>
          <p:cNvSpPr/>
          <p:nvPr/>
        </p:nvSpPr>
        <p:spPr>
          <a:xfrm>
            <a:off x="13088406" y="6075055"/>
            <a:ext cx="42407" cy="20771"/>
          </a:xfrm>
          <a:custGeom>
            <a:avLst/>
            <a:gdLst/>
            <a:ahLst/>
            <a:cxnLst/>
            <a:rect l="0" t="0" r="r" b="b"/>
            <a:pathLst>
              <a:path w="42407" h="20771">
                <a:moveTo>
                  <a:pt x="0" y="0"/>
                </a:moveTo>
                <a:cubicBezTo>
                  <a:pt x="2596" y="2596"/>
                  <a:pt x="12116" y="15578"/>
                  <a:pt x="18174" y="18174"/>
                </a:cubicBezTo>
                <a:cubicBezTo>
                  <a:pt x="24232" y="20771"/>
                  <a:pt x="38945" y="18174"/>
                  <a:pt x="42407" y="18174"/>
                </a:cubicBezTo>
              </a:path>
            </a:pathLst>
          </a:custGeom>
          <a:noFill/>
          <a:ln w="5818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5" name="artery_fine_cutface_523"/>
          <p:cNvSpPr/>
          <p:nvPr/>
        </p:nvSpPr>
        <p:spPr>
          <a:xfrm>
            <a:off x="13106580" y="6111403"/>
            <a:ext cx="66639" cy="60581"/>
          </a:xfrm>
          <a:custGeom>
            <a:avLst/>
            <a:gdLst/>
            <a:ahLst/>
            <a:cxnLst/>
            <a:rect l="0" t="0" r="r" b="b"/>
            <a:pathLst>
              <a:path w="66639" h="60581">
                <a:moveTo>
                  <a:pt x="0" y="0"/>
                </a:moveTo>
                <a:cubicBezTo>
                  <a:pt x="9520" y="8654"/>
                  <a:pt x="57119" y="51927"/>
                  <a:pt x="66639" y="60581"/>
                </a:cubicBezTo>
              </a:path>
            </a:pathLst>
          </a:custGeom>
          <a:noFill/>
          <a:ln w="4376" cap="rnd">
            <a:solidFill>
              <a:srgbClr val="B3A0CD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6" name="artery_fine_cutface_524"/>
          <p:cNvSpPr/>
          <p:nvPr/>
        </p:nvSpPr>
        <p:spPr>
          <a:xfrm>
            <a:off x="13076289" y="6135636"/>
            <a:ext cx="30290" cy="19040"/>
          </a:xfrm>
          <a:custGeom>
            <a:avLst/>
            <a:gdLst/>
            <a:ahLst/>
            <a:cxnLst/>
            <a:rect l="0" t="0" r="r" b="b"/>
            <a:pathLst>
              <a:path w="30290" h="19040">
                <a:moveTo>
                  <a:pt x="30290" y="0"/>
                </a:moveTo>
                <a:cubicBezTo>
                  <a:pt x="28560" y="2596"/>
                  <a:pt x="22501" y="17309"/>
                  <a:pt x="18174" y="18174"/>
                </a:cubicBezTo>
                <a:cubicBezTo>
                  <a:pt x="13847" y="19040"/>
                  <a:pt x="2596" y="7789"/>
                  <a:pt x="0" y="6058"/>
                </a:cubicBezTo>
              </a:path>
            </a:pathLst>
          </a:custGeom>
          <a:noFill/>
          <a:ln w="5097" cap="rnd">
            <a:solidFill>
              <a:srgbClr val="C2B1D9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7" name="artery_fine_cutface_525"/>
          <p:cNvSpPr/>
          <p:nvPr/>
        </p:nvSpPr>
        <p:spPr>
          <a:xfrm>
            <a:off x="13106580" y="6141694"/>
            <a:ext cx="34618" cy="48465"/>
          </a:xfrm>
          <a:custGeom>
            <a:avLst/>
            <a:gdLst/>
            <a:ahLst/>
            <a:cxnLst/>
            <a:rect l="0" t="0" r="r" b="b"/>
            <a:pathLst>
              <a:path w="34618" h="48465">
                <a:moveTo>
                  <a:pt x="0" y="0"/>
                </a:moveTo>
                <a:cubicBezTo>
                  <a:pt x="4327" y="4327"/>
                  <a:pt x="25963" y="23367"/>
                  <a:pt x="30290" y="30290"/>
                </a:cubicBezTo>
                <a:cubicBezTo>
                  <a:pt x="34618" y="37214"/>
                  <a:pt x="30290" y="45868"/>
                  <a:pt x="30290" y="48465"/>
                </a:cubicBezTo>
              </a:path>
            </a:pathLst>
          </a:custGeom>
          <a:noFill/>
          <a:ln w="5818" cap="rnd">
            <a:solidFill>
              <a:srgbClr val="D2C2E3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8" name="artery_fine_cutface_526"/>
          <p:cNvSpPr/>
          <p:nvPr/>
        </p:nvSpPr>
        <p:spPr>
          <a:xfrm>
            <a:off x="13100522" y="6147752"/>
            <a:ext cx="25963" cy="27694"/>
          </a:xfrm>
          <a:custGeom>
            <a:avLst/>
            <a:gdLst/>
            <a:ahLst/>
            <a:cxnLst/>
            <a:rect l="0" t="0" r="r" b="b"/>
            <a:pathLst>
              <a:path w="25963" h="27694">
                <a:moveTo>
                  <a:pt x="0" y="0"/>
                </a:moveTo>
                <a:cubicBezTo>
                  <a:pt x="1731" y="3462"/>
                  <a:pt x="8654" y="20771"/>
                  <a:pt x="12116" y="24232"/>
                </a:cubicBezTo>
                <a:cubicBezTo>
                  <a:pt x="15578" y="27694"/>
                  <a:pt x="22501" y="25963"/>
                  <a:pt x="24232" y="24232"/>
                </a:cubicBezTo>
                <a:cubicBezTo>
                  <a:pt x="25963" y="22501"/>
                  <a:pt x="24232" y="13847"/>
                  <a:pt x="24232" y="12116"/>
                </a:cubicBezTo>
              </a:path>
            </a:pathLst>
          </a:custGeom>
          <a:noFill/>
          <a:ln w="4376" cap="rnd">
            <a:solidFill>
              <a:srgbClr val="9B8BBC">
                <a:alpha val="7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9" name="artery_cut_fibroblast_body_527"/>
          <p:cNvSpPr/>
          <p:nvPr/>
        </p:nvSpPr>
        <p:spPr>
          <a:xfrm>
            <a:off x="12507904" y="4338570"/>
            <a:ext cx="152852" cy="371226"/>
          </a:xfrm>
          <a:custGeom>
            <a:avLst/>
            <a:gdLst/>
            <a:ahLst/>
            <a:cxnLst/>
            <a:rect l="0" t="0" r="r" b="b"/>
            <a:pathLst>
              <a:path w="152852" h="371226">
                <a:moveTo>
                  <a:pt x="51594" y="0"/>
                </a:moveTo>
                <a:cubicBezTo>
                  <a:pt x="131347" y="97991"/>
                  <a:pt x="152852" y="233288"/>
                  <a:pt x="103766" y="371226"/>
                </a:cubicBezTo>
                <a:cubicBezTo>
                  <a:pt x="22508" y="262527"/>
                  <a:pt x="0" y="120091"/>
                  <a:pt x="51594" y="0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0" name="artery_cut_fibroblast_nucleus_528"/>
          <p:cNvSpPr/>
          <p:nvPr/>
        </p:nvSpPr>
        <p:spPr>
          <a:xfrm>
            <a:off x="12555244" y="4441745"/>
            <a:ext cx="60680" cy="164876"/>
          </a:xfrm>
          <a:custGeom>
            <a:avLst/>
            <a:gdLst/>
            <a:ahLst/>
            <a:cxnLst/>
            <a:rect l="0" t="0" r="r" b="b"/>
            <a:pathLst>
              <a:path w="60680" h="164876">
                <a:moveTo>
                  <a:pt x="19017" y="1870"/>
                </a:moveTo>
                <a:cubicBezTo>
                  <a:pt x="32320" y="0"/>
                  <a:pt x="48173" y="34556"/>
                  <a:pt x="54427" y="79053"/>
                </a:cubicBezTo>
                <a:cubicBezTo>
                  <a:pt x="60680" y="123549"/>
                  <a:pt x="54966" y="161137"/>
                  <a:pt x="41663" y="163006"/>
                </a:cubicBezTo>
                <a:cubicBezTo>
                  <a:pt x="28361" y="164876"/>
                  <a:pt x="12507" y="130320"/>
                  <a:pt x="6254" y="85823"/>
                </a:cubicBezTo>
                <a:cubicBezTo>
                  <a:pt x="0" y="41326"/>
                  <a:pt x="5714" y="3739"/>
                  <a:pt x="19017" y="1870"/>
                </a:cubicBezTo>
                <a:close/>
              </a:path>
            </a:pathLst>
          </a:custGeom>
          <a:gradFill rotWithShape="1">
            <a:gsLst>
              <a:gs pos="0">
                <a:srgbClr val="E4DCEE"/>
              </a:gs>
              <a:gs pos="40000">
                <a:srgbClr val="C6B7DC"/>
              </a:gs>
              <a:gs pos="100000">
                <a:srgbClr val="A28DBD"/>
              </a:gs>
            </a:gsLst>
            <a:path path="circle">
              <a:fillToRect l="30000" t="21000" r="70000" b="79000"/>
            </a:path>
            <a:tileRect/>
          </a:gradFill>
          <a:ln w="3937" cap="rnd">
            <a:solidFill>
              <a:srgbClr val="9580A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1" name="artery_cut_fibroblast_body_529"/>
          <p:cNvSpPr/>
          <p:nvPr/>
        </p:nvSpPr>
        <p:spPr>
          <a:xfrm>
            <a:off x="12494179" y="4713921"/>
            <a:ext cx="145131" cy="395959"/>
          </a:xfrm>
          <a:custGeom>
            <a:avLst/>
            <a:gdLst/>
            <a:ahLst/>
            <a:cxnLst/>
            <a:rect l="0" t="0" r="r" b="b"/>
            <a:pathLst>
              <a:path w="145131" h="395959">
                <a:moveTo>
                  <a:pt x="59387" y="0"/>
                </a:moveTo>
                <a:cubicBezTo>
                  <a:pt x="132554" y="109661"/>
                  <a:pt x="145131" y="254167"/>
                  <a:pt x="87075" y="395959"/>
                </a:cubicBezTo>
                <a:cubicBezTo>
                  <a:pt x="13109" y="274876"/>
                  <a:pt x="0" y="122756"/>
                  <a:pt x="59387" y="0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2" name="artery_cut_fibroblast_nucleus_530"/>
          <p:cNvSpPr/>
          <p:nvPr/>
        </p:nvSpPr>
        <p:spPr>
          <a:xfrm>
            <a:off x="12539827" y="4825028"/>
            <a:ext cx="55166" cy="173747"/>
          </a:xfrm>
          <a:custGeom>
            <a:avLst/>
            <a:gdLst/>
            <a:ahLst/>
            <a:cxnLst/>
            <a:rect l="0" t="0" r="r" b="b"/>
            <a:pathLst>
              <a:path w="55166" h="173747">
                <a:moveTo>
                  <a:pt x="21574" y="937"/>
                </a:moveTo>
                <a:cubicBezTo>
                  <a:pt x="34974" y="0"/>
                  <a:pt x="48528" y="37715"/>
                  <a:pt x="51847" y="85177"/>
                </a:cubicBezTo>
                <a:cubicBezTo>
                  <a:pt x="55166" y="132638"/>
                  <a:pt x="46993" y="171872"/>
                  <a:pt x="33592" y="172810"/>
                </a:cubicBezTo>
                <a:cubicBezTo>
                  <a:pt x="20191" y="173747"/>
                  <a:pt x="6638" y="136031"/>
                  <a:pt x="3319" y="88570"/>
                </a:cubicBezTo>
                <a:cubicBezTo>
                  <a:pt x="0" y="41109"/>
                  <a:pt x="8173" y="1874"/>
                  <a:pt x="21574" y="937"/>
                </a:cubicBezTo>
                <a:close/>
              </a:path>
            </a:pathLst>
          </a:custGeom>
          <a:gradFill rotWithShape="1">
            <a:gsLst>
              <a:gs pos="0">
                <a:srgbClr val="E4DCEE"/>
              </a:gs>
              <a:gs pos="40000">
                <a:srgbClr val="C6B7DC"/>
              </a:gs>
              <a:gs pos="100000">
                <a:srgbClr val="A28DBD"/>
              </a:gs>
            </a:gsLst>
            <a:path path="circle">
              <a:fillToRect l="30000" t="21000" r="70000" b="79000"/>
            </a:path>
            <a:tileRect/>
          </a:gradFill>
          <a:ln w="3937" cap="rnd">
            <a:solidFill>
              <a:srgbClr val="9580A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3" name="artery_cut_fibroblast_body_531"/>
          <p:cNvSpPr/>
          <p:nvPr/>
        </p:nvSpPr>
        <p:spPr>
          <a:xfrm>
            <a:off x="12635471" y="5177508"/>
            <a:ext cx="160886" cy="377499"/>
          </a:xfrm>
          <a:custGeom>
            <a:avLst/>
            <a:gdLst/>
            <a:ahLst/>
            <a:cxnLst/>
            <a:rect l="0" t="0" r="r" b="b"/>
            <a:pathLst>
              <a:path w="160886" h="377499">
                <a:moveTo>
                  <a:pt x="22063" y="0"/>
                </a:moveTo>
                <a:cubicBezTo>
                  <a:pt x="113937" y="90539"/>
                  <a:pt x="160886" y="227778"/>
                  <a:pt x="144720" y="377499"/>
                </a:cubicBezTo>
                <a:cubicBezTo>
                  <a:pt x="49308" y="276071"/>
                  <a:pt x="0" y="131572"/>
                  <a:pt x="22063" y="0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4" name="artery_cut_fibroblast_nucleus_532"/>
          <p:cNvSpPr/>
          <p:nvPr/>
        </p:nvSpPr>
        <p:spPr>
          <a:xfrm>
            <a:off x="12680627" y="5280554"/>
            <a:ext cx="76470" cy="171407"/>
          </a:xfrm>
          <a:custGeom>
            <a:avLst/>
            <a:gdLst/>
            <a:ahLst/>
            <a:cxnLst/>
            <a:rect l="0" t="0" r="r" b="b"/>
            <a:pathLst>
              <a:path w="76470" h="171407">
                <a:moveTo>
                  <a:pt x="11614" y="3774"/>
                </a:moveTo>
                <a:cubicBezTo>
                  <a:pt x="23229" y="0"/>
                  <a:pt x="44563" y="33622"/>
                  <a:pt x="59265" y="78871"/>
                </a:cubicBezTo>
                <a:cubicBezTo>
                  <a:pt x="73967" y="124119"/>
                  <a:pt x="76470" y="163860"/>
                  <a:pt x="64856" y="167633"/>
                </a:cubicBezTo>
                <a:cubicBezTo>
                  <a:pt x="53241" y="171407"/>
                  <a:pt x="31907" y="137785"/>
                  <a:pt x="17205" y="92537"/>
                </a:cubicBezTo>
                <a:cubicBezTo>
                  <a:pt x="2503" y="47288"/>
                  <a:pt x="0" y="7548"/>
                  <a:pt x="11614" y="3774"/>
                </a:cubicBezTo>
                <a:close/>
              </a:path>
            </a:pathLst>
          </a:custGeom>
          <a:gradFill rotWithShape="1">
            <a:gsLst>
              <a:gs pos="0">
                <a:srgbClr val="E4DCEE"/>
              </a:gs>
              <a:gs pos="40000">
                <a:srgbClr val="C6B7DC"/>
              </a:gs>
              <a:gs pos="100000">
                <a:srgbClr val="A28DBD"/>
              </a:gs>
            </a:gsLst>
            <a:path path="circle">
              <a:fillToRect l="30000" t="21000" r="70000" b="79000"/>
            </a:path>
            <a:tileRect/>
          </a:gradFill>
          <a:ln w="3937" cap="rnd">
            <a:solidFill>
              <a:srgbClr val="9580A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5" name="artery_cut_fibroblast_body_533"/>
          <p:cNvSpPr/>
          <p:nvPr/>
        </p:nvSpPr>
        <p:spPr>
          <a:xfrm>
            <a:off x="12843184" y="5664577"/>
            <a:ext cx="179597" cy="324192"/>
          </a:xfrm>
          <a:custGeom>
            <a:avLst/>
            <a:gdLst/>
            <a:ahLst/>
            <a:cxnLst/>
            <a:rect l="0" t="0" r="r" b="b"/>
            <a:pathLst>
              <a:path w="179597" h="324192">
                <a:moveTo>
                  <a:pt x="11177" y="0"/>
                </a:moveTo>
                <a:cubicBezTo>
                  <a:pt x="117045" y="63853"/>
                  <a:pt x="179597" y="181189"/>
                  <a:pt x="176361" y="324192"/>
                </a:cubicBezTo>
                <a:cubicBezTo>
                  <a:pt x="65729" y="250987"/>
                  <a:pt x="0" y="127417"/>
                  <a:pt x="11177" y="0"/>
                </a:cubicBezTo>
                <a:close/>
              </a:path>
            </a:pathLst>
          </a:custGeom>
          <a:gradFill rotWithShape="1">
            <a:gsLst>
              <a:gs pos="0">
                <a:srgbClr val="FEFBFF"/>
              </a:gs>
              <a:gs pos="42000">
                <a:srgbClr val="F2EDF7"/>
              </a:gs>
              <a:gs pos="78000">
                <a:srgbClr val="DDD2E9"/>
              </a:gs>
              <a:gs pos="100000">
                <a:srgbClr val="C5B6D9"/>
              </a:gs>
            </a:gsLst>
            <a:path path="circle">
              <a:fillToRect l="34000" t="22000" r="66000" b="78000"/>
            </a:path>
            <a:tileRect/>
          </a:gradFill>
          <a:ln w="3937" cap="rnd">
            <a:solidFill>
              <a:srgbClr val="AA9AC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6" name="artery_cut_fibroblast_nucleus_534"/>
          <p:cNvSpPr/>
          <p:nvPr/>
        </p:nvSpPr>
        <p:spPr>
          <a:xfrm>
            <a:off x="12889134" y="5750214"/>
            <a:ext cx="95639" cy="152918"/>
          </a:xfrm>
          <a:custGeom>
            <a:avLst/>
            <a:gdLst/>
            <a:ahLst/>
            <a:cxnLst/>
            <a:rect l="0" t="0" r="r" b="b"/>
            <a:pathLst>
              <a:path w="95639" h="152918">
                <a:moveTo>
                  <a:pt x="11969" y="6099"/>
                </a:moveTo>
                <a:cubicBezTo>
                  <a:pt x="23938" y="0"/>
                  <a:pt x="49692" y="26557"/>
                  <a:pt x="69492" y="65416"/>
                </a:cubicBezTo>
                <a:cubicBezTo>
                  <a:pt x="89291" y="104275"/>
                  <a:pt x="95639" y="140721"/>
                  <a:pt x="83670" y="146819"/>
                </a:cubicBezTo>
                <a:cubicBezTo>
                  <a:pt x="71701" y="152918"/>
                  <a:pt x="45947" y="126360"/>
                  <a:pt x="26147" y="87501"/>
                </a:cubicBezTo>
                <a:cubicBezTo>
                  <a:pt x="6348" y="48643"/>
                  <a:pt x="0" y="12197"/>
                  <a:pt x="11969" y="6099"/>
                </a:cubicBezTo>
                <a:close/>
              </a:path>
            </a:pathLst>
          </a:custGeom>
          <a:gradFill rotWithShape="1">
            <a:gsLst>
              <a:gs pos="0">
                <a:srgbClr val="E4DCEE"/>
              </a:gs>
              <a:gs pos="40000">
                <a:srgbClr val="C6B7DC"/>
              </a:gs>
              <a:gs pos="100000">
                <a:srgbClr val="A28DBD"/>
              </a:gs>
            </a:gsLst>
            <a:path path="circle">
              <a:fillToRect l="30000" t="21000" r="70000" b="79000"/>
            </a:path>
            <a:tileRect/>
          </a:gradFill>
          <a:ln w="3937" cap="rnd">
            <a:solidFill>
              <a:srgbClr val="9580A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7" name="artery_inner_cut_tissue_535"/>
          <p:cNvSpPr/>
          <p:nvPr/>
        </p:nvSpPr>
        <p:spPr>
          <a:xfrm>
            <a:off x="12288738" y="3506424"/>
            <a:ext cx="975353" cy="2865477"/>
          </a:xfrm>
          <a:custGeom>
            <a:avLst/>
            <a:gdLst/>
            <a:ahLst/>
            <a:cxnLst/>
            <a:rect l="0" t="0" r="r" b="b"/>
            <a:pathLst>
              <a:path w="975353" h="2865477">
                <a:moveTo>
                  <a:pt x="363486" y="0"/>
                </a:moveTo>
                <a:cubicBezTo>
                  <a:pt x="296847" y="181743"/>
                  <a:pt x="248382" y="393776"/>
                  <a:pt x="187801" y="617925"/>
                </a:cubicBezTo>
                <a:cubicBezTo>
                  <a:pt x="127220" y="811784"/>
                  <a:pt x="78755" y="981411"/>
                  <a:pt x="48465" y="1217676"/>
                </a:cubicBezTo>
                <a:cubicBezTo>
                  <a:pt x="0" y="1520581"/>
                  <a:pt x="60581" y="1817428"/>
                  <a:pt x="236266" y="2120332"/>
                </a:cubicBezTo>
                <a:cubicBezTo>
                  <a:pt x="393776" y="2423237"/>
                  <a:pt x="648216" y="2683735"/>
                  <a:pt x="975353" y="2865477"/>
                </a:cubicBezTo>
              </a:path>
            </a:pathLst>
          </a:custGeom>
          <a:noFill/>
          <a:ln w="13933" cap="rnd">
            <a:solidFill>
              <a:srgbClr val="D78F83">
                <a:alpha val="90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8" name="artery_inner_cut_light_536"/>
          <p:cNvSpPr/>
          <p:nvPr/>
        </p:nvSpPr>
        <p:spPr>
          <a:xfrm>
            <a:off x="12288738" y="3506424"/>
            <a:ext cx="975353" cy="2865477"/>
          </a:xfrm>
          <a:custGeom>
            <a:avLst/>
            <a:gdLst/>
            <a:ahLst/>
            <a:cxnLst/>
            <a:rect l="0" t="0" r="r" b="b"/>
            <a:pathLst>
              <a:path w="975353" h="2865477">
                <a:moveTo>
                  <a:pt x="363486" y="0"/>
                </a:moveTo>
                <a:cubicBezTo>
                  <a:pt x="296847" y="181743"/>
                  <a:pt x="248382" y="393776"/>
                  <a:pt x="187801" y="617925"/>
                </a:cubicBezTo>
                <a:cubicBezTo>
                  <a:pt x="127220" y="811784"/>
                  <a:pt x="78755" y="981411"/>
                  <a:pt x="48465" y="1217676"/>
                </a:cubicBezTo>
                <a:cubicBezTo>
                  <a:pt x="0" y="1520581"/>
                  <a:pt x="60581" y="1817428"/>
                  <a:pt x="236266" y="2120332"/>
                </a:cubicBezTo>
                <a:cubicBezTo>
                  <a:pt x="393776" y="2423237"/>
                  <a:pt x="648216" y="2683735"/>
                  <a:pt x="975353" y="2865477"/>
                </a:cubicBezTo>
              </a:path>
            </a:pathLst>
          </a:custGeom>
          <a:noFill/>
          <a:ln w="4240" cap="rnd">
            <a:solidFill>
              <a:srgbClr val="FFE4D1">
                <a:alpha val="8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9" name="artery_outer_cut_light_537"/>
          <p:cNvSpPr/>
          <p:nvPr/>
        </p:nvSpPr>
        <p:spPr>
          <a:xfrm>
            <a:off x="12840024" y="3106590"/>
            <a:ext cx="472531" cy="3265312"/>
          </a:xfrm>
          <a:custGeom>
            <a:avLst/>
            <a:gdLst/>
            <a:ahLst/>
            <a:cxnLst/>
            <a:rect l="0" t="0" r="r" b="b"/>
            <a:pathLst>
              <a:path w="472531" h="3265312">
                <a:moveTo>
                  <a:pt x="157510" y="0"/>
                </a:moveTo>
                <a:cubicBezTo>
                  <a:pt x="54523" y="405892"/>
                  <a:pt x="0" y="799668"/>
                  <a:pt x="18174" y="1181328"/>
                </a:cubicBezTo>
                <a:cubicBezTo>
                  <a:pt x="42407" y="1811369"/>
                  <a:pt x="218091" y="2368714"/>
                  <a:pt x="375602" y="2841245"/>
                </a:cubicBezTo>
                <a:cubicBezTo>
                  <a:pt x="448299" y="3047220"/>
                  <a:pt x="472531" y="3210789"/>
                  <a:pt x="424066" y="3265312"/>
                </a:cubicBezTo>
              </a:path>
            </a:pathLst>
          </a:custGeom>
          <a:noFill/>
          <a:ln w="7875" cap="rnd">
            <a:solidFill>
              <a:srgbClr val="FFF4E5">
                <a:alpha val="85000"/>
              </a:srgbClr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0" name="artery_cut_top_seam_538"/>
          <p:cNvSpPr/>
          <p:nvPr/>
        </p:nvSpPr>
        <p:spPr>
          <a:xfrm>
            <a:off x="12652223" y="3106590"/>
            <a:ext cx="345311" cy="399834"/>
          </a:xfrm>
          <a:custGeom>
            <a:avLst/>
            <a:gdLst/>
            <a:ahLst/>
            <a:cxnLst/>
            <a:rect l="0" t="0" r="r" b="b"/>
            <a:pathLst>
              <a:path w="345311" h="399834">
                <a:moveTo>
                  <a:pt x="345311" y="0"/>
                </a:moveTo>
                <a:lnTo>
                  <a:pt x="0" y="399834"/>
                </a:lnTo>
              </a:path>
            </a:pathLst>
          </a:custGeom>
          <a:noFill/>
          <a:ln w="6058" cap="rnd">
            <a:solidFill>
              <a:srgbClr val="AF7E7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1" name="circulating_lps_particle_1"/>
          <p:cNvSpPr/>
          <p:nvPr/>
        </p:nvSpPr>
        <p:spPr>
          <a:xfrm>
            <a:off x="1781175" y="885825"/>
            <a:ext cx="95250" cy="9525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2" name="circulating_lps_particle_2"/>
          <p:cNvSpPr/>
          <p:nvPr/>
        </p:nvSpPr>
        <p:spPr>
          <a:xfrm>
            <a:off x="1952625" y="952500"/>
            <a:ext cx="95250" cy="9525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3" name="circulating_lps_particle_3"/>
          <p:cNvSpPr/>
          <p:nvPr/>
        </p:nvSpPr>
        <p:spPr>
          <a:xfrm>
            <a:off x="2095500" y="1104900"/>
            <a:ext cx="95250" cy="9525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4" name="circulating_lps_particle_4"/>
          <p:cNvSpPr/>
          <p:nvPr/>
        </p:nvSpPr>
        <p:spPr>
          <a:xfrm>
            <a:off x="1905000" y="1171575"/>
            <a:ext cx="95250" cy="95250"/>
          </a:xfrm>
          <a:prstGeom prst="ellipse">
            <a:avLst/>
          </a:prstGeom>
          <a:solidFill>
            <a:srgbClr val="C23D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5" name="route_lps"/>
          <p:cNvSpPr/>
          <p:nvPr/>
        </p:nvSpPr>
        <p:spPr>
          <a:xfrm>
            <a:off x="2228850" y="1104900"/>
            <a:ext cx="514350" cy="419100"/>
          </a:xfrm>
          <a:custGeom>
            <a:avLst/>
            <a:gdLst/>
            <a:ahLst/>
            <a:cxnLst/>
            <a:rect l="0" t="0" r="r" b="b"/>
            <a:pathLst>
              <a:path w="514350" h="419100">
                <a:moveTo>
                  <a:pt x="0" y="0"/>
                </a:moveTo>
                <a:lnTo>
                  <a:pt x="514350" y="419100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6" name="route_hmgb1"/>
          <p:cNvSpPr/>
          <p:nvPr/>
        </p:nvSpPr>
        <p:spPr>
          <a:xfrm>
            <a:off x="2295525" y="1524000"/>
            <a:ext cx="447675" cy="571500"/>
          </a:xfrm>
          <a:custGeom>
            <a:avLst/>
            <a:gdLst/>
            <a:ahLst/>
            <a:cxnLst/>
            <a:rect l="0" t="0" r="r" b="b"/>
            <a:pathLst>
              <a:path w="447675" h="571500">
                <a:moveTo>
                  <a:pt x="0" y="571500"/>
                </a:moveTo>
                <a:lnTo>
                  <a:pt x="447675" y="0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7" name="ligand_junction"/>
          <p:cNvSpPr/>
          <p:nvPr/>
        </p:nvSpPr>
        <p:spPr>
          <a:xfrm>
            <a:off x="2724150" y="1504950"/>
            <a:ext cx="38100" cy="38100"/>
          </a:xfrm>
          <a:prstGeom prst="ellipse">
            <a:avLst/>
          </a:pr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8" name="route_ligand_to_tlr4"/>
          <p:cNvSpPr/>
          <p:nvPr/>
        </p:nvSpPr>
        <p:spPr>
          <a:xfrm>
            <a:off x="2743200" y="1362075"/>
            <a:ext cx="342900" cy="161925"/>
          </a:xfrm>
          <a:custGeom>
            <a:avLst/>
            <a:gdLst/>
            <a:ahLst/>
            <a:cxnLst/>
            <a:rect l="0" t="0" r="r" b="b"/>
            <a:pathLst>
              <a:path w="342900" h="161925">
                <a:moveTo>
                  <a:pt x="0" y="161925"/>
                </a:moveTo>
                <a:lnTo>
                  <a:pt x="278303" y="30504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9" name="route_ligand_to_tlr4_tip"/>
          <p:cNvSpPr/>
          <p:nvPr/>
        </p:nvSpPr>
        <p:spPr>
          <a:xfrm>
            <a:off x="2983701" y="1362075"/>
            <a:ext cx="102399" cy="75124"/>
          </a:xfrm>
          <a:custGeom>
            <a:avLst/>
            <a:gdLst/>
            <a:ahLst/>
            <a:cxnLst/>
            <a:rect l="0" t="0" r="r" b="b"/>
            <a:pathLst>
              <a:path w="102399" h="75124">
                <a:moveTo>
                  <a:pt x="102399" y="0"/>
                </a:moveTo>
                <a:lnTo>
                  <a:pt x="32538" y="75124"/>
                </a:lnTo>
                <a:lnTo>
                  <a:pt x="0" y="6220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0" name="route_tlr4_to_myd88"/>
          <p:cNvSpPr/>
          <p:nvPr/>
        </p:nvSpPr>
        <p:spPr>
          <a:xfrm>
            <a:off x="3657600" y="1733550"/>
            <a:ext cx="95" cy="161925"/>
          </a:xfrm>
          <a:custGeom>
            <a:avLst/>
            <a:gdLst/>
            <a:ahLst/>
            <a:cxnLst/>
            <a:rect l="0" t="0" r="r" b="b"/>
            <a:pathLst>
              <a:path w="95" h="161925">
                <a:moveTo>
                  <a:pt x="0" y="0"/>
                </a:moveTo>
                <a:lnTo>
                  <a:pt x="0" y="90488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1" name="route_tlr4_to_myd88_tip"/>
          <p:cNvSpPr/>
          <p:nvPr/>
        </p:nvSpPr>
        <p:spPr>
          <a:xfrm>
            <a:off x="3619500" y="1800225"/>
            <a:ext cx="76200" cy="95250"/>
          </a:xfrm>
          <a:custGeom>
            <a:avLst/>
            <a:gdLst/>
            <a:ahLst/>
            <a:cxnLst/>
            <a:rect l="0" t="0" r="r" b="b"/>
            <a:pathLst>
              <a:path w="76200" h="95250">
                <a:moveTo>
                  <a:pt x="38100" y="95250"/>
                </a:moveTo>
                <a:lnTo>
                  <a:pt x="0" y="0"/>
                </a:lnTo>
                <a:lnTo>
                  <a:pt x="76200" y="0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2" name="route_myd88_to_nfkb"/>
          <p:cNvSpPr/>
          <p:nvPr/>
        </p:nvSpPr>
        <p:spPr>
          <a:xfrm>
            <a:off x="3657600" y="2209800"/>
            <a:ext cx="95" cy="104775"/>
          </a:xfrm>
          <a:custGeom>
            <a:avLst/>
            <a:gdLst/>
            <a:ahLst/>
            <a:cxnLst/>
            <a:rect l="0" t="0" r="r" b="b"/>
            <a:pathLst>
              <a:path w="95" h="104775">
                <a:moveTo>
                  <a:pt x="0" y="0"/>
                </a:moveTo>
                <a:lnTo>
                  <a:pt x="0" y="33338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3" name="route_myd88_to_nfkb_tip"/>
          <p:cNvSpPr/>
          <p:nvPr/>
        </p:nvSpPr>
        <p:spPr>
          <a:xfrm>
            <a:off x="3619500" y="2219325"/>
            <a:ext cx="76200" cy="95250"/>
          </a:xfrm>
          <a:custGeom>
            <a:avLst/>
            <a:gdLst/>
            <a:ahLst/>
            <a:cxnLst/>
            <a:rect l="0" t="0" r="r" b="b"/>
            <a:pathLst>
              <a:path w="76200" h="95250">
                <a:moveTo>
                  <a:pt x="38100" y="95250"/>
                </a:moveTo>
                <a:lnTo>
                  <a:pt x="0" y="0"/>
                </a:lnTo>
                <a:lnTo>
                  <a:pt x="76200" y="0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4" name="route_nfkb_to_cytokines"/>
          <p:cNvSpPr/>
          <p:nvPr/>
        </p:nvSpPr>
        <p:spPr>
          <a:xfrm>
            <a:off x="3657600" y="2628900"/>
            <a:ext cx="95" cy="66675"/>
          </a:xfrm>
          <a:custGeom>
            <a:avLst/>
            <a:gdLst/>
            <a:ahLst/>
            <a:cxnLst/>
            <a:rect l="0" t="0" r="r" b="b"/>
            <a:pathLst>
              <a:path w="95" h="66675">
                <a:moveTo>
                  <a:pt x="0" y="0"/>
                </a:moveTo>
                <a:lnTo>
                  <a:pt x="0" y="67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5" name="route_nfkb_to_cytokines_tip"/>
          <p:cNvSpPr/>
          <p:nvPr/>
        </p:nvSpPr>
        <p:spPr>
          <a:xfrm>
            <a:off x="3619500" y="2600325"/>
            <a:ext cx="76200" cy="95250"/>
          </a:xfrm>
          <a:custGeom>
            <a:avLst/>
            <a:gdLst/>
            <a:ahLst/>
            <a:cxnLst/>
            <a:rect l="0" t="0" r="r" b="b"/>
            <a:pathLst>
              <a:path w="76200" h="95250">
                <a:moveTo>
                  <a:pt x="38100" y="95250"/>
                </a:moveTo>
                <a:lnTo>
                  <a:pt x="0" y="0"/>
                </a:lnTo>
                <a:lnTo>
                  <a:pt x="76200" y="0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6" name="route_cytokines_output"/>
          <p:cNvSpPr/>
          <p:nvPr/>
        </p:nvSpPr>
        <p:spPr>
          <a:xfrm>
            <a:off x="4610100" y="2914650"/>
            <a:ext cx="790575" cy="95"/>
          </a:xfrm>
          <a:custGeom>
            <a:avLst/>
            <a:gdLst/>
            <a:ahLst/>
            <a:cxnLst/>
            <a:rect l="0" t="0" r="r" b="b"/>
            <a:pathLst>
              <a:path w="790575" h="95">
                <a:moveTo>
                  <a:pt x="0" y="0"/>
                </a:moveTo>
                <a:lnTo>
                  <a:pt x="719137" y="0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7" name="route_cytokines_output_tip"/>
          <p:cNvSpPr/>
          <p:nvPr/>
        </p:nvSpPr>
        <p:spPr>
          <a:xfrm>
            <a:off x="5305425" y="2876550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8" name="route_inflammation_to_endothelium"/>
          <p:cNvSpPr/>
          <p:nvPr/>
        </p:nvSpPr>
        <p:spPr>
          <a:xfrm>
            <a:off x="8115300" y="2428875"/>
            <a:ext cx="1095375" cy="428625"/>
          </a:xfrm>
          <a:custGeom>
            <a:avLst/>
            <a:gdLst/>
            <a:ahLst/>
            <a:cxnLst/>
            <a:rect l="0" t="0" r="r" b="b"/>
            <a:pathLst>
              <a:path w="1095375" h="428625">
                <a:moveTo>
                  <a:pt x="0" y="428625"/>
                </a:moveTo>
                <a:lnTo>
                  <a:pt x="14796" y="422319"/>
                </a:lnTo>
                <a:lnTo>
                  <a:pt x="29716" y="415906"/>
                </a:lnTo>
                <a:lnTo>
                  <a:pt x="44756" y="409391"/>
                </a:lnTo>
                <a:lnTo>
                  <a:pt x="59915" y="402778"/>
                </a:lnTo>
                <a:lnTo>
                  <a:pt x="75190" y="396071"/>
                </a:lnTo>
                <a:lnTo>
                  <a:pt x="90578" y="389276"/>
                </a:lnTo>
                <a:lnTo>
                  <a:pt x="106077" y="382397"/>
                </a:lnTo>
                <a:lnTo>
                  <a:pt x="121686" y="375438"/>
                </a:lnTo>
                <a:lnTo>
                  <a:pt x="137400" y="368404"/>
                </a:lnTo>
                <a:lnTo>
                  <a:pt x="153219" y="361299"/>
                </a:lnTo>
                <a:lnTo>
                  <a:pt x="169139" y="354129"/>
                </a:lnTo>
                <a:lnTo>
                  <a:pt x="185158" y="346897"/>
                </a:lnTo>
                <a:lnTo>
                  <a:pt x="201275" y="339609"/>
                </a:lnTo>
                <a:lnTo>
                  <a:pt x="217485" y="332269"/>
                </a:lnTo>
                <a:lnTo>
                  <a:pt x="233788" y="324881"/>
                </a:lnTo>
                <a:lnTo>
                  <a:pt x="250180" y="317450"/>
                </a:lnTo>
                <a:lnTo>
                  <a:pt x="266659" y="309981"/>
                </a:lnTo>
                <a:lnTo>
                  <a:pt x="283224" y="302478"/>
                </a:lnTo>
                <a:lnTo>
                  <a:pt x="299870" y="294946"/>
                </a:lnTo>
                <a:lnTo>
                  <a:pt x="316597" y="287389"/>
                </a:lnTo>
                <a:lnTo>
                  <a:pt x="333401" y="279813"/>
                </a:lnTo>
                <a:lnTo>
                  <a:pt x="350281" y="272220"/>
                </a:lnTo>
                <a:lnTo>
                  <a:pt x="367233" y="264617"/>
                </a:lnTo>
                <a:lnTo>
                  <a:pt x="384256" y="257008"/>
                </a:lnTo>
                <a:lnTo>
                  <a:pt x="401346" y="249396"/>
                </a:lnTo>
                <a:lnTo>
                  <a:pt x="418503" y="241788"/>
                </a:lnTo>
                <a:lnTo>
                  <a:pt x="435722" y="234187"/>
                </a:lnTo>
                <a:lnTo>
                  <a:pt x="453003" y="226598"/>
                </a:lnTo>
                <a:lnTo>
                  <a:pt x="470341" y="219025"/>
                </a:lnTo>
                <a:lnTo>
                  <a:pt x="487736" y="211474"/>
                </a:lnTo>
                <a:lnTo>
                  <a:pt x="505185" y="203948"/>
                </a:lnTo>
                <a:lnTo>
                  <a:pt x="522684" y="196453"/>
                </a:lnTo>
                <a:lnTo>
                  <a:pt x="540233" y="188993"/>
                </a:lnTo>
                <a:lnTo>
                  <a:pt x="557828" y="181572"/>
                </a:lnTo>
                <a:lnTo>
                  <a:pt x="575467" y="174195"/>
                </a:lnTo>
                <a:lnTo>
                  <a:pt x="593148" y="166867"/>
                </a:lnTo>
                <a:lnTo>
                  <a:pt x="610867" y="159591"/>
                </a:lnTo>
                <a:lnTo>
                  <a:pt x="628624" y="152374"/>
                </a:lnTo>
                <a:lnTo>
                  <a:pt x="646415" y="145219"/>
                </a:lnTo>
                <a:lnTo>
                  <a:pt x="664239" y="138131"/>
                </a:lnTo>
                <a:lnTo>
                  <a:pt x="682091" y="131115"/>
                </a:lnTo>
                <a:lnTo>
                  <a:pt x="699972" y="124174"/>
                </a:lnTo>
                <a:lnTo>
                  <a:pt x="717876" y="117314"/>
                </a:lnTo>
                <a:lnTo>
                  <a:pt x="735804" y="110540"/>
                </a:lnTo>
                <a:lnTo>
                  <a:pt x="753751" y="103855"/>
                </a:lnTo>
                <a:lnTo>
                  <a:pt x="771717" y="97265"/>
                </a:lnTo>
                <a:lnTo>
                  <a:pt x="789697" y="90773"/>
                </a:lnTo>
                <a:lnTo>
                  <a:pt x="807690" y="84386"/>
                </a:lnTo>
                <a:lnTo>
                  <a:pt x="825694" y="78106"/>
                </a:lnTo>
                <a:lnTo>
                  <a:pt x="843706" y="71939"/>
                </a:lnTo>
                <a:lnTo>
                  <a:pt x="861723" y="65889"/>
                </a:lnTo>
                <a:lnTo>
                  <a:pt x="879744" y="59961"/>
                </a:lnTo>
                <a:lnTo>
                  <a:pt x="897766" y="54160"/>
                </a:lnTo>
                <a:lnTo>
                  <a:pt x="915786" y="48490"/>
                </a:lnTo>
                <a:lnTo>
                  <a:pt x="933802" y="42955"/>
                </a:lnTo>
                <a:lnTo>
                  <a:pt x="951812" y="37560"/>
                </a:lnTo>
                <a:lnTo>
                  <a:pt x="969813" y="32311"/>
                </a:lnTo>
                <a:lnTo>
                  <a:pt x="987803" y="27210"/>
                </a:lnTo>
                <a:lnTo>
                  <a:pt x="1005779" y="22264"/>
                </a:lnTo>
                <a:lnTo>
                  <a:pt x="1023740" y="17476"/>
                </a:lnTo>
                <a:lnTo>
                  <a:pt x="1025966" y="16902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9" name="route_inflammation_to_endothelium_tip"/>
          <p:cNvSpPr/>
          <p:nvPr/>
        </p:nvSpPr>
        <p:spPr>
          <a:xfrm>
            <a:off x="9109109" y="2414435"/>
            <a:ext cx="101566" cy="74029"/>
          </a:xfrm>
          <a:custGeom>
            <a:avLst/>
            <a:gdLst/>
            <a:ahLst/>
            <a:cxnLst/>
            <a:rect l="0" t="0" r="r" b="b"/>
            <a:pathLst>
              <a:path w="101566" h="74029">
                <a:moveTo>
                  <a:pt x="101566" y="14440"/>
                </a:moveTo>
                <a:lnTo>
                  <a:pt x="18060" y="74029"/>
                </a:lnTo>
                <a:lnTo>
                  <a:pt x="0" y="0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0" name="route_inflammation_to_perivascular"/>
          <p:cNvSpPr/>
          <p:nvPr/>
        </p:nvSpPr>
        <p:spPr>
          <a:xfrm>
            <a:off x="7900860" y="2857500"/>
            <a:ext cx="900240" cy="2447925"/>
          </a:xfrm>
          <a:custGeom>
            <a:avLst/>
            <a:gdLst/>
            <a:ahLst/>
            <a:cxnLst/>
            <a:rect l="0" t="0" r="r" b="b"/>
            <a:pathLst>
              <a:path w="900240" h="2447925">
                <a:moveTo>
                  <a:pt x="214440" y="0"/>
                </a:moveTo>
                <a:lnTo>
                  <a:pt x="220840" y="9363"/>
                </a:lnTo>
                <a:lnTo>
                  <a:pt x="226654" y="18701"/>
                </a:lnTo>
                <a:lnTo>
                  <a:pt x="231896" y="28018"/>
                </a:lnTo>
                <a:lnTo>
                  <a:pt x="236581" y="37316"/>
                </a:lnTo>
                <a:lnTo>
                  <a:pt x="240722" y="46600"/>
                </a:lnTo>
                <a:lnTo>
                  <a:pt x="244335" y="55872"/>
                </a:lnTo>
                <a:lnTo>
                  <a:pt x="247432" y="65136"/>
                </a:lnTo>
                <a:lnTo>
                  <a:pt x="250029" y="74395"/>
                </a:lnTo>
                <a:lnTo>
                  <a:pt x="252139" y="83653"/>
                </a:lnTo>
                <a:lnTo>
                  <a:pt x="253777" y="92911"/>
                </a:lnTo>
                <a:lnTo>
                  <a:pt x="254956" y="102175"/>
                </a:lnTo>
                <a:lnTo>
                  <a:pt x="255691" y="111447"/>
                </a:lnTo>
                <a:lnTo>
                  <a:pt x="255997" y="120730"/>
                </a:lnTo>
                <a:lnTo>
                  <a:pt x="255886" y="130027"/>
                </a:lnTo>
                <a:lnTo>
                  <a:pt x="255374" y="139343"/>
                </a:lnTo>
                <a:lnTo>
                  <a:pt x="254475" y="148679"/>
                </a:lnTo>
                <a:lnTo>
                  <a:pt x="253203" y="158040"/>
                </a:lnTo>
                <a:lnTo>
                  <a:pt x="251571" y="167429"/>
                </a:lnTo>
                <a:lnTo>
                  <a:pt x="249594" y="176849"/>
                </a:lnTo>
                <a:lnTo>
                  <a:pt x="247287" y="186303"/>
                </a:lnTo>
                <a:lnTo>
                  <a:pt x="244663" y="195794"/>
                </a:lnTo>
                <a:lnTo>
                  <a:pt x="241737" y="205326"/>
                </a:lnTo>
                <a:lnTo>
                  <a:pt x="238523" y="214902"/>
                </a:lnTo>
                <a:lnTo>
                  <a:pt x="235034" y="224526"/>
                </a:lnTo>
                <a:lnTo>
                  <a:pt x="231286" y="234200"/>
                </a:lnTo>
                <a:lnTo>
                  <a:pt x="227292" y="243928"/>
                </a:lnTo>
                <a:lnTo>
                  <a:pt x="223067" y="253713"/>
                </a:lnTo>
                <a:lnTo>
                  <a:pt x="218624" y="263558"/>
                </a:lnTo>
                <a:lnTo>
                  <a:pt x="213978" y="273467"/>
                </a:lnTo>
                <a:lnTo>
                  <a:pt x="209143" y="283443"/>
                </a:lnTo>
                <a:lnTo>
                  <a:pt x="204133" y="293490"/>
                </a:lnTo>
                <a:lnTo>
                  <a:pt x="198962" y="303609"/>
                </a:lnTo>
                <a:lnTo>
                  <a:pt x="193645" y="313806"/>
                </a:lnTo>
                <a:lnTo>
                  <a:pt x="188196" y="324082"/>
                </a:lnTo>
                <a:lnTo>
                  <a:pt x="182628" y="334442"/>
                </a:lnTo>
                <a:lnTo>
                  <a:pt x="176957" y="344888"/>
                </a:lnTo>
                <a:lnTo>
                  <a:pt x="171195" y="355424"/>
                </a:lnTo>
                <a:lnTo>
                  <a:pt x="165358" y="366054"/>
                </a:lnTo>
                <a:lnTo>
                  <a:pt x="159460" y="376779"/>
                </a:lnTo>
                <a:lnTo>
                  <a:pt x="153514" y="387604"/>
                </a:lnTo>
                <a:lnTo>
                  <a:pt x="147535" y="398532"/>
                </a:lnTo>
                <a:lnTo>
                  <a:pt x="141537" y="409567"/>
                </a:lnTo>
                <a:lnTo>
                  <a:pt x="135534" y="420710"/>
                </a:lnTo>
                <a:lnTo>
                  <a:pt x="129541" y="431967"/>
                </a:lnTo>
                <a:lnTo>
                  <a:pt x="123571" y="443339"/>
                </a:lnTo>
                <a:lnTo>
                  <a:pt x="117639" y="454831"/>
                </a:lnTo>
                <a:lnTo>
                  <a:pt x="111759" y="466445"/>
                </a:lnTo>
                <a:lnTo>
                  <a:pt x="105945" y="478185"/>
                </a:lnTo>
                <a:lnTo>
                  <a:pt x="100211" y="490054"/>
                </a:lnTo>
                <a:lnTo>
                  <a:pt x="94571" y="502055"/>
                </a:lnTo>
                <a:lnTo>
                  <a:pt x="89040" y="514192"/>
                </a:lnTo>
                <a:lnTo>
                  <a:pt x="83632" y="526468"/>
                </a:lnTo>
                <a:lnTo>
                  <a:pt x="78361" y="538886"/>
                </a:lnTo>
                <a:lnTo>
                  <a:pt x="73241" y="551449"/>
                </a:lnTo>
                <a:lnTo>
                  <a:pt x="68286" y="564161"/>
                </a:lnTo>
                <a:lnTo>
                  <a:pt x="63510" y="577025"/>
                </a:lnTo>
                <a:lnTo>
                  <a:pt x="58928" y="590044"/>
                </a:lnTo>
                <a:lnTo>
                  <a:pt x="54554" y="603222"/>
                </a:lnTo>
                <a:lnTo>
                  <a:pt x="50402" y="616562"/>
                </a:lnTo>
                <a:lnTo>
                  <a:pt x="46486" y="630066"/>
                </a:lnTo>
                <a:lnTo>
                  <a:pt x="42820" y="643739"/>
                </a:lnTo>
                <a:lnTo>
                  <a:pt x="39418" y="657583"/>
                </a:lnTo>
                <a:lnTo>
                  <a:pt x="36295" y="671603"/>
                </a:lnTo>
                <a:lnTo>
                  <a:pt x="33465" y="685800"/>
                </a:lnTo>
                <a:lnTo>
                  <a:pt x="28304" y="714443"/>
                </a:lnTo>
                <a:lnTo>
                  <a:pt x="23544" y="743218"/>
                </a:lnTo>
                <a:lnTo>
                  <a:pt x="19192" y="772117"/>
                </a:lnTo>
                <a:lnTo>
                  <a:pt x="15260" y="801130"/>
                </a:lnTo>
                <a:lnTo>
                  <a:pt x="11755" y="830251"/>
                </a:lnTo>
                <a:lnTo>
                  <a:pt x="8688" y="859471"/>
                </a:lnTo>
                <a:lnTo>
                  <a:pt x="6068" y="888782"/>
                </a:lnTo>
                <a:lnTo>
                  <a:pt x="3904" y="918177"/>
                </a:lnTo>
                <a:lnTo>
                  <a:pt x="2206" y="947646"/>
                </a:lnTo>
                <a:lnTo>
                  <a:pt x="983" y="977182"/>
                </a:lnTo>
                <a:lnTo>
                  <a:pt x="245" y="1006777"/>
                </a:lnTo>
                <a:lnTo>
                  <a:pt x="0" y="1036423"/>
                </a:lnTo>
                <a:lnTo>
                  <a:pt x="258" y="1066111"/>
                </a:lnTo>
                <a:lnTo>
                  <a:pt x="1029" y="1095835"/>
                </a:lnTo>
                <a:lnTo>
                  <a:pt x="2322" y="1125584"/>
                </a:lnTo>
                <a:lnTo>
                  <a:pt x="4146" y="1155353"/>
                </a:lnTo>
                <a:lnTo>
                  <a:pt x="6511" y="1185132"/>
                </a:lnTo>
                <a:lnTo>
                  <a:pt x="9426" y="1214913"/>
                </a:lnTo>
                <a:lnTo>
                  <a:pt x="12900" y="1244688"/>
                </a:lnTo>
                <a:lnTo>
                  <a:pt x="16943" y="1274450"/>
                </a:lnTo>
                <a:lnTo>
                  <a:pt x="21564" y="1304190"/>
                </a:lnTo>
                <a:lnTo>
                  <a:pt x="26773" y="1333900"/>
                </a:lnTo>
                <a:lnTo>
                  <a:pt x="32579" y="1363572"/>
                </a:lnTo>
                <a:lnTo>
                  <a:pt x="38991" y="1393199"/>
                </a:lnTo>
                <a:lnTo>
                  <a:pt x="46018" y="1422771"/>
                </a:lnTo>
                <a:lnTo>
                  <a:pt x="53671" y="1452281"/>
                </a:lnTo>
                <a:lnTo>
                  <a:pt x="61958" y="1481721"/>
                </a:lnTo>
                <a:lnTo>
                  <a:pt x="70889" y="1511082"/>
                </a:lnTo>
                <a:lnTo>
                  <a:pt x="80473" y="1540357"/>
                </a:lnTo>
                <a:lnTo>
                  <a:pt x="90719" y="1569538"/>
                </a:lnTo>
                <a:lnTo>
                  <a:pt x="101638" y="1598617"/>
                </a:lnTo>
                <a:lnTo>
                  <a:pt x="113237" y="1627584"/>
                </a:lnTo>
                <a:lnTo>
                  <a:pt x="125528" y="1656434"/>
                </a:lnTo>
                <a:lnTo>
                  <a:pt x="138518" y="1685156"/>
                </a:lnTo>
                <a:lnTo>
                  <a:pt x="152218" y="1713744"/>
                </a:lnTo>
                <a:lnTo>
                  <a:pt x="166636" y="1742189"/>
                </a:lnTo>
                <a:lnTo>
                  <a:pt x="181783" y="1770483"/>
                </a:lnTo>
                <a:lnTo>
                  <a:pt x="197667" y="1798618"/>
                </a:lnTo>
                <a:lnTo>
                  <a:pt x="214298" y="1826587"/>
                </a:lnTo>
                <a:lnTo>
                  <a:pt x="231686" y="1854380"/>
                </a:lnTo>
                <a:lnTo>
                  <a:pt x="249839" y="1881990"/>
                </a:lnTo>
                <a:lnTo>
                  <a:pt x="268767" y="1909409"/>
                </a:lnTo>
                <a:lnTo>
                  <a:pt x="288480" y="1936628"/>
                </a:lnTo>
                <a:lnTo>
                  <a:pt x="308986" y="1963641"/>
                </a:lnTo>
                <a:lnTo>
                  <a:pt x="330295" y="1990437"/>
                </a:lnTo>
                <a:lnTo>
                  <a:pt x="352417" y="2017011"/>
                </a:lnTo>
                <a:lnTo>
                  <a:pt x="375361" y="2043353"/>
                </a:lnTo>
                <a:lnTo>
                  <a:pt x="399136" y="2069455"/>
                </a:lnTo>
                <a:lnTo>
                  <a:pt x="423752" y="2095310"/>
                </a:lnTo>
                <a:lnTo>
                  <a:pt x="449218" y="2120909"/>
                </a:lnTo>
                <a:lnTo>
                  <a:pt x="475543" y="2146244"/>
                </a:lnTo>
                <a:lnTo>
                  <a:pt x="502737" y="2171307"/>
                </a:lnTo>
                <a:lnTo>
                  <a:pt x="530809" y="2196090"/>
                </a:lnTo>
                <a:lnTo>
                  <a:pt x="559768" y="2220586"/>
                </a:lnTo>
                <a:lnTo>
                  <a:pt x="589625" y="2244785"/>
                </a:lnTo>
                <a:lnTo>
                  <a:pt x="620388" y="2268680"/>
                </a:lnTo>
                <a:lnTo>
                  <a:pt x="652066" y="2292263"/>
                </a:lnTo>
                <a:lnTo>
                  <a:pt x="684670" y="2315526"/>
                </a:lnTo>
                <a:lnTo>
                  <a:pt x="718207" y="2338460"/>
                </a:lnTo>
                <a:lnTo>
                  <a:pt x="752689" y="2361058"/>
                </a:lnTo>
                <a:lnTo>
                  <a:pt x="788124" y="2383312"/>
                </a:lnTo>
                <a:lnTo>
                  <a:pt x="824521" y="2405213"/>
                </a:lnTo>
                <a:lnTo>
                  <a:pt x="837935" y="2412945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1" name="route_inflammation_to_perivascular_tip"/>
          <p:cNvSpPr/>
          <p:nvPr/>
        </p:nvSpPr>
        <p:spPr>
          <a:xfrm>
            <a:off x="8699689" y="5224269"/>
            <a:ext cx="101411" cy="81156"/>
          </a:xfrm>
          <a:custGeom>
            <a:avLst/>
            <a:gdLst/>
            <a:ahLst/>
            <a:cxnLst/>
            <a:rect l="0" t="0" r="r" b="b"/>
            <a:pathLst>
              <a:path w="101411" h="81156">
                <a:moveTo>
                  <a:pt x="101411" y="81156"/>
                </a:moveTo>
                <a:lnTo>
                  <a:pt x="0" y="65665"/>
                </a:lnTo>
                <a:lnTo>
                  <a:pt x="38659" y="0"/>
                </a:lnTo>
                <a:close/>
              </a:path>
            </a:pathLst>
          </a:custGeom>
          <a:solidFill>
            <a:srgbClr val="A82D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2" name="route_tmao_to_macrophage"/>
          <p:cNvSpPr/>
          <p:nvPr/>
        </p:nvSpPr>
        <p:spPr>
          <a:xfrm>
            <a:off x="1019175" y="4143375"/>
            <a:ext cx="1590675" cy="95"/>
          </a:xfrm>
          <a:custGeom>
            <a:avLst/>
            <a:gdLst/>
            <a:ahLst/>
            <a:cxnLst/>
            <a:rect l="0" t="0" r="r" b="b"/>
            <a:pathLst>
              <a:path w="1590675" h="95">
                <a:moveTo>
                  <a:pt x="0" y="0"/>
                </a:moveTo>
                <a:lnTo>
                  <a:pt x="1519238" y="0"/>
                </a:lnTo>
              </a:path>
            </a:pathLst>
          </a:custGeom>
          <a:noFill/>
          <a:ln w="22859" cap="rnd">
            <a:solidFill>
              <a:srgbClr val="7254A8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3" name="route_tmao_to_macrophage_tip"/>
          <p:cNvSpPr/>
          <p:nvPr/>
        </p:nvSpPr>
        <p:spPr>
          <a:xfrm>
            <a:off x="2514600" y="410527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4" name="route_macrophage_to_paracrine"/>
          <p:cNvSpPr/>
          <p:nvPr/>
        </p:nvSpPr>
        <p:spPr>
          <a:xfrm>
            <a:off x="3457575" y="4143375"/>
            <a:ext cx="876300" cy="95"/>
          </a:xfrm>
          <a:custGeom>
            <a:avLst/>
            <a:gdLst/>
            <a:ahLst/>
            <a:cxnLst/>
            <a:rect l="0" t="0" r="r" b="b"/>
            <a:pathLst>
              <a:path w="876300" h="95">
                <a:moveTo>
                  <a:pt x="0" y="0"/>
                </a:moveTo>
                <a:lnTo>
                  <a:pt x="804862" y="0"/>
                </a:lnTo>
              </a:path>
            </a:pathLst>
          </a:custGeom>
          <a:noFill/>
          <a:ln w="22859" cap="rnd">
            <a:solidFill>
              <a:srgbClr val="7254A8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5" name="route_macrophage_to_paracrine_tip"/>
          <p:cNvSpPr/>
          <p:nvPr/>
        </p:nvSpPr>
        <p:spPr>
          <a:xfrm>
            <a:off x="4238625" y="410527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6" name="route_paracrine_to_pasmsc"/>
          <p:cNvSpPr/>
          <p:nvPr/>
        </p:nvSpPr>
        <p:spPr>
          <a:xfrm>
            <a:off x="4981575" y="4181475"/>
            <a:ext cx="1047750" cy="95"/>
          </a:xfrm>
          <a:custGeom>
            <a:avLst/>
            <a:gdLst/>
            <a:ahLst/>
            <a:cxnLst/>
            <a:rect l="0" t="0" r="r" b="b"/>
            <a:pathLst>
              <a:path w="1047750" h="95">
                <a:moveTo>
                  <a:pt x="0" y="0"/>
                </a:moveTo>
                <a:lnTo>
                  <a:pt x="976312" y="0"/>
                </a:lnTo>
              </a:path>
            </a:pathLst>
          </a:custGeom>
          <a:noFill/>
          <a:ln w="22859" cap="rnd">
            <a:solidFill>
              <a:srgbClr val="7254A8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7" name="route_paracrine_to_pasmsc_tip"/>
          <p:cNvSpPr/>
          <p:nvPr/>
        </p:nvSpPr>
        <p:spPr>
          <a:xfrm>
            <a:off x="5934075" y="414337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8" name="route_pasmsc_to_media"/>
          <p:cNvSpPr/>
          <p:nvPr/>
        </p:nvSpPr>
        <p:spPr>
          <a:xfrm>
            <a:off x="8058150" y="3552825"/>
            <a:ext cx="2733675" cy="619603"/>
          </a:xfrm>
          <a:custGeom>
            <a:avLst/>
            <a:gdLst/>
            <a:ahLst/>
            <a:cxnLst/>
            <a:rect l="0" t="0" r="r" b="b"/>
            <a:pathLst>
              <a:path w="2733675" h="619603">
                <a:moveTo>
                  <a:pt x="0" y="619125"/>
                </a:moveTo>
                <a:lnTo>
                  <a:pt x="41235" y="619603"/>
                </a:lnTo>
                <a:lnTo>
                  <a:pt x="82778" y="619268"/>
                </a:lnTo>
                <a:lnTo>
                  <a:pt x="124617" y="618144"/>
                </a:lnTo>
                <a:lnTo>
                  <a:pt x="166739" y="616253"/>
                </a:lnTo>
                <a:lnTo>
                  <a:pt x="209131" y="613620"/>
                </a:lnTo>
                <a:lnTo>
                  <a:pt x="251781" y="610269"/>
                </a:lnTo>
                <a:lnTo>
                  <a:pt x="294675" y="606224"/>
                </a:lnTo>
                <a:lnTo>
                  <a:pt x="337803" y="601507"/>
                </a:lnTo>
                <a:lnTo>
                  <a:pt x="381150" y="596144"/>
                </a:lnTo>
                <a:lnTo>
                  <a:pt x="424704" y="590157"/>
                </a:lnTo>
                <a:lnTo>
                  <a:pt x="468452" y="583571"/>
                </a:lnTo>
                <a:lnTo>
                  <a:pt x="512383" y="576409"/>
                </a:lnTo>
                <a:lnTo>
                  <a:pt x="556482" y="568695"/>
                </a:lnTo>
                <a:lnTo>
                  <a:pt x="600738" y="560453"/>
                </a:lnTo>
                <a:lnTo>
                  <a:pt x="645138" y="551706"/>
                </a:lnTo>
                <a:lnTo>
                  <a:pt x="689670" y="542479"/>
                </a:lnTo>
                <a:lnTo>
                  <a:pt x="734319" y="532794"/>
                </a:lnTo>
                <a:lnTo>
                  <a:pt x="779075" y="522677"/>
                </a:lnTo>
                <a:lnTo>
                  <a:pt x="823924" y="512150"/>
                </a:lnTo>
                <a:lnTo>
                  <a:pt x="868854" y="501237"/>
                </a:lnTo>
                <a:lnTo>
                  <a:pt x="913852" y="489962"/>
                </a:lnTo>
                <a:lnTo>
                  <a:pt x="958905" y="478350"/>
                </a:lnTo>
                <a:lnTo>
                  <a:pt x="1004001" y="466423"/>
                </a:lnTo>
                <a:lnTo>
                  <a:pt x="1049127" y="454205"/>
                </a:lnTo>
                <a:lnTo>
                  <a:pt x="1094270" y="441720"/>
                </a:lnTo>
                <a:lnTo>
                  <a:pt x="1139418" y="428993"/>
                </a:lnTo>
                <a:lnTo>
                  <a:pt x="1184559" y="416046"/>
                </a:lnTo>
                <a:lnTo>
                  <a:pt x="1229678" y="402903"/>
                </a:lnTo>
                <a:lnTo>
                  <a:pt x="1274765" y="389589"/>
                </a:lnTo>
                <a:lnTo>
                  <a:pt x="1319806" y="376127"/>
                </a:lnTo>
                <a:lnTo>
                  <a:pt x="1364789" y="362540"/>
                </a:lnTo>
                <a:lnTo>
                  <a:pt x="1409700" y="348853"/>
                </a:lnTo>
                <a:lnTo>
                  <a:pt x="1454528" y="335089"/>
                </a:lnTo>
                <a:lnTo>
                  <a:pt x="1499259" y="321273"/>
                </a:lnTo>
                <a:lnTo>
                  <a:pt x="1543881" y="307427"/>
                </a:lnTo>
                <a:lnTo>
                  <a:pt x="1588382" y="293575"/>
                </a:lnTo>
                <a:lnTo>
                  <a:pt x="1632749" y="279742"/>
                </a:lnTo>
                <a:lnTo>
                  <a:pt x="1676968" y="265951"/>
                </a:lnTo>
                <a:lnTo>
                  <a:pt x="1721028" y="252226"/>
                </a:lnTo>
                <a:lnTo>
                  <a:pt x="1764916" y="238590"/>
                </a:lnTo>
                <a:lnTo>
                  <a:pt x="1808618" y="225068"/>
                </a:lnTo>
                <a:lnTo>
                  <a:pt x="1852124" y="211683"/>
                </a:lnTo>
                <a:lnTo>
                  <a:pt x="1895419" y="198458"/>
                </a:lnTo>
                <a:lnTo>
                  <a:pt x="1938491" y="185419"/>
                </a:lnTo>
                <a:lnTo>
                  <a:pt x="1981328" y="172588"/>
                </a:lnTo>
                <a:lnTo>
                  <a:pt x="2023917" y="159989"/>
                </a:lnTo>
                <a:lnTo>
                  <a:pt x="2066245" y="147646"/>
                </a:lnTo>
                <a:lnTo>
                  <a:pt x="2108299" y="135582"/>
                </a:lnTo>
                <a:lnTo>
                  <a:pt x="2150068" y="123823"/>
                </a:lnTo>
                <a:lnTo>
                  <a:pt x="2191538" y="112390"/>
                </a:lnTo>
                <a:lnTo>
                  <a:pt x="2232696" y="101308"/>
                </a:lnTo>
                <a:lnTo>
                  <a:pt x="2273531" y="90601"/>
                </a:lnTo>
                <a:lnTo>
                  <a:pt x="2314029" y="80293"/>
                </a:lnTo>
                <a:lnTo>
                  <a:pt x="2354178" y="70407"/>
                </a:lnTo>
                <a:lnTo>
                  <a:pt x="2393965" y="60967"/>
                </a:lnTo>
                <a:lnTo>
                  <a:pt x="2433377" y="51997"/>
                </a:lnTo>
                <a:lnTo>
                  <a:pt x="2472402" y="43520"/>
                </a:lnTo>
                <a:lnTo>
                  <a:pt x="2511028" y="35561"/>
                </a:lnTo>
                <a:lnTo>
                  <a:pt x="2549240" y="28143"/>
                </a:lnTo>
                <a:lnTo>
                  <a:pt x="2587028" y="21289"/>
                </a:lnTo>
                <a:lnTo>
                  <a:pt x="2624378" y="15025"/>
                </a:lnTo>
                <a:lnTo>
                  <a:pt x="2661278" y="9372"/>
                </a:lnTo>
                <a:lnTo>
                  <a:pt x="2662818" y="9160"/>
                </a:lnTo>
              </a:path>
            </a:pathLst>
          </a:custGeom>
          <a:noFill/>
          <a:ln w="22859" cap="rnd">
            <a:solidFill>
              <a:srgbClr val="7254A8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9" name="route_pasmsc_to_media_tip"/>
          <p:cNvSpPr/>
          <p:nvPr/>
        </p:nvSpPr>
        <p:spPr>
          <a:xfrm>
            <a:off x="10692089" y="3528805"/>
            <a:ext cx="99736" cy="75409"/>
          </a:xfrm>
          <a:custGeom>
            <a:avLst/>
            <a:gdLst/>
            <a:ahLst/>
            <a:cxnLst/>
            <a:rect l="0" t="0" r="r" b="b"/>
            <a:pathLst>
              <a:path w="99736" h="75409">
                <a:moveTo>
                  <a:pt x="99736" y="24020"/>
                </a:moveTo>
                <a:lnTo>
                  <a:pt x="10948" y="75409"/>
                </a:lnTo>
                <a:lnTo>
                  <a:pt x="0" y="0"/>
                </a:lnTo>
                <a:close/>
              </a:path>
            </a:pathLst>
          </a:cu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0" name="route_scfa_ffar"/>
          <p:cNvSpPr/>
          <p:nvPr/>
        </p:nvSpPr>
        <p:spPr>
          <a:xfrm>
            <a:off x="1304925" y="5724525"/>
            <a:ext cx="1209675" cy="95"/>
          </a:xfrm>
          <a:custGeom>
            <a:avLst/>
            <a:gdLst/>
            <a:ahLst/>
            <a:cxnLst/>
            <a:rect l="0" t="0" r="r" b="b"/>
            <a:pathLst>
              <a:path w="1209675" h="95">
                <a:moveTo>
                  <a:pt x="0" y="0"/>
                </a:moveTo>
                <a:lnTo>
                  <a:pt x="1138237" y="0"/>
                </a:lnTo>
              </a:path>
            </a:pathLst>
          </a:custGeom>
          <a:noFill/>
          <a:ln w="22859" cap="rnd">
            <a:solidFill>
              <a:srgbClr val="2F7049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1" name="route_scfa_ffar_tip"/>
          <p:cNvSpPr/>
          <p:nvPr/>
        </p:nvSpPr>
        <p:spPr>
          <a:xfrm>
            <a:off x="2419350" y="568642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F70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2" name="route_ffar_myeloid"/>
          <p:cNvSpPr/>
          <p:nvPr/>
        </p:nvSpPr>
        <p:spPr>
          <a:xfrm>
            <a:off x="3467100" y="5724525"/>
            <a:ext cx="5114925" cy="95"/>
          </a:xfrm>
          <a:custGeom>
            <a:avLst/>
            <a:gdLst/>
            <a:ahLst/>
            <a:cxnLst/>
            <a:rect l="0" t="0" r="r" b="b"/>
            <a:pathLst>
              <a:path w="5114925" h="95">
                <a:moveTo>
                  <a:pt x="0" y="0"/>
                </a:moveTo>
                <a:lnTo>
                  <a:pt x="5043487" y="0"/>
                </a:lnTo>
              </a:path>
            </a:pathLst>
          </a:custGeom>
          <a:noFill/>
          <a:ln w="20955" cap="rnd">
            <a:solidFill>
              <a:srgbClr val="2F7049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3" name="route_ffar_myeloid_tip"/>
          <p:cNvSpPr/>
          <p:nvPr/>
        </p:nvSpPr>
        <p:spPr>
          <a:xfrm>
            <a:off x="8486775" y="568642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F70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4" name="route_butyrate_hdac"/>
          <p:cNvSpPr/>
          <p:nvPr/>
        </p:nvSpPr>
        <p:spPr>
          <a:xfrm>
            <a:off x="1304925" y="5791200"/>
            <a:ext cx="1028700" cy="438150"/>
          </a:xfrm>
          <a:custGeom>
            <a:avLst/>
            <a:gdLst/>
            <a:ahLst/>
            <a:cxnLst/>
            <a:rect l="0" t="0" r="r" b="b"/>
            <a:pathLst>
              <a:path w="1028700" h="438150">
                <a:moveTo>
                  <a:pt x="0" y="0"/>
                </a:moveTo>
                <a:lnTo>
                  <a:pt x="8375" y="10268"/>
                </a:lnTo>
                <a:lnTo>
                  <a:pt x="16549" y="20532"/>
                </a:lnTo>
                <a:lnTo>
                  <a:pt x="24542" y="30785"/>
                </a:lnTo>
                <a:lnTo>
                  <a:pt x="32377" y="41023"/>
                </a:lnTo>
                <a:lnTo>
                  <a:pt x="40075" y="51241"/>
                </a:lnTo>
                <a:lnTo>
                  <a:pt x="47658" y="61434"/>
                </a:lnTo>
                <a:lnTo>
                  <a:pt x="55147" y="71597"/>
                </a:lnTo>
                <a:lnTo>
                  <a:pt x="62564" y="81725"/>
                </a:lnTo>
                <a:lnTo>
                  <a:pt x="69930" y="91813"/>
                </a:lnTo>
                <a:lnTo>
                  <a:pt x="77267" y="101856"/>
                </a:lnTo>
                <a:lnTo>
                  <a:pt x="84597" y="111848"/>
                </a:lnTo>
                <a:lnTo>
                  <a:pt x="91941" y="121786"/>
                </a:lnTo>
                <a:lnTo>
                  <a:pt x="99321" y="131663"/>
                </a:lnTo>
                <a:lnTo>
                  <a:pt x="106758" y="141475"/>
                </a:lnTo>
                <a:lnTo>
                  <a:pt x="114274" y="151217"/>
                </a:lnTo>
                <a:lnTo>
                  <a:pt x="121890" y="160883"/>
                </a:lnTo>
                <a:lnTo>
                  <a:pt x="129629" y="170470"/>
                </a:lnTo>
                <a:lnTo>
                  <a:pt x="137511" y="179971"/>
                </a:lnTo>
                <a:lnTo>
                  <a:pt x="145559" y="189382"/>
                </a:lnTo>
                <a:lnTo>
                  <a:pt x="153793" y="198697"/>
                </a:lnTo>
                <a:lnTo>
                  <a:pt x="162236" y="207912"/>
                </a:lnTo>
                <a:lnTo>
                  <a:pt x="170908" y="217023"/>
                </a:lnTo>
                <a:lnTo>
                  <a:pt x="179833" y="226022"/>
                </a:lnTo>
                <a:lnTo>
                  <a:pt x="189030" y="234907"/>
                </a:lnTo>
                <a:lnTo>
                  <a:pt x="198523" y="243671"/>
                </a:lnTo>
                <a:lnTo>
                  <a:pt x="208331" y="252309"/>
                </a:lnTo>
                <a:lnTo>
                  <a:pt x="218478" y="260818"/>
                </a:lnTo>
                <a:lnTo>
                  <a:pt x="228984" y="269191"/>
                </a:lnTo>
                <a:lnTo>
                  <a:pt x="239871" y="277423"/>
                </a:lnTo>
                <a:lnTo>
                  <a:pt x="251161" y="285510"/>
                </a:lnTo>
                <a:lnTo>
                  <a:pt x="262875" y="293447"/>
                </a:lnTo>
                <a:lnTo>
                  <a:pt x="275034" y="301228"/>
                </a:lnTo>
                <a:lnTo>
                  <a:pt x="287662" y="308849"/>
                </a:lnTo>
                <a:lnTo>
                  <a:pt x="300778" y="316304"/>
                </a:lnTo>
                <a:lnTo>
                  <a:pt x="314405" y="323589"/>
                </a:lnTo>
                <a:lnTo>
                  <a:pt x="328564" y="330698"/>
                </a:lnTo>
                <a:lnTo>
                  <a:pt x="343276" y="337627"/>
                </a:lnTo>
                <a:lnTo>
                  <a:pt x="358564" y="344371"/>
                </a:lnTo>
                <a:lnTo>
                  <a:pt x="374449" y="350923"/>
                </a:lnTo>
                <a:lnTo>
                  <a:pt x="390953" y="357281"/>
                </a:lnTo>
                <a:lnTo>
                  <a:pt x="408096" y="363437"/>
                </a:lnTo>
                <a:lnTo>
                  <a:pt x="425902" y="369388"/>
                </a:lnTo>
                <a:lnTo>
                  <a:pt x="444390" y="375129"/>
                </a:lnTo>
                <a:lnTo>
                  <a:pt x="463583" y="380654"/>
                </a:lnTo>
                <a:lnTo>
                  <a:pt x="483503" y="385958"/>
                </a:lnTo>
                <a:lnTo>
                  <a:pt x="504171" y="391036"/>
                </a:lnTo>
                <a:lnTo>
                  <a:pt x="525608" y="395884"/>
                </a:lnTo>
                <a:lnTo>
                  <a:pt x="547836" y="400496"/>
                </a:lnTo>
                <a:lnTo>
                  <a:pt x="570877" y="404868"/>
                </a:lnTo>
                <a:lnTo>
                  <a:pt x="594753" y="408994"/>
                </a:lnTo>
                <a:lnTo>
                  <a:pt x="619484" y="412869"/>
                </a:lnTo>
                <a:lnTo>
                  <a:pt x="645093" y="416489"/>
                </a:lnTo>
                <a:lnTo>
                  <a:pt x="671601" y="419847"/>
                </a:lnTo>
                <a:lnTo>
                  <a:pt x="699030" y="422940"/>
                </a:lnTo>
                <a:lnTo>
                  <a:pt x="727401" y="425762"/>
                </a:lnTo>
                <a:lnTo>
                  <a:pt x="756735" y="428309"/>
                </a:lnTo>
                <a:lnTo>
                  <a:pt x="787055" y="430574"/>
                </a:lnTo>
                <a:lnTo>
                  <a:pt x="818382" y="432554"/>
                </a:lnTo>
                <a:lnTo>
                  <a:pt x="850738" y="434243"/>
                </a:lnTo>
                <a:lnTo>
                  <a:pt x="884144" y="435636"/>
                </a:lnTo>
                <a:lnTo>
                  <a:pt x="918621" y="436728"/>
                </a:lnTo>
                <a:lnTo>
                  <a:pt x="954192" y="437515"/>
                </a:lnTo>
                <a:lnTo>
                  <a:pt x="957262" y="437555"/>
                </a:lnTo>
              </a:path>
            </a:pathLst>
          </a:custGeom>
          <a:noFill/>
          <a:ln w="22859" cap="rnd">
            <a:solidFill>
              <a:srgbClr val="2F7049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5" name="route_butyrate_hdac_tip"/>
          <p:cNvSpPr/>
          <p:nvPr/>
        </p:nvSpPr>
        <p:spPr>
          <a:xfrm>
            <a:off x="2237727" y="6189600"/>
            <a:ext cx="95898" cy="76188"/>
          </a:xfrm>
          <a:custGeom>
            <a:avLst/>
            <a:gdLst/>
            <a:ahLst/>
            <a:cxnLst/>
            <a:rect l="0" t="0" r="r" b="b"/>
            <a:pathLst>
              <a:path w="95898" h="76188">
                <a:moveTo>
                  <a:pt x="95898" y="39750"/>
                </a:moveTo>
                <a:lnTo>
                  <a:pt x="0" y="76188"/>
                </a:lnTo>
                <a:lnTo>
                  <a:pt x="1325" y="0"/>
                </a:lnTo>
                <a:close/>
              </a:path>
            </a:pathLst>
          </a:custGeom>
          <a:solidFill>
            <a:srgbClr val="2F70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6" name="route_hdac_acetylation"/>
          <p:cNvSpPr/>
          <p:nvPr/>
        </p:nvSpPr>
        <p:spPr>
          <a:xfrm>
            <a:off x="3543300" y="6153150"/>
            <a:ext cx="371475" cy="95"/>
          </a:xfrm>
          <a:custGeom>
            <a:avLst/>
            <a:gdLst/>
            <a:ahLst/>
            <a:cxnLst/>
            <a:rect l="0" t="0" r="r" b="b"/>
            <a:pathLst>
              <a:path w="371475" h="95">
                <a:moveTo>
                  <a:pt x="0" y="0"/>
                </a:moveTo>
                <a:lnTo>
                  <a:pt x="300038" y="0"/>
                </a:lnTo>
              </a:path>
            </a:pathLst>
          </a:custGeom>
          <a:noFill/>
          <a:ln w="22859" cap="rnd">
            <a:solidFill>
              <a:srgbClr val="2F7049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7" name="route_hdac_acetylation_tip"/>
          <p:cNvSpPr/>
          <p:nvPr/>
        </p:nvSpPr>
        <p:spPr>
          <a:xfrm>
            <a:off x="3819525" y="6115050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F70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8" name="route_acetylation_treg"/>
          <p:cNvSpPr/>
          <p:nvPr/>
        </p:nvSpPr>
        <p:spPr>
          <a:xfrm>
            <a:off x="4695825" y="6153150"/>
            <a:ext cx="495300" cy="95"/>
          </a:xfrm>
          <a:custGeom>
            <a:avLst/>
            <a:gdLst/>
            <a:ahLst/>
            <a:cxnLst/>
            <a:rect l="0" t="0" r="r" b="b"/>
            <a:pathLst>
              <a:path w="495300" h="95">
                <a:moveTo>
                  <a:pt x="0" y="0"/>
                </a:moveTo>
                <a:lnTo>
                  <a:pt x="423862" y="0"/>
                </a:lnTo>
              </a:path>
            </a:pathLst>
          </a:custGeom>
          <a:noFill/>
          <a:ln w="22859" cap="rnd">
            <a:solidFill>
              <a:srgbClr val="2F7049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9" name="route_acetylation_treg_tip"/>
          <p:cNvSpPr/>
          <p:nvPr/>
        </p:nvSpPr>
        <p:spPr>
          <a:xfrm>
            <a:off x="5095875" y="6115050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F70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0" name="route_treg_support_to_cell"/>
          <p:cNvSpPr/>
          <p:nvPr/>
        </p:nvSpPr>
        <p:spPr>
          <a:xfrm>
            <a:off x="6848475" y="6227523"/>
            <a:ext cx="3276600" cy="408648"/>
          </a:xfrm>
          <a:custGeom>
            <a:avLst/>
            <a:gdLst/>
            <a:ahLst/>
            <a:cxnLst/>
            <a:rect l="0" t="0" r="r" b="b"/>
            <a:pathLst>
              <a:path w="3276600" h="408648">
                <a:moveTo>
                  <a:pt x="0" y="1827"/>
                </a:moveTo>
                <a:lnTo>
                  <a:pt x="45117" y="482"/>
                </a:lnTo>
                <a:lnTo>
                  <a:pt x="90283" y="0"/>
                </a:lnTo>
                <a:lnTo>
                  <a:pt x="135505" y="350"/>
                </a:lnTo>
                <a:lnTo>
                  <a:pt x="180789" y="1501"/>
                </a:lnTo>
                <a:lnTo>
                  <a:pt x="226143" y="3423"/>
                </a:lnTo>
                <a:lnTo>
                  <a:pt x="271574" y="6086"/>
                </a:lnTo>
                <a:lnTo>
                  <a:pt x="317089" y="9458"/>
                </a:lnTo>
                <a:lnTo>
                  <a:pt x="362694" y="13510"/>
                </a:lnTo>
                <a:lnTo>
                  <a:pt x="408397" y="18210"/>
                </a:lnTo>
                <a:lnTo>
                  <a:pt x="454205" y="23529"/>
                </a:lnTo>
                <a:lnTo>
                  <a:pt x="500124" y="29435"/>
                </a:lnTo>
                <a:lnTo>
                  <a:pt x="546162" y="35899"/>
                </a:lnTo>
                <a:lnTo>
                  <a:pt x="592325" y="42889"/>
                </a:lnTo>
                <a:lnTo>
                  <a:pt x="638621" y="50376"/>
                </a:lnTo>
                <a:lnTo>
                  <a:pt x="685057" y="58328"/>
                </a:lnTo>
                <a:lnTo>
                  <a:pt x="731639" y="66716"/>
                </a:lnTo>
                <a:lnTo>
                  <a:pt x="778375" y="75508"/>
                </a:lnTo>
                <a:lnTo>
                  <a:pt x="825271" y="84674"/>
                </a:lnTo>
                <a:lnTo>
                  <a:pt x="872334" y="94184"/>
                </a:lnTo>
                <a:lnTo>
                  <a:pt x="919572" y="104006"/>
                </a:lnTo>
                <a:lnTo>
                  <a:pt x="966991" y="114112"/>
                </a:lnTo>
                <a:lnTo>
                  <a:pt x="1014599" y="124469"/>
                </a:lnTo>
                <a:lnTo>
                  <a:pt x="1062401" y="135048"/>
                </a:lnTo>
                <a:lnTo>
                  <a:pt x="1110407" y="145818"/>
                </a:lnTo>
                <a:lnTo>
                  <a:pt x="1158621" y="156748"/>
                </a:lnTo>
                <a:lnTo>
                  <a:pt x="1207052" y="167808"/>
                </a:lnTo>
                <a:lnTo>
                  <a:pt x="1255706" y="178968"/>
                </a:lnTo>
                <a:lnTo>
                  <a:pt x="1304590" y="190197"/>
                </a:lnTo>
                <a:lnTo>
                  <a:pt x="1353712" y="201463"/>
                </a:lnTo>
                <a:lnTo>
                  <a:pt x="1403077" y="212738"/>
                </a:lnTo>
                <a:lnTo>
                  <a:pt x="1452694" y="223990"/>
                </a:lnTo>
                <a:lnTo>
                  <a:pt x="1502569" y="235189"/>
                </a:lnTo>
                <a:lnTo>
                  <a:pt x="1552709" y="246304"/>
                </a:lnTo>
                <a:lnTo>
                  <a:pt x="1603121" y="257305"/>
                </a:lnTo>
                <a:lnTo>
                  <a:pt x="1653812" y="268161"/>
                </a:lnTo>
                <a:lnTo>
                  <a:pt x="1704789" y="278842"/>
                </a:lnTo>
                <a:lnTo>
                  <a:pt x="1756059" y="289317"/>
                </a:lnTo>
                <a:lnTo>
                  <a:pt x="1807629" y="299556"/>
                </a:lnTo>
                <a:lnTo>
                  <a:pt x="1859506" y="309528"/>
                </a:lnTo>
                <a:lnTo>
                  <a:pt x="1911697" y="319203"/>
                </a:lnTo>
                <a:lnTo>
                  <a:pt x="1964209" y="328549"/>
                </a:lnTo>
                <a:lnTo>
                  <a:pt x="2017049" y="337538"/>
                </a:lnTo>
                <a:lnTo>
                  <a:pt x="2070224" y="346137"/>
                </a:lnTo>
                <a:lnTo>
                  <a:pt x="2123740" y="354317"/>
                </a:lnTo>
                <a:lnTo>
                  <a:pt x="2177605" y="362047"/>
                </a:lnTo>
                <a:lnTo>
                  <a:pt x="2231827" y="369296"/>
                </a:lnTo>
                <a:lnTo>
                  <a:pt x="2286410" y="376034"/>
                </a:lnTo>
                <a:lnTo>
                  <a:pt x="2341364" y="382231"/>
                </a:lnTo>
                <a:lnTo>
                  <a:pt x="2396694" y="387856"/>
                </a:lnTo>
                <a:lnTo>
                  <a:pt x="2452408" y="392878"/>
                </a:lnTo>
                <a:lnTo>
                  <a:pt x="2508513" y="397267"/>
                </a:lnTo>
                <a:lnTo>
                  <a:pt x="2565016" y="400993"/>
                </a:lnTo>
                <a:lnTo>
                  <a:pt x="2621923" y="404024"/>
                </a:lnTo>
                <a:lnTo>
                  <a:pt x="2679241" y="406331"/>
                </a:lnTo>
                <a:lnTo>
                  <a:pt x="2736978" y="407883"/>
                </a:lnTo>
                <a:lnTo>
                  <a:pt x="2795141" y="408648"/>
                </a:lnTo>
                <a:lnTo>
                  <a:pt x="2853736" y="408598"/>
                </a:lnTo>
                <a:lnTo>
                  <a:pt x="2912771" y="407701"/>
                </a:lnTo>
                <a:lnTo>
                  <a:pt x="2972252" y="405926"/>
                </a:lnTo>
                <a:lnTo>
                  <a:pt x="3032187" y="403244"/>
                </a:lnTo>
                <a:lnTo>
                  <a:pt x="3092582" y="399623"/>
                </a:lnTo>
                <a:lnTo>
                  <a:pt x="3153445" y="395034"/>
                </a:lnTo>
                <a:lnTo>
                  <a:pt x="3205537" y="390287"/>
                </a:lnTo>
              </a:path>
            </a:pathLst>
          </a:custGeom>
          <a:noFill/>
          <a:ln w="20955" cap="rnd">
            <a:solidFill>
              <a:srgbClr val="2F7049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1" name="route_treg_support_to_cell_tip"/>
          <p:cNvSpPr/>
          <p:nvPr/>
        </p:nvSpPr>
        <p:spPr>
          <a:xfrm>
            <a:off x="10026984" y="6580311"/>
            <a:ext cx="98091" cy="75936"/>
          </a:xfrm>
          <a:custGeom>
            <a:avLst/>
            <a:gdLst/>
            <a:ahLst/>
            <a:cxnLst/>
            <a:rect l="0" t="0" r="r" b="b"/>
            <a:pathLst>
              <a:path w="98091" h="75936">
                <a:moveTo>
                  <a:pt x="98091" y="30039"/>
                </a:moveTo>
                <a:lnTo>
                  <a:pt x="6343" y="75936"/>
                </a:lnTo>
                <a:lnTo>
                  <a:pt x="0" y="0"/>
                </a:lnTo>
                <a:close/>
              </a:path>
            </a:pathLst>
          </a:custGeom>
          <a:solidFill>
            <a:srgbClr val="2F70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2" name="route_ba_fxr_candidate"/>
          <p:cNvSpPr/>
          <p:nvPr/>
        </p:nvSpPr>
        <p:spPr>
          <a:xfrm>
            <a:off x="1066800" y="7239000"/>
            <a:ext cx="2305050" cy="95"/>
          </a:xfrm>
          <a:custGeom>
            <a:avLst/>
            <a:gdLst/>
            <a:ahLst/>
            <a:cxnLst/>
            <a:rect l="0" t="0" r="r" b="b"/>
            <a:pathLst>
              <a:path w="2305050" h="95">
                <a:moveTo>
                  <a:pt x="0" y="0"/>
                </a:moveTo>
                <a:lnTo>
                  <a:pt x="2233612" y="0"/>
                </a:lnTo>
              </a:path>
            </a:pathLst>
          </a:custGeom>
          <a:noFill/>
          <a:ln w="20955" cap="rnd">
            <a:solidFill>
              <a:srgbClr val="B97724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3" name="route_ba_fxr_candidate_tip"/>
          <p:cNvSpPr/>
          <p:nvPr/>
        </p:nvSpPr>
        <p:spPr>
          <a:xfrm>
            <a:off x="3276600" y="7200900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B977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4" name="route_fxr_et1_inhibition"/>
          <p:cNvSpPr/>
          <p:nvPr/>
        </p:nvSpPr>
        <p:spPr>
          <a:xfrm>
            <a:off x="3933825" y="7210425"/>
            <a:ext cx="1504950" cy="95"/>
          </a:xfrm>
          <a:custGeom>
            <a:avLst/>
            <a:gdLst/>
            <a:ahLst/>
            <a:cxnLst/>
            <a:rect l="0" t="0" r="r" b="b"/>
            <a:pathLst>
              <a:path w="1504950" h="95">
                <a:moveTo>
                  <a:pt x="0" y="0"/>
                </a:moveTo>
                <a:lnTo>
                  <a:pt x="1504950" y="0"/>
                </a:lnTo>
              </a:path>
            </a:pathLst>
          </a:custGeom>
          <a:noFill/>
          <a:ln w="22859" cap="rnd">
            <a:solidFill>
              <a:srgbClr val="B97724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5" name="et1_inhibition_bar"/>
          <p:cNvSpPr/>
          <p:nvPr/>
        </p:nvSpPr>
        <p:spPr>
          <a:xfrm>
            <a:off x="5438775" y="7105650"/>
            <a:ext cx="95" cy="209550"/>
          </a:xfrm>
          <a:custGeom>
            <a:avLst/>
            <a:gdLst/>
            <a:ahLst/>
            <a:cxnLst/>
            <a:rect l="0" t="0" r="r" b="b"/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22859" cap="rnd">
            <a:solidFill>
              <a:srgbClr val="B97724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6" name="route_indole_ahr_candidate"/>
          <p:cNvSpPr/>
          <p:nvPr/>
        </p:nvSpPr>
        <p:spPr>
          <a:xfrm>
            <a:off x="1000125" y="7934325"/>
            <a:ext cx="2371725" cy="95"/>
          </a:xfrm>
          <a:custGeom>
            <a:avLst/>
            <a:gdLst/>
            <a:ahLst/>
            <a:cxnLst/>
            <a:rect l="0" t="0" r="r" b="b"/>
            <a:pathLst>
              <a:path w="2371725" h="95">
                <a:moveTo>
                  <a:pt x="0" y="0"/>
                </a:moveTo>
                <a:lnTo>
                  <a:pt x="2300288" y="0"/>
                </a:lnTo>
              </a:path>
            </a:pathLst>
          </a:custGeom>
          <a:noFill/>
          <a:ln w="20955" cap="rnd">
            <a:solidFill>
              <a:srgbClr val="7254A8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7" name="route_indole_ahr_candidate_tip"/>
          <p:cNvSpPr/>
          <p:nvPr/>
        </p:nvSpPr>
        <p:spPr>
          <a:xfrm>
            <a:off x="3276600" y="789622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8" name="route_ahr_tcell_candidate"/>
          <p:cNvSpPr/>
          <p:nvPr/>
        </p:nvSpPr>
        <p:spPr>
          <a:xfrm>
            <a:off x="3933825" y="7934325"/>
            <a:ext cx="1428750" cy="95"/>
          </a:xfrm>
          <a:custGeom>
            <a:avLst/>
            <a:gdLst/>
            <a:ahLst/>
            <a:cxnLst/>
            <a:rect l="0" t="0" r="r" b="b"/>
            <a:pathLst>
              <a:path w="1428750" h="95">
                <a:moveTo>
                  <a:pt x="0" y="0"/>
                </a:moveTo>
                <a:lnTo>
                  <a:pt x="1357312" y="0"/>
                </a:lnTo>
              </a:path>
            </a:pathLst>
          </a:custGeom>
          <a:noFill/>
          <a:ln w="20955" cap="rnd">
            <a:solidFill>
              <a:srgbClr val="7254A8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9" name="route_ahr_tcell_candidate_tip"/>
          <p:cNvSpPr/>
          <p:nvPr/>
        </p:nvSpPr>
        <p:spPr>
          <a:xfrm>
            <a:off x="5267325" y="789622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725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0" name="layer_leader_endothelium"/>
          <p:cNvSpPr/>
          <p:nvPr/>
        </p:nvSpPr>
        <p:spPr>
          <a:xfrm>
            <a:off x="8982075" y="2357438"/>
            <a:ext cx="571500" cy="100013"/>
          </a:xfrm>
          <a:custGeom>
            <a:avLst/>
            <a:gdLst/>
            <a:ahLst/>
            <a:cxnLst/>
            <a:rect l="0" t="0" r="r" b="b"/>
            <a:pathLst>
              <a:path w="571500" h="100013">
                <a:moveTo>
                  <a:pt x="0" y="0"/>
                </a:moveTo>
                <a:lnTo>
                  <a:pt x="571500" y="100013"/>
                </a:lnTo>
              </a:path>
            </a:pathLst>
          </a:custGeom>
          <a:noFill/>
          <a:ln w="14288" cap="rnd">
            <a:solidFill>
              <a:srgbClr val="23364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1" name="layer_leader_media"/>
          <p:cNvSpPr/>
          <p:nvPr/>
        </p:nvSpPr>
        <p:spPr>
          <a:xfrm>
            <a:off x="9401175" y="3495675"/>
            <a:ext cx="514350" cy="57150"/>
          </a:xfrm>
          <a:custGeom>
            <a:avLst/>
            <a:gdLst/>
            <a:ahLst/>
            <a:cxnLst/>
            <a:rect l="0" t="0" r="r" b="b"/>
            <a:pathLst>
              <a:path w="514350" h="57150">
                <a:moveTo>
                  <a:pt x="0" y="57150"/>
                </a:moveTo>
                <a:lnTo>
                  <a:pt x="514350" y="0"/>
                </a:lnTo>
              </a:path>
            </a:pathLst>
          </a:custGeom>
          <a:noFill/>
          <a:ln w="14288" cap="rnd">
            <a:solidFill>
              <a:srgbClr val="23364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2" name="layer_leader_adventitia"/>
          <p:cNvSpPr/>
          <p:nvPr/>
        </p:nvSpPr>
        <p:spPr>
          <a:xfrm>
            <a:off x="10099358" y="4936808"/>
            <a:ext cx="597218" cy="101918"/>
          </a:xfrm>
          <a:custGeom>
            <a:avLst/>
            <a:gdLst/>
            <a:ahLst/>
            <a:cxnLst/>
            <a:rect l="0" t="0" r="r" b="b"/>
            <a:pathLst>
              <a:path w="597218" h="101918">
                <a:moveTo>
                  <a:pt x="0" y="0"/>
                </a:moveTo>
                <a:lnTo>
                  <a:pt x="597218" y="101918"/>
                </a:lnTo>
              </a:path>
            </a:pathLst>
          </a:custGeom>
          <a:noFill/>
          <a:ln w="14288" cap="rnd">
            <a:solidFill>
              <a:srgbClr val="23364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3" name="leader_endothelial"/>
          <p:cNvSpPr/>
          <p:nvPr/>
        </p:nvSpPr>
        <p:spPr>
          <a:xfrm>
            <a:off x="11639550" y="2409825"/>
            <a:ext cx="1736407" cy="114300"/>
          </a:xfrm>
          <a:custGeom>
            <a:avLst/>
            <a:gdLst/>
            <a:ahLst/>
            <a:cxnLst/>
            <a:rect l="0" t="0" r="r" b="b"/>
            <a:pathLst>
              <a:path w="1736407" h="114300">
                <a:moveTo>
                  <a:pt x="0" y="0"/>
                </a:moveTo>
                <a:lnTo>
                  <a:pt x="1736407" y="114300"/>
                </a:lnTo>
              </a:path>
            </a:pathLst>
          </a:custGeom>
          <a:noFill/>
          <a:ln w="14288" cap="rnd">
            <a:solidFill>
              <a:srgbClr val="23364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4" name="leader_medial"/>
          <p:cNvSpPr/>
          <p:nvPr/>
        </p:nvSpPr>
        <p:spPr>
          <a:xfrm>
            <a:off x="12163425" y="4048125"/>
            <a:ext cx="1428750" cy="266700"/>
          </a:xfrm>
          <a:custGeom>
            <a:avLst/>
            <a:gdLst/>
            <a:ahLst/>
            <a:cxnLst/>
            <a:rect l="0" t="0" r="r" b="b"/>
            <a:pathLst>
              <a:path w="1428750" h="266700">
                <a:moveTo>
                  <a:pt x="0" y="266700"/>
                </a:moveTo>
                <a:lnTo>
                  <a:pt x="1428750" y="0"/>
                </a:lnTo>
              </a:path>
            </a:pathLst>
          </a:custGeom>
          <a:noFill/>
          <a:ln w="14288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5" name="leader_adventitial"/>
          <p:cNvSpPr/>
          <p:nvPr/>
        </p:nvSpPr>
        <p:spPr>
          <a:xfrm>
            <a:off x="12382500" y="5572125"/>
            <a:ext cx="1012507" cy="190500"/>
          </a:xfrm>
          <a:custGeom>
            <a:avLst/>
            <a:gdLst/>
            <a:ahLst/>
            <a:cxnLst/>
            <a:rect l="0" t="0" r="r" b="b"/>
            <a:pathLst>
              <a:path w="1012507" h="190500">
                <a:moveTo>
                  <a:pt x="0" y="190500"/>
                </a:moveTo>
                <a:lnTo>
                  <a:pt x="1012507" y="0"/>
                </a:lnTo>
              </a:path>
            </a:pathLst>
          </a:custGeom>
          <a:noFill/>
          <a:ln w="14288" cap="rnd">
            <a:solidFill>
              <a:srgbClr val="7254A8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6" name="pvr_result_arrow"/>
          <p:cNvSpPr/>
          <p:nvPr/>
        </p:nvSpPr>
        <p:spPr>
          <a:xfrm>
            <a:off x="14868525" y="2647950"/>
            <a:ext cx="133350" cy="3695700"/>
          </a:xfrm>
          <a:custGeom>
            <a:avLst/>
            <a:gdLst/>
            <a:ahLst/>
            <a:cxnLst/>
            <a:rect l="0" t="0" r="r" b="b"/>
            <a:pathLst>
              <a:path w="133350" h="3695700">
                <a:moveTo>
                  <a:pt x="0" y="0"/>
                </a:moveTo>
                <a:lnTo>
                  <a:pt x="133350" y="0"/>
                </a:lnTo>
                <a:lnTo>
                  <a:pt x="133350" y="3624262"/>
                </a:lnTo>
              </a:path>
            </a:pathLst>
          </a:custGeom>
          <a:noFill/>
          <a:ln w="20955" cap="rnd">
            <a:solidFill>
              <a:srgbClr val="23364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7" name="pvr_result_arrow_tip"/>
          <p:cNvSpPr/>
          <p:nvPr/>
        </p:nvSpPr>
        <p:spPr>
          <a:xfrm>
            <a:off x="14963775" y="6248400"/>
            <a:ext cx="76200" cy="95250"/>
          </a:xfrm>
          <a:custGeom>
            <a:avLst/>
            <a:gdLst/>
            <a:ahLst/>
            <a:cxnLst/>
            <a:rect l="0" t="0" r="r" b="b"/>
            <a:pathLst>
              <a:path w="76200" h="95250">
                <a:moveTo>
                  <a:pt x="38100" y="95250"/>
                </a:moveTo>
                <a:lnTo>
                  <a:pt x="0" y="0"/>
                </a:lnTo>
                <a:lnTo>
                  <a:pt x="76200" y="0"/>
                </a:lnTo>
                <a:close/>
              </a:path>
            </a:pathLst>
          </a:custGeom>
          <a:solidFill>
            <a:srgbClr val="2336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8" name="cross_section_change"/>
          <p:cNvSpPr/>
          <p:nvPr/>
        </p:nvSpPr>
        <p:spPr>
          <a:xfrm>
            <a:off x="12277725" y="7705725"/>
            <a:ext cx="276225" cy="95"/>
          </a:xfrm>
          <a:custGeom>
            <a:avLst/>
            <a:gdLst/>
            <a:ahLst/>
            <a:cxnLst/>
            <a:rect l="0" t="0" r="r" b="b"/>
            <a:pathLst>
              <a:path w="276225" h="95">
                <a:moveTo>
                  <a:pt x="0" y="0"/>
                </a:moveTo>
                <a:lnTo>
                  <a:pt x="204788" y="0"/>
                </a:lnTo>
              </a:path>
            </a:pathLst>
          </a:custGeom>
          <a:noFill/>
          <a:ln w="17145" cap="rnd">
            <a:solidFill>
              <a:srgbClr val="23364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9" name="cross_section_change_tip"/>
          <p:cNvSpPr/>
          <p:nvPr/>
        </p:nvSpPr>
        <p:spPr>
          <a:xfrm>
            <a:off x="12458700" y="766762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336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0" name="legend_solid_arrow"/>
          <p:cNvSpPr/>
          <p:nvPr/>
        </p:nvSpPr>
        <p:spPr>
          <a:xfrm>
            <a:off x="266700" y="8448675"/>
            <a:ext cx="542925" cy="95"/>
          </a:xfrm>
          <a:custGeom>
            <a:avLst/>
            <a:gdLst/>
            <a:ahLst/>
            <a:cxnLst/>
            <a:rect l="0" t="0" r="r" b="b"/>
            <a:pathLst>
              <a:path w="542925" h="95">
                <a:moveTo>
                  <a:pt x="0" y="0"/>
                </a:moveTo>
                <a:lnTo>
                  <a:pt x="471488" y="0"/>
                </a:lnTo>
              </a:path>
            </a:pathLst>
          </a:custGeom>
          <a:noFill/>
          <a:ln w="23813" cap="rnd">
            <a:solidFill>
              <a:srgbClr val="23364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1" name="legend_solid_arrow_tip"/>
          <p:cNvSpPr/>
          <p:nvPr/>
        </p:nvSpPr>
        <p:spPr>
          <a:xfrm>
            <a:off x="714375" y="841057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336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2" name="legend_dashed_arrow"/>
          <p:cNvSpPr/>
          <p:nvPr/>
        </p:nvSpPr>
        <p:spPr>
          <a:xfrm>
            <a:off x="6238875" y="8448675"/>
            <a:ext cx="542925" cy="95"/>
          </a:xfrm>
          <a:custGeom>
            <a:avLst/>
            <a:gdLst/>
            <a:ahLst/>
            <a:cxnLst/>
            <a:rect l="0" t="0" r="r" b="b"/>
            <a:pathLst>
              <a:path w="542925" h="95">
                <a:moveTo>
                  <a:pt x="0" y="0"/>
                </a:moveTo>
                <a:lnTo>
                  <a:pt x="471488" y="0"/>
                </a:lnTo>
              </a:path>
            </a:pathLst>
          </a:custGeom>
          <a:noFill/>
          <a:ln w="21908" cap="rnd">
            <a:solidFill>
              <a:srgbClr val="23364A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3" name="legend_dashed_arrow_tip"/>
          <p:cNvSpPr/>
          <p:nvPr/>
        </p:nvSpPr>
        <p:spPr>
          <a:xfrm>
            <a:off x="6686550" y="841057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336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4" name="circulating_tmao_n_o_bond"/>
          <p:cNvSpPr/>
          <p:nvPr/>
        </p:nvSpPr>
        <p:spPr>
          <a:xfrm rot="19615605">
            <a:off x="750823" y="4241878"/>
            <a:ext cx="232207" cy="95"/>
          </a:xfrm>
          <a:custGeom>
            <a:avLst/>
            <a:gdLst/>
            <a:ahLst/>
            <a:cxnLst/>
            <a:rect l="0" t="0" r="r" b="b"/>
            <a:pathLst>
              <a:path w="232207" h="95">
                <a:moveTo>
                  <a:pt x="0" y="0"/>
                </a:moveTo>
                <a:lnTo>
                  <a:pt x="232207" y="0"/>
                </a:lnTo>
              </a:path>
            </a:pathLst>
          </a:custGeom>
          <a:noFill/>
          <a:ln w="29718" cap="rnd">
            <a:solidFill>
              <a:srgbClr val="12AEC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5" name="circulating_tmao_oxygen_atom"/>
          <p:cNvSpPr/>
          <p:nvPr/>
        </p:nvSpPr>
        <p:spPr>
          <a:xfrm>
            <a:off x="953223" y="4073632"/>
            <a:ext cx="135712" cy="135712"/>
          </a:xfrm>
          <a:prstGeom prst="ellipse">
            <a:avLst/>
          </a:prstGeom>
          <a:solidFill>
            <a:srgbClr val="CF5148"/>
          </a:solidFill>
          <a:ln w="8411">
            <a:solidFill>
              <a:srgbClr val="9D322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6" name="dot_endothelial"/>
          <p:cNvSpPr/>
          <p:nvPr/>
        </p:nvSpPr>
        <p:spPr>
          <a:xfrm>
            <a:off x="11525250" y="2362200"/>
            <a:ext cx="95250" cy="95250"/>
          </a:xfrm>
          <a:prstGeom prst="ellipse">
            <a:avLst/>
          </a:prstGeom>
          <a:solidFill>
            <a:srgbClr val="23364A"/>
          </a:solidFill>
          <a:ln w="7620">
            <a:solidFill>
              <a:srgbClr val="FCF5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7" name="dot_medial"/>
          <p:cNvSpPr/>
          <p:nvPr/>
        </p:nvSpPr>
        <p:spPr>
          <a:xfrm>
            <a:off x="12049125" y="4267200"/>
            <a:ext cx="95250" cy="95250"/>
          </a:xfrm>
          <a:prstGeom prst="ellipse">
            <a:avLst/>
          </a:prstGeom>
          <a:solidFill>
            <a:srgbClr val="A82D2A"/>
          </a:solidFill>
          <a:ln w="7620">
            <a:solidFill>
              <a:srgbClr val="FCF5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8" name="dot_adventitial"/>
          <p:cNvSpPr/>
          <p:nvPr/>
        </p:nvSpPr>
        <p:spPr>
          <a:xfrm>
            <a:off x="12268200" y="5715000"/>
            <a:ext cx="95250" cy="95250"/>
          </a:xfrm>
          <a:prstGeom prst="ellipse">
            <a:avLst/>
          </a:prstGeom>
          <a:solidFill>
            <a:srgbClr val="7254A8"/>
          </a:solidFill>
          <a:ln w="7620">
            <a:solidFill>
              <a:srgbClr val="FCF5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9" name="normal_adventitia"/>
          <p:cNvSpPr/>
          <p:nvPr/>
        </p:nvSpPr>
        <p:spPr>
          <a:xfrm>
            <a:off x="11410950" y="7419975"/>
            <a:ext cx="781050" cy="590550"/>
          </a:xfrm>
          <a:prstGeom prst="ellipse">
            <a:avLst/>
          </a:prstGeom>
          <a:solidFill>
            <a:srgbClr val="BEB0CA"/>
          </a:solidFill>
          <a:ln w="7620">
            <a:solidFill>
              <a:srgbClr val="9E8FA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0" name="normal_media"/>
          <p:cNvSpPr/>
          <p:nvPr/>
        </p:nvSpPr>
        <p:spPr>
          <a:xfrm>
            <a:off x="11458575" y="7467600"/>
            <a:ext cx="685800" cy="495300"/>
          </a:xfrm>
          <a:prstGeom prst="ellipse">
            <a:avLst/>
          </a:prstGeom>
          <a:solidFill>
            <a:srgbClr val="DDA4A0"/>
          </a:solidFill>
          <a:ln w="6668">
            <a:solidFill>
              <a:srgbClr val="BD7E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1" name="normal_endothelium"/>
          <p:cNvSpPr/>
          <p:nvPr/>
        </p:nvSpPr>
        <p:spPr>
          <a:xfrm>
            <a:off x="11515725" y="7505700"/>
            <a:ext cx="571500" cy="419100"/>
          </a:xfrm>
          <a:prstGeom prst="ellipse">
            <a:avLst/>
          </a:prstGeom>
          <a:solidFill>
            <a:srgbClr val="8ABAD3"/>
          </a:solidFill>
          <a:ln w="4763">
            <a:solidFill>
              <a:srgbClr val="6795A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2" name="normal_lumen"/>
          <p:cNvSpPr/>
          <p:nvPr/>
        </p:nvSpPr>
        <p:spPr>
          <a:xfrm>
            <a:off x="11544300" y="7534275"/>
            <a:ext cx="514350" cy="361950"/>
          </a:xfrm>
          <a:prstGeom prst="ellipse">
            <a:avLst/>
          </a:prstGeom>
          <a:solidFill>
            <a:srgbClr val="FFF6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3" name="remodeled_adventitia"/>
          <p:cNvSpPr/>
          <p:nvPr/>
        </p:nvSpPr>
        <p:spPr>
          <a:xfrm>
            <a:off x="12639675" y="7419975"/>
            <a:ext cx="781050" cy="590550"/>
          </a:xfrm>
          <a:prstGeom prst="ellipse">
            <a:avLst/>
          </a:prstGeom>
          <a:solidFill>
            <a:srgbClr val="BEB0CA"/>
          </a:solidFill>
          <a:ln w="7620">
            <a:solidFill>
              <a:srgbClr val="9E8FA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4" name="remodeled_media"/>
          <p:cNvSpPr/>
          <p:nvPr/>
        </p:nvSpPr>
        <p:spPr>
          <a:xfrm>
            <a:off x="12687300" y="7467600"/>
            <a:ext cx="685800" cy="495300"/>
          </a:xfrm>
          <a:prstGeom prst="ellipse">
            <a:avLst/>
          </a:prstGeom>
          <a:solidFill>
            <a:srgbClr val="DDA4A0"/>
          </a:solidFill>
          <a:ln w="6668">
            <a:solidFill>
              <a:srgbClr val="BD7E7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5" name="remodeled_endothelium"/>
          <p:cNvSpPr/>
          <p:nvPr/>
        </p:nvSpPr>
        <p:spPr>
          <a:xfrm>
            <a:off x="12858750" y="7581900"/>
            <a:ext cx="342900" cy="266700"/>
          </a:xfrm>
          <a:prstGeom prst="ellipse">
            <a:avLst/>
          </a:prstGeom>
          <a:solidFill>
            <a:srgbClr val="8ABAD3"/>
          </a:solidFill>
          <a:ln w="4763">
            <a:solidFill>
              <a:srgbClr val="6795A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6" name="remodeled_lumen"/>
          <p:cNvSpPr/>
          <p:nvPr/>
        </p:nvSpPr>
        <p:spPr>
          <a:xfrm>
            <a:off x="12887325" y="7610475"/>
            <a:ext cx="285750" cy="209550"/>
          </a:xfrm>
          <a:prstGeom prst="ellipse">
            <a:avLst/>
          </a:prstGeom>
          <a:solidFill>
            <a:srgbClr val="FFF6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7" name="route_butyrate_direct_fork"/>
          <p:cNvSpPr/>
          <p:nvPr/>
        </p:nvSpPr>
        <p:spPr>
          <a:xfrm>
            <a:off x="8924925" y="7172325"/>
            <a:ext cx="104775" cy="781050"/>
          </a:xfrm>
          <a:custGeom>
            <a:avLst/>
            <a:gdLst/>
            <a:ahLst/>
            <a:cxnLst/>
            <a:rect l="0" t="0" r="r" b="b"/>
            <a:pathLst>
              <a:path w="104775" h="781050">
                <a:moveTo>
                  <a:pt x="0" y="0"/>
                </a:moveTo>
                <a:lnTo>
                  <a:pt x="104775" y="0"/>
                </a:lnTo>
                <a:lnTo>
                  <a:pt x="104775" y="781050"/>
                </a:lnTo>
              </a:path>
            </a:pathLst>
          </a:custGeom>
          <a:noFill/>
          <a:ln w="20955" cap="rnd">
            <a:solidFill>
              <a:srgbClr val="2F7049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8" name="route_butyrate_endothelial_protection"/>
          <p:cNvSpPr/>
          <p:nvPr/>
        </p:nvSpPr>
        <p:spPr>
          <a:xfrm>
            <a:off x="9029700" y="7496175"/>
            <a:ext cx="180975" cy="95"/>
          </a:xfrm>
          <a:custGeom>
            <a:avLst/>
            <a:gdLst/>
            <a:ahLst/>
            <a:cxnLst/>
            <a:rect l="0" t="0" r="r" b="b"/>
            <a:pathLst>
              <a:path w="180975" h="95">
                <a:moveTo>
                  <a:pt x="0" y="0"/>
                </a:moveTo>
                <a:lnTo>
                  <a:pt x="109537" y="0"/>
                </a:lnTo>
              </a:path>
            </a:pathLst>
          </a:custGeom>
          <a:noFill/>
          <a:ln w="20955" cap="rnd">
            <a:solidFill>
              <a:srgbClr val="2F7049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9" name="route_butyrate_endothelial_protection_tip"/>
          <p:cNvSpPr/>
          <p:nvPr/>
        </p:nvSpPr>
        <p:spPr>
          <a:xfrm>
            <a:off x="9115425" y="7458075"/>
            <a:ext cx="95250" cy="76200"/>
          </a:xfrm>
          <a:custGeom>
            <a:avLst/>
            <a:gdLst/>
            <a:ahLst/>
            <a:cxnLst/>
            <a:rect l="0" t="0" r="r" b="b"/>
            <a:pathLst>
              <a:path w="95250" h="76200">
                <a:moveTo>
                  <a:pt x="95250" y="38100"/>
                </a:move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F70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0" name="route_butyrate_pasmsc_inhibition"/>
          <p:cNvSpPr/>
          <p:nvPr/>
        </p:nvSpPr>
        <p:spPr>
          <a:xfrm>
            <a:off x="9029700" y="7953375"/>
            <a:ext cx="180975" cy="95"/>
          </a:xfrm>
          <a:custGeom>
            <a:avLst/>
            <a:gdLst/>
            <a:ahLst/>
            <a:cxnLst/>
            <a:rect l="0" t="0" r="r" b="b"/>
            <a:pathLst>
              <a:path w="180975" h="9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/>
          <a:ln w="20955" cap="rnd">
            <a:solidFill>
              <a:srgbClr val="2F7049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1" name="butyrate_pasmsc_inhibition_bar"/>
          <p:cNvSpPr/>
          <p:nvPr/>
        </p:nvSpPr>
        <p:spPr>
          <a:xfrm>
            <a:off x="9210675" y="7858125"/>
            <a:ext cx="95" cy="190500"/>
          </a:xfrm>
          <a:custGeom>
            <a:avLst/>
            <a:gdLst/>
            <a:ahLst/>
            <a:cxnLst/>
            <a:rect l="0" t="0" r="r" b="b"/>
            <a:pathLst>
              <a:path w="9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20955" cap="rnd">
            <a:solidFill>
              <a:srgbClr val="2F7049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2" name="legend_inhibition_line"/>
          <p:cNvSpPr/>
          <p:nvPr/>
        </p:nvSpPr>
        <p:spPr>
          <a:xfrm>
            <a:off x="12763500" y="8448675"/>
            <a:ext cx="400050" cy="95"/>
          </a:xfrm>
          <a:custGeom>
            <a:avLst/>
            <a:gdLst/>
            <a:ahLst/>
            <a:cxnLst/>
            <a:rect l="0" t="0" r="r" b="b"/>
            <a:pathLst>
              <a:path w="400050" h="95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21908" cap="rnd">
            <a:solidFill>
              <a:srgbClr val="23364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3" name="legend_inhibition_bar"/>
          <p:cNvSpPr/>
          <p:nvPr/>
        </p:nvSpPr>
        <p:spPr>
          <a:xfrm>
            <a:off x="13163550" y="8362950"/>
            <a:ext cx="95" cy="171450"/>
          </a:xfrm>
          <a:custGeom>
            <a:avLst/>
            <a:gdLst/>
            <a:ahLst/>
            <a:cxnLst/>
            <a:rect l="0" t="0" r="r" b="b"/>
            <a:pathLst>
              <a:path w="9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21908" cap="rnd">
            <a:solidFill>
              <a:srgbClr val="23364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4" name="route_inflammation_common_trunk"/>
          <p:cNvSpPr/>
          <p:nvPr/>
        </p:nvSpPr>
        <p:spPr>
          <a:xfrm>
            <a:off x="7886700" y="2857500"/>
            <a:ext cx="228600" cy="95"/>
          </a:xfrm>
          <a:custGeom>
            <a:avLst/>
            <a:gdLst/>
            <a:ahLst/>
            <a:cxnLst/>
            <a:rect l="0" t="0" r="r" b="b"/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22859" cap="rnd">
            <a:solidFill>
              <a:srgbClr val="A82D2A"/>
            </a:solidFill>
            <a:prstDash val="solid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5" name="layer_dot_endothelium"/>
          <p:cNvSpPr/>
          <p:nvPr/>
        </p:nvSpPr>
        <p:spPr>
          <a:xfrm>
            <a:off x="9510713" y="2414588"/>
            <a:ext cx="85725" cy="85725"/>
          </a:xfrm>
          <a:prstGeom prst="ellipse">
            <a:avLst/>
          </a:prstGeom>
          <a:solidFill>
            <a:srgbClr val="23364A"/>
          </a:solidFill>
          <a:ln w="7620">
            <a:solidFill>
              <a:srgbClr val="FCF5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6" name="layer_dot_media"/>
          <p:cNvSpPr/>
          <p:nvPr/>
        </p:nvSpPr>
        <p:spPr>
          <a:xfrm>
            <a:off x="9872663" y="3452813"/>
            <a:ext cx="85725" cy="85725"/>
          </a:xfrm>
          <a:prstGeom prst="ellipse">
            <a:avLst/>
          </a:prstGeom>
          <a:solidFill>
            <a:srgbClr val="23364A"/>
          </a:solidFill>
          <a:ln w="7620">
            <a:solidFill>
              <a:srgbClr val="FCF5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7" name="layer_dot_adventitia"/>
          <p:cNvSpPr/>
          <p:nvPr/>
        </p:nvSpPr>
        <p:spPr>
          <a:xfrm>
            <a:off x="10653713" y="4995863"/>
            <a:ext cx="85725" cy="85725"/>
          </a:xfrm>
          <a:prstGeom prst="ellipse">
            <a:avLst/>
          </a:prstGeom>
          <a:solidFill>
            <a:srgbClr val="23364A"/>
          </a:solidFill>
          <a:ln w="7620">
            <a:solidFill>
              <a:srgbClr val="FCF5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8" name="hmgb1_component_oval_1"/>
          <p:cNvSpPr/>
          <p:nvPr/>
        </p:nvSpPr>
        <p:spPr>
          <a:xfrm>
            <a:off x="1889379" y="1834935"/>
            <a:ext cx="236220" cy="251853"/>
          </a:xfrm>
          <a:prstGeom prst="ellipse">
            <a:avLst/>
          </a:prstGeom>
          <a:gradFill rotWithShape="1">
            <a:gsLst>
              <a:gs pos="0">
                <a:srgbClr val="F6D9DB"/>
              </a:gs>
              <a:gs pos="30000">
                <a:srgbClr val="E28E94"/>
              </a:gs>
              <a:gs pos="67000">
                <a:srgbClr val="D96870"/>
              </a:gs>
              <a:gs pos="100000">
                <a:srgbClr val="BB4C58"/>
              </a:gs>
            </a:gsLst>
            <a:lin ang="3300000" scaled="1"/>
          </a:gradFill>
          <a:ln w="9596">
            <a:solidFill>
              <a:srgbClr val="A83B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9" name="hmgb1_component_oval_2"/>
          <p:cNvSpPr/>
          <p:nvPr/>
        </p:nvSpPr>
        <p:spPr>
          <a:xfrm>
            <a:off x="1946072" y="1881528"/>
            <a:ext cx="61417" cy="46593"/>
          </a:xfrm>
          <a:prstGeom prst="ellipse">
            <a:avLst/>
          </a:prstGeom>
          <a:solidFill>
            <a:srgbClr val="F5D8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0" name="hmgb1_component_oval_3"/>
          <p:cNvSpPr/>
          <p:nvPr/>
        </p:nvSpPr>
        <p:spPr>
          <a:xfrm>
            <a:off x="2019300" y="1929380"/>
            <a:ext cx="236220" cy="251853"/>
          </a:xfrm>
          <a:prstGeom prst="ellipse">
            <a:avLst/>
          </a:prstGeom>
          <a:gradFill rotWithShape="1">
            <a:gsLst>
              <a:gs pos="0">
                <a:srgbClr val="F6D9DB"/>
              </a:gs>
              <a:gs pos="30000">
                <a:srgbClr val="E28E94"/>
              </a:gs>
              <a:gs pos="67000">
                <a:srgbClr val="D96870"/>
              </a:gs>
              <a:gs pos="100000">
                <a:srgbClr val="BB4C58"/>
              </a:gs>
            </a:gsLst>
            <a:lin ang="3300000" scaled="1"/>
          </a:gradFill>
          <a:ln w="9596">
            <a:solidFill>
              <a:srgbClr val="A83B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1" name="hmgb1_component_oval_4"/>
          <p:cNvSpPr/>
          <p:nvPr/>
        </p:nvSpPr>
        <p:spPr>
          <a:xfrm>
            <a:off x="2075993" y="1975973"/>
            <a:ext cx="61417" cy="46593"/>
          </a:xfrm>
          <a:prstGeom prst="ellipse">
            <a:avLst/>
          </a:prstGeom>
          <a:solidFill>
            <a:srgbClr val="F5D8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2" name="hmgb1_component_oval_5"/>
          <p:cNvSpPr/>
          <p:nvPr/>
        </p:nvSpPr>
        <p:spPr>
          <a:xfrm>
            <a:off x="2066544" y="2099381"/>
            <a:ext cx="212598" cy="226668"/>
          </a:xfrm>
          <a:prstGeom prst="ellipse">
            <a:avLst/>
          </a:prstGeom>
          <a:gradFill rotWithShape="1">
            <a:gsLst>
              <a:gs pos="0">
                <a:srgbClr val="F6D9DB"/>
              </a:gs>
              <a:gs pos="30000">
                <a:srgbClr val="E28E94"/>
              </a:gs>
              <a:gs pos="67000">
                <a:srgbClr val="D96870"/>
              </a:gs>
              <a:gs pos="100000">
                <a:srgbClr val="BB4C58"/>
              </a:gs>
            </a:gsLst>
            <a:lin ang="3300000" scaled="1"/>
          </a:gradFill>
          <a:ln w="9596">
            <a:solidFill>
              <a:srgbClr val="A83B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3" name="hmgb1_component_oval_6"/>
          <p:cNvSpPr/>
          <p:nvPr/>
        </p:nvSpPr>
        <p:spPr>
          <a:xfrm>
            <a:off x="2117568" y="2141315"/>
            <a:ext cx="55275" cy="41934"/>
          </a:xfrm>
          <a:prstGeom prst="ellipse">
            <a:avLst/>
          </a:prstGeom>
          <a:solidFill>
            <a:srgbClr val="F5D8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4" name="hmgb1_component_oval_7"/>
          <p:cNvSpPr/>
          <p:nvPr/>
        </p:nvSpPr>
        <p:spPr>
          <a:xfrm>
            <a:off x="1918906" y="2193826"/>
            <a:ext cx="224409" cy="239261"/>
          </a:xfrm>
          <a:prstGeom prst="ellipse">
            <a:avLst/>
          </a:prstGeom>
          <a:gradFill rotWithShape="1">
            <a:gsLst>
              <a:gs pos="0">
                <a:srgbClr val="F6D9DB"/>
              </a:gs>
              <a:gs pos="30000">
                <a:srgbClr val="E28E94"/>
              </a:gs>
              <a:gs pos="67000">
                <a:srgbClr val="D96870"/>
              </a:gs>
              <a:gs pos="100000">
                <a:srgbClr val="BB4C58"/>
              </a:gs>
            </a:gsLst>
            <a:lin ang="3300000" scaled="1"/>
          </a:gradFill>
          <a:ln w="9596">
            <a:solidFill>
              <a:srgbClr val="A83B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5" name="hmgb1_component_oval_8"/>
          <p:cNvSpPr/>
          <p:nvPr/>
        </p:nvSpPr>
        <p:spPr>
          <a:xfrm>
            <a:off x="1972765" y="2238089"/>
            <a:ext cx="58346" cy="44263"/>
          </a:xfrm>
          <a:prstGeom prst="ellipse">
            <a:avLst/>
          </a:prstGeom>
          <a:solidFill>
            <a:srgbClr val="F5D8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6" name="hmgb1_component_oval_9"/>
          <p:cNvSpPr/>
          <p:nvPr/>
        </p:nvSpPr>
        <p:spPr>
          <a:xfrm>
            <a:off x="1783080" y="2118270"/>
            <a:ext cx="212598" cy="226668"/>
          </a:xfrm>
          <a:prstGeom prst="ellipse">
            <a:avLst/>
          </a:prstGeom>
          <a:gradFill rotWithShape="1">
            <a:gsLst>
              <a:gs pos="0">
                <a:srgbClr val="F6D9DB"/>
              </a:gs>
              <a:gs pos="30000">
                <a:srgbClr val="E28E94"/>
              </a:gs>
              <a:gs pos="67000">
                <a:srgbClr val="D96870"/>
              </a:gs>
              <a:gs pos="100000">
                <a:srgbClr val="BB4C58"/>
              </a:gs>
            </a:gsLst>
            <a:lin ang="3300000" scaled="1"/>
          </a:gradFill>
          <a:ln w="9596">
            <a:solidFill>
              <a:srgbClr val="A83B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7" name="hmgb1_component_oval_10"/>
          <p:cNvSpPr/>
          <p:nvPr/>
        </p:nvSpPr>
        <p:spPr>
          <a:xfrm>
            <a:off x="1834104" y="2160204"/>
            <a:ext cx="55275" cy="41934"/>
          </a:xfrm>
          <a:prstGeom prst="ellipse">
            <a:avLst/>
          </a:prstGeom>
          <a:solidFill>
            <a:srgbClr val="F5D8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8" name="hmgb1_component_oval_11"/>
          <p:cNvSpPr/>
          <p:nvPr/>
        </p:nvSpPr>
        <p:spPr>
          <a:xfrm>
            <a:off x="1753552" y="1960862"/>
            <a:ext cx="224409" cy="239261"/>
          </a:xfrm>
          <a:prstGeom prst="ellipse">
            <a:avLst/>
          </a:prstGeom>
          <a:gradFill rotWithShape="1">
            <a:gsLst>
              <a:gs pos="0">
                <a:srgbClr val="F6D9DB"/>
              </a:gs>
              <a:gs pos="30000">
                <a:srgbClr val="E28E94"/>
              </a:gs>
              <a:gs pos="67000">
                <a:srgbClr val="D96870"/>
              </a:gs>
              <a:gs pos="100000">
                <a:srgbClr val="BB4C58"/>
              </a:gs>
            </a:gsLst>
            <a:lin ang="3300000" scaled="1"/>
          </a:gradFill>
          <a:ln w="9596">
            <a:solidFill>
              <a:srgbClr val="A83B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9" name="hmgb1_component_oval_12"/>
          <p:cNvSpPr/>
          <p:nvPr/>
        </p:nvSpPr>
        <p:spPr>
          <a:xfrm>
            <a:off x="1807411" y="2005125"/>
            <a:ext cx="58346" cy="44263"/>
          </a:xfrm>
          <a:prstGeom prst="ellipse">
            <a:avLst/>
          </a:prstGeom>
          <a:solidFill>
            <a:srgbClr val="F5D8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0" name="hmgb1_component_oval_13"/>
          <p:cNvSpPr/>
          <p:nvPr/>
        </p:nvSpPr>
        <p:spPr>
          <a:xfrm>
            <a:off x="1883474" y="1992344"/>
            <a:ext cx="259842" cy="277039"/>
          </a:xfrm>
          <a:prstGeom prst="ellipse">
            <a:avLst/>
          </a:prstGeom>
          <a:gradFill rotWithShape="1">
            <a:gsLst>
              <a:gs pos="0">
                <a:srgbClr val="F6D9DB"/>
              </a:gs>
              <a:gs pos="30000">
                <a:srgbClr val="E28E94"/>
              </a:gs>
              <a:gs pos="67000">
                <a:srgbClr val="D96870"/>
              </a:gs>
              <a:gs pos="100000">
                <a:srgbClr val="BB4C58"/>
              </a:gs>
            </a:gsLst>
            <a:lin ang="3300000" scaled="1"/>
          </a:gradFill>
          <a:ln w="9596">
            <a:solidFill>
              <a:srgbClr val="A83B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1" name="hmgb1_component_oval_14"/>
          <p:cNvSpPr/>
          <p:nvPr/>
        </p:nvSpPr>
        <p:spPr>
          <a:xfrm>
            <a:off x="1945836" y="2043596"/>
            <a:ext cx="67559" cy="51252"/>
          </a:xfrm>
          <a:prstGeom prst="ellipse">
            <a:avLst/>
          </a:prstGeom>
          <a:solidFill>
            <a:srgbClr val="F5D8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2" name="tlr4_component_path_1"/>
          <p:cNvSpPr/>
          <p:nvPr/>
        </p:nvSpPr>
        <p:spPr>
          <a:xfrm>
            <a:off x="3075756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3" name="tlr4_component_path_2"/>
          <p:cNvSpPr/>
          <p:nvPr/>
        </p:nvSpPr>
        <p:spPr>
          <a:xfrm>
            <a:off x="3102159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4" name="tlr4_component_oval_3"/>
          <p:cNvSpPr/>
          <p:nvPr/>
        </p:nvSpPr>
        <p:spPr>
          <a:xfrm>
            <a:off x="3081414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5" name="tlr4_component_oval_4"/>
          <p:cNvSpPr/>
          <p:nvPr/>
        </p:nvSpPr>
        <p:spPr>
          <a:xfrm>
            <a:off x="3081414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6" name="tlr4_component_path_5"/>
          <p:cNvSpPr/>
          <p:nvPr/>
        </p:nvSpPr>
        <p:spPr>
          <a:xfrm>
            <a:off x="3140018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7" name="tlr4_component_path_6"/>
          <p:cNvSpPr/>
          <p:nvPr/>
        </p:nvSpPr>
        <p:spPr>
          <a:xfrm>
            <a:off x="3166421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8" name="tlr4_component_oval_7"/>
          <p:cNvSpPr/>
          <p:nvPr/>
        </p:nvSpPr>
        <p:spPr>
          <a:xfrm>
            <a:off x="3145676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9" name="tlr4_component_oval_8"/>
          <p:cNvSpPr/>
          <p:nvPr/>
        </p:nvSpPr>
        <p:spPr>
          <a:xfrm>
            <a:off x="3145676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0" name="tlr4_component_path_9"/>
          <p:cNvSpPr/>
          <p:nvPr/>
        </p:nvSpPr>
        <p:spPr>
          <a:xfrm>
            <a:off x="3204280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1" name="tlr4_component_path_10"/>
          <p:cNvSpPr/>
          <p:nvPr/>
        </p:nvSpPr>
        <p:spPr>
          <a:xfrm>
            <a:off x="3230683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2" name="tlr4_component_oval_11"/>
          <p:cNvSpPr/>
          <p:nvPr/>
        </p:nvSpPr>
        <p:spPr>
          <a:xfrm>
            <a:off x="3209938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3" name="tlr4_component_oval_12"/>
          <p:cNvSpPr/>
          <p:nvPr/>
        </p:nvSpPr>
        <p:spPr>
          <a:xfrm>
            <a:off x="3209938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4" name="tlr4_component_path_13"/>
          <p:cNvSpPr/>
          <p:nvPr/>
        </p:nvSpPr>
        <p:spPr>
          <a:xfrm>
            <a:off x="3268542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5" name="tlr4_component_path_14"/>
          <p:cNvSpPr/>
          <p:nvPr/>
        </p:nvSpPr>
        <p:spPr>
          <a:xfrm>
            <a:off x="3294945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6" name="tlr4_component_oval_15"/>
          <p:cNvSpPr/>
          <p:nvPr/>
        </p:nvSpPr>
        <p:spPr>
          <a:xfrm>
            <a:off x="3274200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7" name="tlr4_component_oval_16"/>
          <p:cNvSpPr/>
          <p:nvPr/>
        </p:nvSpPr>
        <p:spPr>
          <a:xfrm>
            <a:off x="3274200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8" name="tlr4_component_path_17"/>
          <p:cNvSpPr/>
          <p:nvPr/>
        </p:nvSpPr>
        <p:spPr>
          <a:xfrm>
            <a:off x="3332804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9" name="tlr4_component_path_18"/>
          <p:cNvSpPr/>
          <p:nvPr/>
        </p:nvSpPr>
        <p:spPr>
          <a:xfrm>
            <a:off x="3359207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0" name="tlr4_component_oval_19"/>
          <p:cNvSpPr/>
          <p:nvPr/>
        </p:nvSpPr>
        <p:spPr>
          <a:xfrm>
            <a:off x="3338462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1" name="tlr4_component_oval_20"/>
          <p:cNvSpPr/>
          <p:nvPr/>
        </p:nvSpPr>
        <p:spPr>
          <a:xfrm>
            <a:off x="3338462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2" name="tlr4_component_path_21"/>
          <p:cNvSpPr/>
          <p:nvPr/>
        </p:nvSpPr>
        <p:spPr>
          <a:xfrm>
            <a:off x="3397066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3" name="tlr4_component_path_22"/>
          <p:cNvSpPr/>
          <p:nvPr/>
        </p:nvSpPr>
        <p:spPr>
          <a:xfrm>
            <a:off x="3423469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4" name="tlr4_component_oval_23"/>
          <p:cNvSpPr/>
          <p:nvPr/>
        </p:nvSpPr>
        <p:spPr>
          <a:xfrm>
            <a:off x="3402724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5" name="tlr4_component_oval_24"/>
          <p:cNvSpPr/>
          <p:nvPr/>
        </p:nvSpPr>
        <p:spPr>
          <a:xfrm>
            <a:off x="3402724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6" name="tlr4_component_path_25"/>
          <p:cNvSpPr/>
          <p:nvPr/>
        </p:nvSpPr>
        <p:spPr>
          <a:xfrm>
            <a:off x="3461328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7" name="tlr4_component_path_26"/>
          <p:cNvSpPr/>
          <p:nvPr/>
        </p:nvSpPr>
        <p:spPr>
          <a:xfrm>
            <a:off x="3487731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8" name="tlr4_component_oval_27"/>
          <p:cNvSpPr/>
          <p:nvPr/>
        </p:nvSpPr>
        <p:spPr>
          <a:xfrm>
            <a:off x="3466986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9" name="tlr4_component_oval_28"/>
          <p:cNvSpPr/>
          <p:nvPr/>
        </p:nvSpPr>
        <p:spPr>
          <a:xfrm>
            <a:off x="3466986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0" name="tlr4_component_path_29"/>
          <p:cNvSpPr/>
          <p:nvPr/>
        </p:nvSpPr>
        <p:spPr>
          <a:xfrm>
            <a:off x="3525590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1" name="tlr4_component_path_30"/>
          <p:cNvSpPr/>
          <p:nvPr/>
        </p:nvSpPr>
        <p:spPr>
          <a:xfrm>
            <a:off x="3551993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59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59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2" name="tlr4_component_oval_31"/>
          <p:cNvSpPr/>
          <p:nvPr/>
        </p:nvSpPr>
        <p:spPr>
          <a:xfrm>
            <a:off x="3531248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3" name="tlr4_component_oval_32"/>
          <p:cNvSpPr/>
          <p:nvPr/>
        </p:nvSpPr>
        <p:spPr>
          <a:xfrm>
            <a:off x="3531248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4" name="tlr4_component_path_33"/>
          <p:cNvSpPr/>
          <p:nvPr/>
        </p:nvSpPr>
        <p:spPr>
          <a:xfrm>
            <a:off x="3589852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5" name="tlr4_component_path_34"/>
          <p:cNvSpPr/>
          <p:nvPr/>
        </p:nvSpPr>
        <p:spPr>
          <a:xfrm>
            <a:off x="3616255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59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59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6" name="tlr4_component_oval_35"/>
          <p:cNvSpPr/>
          <p:nvPr/>
        </p:nvSpPr>
        <p:spPr>
          <a:xfrm>
            <a:off x="3595510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7" name="tlr4_component_oval_36"/>
          <p:cNvSpPr/>
          <p:nvPr/>
        </p:nvSpPr>
        <p:spPr>
          <a:xfrm>
            <a:off x="3595510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8" name="tlr4_component_path_37"/>
          <p:cNvSpPr/>
          <p:nvPr/>
        </p:nvSpPr>
        <p:spPr>
          <a:xfrm>
            <a:off x="3654114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9" name="tlr4_component_path_38"/>
          <p:cNvSpPr/>
          <p:nvPr/>
        </p:nvSpPr>
        <p:spPr>
          <a:xfrm>
            <a:off x="3680517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59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59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0" name="tlr4_component_oval_39"/>
          <p:cNvSpPr/>
          <p:nvPr/>
        </p:nvSpPr>
        <p:spPr>
          <a:xfrm>
            <a:off x="3659772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1" name="tlr4_component_oval_40"/>
          <p:cNvSpPr/>
          <p:nvPr/>
        </p:nvSpPr>
        <p:spPr>
          <a:xfrm>
            <a:off x="3659772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2" name="tlr4_component_path_41"/>
          <p:cNvSpPr/>
          <p:nvPr/>
        </p:nvSpPr>
        <p:spPr>
          <a:xfrm>
            <a:off x="3718376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59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2" y="146992"/>
                  <a:pt x="18859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3" name="tlr4_component_path_42"/>
          <p:cNvSpPr/>
          <p:nvPr/>
        </p:nvSpPr>
        <p:spPr>
          <a:xfrm>
            <a:off x="3744779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59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59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4" name="tlr4_component_oval_43"/>
          <p:cNvSpPr/>
          <p:nvPr/>
        </p:nvSpPr>
        <p:spPr>
          <a:xfrm>
            <a:off x="3724034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5" name="tlr4_component_oval_44"/>
          <p:cNvSpPr/>
          <p:nvPr/>
        </p:nvSpPr>
        <p:spPr>
          <a:xfrm>
            <a:off x="3724034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6" name="tlr4_component_path_45"/>
          <p:cNvSpPr/>
          <p:nvPr/>
        </p:nvSpPr>
        <p:spPr>
          <a:xfrm>
            <a:off x="3782638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59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2" y="146992"/>
                  <a:pt x="18859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7" name="tlr4_component_path_46"/>
          <p:cNvSpPr/>
          <p:nvPr/>
        </p:nvSpPr>
        <p:spPr>
          <a:xfrm>
            <a:off x="3809041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8" name="tlr4_component_oval_47"/>
          <p:cNvSpPr/>
          <p:nvPr/>
        </p:nvSpPr>
        <p:spPr>
          <a:xfrm>
            <a:off x="3788296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9" name="tlr4_component_oval_48"/>
          <p:cNvSpPr/>
          <p:nvPr/>
        </p:nvSpPr>
        <p:spPr>
          <a:xfrm>
            <a:off x="3788296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0" name="tlr4_component_path_49"/>
          <p:cNvSpPr/>
          <p:nvPr/>
        </p:nvSpPr>
        <p:spPr>
          <a:xfrm>
            <a:off x="3846900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59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2" y="146992"/>
                  <a:pt x="18859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1" name="tlr4_component_path_50"/>
          <p:cNvSpPr/>
          <p:nvPr/>
        </p:nvSpPr>
        <p:spPr>
          <a:xfrm>
            <a:off x="3873303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2" name="tlr4_component_oval_51"/>
          <p:cNvSpPr/>
          <p:nvPr/>
        </p:nvSpPr>
        <p:spPr>
          <a:xfrm>
            <a:off x="3852558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3" name="tlr4_component_oval_52"/>
          <p:cNvSpPr/>
          <p:nvPr/>
        </p:nvSpPr>
        <p:spPr>
          <a:xfrm>
            <a:off x="3852558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4" name="tlr4_component_path_53"/>
          <p:cNvSpPr/>
          <p:nvPr/>
        </p:nvSpPr>
        <p:spPr>
          <a:xfrm>
            <a:off x="3911162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59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2" y="146992"/>
                  <a:pt x="18859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5" name="tlr4_component_path_54"/>
          <p:cNvSpPr/>
          <p:nvPr/>
        </p:nvSpPr>
        <p:spPr>
          <a:xfrm>
            <a:off x="3937565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59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59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6" name="tlr4_component_oval_55"/>
          <p:cNvSpPr/>
          <p:nvPr/>
        </p:nvSpPr>
        <p:spPr>
          <a:xfrm>
            <a:off x="3916820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7" name="tlr4_component_oval_56"/>
          <p:cNvSpPr/>
          <p:nvPr/>
        </p:nvSpPr>
        <p:spPr>
          <a:xfrm>
            <a:off x="3916820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8" name="tlr4_component_path_57"/>
          <p:cNvSpPr/>
          <p:nvPr/>
        </p:nvSpPr>
        <p:spPr>
          <a:xfrm>
            <a:off x="3975424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9" name="tlr4_component_path_58"/>
          <p:cNvSpPr/>
          <p:nvPr/>
        </p:nvSpPr>
        <p:spPr>
          <a:xfrm>
            <a:off x="4001827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0" name="tlr4_component_oval_59"/>
          <p:cNvSpPr/>
          <p:nvPr/>
        </p:nvSpPr>
        <p:spPr>
          <a:xfrm>
            <a:off x="3981082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1" name="tlr4_component_oval_60"/>
          <p:cNvSpPr/>
          <p:nvPr/>
        </p:nvSpPr>
        <p:spPr>
          <a:xfrm>
            <a:off x="3981082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2" name="tlr4_component_path_61"/>
          <p:cNvSpPr/>
          <p:nvPr/>
        </p:nvSpPr>
        <p:spPr>
          <a:xfrm>
            <a:off x="4039686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3" name="tlr4_component_path_62"/>
          <p:cNvSpPr/>
          <p:nvPr/>
        </p:nvSpPr>
        <p:spPr>
          <a:xfrm>
            <a:off x="4066089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4" name="tlr4_component_oval_63"/>
          <p:cNvSpPr/>
          <p:nvPr/>
        </p:nvSpPr>
        <p:spPr>
          <a:xfrm>
            <a:off x="4045344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5" name="tlr4_component_oval_64"/>
          <p:cNvSpPr/>
          <p:nvPr/>
        </p:nvSpPr>
        <p:spPr>
          <a:xfrm>
            <a:off x="4045344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6" name="tlr4_component_path_65"/>
          <p:cNvSpPr/>
          <p:nvPr/>
        </p:nvSpPr>
        <p:spPr>
          <a:xfrm>
            <a:off x="4103948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7" name="tlr4_component_path_66"/>
          <p:cNvSpPr/>
          <p:nvPr/>
        </p:nvSpPr>
        <p:spPr>
          <a:xfrm>
            <a:off x="4130351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8" name="tlr4_component_oval_67"/>
          <p:cNvSpPr/>
          <p:nvPr/>
        </p:nvSpPr>
        <p:spPr>
          <a:xfrm>
            <a:off x="4109606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9" name="tlr4_component_oval_68"/>
          <p:cNvSpPr/>
          <p:nvPr/>
        </p:nvSpPr>
        <p:spPr>
          <a:xfrm>
            <a:off x="4109606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0" name="tlr4_component_path_69"/>
          <p:cNvSpPr/>
          <p:nvPr/>
        </p:nvSpPr>
        <p:spPr>
          <a:xfrm>
            <a:off x="4168210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1" name="tlr4_component_path_70"/>
          <p:cNvSpPr/>
          <p:nvPr/>
        </p:nvSpPr>
        <p:spPr>
          <a:xfrm>
            <a:off x="4194613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2" name="tlr4_component_oval_71"/>
          <p:cNvSpPr/>
          <p:nvPr/>
        </p:nvSpPr>
        <p:spPr>
          <a:xfrm>
            <a:off x="4173868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3" name="tlr4_component_oval_72"/>
          <p:cNvSpPr/>
          <p:nvPr/>
        </p:nvSpPr>
        <p:spPr>
          <a:xfrm>
            <a:off x="4173868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4" name="tlr4_component_path_73"/>
          <p:cNvSpPr/>
          <p:nvPr/>
        </p:nvSpPr>
        <p:spPr>
          <a:xfrm>
            <a:off x="4232472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5" name="tlr4_component_path_74"/>
          <p:cNvSpPr/>
          <p:nvPr/>
        </p:nvSpPr>
        <p:spPr>
          <a:xfrm>
            <a:off x="4258875" y="1393752"/>
            <a:ext cx="36462" cy="200656"/>
          </a:xfrm>
          <a:custGeom>
            <a:avLst/>
            <a:gdLst/>
            <a:ahLst/>
            <a:cxnLst/>
            <a:rect l="0" t="0" r="r" b="b"/>
            <a:pathLst>
              <a:path w="36462" h="200656">
                <a:moveTo>
                  <a:pt x="18860" y="0"/>
                </a:moveTo>
                <a:cubicBezTo>
                  <a:pt x="5029" y="53664"/>
                  <a:pt x="36462" y="75829"/>
                  <a:pt x="11316" y="100328"/>
                </a:cubicBezTo>
                <a:cubicBezTo>
                  <a:pt x="0" y="124827"/>
                  <a:pt x="31433" y="146992"/>
                  <a:pt x="18860" y="200656"/>
                </a:cubicBezTo>
              </a:path>
            </a:pathLst>
          </a:custGeom>
          <a:noFill/>
          <a:ln w="9744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6" name="tlr4_component_oval_75"/>
          <p:cNvSpPr/>
          <p:nvPr/>
        </p:nvSpPr>
        <p:spPr>
          <a:xfrm>
            <a:off x="4238130" y="1335422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7" name="tlr4_component_oval_76"/>
          <p:cNvSpPr/>
          <p:nvPr/>
        </p:nvSpPr>
        <p:spPr>
          <a:xfrm>
            <a:off x="4238130" y="1592075"/>
            <a:ext cx="52807" cy="60664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11787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8" name="tlr4_component_path_77"/>
          <p:cNvSpPr/>
          <p:nvPr/>
        </p:nvSpPr>
        <p:spPr>
          <a:xfrm>
            <a:off x="3404540" y="630791"/>
            <a:ext cx="246431" cy="921620"/>
          </a:xfrm>
          <a:custGeom>
            <a:avLst/>
            <a:gdLst/>
            <a:ahLst/>
            <a:cxnLst/>
            <a:rect l="0" t="0" r="r" b="b"/>
            <a:pathLst>
              <a:path w="246431" h="921620">
                <a:moveTo>
                  <a:pt x="246431" y="909953"/>
                </a:moveTo>
                <a:lnTo>
                  <a:pt x="246431" y="373314"/>
                </a:lnTo>
                <a:cubicBezTo>
                  <a:pt x="246431" y="233321"/>
                  <a:pt x="246431" y="81662"/>
                  <a:pt x="161940" y="46664"/>
                </a:cubicBezTo>
                <a:cubicBezTo>
                  <a:pt x="77450" y="0"/>
                  <a:pt x="21123" y="104995"/>
                  <a:pt x="35204" y="209989"/>
                </a:cubicBezTo>
                <a:cubicBezTo>
                  <a:pt x="35204" y="326650"/>
                  <a:pt x="98572" y="349982"/>
                  <a:pt x="140818" y="303318"/>
                </a:cubicBezTo>
                <a:lnTo>
                  <a:pt x="140818" y="443311"/>
                </a:lnTo>
                <a:cubicBezTo>
                  <a:pt x="70409" y="396646"/>
                  <a:pt x="0" y="478309"/>
                  <a:pt x="7041" y="571637"/>
                </a:cubicBezTo>
                <a:cubicBezTo>
                  <a:pt x="7041" y="699964"/>
                  <a:pt x="77450" y="723296"/>
                  <a:pt x="105613" y="606636"/>
                </a:cubicBezTo>
                <a:cubicBezTo>
                  <a:pt x="126736" y="536639"/>
                  <a:pt x="154899" y="536639"/>
                  <a:pt x="168981" y="571637"/>
                </a:cubicBezTo>
                <a:lnTo>
                  <a:pt x="168981" y="921620"/>
                </a:lnTo>
                <a:close/>
              </a:path>
            </a:pathLst>
          </a:custGeom>
          <a:gradFill rotWithShape="1">
            <a:gsLst>
              <a:gs pos="0">
                <a:srgbClr val="D4E9FA"/>
              </a:gs>
              <a:gs pos="33000">
                <a:srgbClr val="9CCBF0"/>
              </a:gs>
              <a:gs pos="70000">
                <a:srgbClr val="6FA7D6"/>
              </a:gs>
              <a:gs pos="100000">
                <a:srgbClr val="4D8EBF"/>
              </a:gs>
            </a:gsLst>
            <a:lin ang="2700000" scaled="1"/>
          </a:gradFill>
          <a:ln w="13358" cap="rnd">
            <a:solidFill>
              <a:srgbClr val="2F6EA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9" name="tlr4_component_path_78"/>
          <p:cNvSpPr/>
          <p:nvPr/>
        </p:nvSpPr>
        <p:spPr>
          <a:xfrm>
            <a:off x="3481989" y="700787"/>
            <a:ext cx="133777" cy="174991"/>
          </a:xfrm>
          <a:custGeom>
            <a:avLst/>
            <a:gdLst/>
            <a:ahLst/>
            <a:cxnLst/>
            <a:rect l="0" t="0" r="r" b="b"/>
            <a:pathLst>
              <a:path w="133777" h="174991">
                <a:moveTo>
                  <a:pt x="133777" y="174991"/>
                </a:moveTo>
                <a:cubicBezTo>
                  <a:pt x="133777" y="46664"/>
                  <a:pt x="35204" y="0"/>
                  <a:pt x="0" y="81662"/>
                </a:cubicBezTo>
              </a:path>
            </a:pathLst>
          </a:custGeom>
          <a:noFill/>
          <a:ln w="12573" cap="rnd">
            <a:solidFill>
              <a:srgbClr val="D5EAF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0" name="tlr4_component_path_79"/>
          <p:cNvSpPr/>
          <p:nvPr/>
        </p:nvSpPr>
        <p:spPr>
          <a:xfrm>
            <a:off x="3622807" y="1027437"/>
            <a:ext cx="95" cy="431645"/>
          </a:xfrm>
          <a:custGeom>
            <a:avLst/>
            <a:gdLst/>
            <a:ahLst/>
            <a:cxnLst/>
            <a:rect l="0" t="0" r="r" b="b"/>
            <a:pathLst>
              <a:path w="95" h="431645">
                <a:moveTo>
                  <a:pt x="0" y="0"/>
                </a:moveTo>
                <a:lnTo>
                  <a:pt x="0" y="431645"/>
                </a:lnTo>
              </a:path>
            </a:pathLst>
          </a:custGeom>
          <a:noFill/>
          <a:ln w="10215" cap="rnd">
            <a:solidFill>
              <a:srgbClr val="D5EAF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1" name="tlr4_component_oval_80"/>
          <p:cNvSpPr/>
          <p:nvPr/>
        </p:nvSpPr>
        <p:spPr>
          <a:xfrm>
            <a:off x="3612246" y="1482414"/>
            <a:ext cx="67592" cy="272986"/>
          </a:xfrm>
          <a:prstGeom prst="ellipse">
            <a:avLst/>
          </a:prstGeom>
          <a:gradFill rotWithShape="1">
            <a:gsLst>
              <a:gs pos="0">
                <a:srgbClr val="B7DEF5"/>
              </a:gs>
              <a:gs pos="45000">
                <a:srgbClr val="6BAAD5"/>
              </a:gs>
              <a:gs pos="100000">
                <a:srgbClr val="407FAF"/>
              </a:gs>
            </a:gsLst>
            <a:lin ang="1500000" scaled="1"/>
          </a:gradFill>
          <a:ln w="12573">
            <a:solidFill>
              <a:srgbClr val="27639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2" name="tlr4_component_path_81"/>
          <p:cNvSpPr/>
          <p:nvPr/>
        </p:nvSpPr>
        <p:spPr>
          <a:xfrm>
            <a:off x="3629820" y="1540745"/>
            <a:ext cx="95" cy="128327"/>
          </a:xfrm>
          <a:custGeom>
            <a:avLst/>
            <a:gdLst/>
            <a:ahLst/>
            <a:cxnLst/>
            <a:rect l="0" t="0" r="r" b="b"/>
            <a:pathLst>
              <a:path w="95" h="128327">
                <a:moveTo>
                  <a:pt x="0" y="0"/>
                </a:moveTo>
                <a:lnTo>
                  <a:pt x="0" y="128327"/>
                </a:lnTo>
              </a:path>
            </a:pathLst>
          </a:custGeom>
          <a:noFill/>
          <a:ln w="8643" cap="rnd">
            <a:solidFill>
              <a:srgbClr val="C1E2F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3" name="tlr4_component_path_82"/>
          <p:cNvSpPr/>
          <p:nvPr/>
        </p:nvSpPr>
        <p:spPr>
          <a:xfrm>
            <a:off x="3721379" y="630791"/>
            <a:ext cx="246431" cy="921620"/>
          </a:xfrm>
          <a:custGeom>
            <a:avLst/>
            <a:gdLst/>
            <a:ahLst/>
            <a:cxnLst/>
            <a:rect l="0" t="0" r="r" b="b"/>
            <a:pathLst>
              <a:path w="246431" h="921620">
                <a:moveTo>
                  <a:pt x="0" y="909953"/>
                </a:moveTo>
                <a:lnTo>
                  <a:pt x="0" y="373314"/>
                </a:lnTo>
                <a:cubicBezTo>
                  <a:pt x="0" y="233321"/>
                  <a:pt x="0" y="81662"/>
                  <a:pt x="84491" y="46664"/>
                </a:cubicBezTo>
                <a:cubicBezTo>
                  <a:pt x="168981" y="0"/>
                  <a:pt x="225308" y="104995"/>
                  <a:pt x="211226" y="209989"/>
                </a:cubicBezTo>
                <a:cubicBezTo>
                  <a:pt x="211226" y="326650"/>
                  <a:pt x="147858" y="349982"/>
                  <a:pt x="105613" y="303318"/>
                </a:cubicBezTo>
                <a:lnTo>
                  <a:pt x="105613" y="443311"/>
                </a:lnTo>
                <a:cubicBezTo>
                  <a:pt x="176022" y="396646"/>
                  <a:pt x="246431" y="478309"/>
                  <a:pt x="239390" y="571637"/>
                </a:cubicBezTo>
                <a:cubicBezTo>
                  <a:pt x="239390" y="699964"/>
                  <a:pt x="168981" y="723296"/>
                  <a:pt x="140818" y="606636"/>
                </a:cubicBezTo>
                <a:cubicBezTo>
                  <a:pt x="119695" y="536639"/>
                  <a:pt x="91531" y="536639"/>
                  <a:pt x="77450" y="571637"/>
                </a:cubicBezTo>
                <a:lnTo>
                  <a:pt x="77450" y="921620"/>
                </a:lnTo>
                <a:close/>
              </a:path>
            </a:pathLst>
          </a:custGeom>
          <a:gradFill rotWithShape="1">
            <a:gsLst>
              <a:gs pos="0">
                <a:srgbClr val="D4E9FA"/>
              </a:gs>
              <a:gs pos="33000">
                <a:srgbClr val="9CCBF0"/>
              </a:gs>
              <a:gs pos="70000">
                <a:srgbClr val="6FA7D6"/>
              </a:gs>
              <a:gs pos="100000">
                <a:srgbClr val="4D8EBF"/>
              </a:gs>
            </a:gsLst>
            <a:lin ang="8100000" scaled="1"/>
          </a:gradFill>
          <a:ln w="13358" cap="rnd">
            <a:solidFill>
              <a:srgbClr val="2F6EA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4" name="tlr4_component_path_83"/>
          <p:cNvSpPr/>
          <p:nvPr/>
        </p:nvSpPr>
        <p:spPr>
          <a:xfrm>
            <a:off x="3756584" y="700787"/>
            <a:ext cx="133777" cy="174991"/>
          </a:xfrm>
          <a:custGeom>
            <a:avLst/>
            <a:gdLst/>
            <a:ahLst/>
            <a:cxnLst/>
            <a:rect l="0" t="0" r="r" b="b"/>
            <a:pathLst>
              <a:path w="133777" h="174991">
                <a:moveTo>
                  <a:pt x="0" y="174991"/>
                </a:moveTo>
                <a:cubicBezTo>
                  <a:pt x="0" y="46664"/>
                  <a:pt x="98572" y="0"/>
                  <a:pt x="133777" y="81662"/>
                </a:cubicBezTo>
              </a:path>
            </a:pathLst>
          </a:custGeom>
          <a:noFill/>
          <a:ln w="12573" cap="rnd">
            <a:solidFill>
              <a:srgbClr val="D5EAF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5" name="tlr4_component_path_84"/>
          <p:cNvSpPr/>
          <p:nvPr/>
        </p:nvSpPr>
        <p:spPr>
          <a:xfrm>
            <a:off x="3749543" y="1027437"/>
            <a:ext cx="95" cy="431645"/>
          </a:xfrm>
          <a:custGeom>
            <a:avLst/>
            <a:gdLst/>
            <a:ahLst/>
            <a:cxnLst/>
            <a:rect l="0" t="0" r="r" b="b"/>
            <a:pathLst>
              <a:path w="95" h="431645">
                <a:moveTo>
                  <a:pt x="0" y="0"/>
                </a:moveTo>
                <a:lnTo>
                  <a:pt x="0" y="431645"/>
                </a:lnTo>
              </a:path>
            </a:pathLst>
          </a:custGeom>
          <a:noFill/>
          <a:ln w="10215" cap="rnd">
            <a:solidFill>
              <a:srgbClr val="D5EAF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6" name="tlr4_component_oval_85"/>
          <p:cNvSpPr/>
          <p:nvPr/>
        </p:nvSpPr>
        <p:spPr>
          <a:xfrm>
            <a:off x="3692512" y="1482414"/>
            <a:ext cx="67592" cy="272986"/>
          </a:xfrm>
          <a:prstGeom prst="ellipse">
            <a:avLst/>
          </a:prstGeom>
          <a:gradFill rotWithShape="1">
            <a:gsLst>
              <a:gs pos="0">
                <a:srgbClr val="B7DEF5"/>
              </a:gs>
              <a:gs pos="45000">
                <a:srgbClr val="6BAAD5"/>
              </a:gs>
              <a:gs pos="100000">
                <a:srgbClr val="407FAF"/>
              </a:gs>
            </a:gsLst>
            <a:lin ang="1500000" scaled="1"/>
          </a:gradFill>
          <a:ln w="12573">
            <a:solidFill>
              <a:srgbClr val="27639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7" name="tlr4_component_path_86"/>
          <p:cNvSpPr/>
          <p:nvPr/>
        </p:nvSpPr>
        <p:spPr>
          <a:xfrm>
            <a:off x="3710086" y="1540745"/>
            <a:ext cx="95" cy="128327"/>
          </a:xfrm>
          <a:custGeom>
            <a:avLst/>
            <a:gdLst/>
            <a:ahLst/>
            <a:cxnLst/>
            <a:rect l="0" t="0" r="r" b="b"/>
            <a:pathLst>
              <a:path w="95" h="128327">
                <a:moveTo>
                  <a:pt x="0" y="0"/>
                </a:moveTo>
                <a:lnTo>
                  <a:pt x="0" y="128327"/>
                </a:lnTo>
              </a:path>
            </a:pathLst>
          </a:custGeom>
          <a:noFill/>
          <a:ln w="8643" cap="rnd">
            <a:solidFill>
              <a:srgbClr val="C1E2F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8" name="tmao_macrophage_component_path_1"/>
          <p:cNvSpPr/>
          <p:nvPr/>
        </p:nvSpPr>
        <p:spPr>
          <a:xfrm>
            <a:off x="2672011" y="3755232"/>
            <a:ext cx="757291" cy="762080"/>
          </a:xfrm>
          <a:custGeom>
            <a:avLst/>
            <a:gdLst/>
            <a:ahLst/>
            <a:cxnLst/>
            <a:rect l="0" t="0" r="r" b="b"/>
            <a:pathLst>
              <a:path w="757291" h="762080">
                <a:moveTo>
                  <a:pt x="756643" y="384958"/>
                </a:moveTo>
                <a:cubicBezTo>
                  <a:pt x="755994" y="392235"/>
                  <a:pt x="752112" y="399783"/>
                  <a:pt x="747382" y="406676"/>
                </a:cubicBezTo>
                <a:cubicBezTo>
                  <a:pt x="742653" y="413569"/>
                  <a:pt x="734809" y="420129"/>
                  <a:pt x="728264" y="426317"/>
                </a:cubicBezTo>
                <a:cubicBezTo>
                  <a:pt x="721718" y="432505"/>
                  <a:pt x="713625" y="438029"/>
                  <a:pt x="708109" y="443805"/>
                </a:cubicBezTo>
                <a:cubicBezTo>
                  <a:pt x="702594" y="449581"/>
                  <a:pt x="697699" y="454900"/>
                  <a:pt x="695169" y="460973"/>
                </a:cubicBezTo>
                <a:cubicBezTo>
                  <a:pt x="692638" y="467046"/>
                  <a:pt x="692363" y="473286"/>
                  <a:pt x="692926" y="480242"/>
                </a:cubicBezTo>
                <a:cubicBezTo>
                  <a:pt x="693489" y="487198"/>
                  <a:pt x="696581" y="494921"/>
                  <a:pt x="698547" y="502710"/>
                </a:cubicBezTo>
                <a:cubicBezTo>
                  <a:pt x="700513" y="510499"/>
                  <a:pt x="703846" y="519159"/>
                  <a:pt x="704722" y="526977"/>
                </a:cubicBezTo>
                <a:cubicBezTo>
                  <a:pt x="705598" y="534795"/>
                  <a:pt x="705934" y="542916"/>
                  <a:pt x="703802" y="549617"/>
                </a:cubicBezTo>
                <a:cubicBezTo>
                  <a:pt x="701669" y="556318"/>
                  <a:pt x="697404" y="562356"/>
                  <a:pt x="691929" y="567183"/>
                </a:cubicBezTo>
                <a:cubicBezTo>
                  <a:pt x="686455" y="572010"/>
                  <a:pt x="678411" y="575400"/>
                  <a:pt x="670954" y="578580"/>
                </a:cubicBezTo>
                <a:cubicBezTo>
                  <a:pt x="663497" y="581760"/>
                  <a:pt x="654378" y="583472"/>
                  <a:pt x="647188" y="586263"/>
                </a:cubicBezTo>
                <a:cubicBezTo>
                  <a:pt x="639997" y="589054"/>
                  <a:pt x="632844" y="591243"/>
                  <a:pt x="627813" y="595326"/>
                </a:cubicBezTo>
                <a:cubicBezTo>
                  <a:pt x="622782" y="599410"/>
                  <a:pt x="619329" y="604255"/>
                  <a:pt x="617001" y="610766"/>
                </a:cubicBezTo>
                <a:cubicBezTo>
                  <a:pt x="614674" y="617277"/>
                  <a:pt x="614493" y="625647"/>
                  <a:pt x="613845" y="634392"/>
                </a:cubicBezTo>
                <a:cubicBezTo>
                  <a:pt x="613198" y="643137"/>
                  <a:pt x="614044" y="653875"/>
                  <a:pt x="613114" y="663234"/>
                </a:cubicBezTo>
                <a:cubicBezTo>
                  <a:pt x="612184" y="672592"/>
                  <a:pt x="611296" y="682900"/>
                  <a:pt x="608265" y="690544"/>
                </a:cubicBezTo>
                <a:cubicBezTo>
                  <a:pt x="605234" y="698187"/>
                  <a:pt x="600811" y="705008"/>
                  <a:pt x="594929" y="709093"/>
                </a:cubicBezTo>
                <a:cubicBezTo>
                  <a:pt x="589046" y="713177"/>
                  <a:pt x="581105" y="714850"/>
                  <a:pt x="572969" y="715049"/>
                </a:cubicBezTo>
                <a:cubicBezTo>
                  <a:pt x="564834" y="715247"/>
                  <a:pt x="555011" y="712508"/>
                  <a:pt x="546116" y="710285"/>
                </a:cubicBezTo>
                <a:cubicBezTo>
                  <a:pt x="537221" y="708063"/>
                  <a:pt x="527739" y="703789"/>
                  <a:pt x="519600" y="701712"/>
                </a:cubicBezTo>
                <a:cubicBezTo>
                  <a:pt x="511461" y="699636"/>
                  <a:pt x="503897" y="697402"/>
                  <a:pt x="497281" y="697829"/>
                </a:cubicBezTo>
                <a:cubicBezTo>
                  <a:pt x="490666" y="698255"/>
                  <a:pt x="485232" y="700447"/>
                  <a:pt x="479906" y="704272"/>
                </a:cubicBezTo>
                <a:cubicBezTo>
                  <a:pt x="474581" y="708096"/>
                  <a:pt x="470260" y="714611"/>
                  <a:pt x="465330" y="720774"/>
                </a:cubicBezTo>
                <a:cubicBezTo>
                  <a:pt x="460400" y="726937"/>
                  <a:pt x="455761" y="735206"/>
                  <a:pt x="450326" y="741249"/>
                </a:cubicBezTo>
                <a:cubicBezTo>
                  <a:pt x="444890" y="747293"/>
                  <a:pt x="439022" y="753646"/>
                  <a:pt x="432718" y="757035"/>
                </a:cubicBezTo>
                <a:cubicBezTo>
                  <a:pt x="426414" y="760424"/>
                  <a:pt x="419391" y="762080"/>
                  <a:pt x="412503" y="761582"/>
                </a:cubicBezTo>
                <a:cubicBezTo>
                  <a:pt x="405614" y="761083"/>
                  <a:pt x="398267" y="757677"/>
                  <a:pt x="391388" y="754044"/>
                </a:cubicBezTo>
                <a:cubicBezTo>
                  <a:pt x="384508" y="750411"/>
                  <a:pt x="377705" y="744212"/>
                  <a:pt x="371227" y="739784"/>
                </a:cubicBezTo>
                <a:cubicBezTo>
                  <a:pt x="364748" y="735357"/>
                  <a:pt x="358716" y="730046"/>
                  <a:pt x="352517" y="727479"/>
                </a:cubicBezTo>
                <a:cubicBezTo>
                  <a:pt x="346317" y="724913"/>
                  <a:pt x="340477" y="723578"/>
                  <a:pt x="334027" y="724386"/>
                </a:cubicBezTo>
                <a:cubicBezTo>
                  <a:pt x="327578" y="725193"/>
                  <a:pt x="321000" y="728625"/>
                  <a:pt x="313819" y="732326"/>
                </a:cubicBezTo>
                <a:cubicBezTo>
                  <a:pt x="306638" y="736027"/>
                  <a:pt x="298812" y="742254"/>
                  <a:pt x="290941" y="746592"/>
                </a:cubicBezTo>
                <a:cubicBezTo>
                  <a:pt x="283070" y="750929"/>
                  <a:pt x="274445" y="756239"/>
                  <a:pt x="266593" y="758351"/>
                </a:cubicBezTo>
                <a:cubicBezTo>
                  <a:pt x="258741" y="760463"/>
                  <a:pt x="250622" y="761355"/>
                  <a:pt x="243830" y="759264"/>
                </a:cubicBezTo>
                <a:cubicBezTo>
                  <a:pt x="237038" y="757174"/>
                  <a:pt x="230845" y="752181"/>
                  <a:pt x="225842" y="745807"/>
                </a:cubicBezTo>
                <a:cubicBezTo>
                  <a:pt x="220839" y="739433"/>
                  <a:pt x="217161" y="729853"/>
                  <a:pt x="213810" y="721019"/>
                </a:cubicBezTo>
                <a:cubicBezTo>
                  <a:pt x="210459" y="712185"/>
                  <a:pt x="208512" y="701343"/>
                  <a:pt x="205736" y="692803"/>
                </a:cubicBezTo>
                <a:cubicBezTo>
                  <a:pt x="202959" y="684263"/>
                  <a:pt x="200858" y="675751"/>
                  <a:pt x="197151" y="669779"/>
                </a:cubicBezTo>
                <a:cubicBezTo>
                  <a:pt x="193444" y="663808"/>
                  <a:pt x="189212" y="659671"/>
                  <a:pt x="183495" y="656973"/>
                </a:cubicBezTo>
                <a:cubicBezTo>
                  <a:pt x="177778" y="654275"/>
                  <a:pt x="170533" y="654096"/>
                  <a:pt x="162851" y="653592"/>
                </a:cubicBezTo>
                <a:cubicBezTo>
                  <a:pt x="155170" y="653089"/>
                  <a:pt x="145782" y="654410"/>
                  <a:pt x="137406" y="653953"/>
                </a:cubicBezTo>
                <a:cubicBezTo>
                  <a:pt x="129031" y="653496"/>
                  <a:pt x="119789" y="653273"/>
                  <a:pt x="112598" y="650851"/>
                </a:cubicBezTo>
                <a:cubicBezTo>
                  <a:pt x="105407" y="648430"/>
                  <a:pt x="98813" y="644665"/>
                  <a:pt x="94260" y="639424"/>
                </a:cubicBezTo>
                <a:cubicBezTo>
                  <a:pt x="89706" y="634182"/>
                  <a:pt x="87036" y="626856"/>
                  <a:pt x="85277" y="619401"/>
                </a:cubicBezTo>
                <a:cubicBezTo>
                  <a:pt x="83517" y="611947"/>
                  <a:pt x="83991" y="602798"/>
                  <a:pt x="83703" y="594697"/>
                </a:cubicBezTo>
                <a:cubicBezTo>
                  <a:pt x="83415" y="586597"/>
                  <a:pt x="84503" y="577981"/>
                  <a:pt x="83548" y="570796"/>
                </a:cubicBezTo>
                <a:cubicBezTo>
                  <a:pt x="82593" y="563611"/>
                  <a:pt x="81361" y="557144"/>
                  <a:pt x="77972" y="551587"/>
                </a:cubicBezTo>
                <a:cubicBezTo>
                  <a:pt x="74583" y="546030"/>
                  <a:pt x="69369" y="541793"/>
                  <a:pt x="63213" y="537456"/>
                </a:cubicBezTo>
                <a:cubicBezTo>
                  <a:pt x="57058" y="533120"/>
                  <a:pt x="48537" y="529819"/>
                  <a:pt x="41042" y="525567"/>
                </a:cubicBezTo>
                <a:cubicBezTo>
                  <a:pt x="33546" y="521315"/>
                  <a:pt x="24540" y="517213"/>
                  <a:pt x="18239" y="511944"/>
                </a:cubicBezTo>
                <a:cubicBezTo>
                  <a:pt x="11937" y="506675"/>
                  <a:pt x="6004" y="500662"/>
                  <a:pt x="3235" y="493953"/>
                </a:cubicBezTo>
                <a:cubicBezTo>
                  <a:pt x="466" y="487243"/>
                  <a:pt x="0" y="479423"/>
                  <a:pt x="1624" y="471687"/>
                </a:cubicBezTo>
                <a:cubicBezTo>
                  <a:pt x="3249" y="463951"/>
                  <a:pt x="8121" y="455419"/>
                  <a:pt x="12982" y="447536"/>
                </a:cubicBezTo>
                <a:cubicBezTo>
                  <a:pt x="17843" y="439654"/>
                  <a:pt x="25352" y="431690"/>
                  <a:pt x="30791" y="424394"/>
                </a:cubicBezTo>
                <a:cubicBezTo>
                  <a:pt x="36229" y="417097"/>
                  <a:pt x="42431" y="410331"/>
                  <a:pt x="45611" y="403758"/>
                </a:cubicBezTo>
                <a:cubicBezTo>
                  <a:pt x="48791" y="397186"/>
                  <a:pt x="50517" y="391263"/>
                  <a:pt x="49869" y="384958"/>
                </a:cubicBezTo>
                <a:cubicBezTo>
                  <a:pt x="49220" y="378654"/>
                  <a:pt x="45709" y="372600"/>
                  <a:pt x="41720" y="365934"/>
                </a:cubicBezTo>
                <a:cubicBezTo>
                  <a:pt x="37731" y="359268"/>
                  <a:pt x="31000" y="352268"/>
                  <a:pt x="25934" y="344961"/>
                </a:cubicBezTo>
                <a:cubicBezTo>
                  <a:pt x="20867" y="337653"/>
                  <a:pt x="14624" y="329703"/>
                  <a:pt x="11321" y="322090"/>
                </a:cubicBezTo>
                <a:cubicBezTo>
                  <a:pt x="8018" y="314478"/>
                  <a:pt x="5706" y="306451"/>
                  <a:pt x="6115" y="299283"/>
                </a:cubicBezTo>
                <a:cubicBezTo>
                  <a:pt x="6524" y="292116"/>
                  <a:pt x="9554" y="285180"/>
                  <a:pt x="13774" y="279086"/>
                </a:cubicBezTo>
                <a:cubicBezTo>
                  <a:pt x="17994" y="272992"/>
                  <a:pt x="25106" y="267750"/>
                  <a:pt x="31435" y="262720"/>
                </a:cubicBezTo>
                <a:cubicBezTo>
                  <a:pt x="37764" y="257691"/>
                  <a:pt x="45817" y="253638"/>
                  <a:pt x="51748" y="248909"/>
                </a:cubicBezTo>
                <a:cubicBezTo>
                  <a:pt x="57679" y="244180"/>
                  <a:pt x="63421" y="239880"/>
                  <a:pt x="67020" y="234345"/>
                </a:cubicBezTo>
                <a:cubicBezTo>
                  <a:pt x="70619" y="228811"/>
                  <a:pt x="72429" y="222759"/>
                  <a:pt x="73344" y="215700"/>
                </a:cubicBezTo>
                <a:cubicBezTo>
                  <a:pt x="74259" y="208641"/>
                  <a:pt x="72940" y="200310"/>
                  <a:pt x="72512" y="191991"/>
                </a:cubicBezTo>
                <a:cubicBezTo>
                  <a:pt x="72083" y="183672"/>
                  <a:pt x="70317" y="174070"/>
                  <a:pt x="70770" y="165785"/>
                </a:cubicBezTo>
                <a:cubicBezTo>
                  <a:pt x="71224" y="157500"/>
                  <a:pt x="72029" y="148816"/>
                  <a:pt x="75234" y="142282"/>
                </a:cubicBezTo>
                <a:cubicBezTo>
                  <a:pt x="78439" y="135748"/>
                  <a:pt x="83527" y="130196"/>
                  <a:pt x="90001" y="126581"/>
                </a:cubicBezTo>
                <a:cubicBezTo>
                  <a:pt x="96475" y="122965"/>
                  <a:pt x="105388" y="121448"/>
                  <a:pt x="114081" y="120590"/>
                </a:cubicBezTo>
                <a:cubicBezTo>
                  <a:pt x="122774" y="119731"/>
                  <a:pt x="133238" y="121121"/>
                  <a:pt x="142158" y="121430"/>
                </a:cubicBezTo>
                <a:cubicBezTo>
                  <a:pt x="151077" y="121740"/>
                  <a:pt x="160301" y="123269"/>
                  <a:pt x="167598" y="122444"/>
                </a:cubicBezTo>
                <a:cubicBezTo>
                  <a:pt x="174895" y="121620"/>
                  <a:pt x="181048" y="120259"/>
                  <a:pt x="185939" y="116485"/>
                </a:cubicBezTo>
                <a:cubicBezTo>
                  <a:pt x="190830" y="112710"/>
                  <a:pt x="193893" y="106823"/>
                  <a:pt x="196943" y="99797"/>
                </a:cubicBezTo>
                <a:cubicBezTo>
                  <a:pt x="199992" y="92770"/>
                  <a:pt x="201570" y="83117"/>
                  <a:pt x="204236" y="74325"/>
                </a:cubicBezTo>
                <a:cubicBezTo>
                  <a:pt x="206903" y="65533"/>
                  <a:pt x="209180" y="55013"/>
                  <a:pt x="212942" y="47045"/>
                </a:cubicBezTo>
                <a:cubicBezTo>
                  <a:pt x="216704" y="39076"/>
                  <a:pt x="221222" y="31284"/>
                  <a:pt x="226810" y="26514"/>
                </a:cubicBezTo>
                <a:cubicBezTo>
                  <a:pt x="232399" y="21743"/>
                  <a:pt x="239331" y="19082"/>
                  <a:pt x="246474" y="18421"/>
                </a:cubicBezTo>
                <a:cubicBezTo>
                  <a:pt x="253617" y="17760"/>
                  <a:pt x="261907" y="20143"/>
                  <a:pt x="269670" y="22546"/>
                </a:cubicBezTo>
                <a:cubicBezTo>
                  <a:pt x="277433" y="24949"/>
                  <a:pt x="285611" y="29820"/>
                  <a:pt x="293054" y="32841"/>
                </a:cubicBezTo>
                <a:cubicBezTo>
                  <a:pt x="300497" y="35863"/>
                  <a:pt x="307610" y="39561"/>
                  <a:pt x="314329" y="40675"/>
                </a:cubicBezTo>
                <a:cubicBezTo>
                  <a:pt x="321048" y="41789"/>
                  <a:pt x="327131" y="41544"/>
                  <a:pt x="333369" y="39525"/>
                </a:cubicBezTo>
                <a:cubicBezTo>
                  <a:pt x="339607" y="37506"/>
                  <a:pt x="345449" y="32956"/>
                  <a:pt x="351759" y="28561"/>
                </a:cubicBezTo>
                <a:cubicBezTo>
                  <a:pt x="358068" y="24167"/>
                  <a:pt x="364495" y="17586"/>
                  <a:pt x="371227" y="13158"/>
                </a:cubicBezTo>
                <a:cubicBezTo>
                  <a:pt x="377958" y="8731"/>
                  <a:pt x="385157" y="3801"/>
                  <a:pt x="392146" y="1996"/>
                </a:cubicBezTo>
                <a:cubicBezTo>
                  <a:pt x="399135" y="191"/>
                  <a:pt x="406484" y="0"/>
                  <a:pt x="413161" y="2328"/>
                </a:cubicBezTo>
                <a:cubicBezTo>
                  <a:pt x="419838" y="4657"/>
                  <a:pt x="426366" y="9991"/>
                  <a:pt x="432208" y="15966"/>
                </a:cubicBezTo>
                <a:cubicBezTo>
                  <a:pt x="438050" y="21942"/>
                  <a:pt x="443206" y="30824"/>
                  <a:pt x="448213" y="38183"/>
                </a:cubicBezTo>
                <a:cubicBezTo>
                  <a:pt x="453221" y="45543"/>
                  <a:pt x="457412" y="54252"/>
                  <a:pt x="462253" y="60124"/>
                </a:cubicBezTo>
                <a:cubicBezTo>
                  <a:pt x="467095" y="65995"/>
                  <a:pt x="471586" y="71019"/>
                  <a:pt x="477262" y="73414"/>
                </a:cubicBezTo>
                <a:cubicBezTo>
                  <a:pt x="482939" y="75809"/>
                  <a:pt x="489112" y="75669"/>
                  <a:pt x="496313" y="74492"/>
                </a:cubicBezTo>
                <a:cubicBezTo>
                  <a:pt x="503513" y="73315"/>
                  <a:pt x="511917" y="69293"/>
                  <a:pt x="520468" y="66351"/>
                </a:cubicBezTo>
                <a:cubicBezTo>
                  <a:pt x="529018" y="63410"/>
                  <a:pt x="538830" y="58813"/>
                  <a:pt x="547615" y="56842"/>
                </a:cubicBezTo>
                <a:cubicBezTo>
                  <a:pt x="556400" y="54872"/>
                  <a:pt x="565699" y="53274"/>
                  <a:pt x="573178" y="54527"/>
                </a:cubicBezTo>
                <a:cubicBezTo>
                  <a:pt x="580656" y="55781"/>
                  <a:pt x="587428" y="59204"/>
                  <a:pt x="592485" y="64365"/>
                </a:cubicBezTo>
                <a:cubicBezTo>
                  <a:pt x="597541" y="69526"/>
                  <a:pt x="600871" y="77529"/>
                  <a:pt x="603518" y="85493"/>
                </a:cubicBezTo>
                <a:cubicBezTo>
                  <a:pt x="606164" y="93457"/>
                  <a:pt x="606889" y="103557"/>
                  <a:pt x="608363" y="112150"/>
                </a:cubicBezTo>
                <a:cubicBezTo>
                  <a:pt x="609837" y="120742"/>
                  <a:pt x="610213" y="129867"/>
                  <a:pt x="612363" y="137049"/>
                </a:cubicBezTo>
                <a:cubicBezTo>
                  <a:pt x="614513" y="144230"/>
                  <a:pt x="617012" y="150354"/>
                  <a:pt x="621260" y="155239"/>
                </a:cubicBezTo>
                <a:cubicBezTo>
                  <a:pt x="625509" y="160123"/>
                  <a:pt x="631378" y="163194"/>
                  <a:pt x="637855" y="166357"/>
                </a:cubicBezTo>
                <a:cubicBezTo>
                  <a:pt x="644332" y="169521"/>
                  <a:pt x="652765" y="171245"/>
                  <a:pt x="660121" y="174220"/>
                </a:cubicBezTo>
                <a:cubicBezTo>
                  <a:pt x="667477" y="177195"/>
                  <a:pt x="675918" y="179893"/>
                  <a:pt x="681991" y="184208"/>
                </a:cubicBezTo>
                <a:cubicBezTo>
                  <a:pt x="688064" y="188522"/>
                  <a:pt x="693556" y="193775"/>
                  <a:pt x="696557" y="200104"/>
                </a:cubicBezTo>
                <a:cubicBezTo>
                  <a:pt x="699558" y="206434"/>
                  <a:pt x="700418" y="214286"/>
                  <a:pt x="699995" y="222185"/>
                </a:cubicBezTo>
                <a:cubicBezTo>
                  <a:pt x="699571" y="230084"/>
                  <a:pt x="696456" y="239204"/>
                  <a:pt x="694016" y="247499"/>
                </a:cubicBezTo>
                <a:cubicBezTo>
                  <a:pt x="691575" y="255794"/>
                  <a:pt x="687289" y="264405"/>
                  <a:pt x="685351" y="271954"/>
                </a:cubicBezTo>
                <a:cubicBezTo>
                  <a:pt x="683413" y="279504"/>
                  <a:pt x="681499" y="286456"/>
                  <a:pt x="682387" y="292797"/>
                </a:cubicBezTo>
                <a:cubicBezTo>
                  <a:pt x="683275" y="299137"/>
                  <a:pt x="686114" y="304494"/>
                  <a:pt x="690678" y="309998"/>
                </a:cubicBezTo>
                <a:cubicBezTo>
                  <a:pt x="695242" y="315502"/>
                  <a:pt x="702696" y="320315"/>
                  <a:pt x="709770" y="325822"/>
                </a:cubicBezTo>
                <a:cubicBezTo>
                  <a:pt x="716844" y="331329"/>
                  <a:pt x="726203" y="336838"/>
                  <a:pt x="733121" y="343037"/>
                </a:cubicBezTo>
                <a:cubicBezTo>
                  <a:pt x="740038" y="349237"/>
                  <a:pt x="747353" y="356029"/>
                  <a:pt x="751273" y="363016"/>
                </a:cubicBezTo>
                <a:cubicBezTo>
                  <a:pt x="755194" y="370003"/>
                  <a:pt x="757291" y="377682"/>
                  <a:pt x="756643" y="384958"/>
                </a:cubicBezTo>
                <a:close/>
              </a:path>
            </a:pathLst>
          </a:custGeom>
          <a:gradFill rotWithShape="1">
            <a:gsLst>
              <a:gs pos="0">
                <a:srgbClr val="F0EAF8"/>
              </a:gs>
              <a:gs pos="27000">
                <a:srgbClr val="DAD0ED"/>
              </a:gs>
              <a:gs pos="67000">
                <a:srgbClr val="C3B1E0"/>
              </a:gs>
              <a:gs pos="100000">
                <a:srgbClr val="AD96D2"/>
              </a:gs>
            </a:gsLst>
            <a:lin ang="3600000" scaled="1"/>
          </a:gradFill>
          <a:ln w="15317" cap="rnd">
            <a:solidFill>
              <a:srgbClr val="7660A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9" name="tmao_macrophage_component_path_2"/>
          <p:cNvSpPr/>
          <p:nvPr/>
        </p:nvSpPr>
        <p:spPr>
          <a:xfrm>
            <a:off x="2694284" y="3778330"/>
            <a:ext cx="711854" cy="716356"/>
          </a:xfrm>
          <a:custGeom>
            <a:avLst/>
            <a:gdLst/>
            <a:ahLst/>
            <a:cxnLst/>
            <a:rect l="0" t="0" r="r" b="b"/>
            <a:pathLst>
              <a:path w="711854" h="716356">
                <a:moveTo>
                  <a:pt x="711244" y="361861"/>
                </a:moveTo>
                <a:cubicBezTo>
                  <a:pt x="710635" y="368701"/>
                  <a:pt x="706986" y="375796"/>
                  <a:pt x="702539" y="382276"/>
                </a:cubicBezTo>
                <a:cubicBezTo>
                  <a:pt x="698093" y="388755"/>
                  <a:pt x="690721" y="394921"/>
                  <a:pt x="684568" y="400738"/>
                </a:cubicBezTo>
                <a:cubicBezTo>
                  <a:pt x="678415" y="406555"/>
                  <a:pt x="670808" y="411747"/>
                  <a:pt x="665623" y="417177"/>
                </a:cubicBezTo>
                <a:cubicBezTo>
                  <a:pt x="660438" y="422606"/>
                  <a:pt x="655837" y="427606"/>
                  <a:pt x="653459" y="433315"/>
                </a:cubicBezTo>
                <a:cubicBezTo>
                  <a:pt x="651080" y="439023"/>
                  <a:pt x="650821" y="444888"/>
                  <a:pt x="651350" y="451427"/>
                </a:cubicBezTo>
                <a:cubicBezTo>
                  <a:pt x="651880" y="457966"/>
                  <a:pt x="654786" y="465225"/>
                  <a:pt x="656634" y="472547"/>
                </a:cubicBezTo>
                <a:cubicBezTo>
                  <a:pt x="658482" y="479869"/>
                  <a:pt x="661616" y="488010"/>
                  <a:pt x="662439" y="495358"/>
                </a:cubicBezTo>
                <a:cubicBezTo>
                  <a:pt x="663262" y="502707"/>
                  <a:pt x="663578" y="510341"/>
                  <a:pt x="661574" y="516640"/>
                </a:cubicBezTo>
                <a:cubicBezTo>
                  <a:pt x="659569" y="522939"/>
                  <a:pt x="655559" y="528615"/>
                  <a:pt x="650413" y="533152"/>
                </a:cubicBezTo>
                <a:cubicBezTo>
                  <a:pt x="645267" y="537690"/>
                  <a:pt x="637707" y="540876"/>
                  <a:pt x="630697" y="543865"/>
                </a:cubicBezTo>
                <a:cubicBezTo>
                  <a:pt x="623687" y="546854"/>
                  <a:pt x="615115" y="548464"/>
                  <a:pt x="608356" y="551087"/>
                </a:cubicBezTo>
                <a:cubicBezTo>
                  <a:pt x="601597" y="553711"/>
                  <a:pt x="594873" y="555768"/>
                  <a:pt x="590144" y="559607"/>
                </a:cubicBezTo>
                <a:cubicBezTo>
                  <a:pt x="585415" y="563446"/>
                  <a:pt x="582170" y="567999"/>
                  <a:pt x="579981" y="574120"/>
                </a:cubicBezTo>
                <a:cubicBezTo>
                  <a:pt x="577793" y="580240"/>
                  <a:pt x="577624" y="588109"/>
                  <a:pt x="577015" y="596329"/>
                </a:cubicBezTo>
                <a:cubicBezTo>
                  <a:pt x="576406" y="604549"/>
                  <a:pt x="577202" y="614643"/>
                  <a:pt x="576327" y="623440"/>
                </a:cubicBezTo>
                <a:cubicBezTo>
                  <a:pt x="575453" y="632237"/>
                  <a:pt x="574618" y="641926"/>
                  <a:pt x="571769" y="649111"/>
                </a:cubicBezTo>
                <a:cubicBezTo>
                  <a:pt x="568920" y="656296"/>
                  <a:pt x="564762" y="662708"/>
                  <a:pt x="559233" y="666547"/>
                </a:cubicBezTo>
                <a:cubicBezTo>
                  <a:pt x="553703" y="670386"/>
                  <a:pt x="546238" y="671959"/>
                  <a:pt x="538591" y="672146"/>
                </a:cubicBezTo>
                <a:cubicBezTo>
                  <a:pt x="530944" y="672332"/>
                  <a:pt x="521710" y="669757"/>
                  <a:pt x="513349" y="667668"/>
                </a:cubicBezTo>
                <a:cubicBezTo>
                  <a:pt x="504988" y="665579"/>
                  <a:pt x="496075" y="661561"/>
                  <a:pt x="488424" y="659610"/>
                </a:cubicBezTo>
                <a:cubicBezTo>
                  <a:pt x="480773" y="657658"/>
                  <a:pt x="473663" y="655558"/>
                  <a:pt x="467444" y="655959"/>
                </a:cubicBezTo>
                <a:cubicBezTo>
                  <a:pt x="461226" y="656360"/>
                  <a:pt x="456118" y="658421"/>
                  <a:pt x="451112" y="662015"/>
                </a:cubicBezTo>
                <a:cubicBezTo>
                  <a:pt x="446106" y="665610"/>
                  <a:pt x="442045" y="671734"/>
                  <a:pt x="437410" y="677527"/>
                </a:cubicBezTo>
                <a:cubicBezTo>
                  <a:pt x="432776" y="683321"/>
                  <a:pt x="428416" y="691093"/>
                  <a:pt x="423306" y="696774"/>
                </a:cubicBezTo>
                <a:cubicBezTo>
                  <a:pt x="418197" y="702455"/>
                  <a:pt x="412680" y="708427"/>
                  <a:pt x="406755" y="711613"/>
                </a:cubicBezTo>
                <a:cubicBezTo>
                  <a:pt x="400829" y="714798"/>
                  <a:pt x="394227" y="716356"/>
                  <a:pt x="387752" y="715887"/>
                </a:cubicBezTo>
                <a:cubicBezTo>
                  <a:pt x="381277" y="715418"/>
                  <a:pt x="374371" y="712217"/>
                  <a:pt x="367904" y="708802"/>
                </a:cubicBezTo>
                <a:cubicBezTo>
                  <a:pt x="361438" y="705387"/>
                  <a:pt x="355043" y="699559"/>
                  <a:pt x="348953" y="695397"/>
                </a:cubicBezTo>
                <a:cubicBezTo>
                  <a:pt x="342863" y="691235"/>
                  <a:pt x="337194" y="686243"/>
                  <a:pt x="331366" y="683831"/>
                </a:cubicBezTo>
                <a:cubicBezTo>
                  <a:pt x="325538" y="681418"/>
                  <a:pt x="320048" y="680163"/>
                  <a:pt x="313986" y="680923"/>
                </a:cubicBezTo>
                <a:cubicBezTo>
                  <a:pt x="307923" y="681682"/>
                  <a:pt x="301740" y="684908"/>
                  <a:pt x="294990" y="688387"/>
                </a:cubicBezTo>
                <a:cubicBezTo>
                  <a:pt x="288240" y="691866"/>
                  <a:pt x="280884" y="697719"/>
                  <a:pt x="273485" y="701796"/>
                </a:cubicBezTo>
                <a:cubicBezTo>
                  <a:pt x="266086" y="705873"/>
                  <a:pt x="257978" y="710865"/>
                  <a:pt x="250597" y="712850"/>
                </a:cubicBezTo>
                <a:cubicBezTo>
                  <a:pt x="243217" y="714836"/>
                  <a:pt x="235584" y="715674"/>
                  <a:pt x="229200" y="713708"/>
                </a:cubicBezTo>
                <a:cubicBezTo>
                  <a:pt x="222816" y="711743"/>
                  <a:pt x="216994" y="707050"/>
                  <a:pt x="212291" y="701059"/>
                </a:cubicBezTo>
                <a:cubicBezTo>
                  <a:pt x="207588" y="695067"/>
                  <a:pt x="204131" y="686062"/>
                  <a:pt x="200981" y="677758"/>
                </a:cubicBezTo>
                <a:cubicBezTo>
                  <a:pt x="197831" y="669454"/>
                  <a:pt x="196001" y="659262"/>
                  <a:pt x="193391" y="651235"/>
                </a:cubicBezTo>
                <a:cubicBezTo>
                  <a:pt x="190782" y="643207"/>
                  <a:pt x="188807" y="635206"/>
                  <a:pt x="185322" y="629593"/>
                </a:cubicBezTo>
                <a:cubicBezTo>
                  <a:pt x="181838" y="623979"/>
                  <a:pt x="177859" y="620091"/>
                  <a:pt x="172485" y="617555"/>
                </a:cubicBezTo>
                <a:cubicBezTo>
                  <a:pt x="167112" y="615019"/>
                  <a:pt x="160301" y="614850"/>
                  <a:pt x="153080" y="614377"/>
                </a:cubicBezTo>
                <a:cubicBezTo>
                  <a:pt x="145860" y="613903"/>
                  <a:pt x="137035" y="615145"/>
                  <a:pt x="129162" y="614716"/>
                </a:cubicBezTo>
                <a:cubicBezTo>
                  <a:pt x="121289" y="614286"/>
                  <a:pt x="112602" y="614076"/>
                  <a:pt x="105842" y="611800"/>
                </a:cubicBezTo>
                <a:cubicBezTo>
                  <a:pt x="99083" y="609524"/>
                  <a:pt x="92884" y="605985"/>
                  <a:pt x="88604" y="601058"/>
                </a:cubicBezTo>
                <a:cubicBezTo>
                  <a:pt x="84324" y="596131"/>
                  <a:pt x="81814" y="589244"/>
                  <a:pt x="80160" y="582237"/>
                </a:cubicBezTo>
                <a:cubicBezTo>
                  <a:pt x="78506" y="575230"/>
                  <a:pt x="78952" y="566630"/>
                  <a:pt x="78681" y="559016"/>
                </a:cubicBezTo>
                <a:cubicBezTo>
                  <a:pt x="78410" y="551401"/>
                  <a:pt x="79433" y="543302"/>
                  <a:pt x="78535" y="536548"/>
                </a:cubicBezTo>
                <a:cubicBezTo>
                  <a:pt x="77637" y="529794"/>
                  <a:pt x="76479" y="523715"/>
                  <a:pt x="73294" y="518492"/>
                </a:cubicBezTo>
                <a:cubicBezTo>
                  <a:pt x="70108" y="513269"/>
                  <a:pt x="65206" y="509285"/>
                  <a:pt x="59421" y="505209"/>
                </a:cubicBezTo>
                <a:cubicBezTo>
                  <a:pt x="53635" y="501132"/>
                  <a:pt x="45625" y="498030"/>
                  <a:pt x="38579" y="494033"/>
                </a:cubicBezTo>
                <a:cubicBezTo>
                  <a:pt x="31533" y="490036"/>
                  <a:pt x="23067" y="486180"/>
                  <a:pt x="17144" y="481227"/>
                </a:cubicBezTo>
                <a:cubicBezTo>
                  <a:pt x="11221" y="476274"/>
                  <a:pt x="5644" y="470622"/>
                  <a:pt x="3041" y="464316"/>
                </a:cubicBezTo>
                <a:cubicBezTo>
                  <a:pt x="438" y="458009"/>
                  <a:pt x="0" y="450658"/>
                  <a:pt x="1527" y="443386"/>
                </a:cubicBezTo>
                <a:cubicBezTo>
                  <a:pt x="3054" y="436114"/>
                  <a:pt x="7634" y="428094"/>
                  <a:pt x="12203" y="420684"/>
                </a:cubicBezTo>
                <a:cubicBezTo>
                  <a:pt x="16772" y="413275"/>
                  <a:pt x="23831" y="405789"/>
                  <a:pt x="28943" y="398930"/>
                </a:cubicBezTo>
                <a:cubicBezTo>
                  <a:pt x="34055" y="392072"/>
                  <a:pt x="39885" y="385711"/>
                  <a:pt x="42874" y="379533"/>
                </a:cubicBezTo>
                <a:cubicBezTo>
                  <a:pt x="45863" y="373355"/>
                  <a:pt x="47486" y="367787"/>
                  <a:pt x="46877" y="361861"/>
                </a:cubicBezTo>
                <a:cubicBezTo>
                  <a:pt x="46267" y="355935"/>
                  <a:pt x="42967" y="350244"/>
                  <a:pt x="39217" y="343978"/>
                </a:cubicBezTo>
                <a:cubicBezTo>
                  <a:pt x="35467" y="337712"/>
                  <a:pt x="29140" y="331132"/>
                  <a:pt x="24378" y="324263"/>
                </a:cubicBezTo>
                <a:cubicBezTo>
                  <a:pt x="19615" y="317394"/>
                  <a:pt x="13747" y="309921"/>
                  <a:pt x="10642" y="302765"/>
                </a:cubicBezTo>
                <a:cubicBezTo>
                  <a:pt x="7537" y="295609"/>
                  <a:pt x="5364" y="288064"/>
                  <a:pt x="5748" y="281326"/>
                </a:cubicBezTo>
                <a:cubicBezTo>
                  <a:pt x="6133" y="274589"/>
                  <a:pt x="8981" y="268069"/>
                  <a:pt x="12948" y="262341"/>
                </a:cubicBezTo>
                <a:cubicBezTo>
                  <a:pt x="16915" y="256612"/>
                  <a:pt x="23599" y="251685"/>
                  <a:pt x="29549" y="246957"/>
                </a:cubicBezTo>
                <a:cubicBezTo>
                  <a:pt x="35498" y="242230"/>
                  <a:pt x="43068" y="238420"/>
                  <a:pt x="48643" y="233975"/>
                </a:cubicBezTo>
                <a:cubicBezTo>
                  <a:pt x="54218" y="229529"/>
                  <a:pt x="59616" y="225487"/>
                  <a:pt x="62999" y="220285"/>
                </a:cubicBezTo>
                <a:cubicBezTo>
                  <a:pt x="66382" y="215082"/>
                  <a:pt x="68083" y="209394"/>
                  <a:pt x="68943" y="202758"/>
                </a:cubicBezTo>
                <a:cubicBezTo>
                  <a:pt x="69804" y="196123"/>
                  <a:pt x="68564" y="188292"/>
                  <a:pt x="68161" y="180472"/>
                </a:cubicBezTo>
                <a:cubicBezTo>
                  <a:pt x="67758" y="172652"/>
                  <a:pt x="66098" y="163626"/>
                  <a:pt x="66524" y="155838"/>
                </a:cubicBezTo>
                <a:cubicBezTo>
                  <a:pt x="66951" y="148050"/>
                  <a:pt x="67707" y="139887"/>
                  <a:pt x="70720" y="133745"/>
                </a:cubicBezTo>
                <a:cubicBezTo>
                  <a:pt x="73733" y="127603"/>
                  <a:pt x="78515" y="122384"/>
                  <a:pt x="84601" y="118986"/>
                </a:cubicBezTo>
                <a:cubicBezTo>
                  <a:pt x="90687" y="115587"/>
                  <a:pt x="99065" y="114161"/>
                  <a:pt x="107236" y="113354"/>
                </a:cubicBezTo>
                <a:cubicBezTo>
                  <a:pt x="115407" y="112548"/>
                  <a:pt x="125244" y="113854"/>
                  <a:pt x="133628" y="114145"/>
                </a:cubicBezTo>
                <a:cubicBezTo>
                  <a:pt x="142013" y="114435"/>
                  <a:pt x="150683" y="115872"/>
                  <a:pt x="157542" y="115098"/>
                </a:cubicBezTo>
                <a:cubicBezTo>
                  <a:pt x="164401" y="114323"/>
                  <a:pt x="170185" y="113044"/>
                  <a:pt x="174782" y="109496"/>
                </a:cubicBezTo>
                <a:cubicBezTo>
                  <a:pt x="179380" y="105947"/>
                  <a:pt x="182260" y="100414"/>
                  <a:pt x="185126" y="93809"/>
                </a:cubicBezTo>
                <a:cubicBezTo>
                  <a:pt x="187993" y="87204"/>
                  <a:pt x="189475" y="78130"/>
                  <a:pt x="191982" y="69865"/>
                </a:cubicBezTo>
                <a:cubicBezTo>
                  <a:pt x="194488" y="61601"/>
                  <a:pt x="196629" y="51713"/>
                  <a:pt x="200165" y="44222"/>
                </a:cubicBezTo>
                <a:cubicBezTo>
                  <a:pt x="203702" y="36732"/>
                  <a:pt x="207948" y="29407"/>
                  <a:pt x="213202" y="24923"/>
                </a:cubicBezTo>
                <a:cubicBezTo>
                  <a:pt x="218455" y="20439"/>
                  <a:pt x="224971" y="17937"/>
                  <a:pt x="231685" y="17316"/>
                </a:cubicBezTo>
                <a:cubicBezTo>
                  <a:pt x="238400" y="16694"/>
                  <a:pt x="246192" y="18934"/>
                  <a:pt x="253490" y="21193"/>
                </a:cubicBezTo>
                <a:cubicBezTo>
                  <a:pt x="260787" y="23452"/>
                  <a:pt x="268474" y="28030"/>
                  <a:pt x="275471" y="30871"/>
                </a:cubicBezTo>
                <a:cubicBezTo>
                  <a:pt x="282467" y="33711"/>
                  <a:pt x="289153" y="37188"/>
                  <a:pt x="295469" y="38235"/>
                </a:cubicBezTo>
                <a:cubicBezTo>
                  <a:pt x="301785" y="39282"/>
                  <a:pt x="307503" y="39051"/>
                  <a:pt x="313367" y="37153"/>
                </a:cubicBezTo>
                <a:cubicBezTo>
                  <a:pt x="319231" y="35255"/>
                  <a:pt x="324722" y="30978"/>
                  <a:pt x="330653" y="26848"/>
                </a:cubicBezTo>
                <a:cubicBezTo>
                  <a:pt x="336584" y="22717"/>
                  <a:pt x="342626" y="16530"/>
                  <a:pt x="348953" y="12369"/>
                </a:cubicBezTo>
                <a:cubicBezTo>
                  <a:pt x="355280" y="8207"/>
                  <a:pt x="362047" y="3573"/>
                  <a:pt x="368617" y="1877"/>
                </a:cubicBezTo>
                <a:cubicBezTo>
                  <a:pt x="375187" y="180"/>
                  <a:pt x="382095" y="0"/>
                  <a:pt x="388371" y="2189"/>
                </a:cubicBezTo>
                <a:cubicBezTo>
                  <a:pt x="394648" y="4377"/>
                  <a:pt x="400784" y="9391"/>
                  <a:pt x="406276" y="15008"/>
                </a:cubicBezTo>
                <a:cubicBezTo>
                  <a:pt x="411767" y="20626"/>
                  <a:pt x="416613" y="28974"/>
                  <a:pt x="421321" y="35892"/>
                </a:cubicBezTo>
                <a:cubicBezTo>
                  <a:pt x="426028" y="42810"/>
                  <a:pt x="429967" y="50997"/>
                  <a:pt x="434518" y="56516"/>
                </a:cubicBezTo>
                <a:cubicBezTo>
                  <a:pt x="439069" y="62036"/>
                  <a:pt x="443291" y="66758"/>
                  <a:pt x="448627" y="69009"/>
                </a:cubicBezTo>
                <a:cubicBezTo>
                  <a:pt x="453963" y="71260"/>
                  <a:pt x="459765" y="71129"/>
                  <a:pt x="466534" y="70022"/>
                </a:cubicBezTo>
                <a:cubicBezTo>
                  <a:pt x="473303" y="68916"/>
                  <a:pt x="481202" y="65135"/>
                  <a:pt x="489240" y="62370"/>
                </a:cubicBezTo>
                <a:cubicBezTo>
                  <a:pt x="497277" y="59605"/>
                  <a:pt x="506501" y="55284"/>
                  <a:pt x="514759" y="53432"/>
                </a:cubicBezTo>
                <a:cubicBezTo>
                  <a:pt x="523016" y="51579"/>
                  <a:pt x="531757" y="50077"/>
                  <a:pt x="538787" y="51256"/>
                </a:cubicBezTo>
                <a:cubicBezTo>
                  <a:pt x="545817" y="52434"/>
                  <a:pt x="552182" y="55652"/>
                  <a:pt x="556936" y="60503"/>
                </a:cubicBezTo>
                <a:cubicBezTo>
                  <a:pt x="561689" y="65355"/>
                  <a:pt x="564819" y="72877"/>
                  <a:pt x="567307" y="80363"/>
                </a:cubicBezTo>
                <a:cubicBezTo>
                  <a:pt x="569794" y="87850"/>
                  <a:pt x="570475" y="97344"/>
                  <a:pt x="571861" y="105421"/>
                </a:cubicBezTo>
                <a:cubicBezTo>
                  <a:pt x="573247" y="113498"/>
                  <a:pt x="573601" y="122075"/>
                  <a:pt x="575621" y="128826"/>
                </a:cubicBezTo>
                <a:cubicBezTo>
                  <a:pt x="577642" y="135577"/>
                  <a:pt x="579991" y="141333"/>
                  <a:pt x="583985" y="145924"/>
                </a:cubicBezTo>
                <a:cubicBezTo>
                  <a:pt x="587978" y="150516"/>
                  <a:pt x="593495" y="153402"/>
                  <a:pt x="599584" y="156376"/>
                </a:cubicBezTo>
                <a:cubicBezTo>
                  <a:pt x="605672" y="159349"/>
                  <a:pt x="613599" y="160970"/>
                  <a:pt x="620513" y="163767"/>
                </a:cubicBezTo>
                <a:cubicBezTo>
                  <a:pt x="627428" y="166563"/>
                  <a:pt x="635363" y="169100"/>
                  <a:pt x="641071" y="173155"/>
                </a:cubicBezTo>
                <a:cubicBezTo>
                  <a:pt x="646780" y="177210"/>
                  <a:pt x="651943" y="182148"/>
                  <a:pt x="654764" y="188098"/>
                </a:cubicBezTo>
                <a:cubicBezTo>
                  <a:pt x="657584" y="194048"/>
                  <a:pt x="658393" y="201429"/>
                  <a:pt x="657995" y="208854"/>
                </a:cubicBezTo>
                <a:cubicBezTo>
                  <a:pt x="657597" y="216279"/>
                  <a:pt x="654669" y="224852"/>
                  <a:pt x="652375" y="232649"/>
                </a:cubicBezTo>
                <a:cubicBezTo>
                  <a:pt x="650081" y="240447"/>
                  <a:pt x="646052" y="248540"/>
                  <a:pt x="644230" y="255637"/>
                </a:cubicBezTo>
                <a:cubicBezTo>
                  <a:pt x="642408" y="262734"/>
                  <a:pt x="640609" y="269269"/>
                  <a:pt x="641443" y="275229"/>
                </a:cubicBezTo>
                <a:cubicBezTo>
                  <a:pt x="642278" y="281189"/>
                  <a:pt x="644947" y="286224"/>
                  <a:pt x="649238" y="291398"/>
                </a:cubicBezTo>
                <a:cubicBezTo>
                  <a:pt x="653528" y="296572"/>
                  <a:pt x="660534" y="301096"/>
                  <a:pt x="667184" y="306273"/>
                </a:cubicBezTo>
                <a:cubicBezTo>
                  <a:pt x="673833" y="311449"/>
                  <a:pt x="682631" y="316628"/>
                  <a:pt x="689133" y="322455"/>
                </a:cubicBezTo>
                <a:cubicBezTo>
                  <a:pt x="695636" y="328282"/>
                  <a:pt x="702512" y="334667"/>
                  <a:pt x="706197" y="341235"/>
                </a:cubicBezTo>
                <a:cubicBezTo>
                  <a:pt x="709882" y="347803"/>
                  <a:pt x="711854" y="355021"/>
                  <a:pt x="711244" y="361861"/>
                </a:cubicBezTo>
                <a:close/>
              </a:path>
            </a:pathLst>
          </a:custGeom>
          <a:noFill/>
          <a:ln w="7905" cap="rnd">
            <a:solidFill>
              <a:srgbClr val="DED4E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0" name="tmao_macrophage_component_oval_3"/>
          <p:cNvSpPr/>
          <p:nvPr/>
        </p:nvSpPr>
        <p:spPr>
          <a:xfrm>
            <a:off x="3261574" y="4188731"/>
            <a:ext cx="22927" cy="2357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1" name="tmao_macrophage_component_oval_4"/>
          <p:cNvSpPr/>
          <p:nvPr/>
        </p:nvSpPr>
        <p:spPr>
          <a:xfrm>
            <a:off x="3233169" y="4268935"/>
            <a:ext cx="28065" cy="28854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2" name="tmao_macrophage_component_oval_5"/>
          <p:cNvSpPr/>
          <p:nvPr/>
        </p:nvSpPr>
        <p:spPr>
          <a:xfrm>
            <a:off x="3154186" y="4305774"/>
            <a:ext cx="33204" cy="34137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3" name="tmao_macrophage_component_oval_6"/>
          <p:cNvSpPr/>
          <p:nvPr/>
        </p:nvSpPr>
        <p:spPr>
          <a:xfrm>
            <a:off x="3102612" y="4387914"/>
            <a:ext cx="22927" cy="2357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4" name="tmao_macrophage_component_oval_7"/>
          <p:cNvSpPr/>
          <p:nvPr/>
        </p:nvSpPr>
        <p:spPr>
          <a:xfrm>
            <a:off x="3013483" y="4339541"/>
            <a:ext cx="28065" cy="28854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5" name="tmao_macrophage_component_oval_8"/>
          <p:cNvSpPr/>
          <p:nvPr/>
        </p:nvSpPr>
        <p:spPr>
          <a:xfrm>
            <a:off x="2917010" y="4372457"/>
            <a:ext cx="33204" cy="34137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6" name="tmao_macrophage_component_oval_9"/>
          <p:cNvSpPr/>
          <p:nvPr/>
        </p:nvSpPr>
        <p:spPr>
          <a:xfrm>
            <a:off x="2884199" y="4283749"/>
            <a:ext cx="22927" cy="2357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7" name="tmao_macrophage_component_oval_10"/>
          <p:cNvSpPr/>
          <p:nvPr/>
        </p:nvSpPr>
        <p:spPr>
          <a:xfrm>
            <a:off x="2797473" y="4240299"/>
            <a:ext cx="28065" cy="28854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8" name="tmao_macrophage_component_oval_11"/>
          <p:cNvSpPr/>
          <p:nvPr/>
        </p:nvSpPr>
        <p:spPr>
          <a:xfrm>
            <a:off x="2802198" y="4146056"/>
            <a:ext cx="33204" cy="34137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9" name="tmao_macrophage_component_oval_12"/>
          <p:cNvSpPr/>
          <p:nvPr/>
        </p:nvSpPr>
        <p:spPr>
          <a:xfrm>
            <a:off x="2800070" y="4067580"/>
            <a:ext cx="22927" cy="2357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0" name="tmao_macrophage_component_oval_13"/>
          <p:cNvSpPr/>
          <p:nvPr/>
        </p:nvSpPr>
        <p:spPr>
          <a:xfrm>
            <a:off x="2826788" y="3983679"/>
            <a:ext cx="28065" cy="28854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1" name="tmao_macrophage_component_oval_14"/>
          <p:cNvSpPr/>
          <p:nvPr/>
        </p:nvSpPr>
        <p:spPr>
          <a:xfrm>
            <a:off x="2898171" y="3939162"/>
            <a:ext cx="33204" cy="34137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2" name="tmao_macrophage_component_oval_15"/>
          <p:cNvSpPr/>
          <p:nvPr/>
        </p:nvSpPr>
        <p:spPr>
          <a:xfrm>
            <a:off x="2961227" y="3869962"/>
            <a:ext cx="22927" cy="2357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3" name="tmao_macrophage_component_oval_16"/>
          <p:cNvSpPr/>
          <p:nvPr/>
        </p:nvSpPr>
        <p:spPr>
          <a:xfrm>
            <a:off x="3044962" y="3911511"/>
            <a:ext cx="28065" cy="28854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4" name="tmao_macrophage_component_oval_17"/>
          <p:cNvSpPr/>
          <p:nvPr/>
        </p:nvSpPr>
        <p:spPr>
          <a:xfrm>
            <a:off x="3136345" y="3873596"/>
            <a:ext cx="33204" cy="34137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5" name="tmao_macrophage_component_oval_18"/>
          <p:cNvSpPr/>
          <p:nvPr/>
        </p:nvSpPr>
        <p:spPr>
          <a:xfrm>
            <a:off x="3178758" y="3973684"/>
            <a:ext cx="22927" cy="2357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6" name="tmao_macrophage_component_oval_19"/>
          <p:cNvSpPr/>
          <p:nvPr/>
        </p:nvSpPr>
        <p:spPr>
          <a:xfrm>
            <a:off x="3262192" y="4010608"/>
            <a:ext cx="28065" cy="28854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7" name="tmao_macrophage_component_oval_20"/>
          <p:cNvSpPr/>
          <p:nvPr/>
        </p:nvSpPr>
        <p:spPr>
          <a:xfrm>
            <a:off x="3249304" y="4100369"/>
            <a:ext cx="33204" cy="34137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8" name="tmao_macrophage_component_oval_21"/>
          <p:cNvSpPr/>
          <p:nvPr/>
        </p:nvSpPr>
        <p:spPr>
          <a:xfrm>
            <a:off x="2855871" y="3980073"/>
            <a:ext cx="11068" cy="11379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9" name="tmao_macrophage_component_oval_22"/>
          <p:cNvSpPr/>
          <p:nvPr/>
        </p:nvSpPr>
        <p:spPr>
          <a:xfrm>
            <a:off x="2816342" y="4199524"/>
            <a:ext cx="11068" cy="11379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0" name="tmao_macrophage_component_oval_23"/>
          <p:cNvSpPr/>
          <p:nvPr/>
        </p:nvSpPr>
        <p:spPr>
          <a:xfrm>
            <a:off x="2934929" y="4337696"/>
            <a:ext cx="11068" cy="11379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1" name="tmao_macrophage_component_oval_24"/>
          <p:cNvSpPr/>
          <p:nvPr/>
        </p:nvSpPr>
        <p:spPr>
          <a:xfrm>
            <a:off x="3211630" y="4012584"/>
            <a:ext cx="11068" cy="11379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2" name="tmao_macrophage_component_oval_25"/>
          <p:cNvSpPr/>
          <p:nvPr/>
        </p:nvSpPr>
        <p:spPr>
          <a:xfrm>
            <a:off x="3243253" y="4207651"/>
            <a:ext cx="11068" cy="11379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3" name="tmao_macrophage_component_oval_26"/>
          <p:cNvSpPr/>
          <p:nvPr/>
        </p:nvSpPr>
        <p:spPr>
          <a:xfrm>
            <a:off x="3085138" y="3890667"/>
            <a:ext cx="11068" cy="11379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4" name="tmao_macrophage_component_oval_27"/>
          <p:cNvSpPr/>
          <p:nvPr/>
        </p:nvSpPr>
        <p:spPr>
          <a:xfrm>
            <a:off x="3156290" y="4362080"/>
            <a:ext cx="11068" cy="11379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5" name="tmao_macrophage_component_oval_28"/>
          <p:cNvSpPr/>
          <p:nvPr/>
        </p:nvSpPr>
        <p:spPr>
          <a:xfrm>
            <a:off x="2840060" y="4077606"/>
            <a:ext cx="11068" cy="11379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6" name="tmao_macrophage_component_oval_29"/>
          <p:cNvSpPr/>
          <p:nvPr/>
        </p:nvSpPr>
        <p:spPr>
          <a:xfrm rot="1500000">
            <a:off x="2900934" y="3977634"/>
            <a:ext cx="292513" cy="349496"/>
          </a:xfrm>
          <a:prstGeom prst="ellipse">
            <a:avLst/>
          </a:prstGeom>
          <a:gradFill rotWithShape="1">
            <a:gsLst>
              <a:gs pos="0">
                <a:srgbClr val="CBBDE5"/>
              </a:gs>
              <a:gs pos="24000">
                <a:srgbClr val="AA95CF"/>
              </a:gs>
              <a:gs pos="65000">
                <a:srgbClr val="8D73B7"/>
              </a:gs>
              <a:gs pos="100000">
                <a:srgbClr val="7860A4"/>
              </a:gs>
            </a:gsLst>
            <a:lin ang="3300000" scaled="1"/>
          </a:gradFill>
          <a:ln w="12846">
            <a:solidFill>
              <a:srgbClr val="6550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7" name="tmao_macrophage_component_path_30"/>
          <p:cNvSpPr/>
          <p:nvPr/>
        </p:nvSpPr>
        <p:spPr>
          <a:xfrm>
            <a:off x="2948368" y="4010146"/>
            <a:ext cx="110680" cy="97534"/>
          </a:xfrm>
          <a:custGeom>
            <a:avLst/>
            <a:gdLst/>
            <a:ahLst/>
            <a:cxnLst/>
            <a:rect l="0" t="0" r="r" b="b"/>
            <a:pathLst>
              <a:path w="110680" h="97534">
                <a:moveTo>
                  <a:pt x="0" y="97534"/>
                </a:moveTo>
                <a:cubicBezTo>
                  <a:pt x="15811" y="32511"/>
                  <a:pt x="55340" y="0"/>
                  <a:pt x="110680" y="8128"/>
                </a:cubicBezTo>
              </a:path>
            </a:pathLst>
          </a:custGeom>
          <a:noFill/>
          <a:ln w="17787" cap="rnd">
            <a:solidFill>
              <a:srgbClr val="D5C8E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8" name="paracrine_component_oval_1"/>
          <p:cNvSpPr/>
          <p:nvPr/>
        </p:nvSpPr>
        <p:spPr>
          <a:xfrm>
            <a:off x="4630674" y="3902959"/>
            <a:ext cx="121920" cy="111724"/>
          </a:xfrm>
          <a:prstGeom prst="ellipse">
            <a:avLst/>
          </a:prstGeom>
          <a:gradFill rotWithShape="1">
            <a:gsLst>
              <a:gs pos="0">
                <a:srgbClr val="E6DDF0"/>
              </a:gs>
              <a:gs pos="30000">
                <a:srgbClr val="B29AD3"/>
              </a:gs>
              <a:gs pos="67000">
                <a:srgbClr val="9978C4"/>
              </a:gs>
              <a:gs pos="100000">
                <a:srgbClr val="7C5EAC"/>
              </a:gs>
            </a:gsLst>
            <a:lin ang="3300000" scaled="1"/>
          </a:gradFill>
          <a:ln w="9906">
            <a:solidFill>
              <a:srgbClr val="6B4E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9" name="paracrine_component_oval_2"/>
          <p:cNvSpPr/>
          <p:nvPr/>
        </p:nvSpPr>
        <p:spPr>
          <a:xfrm>
            <a:off x="4659935" y="3923628"/>
            <a:ext cx="31699" cy="20669"/>
          </a:xfrm>
          <a:prstGeom prst="ellipse">
            <a:avLst/>
          </a:prstGeom>
          <a:solidFill>
            <a:srgbClr val="E4DC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0" name="paracrine_component_oval_3"/>
          <p:cNvSpPr/>
          <p:nvPr/>
        </p:nvSpPr>
        <p:spPr>
          <a:xfrm>
            <a:off x="4411218" y="4009097"/>
            <a:ext cx="121920" cy="111724"/>
          </a:xfrm>
          <a:prstGeom prst="ellipse">
            <a:avLst/>
          </a:prstGeom>
          <a:gradFill rotWithShape="1">
            <a:gsLst>
              <a:gs pos="0">
                <a:srgbClr val="E6DDF0"/>
              </a:gs>
              <a:gs pos="30000">
                <a:srgbClr val="B29AD3"/>
              </a:gs>
              <a:gs pos="67000">
                <a:srgbClr val="9978C4"/>
              </a:gs>
              <a:gs pos="100000">
                <a:srgbClr val="7C5EAC"/>
              </a:gs>
            </a:gsLst>
            <a:lin ang="3300000" scaled="1"/>
          </a:gradFill>
          <a:ln w="9906">
            <a:solidFill>
              <a:srgbClr val="6B4E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1" name="paracrine_component_oval_4"/>
          <p:cNvSpPr/>
          <p:nvPr/>
        </p:nvSpPr>
        <p:spPr>
          <a:xfrm>
            <a:off x="4440479" y="4029766"/>
            <a:ext cx="31699" cy="20669"/>
          </a:xfrm>
          <a:prstGeom prst="ellipse">
            <a:avLst/>
          </a:prstGeom>
          <a:solidFill>
            <a:srgbClr val="E4DC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2" name="paracrine_component_oval_5"/>
          <p:cNvSpPr/>
          <p:nvPr/>
        </p:nvSpPr>
        <p:spPr>
          <a:xfrm>
            <a:off x="4831842" y="4048200"/>
            <a:ext cx="121920" cy="111724"/>
          </a:xfrm>
          <a:prstGeom prst="ellipse">
            <a:avLst/>
          </a:prstGeom>
          <a:gradFill rotWithShape="1">
            <a:gsLst>
              <a:gs pos="0">
                <a:srgbClr val="E6DDF0"/>
              </a:gs>
              <a:gs pos="30000">
                <a:srgbClr val="B29AD3"/>
              </a:gs>
              <a:gs pos="67000">
                <a:srgbClr val="9978C4"/>
              </a:gs>
              <a:gs pos="100000">
                <a:srgbClr val="7C5EAC"/>
              </a:gs>
            </a:gsLst>
            <a:lin ang="3300000" scaled="1"/>
          </a:gradFill>
          <a:ln w="9906">
            <a:solidFill>
              <a:srgbClr val="6B4E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3" name="paracrine_component_oval_6"/>
          <p:cNvSpPr/>
          <p:nvPr/>
        </p:nvSpPr>
        <p:spPr>
          <a:xfrm>
            <a:off x="4861103" y="4068869"/>
            <a:ext cx="31699" cy="20669"/>
          </a:xfrm>
          <a:prstGeom prst="ellipse">
            <a:avLst/>
          </a:prstGeom>
          <a:solidFill>
            <a:srgbClr val="E4DC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4" name="paracrine_component_oval_7"/>
          <p:cNvSpPr/>
          <p:nvPr/>
        </p:nvSpPr>
        <p:spPr>
          <a:xfrm>
            <a:off x="4655058" y="4148752"/>
            <a:ext cx="121920" cy="111724"/>
          </a:xfrm>
          <a:prstGeom prst="ellipse">
            <a:avLst/>
          </a:prstGeom>
          <a:gradFill rotWithShape="1">
            <a:gsLst>
              <a:gs pos="0">
                <a:srgbClr val="E6DDF0"/>
              </a:gs>
              <a:gs pos="30000">
                <a:srgbClr val="B29AD3"/>
              </a:gs>
              <a:gs pos="67000">
                <a:srgbClr val="9978C4"/>
              </a:gs>
              <a:gs pos="100000">
                <a:srgbClr val="7C5EAC"/>
              </a:gs>
            </a:gsLst>
            <a:lin ang="3300000" scaled="1"/>
          </a:gradFill>
          <a:ln w="9906">
            <a:solidFill>
              <a:srgbClr val="6B4E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5" name="paracrine_component_oval_8"/>
          <p:cNvSpPr/>
          <p:nvPr/>
        </p:nvSpPr>
        <p:spPr>
          <a:xfrm>
            <a:off x="4684319" y="4169421"/>
            <a:ext cx="31699" cy="20669"/>
          </a:xfrm>
          <a:prstGeom prst="ellipse">
            <a:avLst/>
          </a:prstGeom>
          <a:solidFill>
            <a:srgbClr val="E4DC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6" name="paracrine_component_oval_9"/>
          <p:cNvSpPr/>
          <p:nvPr/>
        </p:nvSpPr>
        <p:spPr>
          <a:xfrm>
            <a:off x="4459986" y="4254891"/>
            <a:ext cx="121920" cy="111724"/>
          </a:xfrm>
          <a:prstGeom prst="ellipse">
            <a:avLst/>
          </a:prstGeom>
          <a:gradFill rotWithShape="1">
            <a:gsLst>
              <a:gs pos="0">
                <a:srgbClr val="E6DDF0"/>
              </a:gs>
              <a:gs pos="30000">
                <a:srgbClr val="B29AD3"/>
              </a:gs>
              <a:gs pos="67000">
                <a:srgbClr val="9978C4"/>
              </a:gs>
              <a:gs pos="100000">
                <a:srgbClr val="7C5EAC"/>
              </a:gs>
            </a:gsLst>
            <a:lin ang="3300000" scaled="1"/>
          </a:gradFill>
          <a:ln w="9906">
            <a:solidFill>
              <a:srgbClr val="6B4E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7" name="paracrine_component_oval_10"/>
          <p:cNvSpPr/>
          <p:nvPr/>
        </p:nvSpPr>
        <p:spPr>
          <a:xfrm>
            <a:off x="4489247" y="4275560"/>
            <a:ext cx="31699" cy="20669"/>
          </a:xfrm>
          <a:prstGeom prst="ellipse">
            <a:avLst/>
          </a:prstGeom>
          <a:solidFill>
            <a:srgbClr val="E4DC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8" name="paracrine_component_oval_11"/>
          <p:cNvSpPr/>
          <p:nvPr/>
        </p:nvSpPr>
        <p:spPr>
          <a:xfrm>
            <a:off x="4801362" y="4305166"/>
            <a:ext cx="121920" cy="111724"/>
          </a:xfrm>
          <a:prstGeom prst="ellipse">
            <a:avLst/>
          </a:prstGeom>
          <a:gradFill rotWithShape="1">
            <a:gsLst>
              <a:gs pos="0">
                <a:srgbClr val="E6DDF0"/>
              </a:gs>
              <a:gs pos="30000">
                <a:srgbClr val="B29AD3"/>
              </a:gs>
              <a:gs pos="67000">
                <a:srgbClr val="9978C4"/>
              </a:gs>
              <a:gs pos="100000">
                <a:srgbClr val="7C5EAC"/>
              </a:gs>
            </a:gsLst>
            <a:lin ang="3300000" scaled="1"/>
          </a:gradFill>
          <a:ln w="9906">
            <a:solidFill>
              <a:srgbClr val="6B4E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9" name="paracrine_component_oval_12"/>
          <p:cNvSpPr/>
          <p:nvPr/>
        </p:nvSpPr>
        <p:spPr>
          <a:xfrm>
            <a:off x="4830623" y="4325836"/>
            <a:ext cx="31699" cy="20669"/>
          </a:xfrm>
          <a:prstGeom prst="ellipse">
            <a:avLst/>
          </a:prstGeom>
          <a:solidFill>
            <a:srgbClr val="E4DC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0" name="ffar_component_path_1"/>
          <p:cNvSpPr/>
          <p:nvPr/>
        </p:nvSpPr>
        <p:spPr>
          <a:xfrm>
            <a:off x="2555743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1" name="ffar_component_path_2"/>
          <p:cNvSpPr/>
          <p:nvPr/>
        </p:nvSpPr>
        <p:spPr>
          <a:xfrm>
            <a:off x="2573946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2" name="ffar_component_oval_3"/>
          <p:cNvSpPr/>
          <p:nvPr/>
        </p:nvSpPr>
        <p:spPr>
          <a:xfrm>
            <a:off x="2559644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3" name="ffar_component_oval_4"/>
          <p:cNvSpPr/>
          <p:nvPr/>
        </p:nvSpPr>
        <p:spPr>
          <a:xfrm>
            <a:off x="2559644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4" name="ffar_component_path_5"/>
          <p:cNvSpPr/>
          <p:nvPr/>
        </p:nvSpPr>
        <p:spPr>
          <a:xfrm>
            <a:off x="2602651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5" name="ffar_component_path_6"/>
          <p:cNvSpPr/>
          <p:nvPr/>
        </p:nvSpPr>
        <p:spPr>
          <a:xfrm>
            <a:off x="2620853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6" name="ffar_component_oval_7"/>
          <p:cNvSpPr/>
          <p:nvPr/>
        </p:nvSpPr>
        <p:spPr>
          <a:xfrm>
            <a:off x="2606552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7" name="ffar_component_oval_8"/>
          <p:cNvSpPr/>
          <p:nvPr/>
        </p:nvSpPr>
        <p:spPr>
          <a:xfrm>
            <a:off x="2606552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8" name="ffar_component_path_9"/>
          <p:cNvSpPr/>
          <p:nvPr/>
        </p:nvSpPr>
        <p:spPr>
          <a:xfrm>
            <a:off x="2649559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9" name="ffar_component_path_10"/>
          <p:cNvSpPr/>
          <p:nvPr/>
        </p:nvSpPr>
        <p:spPr>
          <a:xfrm>
            <a:off x="2667761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0" name="ffar_component_oval_11"/>
          <p:cNvSpPr/>
          <p:nvPr/>
        </p:nvSpPr>
        <p:spPr>
          <a:xfrm>
            <a:off x="2653459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1" name="ffar_component_oval_12"/>
          <p:cNvSpPr/>
          <p:nvPr/>
        </p:nvSpPr>
        <p:spPr>
          <a:xfrm>
            <a:off x="2653459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2" name="ffar_component_path_13"/>
          <p:cNvSpPr/>
          <p:nvPr/>
        </p:nvSpPr>
        <p:spPr>
          <a:xfrm>
            <a:off x="2696467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3" name="ffar_component_path_14"/>
          <p:cNvSpPr/>
          <p:nvPr/>
        </p:nvSpPr>
        <p:spPr>
          <a:xfrm>
            <a:off x="2714669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4" name="ffar_component_oval_15"/>
          <p:cNvSpPr/>
          <p:nvPr/>
        </p:nvSpPr>
        <p:spPr>
          <a:xfrm>
            <a:off x="2700367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5" name="ffar_component_oval_16"/>
          <p:cNvSpPr/>
          <p:nvPr/>
        </p:nvSpPr>
        <p:spPr>
          <a:xfrm>
            <a:off x="2700367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6" name="ffar_component_path_17"/>
          <p:cNvSpPr/>
          <p:nvPr/>
        </p:nvSpPr>
        <p:spPr>
          <a:xfrm>
            <a:off x="2743375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7" name="ffar_component_path_18"/>
          <p:cNvSpPr/>
          <p:nvPr/>
        </p:nvSpPr>
        <p:spPr>
          <a:xfrm>
            <a:off x="2761577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8" name="ffar_component_oval_19"/>
          <p:cNvSpPr/>
          <p:nvPr/>
        </p:nvSpPr>
        <p:spPr>
          <a:xfrm>
            <a:off x="2747275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9" name="ffar_component_oval_20"/>
          <p:cNvSpPr/>
          <p:nvPr/>
        </p:nvSpPr>
        <p:spPr>
          <a:xfrm>
            <a:off x="2747275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0" name="ffar_component_path_21"/>
          <p:cNvSpPr/>
          <p:nvPr/>
        </p:nvSpPr>
        <p:spPr>
          <a:xfrm>
            <a:off x="2790282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1" name="ffar_component_path_22"/>
          <p:cNvSpPr/>
          <p:nvPr/>
        </p:nvSpPr>
        <p:spPr>
          <a:xfrm>
            <a:off x="2808485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2" name="ffar_component_oval_23"/>
          <p:cNvSpPr/>
          <p:nvPr/>
        </p:nvSpPr>
        <p:spPr>
          <a:xfrm>
            <a:off x="2794183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3" name="ffar_component_oval_24"/>
          <p:cNvSpPr/>
          <p:nvPr/>
        </p:nvSpPr>
        <p:spPr>
          <a:xfrm>
            <a:off x="2794183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4" name="ffar_component_path_25"/>
          <p:cNvSpPr/>
          <p:nvPr/>
        </p:nvSpPr>
        <p:spPr>
          <a:xfrm>
            <a:off x="2837190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5" name="ffar_component_path_26"/>
          <p:cNvSpPr/>
          <p:nvPr/>
        </p:nvSpPr>
        <p:spPr>
          <a:xfrm>
            <a:off x="2855392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6" name="ffar_component_oval_27"/>
          <p:cNvSpPr/>
          <p:nvPr/>
        </p:nvSpPr>
        <p:spPr>
          <a:xfrm>
            <a:off x="2841091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7" name="ffar_component_oval_28"/>
          <p:cNvSpPr/>
          <p:nvPr/>
        </p:nvSpPr>
        <p:spPr>
          <a:xfrm>
            <a:off x="2841091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8" name="ffar_component_path_29"/>
          <p:cNvSpPr/>
          <p:nvPr/>
        </p:nvSpPr>
        <p:spPr>
          <a:xfrm>
            <a:off x="2884098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9" name="ffar_component_path_30"/>
          <p:cNvSpPr/>
          <p:nvPr/>
        </p:nvSpPr>
        <p:spPr>
          <a:xfrm>
            <a:off x="2902300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0" name="ffar_component_oval_31"/>
          <p:cNvSpPr/>
          <p:nvPr/>
        </p:nvSpPr>
        <p:spPr>
          <a:xfrm>
            <a:off x="2887998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1" name="ffar_component_oval_32"/>
          <p:cNvSpPr/>
          <p:nvPr/>
        </p:nvSpPr>
        <p:spPr>
          <a:xfrm>
            <a:off x="2887998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2" name="ffar_component_path_33"/>
          <p:cNvSpPr/>
          <p:nvPr/>
        </p:nvSpPr>
        <p:spPr>
          <a:xfrm>
            <a:off x="2931006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3" name="ffar_component_path_34"/>
          <p:cNvSpPr/>
          <p:nvPr/>
        </p:nvSpPr>
        <p:spPr>
          <a:xfrm>
            <a:off x="2949208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4" name="ffar_component_oval_35"/>
          <p:cNvSpPr/>
          <p:nvPr/>
        </p:nvSpPr>
        <p:spPr>
          <a:xfrm>
            <a:off x="2934906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5" name="ffar_component_oval_36"/>
          <p:cNvSpPr/>
          <p:nvPr/>
        </p:nvSpPr>
        <p:spPr>
          <a:xfrm>
            <a:off x="2934906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6" name="ffar_component_path_37"/>
          <p:cNvSpPr/>
          <p:nvPr/>
        </p:nvSpPr>
        <p:spPr>
          <a:xfrm>
            <a:off x="2977914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7" name="ffar_component_path_38"/>
          <p:cNvSpPr/>
          <p:nvPr/>
        </p:nvSpPr>
        <p:spPr>
          <a:xfrm>
            <a:off x="2996116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8" name="ffar_component_oval_39"/>
          <p:cNvSpPr/>
          <p:nvPr/>
        </p:nvSpPr>
        <p:spPr>
          <a:xfrm>
            <a:off x="2981814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9" name="ffar_component_oval_40"/>
          <p:cNvSpPr/>
          <p:nvPr/>
        </p:nvSpPr>
        <p:spPr>
          <a:xfrm>
            <a:off x="2981814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0" name="ffar_component_path_41"/>
          <p:cNvSpPr/>
          <p:nvPr/>
        </p:nvSpPr>
        <p:spPr>
          <a:xfrm>
            <a:off x="3024821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1" name="ffar_component_path_42"/>
          <p:cNvSpPr/>
          <p:nvPr/>
        </p:nvSpPr>
        <p:spPr>
          <a:xfrm>
            <a:off x="3043024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2" name="ffar_component_oval_43"/>
          <p:cNvSpPr/>
          <p:nvPr/>
        </p:nvSpPr>
        <p:spPr>
          <a:xfrm>
            <a:off x="3028722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3" name="ffar_component_oval_44"/>
          <p:cNvSpPr/>
          <p:nvPr/>
        </p:nvSpPr>
        <p:spPr>
          <a:xfrm>
            <a:off x="3028722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4" name="ffar_component_path_45"/>
          <p:cNvSpPr/>
          <p:nvPr/>
        </p:nvSpPr>
        <p:spPr>
          <a:xfrm>
            <a:off x="3071729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5" name="ffar_component_path_46"/>
          <p:cNvSpPr/>
          <p:nvPr/>
        </p:nvSpPr>
        <p:spPr>
          <a:xfrm>
            <a:off x="3089932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6" name="ffar_component_oval_47"/>
          <p:cNvSpPr/>
          <p:nvPr/>
        </p:nvSpPr>
        <p:spPr>
          <a:xfrm>
            <a:off x="3075630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7" name="ffar_component_oval_48"/>
          <p:cNvSpPr/>
          <p:nvPr/>
        </p:nvSpPr>
        <p:spPr>
          <a:xfrm>
            <a:off x="3075630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8" name="ffar_component_path_49"/>
          <p:cNvSpPr/>
          <p:nvPr/>
        </p:nvSpPr>
        <p:spPr>
          <a:xfrm>
            <a:off x="3118637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9" name="ffar_component_path_50"/>
          <p:cNvSpPr/>
          <p:nvPr/>
        </p:nvSpPr>
        <p:spPr>
          <a:xfrm>
            <a:off x="3136839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0" name="ffar_component_oval_51"/>
          <p:cNvSpPr/>
          <p:nvPr/>
        </p:nvSpPr>
        <p:spPr>
          <a:xfrm>
            <a:off x="3122538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1" name="ffar_component_oval_52"/>
          <p:cNvSpPr/>
          <p:nvPr/>
        </p:nvSpPr>
        <p:spPr>
          <a:xfrm>
            <a:off x="3122538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2" name="ffar_component_path_53"/>
          <p:cNvSpPr/>
          <p:nvPr/>
        </p:nvSpPr>
        <p:spPr>
          <a:xfrm>
            <a:off x="3165545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3" name="ffar_component_path_54"/>
          <p:cNvSpPr/>
          <p:nvPr/>
        </p:nvSpPr>
        <p:spPr>
          <a:xfrm>
            <a:off x="3183747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4" name="ffar_component_oval_55"/>
          <p:cNvSpPr/>
          <p:nvPr/>
        </p:nvSpPr>
        <p:spPr>
          <a:xfrm>
            <a:off x="3169445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5" name="ffar_component_oval_56"/>
          <p:cNvSpPr/>
          <p:nvPr/>
        </p:nvSpPr>
        <p:spPr>
          <a:xfrm>
            <a:off x="3169445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6" name="ffar_component_path_57"/>
          <p:cNvSpPr/>
          <p:nvPr/>
        </p:nvSpPr>
        <p:spPr>
          <a:xfrm>
            <a:off x="3212453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7" name="ffar_component_path_58"/>
          <p:cNvSpPr/>
          <p:nvPr/>
        </p:nvSpPr>
        <p:spPr>
          <a:xfrm>
            <a:off x="3230655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8" name="ffar_component_oval_59"/>
          <p:cNvSpPr/>
          <p:nvPr/>
        </p:nvSpPr>
        <p:spPr>
          <a:xfrm>
            <a:off x="3216353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9" name="ffar_component_oval_60"/>
          <p:cNvSpPr/>
          <p:nvPr/>
        </p:nvSpPr>
        <p:spPr>
          <a:xfrm>
            <a:off x="3216353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0" name="ffar_component_path_61"/>
          <p:cNvSpPr/>
          <p:nvPr/>
        </p:nvSpPr>
        <p:spPr>
          <a:xfrm>
            <a:off x="3259361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1" name="ffar_component_path_62"/>
          <p:cNvSpPr/>
          <p:nvPr/>
        </p:nvSpPr>
        <p:spPr>
          <a:xfrm>
            <a:off x="3277563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2" name="ffar_component_oval_63"/>
          <p:cNvSpPr/>
          <p:nvPr/>
        </p:nvSpPr>
        <p:spPr>
          <a:xfrm>
            <a:off x="3263261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3" name="ffar_component_oval_64"/>
          <p:cNvSpPr/>
          <p:nvPr/>
        </p:nvSpPr>
        <p:spPr>
          <a:xfrm>
            <a:off x="3263261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4" name="ffar_component_path_65"/>
          <p:cNvSpPr/>
          <p:nvPr/>
        </p:nvSpPr>
        <p:spPr>
          <a:xfrm>
            <a:off x="3306268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5" name="ffar_component_path_66"/>
          <p:cNvSpPr/>
          <p:nvPr/>
        </p:nvSpPr>
        <p:spPr>
          <a:xfrm>
            <a:off x="3324471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6" name="ffar_component_oval_67"/>
          <p:cNvSpPr/>
          <p:nvPr/>
        </p:nvSpPr>
        <p:spPr>
          <a:xfrm>
            <a:off x="3310169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7" name="ffar_component_oval_68"/>
          <p:cNvSpPr/>
          <p:nvPr/>
        </p:nvSpPr>
        <p:spPr>
          <a:xfrm>
            <a:off x="3310169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8" name="ffar_component_path_69"/>
          <p:cNvSpPr/>
          <p:nvPr/>
        </p:nvSpPr>
        <p:spPr>
          <a:xfrm>
            <a:off x="3353176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9" name="ffar_component_path_70"/>
          <p:cNvSpPr/>
          <p:nvPr/>
        </p:nvSpPr>
        <p:spPr>
          <a:xfrm>
            <a:off x="3371379" y="5569042"/>
            <a:ext cx="25136" cy="189160"/>
          </a:xfrm>
          <a:custGeom>
            <a:avLst/>
            <a:gdLst/>
            <a:ahLst/>
            <a:cxnLst/>
            <a:rect l="0" t="0" r="r" b="b"/>
            <a:pathLst>
              <a:path w="25136" h="189160">
                <a:moveTo>
                  <a:pt x="13002" y="0"/>
                </a:moveTo>
                <a:cubicBezTo>
                  <a:pt x="3467" y="30856"/>
                  <a:pt x="25136" y="43601"/>
                  <a:pt x="7801" y="94580"/>
                </a:cubicBezTo>
                <a:cubicBezTo>
                  <a:pt x="0" y="145559"/>
                  <a:pt x="21669" y="158304"/>
                  <a:pt x="13002" y="189160"/>
                </a:cubicBezTo>
              </a:path>
            </a:pathLst>
          </a:custGeom>
          <a:noFill/>
          <a:ln w="6717" cap="rnd">
            <a:solidFill>
              <a:srgbClr val="8FAAD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0" name="ffar_component_oval_71"/>
          <p:cNvSpPr/>
          <p:nvPr/>
        </p:nvSpPr>
        <p:spPr>
          <a:xfrm>
            <a:off x="3357077" y="5535503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1" name="ffar_component_oval_72"/>
          <p:cNvSpPr/>
          <p:nvPr/>
        </p:nvSpPr>
        <p:spPr>
          <a:xfrm>
            <a:off x="3357077" y="5756861"/>
            <a:ext cx="36405" cy="34881"/>
          </a:xfrm>
          <a:prstGeom prst="ellipse">
            <a:avLst/>
          </a:prstGeom>
          <a:gradFill rotWithShape="1">
            <a:gsLst>
              <a:gs pos="0">
                <a:srgbClr val="F7FBFF"/>
              </a:gs>
              <a:gs pos="45000">
                <a:srgbClr val="DFEAFB"/>
              </a:gs>
              <a:gs pos="100000">
                <a:srgbClr val="B0C8EA"/>
              </a:gs>
            </a:gsLst>
            <a:lin ang="4200000" scaled="1"/>
          </a:gradFill>
          <a:ln w="8126">
            <a:solidFill>
              <a:srgbClr val="769B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2" name="ffar_component_path_73"/>
          <p:cNvSpPr/>
          <p:nvPr/>
        </p:nvSpPr>
        <p:spPr>
          <a:xfrm>
            <a:off x="2733866" y="5311462"/>
            <a:ext cx="182023" cy="174403"/>
          </a:xfrm>
          <a:custGeom>
            <a:avLst/>
            <a:gdLst/>
            <a:ahLst/>
            <a:cxnLst/>
            <a:rect l="0" t="0" r="r" b="b"/>
            <a:pathLst>
              <a:path w="182023" h="174403">
                <a:moveTo>
                  <a:pt x="112681" y="154280"/>
                </a:moveTo>
                <a:cubicBezTo>
                  <a:pt x="0" y="107325"/>
                  <a:pt x="0" y="0"/>
                  <a:pt x="86678" y="0"/>
                </a:cubicBezTo>
                <a:cubicBezTo>
                  <a:pt x="156019" y="0"/>
                  <a:pt x="112681" y="87202"/>
                  <a:pt x="95345" y="100617"/>
                </a:cubicBezTo>
                <a:lnTo>
                  <a:pt x="182023" y="174403"/>
                </a:lnTo>
              </a:path>
            </a:pathLst>
          </a:custGeom>
          <a:noFill/>
          <a:ln w="33587" cap="rnd">
            <a:solidFill>
              <a:srgbClr val="4F7D4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3" name="ffar_component_path_74"/>
          <p:cNvSpPr/>
          <p:nvPr/>
        </p:nvSpPr>
        <p:spPr>
          <a:xfrm>
            <a:off x="2733866" y="5311462"/>
            <a:ext cx="182023" cy="174403"/>
          </a:xfrm>
          <a:custGeom>
            <a:avLst/>
            <a:gdLst/>
            <a:ahLst/>
            <a:cxnLst/>
            <a:rect l="0" t="0" r="r" b="b"/>
            <a:pathLst>
              <a:path w="182023" h="174403">
                <a:moveTo>
                  <a:pt x="112681" y="154280"/>
                </a:moveTo>
                <a:cubicBezTo>
                  <a:pt x="0" y="107325"/>
                  <a:pt x="0" y="0"/>
                  <a:pt x="86678" y="0"/>
                </a:cubicBezTo>
                <a:cubicBezTo>
                  <a:pt x="156019" y="0"/>
                  <a:pt x="112681" y="87202"/>
                  <a:pt x="95345" y="100617"/>
                </a:cubicBezTo>
                <a:lnTo>
                  <a:pt x="182023" y="174403"/>
                </a:lnTo>
              </a:path>
            </a:pathLst>
          </a:custGeom>
          <a:noFill/>
          <a:ln w="18473" cap="rnd">
            <a:solidFill>
              <a:srgbClr val="AEC59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4" name="ffar_component_path_75"/>
          <p:cNvSpPr/>
          <p:nvPr/>
        </p:nvSpPr>
        <p:spPr>
          <a:xfrm>
            <a:off x="2933224" y="5371833"/>
            <a:ext cx="112681" cy="114033"/>
          </a:xfrm>
          <a:custGeom>
            <a:avLst/>
            <a:gdLst/>
            <a:ahLst/>
            <a:cxnLst/>
            <a:rect l="0" t="0" r="r" b="b"/>
            <a:pathLst>
              <a:path w="112681" h="114033">
                <a:moveTo>
                  <a:pt x="17335" y="114033"/>
                </a:moveTo>
                <a:cubicBezTo>
                  <a:pt x="0" y="26831"/>
                  <a:pt x="52006" y="0"/>
                  <a:pt x="95345" y="46955"/>
                </a:cubicBezTo>
                <a:lnTo>
                  <a:pt x="112681" y="100617"/>
                </a:lnTo>
              </a:path>
            </a:pathLst>
          </a:custGeom>
          <a:noFill/>
          <a:ln w="33587" cap="rnd">
            <a:solidFill>
              <a:srgbClr val="4F7D4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5" name="ffar_component_path_76"/>
          <p:cNvSpPr/>
          <p:nvPr/>
        </p:nvSpPr>
        <p:spPr>
          <a:xfrm>
            <a:off x="2933224" y="5371833"/>
            <a:ext cx="112681" cy="114033"/>
          </a:xfrm>
          <a:custGeom>
            <a:avLst/>
            <a:gdLst/>
            <a:ahLst/>
            <a:cxnLst/>
            <a:rect l="0" t="0" r="r" b="b"/>
            <a:pathLst>
              <a:path w="112681" h="114033">
                <a:moveTo>
                  <a:pt x="17335" y="114033"/>
                </a:moveTo>
                <a:cubicBezTo>
                  <a:pt x="0" y="26831"/>
                  <a:pt x="52006" y="0"/>
                  <a:pt x="95345" y="46955"/>
                </a:cubicBezTo>
                <a:lnTo>
                  <a:pt x="112681" y="100617"/>
                </a:lnTo>
              </a:path>
            </a:pathLst>
          </a:custGeom>
          <a:noFill/>
          <a:ln w="18473" cap="rnd">
            <a:solidFill>
              <a:srgbClr val="AEC59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6" name="ffar_component_path_77"/>
          <p:cNvSpPr/>
          <p:nvPr/>
        </p:nvSpPr>
        <p:spPr>
          <a:xfrm>
            <a:off x="3089243" y="5318170"/>
            <a:ext cx="242697" cy="181111"/>
          </a:xfrm>
          <a:custGeom>
            <a:avLst/>
            <a:gdLst/>
            <a:ahLst/>
            <a:cxnLst/>
            <a:rect l="0" t="0" r="r" b="b"/>
            <a:pathLst>
              <a:path w="242697" h="181111">
                <a:moveTo>
                  <a:pt x="0" y="167695"/>
                </a:moveTo>
                <a:cubicBezTo>
                  <a:pt x="17335" y="100617"/>
                  <a:pt x="104013" y="120741"/>
                  <a:pt x="112681" y="73786"/>
                </a:cubicBezTo>
                <a:cubicBezTo>
                  <a:pt x="147352" y="0"/>
                  <a:pt x="242697" y="20123"/>
                  <a:pt x="208026" y="93909"/>
                </a:cubicBezTo>
                <a:cubicBezTo>
                  <a:pt x="190691" y="134156"/>
                  <a:pt x="112681" y="160987"/>
                  <a:pt x="78010" y="181111"/>
                </a:cubicBezTo>
              </a:path>
            </a:pathLst>
          </a:custGeom>
          <a:noFill/>
          <a:ln w="33587" cap="rnd">
            <a:solidFill>
              <a:srgbClr val="4F7D4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7" name="ffar_component_path_78"/>
          <p:cNvSpPr/>
          <p:nvPr/>
        </p:nvSpPr>
        <p:spPr>
          <a:xfrm>
            <a:off x="3089243" y="5318170"/>
            <a:ext cx="242697" cy="181111"/>
          </a:xfrm>
          <a:custGeom>
            <a:avLst/>
            <a:gdLst/>
            <a:ahLst/>
            <a:cxnLst/>
            <a:rect l="0" t="0" r="r" b="b"/>
            <a:pathLst>
              <a:path w="242697" h="181111">
                <a:moveTo>
                  <a:pt x="0" y="167695"/>
                </a:moveTo>
                <a:cubicBezTo>
                  <a:pt x="17335" y="100617"/>
                  <a:pt x="104013" y="120741"/>
                  <a:pt x="112681" y="73786"/>
                </a:cubicBezTo>
                <a:cubicBezTo>
                  <a:pt x="147352" y="0"/>
                  <a:pt x="242697" y="20123"/>
                  <a:pt x="208026" y="93909"/>
                </a:cubicBezTo>
                <a:cubicBezTo>
                  <a:pt x="190691" y="134156"/>
                  <a:pt x="112681" y="160987"/>
                  <a:pt x="78010" y="181111"/>
                </a:cubicBezTo>
              </a:path>
            </a:pathLst>
          </a:custGeom>
          <a:noFill/>
          <a:ln w="18473" cap="rnd">
            <a:solidFill>
              <a:srgbClr val="AEC59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8" name="ffar_component_path_79"/>
          <p:cNvSpPr/>
          <p:nvPr/>
        </p:nvSpPr>
        <p:spPr>
          <a:xfrm>
            <a:off x="2889885" y="5774301"/>
            <a:ext cx="26003" cy="127448"/>
          </a:xfrm>
          <a:custGeom>
            <a:avLst/>
            <a:gdLst/>
            <a:ahLst/>
            <a:cxnLst/>
            <a:rect l="0" t="0" r="r" b="b"/>
            <a:pathLst>
              <a:path w="26003" h="127448">
                <a:moveTo>
                  <a:pt x="0" y="0"/>
                </a:moveTo>
                <a:cubicBezTo>
                  <a:pt x="0" y="67078"/>
                  <a:pt x="26003" y="67078"/>
                  <a:pt x="17336" y="127448"/>
                </a:cubicBezTo>
              </a:path>
            </a:pathLst>
          </a:custGeom>
          <a:noFill/>
          <a:ln w="33587" cap="rnd">
            <a:solidFill>
              <a:srgbClr val="4F7D4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9" name="ffar_component_path_80"/>
          <p:cNvSpPr/>
          <p:nvPr/>
        </p:nvSpPr>
        <p:spPr>
          <a:xfrm>
            <a:off x="2889885" y="5774301"/>
            <a:ext cx="26003" cy="127448"/>
          </a:xfrm>
          <a:custGeom>
            <a:avLst/>
            <a:gdLst/>
            <a:ahLst/>
            <a:cxnLst/>
            <a:rect l="0" t="0" r="r" b="b"/>
            <a:pathLst>
              <a:path w="26003" h="127448">
                <a:moveTo>
                  <a:pt x="0" y="0"/>
                </a:moveTo>
                <a:cubicBezTo>
                  <a:pt x="0" y="67078"/>
                  <a:pt x="26003" y="67078"/>
                  <a:pt x="17336" y="127448"/>
                </a:cubicBezTo>
              </a:path>
            </a:pathLst>
          </a:custGeom>
          <a:noFill/>
          <a:ln w="18473" cap="rnd">
            <a:solidFill>
              <a:srgbClr val="AEC59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0" name="ffar_component_path_81"/>
          <p:cNvSpPr/>
          <p:nvPr/>
        </p:nvSpPr>
        <p:spPr>
          <a:xfrm>
            <a:off x="3011234" y="5774301"/>
            <a:ext cx="60674" cy="93909"/>
          </a:xfrm>
          <a:custGeom>
            <a:avLst/>
            <a:gdLst/>
            <a:ahLst/>
            <a:cxnLst/>
            <a:rect l="0" t="0" r="r" b="b"/>
            <a:pathLst>
              <a:path w="60674" h="93909">
                <a:moveTo>
                  <a:pt x="0" y="0"/>
                </a:moveTo>
                <a:cubicBezTo>
                  <a:pt x="0" y="93909"/>
                  <a:pt x="34671" y="87202"/>
                  <a:pt x="60674" y="20123"/>
                </a:cubicBezTo>
              </a:path>
            </a:pathLst>
          </a:custGeom>
          <a:noFill/>
          <a:ln w="33587" cap="rnd">
            <a:solidFill>
              <a:srgbClr val="4F7D4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1" name="ffar_component_path_82"/>
          <p:cNvSpPr/>
          <p:nvPr/>
        </p:nvSpPr>
        <p:spPr>
          <a:xfrm>
            <a:off x="3011234" y="5774301"/>
            <a:ext cx="60674" cy="93909"/>
          </a:xfrm>
          <a:custGeom>
            <a:avLst/>
            <a:gdLst/>
            <a:ahLst/>
            <a:cxnLst/>
            <a:rect l="0" t="0" r="r" b="b"/>
            <a:pathLst>
              <a:path w="60674" h="93909">
                <a:moveTo>
                  <a:pt x="0" y="0"/>
                </a:moveTo>
                <a:cubicBezTo>
                  <a:pt x="0" y="93909"/>
                  <a:pt x="34671" y="87202"/>
                  <a:pt x="60674" y="20123"/>
                </a:cubicBezTo>
              </a:path>
            </a:pathLst>
          </a:custGeom>
          <a:noFill/>
          <a:ln w="18473" cap="rnd">
            <a:solidFill>
              <a:srgbClr val="AEC59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2" name="ffar_component_path_83"/>
          <p:cNvSpPr/>
          <p:nvPr/>
        </p:nvSpPr>
        <p:spPr>
          <a:xfrm>
            <a:off x="3115246" y="5774301"/>
            <a:ext cx="52006" cy="93909"/>
          </a:xfrm>
          <a:custGeom>
            <a:avLst/>
            <a:gdLst/>
            <a:ahLst/>
            <a:cxnLst/>
            <a:rect l="0" t="0" r="r" b="b"/>
            <a:pathLst>
              <a:path w="52006" h="93909">
                <a:moveTo>
                  <a:pt x="26003" y="0"/>
                </a:moveTo>
                <a:cubicBezTo>
                  <a:pt x="52006" y="67078"/>
                  <a:pt x="34671" y="93909"/>
                  <a:pt x="0" y="87202"/>
                </a:cubicBezTo>
              </a:path>
            </a:pathLst>
          </a:custGeom>
          <a:noFill/>
          <a:ln w="33587" cap="rnd">
            <a:solidFill>
              <a:srgbClr val="4F7D4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3" name="ffar_component_path_84"/>
          <p:cNvSpPr/>
          <p:nvPr/>
        </p:nvSpPr>
        <p:spPr>
          <a:xfrm>
            <a:off x="3115246" y="5774301"/>
            <a:ext cx="52006" cy="93909"/>
          </a:xfrm>
          <a:custGeom>
            <a:avLst/>
            <a:gdLst/>
            <a:ahLst/>
            <a:cxnLst/>
            <a:rect l="0" t="0" r="r" b="b"/>
            <a:pathLst>
              <a:path w="52006" h="93909">
                <a:moveTo>
                  <a:pt x="26003" y="0"/>
                </a:moveTo>
                <a:cubicBezTo>
                  <a:pt x="52006" y="67078"/>
                  <a:pt x="34671" y="93909"/>
                  <a:pt x="0" y="87202"/>
                </a:cubicBezTo>
              </a:path>
            </a:pathLst>
          </a:custGeom>
          <a:noFill/>
          <a:ln w="18473" cap="rnd">
            <a:solidFill>
              <a:srgbClr val="AEC59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4" name="ffar_component_path_85"/>
          <p:cNvSpPr/>
          <p:nvPr/>
        </p:nvSpPr>
        <p:spPr>
          <a:xfrm>
            <a:off x="2820543" y="5452326"/>
            <a:ext cx="104013" cy="201234"/>
          </a:xfrm>
          <a:custGeom>
            <a:avLst/>
            <a:gdLst/>
            <a:ahLst/>
            <a:cxnLst/>
            <a:rect l="0" t="0" r="r" b="b"/>
            <a:pathLst>
              <a:path w="104013" h="201234">
                <a:moveTo>
                  <a:pt x="0" y="26831"/>
                </a:moveTo>
                <a:cubicBezTo>
                  <a:pt x="0" y="0"/>
                  <a:pt x="104013" y="0"/>
                  <a:pt x="104013" y="26831"/>
                </a:cubicBezTo>
                <a:lnTo>
                  <a:pt x="104013" y="167695"/>
                </a:lnTo>
                <a:cubicBezTo>
                  <a:pt x="104013" y="201234"/>
                  <a:pt x="0" y="201234"/>
                  <a:pt x="0" y="167695"/>
                </a:cubicBezTo>
                <a:close/>
              </a:path>
            </a:pathLst>
          </a:custGeom>
          <a:gradFill rotWithShape="1">
            <a:gsLst>
              <a:gs pos="0">
                <a:srgbClr val="C5D9A8"/>
              </a:gs>
              <a:gs pos="35000">
                <a:srgbClr val="A3C184"/>
              </a:gs>
              <a:gs pos="75000">
                <a:srgbClr val="729A55"/>
              </a:gs>
              <a:gs pos="100000">
                <a:srgbClr val="577B42"/>
              </a:gs>
            </a:gsLst>
            <a:lin ang="0" scaled="1"/>
          </a:gradFill>
          <a:ln w="11376" cap="rnd">
            <a:solidFill>
              <a:srgbClr val="446E3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5" name="ffar_component_path_86"/>
          <p:cNvSpPr/>
          <p:nvPr/>
        </p:nvSpPr>
        <p:spPr>
          <a:xfrm>
            <a:off x="2842212" y="5492573"/>
            <a:ext cx="95" cy="120741"/>
          </a:xfrm>
          <a:custGeom>
            <a:avLst/>
            <a:gdLst/>
            <a:ahLst/>
            <a:cxnLst/>
            <a:rect l="0" t="0" r="r" b="b"/>
            <a:pathLst>
              <a:path w="95" h="120741">
                <a:moveTo>
                  <a:pt x="0" y="0"/>
                </a:moveTo>
                <a:lnTo>
                  <a:pt x="0" y="120741"/>
                </a:lnTo>
              </a:path>
            </a:pathLst>
          </a:custGeom>
          <a:noFill/>
          <a:ln w="9209" cap="rnd">
            <a:solidFill>
              <a:srgbClr val="D2E2B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6" name="ffar_component_path_87"/>
          <p:cNvSpPr/>
          <p:nvPr/>
        </p:nvSpPr>
        <p:spPr>
          <a:xfrm>
            <a:off x="2820543" y="5646853"/>
            <a:ext cx="104013" cy="201234"/>
          </a:xfrm>
          <a:custGeom>
            <a:avLst/>
            <a:gdLst/>
            <a:ahLst/>
            <a:cxnLst/>
            <a:rect l="0" t="0" r="r" b="b"/>
            <a:pathLst>
              <a:path w="104013" h="201234">
                <a:moveTo>
                  <a:pt x="0" y="26831"/>
                </a:moveTo>
                <a:cubicBezTo>
                  <a:pt x="0" y="0"/>
                  <a:pt x="104013" y="0"/>
                  <a:pt x="104013" y="26831"/>
                </a:cubicBezTo>
                <a:lnTo>
                  <a:pt x="104013" y="167695"/>
                </a:lnTo>
                <a:cubicBezTo>
                  <a:pt x="104013" y="201234"/>
                  <a:pt x="0" y="201234"/>
                  <a:pt x="0" y="167695"/>
                </a:cubicBezTo>
                <a:close/>
              </a:path>
            </a:pathLst>
          </a:custGeom>
          <a:gradFill rotWithShape="1">
            <a:gsLst>
              <a:gs pos="0">
                <a:srgbClr val="C5D9A8"/>
              </a:gs>
              <a:gs pos="35000">
                <a:srgbClr val="A3C184"/>
              </a:gs>
              <a:gs pos="75000">
                <a:srgbClr val="729A55"/>
              </a:gs>
              <a:gs pos="100000">
                <a:srgbClr val="577B42"/>
              </a:gs>
            </a:gsLst>
            <a:lin ang="0" scaled="1"/>
          </a:gradFill>
          <a:ln w="11376" cap="rnd">
            <a:solidFill>
              <a:srgbClr val="446E3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7" name="ffar_component_path_88"/>
          <p:cNvSpPr/>
          <p:nvPr/>
        </p:nvSpPr>
        <p:spPr>
          <a:xfrm>
            <a:off x="2842212" y="5687100"/>
            <a:ext cx="95" cy="120741"/>
          </a:xfrm>
          <a:custGeom>
            <a:avLst/>
            <a:gdLst/>
            <a:ahLst/>
            <a:cxnLst/>
            <a:rect l="0" t="0" r="r" b="b"/>
            <a:pathLst>
              <a:path w="95" h="120741">
                <a:moveTo>
                  <a:pt x="0" y="0"/>
                </a:moveTo>
                <a:lnTo>
                  <a:pt x="0" y="120741"/>
                </a:lnTo>
              </a:path>
            </a:pathLst>
          </a:custGeom>
          <a:noFill/>
          <a:ln w="9209" cap="rnd">
            <a:solidFill>
              <a:srgbClr val="D2E2B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8" name="ffar_component_oval_89"/>
          <p:cNvSpPr/>
          <p:nvPr/>
        </p:nvSpPr>
        <p:spPr>
          <a:xfrm>
            <a:off x="2820543" y="5438911"/>
            <a:ext cx="104013" cy="46955"/>
          </a:xfrm>
          <a:prstGeom prst="ellipse">
            <a:avLst/>
          </a:prstGeom>
          <a:solidFill>
            <a:srgbClr val="A6C48A"/>
          </a:solidFill>
          <a:ln w="8667">
            <a:solidFill>
              <a:srgbClr val="4A723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9" name="ffar_component_path_90"/>
          <p:cNvSpPr/>
          <p:nvPr/>
        </p:nvSpPr>
        <p:spPr>
          <a:xfrm>
            <a:off x="2829211" y="5646853"/>
            <a:ext cx="86678" cy="20123"/>
          </a:xfrm>
          <a:custGeom>
            <a:avLst/>
            <a:gdLst/>
            <a:ahLst/>
            <a:cxnLst/>
            <a:rect l="0" t="0" r="r" b="b"/>
            <a:pathLst>
              <a:path w="86678" h="20123">
                <a:moveTo>
                  <a:pt x="0" y="0"/>
                </a:moveTo>
                <a:cubicBezTo>
                  <a:pt x="17336" y="20123"/>
                  <a:pt x="78010" y="20123"/>
                  <a:pt x="86678" y="0"/>
                </a:cubicBezTo>
              </a:path>
            </a:pathLst>
          </a:custGeom>
          <a:noFill/>
          <a:ln w="8667" cap="rnd">
            <a:solidFill>
              <a:srgbClr val="C4D9A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0" name="ffar_component_path_91"/>
          <p:cNvSpPr/>
          <p:nvPr/>
        </p:nvSpPr>
        <p:spPr>
          <a:xfrm>
            <a:off x="2941892" y="5452326"/>
            <a:ext cx="104013" cy="201234"/>
          </a:xfrm>
          <a:custGeom>
            <a:avLst/>
            <a:gdLst/>
            <a:ahLst/>
            <a:cxnLst/>
            <a:rect l="0" t="0" r="r" b="b"/>
            <a:pathLst>
              <a:path w="104013" h="201234">
                <a:moveTo>
                  <a:pt x="0" y="26831"/>
                </a:moveTo>
                <a:cubicBezTo>
                  <a:pt x="0" y="0"/>
                  <a:pt x="104013" y="0"/>
                  <a:pt x="104013" y="26831"/>
                </a:cubicBezTo>
                <a:lnTo>
                  <a:pt x="104013" y="167695"/>
                </a:lnTo>
                <a:cubicBezTo>
                  <a:pt x="104013" y="201234"/>
                  <a:pt x="0" y="201234"/>
                  <a:pt x="0" y="167695"/>
                </a:cubicBezTo>
                <a:close/>
              </a:path>
            </a:pathLst>
          </a:custGeom>
          <a:gradFill rotWithShape="1">
            <a:gsLst>
              <a:gs pos="0">
                <a:srgbClr val="C5D9A8"/>
              </a:gs>
              <a:gs pos="35000">
                <a:srgbClr val="A3C184"/>
              </a:gs>
              <a:gs pos="75000">
                <a:srgbClr val="729A55"/>
              </a:gs>
              <a:gs pos="100000">
                <a:srgbClr val="577B42"/>
              </a:gs>
            </a:gsLst>
            <a:lin ang="0" scaled="1"/>
          </a:gradFill>
          <a:ln w="11376" cap="rnd">
            <a:solidFill>
              <a:srgbClr val="446E3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1" name="ffar_component_path_92"/>
          <p:cNvSpPr/>
          <p:nvPr/>
        </p:nvSpPr>
        <p:spPr>
          <a:xfrm>
            <a:off x="2963561" y="5492573"/>
            <a:ext cx="95" cy="120741"/>
          </a:xfrm>
          <a:custGeom>
            <a:avLst/>
            <a:gdLst/>
            <a:ahLst/>
            <a:cxnLst/>
            <a:rect l="0" t="0" r="r" b="b"/>
            <a:pathLst>
              <a:path w="95" h="120741">
                <a:moveTo>
                  <a:pt x="0" y="0"/>
                </a:moveTo>
                <a:lnTo>
                  <a:pt x="0" y="120741"/>
                </a:lnTo>
              </a:path>
            </a:pathLst>
          </a:custGeom>
          <a:noFill/>
          <a:ln w="9209" cap="rnd">
            <a:solidFill>
              <a:srgbClr val="D2E2B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2" name="ffar_component_path_93"/>
          <p:cNvSpPr/>
          <p:nvPr/>
        </p:nvSpPr>
        <p:spPr>
          <a:xfrm>
            <a:off x="2941892" y="5646853"/>
            <a:ext cx="104013" cy="201234"/>
          </a:xfrm>
          <a:custGeom>
            <a:avLst/>
            <a:gdLst/>
            <a:ahLst/>
            <a:cxnLst/>
            <a:rect l="0" t="0" r="r" b="b"/>
            <a:pathLst>
              <a:path w="104013" h="201234">
                <a:moveTo>
                  <a:pt x="0" y="26831"/>
                </a:moveTo>
                <a:cubicBezTo>
                  <a:pt x="0" y="0"/>
                  <a:pt x="104013" y="0"/>
                  <a:pt x="104013" y="26831"/>
                </a:cubicBezTo>
                <a:lnTo>
                  <a:pt x="104013" y="167695"/>
                </a:lnTo>
                <a:cubicBezTo>
                  <a:pt x="104013" y="201234"/>
                  <a:pt x="0" y="201234"/>
                  <a:pt x="0" y="167695"/>
                </a:cubicBezTo>
                <a:close/>
              </a:path>
            </a:pathLst>
          </a:custGeom>
          <a:gradFill rotWithShape="1">
            <a:gsLst>
              <a:gs pos="0">
                <a:srgbClr val="C5D9A8"/>
              </a:gs>
              <a:gs pos="35000">
                <a:srgbClr val="A3C184"/>
              </a:gs>
              <a:gs pos="75000">
                <a:srgbClr val="729A55"/>
              </a:gs>
              <a:gs pos="100000">
                <a:srgbClr val="577B42"/>
              </a:gs>
            </a:gsLst>
            <a:lin ang="0" scaled="1"/>
          </a:gradFill>
          <a:ln w="11376" cap="rnd">
            <a:solidFill>
              <a:srgbClr val="446E3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3" name="ffar_component_path_94"/>
          <p:cNvSpPr/>
          <p:nvPr/>
        </p:nvSpPr>
        <p:spPr>
          <a:xfrm>
            <a:off x="2963561" y="5687100"/>
            <a:ext cx="95" cy="120741"/>
          </a:xfrm>
          <a:custGeom>
            <a:avLst/>
            <a:gdLst/>
            <a:ahLst/>
            <a:cxnLst/>
            <a:rect l="0" t="0" r="r" b="b"/>
            <a:pathLst>
              <a:path w="95" h="120741">
                <a:moveTo>
                  <a:pt x="0" y="0"/>
                </a:moveTo>
                <a:lnTo>
                  <a:pt x="0" y="120741"/>
                </a:lnTo>
              </a:path>
            </a:pathLst>
          </a:custGeom>
          <a:noFill/>
          <a:ln w="9209" cap="rnd">
            <a:solidFill>
              <a:srgbClr val="D2E2B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4" name="ffar_component_oval_95"/>
          <p:cNvSpPr/>
          <p:nvPr/>
        </p:nvSpPr>
        <p:spPr>
          <a:xfrm>
            <a:off x="2941892" y="5438911"/>
            <a:ext cx="104013" cy="46955"/>
          </a:xfrm>
          <a:prstGeom prst="ellipse">
            <a:avLst/>
          </a:prstGeom>
          <a:solidFill>
            <a:srgbClr val="A6C48A"/>
          </a:solidFill>
          <a:ln w="8667">
            <a:solidFill>
              <a:srgbClr val="4A723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5" name="ffar_component_path_96"/>
          <p:cNvSpPr/>
          <p:nvPr/>
        </p:nvSpPr>
        <p:spPr>
          <a:xfrm>
            <a:off x="2950559" y="5646853"/>
            <a:ext cx="86678" cy="20123"/>
          </a:xfrm>
          <a:custGeom>
            <a:avLst/>
            <a:gdLst/>
            <a:ahLst/>
            <a:cxnLst/>
            <a:rect l="0" t="0" r="r" b="b"/>
            <a:pathLst>
              <a:path w="86678" h="20123">
                <a:moveTo>
                  <a:pt x="0" y="0"/>
                </a:moveTo>
                <a:cubicBezTo>
                  <a:pt x="17336" y="20123"/>
                  <a:pt x="78010" y="20123"/>
                  <a:pt x="86678" y="0"/>
                </a:cubicBezTo>
              </a:path>
            </a:pathLst>
          </a:custGeom>
          <a:noFill/>
          <a:ln w="8667" cap="rnd">
            <a:solidFill>
              <a:srgbClr val="C4D9A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6" name="ffar_component_path_97"/>
          <p:cNvSpPr/>
          <p:nvPr/>
        </p:nvSpPr>
        <p:spPr>
          <a:xfrm>
            <a:off x="3063240" y="5452326"/>
            <a:ext cx="104013" cy="201234"/>
          </a:xfrm>
          <a:custGeom>
            <a:avLst/>
            <a:gdLst/>
            <a:ahLst/>
            <a:cxnLst/>
            <a:rect l="0" t="0" r="r" b="b"/>
            <a:pathLst>
              <a:path w="104013" h="201234">
                <a:moveTo>
                  <a:pt x="0" y="26831"/>
                </a:moveTo>
                <a:cubicBezTo>
                  <a:pt x="0" y="0"/>
                  <a:pt x="104013" y="0"/>
                  <a:pt x="104013" y="26831"/>
                </a:cubicBezTo>
                <a:lnTo>
                  <a:pt x="104013" y="167695"/>
                </a:lnTo>
                <a:cubicBezTo>
                  <a:pt x="104013" y="201234"/>
                  <a:pt x="0" y="201234"/>
                  <a:pt x="0" y="167695"/>
                </a:cubicBezTo>
                <a:close/>
              </a:path>
            </a:pathLst>
          </a:custGeom>
          <a:gradFill rotWithShape="1">
            <a:gsLst>
              <a:gs pos="0">
                <a:srgbClr val="C5D9A8"/>
              </a:gs>
              <a:gs pos="35000">
                <a:srgbClr val="A3C184"/>
              </a:gs>
              <a:gs pos="75000">
                <a:srgbClr val="729A55"/>
              </a:gs>
              <a:gs pos="100000">
                <a:srgbClr val="577B42"/>
              </a:gs>
            </a:gsLst>
            <a:lin ang="0" scaled="1"/>
          </a:gradFill>
          <a:ln w="11376" cap="rnd">
            <a:solidFill>
              <a:srgbClr val="446E3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7" name="ffar_component_path_98"/>
          <p:cNvSpPr/>
          <p:nvPr/>
        </p:nvSpPr>
        <p:spPr>
          <a:xfrm>
            <a:off x="3084909" y="5492573"/>
            <a:ext cx="95" cy="120741"/>
          </a:xfrm>
          <a:custGeom>
            <a:avLst/>
            <a:gdLst/>
            <a:ahLst/>
            <a:cxnLst/>
            <a:rect l="0" t="0" r="r" b="b"/>
            <a:pathLst>
              <a:path w="95" h="120741">
                <a:moveTo>
                  <a:pt x="0" y="0"/>
                </a:moveTo>
                <a:lnTo>
                  <a:pt x="0" y="120741"/>
                </a:lnTo>
              </a:path>
            </a:pathLst>
          </a:custGeom>
          <a:noFill/>
          <a:ln w="9209" cap="rnd">
            <a:solidFill>
              <a:srgbClr val="D2E2B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8" name="ffar_component_path_99"/>
          <p:cNvSpPr/>
          <p:nvPr/>
        </p:nvSpPr>
        <p:spPr>
          <a:xfrm>
            <a:off x="3063240" y="5646853"/>
            <a:ext cx="104013" cy="201234"/>
          </a:xfrm>
          <a:custGeom>
            <a:avLst/>
            <a:gdLst/>
            <a:ahLst/>
            <a:cxnLst/>
            <a:rect l="0" t="0" r="r" b="b"/>
            <a:pathLst>
              <a:path w="104013" h="201234">
                <a:moveTo>
                  <a:pt x="0" y="26831"/>
                </a:moveTo>
                <a:cubicBezTo>
                  <a:pt x="0" y="0"/>
                  <a:pt x="104013" y="0"/>
                  <a:pt x="104013" y="26831"/>
                </a:cubicBezTo>
                <a:lnTo>
                  <a:pt x="104013" y="167695"/>
                </a:lnTo>
                <a:cubicBezTo>
                  <a:pt x="104013" y="201234"/>
                  <a:pt x="0" y="201234"/>
                  <a:pt x="0" y="167695"/>
                </a:cubicBezTo>
                <a:close/>
              </a:path>
            </a:pathLst>
          </a:custGeom>
          <a:gradFill rotWithShape="1">
            <a:gsLst>
              <a:gs pos="0">
                <a:srgbClr val="C5D9A8"/>
              </a:gs>
              <a:gs pos="35000">
                <a:srgbClr val="A3C184"/>
              </a:gs>
              <a:gs pos="75000">
                <a:srgbClr val="729A55"/>
              </a:gs>
              <a:gs pos="100000">
                <a:srgbClr val="577B42"/>
              </a:gs>
            </a:gsLst>
            <a:lin ang="0" scaled="1"/>
          </a:gradFill>
          <a:ln w="11376" cap="rnd">
            <a:solidFill>
              <a:srgbClr val="446E3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9" name="ffar_component_path_100"/>
          <p:cNvSpPr/>
          <p:nvPr/>
        </p:nvSpPr>
        <p:spPr>
          <a:xfrm>
            <a:off x="3084909" y="5687100"/>
            <a:ext cx="95" cy="120741"/>
          </a:xfrm>
          <a:custGeom>
            <a:avLst/>
            <a:gdLst/>
            <a:ahLst/>
            <a:cxnLst/>
            <a:rect l="0" t="0" r="r" b="b"/>
            <a:pathLst>
              <a:path w="95" h="120741">
                <a:moveTo>
                  <a:pt x="0" y="0"/>
                </a:moveTo>
                <a:lnTo>
                  <a:pt x="0" y="120741"/>
                </a:lnTo>
              </a:path>
            </a:pathLst>
          </a:custGeom>
          <a:noFill/>
          <a:ln w="9209" cap="rnd">
            <a:solidFill>
              <a:srgbClr val="D2E2B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0" name="ffar_component_oval_101"/>
          <p:cNvSpPr/>
          <p:nvPr/>
        </p:nvSpPr>
        <p:spPr>
          <a:xfrm>
            <a:off x="3063240" y="5438911"/>
            <a:ext cx="104013" cy="46955"/>
          </a:xfrm>
          <a:prstGeom prst="ellipse">
            <a:avLst/>
          </a:prstGeom>
          <a:solidFill>
            <a:srgbClr val="A6C48A"/>
          </a:solidFill>
          <a:ln w="8667">
            <a:solidFill>
              <a:srgbClr val="4A723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1" name="ffar_component_path_102"/>
          <p:cNvSpPr/>
          <p:nvPr/>
        </p:nvSpPr>
        <p:spPr>
          <a:xfrm>
            <a:off x="3071908" y="5646853"/>
            <a:ext cx="86678" cy="20123"/>
          </a:xfrm>
          <a:custGeom>
            <a:avLst/>
            <a:gdLst/>
            <a:ahLst/>
            <a:cxnLst/>
            <a:rect l="0" t="0" r="r" b="b"/>
            <a:pathLst>
              <a:path w="86678" h="20123">
                <a:moveTo>
                  <a:pt x="0" y="0"/>
                </a:moveTo>
                <a:cubicBezTo>
                  <a:pt x="17335" y="20123"/>
                  <a:pt x="78010" y="20123"/>
                  <a:pt x="86678" y="0"/>
                </a:cubicBezTo>
              </a:path>
            </a:pathLst>
          </a:custGeom>
          <a:noFill/>
          <a:ln w="8667" cap="rnd">
            <a:solidFill>
              <a:srgbClr val="C4D9A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2" name="nucleosome_component_path_1"/>
          <p:cNvSpPr/>
          <p:nvPr/>
        </p:nvSpPr>
        <p:spPr>
          <a:xfrm>
            <a:off x="3991356" y="6177814"/>
            <a:ext cx="665988" cy="95881"/>
          </a:xfrm>
          <a:custGeom>
            <a:avLst/>
            <a:gdLst/>
            <a:ahLst/>
            <a:cxnLst/>
            <a:rect l="0" t="0" r="r" b="b"/>
            <a:pathLst>
              <a:path w="665988" h="95881">
                <a:moveTo>
                  <a:pt x="0" y="65918"/>
                </a:moveTo>
                <a:cubicBezTo>
                  <a:pt x="101346" y="23970"/>
                  <a:pt x="152019" y="0"/>
                  <a:pt x="231648" y="23970"/>
                </a:cubicBezTo>
                <a:cubicBezTo>
                  <a:pt x="383667" y="53933"/>
                  <a:pt x="412623" y="11985"/>
                  <a:pt x="492252" y="47940"/>
                </a:cubicBezTo>
                <a:cubicBezTo>
                  <a:pt x="571881" y="95881"/>
                  <a:pt x="608076" y="53933"/>
                  <a:pt x="665988" y="47940"/>
                </a:cubicBezTo>
              </a:path>
            </a:pathLst>
          </a:custGeom>
          <a:noFill/>
          <a:ln w="29860" cap="rnd">
            <a:solidFill>
              <a:srgbClr val="3F705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3" name="nucleosome_component_path_2"/>
          <p:cNvSpPr/>
          <p:nvPr/>
        </p:nvSpPr>
        <p:spPr>
          <a:xfrm>
            <a:off x="3991356" y="6177814"/>
            <a:ext cx="665988" cy="95881"/>
          </a:xfrm>
          <a:custGeom>
            <a:avLst/>
            <a:gdLst/>
            <a:ahLst/>
            <a:cxnLst/>
            <a:rect l="0" t="0" r="r" b="b"/>
            <a:pathLst>
              <a:path w="665988" h="95881">
                <a:moveTo>
                  <a:pt x="0" y="65918"/>
                </a:moveTo>
                <a:cubicBezTo>
                  <a:pt x="101346" y="23970"/>
                  <a:pt x="152019" y="0"/>
                  <a:pt x="231648" y="23970"/>
                </a:cubicBezTo>
                <a:cubicBezTo>
                  <a:pt x="383667" y="53933"/>
                  <a:pt x="412623" y="11985"/>
                  <a:pt x="492252" y="47940"/>
                </a:cubicBezTo>
                <a:cubicBezTo>
                  <a:pt x="571881" y="95881"/>
                  <a:pt x="608076" y="53933"/>
                  <a:pt x="665988" y="47940"/>
                </a:cubicBezTo>
              </a:path>
            </a:pathLst>
          </a:custGeom>
          <a:noFill/>
          <a:ln w="16423" cap="rnd">
            <a:solidFill>
              <a:srgbClr val="8EB07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4" name="nucleosome_component_oval_3"/>
          <p:cNvSpPr/>
          <p:nvPr/>
        </p:nvSpPr>
        <p:spPr>
          <a:xfrm rot="720000">
            <a:off x="4367784" y="5812269"/>
            <a:ext cx="180975" cy="413486"/>
          </a:xfrm>
          <a:prstGeom prst="ellipse">
            <a:avLst/>
          </a:prstGeom>
          <a:gradFill rotWithShape="1">
            <a:gsLst>
              <a:gs pos="0">
                <a:srgbClr val="F5EFD8"/>
              </a:gs>
              <a:gs pos="40000">
                <a:srgbClr val="DFD3AB"/>
              </a:gs>
              <a:gs pos="100000">
                <a:srgbClr val="BEB17D"/>
              </a:gs>
            </a:gsLst>
            <a:lin ang="1200000" scaled="1"/>
          </a:gradFill>
          <a:ln w="9048">
            <a:solidFill>
              <a:srgbClr val="6F78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5" name="nucleosome_component_oval_4"/>
          <p:cNvSpPr/>
          <p:nvPr/>
        </p:nvSpPr>
        <p:spPr>
          <a:xfrm rot="720000">
            <a:off x="4295394" y="5812269"/>
            <a:ext cx="180975" cy="413486"/>
          </a:xfrm>
          <a:prstGeom prst="ellipse">
            <a:avLst/>
          </a:prstGeom>
          <a:gradFill rotWithShape="1">
            <a:gsLst>
              <a:gs pos="0">
                <a:srgbClr val="ABCDCA"/>
              </a:gs>
              <a:gs pos="40000">
                <a:srgbClr val="659F9F"/>
              </a:gs>
              <a:gs pos="100000">
                <a:srgbClr val="347D83"/>
              </a:gs>
            </a:gsLst>
            <a:lin ang="1200000" scaled="1"/>
          </a:gradFill>
          <a:ln w="9048">
            <a:solidFill>
              <a:srgbClr val="326F7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6" name="nucleosome_component_oval_5"/>
          <p:cNvSpPr/>
          <p:nvPr/>
        </p:nvSpPr>
        <p:spPr>
          <a:xfrm rot="720000">
            <a:off x="4230243" y="5812269"/>
            <a:ext cx="180975" cy="413486"/>
          </a:xfrm>
          <a:prstGeom prst="ellipse">
            <a:avLst/>
          </a:prstGeom>
          <a:gradFill rotWithShape="1">
            <a:gsLst>
              <a:gs pos="0">
                <a:srgbClr val="F5EFD8"/>
              </a:gs>
              <a:gs pos="40000">
                <a:srgbClr val="DFD3AB"/>
              </a:gs>
              <a:gs pos="100000">
                <a:srgbClr val="BEB17D"/>
              </a:gs>
            </a:gsLst>
            <a:lin ang="1200000" scaled="1"/>
          </a:gradFill>
          <a:ln w="9048">
            <a:solidFill>
              <a:srgbClr val="6F78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7" name="nucleosome_component_oval_6"/>
          <p:cNvSpPr/>
          <p:nvPr/>
        </p:nvSpPr>
        <p:spPr>
          <a:xfrm rot="720000">
            <a:off x="4165092" y="5812269"/>
            <a:ext cx="180975" cy="413486"/>
          </a:xfrm>
          <a:prstGeom prst="ellipse">
            <a:avLst/>
          </a:prstGeom>
          <a:gradFill rotWithShape="1">
            <a:gsLst>
              <a:gs pos="0">
                <a:srgbClr val="ABCDCA"/>
              </a:gs>
              <a:gs pos="40000">
                <a:srgbClr val="659F9F"/>
              </a:gs>
              <a:gs pos="100000">
                <a:srgbClr val="347D83"/>
              </a:gs>
            </a:gsLst>
            <a:lin ang="1200000" scaled="1"/>
          </a:gradFill>
          <a:ln w="9048">
            <a:solidFill>
              <a:srgbClr val="326F7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8" name="nucleosome_component_oval_7"/>
          <p:cNvSpPr/>
          <p:nvPr/>
        </p:nvSpPr>
        <p:spPr>
          <a:xfrm rot="720000">
            <a:off x="4099941" y="5812269"/>
            <a:ext cx="180975" cy="413486"/>
          </a:xfrm>
          <a:prstGeom prst="ellipse">
            <a:avLst/>
          </a:prstGeom>
          <a:gradFill rotWithShape="1">
            <a:gsLst>
              <a:gs pos="0">
                <a:srgbClr val="F5EFD8"/>
              </a:gs>
              <a:gs pos="40000">
                <a:srgbClr val="DFD3AB"/>
              </a:gs>
              <a:gs pos="100000">
                <a:srgbClr val="BEB17D"/>
              </a:gs>
            </a:gsLst>
            <a:lin ang="1200000" scaled="1"/>
          </a:gradFill>
          <a:ln w="9048">
            <a:solidFill>
              <a:srgbClr val="6F78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9" name="nucleosome_component_oval_8"/>
          <p:cNvSpPr/>
          <p:nvPr/>
        </p:nvSpPr>
        <p:spPr>
          <a:xfrm rot="720000">
            <a:off x="4103560" y="5824254"/>
            <a:ext cx="137541" cy="371538"/>
          </a:xfrm>
          <a:prstGeom prst="ellipse">
            <a:avLst/>
          </a:prstGeom>
          <a:gradFill rotWithShape="1">
            <a:gsLst>
              <a:gs pos="0">
                <a:srgbClr val="F9F3DE"/>
              </a:gs>
              <a:gs pos="50000">
                <a:srgbClr val="E1D4AB"/>
              </a:gs>
              <a:gs pos="100000">
                <a:srgbClr val="C9BD8F"/>
              </a:gs>
            </a:gsLst>
            <a:lin ang="1500000" scaled="1"/>
          </a:gradFill>
          <a:ln w="7691">
            <a:solidFill>
              <a:srgbClr val="9B95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0" name="nucleosome_component_path_9"/>
          <p:cNvSpPr/>
          <p:nvPr/>
        </p:nvSpPr>
        <p:spPr>
          <a:xfrm>
            <a:off x="4121658" y="5860209"/>
            <a:ext cx="65151" cy="239702"/>
          </a:xfrm>
          <a:custGeom>
            <a:avLst/>
            <a:gdLst/>
            <a:ahLst/>
            <a:cxnLst/>
            <a:rect l="0" t="0" r="r" b="b"/>
            <a:pathLst>
              <a:path w="65151" h="239702">
                <a:moveTo>
                  <a:pt x="0" y="239702"/>
                </a:moveTo>
                <a:cubicBezTo>
                  <a:pt x="7239" y="137829"/>
                  <a:pt x="28956" y="41948"/>
                  <a:pt x="65151" y="0"/>
                </a:cubicBezTo>
              </a:path>
            </a:pathLst>
          </a:custGeom>
          <a:noFill/>
          <a:ln w="12668" cap="rnd">
            <a:solidFill>
              <a:srgbClr val="FFF9E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1" name="nucleosome_component_path_10"/>
          <p:cNvSpPr/>
          <p:nvPr/>
        </p:nvSpPr>
        <p:spPr>
          <a:xfrm>
            <a:off x="4476369" y="5788298"/>
            <a:ext cx="79629" cy="65918"/>
          </a:xfrm>
          <a:custGeom>
            <a:avLst/>
            <a:gdLst/>
            <a:ahLst/>
            <a:cxnLst/>
            <a:rect l="0" t="0" r="r" b="b"/>
            <a:pathLst>
              <a:path w="79629" h="65918">
                <a:moveTo>
                  <a:pt x="0" y="65918"/>
                </a:moveTo>
                <a:lnTo>
                  <a:pt x="79629" y="0"/>
                </a:lnTo>
              </a:path>
            </a:pathLst>
          </a:custGeom>
          <a:noFill/>
          <a:ln w="18097" cap="rnd">
            <a:solidFill>
              <a:srgbClr val="7D815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2" name="nucleosome_component_path_11"/>
          <p:cNvSpPr/>
          <p:nvPr/>
        </p:nvSpPr>
        <p:spPr>
          <a:xfrm>
            <a:off x="4508754" y="5716388"/>
            <a:ext cx="137921" cy="131836"/>
          </a:xfrm>
          <a:custGeom>
            <a:avLst/>
            <a:gdLst/>
            <a:ahLst/>
            <a:cxnLst/>
            <a:rect l="0" t="0" r="r" b="b"/>
            <a:pathLst>
              <a:path w="137921" h="131836">
                <a:moveTo>
                  <a:pt x="68961" y="0"/>
                </a:moveTo>
                <a:lnTo>
                  <a:pt x="137921" y="32959"/>
                </a:lnTo>
                <a:lnTo>
                  <a:pt x="137921" y="98877"/>
                </a:lnTo>
                <a:lnTo>
                  <a:pt x="68961" y="131836"/>
                </a:lnTo>
                <a:lnTo>
                  <a:pt x="0" y="98877"/>
                </a:lnTo>
                <a:lnTo>
                  <a:pt x="0" y="32959"/>
                </a:lnTo>
                <a:close/>
              </a:path>
            </a:pathLst>
          </a:custGeom>
          <a:gradFill rotWithShape="1">
            <a:gsLst>
              <a:gs pos="0">
                <a:srgbClr val="C6DBAA"/>
              </a:gs>
              <a:gs pos="45000">
                <a:srgbClr val="8BB575"/>
              </a:gs>
              <a:gs pos="100000">
                <a:srgbClr val="608B51"/>
              </a:gs>
            </a:gsLst>
            <a:lin ang="3600000" scaled="1"/>
          </a:gradFill>
          <a:ln w="9048" cap="rnd">
            <a:solidFill>
              <a:srgbClr val="4E774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3" name="nucleosome_component_path_12"/>
          <p:cNvSpPr/>
          <p:nvPr/>
        </p:nvSpPr>
        <p:spPr>
          <a:xfrm>
            <a:off x="4541520" y="5740358"/>
            <a:ext cx="28956" cy="17978"/>
          </a:xfrm>
          <a:custGeom>
            <a:avLst/>
            <a:gdLst/>
            <a:ahLst/>
            <a:cxnLst/>
            <a:rect l="0" t="0" r="r" b="b"/>
            <a:pathLst>
              <a:path w="28956" h="17978">
                <a:moveTo>
                  <a:pt x="0" y="17978"/>
                </a:moveTo>
                <a:lnTo>
                  <a:pt x="28956" y="0"/>
                </a:lnTo>
              </a:path>
            </a:pathLst>
          </a:custGeom>
          <a:noFill/>
          <a:ln w="9048" cap="rnd">
            <a:solidFill>
              <a:srgbClr val="DCEAC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4" name="perivascular_macrophage_component_path_1"/>
          <p:cNvSpPr/>
          <p:nvPr/>
        </p:nvSpPr>
        <p:spPr>
          <a:xfrm>
            <a:off x="8653711" y="5345087"/>
            <a:ext cx="757291" cy="732929"/>
          </a:xfrm>
          <a:custGeom>
            <a:avLst/>
            <a:gdLst/>
            <a:ahLst/>
            <a:cxnLst/>
            <a:rect l="0" t="0" r="r" b="b"/>
            <a:pathLst>
              <a:path w="757291" h="732929">
                <a:moveTo>
                  <a:pt x="756643" y="370233"/>
                </a:moveTo>
                <a:cubicBezTo>
                  <a:pt x="755994" y="377231"/>
                  <a:pt x="752112" y="384490"/>
                  <a:pt x="747382" y="391120"/>
                </a:cubicBezTo>
                <a:cubicBezTo>
                  <a:pt x="742653" y="397749"/>
                  <a:pt x="734809" y="404058"/>
                  <a:pt x="728264" y="410009"/>
                </a:cubicBezTo>
                <a:cubicBezTo>
                  <a:pt x="721718" y="415961"/>
                  <a:pt x="713625" y="421273"/>
                  <a:pt x="708109" y="426828"/>
                </a:cubicBezTo>
                <a:cubicBezTo>
                  <a:pt x="702594" y="432383"/>
                  <a:pt x="697699" y="437499"/>
                  <a:pt x="695169" y="443340"/>
                </a:cubicBezTo>
                <a:cubicBezTo>
                  <a:pt x="692638" y="449180"/>
                  <a:pt x="692363" y="455181"/>
                  <a:pt x="692926" y="461871"/>
                </a:cubicBezTo>
                <a:cubicBezTo>
                  <a:pt x="693489" y="468561"/>
                  <a:pt x="696581" y="475989"/>
                  <a:pt x="698547" y="483480"/>
                </a:cubicBezTo>
                <a:cubicBezTo>
                  <a:pt x="700513" y="490971"/>
                  <a:pt x="703846" y="499300"/>
                  <a:pt x="704722" y="506819"/>
                </a:cubicBezTo>
                <a:cubicBezTo>
                  <a:pt x="705598" y="514337"/>
                  <a:pt x="705934" y="522148"/>
                  <a:pt x="703802" y="528592"/>
                </a:cubicBezTo>
                <a:cubicBezTo>
                  <a:pt x="701669" y="535037"/>
                  <a:pt x="697404" y="540844"/>
                  <a:pt x="691929" y="545487"/>
                </a:cubicBezTo>
                <a:cubicBezTo>
                  <a:pt x="686455" y="550129"/>
                  <a:pt x="678411" y="553389"/>
                  <a:pt x="670954" y="556448"/>
                </a:cubicBezTo>
                <a:cubicBezTo>
                  <a:pt x="663497" y="559506"/>
                  <a:pt x="654378" y="561153"/>
                  <a:pt x="647188" y="563837"/>
                </a:cubicBezTo>
                <a:cubicBezTo>
                  <a:pt x="639997" y="566521"/>
                  <a:pt x="632844" y="568626"/>
                  <a:pt x="627813" y="572554"/>
                </a:cubicBezTo>
                <a:cubicBezTo>
                  <a:pt x="622782" y="576481"/>
                  <a:pt x="619329" y="581140"/>
                  <a:pt x="617001" y="587402"/>
                </a:cubicBezTo>
                <a:cubicBezTo>
                  <a:pt x="614674" y="593664"/>
                  <a:pt x="614493" y="601715"/>
                  <a:pt x="613845" y="610125"/>
                </a:cubicBezTo>
                <a:cubicBezTo>
                  <a:pt x="613198" y="618535"/>
                  <a:pt x="614044" y="628863"/>
                  <a:pt x="613114" y="637863"/>
                </a:cubicBezTo>
                <a:cubicBezTo>
                  <a:pt x="612184" y="646864"/>
                  <a:pt x="611296" y="656778"/>
                  <a:pt x="608265" y="664128"/>
                </a:cubicBezTo>
                <a:cubicBezTo>
                  <a:pt x="605234" y="671479"/>
                  <a:pt x="600811" y="678040"/>
                  <a:pt x="594929" y="681968"/>
                </a:cubicBezTo>
                <a:cubicBezTo>
                  <a:pt x="589046" y="685896"/>
                  <a:pt x="581105" y="687505"/>
                  <a:pt x="572969" y="687696"/>
                </a:cubicBezTo>
                <a:cubicBezTo>
                  <a:pt x="564834" y="687887"/>
                  <a:pt x="555011" y="685253"/>
                  <a:pt x="546116" y="683115"/>
                </a:cubicBezTo>
                <a:cubicBezTo>
                  <a:pt x="537221" y="680977"/>
                  <a:pt x="527739" y="676867"/>
                  <a:pt x="519600" y="674870"/>
                </a:cubicBezTo>
                <a:cubicBezTo>
                  <a:pt x="511461" y="672874"/>
                  <a:pt x="503897" y="670725"/>
                  <a:pt x="497281" y="671135"/>
                </a:cubicBezTo>
                <a:cubicBezTo>
                  <a:pt x="490666" y="671545"/>
                  <a:pt x="485232" y="673653"/>
                  <a:pt x="479906" y="677331"/>
                </a:cubicBezTo>
                <a:cubicBezTo>
                  <a:pt x="474581" y="681009"/>
                  <a:pt x="470260" y="687275"/>
                  <a:pt x="465330" y="693202"/>
                </a:cubicBezTo>
                <a:cubicBezTo>
                  <a:pt x="460400" y="699129"/>
                  <a:pt x="455761" y="707082"/>
                  <a:pt x="450326" y="712894"/>
                </a:cubicBezTo>
                <a:cubicBezTo>
                  <a:pt x="444890" y="718707"/>
                  <a:pt x="439022" y="724817"/>
                  <a:pt x="432718" y="728076"/>
                </a:cubicBezTo>
                <a:cubicBezTo>
                  <a:pt x="426414" y="731336"/>
                  <a:pt x="419391" y="732929"/>
                  <a:pt x="412503" y="732449"/>
                </a:cubicBezTo>
                <a:cubicBezTo>
                  <a:pt x="405614" y="731970"/>
                  <a:pt x="398267" y="728694"/>
                  <a:pt x="391388" y="725200"/>
                </a:cubicBezTo>
                <a:cubicBezTo>
                  <a:pt x="384508" y="721706"/>
                  <a:pt x="377705" y="715744"/>
                  <a:pt x="371227" y="711486"/>
                </a:cubicBezTo>
                <a:cubicBezTo>
                  <a:pt x="364748" y="707227"/>
                  <a:pt x="358716" y="702120"/>
                  <a:pt x="352517" y="699651"/>
                </a:cubicBezTo>
                <a:cubicBezTo>
                  <a:pt x="346317" y="697183"/>
                  <a:pt x="340477" y="695899"/>
                  <a:pt x="334027" y="696676"/>
                </a:cubicBezTo>
                <a:cubicBezTo>
                  <a:pt x="327578" y="697453"/>
                  <a:pt x="321000" y="700753"/>
                  <a:pt x="313819" y="704313"/>
                </a:cubicBezTo>
                <a:cubicBezTo>
                  <a:pt x="306638" y="707872"/>
                  <a:pt x="298812" y="713861"/>
                  <a:pt x="290941" y="718033"/>
                </a:cubicBezTo>
                <a:cubicBezTo>
                  <a:pt x="283070" y="722204"/>
                  <a:pt x="274445" y="727311"/>
                  <a:pt x="266593" y="729342"/>
                </a:cubicBezTo>
                <a:cubicBezTo>
                  <a:pt x="258741" y="731374"/>
                  <a:pt x="250622" y="732231"/>
                  <a:pt x="243830" y="730220"/>
                </a:cubicBezTo>
                <a:cubicBezTo>
                  <a:pt x="237038" y="728210"/>
                  <a:pt x="230845" y="723408"/>
                  <a:pt x="225842" y="717278"/>
                </a:cubicBezTo>
                <a:cubicBezTo>
                  <a:pt x="220839" y="711148"/>
                  <a:pt x="217161" y="701934"/>
                  <a:pt x="213810" y="693438"/>
                </a:cubicBezTo>
                <a:cubicBezTo>
                  <a:pt x="210459" y="684942"/>
                  <a:pt x="208512" y="674514"/>
                  <a:pt x="205736" y="666301"/>
                </a:cubicBezTo>
                <a:cubicBezTo>
                  <a:pt x="202959" y="658088"/>
                  <a:pt x="200858" y="649902"/>
                  <a:pt x="197151" y="644159"/>
                </a:cubicBezTo>
                <a:cubicBezTo>
                  <a:pt x="193444" y="638416"/>
                  <a:pt x="189212" y="634437"/>
                  <a:pt x="183495" y="631842"/>
                </a:cubicBezTo>
                <a:cubicBezTo>
                  <a:pt x="177778" y="629248"/>
                  <a:pt x="170533" y="629075"/>
                  <a:pt x="162851" y="628591"/>
                </a:cubicBezTo>
                <a:cubicBezTo>
                  <a:pt x="155170" y="628106"/>
                  <a:pt x="145782" y="629377"/>
                  <a:pt x="137406" y="628937"/>
                </a:cubicBezTo>
                <a:cubicBezTo>
                  <a:pt x="129031" y="628498"/>
                  <a:pt x="119789" y="628283"/>
                  <a:pt x="112598" y="625954"/>
                </a:cubicBezTo>
                <a:cubicBezTo>
                  <a:pt x="105407" y="623626"/>
                  <a:pt x="98813" y="620005"/>
                  <a:pt x="94260" y="614964"/>
                </a:cubicBezTo>
                <a:cubicBezTo>
                  <a:pt x="89706" y="609923"/>
                  <a:pt x="87036" y="602877"/>
                  <a:pt x="85277" y="595708"/>
                </a:cubicBezTo>
                <a:cubicBezTo>
                  <a:pt x="83517" y="588538"/>
                  <a:pt x="83991" y="579740"/>
                  <a:pt x="83703" y="571949"/>
                </a:cubicBezTo>
                <a:cubicBezTo>
                  <a:pt x="83415" y="564158"/>
                  <a:pt x="84503" y="555872"/>
                  <a:pt x="83548" y="548962"/>
                </a:cubicBezTo>
                <a:cubicBezTo>
                  <a:pt x="82593" y="542051"/>
                  <a:pt x="81361" y="535832"/>
                  <a:pt x="77972" y="530487"/>
                </a:cubicBezTo>
                <a:cubicBezTo>
                  <a:pt x="74583" y="525143"/>
                  <a:pt x="69369" y="521068"/>
                  <a:pt x="63213" y="516897"/>
                </a:cubicBezTo>
                <a:cubicBezTo>
                  <a:pt x="57058" y="512726"/>
                  <a:pt x="48537" y="509552"/>
                  <a:pt x="41042" y="505463"/>
                </a:cubicBezTo>
                <a:cubicBezTo>
                  <a:pt x="33546" y="501373"/>
                  <a:pt x="24540" y="497428"/>
                  <a:pt x="18239" y="492361"/>
                </a:cubicBezTo>
                <a:cubicBezTo>
                  <a:pt x="11937" y="487293"/>
                  <a:pt x="6004" y="481511"/>
                  <a:pt x="3235" y="475058"/>
                </a:cubicBezTo>
                <a:cubicBezTo>
                  <a:pt x="466" y="468605"/>
                  <a:pt x="0" y="461084"/>
                  <a:pt x="1624" y="453644"/>
                </a:cubicBezTo>
                <a:cubicBezTo>
                  <a:pt x="3249" y="446204"/>
                  <a:pt x="8121" y="437998"/>
                  <a:pt x="12982" y="430417"/>
                </a:cubicBezTo>
                <a:cubicBezTo>
                  <a:pt x="17843" y="422836"/>
                  <a:pt x="25352" y="415177"/>
                  <a:pt x="30791" y="408160"/>
                </a:cubicBezTo>
                <a:cubicBezTo>
                  <a:pt x="36229" y="401142"/>
                  <a:pt x="42431" y="394635"/>
                  <a:pt x="45611" y="388313"/>
                </a:cubicBezTo>
                <a:cubicBezTo>
                  <a:pt x="48791" y="381992"/>
                  <a:pt x="50517" y="376296"/>
                  <a:pt x="49869" y="370233"/>
                </a:cubicBezTo>
                <a:cubicBezTo>
                  <a:pt x="49220" y="364170"/>
                  <a:pt x="45709" y="358347"/>
                  <a:pt x="41720" y="351936"/>
                </a:cubicBezTo>
                <a:cubicBezTo>
                  <a:pt x="37731" y="345525"/>
                  <a:pt x="31000" y="338793"/>
                  <a:pt x="25934" y="331765"/>
                </a:cubicBezTo>
                <a:cubicBezTo>
                  <a:pt x="20867" y="324737"/>
                  <a:pt x="14624" y="317091"/>
                  <a:pt x="11321" y="309770"/>
                </a:cubicBezTo>
                <a:cubicBezTo>
                  <a:pt x="8018" y="302448"/>
                  <a:pt x="5706" y="294728"/>
                  <a:pt x="6115" y="287835"/>
                </a:cubicBezTo>
                <a:cubicBezTo>
                  <a:pt x="6524" y="280942"/>
                  <a:pt x="9554" y="274271"/>
                  <a:pt x="13774" y="268410"/>
                </a:cubicBezTo>
                <a:cubicBezTo>
                  <a:pt x="17994" y="262549"/>
                  <a:pt x="25106" y="257508"/>
                  <a:pt x="31435" y="252671"/>
                </a:cubicBezTo>
                <a:cubicBezTo>
                  <a:pt x="37764" y="247834"/>
                  <a:pt x="45817" y="243936"/>
                  <a:pt x="51748" y="239388"/>
                </a:cubicBezTo>
                <a:cubicBezTo>
                  <a:pt x="57679" y="234839"/>
                  <a:pt x="63421" y="230704"/>
                  <a:pt x="67020" y="225381"/>
                </a:cubicBezTo>
                <a:cubicBezTo>
                  <a:pt x="70619" y="220058"/>
                  <a:pt x="72429" y="214238"/>
                  <a:pt x="73344" y="207449"/>
                </a:cubicBezTo>
                <a:cubicBezTo>
                  <a:pt x="74259" y="200660"/>
                  <a:pt x="72940" y="192648"/>
                  <a:pt x="72512" y="184647"/>
                </a:cubicBezTo>
                <a:cubicBezTo>
                  <a:pt x="72083" y="176646"/>
                  <a:pt x="70317" y="167412"/>
                  <a:pt x="70770" y="159444"/>
                </a:cubicBezTo>
                <a:cubicBezTo>
                  <a:pt x="71224" y="151476"/>
                  <a:pt x="72029" y="143124"/>
                  <a:pt x="75234" y="136840"/>
                </a:cubicBezTo>
                <a:cubicBezTo>
                  <a:pt x="78439" y="130556"/>
                  <a:pt x="83527" y="125216"/>
                  <a:pt x="90001" y="121739"/>
                </a:cubicBezTo>
                <a:cubicBezTo>
                  <a:pt x="96475" y="118262"/>
                  <a:pt x="105388" y="116802"/>
                  <a:pt x="114081" y="115977"/>
                </a:cubicBezTo>
                <a:cubicBezTo>
                  <a:pt x="122774" y="115151"/>
                  <a:pt x="133238" y="116488"/>
                  <a:pt x="142158" y="116785"/>
                </a:cubicBezTo>
                <a:cubicBezTo>
                  <a:pt x="151077" y="117083"/>
                  <a:pt x="160301" y="118553"/>
                  <a:pt x="167598" y="117760"/>
                </a:cubicBezTo>
                <a:cubicBezTo>
                  <a:pt x="174895" y="116968"/>
                  <a:pt x="181048" y="115659"/>
                  <a:pt x="185939" y="112029"/>
                </a:cubicBezTo>
                <a:cubicBezTo>
                  <a:pt x="190830" y="108399"/>
                  <a:pt x="193893" y="102737"/>
                  <a:pt x="196943" y="95979"/>
                </a:cubicBezTo>
                <a:cubicBezTo>
                  <a:pt x="199992" y="89221"/>
                  <a:pt x="201570" y="79937"/>
                  <a:pt x="204236" y="71482"/>
                </a:cubicBezTo>
                <a:cubicBezTo>
                  <a:pt x="206903" y="63026"/>
                  <a:pt x="209180" y="52909"/>
                  <a:pt x="212942" y="45245"/>
                </a:cubicBezTo>
                <a:cubicBezTo>
                  <a:pt x="216704" y="37582"/>
                  <a:pt x="221222" y="30088"/>
                  <a:pt x="226810" y="25500"/>
                </a:cubicBezTo>
                <a:cubicBezTo>
                  <a:pt x="232399" y="20911"/>
                  <a:pt x="239331" y="18352"/>
                  <a:pt x="246474" y="17716"/>
                </a:cubicBezTo>
                <a:cubicBezTo>
                  <a:pt x="253617" y="17080"/>
                  <a:pt x="261907" y="19372"/>
                  <a:pt x="269670" y="21684"/>
                </a:cubicBezTo>
                <a:cubicBezTo>
                  <a:pt x="277433" y="23995"/>
                  <a:pt x="285611" y="28679"/>
                  <a:pt x="293054" y="31585"/>
                </a:cubicBezTo>
                <a:cubicBezTo>
                  <a:pt x="300497" y="34491"/>
                  <a:pt x="307610" y="38048"/>
                  <a:pt x="314329" y="39119"/>
                </a:cubicBezTo>
                <a:cubicBezTo>
                  <a:pt x="321048" y="40191"/>
                  <a:pt x="327131" y="39954"/>
                  <a:pt x="333369" y="38013"/>
                </a:cubicBezTo>
                <a:cubicBezTo>
                  <a:pt x="339607" y="36071"/>
                  <a:pt x="345449" y="31695"/>
                  <a:pt x="351759" y="27469"/>
                </a:cubicBezTo>
                <a:cubicBezTo>
                  <a:pt x="358068" y="23242"/>
                  <a:pt x="364495" y="16913"/>
                  <a:pt x="371227" y="12655"/>
                </a:cubicBezTo>
                <a:cubicBezTo>
                  <a:pt x="377958" y="8397"/>
                  <a:pt x="385157" y="3656"/>
                  <a:pt x="392146" y="1920"/>
                </a:cubicBezTo>
                <a:cubicBezTo>
                  <a:pt x="399135" y="184"/>
                  <a:pt x="406484" y="0"/>
                  <a:pt x="413161" y="2239"/>
                </a:cubicBezTo>
                <a:cubicBezTo>
                  <a:pt x="419838" y="4479"/>
                  <a:pt x="426366" y="9608"/>
                  <a:pt x="432208" y="15356"/>
                </a:cubicBezTo>
                <a:cubicBezTo>
                  <a:pt x="438050" y="21103"/>
                  <a:pt x="443206" y="29645"/>
                  <a:pt x="448213" y="36723"/>
                </a:cubicBezTo>
                <a:cubicBezTo>
                  <a:pt x="453221" y="43801"/>
                  <a:pt x="457412" y="52177"/>
                  <a:pt x="462253" y="57824"/>
                </a:cubicBezTo>
                <a:cubicBezTo>
                  <a:pt x="467095" y="63471"/>
                  <a:pt x="471586" y="68303"/>
                  <a:pt x="477262" y="70606"/>
                </a:cubicBezTo>
                <a:cubicBezTo>
                  <a:pt x="482939" y="72909"/>
                  <a:pt x="489112" y="72775"/>
                  <a:pt x="496313" y="71642"/>
                </a:cubicBezTo>
                <a:cubicBezTo>
                  <a:pt x="503513" y="70510"/>
                  <a:pt x="511917" y="66642"/>
                  <a:pt x="520468" y="63813"/>
                </a:cubicBezTo>
                <a:cubicBezTo>
                  <a:pt x="529018" y="60984"/>
                  <a:pt x="538830" y="56563"/>
                  <a:pt x="547615" y="54668"/>
                </a:cubicBezTo>
                <a:cubicBezTo>
                  <a:pt x="556400" y="52773"/>
                  <a:pt x="565699" y="51236"/>
                  <a:pt x="573178" y="52442"/>
                </a:cubicBezTo>
                <a:cubicBezTo>
                  <a:pt x="580656" y="53648"/>
                  <a:pt x="587428" y="56940"/>
                  <a:pt x="592485" y="61903"/>
                </a:cubicBezTo>
                <a:cubicBezTo>
                  <a:pt x="597541" y="66867"/>
                  <a:pt x="600871" y="74563"/>
                  <a:pt x="603518" y="82223"/>
                </a:cubicBezTo>
                <a:cubicBezTo>
                  <a:pt x="606164" y="89882"/>
                  <a:pt x="606889" y="99596"/>
                  <a:pt x="608363" y="107860"/>
                </a:cubicBezTo>
                <a:cubicBezTo>
                  <a:pt x="609837" y="116124"/>
                  <a:pt x="610213" y="124900"/>
                  <a:pt x="612363" y="131806"/>
                </a:cubicBezTo>
                <a:cubicBezTo>
                  <a:pt x="614513" y="138713"/>
                  <a:pt x="617012" y="144603"/>
                  <a:pt x="621260" y="149300"/>
                </a:cubicBezTo>
                <a:cubicBezTo>
                  <a:pt x="625509" y="153998"/>
                  <a:pt x="631378" y="156951"/>
                  <a:pt x="637855" y="159994"/>
                </a:cubicBezTo>
                <a:cubicBezTo>
                  <a:pt x="644332" y="163036"/>
                  <a:pt x="652765" y="164694"/>
                  <a:pt x="660121" y="167555"/>
                </a:cubicBezTo>
                <a:cubicBezTo>
                  <a:pt x="667477" y="170417"/>
                  <a:pt x="675918" y="173012"/>
                  <a:pt x="681991" y="177161"/>
                </a:cubicBezTo>
                <a:cubicBezTo>
                  <a:pt x="688064" y="181310"/>
                  <a:pt x="693556" y="186362"/>
                  <a:pt x="696557" y="192450"/>
                </a:cubicBezTo>
                <a:cubicBezTo>
                  <a:pt x="699558" y="198537"/>
                  <a:pt x="700418" y="206089"/>
                  <a:pt x="699995" y="213686"/>
                </a:cubicBezTo>
                <a:cubicBezTo>
                  <a:pt x="699571" y="221283"/>
                  <a:pt x="696456" y="230054"/>
                  <a:pt x="694016" y="238032"/>
                </a:cubicBezTo>
                <a:cubicBezTo>
                  <a:pt x="691575" y="246009"/>
                  <a:pt x="687289" y="254291"/>
                  <a:pt x="685351" y="261551"/>
                </a:cubicBezTo>
                <a:cubicBezTo>
                  <a:pt x="683413" y="268812"/>
                  <a:pt x="681499" y="275499"/>
                  <a:pt x="682387" y="281597"/>
                </a:cubicBezTo>
                <a:cubicBezTo>
                  <a:pt x="683275" y="287695"/>
                  <a:pt x="686114" y="292846"/>
                  <a:pt x="690678" y="298140"/>
                </a:cubicBezTo>
                <a:cubicBezTo>
                  <a:pt x="695242" y="303433"/>
                  <a:pt x="702696" y="308062"/>
                  <a:pt x="709770" y="313358"/>
                </a:cubicBezTo>
                <a:cubicBezTo>
                  <a:pt x="716844" y="318654"/>
                  <a:pt x="726203" y="323954"/>
                  <a:pt x="733121" y="329915"/>
                </a:cubicBezTo>
                <a:cubicBezTo>
                  <a:pt x="740038" y="335877"/>
                  <a:pt x="747353" y="342410"/>
                  <a:pt x="751273" y="349130"/>
                </a:cubicBezTo>
                <a:cubicBezTo>
                  <a:pt x="755194" y="355849"/>
                  <a:pt x="757291" y="363234"/>
                  <a:pt x="756643" y="370233"/>
                </a:cubicBezTo>
                <a:close/>
              </a:path>
            </a:pathLst>
          </a:custGeom>
          <a:gradFill rotWithShape="1">
            <a:gsLst>
              <a:gs pos="0">
                <a:srgbClr val="F0EAF8"/>
              </a:gs>
              <a:gs pos="27000">
                <a:srgbClr val="DAD0ED"/>
              </a:gs>
              <a:gs pos="67000">
                <a:srgbClr val="C3B1E0"/>
              </a:gs>
              <a:gs pos="100000">
                <a:srgbClr val="AD96D2"/>
              </a:gs>
            </a:gsLst>
            <a:lin ang="3600000" scaled="1"/>
          </a:gradFill>
          <a:ln w="15317" cap="rnd">
            <a:solidFill>
              <a:srgbClr val="7660A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5" name="perivascular_macrophage_component_path_2"/>
          <p:cNvSpPr/>
          <p:nvPr/>
        </p:nvSpPr>
        <p:spPr>
          <a:xfrm>
            <a:off x="8675984" y="5367301"/>
            <a:ext cx="711854" cy="688953"/>
          </a:xfrm>
          <a:custGeom>
            <a:avLst/>
            <a:gdLst/>
            <a:ahLst/>
            <a:cxnLst/>
            <a:rect l="0" t="0" r="r" b="b"/>
            <a:pathLst>
              <a:path w="711854" h="688953">
                <a:moveTo>
                  <a:pt x="711244" y="348019"/>
                </a:moveTo>
                <a:cubicBezTo>
                  <a:pt x="710635" y="354597"/>
                  <a:pt x="706986" y="361421"/>
                  <a:pt x="702539" y="367653"/>
                </a:cubicBezTo>
                <a:cubicBezTo>
                  <a:pt x="698093" y="373884"/>
                  <a:pt x="690721" y="379814"/>
                  <a:pt x="684568" y="385409"/>
                </a:cubicBezTo>
                <a:cubicBezTo>
                  <a:pt x="678415" y="391003"/>
                  <a:pt x="670808" y="395997"/>
                  <a:pt x="665623" y="401219"/>
                </a:cubicBezTo>
                <a:cubicBezTo>
                  <a:pt x="660438" y="406440"/>
                  <a:pt x="655837" y="411249"/>
                  <a:pt x="653459" y="416739"/>
                </a:cubicBezTo>
                <a:cubicBezTo>
                  <a:pt x="651080" y="422229"/>
                  <a:pt x="650821" y="427870"/>
                  <a:pt x="651350" y="434159"/>
                </a:cubicBezTo>
                <a:cubicBezTo>
                  <a:pt x="651880" y="440448"/>
                  <a:pt x="654786" y="447429"/>
                  <a:pt x="656634" y="454471"/>
                </a:cubicBezTo>
                <a:cubicBezTo>
                  <a:pt x="658482" y="461513"/>
                  <a:pt x="661616" y="469342"/>
                  <a:pt x="662439" y="476410"/>
                </a:cubicBezTo>
                <a:cubicBezTo>
                  <a:pt x="663262" y="483477"/>
                  <a:pt x="663578" y="490819"/>
                  <a:pt x="661574" y="496877"/>
                </a:cubicBezTo>
                <a:cubicBezTo>
                  <a:pt x="659569" y="502935"/>
                  <a:pt x="655559" y="508394"/>
                  <a:pt x="650413" y="512758"/>
                </a:cubicBezTo>
                <a:cubicBezTo>
                  <a:pt x="645267" y="517122"/>
                  <a:pt x="637707" y="520186"/>
                  <a:pt x="630697" y="523061"/>
                </a:cubicBezTo>
                <a:cubicBezTo>
                  <a:pt x="623687" y="525936"/>
                  <a:pt x="615115" y="527483"/>
                  <a:pt x="608356" y="530007"/>
                </a:cubicBezTo>
                <a:cubicBezTo>
                  <a:pt x="601597" y="532530"/>
                  <a:pt x="594873" y="534508"/>
                  <a:pt x="590144" y="538200"/>
                </a:cubicBezTo>
                <a:cubicBezTo>
                  <a:pt x="585415" y="541892"/>
                  <a:pt x="582170" y="546272"/>
                  <a:pt x="579981" y="552158"/>
                </a:cubicBezTo>
                <a:cubicBezTo>
                  <a:pt x="577793" y="558044"/>
                  <a:pt x="577624" y="565612"/>
                  <a:pt x="577015" y="573517"/>
                </a:cubicBezTo>
                <a:cubicBezTo>
                  <a:pt x="576406" y="581423"/>
                  <a:pt x="577202" y="591131"/>
                  <a:pt x="576327" y="599591"/>
                </a:cubicBezTo>
                <a:cubicBezTo>
                  <a:pt x="575453" y="608052"/>
                  <a:pt x="574618" y="617371"/>
                  <a:pt x="571769" y="624281"/>
                </a:cubicBezTo>
                <a:cubicBezTo>
                  <a:pt x="568920" y="631190"/>
                  <a:pt x="564762" y="637358"/>
                  <a:pt x="559233" y="641050"/>
                </a:cubicBezTo>
                <a:cubicBezTo>
                  <a:pt x="553703" y="644742"/>
                  <a:pt x="546238" y="646255"/>
                  <a:pt x="538591" y="646434"/>
                </a:cubicBezTo>
                <a:cubicBezTo>
                  <a:pt x="530944" y="646614"/>
                  <a:pt x="521710" y="644137"/>
                  <a:pt x="513349" y="642128"/>
                </a:cubicBezTo>
                <a:cubicBezTo>
                  <a:pt x="504988" y="640119"/>
                  <a:pt x="496075" y="636255"/>
                  <a:pt x="488424" y="634378"/>
                </a:cubicBezTo>
                <a:cubicBezTo>
                  <a:pt x="480773" y="632501"/>
                  <a:pt x="473663" y="630481"/>
                  <a:pt x="467444" y="630867"/>
                </a:cubicBezTo>
                <a:cubicBezTo>
                  <a:pt x="461226" y="631253"/>
                  <a:pt x="456118" y="633234"/>
                  <a:pt x="451112" y="636691"/>
                </a:cubicBezTo>
                <a:cubicBezTo>
                  <a:pt x="446106" y="640149"/>
                  <a:pt x="442045" y="646039"/>
                  <a:pt x="437410" y="651610"/>
                </a:cubicBezTo>
                <a:cubicBezTo>
                  <a:pt x="432776" y="657182"/>
                  <a:pt x="428416" y="664657"/>
                  <a:pt x="423306" y="670121"/>
                </a:cubicBezTo>
                <a:cubicBezTo>
                  <a:pt x="418197" y="675584"/>
                  <a:pt x="412680" y="681328"/>
                  <a:pt x="406755" y="684392"/>
                </a:cubicBezTo>
                <a:cubicBezTo>
                  <a:pt x="400829" y="687455"/>
                  <a:pt x="394227" y="688953"/>
                  <a:pt x="387752" y="688502"/>
                </a:cubicBezTo>
                <a:cubicBezTo>
                  <a:pt x="381277" y="688052"/>
                  <a:pt x="374371" y="684973"/>
                  <a:pt x="367904" y="681688"/>
                </a:cubicBezTo>
                <a:cubicBezTo>
                  <a:pt x="361438" y="678404"/>
                  <a:pt x="355043" y="672799"/>
                  <a:pt x="348953" y="668796"/>
                </a:cubicBezTo>
                <a:cubicBezTo>
                  <a:pt x="342863" y="664794"/>
                  <a:pt x="337194" y="659992"/>
                  <a:pt x="331366" y="657672"/>
                </a:cubicBezTo>
                <a:cubicBezTo>
                  <a:pt x="325538" y="655352"/>
                  <a:pt x="320048" y="654145"/>
                  <a:pt x="313986" y="654875"/>
                </a:cubicBezTo>
                <a:cubicBezTo>
                  <a:pt x="307923" y="655606"/>
                  <a:pt x="301740" y="658708"/>
                  <a:pt x="294990" y="662054"/>
                </a:cubicBezTo>
                <a:cubicBezTo>
                  <a:pt x="288240" y="665400"/>
                  <a:pt x="280884" y="671029"/>
                  <a:pt x="273485" y="674951"/>
                </a:cubicBezTo>
                <a:cubicBezTo>
                  <a:pt x="266086" y="678872"/>
                  <a:pt x="257978" y="683672"/>
                  <a:pt x="250597" y="685582"/>
                </a:cubicBezTo>
                <a:cubicBezTo>
                  <a:pt x="243217" y="687491"/>
                  <a:pt x="235584" y="688297"/>
                  <a:pt x="229200" y="686407"/>
                </a:cubicBezTo>
                <a:cubicBezTo>
                  <a:pt x="222816" y="684517"/>
                  <a:pt x="216994" y="680004"/>
                  <a:pt x="212291" y="674241"/>
                </a:cubicBezTo>
                <a:cubicBezTo>
                  <a:pt x="207588" y="668479"/>
                  <a:pt x="204131" y="659818"/>
                  <a:pt x="200981" y="651832"/>
                </a:cubicBezTo>
                <a:cubicBezTo>
                  <a:pt x="197831" y="643845"/>
                  <a:pt x="196001" y="634044"/>
                  <a:pt x="193391" y="626323"/>
                </a:cubicBezTo>
                <a:cubicBezTo>
                  <a:pt x="190782" y="618603"/>
                  <a:pt x="188807" y="610908"/>
                  <a:pt x="185322" y="605509"/>
                </a:cubicBezTo>
                <a:cubicBezTo>
                  <a:pt x="181838" y="600111"/>
                  <a:pt x="177859" y="596371"/>
                  <a:pt x="172485" y="593932"/>
                </a:cubicBezTo>
                <a:cubicBezTo>
                  <a:pt x="167112" y="591493"/>
                  <a:pt x="160301" y="591330"/>
                  <a:pt x="153080" y="590875"/>
                </a:cubicBezTo>
                <a:cubicBezTo>
                  <a:pt x="145860" y="590420"/>
                  <a:pt x="137035" y="591614"/>
                  <a:pt x="129162" y="591201"/>
                </a:cubicBezTo>
                <a:cubicBezTo>
                  <a:pt x="121289" y="590788"/>
                  <a:pt x="112602" y="590586"/>
                  <a:pt x="105842" y="588397"/>
                </a:cubicBezTo>
                <a:cubicBezTo>
                  <a:pt x="99083" y="586208"/>
                  <a:pt x="92884" y="582805"/>
                  <a:pt x="88604" y="578066"/>
                </a:cubicBezTo>
                <a:cubicBezTo>
                  <a:pt x="84324" y="573327"/>
                  <a:pt x="81814" y="566704"/>
                  <a:pt x="80160" y="559965"/>
                </a:cubicBezTo>
                <a:cubicBezTo>
                  <a:pt x="78506" y="553226"/>
                  <a:pt x="78952" y="544955"/>
                  <a:pt x="78681" y="537632"/>
                </a:cubicBezTo>
                <a:cubicBezTo>
                  <a:pt x="78410" y="530308"/>
                  <a:pt x="79433" y="522520"/>
                  <a:pt x="78535" y="516024"/>
                </a:cubicBezTo>
                <a:cubicBezTo>
                  <a:pt x="77637" y="509528"/>
                  <a:pt x="76479" y="503682"/>
                  <a:pt x="73294" y="498658"/>
                </a:cubicBezTo>
                <a:cubicBezTo>
                  <a:pt x="70108" y="493635"/>
                  <a:pt x="65206" y="489804"/>
                  <a:pt x="59421" y="485883"/>
                </a:cubicBezTo>
                <a:cubicBezTo>
                  <a:pt x="53635" y="481963"/>
                  <a:pt x="45625" y="478979"/>
                  <a:pt x="38579" y="475135"/>
                </a:cubicBezTo>
                <a:cubicBezTo>
                  <a:pt x="31533" y="471291"/>
                  <a:pt x="23067" y="467582"/>
                  <a:pt x="17144" y="462819"/>
                </a:cubicBezTo>
                <a:cubicBezTo>
                  <a:pt x="11221" y="458055"/>
                  <a:pt x="5644" y="452620"/>
                  <a:pt x="3041" y="446554"/>
                </a:cubicBezTo>
                <a:cubicBezTo>
                  <a:pt x="438" y="440489"/>
                  <a:pt x="0" y="433419"/>
                  <a:pt x="1527" y="426425"/>
                </a:cubicBezTo>
                <a:cubicBezTo>
                  <a:pt x="3054" y="419432"/>
                  <a:pt x="7634" y="411718"/>
                  <a:pt x="12203" y="404592"/>
                </a:cubicBezTo>
                <a:cubicBezTo>
                  <a:pt x="16772" y="397466"/>
                  <a:pt x="23831" y="390266"/>
                  <a:pt x="28943" y="383670"/>
                </a:cubicBezTo>
                <a:cubicBezTo>
                  <a:pt x="34055" y="377074"/>
                  <a:pt x="39885" y="370957"/>
                  <a:pt x="42874" y="365015"/>
                </a:cubicBezTo>
                <a:cubicBezTo>
                  <a:pt x="45863" y="359073"/>
                  <a:pt x="47486" y="353718"/>
                  <a:pt x="46877" y="348019"/>
                </a:cubicBezTo>
                <a:cubicBezTo>
                  <a:pt x="46267" y="342320"/>
                  <a:pt x="42967" y="336847"/>
                  <a:pt x="39217" y="330820"/>
                </a:cubicBezTo>
                <a:cubicBezTo>
                  <a:pt x="35467" y="324793"/>
                  <a:pt x="29140" y="318465"/>
                  <a:pt x="24378" y="311859"/>
                </a:cubicBezTo>
                <a:cubicBezTo>
                  <a:pt x="19615" y="305253"/>
                  <a:pt x="13747" y="298066"/>
                  <a:pt x="10642" y="291184"/>
                </a:cubicBezTo>
                <a:cubicBezTo>
                  <a:pt x="7537" y="284301"/>
                  <a:pt x="5364" y="277045"/>
                  <a:pt x="5748" y="270565"/>
                </a:cubicBezTo>
                <a:cubicBezTo>
                  <a:pt x="6133" y="264085"/>
                  <a:pt x="8981" y="257814"/>
                  <a:pt x="12948" y="252305"/>
                </a:cubicBezTo>
                <a:cubicBezTo>
                  <a:pt x="16915" y="246796"/>
                  <a:pt x="23599" y="242057"/>
                  <a:pt x="29549" y="237510"/>
                </a:cubicBezTo>
                <a:cubicBezTo>
                  <a:pt x="35498" y="232964"/>
                  <a:pt x="43068" y="229300"/>
                  <a:pt x="48643" y="225024"/>
                </a:cubicBezTo>
                <a:cubicBezTo>
                  <a:pt x="54218" y="220749"/>
                  <a:pt x="59616" y="216862"/>
                  <a:pt x="62999" y="211858"/>
                </a:cubicBezTo>
                <a:cubicBezTo>
                  <a:pt x="66382" y="206855"/>
                  <a:pt x="68083" y="201384"/>
                  <a:pt x="68943" y="195002"/>
                </a:cubicBezTo>
                <a:cubicBezTo>
                  <a:pt x="69804" y="188621"/>
                  <a:pt x="68564" y="181089"/>
                  <a:pt x="68161" y="173568"/>
                </a:cubicBezTo>
                <a:cubicBezTo>
                  <a:pt x="67758" y="166047"/>
                  <a:pt x="66098" y="157367"/>
                  <a:pt x="66524" y="149877"/>
                </a:cubicBezTo>
                <a:cubicBezTo>
                  <a:pt x="66951" y="142387"/>
                  <a:pt x="67707" y="134536"/>
                  <a:pt x="70720" y="128629"/>
                </a:cubicBezTo>
                <a:cubicBezTo>
                  <a:pt x="73733" y="122722"/>
                  <a:pt x="78515" y="117703"/>
                  <a:pt x="84601" y="114434"/>
                </a:cubicBezTo>
                <a:cubicBezTo>
                  <a:pt x="90687" y="111166"/>
                  <a:pt x="99065" y="109794"/>
                  <a:pt x="107236" y="109018"/>
                </a:cubicBezTo>
                <a:cubicBezTo>
                  <a:pt x="115407" y="108242"/>
                  <a:pt x="125244" y="109499"/>
                  <a:pt x="133628" y="109778"/>
                </a:cubicBezTo>
                <a:cubicBezTo>
                  <a:pt x="142013" y="110058"/>
                  <a:pt x="150683" y="111440"/>
                  <a:pt x="157542" y="110695"/>
                </a:cubicBezTo>
                <a:cubicBezTo>
                  <a:pt x="164401" y="109950"/>
                  <a:pt x="170185" y="108719"/>
                  <a:pt x="174782" y="105307"/>
                </a:cubicBezTo>
                <a:cubicBezTo>
                  <a:pt x="179380" y="101895"/>
                  <a:pt x="182260" y="96573"/>
                  <a:pt x="185126" y="90220"/>
                </a:cubicBezTo>
                <a:cubicBezTo>
                  <a:pt x="187993" y="83868"/>
                  <a:pt x="189475" y="75141"/>
                  <a:pt x="191982" y="67193"/>
                </a:cubicBezTo>
                <a:cubicBezTo>
                  <a:pt x="194488" y="59245"/>
                  <a:pt x="196629" y="49734"/>
                  <a:pt x="200165" y="42531"/>
                </a:cubicBezTo>
                <a:cubicBezTo>
                  <a:pt x="203702" y="35327"/>
                  <a:pt x="207948" y="28282"/>
                  <a:pt x="213202" y="23970"/>
                </a:cubicBezTo>
                <a:cubicBezTo>
                  <a:pt x="218455" y="19657"/>
                  <a:pt x="224971" y="17251"/>
                  <a:pt x="231685" y="16653"/>
                </a:cubicBezTo>
                <a:cubicBezTo>
                  <a:pt x="238400" y="16056"/>
                  <a:pt x="246192" y="18210"/>
                  <a:pt x="253490" y="20383"/>
                </a:cubicBezTo>
                <a:cubicBezTo>
                  <a:pt x="260787" y="22555"/>
                  <a:pt x="268474" y="26958"/>
                  <a:pt x="275471" y="29690"/>
                </a:cubicBezTo>
                <a:cubicBezTo>
                  <a:pt x="282467" y="32421"/>
                  <a:pt x="289153" y="35765"/>
                  <a:pt x="295469" y="36772"/>
                </a:cubicBezTo>
                <a:cubicBezTo>
                  <a:pt x="301785" y="37779"/>
                  <a:pt x="307503" y="37557"/>
                  <a:pt x="313367" y="35732"/>
                </a:cubicBezTo>
                <a:cubicBezTo>
                  <a:pt x="319231" y="33907"/>
                  <a:pt x="324722" y="29793"/>
                  <a:pt x="330653" y="25821"/>
                </a:cubicBezTo>
                <a:cubicBezTo>
                  <a:pt x="336584" y="21848"/>
                  <a:pt x="342626" y="15898"/>
                  <a:pt x="348953" y="11895"/>
                </a:cubicBezTo>
                <a:cubicBezTo>
                  <a:pt x="355280" y="7893"/>
                  <a:pt x="362047" y="3436"/>
                  <a:pt x="368617" y="1805"/>
                </a:cubicBezTo>
                <a:cubicBezTo>
                  <a:pt x="375187" y="173"/>
                  <a:pt x="382095" y="0"/>
                  <a:pt x="388371" y="2105"/>
                </a:cubicBezTo>
                <a:cubicBezTo>
                  <a:pt x="394648" y="4210"/>
                  <a:pt x="400784" y="9032"/>
                  <a:pt x="406276" y="14434"/>
                </a:cubicBezTo>
                <a:cubicBezTo>
                  <a:pt x="411767" y="19837"/>
                  <a:pt x="416613" y="27866"/>
                  <a:pt x="421321" y="34519"/>
                </a:cubicBezTo>
                <a:cubicBezTo>
                  <a:pt x="426028" y="41173"/>
                  <a:pt x="429967" y="49046"/>
                  <a:pt x="434518" y="54354"/>
                </a:cubicBezTo>
                <a:cubicBezTo>
                  <a:pt x="439069" y="59663"/>
                  <a:pt x="443291" y="64204"/>
                  <a:pt x="448627" y="66369"/>
                </a:cubicBezTo>
                <a:cubicBezTo>
                  <a:pt x="453963" y="68534"/>
                  <a:pt x="459765" y="68408"/>
                  <a:pt x="466534" y="67344"/>
                </a:cubicBezTo>
                <a:cubicBezTo>
                  <a:pt x="473303" y="66280"/>
                  <a:pt x="481202" y="62644"/>
                  <a:pt x="489240" y="59985"/>
                </a:cubicBezTo>
                <a:cubicBezTo>
                  <a:pt x="497277" y="57325"/>
                  <a:pt x="506501" y="53170"/>
                  <a:pt x="514759" y="51388"/>
                </a:cubicBezTo>
                <a:cubicBezTo>
                  <a:pt x="523016" y="49606"/>
                  <a:pt x="531757" y="48162"/>
                  <a:pt x="538787" y="49295"/>
                </a:cubicBezTo>
                <a:cubicBezTo>
                  <a:pt x="545817" y="50429"/>
                  <a:pt x="552182" y="53523"/>
                  <a:pt x="556936" y="58189"/>
                </a:cubicBezTo>
                <a:cubicBezTo>
                  <a:pt x="561689" y="62855"/>
                  <a:pt x="564819" y="70089"/>
                  <a:pt x="567307" y="77289"/>
                </a:cubicBezTo>
                <a:cubicBezTo>
                  <a:pt x="569794" y="84489"/>
                  <a:pt x="570475" y="93620"/>
                  <a:pt x="571861" y="101388"/>
                </a:cubicBezTo>
                <a:cubicBezTo>
                  <a:pt x="573247" y="109156"/>
                  <a:pt x="573601" y="117406"/>
                  <a:pt x="575621" y="123898"/>
                </a:cubicBezTo>
                <a:cubicBezTo>
                  <a:pt x="577642" y="130390"/>
                  <a:pt x="579991" y="135926"/>
                  <a:pt x="583985" y="140342"/>
                </a:cubicBezTo>
                <a:cubicBezTo>
                  <a:pt x="587978" y="144758"/>
                  <a:pt x="593495" y="147534"/>
                  <a:pt x="599584" y="150394"/>
                </a:cubicBezTo>
                <a:cubicBezTo>
                  <a:pt x="605672" y="153254"/>
                  <a:pt x="613599" y="154812"/>
                  <a:pt x="620513" y="157502"/>
                </a:cubicBezTo>
                <a:cubicBezTo>
                  <a:pt x="627428" y="160192"/>
                  <a:pt x="635363" y="162631"/>
                  <a:pt x="641071" y="166532"/>
                </a:cubicBezTo>
                <a:cubicBezTo>
                  <a:pt x="646780" y="170432"/>
                  <a:pt x="651943" y="175181"/>
                  <a:pt x="654764" y="180903"/>
                </a:cubicBezTo>
                <a:cubicBezTo>
                  <a:pt x="657584" y="186625"/>
                  <a:pt x="658393" y="193723"/>
                  <a:pt x="657995" y="200865"/>
                </a:cubicBezTo>
                <a:cubicBezTo>
                  <a:pt x="657597" y="208006"/>
                  <a:pt x="654669" y="216251"/>
                  <a:pt x="652375" y="223750"/>
                </a:cubicBezTo>
                <a:cubicBezTo>
                  <a:pt x="650081" y="231249"/>
                  <a:pt x="646052" y="239033"/>
                  <a:pt x="644230" y="245858"/>
                </a:cubicBezTo>
                <a:cubicBezTo>
                  <a:pt x="642408" y="252683"/>
                  <a:pt x="640609" y="258969"/>
                  <a:pt x="641443" y="264701"/>
                </a:cubicBezTo>
                <a:cubicBezTo>
                  <a:pt x="642278" y="270433"/>
                  <a:pt x="644947" y="275275"/>
                  <a:pt x="649238" y="280251"/>
                </a:cubicBezTo>
                <a:cubicBezTo>
                  <a:pt x="653528" y="285227"/>
                  <a:pt x="660534" y="289579"/>
                  <a:pt x="667184" y="294557"/>
                </a:cubicBezTo>
                <a:cubicBezTo>
                  <a:pt x="673833" y="299535"/>
                  <a:pt x="682631" y="304516"/>
                  <a:pt x="689133" y="310120"/>
                </a:cubicBezTo>
                <a:cubicBezTo>
                  <a:pt x="695636" y="315725"/>
                  <a:pt x="702512" y="321866"/>
                  <a:pt x="706197" y="328182"/>
                </a:cubicBezTo>
                <a:cubicBezTo>
                  <a:pt x="709882" y="334498"/>
                  <a:pt x="711854" y="341440"/>
                  <a:pt x="711244" y="348019"/>
                </a:cubicBezTo>
                <a:close/>
              </a:path>
            </a:pathLst>
          </a:custGeom>
          <a:noFill/>
          <a:ln w="7905" cap="rnd">
            <a:solidFill>
              <a:srgbClr val="DED4E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6" name="perivascular_macrophage_component_oval_3"/>
          <p:cNvSpPr/>
          <p:nvPr/>
        </p:nvSpPr>
        <p:spPr>
          <a:xfrm>
            <a:off x="9243274" y="5762003"/>
            <a:ext cx="22927" cy="22669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7" name="perivascular_macrophage_component_oval_4"/>
          <p:cNvSpPr/>
          <p:nvPr/>
        </p:nvSpPr>
        <p:spPr>
          <a:xfrm>
            <a:off x="9214869" y="5839140"/>
            <a:ext cx="28065" cy="27750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8" name="perivascular_macrophage_component_oval_5"/>
          <p:cNvSpPr/>
          <p:nvPr/>
        </p:nvSpPr>
        <p:spPr>
          <a:xfrm>
            <a:off x="9135886" y="5874570"/>
            <a:ext cx="33204" cy="3283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9" name="perivascular_macrophage_component_oval_6"/>
          <p:cNvSpPr/>
          <p:nvPr/>
        </p:nvSpPr>
        <p:spPr>
          <a:xfrm>
            <a:off x="9084312" y="5953568"/>
            <a:ext cx="22927" cy="22669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0" name="perivascular_macrophage_component_oval_7"/>
          <p:cNvSpPr/>
          <p:nvPr/>
        </p:nvSpPr>
        <p:spPr>
          <a:xfrm>
            <a:off x="8995183" y="5907045"/>
            <a:ext cx="28065" cy="27750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1" name="perivascular_macrophage_component_oval_8"/>
          <p:cNvSpPr/>
          <p:nvPr/>
        </p:nvSpPr>
        <p:spPr>
          <a:xfrm>
            <a:off x="8898710" y="5938702"/>
            <a:ext cx="33204" cy="3283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2" name="perivascular_macrophage_component_oval_9"/>
          <p:cNvSpPr/>
          <p:nvPr/>
        </p:nvSpPr>
        <p:spPr>
          <a:xfrm>
            <a:off x="8865899" y="5853387"/>
            <a:ext cx="22927" cy="22669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3" name="perivascular_macrophage_component_oval_10"/>
          <p:cNvSpPr/>
          <p:nvPr/>
        </p:nvSpPr>
        <p:spPr>
          <a:xfrm>
            <a:off x="8779173" y="5811599"/>
            <a:ext cx="28065" cy="27750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4" name="perivascular_macrophage_component_oval_11"/>
          <p:cNvSpPr/>
          <p:nvPr/>
        </p:nvSpPr>
        <p:spPr>
          <a:xfrm>
            <a:off x="8783898" y="5720961"/>
            <a:ext cx="33204" cy="3283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5" name="perivascular_macrophage_component_oval_12"/>
          <p:cNvSpPr/>
          <p:nvPr/>
        </p:nvSpPr>
        <p:spPr>
          <a:xfrm>
            <a:off x="8781770" y="5645487"/>
            <a:ext cx="22927" cy="22669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6" name="perivascular_macrophage_component_oval_13"/>
          <p:cNvSpPr/>
          <p:nvPr/>
        </p:nvSpPr>
        <p:spPr>
          <a:xfrm>
            <a:off x="8808488" y="5564795"/>
            <a:ext cx="28065" cy="27750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7" name="perivascular_macrophage_component_oval_14"/>
          <p:cNvSpPr/>
          <p:nvPr/>
        </p:nvSpPr>
        <p:spPr>
          <a:xfrm>
            <a:off x="8879871" y="5521981"/>
            <a:ext cx="33204" cy="3283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8" name="perivascular_macrophage_component_oval_15"/>
          <p:cNvSpPr/>
          <p:nvPr/>
        </p:nvSpPr>
        <p:spPr>
          <a:xfrm>
            <a:off x="8942927" y="5455429"/>
            <a:ext cx="22927" cy="22669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9" name="perivascular_macrophage_component_oval_16"/>
          <p:cNvSpPr/>
          <p:nvPr/>
        </p:nvSpPr>
        <p:spPr>
          <a:xfrm>
            <a:off x="9026662" y="5495388"/>
            <a:ext cx="28065" cy="27750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0" name="perivascular_macrophage_component_oval_17"/>
          <p:cNvSpPr/>
          <p:nvPr/>
        </p:nvSpPr>
        <p:spPr>
          <a:xfrm>
            <a:off x="9118045" y="5458924"/>
            <a:ext cx="33204" cy="3283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1" name="perivascular_macrophage_component_oval_18"/>
          <p:cNvSpPr/>
          <p:nvPr/>
        </p:nvSpPr>
        <p:spPr>
          <a:xfrm>
            <a:off x="9160458" y="5555183"/>
            <a:ext cx="22927" cy="22669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2" name="perivascular_macrophage_component_oval_19"/>
          <p:cNvSpPr/>
          <p:nvPr/>
        </p:nvSpPr>
        <p:spPr>
          <a:xfrm>
            <a:off x="9243892" y="5590694"/>
            <a:ext cx="28065" cy="27750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3" name="perivascular_macrophage_component_oval_20"/>
          <p:cNvSpPr/>
          <p:nvPr/>
        </p:nvSpPr>
        <p:spPr>
          <a:xfrm>
            <a:off x="9231004" y="5677022"/>
            <a:ext cx="33204" cy="32831"/>
          </a:xfrm>
          <a:prstGeom prst="ellipse">
            <a:avLst/>
          </a:prstGeom>
          <a:gradFill rotWithShape="1">
            <a:gsLst>
              <a:gs pos="0">
                <a:srgbClr val="E5D9F1"/>
              </a:gs>
              <a:gs pos="100000">
                <a:srgbClr val="A28AC3"/>
              </a:gs>
            </a:gsLst>
            <a:lin ang="4200000" scaled="1"/>
          </a:gradFill>
          <a:ln w="5435">
            <a:solidFill>
              <a:srgbClr val="8E74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4" name="perivascular_macrophage_component_oval_21"/>
          <p:cNvSpPr/>
          <p:nvPr/>
        </p:nvSpPr>
        <p:spPr>
          <a:xfrm>
            <a:off x="8837571" y="5561327"/>
            <a:ext cx="11068" cy="10944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5" name="perivascular_macrophage_component_oval_22"/>
          <p:cNvSpPr/>
          <p:nvPr/>
        </p:nvSpPr>
        <p:spPr>
          <a:xfrm>
            <a:off x="8798042" y="5772383"/>
            <a:ext cx="11068" cy="10944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6" name="perivascular_macrophage_component_oval_23"/>
          <p:cNvSpPr/>
          <p:nvPr/>
        </p:nvSpPr>
        <p:spPr>
          <a:xfrm>
            <a:off x="8916629" y="5905271"/>
            <a:ext cx="11068" cy="10944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7" name="perivascular_macrophage_component_oval_24"/>
          <p:cNvSpPr/>
          <p:nvPr/>
        </p:nvSpPr>
        <p:spPr>
          <a:xfrm>
            <a:off x="9193330" y="5592595"/>
            <a:ext cx="11068" cy="10944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8" name="perivascular_macrophage_component_oval_25"/>
          <p:cNvSpPr/>
          <p:nvPr/>
        </p:nvSpPr>
        <p:spPr>
          <a:xfrm>
            <a:off x="9224953" y="5780200"/>
            <a:ext cx="11068" cy="10944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9" name="perivascular_macrophage_component_oval_26"/>
          <p:cNvSpPr/>
          <p:nvPr/>
        </p:nvSpPr>
        <p:spPr>
          <a:xfrm>
            <a:off x="9066838" y="5475341"/>
            <a:ext cx="11068" cy="10944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0" name="perivascular_macrophage_component_oval_27"/>
          <p:cNvSpPr/>
          <p:nvPr/>
        </p:nvSpPr>
        <p:spPr>
          <a:xfrm>
            <a:off x="9137990" y="5928721"/>
            <a:ext cx="11068" cy="10944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1" name="perivascular_macrophage_component_oval_28"/>
          <p:cNvSpPr/>
          <p:nvPr/>
        </p:nvSpPr>
        <p:spPr>
          <a:xfrm>
            <a:off x="8821760" y="5655130"/>
            <a:ext cx="11068" cy="10944"/>
          </a:xfrm>
          <a:prstGeom prst="ellipse">
            <a:avLst/>
          </a:prstGeom>
          <a:solidFill>
            <a:srgbClr val="BBA7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2" name="perivascular_macrophage_component_oval_29"/>
          <p:cNvSpPr/>
          <p:nvPr/>
        </p:nvSpPr>
        <p:spPr>
          <a:xfrm rot="1500000">
            <a:off x="8882634" y="5558982"/>
            <a:ext cx="292513" cy="336127"/>
          </a:xfrm>
          <a:prstGeom prst="ellipse">
            <a:avLst/>
          </a:prstGeom>
          <a:gradFill rotWithShape="1">
            <a:gsLst>
              <a:gs pos="0">
                <a:srgbClr val="CBBDE5"/>
              </a:gs>
              <a:gs pos="24000">
                <a:srgbClr val="AA95CF"/>
              </a:gs>
              <a:gs pos="65000">
                <a:srgbClr val="8D73B7"/>
              </a:gs>
              <a:gs pos="100000">
                <a:srgbClr val="7860A4"/>
              </a:gs>
            </a:gsLst>
            <a:lin ang="3300000" scaled="1"/>
          </a:gradFill>
          <a:ln w="12846">
            <a:solidFill>
              <a:srgbClr val="6550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3" name="perivascular_macrophage_component_path_30"/>
          <p:cNvSpPr/>
          <p:nvPr/>
        </p:nvSpPr>
        <p:spPr>
          <a:xfrm>
            <a:off x="8930068" y="5590250"/>
            <a:ext cx="110681" cy="93803"/>
          </a:xfrm>
          <a:custGeom>
            <a:avLst/>
            <a:gdLst/>
            <a:ahLst/>
            <a:cxnLst/>
            <a:rect l="0" t="0" r="r" b="b"/>
            <a:pathLst>
              <a:path w="110681" h="93803">
                <a:moveTo>
                  <a:pt x="0" y="93803"/>
                </a:moveTo>
                <a:cubicBezTo>
                  <a:pt x="15812" y="31268"/>
                  <a:pt x="55340" y="0"/>
                  <a:pt x="110681" y="7817"/>
                </a:cubicBezTo>
              </a:path>
            </a:pathLst>
          </a:custGeom>
          <a:noFill/>
          <a:ln w="17787" cap="rnd">
            <a:solidFill>
              <a:srgbClr val="D5C8EB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4" name="treg_component_oval_1"/>
          <p:cNvSpPr/>
          <p:nvPr/>
        </p:nvSpPr>
        <p:spPr>
          <a:xfrm>
            <a:off x="10165842" y="6260766"/>
            <a:ext cx="680466" cy="685922"/>
          </a:xfrm>
          <a:prstGeom prst="ellipse">
            <a:avLst/>
          </a:prstGeom>
          <a:gradFill rotWithShape="1">
            <a:gsLst>
              <a:gs pos="0">
                <a:srgbClr val="EDF2FC"/>
              </a:gs>
              <a:gs pos="35000">
                <a:srgbClr val="D0D8EF"/>
              </a:gs>
              <a:gs pos="78000">
                <a:srgbClr val="B3C0E2"/>
              </a:gs>
              <a:gs pos="100000">
                <a:srgbClr val="8E9FC8"/>
              </a:gs>
            </a:gsLst>
            <a:lin ang="3300000" scaled="1"/>
          </a:gradFill>
          <a:ln w="12215">
            <a:solidFill>
              <a:srgbClr val="6A7DA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5" name="treg_component_path_2"/>
          <p:cNvSpPr/>
          <p:nvPr/>
        </p:nvSpPr>
        <p:spPr>
          <a:xfrm>
            <a:off x="10245471" y="6326439"/>
            <a:ext cx="217170" cy="233505"/>
          </a:xfrm>
          <a:custGeom>
            <a:avLst/>
            <a:gdLst/>
            <a:ahLst/>
            <a:cxnLst/>
            <a:rect l="0" t="0" r="r" b="b"/>
            <a:pathLst>
              <a:path w="217170" h="233505">
                <a:moveTo>
                  <a:pt x="0" y="233505"/>
                </a:moveTo>
                <a:cubicBezTo>
                  <a:pt x="0" y="109456"/>
                  <a:pt x="94107" y="7297"/>
                  <a:pt x="217170" y="0"/>
                </a:cubicBezTo>
              </a:path>
            </a:pathLst>
          </a:custGeom>
          <a:noFill/>
          <a:ln w="14478" cap="rnd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6" name="treg_component_oval_3"/>
          <p:cNvSpPr/>
          <p:nvPr/>
        </p:nvSpPr>
        <p:spPr>
          <a:xfrm>
            <a:off x="10259949" y="6362925"/>
            <a:ext cx="506730" cy="503496"/>
          </a:xfrm>
          <a:prstGeom prst="ellipse">
            <a:avLst/>
          </a:prstGeom>
          <a:gradFill rotWithShape="1">
            <a:gsLst>
              <a:gs pos="0">
                <a:srgbClr val="D3D0E9"/>
              </a:gs>
              <a:gs pos="25000">
                <a:srgbClr val="B0ABD5"/>
              </a:gs>
              <a:gs pos="68000">
                <a:srgbClr val="8B86BC"/>
              </a:gs>
              <a:gs pos="100000">
                <a:srgbClr val="7372AB"/>
              </a:gs>
            </a:gsLst>
            <a:lin ang="3300000" scaled="1"/>
          </a:gradFill>
          <a:ln w="12215">
            <a:solidFill>
              <a:srgbClr val="6265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7" name="treg_component_path_4"/>
          <p:cNvSpPr/>
          <p:nvPr/>
        </p:nvSpPr>
        <p:spPr>
          <a:xfrm>
            <a:off x="10310622" y="6414004"/>
            <a:ext cx="166497" cy="138644"/>
          </a:xfrm>
          <a:custGeom>
            <a:avLst/>
            <a:gdLst/>
            <a:ahLst/>
            <a:cxnLst/>
            <a:rect l="0" t="0" r="r" b="b"/>
            <a:pathLst>
              <a:path w="166497" h="138644">
                <a:moveTo>
                  <a:pt x="0" y="138644"/>
                </a:moveTo>
                <a:cubicBezTo>
                  <a:pt x="7239" y="58376"/>
                  <a:pt x="79629" y="0"/>
                  <a:pt x="166497" y="0"/>
                </a:cubicBezTo>
              </a:path>
            </a:pathLst>
          </a:custGeom>
          <a:noFill/>
          <a:ln w="14478" cap="rnd">
            <a:solidFill>
              <a:srgbClr val="DCD8E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8" name="fxr_component_path_1"/>
          <p:cNvSpPr/>
          <p:nvPr/>
        </p:nvSpPr>
        <p:spPr>
          <a:xfrm>
            <a:off x="3459099" y="7356320"/>
            <a:ext cx="95" cy="24444"/>
          </a:xfrm>
          <a:custGeom>
            <a:avLst/>
            <a:gdLst/>
            <a:ahLst/>
            <a:cxnLst/>
            <a:rect l="0" t="0" r="r" b="b"/>
            <a:pathLst>
              <a:path w="95" h="24444">
                <a:moveTo>
                  <a:pt x="0" y="24444"/>
                </a:moveTo>
                <a:lnTo>
                  <a:pt x="0" y="0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9" name="fxr_component_path_2"/>
          <p:cNvSpPr/>
          <p:nvPr/>
        </p:nvSpPr>
        <p:spPr>
          <a:xfrm>
            <a:off x="3503676" y="7334819"/>
            <a:ext cx="95" cy="67445"/>
          </a:xfrm>
          <a:custGeom>
            <a:avLst/>
            <a:gdLst/>
            <a:ahLst/>
            <a:cxnLst/>
            <a:rect l="0" t="0" r="r" b="b"/>
            <a:pathLst>
              <a:path w="95" h="67445">
                <a:moveTo>
                  <a:pt x="0" y="67445"/>
                </a:moveTo>
                <a:lnTo>
                  <a:pt x="0" y="0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0" name="fxr_component_path_3"/>
          <p:cNvSpPr/>
          <p:nvPr/>
        </p:nvSpPr>
        <p:spPr>
          <a:xfrm>
            <a:off x="3548253" y="7329478"/>
            <a:ext cx="95" cy="78127"/>
          </a:xfrm>
          <a:custGeom>
            <a:avLst/>
            <a:gdLst/>
            <a:ahLst/>
            <a:cxnLst/>
            <a:rect l="0" t="0" r="r" b="b"/>
            <a:pathLst>
              <a:path w="95" h="78127">
                <a:moveTo>
                  <a:pt x="0" y="78127"/>
                </a:moveTo>
                <a:lnTo>
                  <a:pt x="0" y="0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1" name="fxr_component_path_4"/>
          <p:cNvSpPr/>
          <p:nvPr/>
        </p:nvSpPr>
        <p:spPr>
          <a:xfrm>
            <a:off x="3592830" y="7342856"/>
            <a:ext cx="95" cy="51372"/>
          </a:xfrm>
          <a:custGeom>
            <a:avLst/>
            <a:gdLst/>
            <a:ahLst/>
            <a:cxnLst/>
            <a:rect l="0" t="0" r="r" b="b"/>
            <a:pathLst>
              <a:path w="95" h="51372">
                <a:moveTo>
                  <a:pt x="0" y="51372"/>
                </a:moveTo>
                <a:lnTo>
                  <a:pt x="0" y="0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2" name="fxr_component_path_5"/>
          <p:cNvSpPr/>
          <p:nvPr/>
        </p:nvSpPr>
        <p:spPr>
          <a:xfrm>
            <a:off x="3637407" y="7368542"/>
            <a:ext cx="95" cy="95"/>
          </a:xfrm>
          <a:custGeom>
            <a:avLst/>
            <a:gdLst/>
            <a:ahLst/>
            <a:cxnLst/>
            <a:rect l="0" t="0" r="r" b="b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3" name="fxr_component_path_6"/>
          <p:cNvSpPr/>
          <p:nvPr/>
        </p:nvSpPr>
        <p:spPr>
          <a:xfrm>
            <a:off x="3681984" y="7342856"/>
            <a:ext cx="95" cy="51372"/>
          </a:xfrm>
          <a:custGeom>
            <a:avLst/>
            <a:gdLst/>
            <a:ahLst/>
            <a:cxnLst/>
            <a:rect l="0" t="0" r="r" b="b"/>
            <a:pathLst>
              <a:path w="95" h="51372">
                <a:moveTo>
                  <a:pt x="0" y="0"/>
                </a:moveTo>
                <a:lnTo>
                  <a:pt x="0" y="51372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4" name="fxr_component_path_7"/>
          <p:cNvSpPr/>
          <p:nvPr/>
        </p:nvSpPr>
        <p:spPr>
          <a:xfrm>
            <a:off x="3726561" y="7329478"/>
            <a:ext cx="95" cy="78127"/>
          </a:xfrm>
          <a:custGeom>
            <a:avLst/>
            <a:gdLst/>
            <a:ahLst/>
            <a:cxnLst/>
            <a:rect l="0" t="0" r="r" b="b"/>
            <a:pathLst>
              <a:path w="95" h="78127">
                <a:moveTo>
                  <a:pt x="0" y="0"/>
                </a:moveTo>
                <a:lnTo>
                  <a:pt x="0" y="78127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5" name="fxr_component_path_8"/>
          <p:cNvSpPr/>
          <p:nvPr/>
        </p:nvSpPr>
        <p:spPr>
          <a:xfrm>
            <a:off x="3771138" y="7334819"/>
            <a:ext cx="95" cy="67445"/>
          </a:xfrm>
          <a:custGeom>
            <a:avLst/>
            <a:gdLst/>
            <a:ahLst/>
            <a:cxnLst/>
            <a:rect l="0" t="0" r="r" b="b"/>
            <a:pathLst>
              <a:path w="95" h="67445">
                <a:moveTo>
                  <a:pt x="0" y="0"/>
                </a:moveTo>
                <a:lnTo>
                  <a:pt x="0" y="67445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6" name="fxr_component_path_9"/>
          <p:cNvSpPr/>
          <p:nvPr/>
        </p:nvSpPr>
        <p:spPr>
          <a:xfrm>
            <a:off x="3815715" y="7356320"/>
            <a:ext cx="95" cy="24444"/>
          </a:xfrm>
          <a:custGeom>
            <a:avLst/>
            <a:gdLst/>
            <a:ahLst/>
            <a:cxnLst/>
            <a:rect l="0" t="0" r="r" b="b"/>
            <a:pathLst>
              <a:path w="95" h="24444">
                <a:moveTo>
                  <a:pt x="0" y="0"/>
                </a:moveTo>
                <a:lnTo>
                  <a:pt x="0" y="24444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7" name="fxr_component_path_10"/>
          <p:cNvSpPr/>
          <p:nvPr/>
        </p:nvSpPr>
        <p:spPr>
          <a:xfrm>
            <a:off x="3860292" y="7353407"/>
            <a:ext cx="95" cy="30271"/>
          </a:xfrm>
          <a:custGeom>
            <a:avLst/>
            <a:gdLst/>
            <a:ahLst/>
            <a:cxnLst/>
            <a:rect l="0" t="0" r="r" b="b"/>
            <a:pathLst>
              <a:path w="95" h="30271">
                <a:moveTo>
                  <a:pt x="0" y="30271"/>
                </a:moveTo>
                <a:lnTo>
                  <a:pt x="0" y="0"/>
                </a:lnTo>
              </a:path>
            </a:pathLst>
          </a:custGeom>
          <a:noFill/>
          <a:ln w="6191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8" name="fxr_component_path_11"/>
          <p:cNvSpPr/>
          <p:nvPr/>
        </p:nvSpPr>
        <p:spPr>
          <a:xfrm>
            <a:off x="3439287" y="7328991"/>
            <a:ext cx="455676" cy="79101"/>
          </a:xfrm>
          <a:custGeom>
            <a:avLst/>
            <a:gdLst/>
            <a:ahLst/>
            <a:cxnLst/>
            <a:rect l="0" t="0" r="r" b="b"/>
            <a:pathLst>
              <a:path w="455676" h="79101">
                <a:moveTo>
                  <a:pt x="0" y="39551"/>
                </a:moveTo>
                <a:lnTo>
                  <a:pt x="9906" y="45738"/>
                </a:lnTo>
                <a:lnTo>
                  <a:pt x="19812" y="51772"/>
                </a:lnTo>
                <a:lnTo>
                  <a:pt x="29718" y="57506"/>
                </a:lnTo>
                <a:lnTo>
                  <a:pt x="39624" y="62798"/>
                </a:lnTo>
                <a:lnTo>
                  <a:pt x="49530" y="67517"/>
                </a:lnTo>
                <a:lnTo>
                  <a:pt x="59436" y="71548"/>
                </a:lnTo>
                <a:lnTo>
                  <a:pt x="69342" y="74790"/>
                </a:lnTo>
                <a:lnTo>
                  <a:pt x="79248" y="77165"/>
                </a:lnTo>
                <a:lnTo>
                  <a:pt x="89154" y="78614"/>
                </a:lnTo>
                <a:lnTo>
                  <a:pt x="99060" y="79101"/>
                </a:lnTo>
                <a:lnTo>
                  <a:pt x="108966" y="78614"/>
                </a:lnTo>
                <a:lnTo>
                  <a:pt x="118872" y="77165"/>
                </a:lnTo>
                <a:lnTo>
                  <a:pt x="128778" y="74790"/>
                </a:lnTo>
                <a:lnTo>
                  <a:pt x="138684" y="71548"/>
                </a:lnTo>
                <a:lnTo>
                  <a:pt x="148590" y="67517"/>
                </a:lnTo>
                <a:lnTo>
                  <a:pt x="158496" y="62798"/>
                </a:lnTo>
                <a:lnTo>
                  <a:pt x="168402" y="57506"/>
                </a:lnTo>
                <a:lnTo>
                  <a:pt x="178308" y="51772"/>
                </a:lnTo>
                <a:lnTo>
                  <a:pt x="188214" y="45738"/>
                </a:lnTo>
                <a:lnTo>
                  <a:pt x="198120" y="39551"/>
                </a:lnTo>
                <a:lnTo>
                  <a:pt x="208026" y="33364"/>
                </a:lnTo>
                <a:lnTo>
                  <a:pt x="217932" y="27329"/>
                </a:lnTo>
                <a:lnTo>
                  <a:pt x="227838" y="21595"/>
                </a:lnTo>
                <a:lnTo>
                  <a:pt x="237744" y="16303"/>
                </a:lnTo>
                <a:lnTo>
                  <a:pt x="247650" y="11584"/>
                </a:lnTo>
                <a:lnTo>
                  <a:pt x="257556" y="7553"/>
                </a:lnTo>
                <a:lnTo>
                  <a:pt x="267462" y="4311"/>
                </a:lnTo>
                <a:lnTo>
                  <a:pt x="277368" y="1936"/>
                </a:lnTo>
                <a:lnTo>
                  <a:pt x="287274" y="487"/>
                </a:lnTo>
                <a:lnTo>
                  <a:pt x="297180" y="0"/>
                </a:lnTo>
                <a:lnTo>
                  <a:pt x="307086" y="487"/>
                </a:lnTo>
                <a:lnTo>
                  <a:pt x="316992" y="1936"/>
                </a:lnTo>
                <a:lnTo>
                  <a:pt x="326898" y="4311"/>
                </a:lnTo>
                <a:lnTo>
                  <a:pt x="336804" y="7553"/>
                </a:lnTo>
                <a:lnTo>
                  <a:pt x="346710" y="11584"/>
                </a:lnTo>
                <a:lnTo>
                  <a:pt x="356616" y="16303"/>
                </a:lnTo>
                <a:lnTo>
                  <a:pt x="366522" y="21595"/>
                </a:lnTo>
                <a:lnTo>
                  <a:pt x="376428" y="27329"/>
                </a:lnTo>
                <a:lnTo>
                  <a:pt x="386334" y="33364"/>
                </a:lnTo>
                <a:lnTo>
                  <a:pt x="396240" y="39551"/>
                </a:lnTo>
                <a:lnTo>
                  <a:pt x="406146" y="45738"/>
                </a:lnTo>
                <a:lnTo>
                  <a:pt x="416052" y="51772"/>
                </a:lnTo>
                <a:lnTo>
                  <a:pt x="425958" y="57506"/>
                </a:lnTo>
                <a:lnTo>
                  <a:pt x="435864" y="62798"/>
                </a:lnTo>
                <a:lnTo>
                  <a:pt x="445770" y="67517"/>
                </a:lnTo>
                <a:lnTo>
                  <a:pt x="455676" y="71548"/>
                </a:lnTo>
              </a:path>
            </a:pathLst>
          </a:custGeom>
          <a:noFill/>
          <a:ln w="14859" cap="rnd">
            <a:solidFill>
              <a:srgbClr val="256C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9" name="fxr_component_path_12"/>
          <p:cNvSpPr/>
          <p:nvPr/>
        </p:nvSpPr>
        <p:spPr>
          <a:xfrm>
            <a:off x="3441021" y="7326355"/>
            <a:ext cx="455676" cy="79101"/>
          </a:xfrm>
          <a:custGeom>
            <a:avLst/>
            <a:gdLst/>
            <a:ahLst/>
            <a:cxnLst/>
            <a:rect l="0" t="0" r="r" b="b"/>
            <a:pathLst>
              <a:path w="455676" h="79101">
                <a:moveTo>
                  <a:pt x="0" y="39551"/>
                </a:moveTo>
                <a:lnTo>
                  <a:pt x="9906" y="45738"/>
                </a:lnTo>
                <a:lnTo>
                  <a:pt x="19812" y="51772"/>
                </a:lnTo>
                <a:lnTo>
                  <a:pt x="29718" y="57506"/>
                </a:lnTo>
                <a:lnTo>
                  <a:pt x="39624" y="62798"/>
                </a:lnTo>
                <a:lnTo>
                  <a:pt x="49530" y="67517"/>
                </a:lnTo>
                <a:lnTo>
                  <a:pt x="59436" y="71548"/>
                </a:lnTo>
                <a:lnTo>
                  <a:pt x="69342" y="74790"/>
                </a:lnTo>
                <a:lnTo>
                  <a:pt x="79248" y="77165"/>
                </a:lnTo>
                <a:lnTo>
                  <a:pt x="89154" y="78614"/>
                </a:lnTo>
                <a:lnTo>
                  <a:pt x="99060" y="79101"/>
                </a:lnTo>
                <a:lnTo>
                  <a:pt x="108966" y="78614"/>
                </a:lnTo>
                <a:lnTo>
                  <a:pt x="118872" y="77165"/>
                </a:lnTo>
                <a:lnTo>
                  <a:pt x="128778" y="74790"/>
                </a:lnTo>
                <a:lnTo>
                  <a:pt x="138684" y="71548"/>
                </a:lnTo>
                <a:lnTo>
                  <a:pt x="148590" y="67517"/>
                </a:lnTo>
                <a:lnTo>
                  <a:pt x="158496" y="62798"/>
                </a:lnTo>
                <a:lnTo>
                  <a:pt x="168402" y="57506"/>
                </a:lnTo>
                <a:lnTo>
                  <a:pt x="178308" y="51772"/>
                </a:lnTo>
                <a:lnTo>
                  <a:pt x="188214" y="45738"/>
                </a:lnTo>
                <a:lnTo>
                  <a:pt x="198120" y="39551"/>
                </a:lnTo>
                <a:lnTo>
                  <a:pt x="208026" y="33364"/>
                </a:lnTo>
                <a:lnTo>
                  <a:pt x="217932" y="27329"/>
                </a:lnTo>
                <a:lnTo>
                  <a:pt x="227838" y="21595"/>
                </a:lnTo>
                <a:lnTo>
                  <a:pt x="237744" y="16303"/>
                </a:lnTo>
                <a:lnTo>
                  <a:pt x="247650" y="11584"/>
                </a:lnTo>
                <a:lnTo>
                  <a:pt x="257556" y="7553"/>
                </a:lnTo>
                <a:lnTo>
                  <a:pt x="267462" y="4311"/>
                </a:lnTo>
                <a:lnTo>
                  <a:pt x="277368" y="1936"/>
                </a:lnTo>
                <a:lnTo>
                  <a:pt x="287274" y="487"/>
                </a:lnTo>
                <a:lnTo>
                  <a:pt x="297180" y="0"/>
                </a:lnTo>
                <a:lnTo>
                  <a:pt x="307086" y="487"/>
                </a:lnTo>
                <a:lnTo>
                  <a:pt x="316992" y="1936"/>
                </a:lnTo>
                <a:lnTo>
                  <a:pt x="326898" y="4311"/>
                </a:lnTo>
                <a:lnTo>
                  <a:pt x="336804" y="7553"/>
                </a:lnTo>
                <a:lnTo>
                  <a:pt x="346710" y="11584"/>
                </a:lnTo>
                <a:lnTo>
                  <a:pt x="356616" y="16303"/>
                </a:lnTo>
                <a:lnTo>
                  <a:pt x="366522" y="21595"/>
                </a:lnTo>
                <a:lnTo>
                  <a:pt x="376428" y="27329"/>
                </a:lnTo>
                <a:lnTo>
                  <a:pt x="386334" y="33364"/>
                </a:lnTo>
                <a:lnTo>
                  <a:pt x="396240" y="39551"/>
                </a:lnTo>
                <a:lnTo>
                  <a:pt x="406146" y="45738"/>
                </a:lnTo>
                <a:lnTo>
                  <a:pt x="416052" y="51772"/>
                </a:lnTo>
                <a:lnTo>
                  <a:pt x="425958" y="57506"/>
                </a:lnTo>
                <a:lnTo>
                  <a:pt x="435864" y="62798"/>
                </a:lnTo>
                <a:lnTo>
                  <a:pt x="445770" y="67517"/>
                </a:lnTo>
                <a:lnTo>
                  <a:pt x="455676" y="71548"/>
                </a:lnTo>
              </a:path>
            </a:pathLst>
          </a:custGeom>
          <a:noFill/>
          <a:ln w="4333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0" name="fxr_component_path_13"/>
          <p:cNvSpPr/>
          <p:nvPr/>
        </p:nvSpPr>
        <p:spPr>
          <a:xfrm>
            <a:off x="3439287" y="7328991"/>
            <a:ext cx="455676" cy="79101"/>
          </a:xfrm>
          <a:custGeom>
            <a:avLst/>
            <a:gdLst/>
            <a:ahLst/>
            <a:cxnLst/>
            <a:rect l="0" t="0" r="r" b="b"/>
            <a:pathLst>
              <a:path w="455676" h="79101">
                <a:moveTo>
                  <a:pt x="0" y="39551"/>
                </a:moveTo>
                <a:lnTo>
                  <a:pt x="9906" y="33364"/>
                </a:lnTo>
                <a:lnTo>
                  <a:pt x="19812" y="27329"/>
                </a:lnTo>
                <a:lnTo>
                  <a:pt x="29718" y="21595"/>
                </a:lnTo>
                <a:lnTo>
                  <a:pt x="39624" y="16303"/>
                </a:lnTo>
                <a:lnTo>
                  <a:pt x="49530" y="11584"/>
                </a:lnTo>
                <a:lnTo>
                  <a:pt x="59436" y="7553"/>
                </a:lnTo>
                <a:lnTo>
                  <a:pt x="69342" y="4311"/>
                </a:lnTo>
                <a:lnTo>
                  <a:pt x="79248" y="1936"/>
                </a:lnTo>
                <a:lnTo>
                  <a:pt x="89154" y="487"/>
                </a:lnTo>
                <a:lnTo>
                  <a:pt x="99060" y="0"/>
                </a:lnTo>
                <a:lnTo>
                  <a:pt x="108966" y="487"/>
                </a:lnTo>
                <a:lnTo>
                  <a:pt x="118872" y="1936"/>
                </a:lnTo>
                <a:lnTo>
                  <a:pt x="128778" y="4311"/>
                </a:lnTo>
                <a:lnTo>
                  <a:pt x="138684" y="7553"/>
                </a:lnTo>
                <a:lnTo>
                  <a:pt x="148590" y="11584"/>
                </a:lnTo>
                <a:lnTo>
                  <a:pt x="158496" y="16303"/>
                </a:lnTo>
                <a:lnTo>
                  <a:pt x="168402" y="21595"/>
                </a:lnTo>
                <a:lnTo>
                  <a:pt x="178308" y="27329"/>
                </a:lnTo>
                <a:lnTo>
                  <a:pt x="188214" y="33364"/>
                </a:lnTo>
                <a:lnTo>
                  <a:pt x="198120" y="39551"/>
                </a:lnTo>
                <a:lnTo>
                  <a:pt x="208026" y="45738"/>
                </a:lnTo>
                <a:lnTo>
                  <a:pt x="217932" y="51772"/>
                </a:lnTo>
                <a:lnTo>
                  <a:pt x="227838" y="57506"/>
                </a:lnTo>
                <a:lnTo>
                  <a:pt x="237744" y="62798"/>
                </a:lnTo>
                <a:lnTo>
                  <a:pt x="247650" y="67517"/>
                </a:lnTo>
                <a:lnTo>
                  <a:pt x="257556" y="71548"/>
                </a:lnTo>
                <a:lnTo>
                  <a:pt x="267462" y="74790"/>
                </a:lnTo>
                <a:lnTo>
                  <a:pt x="277368" y="77165"/>
                </a:lnTo>
                <a:lnTo>
                  <a:pt x="287274" y="78614"/>
                </a:lnTo>
                <a:lnTo>
                  <a:pt x="297180" y="79101"/>
                </a:lnTo>
                <a:lnTo>
                  <a:pt x="307086" y="78614"/>
                </a:lnTo>
                <a:lnTo>
                  <a:pt x="316992" y="77165"/>
                </a:lnTo>
                <a:lnTo>
                  <a:pt x="326898" y="74790"/>
                </a:lnTo>
                <a:lnTo>
                  <a:pt x="336804" y="71548"/>
                </a:lnTo>
                <a:lnTo>
                  <a:pt x="346710" y="67517"/>
                </a:lnTo>
                <a:lnTo>
                  <a:pt x="356616" y="62798"/>
                </a:lnTo>
                <a:lnTo>
                  <a:pt x="366522" y="57506"/>
                </a:lnTo>
                <a:lnTo>
                  <a:pt x="376428" y="51772"/>
                </a:lnTo>
                <a:lnTo>
                  <a:pt x="386334" y="45738"/>
                </a:lnTo>
                <a:lnTo>
                  <a:pt x="396240" y="39551"/>
                </a:lnTo>
                <a:lnTo>
                  <a:pt x="406146" y="33364"/>
                </a:lnTo>
                <a:lnTo>
                  <a:pt x="416052" y="27329"/>
                </a:lnTo>
                <a:lnTo>
                  <a:pt x="425958" y="21595"/>
                </a:lnTo>
                <a:lnTo>
                  <a:pt x="435864" y="16303"/>
                </a:lnTo>
                <a:lnTo>
                  <a:pt x="445770" y="11584"/>
                </a:lnTo>
                <a:lnTo>
                  <a:pt x="455676" y="7553"/>
                </a:lnTo>
              </a:path>
            </a:pathLst>
          </a:custGeom>
          <a:noFill/>
          <a:ln w="14859" cap="rnd">
            <a:solidFill>
              <a:srgbClr val="256C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1" name="fxr_component_path_14"/>
          <p:cNvSpPr/>
          <p:nvPr/>
        </p:nvSpPr>
        <p:spPr>
          <a:xfrm>
            <a:off x="3441021" y="7326355"/>
            <a:ext cx="455676" cy="79101"/>
          </a:xfrm>
          <a:custGeom>
            <a:avLst/>
            <a:gdLst/>
            <a:ahLst/>
            <a:cxnLst/>
            <a:rect l="0" t="0" r="r" b="b"/>
            <a:pathLst>
              <a:path w="455676" h="79101">
                <a:moveTo>
                  <a:pt x="0" y="39551"/>
                </a:moveTo>
                <a:lnTo>
                  <a:pt x="9906" y="33364"/>
                </a:lnTo>
                <a:lnTo>
                  <a:pt x="19812" y="27329"/>
                </a:lnTo>
                <a:lnTo>
                  <a:pt x="29718" y="21595"/>
                </a:lnTo>
                <a:lnTo>
                  <a:pt x="39624" y="16303"/>
                </a:lnTo>
                <a:lnTo>
                  <a:pt x="49530" y="11584"/>
                </a:lnTo>
                <a:lnTo>
                  <a:pt x="59436" y="7553"/>
                </a:lnTo>
                <a:lnTo>
                  <a:pt x="69342" y="4311"/>
                </a:lnTo>
                <a:lnTo>
                  <a:pt x="79248" y="1936"/>
                </a:lnTo>
                <a:lnTo>
                  <a:pt x="89154" y="487"/>
                </a:lnTo>
                <a:lnTo>
                  <a:pt x="99060" y="0"/>
                </a:lnTo>
                <a:lnTo>
                  <a:pt x="108966" y="487"/>
                </a:lnTo>
                <a:lnTo>
                  <a:pt x="118872" y="1936"/>
                </a:lnTo>
                <a:lnTo>
                  <a:pt x="128778" y="4311"/>
                </a:lnTo>
                <a:lnTo>
                  <a:pt x="138684" y="7553"/>
                </a:lnTo>
                <a:lnTo>
                  <a:pt x="148590" y="11584"/>
                </a:lnTo>
                <a:lnTo>
                  <a:pt x="158496" y="16303"/>
                </a:lnTo>
                <a:lnTo>
                  <a:pt x="168402" y="21595"/>
                </a:lnTo>
                <a:lnTo>
                  <a:pt x="178308" y="27329"/>
                </a:lnTo>
                <a:lnTo>
                  <a:pt x="188214" y="33364"/>
                </a:lnTo>
                <a:lnTo>
                  <a:pt x="198120" y="39551"/>
                </a:lnTo>
                <a:lnTo>
                  <a:pt x="208026" y="45738"/>
                </a:lnTo>
                <a:lnTo>
                  <a:pt x="217932" y="51772"/>
                </a:lnTo>
                <a:lnTo>
                  <a:pt x="227838" y="57506"/>
                </a:lnTo>
                <a:lnTo>
                  <a:pt x="237744" y="62798"/>
                </a:lnTo>
                <a:lnTo>
                  <a:pt x="247650" y="67517"/>
                </a:lnTo>
                <a:lnTo>
                  <a:pt x="257556" y="71548"/>
                </a:lnTo>
                <a:lnTo>
                  <a:pt x="267462" y="74790"/>
                </a:lnTo>
                <a:lnTo>
                  <a:pt x="277368" y="77165"/>
                </a:lnTo>
                <a:lnTo>
                  <a:pt x="287274" y="78614"/>
                </a:lnTo>
                <a:lnTo>
                  <a:pt x="297180" y="79101"/>
                </a:lnTo>
                <a:lnTo>
                  <a:pt x="307086" y="78614"/>
                </a:lnTo>
                <a:lnTo>
                  <a:pt x="316992" y="77165"/>
                </a:lnTo>
                <a:lnTo>
                  <a:pt x="326898" y="74790"/>
                </a:lnTo>
                <a:lnTo>
                  <a:pt x="336804" y="71548"/>
                </a:lnTo>
                <a:lnTo>
                  <a:pt x="346710" y="67517"/>
                </a:lnTo>
                <a:lnTo>
                  <a:pt x="356616" y="62798"/>
                </a:lnTo>
                <a:lnTo>
                  <a:pt x="366522" y="57506"/>
                </a:lnTo>
                <a:lnTo>
                  <a:pt x="376428" y="51772"/>
                </a:lnTo>
                <a:lnTo>
                  <a:pt x="386334" y="45738"/>
                </a:lnTo>
                <a:lnTo>
                  <a:pt x="396240" y="39551"/>
                </a:lnTo>
                <a:lnTo>
                  <a:pt x="406146" y="33364"/>
                </a:lnTo>
                <a:lnTo>
                  <a:pt x="416052" y="27329"/>
                </a:lnTo>
                <a:lnTo>
                  <a:pt x="425958" y="21595"/>
                </a:lnTo>
                <a:lnTo>
                  <a:pt x="435864" y="16303"/>
                </a:lnTo>
                <a:lnTo>
                  <a:pt x="445770" y="11584"/>
                </a:lnTo>
                <a:lnTo>
                  <a:pt x="455676" y="7553"/>
                </a:lnTo>
              </a:path>
            </a:pathLst>
          </a:custGeom>
          <a:noFill/>
          <a:ln w="4333" cap="rnd">
            <a:solidFill>
              <a:srgbClr val="9AC6E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2" name="fxr_component_path_15"/>
          <p:cNvSpPr/>
          <p:nvPr/>
        </p:nvSpPr>
        <p:spPr>
          <a:xfrm>
            <a:off x="3469005" y="7140027"/>
            <a:ext cx="183261" cy="215331"/>
          </a:xfrm>
          <a:custGeom>
            <a:avLst/>
            <a:gdLst/>
            <a:ahLst/>
            <a:cxnLst/>
            <a:rect l="0" t="0" r="r" b="b"/>
            <a:pathLst>
              <a:path w="183261" h="215331">
                <a:moveTo>
                  <a:pt x="178308" y="166991"/>
                </a:moveTo>
                <a:cubicBezTo>
                  <a:pt x="178308" y="105468"/>
                  <a:pt x="183261" y="74707"/>
                  <a:pt x="138684" y="43945"/>
                </a:cubicBezTo>
                <a:cubicBezTo>
                  <a:pt x="74295" y="0"/>
                  <a:pt x="49530" y="0"/>
                  <a:pt x="29718" y="43945"/>
                </a:cubicBezTo>
                <a:cubicBezTo>
                  <a:pt x="0" y="92285"/>
                  <a:pt x="24765" y="145019"/>
                  <a:pt x="99060" y="149413"/>
                </a:cubicBezTo>
                <a:cubicBezTo>
                  <a:pt x="128778" y="153808"/>
                  <a:pt x="138684" y="158202"/>
                  <a:pt x="143637" y="188964"/>
                </a:cubicBezTo>
                <a:cubicBezTo>
                  <a:pt x="148590" y="215331"/>
                  <a:pt x="183261" y="206542"/>
                  <a:pt x="178308" y="166991"/>
                </a:cubicBezTo>
                <a:close/>
              </a:path>
            </a:pathLst>
          </a:custGeom>
          <a:gradFill rotWithShape="1">
            <a:gsLst>
              <a:gs pos="0">
                <a:srgbClr val="FFECB3"/>
              </a:gs>
              <a:gs pos="35000">
                <a:srgbClr val="FFE7A0"/>
              </a:gs>
              <a:gs pos="80000">
                <a:srgbClr val="EAB848"/>
              </a:gs>
              <a:gs pos="100000">
                <a:srgbClr val="D39D35"/>
              </a:gs>
            </a:gsLst>
            <a:lin ang="3000000" scaled="1"/>
          </a:gradFill>
          <a:ln w="6500" cap="rnd">
            <a:solidFill>
              <a:srgbClr val="B77B1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3" name="fxr_component_oval_16"/>
          <p:cNvSpPr/>
          <p:nvPr/>
        </p:nvSpPr>
        <p:spPr>
          <a:xfrm rot="20700000">
            <a:off x="3528441" y="7069715"/>
            <a:ext cx="123825" cy="166991"/>
          </a:xfrm>
          <a:prstGeom prst="ellipse">
            <a:avLst/>
          </a:prstGeom>
          <a:gradFill rotWithShape="1">
            <a:gsLst>
              <a:gs pos="0">
                <a:srgbClr val="FFE7A0"/>
              </a:gs>
              <a:gs pos="50000">
                <a:srgbClr val="F0C662"/>
              </a:gs>
              <a:gs pos="100000">
                <a:srgbClr val="EAB848"/>
              </a:gs>
            </a:gsLst>
            <a:lin ang="3300000" scaled="1"/>
          </a:gradFill>
          <a:ln w="6191">
            <a:solidFill>
              <a:srgbClr val="B77B1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4" name="fxr_component_oval_17"/>
          <p:cNvSpPr/>
          <p:nvPr/>
        </p:nvSpPr>
        <p:spPr>
          <a:xfrm>
            <a:off x="3577971" y="7008192"/>
            <a:ext cx="79248" cy="74707"/>
          </a:xfrm>
          <a:prstGeom prst="ellipse">
            <a:avLst/>
          </a:prstGeom>
          <a:gradFill rotWithShape="1">
            <a:gsLst>
              <a:gs pos="0">
                <a:srgbClr val="FFE7A0"/>
              </a:gs>
              <a:gs pos="100000">
                <a:srgbClr val="EAB848"/>
              </a:gs>
            </a:gsLst>
            <a:lin ang="3600000" scaled="1"/>
          </a:gradFill>
          <a:ln w="5572">
            <a:solidFill>
              <a:srgbClr val="B77B1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5" name="fxr_component_path_18"/>
          <p:cNvSpPr/>
          <p:nvPr/>
        </p:nvSpPr>
        <p:spPr>
          <a:xfrm>
            <a:off x="3681984" y="7140027"/>
            <a:ext cx="183261" cy="215331"/>
          </a:xfrm>
          <a:custGeom>
            <a:avLst/>
            <a:gdLst/>
            <a:ahLst/>
            <a:cxnLst/>
            <a:rect l="0" t="0" r="r" b="b"/>
            <a:pathLst>
              <a:path w="183261" h="215331">
                <a:moveTo>
                  <a:pt x="4953" y="166991"/>
                </a:moveTo>
                <a:cubicBezTo>
                  <a:pt x="4953" y="105468"/>
                  <a:pt x="0" y="74707"/>
                  <a:pt x="44577" y="43945"/>
                </a:cubicBezTo>
                <a:cubicBezTo>
                  <a:pt x="108966" y="0"/>
                  <a:pt x="133731" y="0"/>
                  <a:pt x="153543" y="43945"/>
                </a:cubicBezTo>
                <a:cubicBezTo>
                  <a:pt x="183261" y="92285"/>
                  <a:pt x="158496" y="145019"/>
                  <a:pt x="84201" y="149413"/>
                </a:cubicBezTo>
                <a:cubicBezTo>
                  <a:pt x="54483" y="153808"/>
                  <a:pt x="44577" y="158202"/>
                  <a:pt x="39624" y="188964"/>
                </a:cubicBezTo>
                <a:cubicBezTo>
                  <a:pt x="34671" y="215331"/>
                  <a:pt x="0" y="206542"/>
                  <a:pt x="4953" y="166991"/>
                </a:cubicBezTo>
                <a:close/>
              </a:path>
            </a:pathLst>
          </a:custGeom>
          <a:gradFill rotWithShape="1">
            <a:gsLst>
              <a:gs pos="0">
                <a:srgbClr val="FFECB3"/>
              </a:gs>
              <a:gs pos="35000">
                <a:srgbClr val="FFE7A0"/>
              </a:gs>
              <a:gs pos="80000">
                <a:srgbClr val="EAB848"/>
              </a:gs>
              <a:gs pos="100000">
                <a:srgbClr val="D39D35"/>
              </a:gs>
            </a:gsLst>
            <a:lin ang="7800000" scaled="1"/>
          </a:gradFill>
          <a:ln w="6500" cap="rnd">
            <a:solidFill>
              <a:srgbClr val="B77B1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6" name="fxr_component_oval_19"/>
          <p:cNvSpPr/>
          <p:nvPr/>
        </p:nvSpPr>
        <p:spPr>
          <a:xfrm rot="900000">
            <a:off x="3701796" y="7069715"/>
            <a:ext cx="123825" cy="166991"/>
          </a:xfrm>
          <a:prstGeom prst="ellipse">
            <a:avLst/>
          </a:prstGeom>
          <a:gradFill rotWithShape="1">
            <a:gsLst>
              <a:gs pos="0">
                <a:srgbClr val="FFE7A0"/>
              </a:gs>
              <a:gs pos="50000">
                <a:srgbClr val="F0C662"/>
              </a:gs>
              <a:gs pos="100000">
                <a:srgbClr val="EAB848"/>
              </a:gs>
            </a:gsLst>
            <a:lin ang="3300000" scaled="1"/>
          </a:gradFill>
          <a:ln w="6191">
            <a:solidFill>
              <a:srgbClr val="B77B1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7" name="fxr_component_oval_20"/>
          <p:cNvSpPr/>
          <p:nvPr/>
        </p:nvSpPr>
        <p:spPr>
          <a:xfrm>
            <a:off x="3686937" y="7008192"/>
            <a:ext cx="79248" cy="74707"/>
          </a:xfrm>
          <a:prstGeom prst="ellipse">
            <a:avLst/>
          </a:prstGeom>
          <a:gradFill rotWithShape="1">
            <a:gsLst>
              <a:gs pos="0">
                <a:srgbClr val="FFE7A0"/>
              </a:gs>
              <a:gs pos="100000">
                <a:srgbClr val="EAB848"/>
              </a:gs>
            </a:gsLst>
            <a:lin ang="3600000" scaled="1"/>
          </a:gradFill>
          <a:ln w="5572">
            <a:solidFill>
              <a:srgbClr val="B77B1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8" name="fxr_component_oval_21"/>
          <p:cNvSpPr/>
          <p:nvPr/>
        </p:nvSpPr>
        <p:spPr>
          <a:xfrm>
            <a:off x="3602736" y="6999403"/>
            <a:ext cx="128778" cy="114257"/>
          </a:xfrm>
          <a:prstGeom prst="ellipse">
            <a:avLst/>
          </a:prstGeom>
          <a:gradFill rotWithShape="1">
            <a:gsLst>
              <a:gs pos="0">
                <a:srgbClr val="FAEDD1"/>
              </a:gs>
              <a:gs pos="30000">
                <a:srgbClr val="EFCA76"/>
              </a:gs>
              <a:gs pos="67000">
                <a:srgbClr val="EAB848"/>
              </a:gs>
              <a:gs pos="100000">
                <a:srgbClr val="CA922E"/>
              </a:gs>
            </a:gsLst>
            <a:lin ang="3300000" scaled="1"/>
          </a:gradFill>
          <a:ln w="8048">
            <a:solidFill>
              <a:srgbClr val="B77B1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9" name="fxr_component_oval_22"/>
          <p:cNvSpPr/>
          <p:nvPr/>
        </p:nvSpPr>
        <p:spPr>
          <a:xfrm>
            <a:off x="3633643" y="7020541"/>
            <a:ext cx="33482" cy="21138"/>
          </a:xfrm>
          <a:prstGeom prst="ellipse">
            <a:avLst/>
          </a:prstGeom>
          <a:solidFill>
            <a:srgbClr val="FAED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0" name="fxr_component_path_23"/>
          <p:cNvSpPr/>
          <p:nvPr/>
        </p:nvSpPr>
        <p:spPr>
          <a:xfrm>
            <a:off x="3548253" y="7109266"/>
            <a:ext cx="24765" cy="79101"/>
          </a:xfrm>
          <a:custGeom>
            <a:avLst/>
            <a:gdLst/>
            <a:ahLst/>
            <a:cxnLst/>
            <a:rect l="0" t="0" r="r" b="b"/>
            <a:pathLst>
              <a:path w="24765" h="79101">
                <a:moveTo>
                  <a:pt x="24765" y="0"/>
                </a:moveTo>
                <a:cubicBezTo>
                  <a:pt x="4953" y="21973"/>
                  <a:pt x="0" y="57129"/>
                  <a:pt x="9906" y="79101"/>
                </a:cubicBezTo>
              </a:path>
            </a:pathLst>
          </a:custGeom>
          <a:noFill/>
          <a:ln w="9286" cap="rnd">
            <a:solidFill>
              <a:srgbClr val="FFE7A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1" name="ahr_component_path_1"/>
          <p:cNvSpPr/>
          <p:nvPr/>
        </p:nvSpPr>
        <p:spPr>
          <a:xfrm>
            <a:off x="3467862" y="8092078"/>
            <a:ext cx="95" cy="23974"/>
          </a:xfrm>
          <a:custGeom>
            <a:avLst/>
            <a:gdLst/>
            <a:ahLst/>
            <a:cxnLst/>
            <a:rect l="0" t="0" r="r" b="b"/>
            <a:pathLst>
              <a:path w="95" h="23974">
                <a:moveTo>
                  <a:pt x="0" y="23974"/>
                </a:moveTo>
                <a:lnTo>
                  <a:pt x="0" y="0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2" name="ahr_component_path_2"/>
          <p:cNvSpPr/>
          <p:nvPr/>
        </p:nvSpPr>
        <p:spPr>
          <a:xfrm>
            <a:off x="3511582" y="8070990"/>
            <a:ext cx="95" cy="66150"/>
          </a:xfrm>
          <a:custGeom>
            <a:avLst/>
            <a:gdLst/>
            <a:ahLst/>
            <a:cxnLst/>
            <a:rect l="0" t="0" r="r" b="b"/>
            <a:pathLst>
              <a:path w="95" h="66150">
                <a:moveTo>
                  <a:pt x="0" y="66150"/>
                </a:moveTo>
                <a:lnTo>
                  <a:pt x="0" y="0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3" name="ahr_component_path_3"/>
          <p:cNvSpPr/>
          <p:nvPr/>
        </p:nvSpPr>
        <p:spPr>
          <a:xfrm>
            <a:off x="3555302" y="8065751"/>
            <a:ext cx="95" cy="76627"/>
          </a:xfrm>
          <a:custGeom>
            <a:avLst/>
            <a:gdLst/>
            <a:ahLst/>
            <a:cxnLst/>
            <a:rect l="0" t="0" r="r" b="b"/>
            <a:pathLst>
              <a:path w="95" h="76627">
                <a:moveTo>
                  <a:pt x="0" y="76627"/>
                </a:moveTo>
                <a:lnTo>
                  <a:pt x="0" y="0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4" name="ahr_component_path_4"/>
          <p:cNvSpPr/>
          <p:nvPr/>
        </p:nvSpPr>
        <p:spPr>
          <a:xfrm>
            <a:off x="3599021" y="8078872"/>
            <a:ext cx="95" cy="50385"/>
          </a:xfrm>
          <a:custGeom>
            <a:avLst/>
            <a:gdLst/>
            <a:ahLst/>
            <a:cxnLst/>
            <a:rect l="0" t="0" r="r" b="b"/>
            <a:pathLst>
              <a:path w="95" h="50385">
                <a:moveTo>
                  <a:pt x="0" y="50385"/>
                </a:moveTo>
                <a:lnTo>
                  <a:pt x="0" y="0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5" name="ahr_component_path_5"/>
          <p:cNvSpPr/>
          <p:nvPr/>
        </p:nvSpPr>
        <p:spPr>
          <a:xfrm>
            <a:off x="3642741" y="8104065"/>
            <a:ext cx="95" cy="95"/>
          </a:xfrm>
          <a:custGeom>
            <a:avLst/>
            <a:gdLst/>
            <a:ahLst/>
            <a:cxnLst/>
            <a:rect l="0" t="0" r="r" b="b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6" name="ahr_component_path_6"/>
          <p:cNvSpPr/>
          <p:nvPr/>
        </p:nvSpPr>
        <p:spPr>
          <a:xfrm>
            <a:off x="3686461" y="8078872"/>
            <a:ext cx="95" cy="50385"/>
          </a:xfrm>
          <a:custGeom>
            <a:avLst/>
            <a:gdLst/>
            <a:ahLst/>
            <a:cxnLst/>
            <a:rect l="0" t="0" r="r" b="b"/>
            <a:pathLst>
              <a:path w="95" h="50385">
                <a:moveTo>
                  <a:pt x="0" y="0"/>
                </a:moveTo>
                <a:lnTo>
                  <a:pt x="0" y="50385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7" name="ahr_component_path_7"/>
          <p:cNvSpPr/>
          <p:nvPr/>
        </p:nvSpPr>
        <p:spPr>
          <a:xfrm>
            <a:off x="3730180" y="8065751"/>
            <a:ext cx="95" cy="76627"/>
          </a:xfrm>
          <a:custGeom>
            <a:avLst/>
            <a:gdLst/>
            <a:ahLst/>
            <a:cxnLst/>
            <a:rect l="0" t="0" r="r" b="b"/>
            <a:pathLst>
              <a:path w="95" h="76627">
                <a:moveTo>
                  <a:pt x="0" y="0"/>
                </a:moveTo>
                <a:lnTo>
                  <a:pt x="0" y="76627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8" name="ahr_component_path_8"/>
          <p:cNvSpPr/>
          <p:nvPr/>
        </p:nvSpPr>
        <p:spPr>
          <a:xfrm>
            <a:off x="3773900" y="8070990"/>
            <a:ext cx="95" cy="66150"/>
          </a:xfrm>
          <a:custGeom>
            <a:avLst/>
            <a:gdLst/>
            <a:ahLst/>
            <a:cxnLst/>
            <a:rect l="0" t="0" r="r" b="b"/>
            <a:pathLst>
              <a:path w="95" h="66150">
                <a:moveTo>
                  <a:pt x="0" y="0"/>
                </a:moveTo>
                <a:lnTo>
                  <a:pt x="0" y="66150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9" name="ahr_component_path_9"/>
          <p:cNvSpPr/>
          <p:nvPr/>
        </p:nvSpPr>
        <p:spPr>
          <a:xfrm>
            <a:off x="3817620" y="8092078"/>
            <a:ext cx="95" cy="23974"/>
          </a:xfrm>
          <a:custGeom>
            <a:avLst/>
            <a:gdLst/>
            <a:ahLst/>
            <a:cxnLst/>
            <a:rect l="0" t="0" r="r" b="b"/>
            <a:pathLst>
              <a:path w="95" h="23974">
                <a:moveTo>
                  <a:pt x="0" y="0"/>
                </a:moveTo>
                <a:lnTo>
                  <a:pt x="0" y="23974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0" name="ahr_component_path_10"/>
          <p:cNvSpPr/>
          <p:nvPr/>
        </p:nvSpPr>
        <p:spPr>
          <a:xfrm>
            <a:off x="3861340" y="8089220"/>
            <a:ext cx="95" cy="29689"/>
          </a:xfrm>
          <a:custGeom>
            <a:avLst/>
            <a:gdLst/>
            <a:ahLst/>
            <a:cxnLst/>
            <a:rect l="0" t="0" r="r" b="b"/>
            <a:pathLst>
              <a:path w="95" h="29689">
                <a:moveTo>
                  <a:pt x="0" y="29689"/>
                </a:moveTo>
                <a:lnTo>
                  <a:pt x="0" y="0"/>
                </a:lnTo>
              </a:path>
            </a:pathLst>
          </a:custGeom>
          <a:noFill/>
          <a:ln w="6072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1" name="ahr_component_path_11"/>
          <p:cNvSpPr/>
          <p:nvPr/>
        </p:nvSpPr>
        <p:spPr>
          <a:xfrm>
            <a:off x="3448431" y="8065274"/>
            <a:ext cx="446913" cy="77582"/>
          </a:xfrm>
          <a:custGeom>
            <a:avLst/>
            <a:gdLst/>
            <a:ahLst/>
            <a:cxnLst/>
            <a:rect l="0" t="0" r="r" b="b"/>
            <a:pathLst>
              <a:path w="446913" h="77582">
                <a:moveTo>
                  <a:pt x="0" y="38791"/>
                </a:moveTo>
                <a:lnTo>
                  <a:pt x="9715" y="44859"/>
                </a:lnTo>
                <a:lnTo>
                  <a:pt x="19431" y="50778"/>
                </a:lnTo>
                <a:lnTo>
                  <a:pt x="29147" y="56402"/>
                </a:lnTo>
                <a:lnTo>
                  <a:pt x="38862" y="61592"/>
                </a:lnTo>
                <a:lnTo>
                  <a:pt x="48577" y="66220"/>
                </a:lnTo>
                <a:lnTo>
                  <a:pt x="58293" y="70174"/>
                </a:lnTo>
                <a:lnTo>
                  <a:pt x="68008" y="73354"/>
                </a:lnTo>
                <a:lnTo>
                  <a:pt x="77724" y="75683"/>
                </a:lnTo>
                <a:lnTo>
                  <a:pt x="87440" y="77104"/>
                </a:lnTo>
                <a:lnTo>
                  <a:pt x="97155" y="77582"/>
                </a:lnTo>
                <a:lnTo>
                  <a:pt x="106870" y="77104"/>
                </a:lnTo>
                <a:lnTo>
                  <a:pt x="116586" y="75683"/>
                </a:lnTo>
                <a:lnTo>
                  <a:pt x="126301" y="73354"/>
                </a:lnTo>
                <a:lnTo>
                  <a:pt x="136017" y="70174"/>
                </a:lnTo>
                <a:lnTo>
                  <a:pt x="145732" y="66220"/>
                </a:lnTo>
                <a:lnTo>
                  <a:pt x="155448" y="61592"/>
                </a:lnTo>
                <a:lnTo>
                  <a:pt x="165163" y="56402"/>
                </a:lnTo>
                <a:lnTo>
                  <a:pt x="174879" y="50778"/>
                </a:lnTo>
                <a:lnTo>
                  <a:pt x="184594" y="44859"/>
                </a:lnTo>
                <a:lnTo>
                  <a:pt x="194310" y="38791"/>
                </a:lnTo>
                <a:lnTo>
                  <a:pt x="204025" y="32723"/>
                </a:lnTo>
                <a:lnTo>
                  <a:pt x="213741" y="26804"/>
                </a:lnTo>
                <a:lnTo>
                  <a:pt x="223456" y="21180"/>
                </a:lnTo>
                <a:lnTo>
                  <a:pt x="233172" y="15990"/>
                </a:lnTo>
                <a:lnTo>
                  <a:pt x="242888" y="11362"/>
                </a:lnTo>
                <a:lnTo>
                  <a:pt x="252603" y="7408"/>
                </a:lnTo>
                <a:lnTo>
                  <a:pt x="262318" y="4228"/>
                </a:lnTo>
                <a:lnTo>
                  <a:pt x="272034" y="1899"/>
                </a:lnTo>
                <a:lnTo>
                  <a:pt x="281749" y="478"/>
                </a:lnTo>
                <a:lnTo>
                  <a:pt x="291465" y="0"/>
                </a:lnTo>
                <a:lnTo>
                  <a:pt x="301180" y="478"/>
                </a:lnTo>
                <a:lnTo>
                  <a:pt x="310896" y="1899"/>
                </a:lnTo>
                <a:lnTo>
                  <a:pt x="320611" y="4228"/>
                </a:lnTo>
                <a:lnTo>
                  <a:pt x="330327" y="7408"/>
                </a:lnTo>
                <a:lnTo>
                  <a:pt x="340042" y="11362"/>
                </a:lnTo>
                <a:lnTo>
                  <a:pt x="349758" y="15990"/>
                </a:lnTo>
                <a:lnTo>
                  <a:pt x="359473" y="21180"/>
                </a:lnTo>
                <a:lnTo>
                  <a:pt x="369189" y="26804"/>
                </a:lnTo>
                <a:lnTo>
                  <a:pt x="378904" y="32723"/>
                </a:lnTo>
                <a:lnTo>
                  <a:pt x="388620" y="38791"/>
                </a:lnTo>
                <a:lnTo>
                  <a:pt x="398335" y="44859"/>
                </a:lnTo>
                <a:lnTo>
                  <a:pt x="408051" y="50778"/>
                </a:lnTo>
                <a:lnTo>
                  <a:pt x="417766" y="56402"/>
                </a:lnTo>
                <a:lnTo>
                  <a:pt x="427482" y="61592"/>
                </a:lnTo>
                <a:lnTo>
                  <a:pt x="437197" y="66220"/>
                </a:lnTo>
                <a:lnTo>
                  <a:pt x="446913" y="70174"/>
                </a:lnTo>
              </a:path>
            </a:pathLst>
          </a:custGeom>
          <a:noFill/>
          <a:ln w="14573" cap="rnd">
            <a:solidFill>
              <a:srgbClr val="6538A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2" name="ahr_component_path_12"/>
          <p:cNvSpPr/>
          <p:nvPr/>
        </p:nvSpPr>
        <p:spPr>
          <a:xfrm>
            <a:off x="3450131" y="8062688"/>
            <a:ext cx="446913" cy="77582"/>
          </a:xfrm>
          <a:custGeom>
            <a:avLst/>
            <a:gdLst/>
            <a:ahLst/>
            <a:cxnLst/>
            <a:rect l="0" t="0" r="r" b="b"/>
            <a:pathLst>
              <a:path w="446913" h="77582">
                <a:moveTo>
                  <a:pt x="0" y="38791"/>
                </a:moveTo>
                <a:lnTo>
                  <a:pt x="9715" y="44859"/>
                </a:lnTo>
                <a:lnTo>
                  <a:pt x="19431" y="50778"/>
                </a:lnTo>
                <a:lnTo>
                  <a:pt x="29147" y="56402"/>
                </a:lnTo>
                <a:lnTo>
                  <a:pt x="38862" y="61592"/>
                </a:lnTo>
                <a:lnTo>
                  <a:pt x="48577" y="66220"/>
                </a:lnTo>
                <a:lnTo>
                  <a:pt x="58293" y="70174"/>
                </a:lnTo>
                <a:lnTo>
                  <a:pt x="68008" y="73354"/>
                </a:lnTo>
                <a:lnTo>
                  <a:pt x="77724" y="75683"/>
                </a:lnTo>
                <a:lnTo>
                  <a:pt x="87440" y="77104"/>
                </a:lnTo>
                <a:lnTo>
                  <a:pt x="97155" y="77582"/>
                </a:lnTo>
                <a:lnTo>
                  <a:pt x="106870" y="77104"/>
                </a:lnTo>
                <a:lnTo>
                  <a:pt x="116586" y="75683"/>
                </a:lnTo>
                <a:lnTo>
                  <a:pt x="126301" y="73354"/>
                </a:lnTo>
                <a:lnTo>
                  <a:pt x="136017" y="70174"/>
                </a:lnTo>
                <a:lnTo>
                  <a:pt x="145733" y="66220"/>
                </a:lnTo>
                <a:lnTo>
                  <a:pt x="155448" y="61592"/>
                </a:lnTo>
                <a:lnTo>
                  <a:pt x="165163" y="56402"/>
                </a:lnTo>
                <a:lnTo>
                  <a:pt x="174879" y="50778"/>
                </a:lnTo>
                <a:lnTo>
                  <a:pt x="184594" y="44859"/>
                </a:lnTo>
                <a:lnTo>
                  <a:pt x="194310" y="38791"/>
                </a:lnTo>
                <a:lnTo>
                  <a:pt x="204026" y="32723"/>
                </a:lnTo>
                <a:lnTo>
                  <a:pt x="213741" y="26804"/>
                </a:lnTo>
                <a:lnTo>
                  <a:pt x="223456" y="21180"/>
                </a:lnTo>
                <a:lnTo>
                  <a:pt x="233172" y="15990"/>
                </a:lnTo>
                <a:lnTo>
                  <a:pt x="242888" y="11362"/>
                </a:lnTo>
                <a:lnTo>
                  <a:pt x="252603" y="7408"/>
                </a:lnTo>
                <a:lnTo>
                  <a:pt x="262319" y="4228"/>
                </a:lnTo>
                <a:lnTo>
                  <a:pt x="272034" y="1899"/>
                </a:lnTo>
                <a:lnTo>
                  <a:pt x="281749" y="478"/>
                </a:lnTo>
                <a:lnTo>
                  <a:pt x="291465" y="0"/>
                </a:lnTo>
                <a:lnTo>
                  <a:pt x="301181" y="478"/>
                </a:lnTo>
                <a:lnTo>
                  <a:pt x="310896" y="1899"/>
                </a:lnTo>
                <a:lnTo>
                  <a:pt x="320612" y="4228"/>
                </a:lnTo>
                <a:lnTo>
                  <a:pt x="330327" y="7408"/>
                </a:lnTo>
                <a:lnTo>
                  <a:pt x="340042" y="11362"/>
                </a:lnTo>
                <a:lnTo>
                  <a:pt x="349758" y="15990"/>
                </a:lnTo>
                <a:lnTo>
                  <a:pt x="359474" y="21180"/>
                </a:lnTo>
                <a:lnTo>
                  <a:pt x="369189" y="26804"/>
                </a:lnTo>
                <a:lnTo>
                  <a:pt x="378904" y="32723"/>
                </a:lnTo>
                <a:lnTo>
                  <a:pt x="388620" y="38791"/>
                </a:lnTo>
                <a:lnTo>
                  <a:pt x="398335" y="44859"/>
                </a:lnTo>
                <a:lnTo>
                  <a:pt x="408051" y="50778"/>
                </a:lnTo>
                <a:lnTo>
                  <a:pt x="417766" y="56402"/>
                </a:lnTo>
                <a:lnTo>
                  <a:pt x="427482" y="61592"/>
                </a:lnTo>
                <a:lnTo>
                  <a:pt x="437197" y="66220"/>
                </a:lnTo>
                <a:lnTo>
                  <a:pt x="446913" y="70174"/>
                </a:lnTo>
              </a:path>
            </a:pathLst>
          </a:custGeom>
          <a:noFill/>
          <a:ln w="4250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3" name="ahr_component_path_13"/>
          <p:cNvSpPr/>
          <p:nvPr/>
        </p:nvSpPr>
        <p:spPr>
          <a:xfrm>
            <a:off x="3448431" y="8065274"/>
            <a:ext cx="446913" cy="77582"/>
          </a:xfrm>
          <a:custGeom>
            <a:avLst/>
            <a:gdLst/>
            <a:ahLst/>
            <a:cxnLst/>
            <a:rect l="0" t="0" r="r" b="b"/>
            <a:pathLst>
              <a:path w="446913" h="77582">
                <a:moveTo>
                  <a:pt x="0" y="38791"/>
                </a:moveTo>
                <a:lnTo>
                  <a:pt x="9715" y="32723"/>
                </a:lnTo>
                <a:lnTo>
                  <a:pt x="19431" y="26804"/>
                </a:lnTo>
                <a:lnTo>
                  <a:pt x="29147" y="21180"/>
                </a:lnTo>
                <a:lnTo>
                  <a:pt x="38862" y="15990"/>
                </a:lnTo>
                <a:lnTo>
                  <a:pt x="48577" y="11362"/>
                </a:lnTo>
                <a:lnTo>
                  <a:pt x="58293" y="7408"/>
                </a:lnTo>
                <a:lnTo>
                  <a:pt x="68008" y="4228"/>
                </a:lnTo>
                <a:lnTo>
                  <a:pt x="77724" y="1899"/>
                </a:lnTo>
                <a:lnTo>
                  <a:pt x="87440" y="478"/>
                </a:lnTo>
                <a:lnTo>
                  <a:pt x="97155" y="0"/>
                </a:lnTo>
                <a:lnTo>
                  <a:pt x="106870" y="478"/>
                </a:lnTo>
                <a:lnTo>
                  <a:pt x="116586" y="1899"/>
                </a:lnTo>
                <a:lnTo>
                  <a:pt x="126301" y="4228"/>
                </a:lnTo>
                <a:lnTo>
                  <a:pt x="136017" y="7408"/>
                </a:lnTo>
                <a:lnTo>
                  <a:pt x="145732" y="11362"/>
                </a:lnTo>
                <a:lnTo>
                  <a:pt x="155448" y="15990"/>
                </a:lnTo>
                <a:lnTo>
                  <a:pt x="165163" y="21180"/>
                </a:lnTo>
                <a:lnTo>
                  <a:pt x="174879" y="26804"/>
                </a:lnTo>
                <a:lnTo>
                  <a:pt x="184594" y="32723"/>
                </a:lnTo>
                <a:lnTo>
                  <a:pt x="194310" y="38791"/>
                </a:lnTo>
                <a:lnTo>
                  <a:pt x="204025" y="44859"/>
                </a:lnTo>
                <a:lnTo>
                  <a:pt x="213741" y="50778"/>
                </a:lnTo>
                <a:lnTo>
                  <a:pt x="223456" y="56402"/>
                </a:lnTo>
                <a:lnTo>
                  <a:pt x="233172" y="61592"/>
                </a:lnTo>
                <a:lnTo>
                  <a:pt x="242888" y="66220"/>
                </a:lnTo>
                <a:lnTo>
                  <a:pt x="252603" y="70174"/>
                </a:lnTo>
                <a:lnTo>
                  <a:pt x="262318" y="73354"/>
                </a:lnTo>
                <a:lnTo>
                  <a:pt x="272034" y="75683"/>
                </a:lnTo>
                <a:lnTo>
                  <a:pt x="281749" y="77104"/>
                </a:lnTo>
                <a:lnTo>
                  <a:pt x="291465" y="77582"/>
                </a:lnTo>
                <a:lnTo>
                  <a:pt x="301180" y="77104"/>
                </a:lnTo>
                <a:lnTo>
                  <a:pt x="310896" y="75683"/>
                </a:lnTo>
                <a:lnTo>
                  <a:pt x="320611" y="73354"/>
                </a:lnTo>
                <a:lnTo>
                  <a:pt x="330327" y="70174"/>
                </a:lnTo>
                <a:lnTo>
                  <a:pt x="340042" y="66220"/>
                </a:lnTo>
                <a:lnTo>
                  <a:pt x="349758" y="61592"/>
                </a:lnTo>
                <a:lnTo>
                  <a:pt x="359473" y="56402"/>
                </a:lnTo>
                <a:lnTo>
                  <a:pt x="369189" y="50778"/>
                </a:lnTo>
                <a:lnTo>
                  <a:pt x="378904" y="44859"/>
                </a:lnTo>
                <a:lnTo>
                  <a:pt x="388620" y="38791"/>
                </a:lnTo>
                <a:lnTo>
                  <a:pt x="398335" y="32723"/>
                </a:lnTo>
                <a:lnTo>
                  <a:pt x="408051" y="26804"/>
                </a:lnTo>
                <a:lnTo>
                  <a:pt x="417766" y="21180"/>
                </a:lnTo>
                <a:lnTo>
                  <a:pt x="427482" y="15990"/>
                </a:lnTo>
                <a:lnTo>
                  <a:pt x="437197" y="11362"/>
                </a:lnTo>
                <a:lnTo>
                  <a:pt x="446913" y="7408"/>
                </a:lnTo>
              </a:path>
            </a:pathLst>
          </a:custGeom>
          <a:noFill/>
          <a:ln w="14573" cap="rnd">
            <a:solidFill>
              <a:srgbClr val="6538A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4" name="ahr_component_path_14"/>
          <p:cNvSpPr/>
          <p:nvPr/>
        </p:nvSpPr>
        <p:spPr>
          <a:xfrm>
            <a:off x="3450131" y="8062688"/>
            <a:ext cx="446913" cy="77582"/>
          </a:xfrm>
          <a:custGeom>
            <a:avLst/>
            <a:gdLst/>
            <a:ahLst/>
            <a:cxnLst/>
            <a:rect l="0" t="0" r="r" b="b"/>
            <a:pathLst>
              <a:path w="446913" h="77582">
                <a:moveTo>
                  <a:pt x="0" y="38791"/>
                </a:moveTo>
                <a:lnTo>
                  <a:pt x="9715" y="32723"/>
                </a:lnTo>
                <a:lnTo>
                  <a:pt x="19431" y="26804"/>
                </a:lnTo>
                <a:lnTo>
                  <a:pt x="29147" y="21180"/>
                </a:lnTo>
                <a:lnTo>
                  <a:pt x="38862" y="15990"/>
                </a:lnTo>
                <a:lnTo>
                  <a:pt x="48577" y="11362"/>
                </a:lnTo>
                <a:lnTo>
                  <a:pt x="58293" y="7408"/>
                </a:lnTo>
                <a:lnTo>
                  <a:pt x="68008" y="4228"/>
                </a:lnTo>
                <a:lnTo>
                  <a:pt x="77724" y="1899"/>
                </a:lnTo>
                <a:lnTo>
                  <a:pt x="87440" y="478"/>
                </a:lnTo>
                <a:lnTo>
                  <a:pt x="97155" y="0"/>
                </a:lnTo>
                <a:lnTo>
                  <a:pt x="106870" y="478"/>
                </a:lnTo>
                <a:lnTo>
                  <a:pt x="116586" y="1899"/>
                </a:lnTo>
                <a:lnTo>
                  <a:pt x="126301" y="4228"/>
                </a:lnTo>
                <a:lnTo>
                  <a:pt x="136017" y="7408"/>
                </a:lnTo>
                <a:lnTo>
                  <a:pt x="145733" y="11362"/>
                </a:lnTo>
                <a:lnTo>
                  <a:pt x="155448" y="15990"/>
                </a:lnTo>
                <a:lnTo>
                  <a:pt x="165163" y="21180"/>
                </a:lnTo>
                <a:lnTo>
                  <a:pt x="174879" y="26804"/>
                </a:lnTo>
                <a:lnTo>
                  <a:pt x="184594" y="32723"/>
                </a:lnTo>
                <a:lnTo>
                  <a:pt x="194310" y="38791"/>
                </a:lnTo>
                <a:lnTo>
                  <a:pt x="204026" y="44859"/>
                </a:lnTo>
                <a:lnTo>
                  <a:pt x="213741" y="50778"/>
                </a:lnTo>
                <a:lnTo>
                  <a:pt x="223456" y="56402"/>
                </a:lnTo>
                <a:lnTo>
                  <a:pt x="233172" y="61592"/>
                </a:lnTo>
                <a:lnTo>
                  <a:pt x="242888" y="66220"/>
                </a:lnTo>
                <a:lnTo>
                  <a:pt x="252603" y="70174"/>
                </a:lnTo>
                <a:lnTo>
                  <a:pt x="262319" y="73354"/>
                </a:lnTo>
                <a:lnTo>
                  <a:pt x="272034" y="75683"/>
                </a:lnTo>
                <a:lnTo>
                  <a:pt x="281749" y="77104"/>
                </a:lnTo>
                <a:lnTo>
                  <a:pt x="291465" y="77582"/>
                </a:lnTo>
                <a:lnTo>
                  <a:pt x="301181" y="77104"/>
                </a:lnTo>
                <a:lnTo>
                  <a:pt x="310896" y="75683"/>
                </a:lnTo>
                <a:lnTo>
                  <a:pt x="320612" y="73354"/>
                </a:lnTo>
                <a:lnTo>
                  <a:pt x="330327" y="70174"/>
                </a:lnTo>
                <a:lnTo>
                  <a:pt x="340042" y="66220"/>
                </a:lnTo>
                <a:lnTo>
                  <a:pt x="349758" y="61592"/>
                </a:lnTo>
                <a:lnTo>
                  <a:pt x="359474" y="56402"/>
                </a:lnTo>
                <a:lnTo>
                  <a:pt x="369189" y="50778"/>
                </a:lnTo>
                <a:lnTo>
                  <a:pt x="378904" y="44859"/>
                </a:lnTo>
                <a:lnTo>
                  <a:pt x="388620" y="38791"/>
                </a:lnTo>
                <a:lnTo>
                  <a:pt x="398335" y="32723"/>
                </a:lnTo>
                <a:lnTo>
                  <a:pt x="408051" y="26804"/>
                </a:lnTo>
                <a:lnTo>
                  <a:pt x="417766" y="21180"/>
                </a:lnTo>
                <a:lnTo>
                  <a:pt x="427482" y="15990"/>
                </a:lnTo>
                <a:lnTo>
                  <a:pt x="437197" y="11362"/>
                </a:lnTo>
                <a:lnTo>
                  <a:pt x="446913" y="7408"/>
                </a:lnTo>
              </a:path>
            </a:pathLst>
          </a:custGeom>
          <a:noFill/>
          <a:ln w="4250" cap="rnd">
            <a:solidFill>
              <a:srgbClr val="B496D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5" name="ahr_component_path_15"/>
          <p:cNvSpPr/>
          <p:nvPr/>
        </p:nvSpPr>
        <p:spPr>
          <a:xfrm>
            <a:off x="3477578" y="7879939"/>
            <a:ext cx="179737" cy="211195"/>
          </a:xfrm>
          <a:custGeom>
            <a:avLst/>
            <a:gdLst/>
            <a:ahLst/>
            <a:cxnLst/>
            <a:rect l="0" t="0" r="r" b="b"/>
            <a:pathLst>
              <a:path w="179737" h="211195">
                <a:moveTo>
                  <a:pt x="174879" y="163784"/>
                </a:moveTo>
                <a:cubicBezTo>
                  <a:pt x="174879" y="103443"/>
                  <a:pt x="179737" y="73272"/>
                  <a:pt x="136017" y="43101"/>
                </a:cubicBezTo>
                <a:cubicBezTo>
                  <a:pt x="72866" y="0"/>
                  <a:pt x="48577" y="0"/>
                  <a:pt x="29147" y="43101"/>
                </a:cubicBezTo>
                <a:cubicBezTo>
                  <a:pt x="0" y="90512"/>
                  <a:pt x="24289" y="142234"/>
                  <a:pt x="97155" y="146544"/>
                </a:cubicBezTo>
                <a:cubicBezTo>
                  <a:pt x="126301" y="150854"/>
                  <a:pt x="136017" y="155164"/>
                  <a:pt x="140875" y="185335"/>
                </a:cubicBezTo>
                <a:cubicBezTo>
                  <a:pt x="145732" y="211195"/>
                  <a:pt x="179737" y="202575"/>
                  <a:pt x="174879" y="163784"/>
                </a:cubicBezTo>
                <a:close/>
              </a:path>
            </a:pathLst>
          </a:custGeom>
          <a:gradFill rotWithShape="1">
            <a:gsLst>
              <a:gs pos="0">
                <a:srgbClr val="E4D2F8"/>
              </a:gs>
              <a:gs pos="35000">
                <a:srgbClr val="DDC7F6"/>
              </a:gs>
              <a:gs pos="80000">
                <a:srgbClr val="A179D9"/>
              </a:gs>
              <a:gs pos="100000">
                <a:srgbClr val="855ABF"/>
              </a:gs>
            </a:gsLst>
            <a:lin ang="3000000" scaled="1"/>
          </a:gradFill>
          <a:ln w="6375" cap="rnd">
            <a:solidFill>
              <a:srgbClr val="6234A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6" name="ahr_component_oval_16"/>
          <p:cNvSpPr/>
          <p:nvPr/>
        </p:nvSpPr>
        <p:spPr>
          <a:xfrm rot="20700000">
            <a:off x="3535871" y="7810977"/>
            <a:ext cx="121444" cy="163784"/>
          </a:xfrm>
          <a:prstGeom prst="ellipse">
            <a:avLst/>
          </a:prstGeom>
          <a:gradFill rotWithShape="1">
            <a:gsLst>
              <a:gs pos="0">
                <a:srgbClr val="DDC7F6"/>
              </a:gs>
              <a:gs pos="50000">
                <a:srgbClr val="B390E2"/>
              </a:gs>
              <a:gs pos="100000">
                <a:srgbClr val="A179D9"/>
              </a:gs>
            </a:gsLst>
            <a:lin ang="3300000" scaled="1"/>
          </a:gradFill>
          <a:ln w="6072">
            <a:solidFill>
              <a:srgbClr val="6234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7" name="ahr_component_oval_17"/>
          <p:cNvSpPr/>
          <p:nvPr/>
        </p:nvSpPr>
        <p:spPr>
          <a:xfrm>
            <a:off x="3584448" y="7750636"/>
            <a:ext cx="77724" cy="73272"/>
          </a:xfrm>
          <a:prstGeom prst="ellipse">
            <a:avLst/>
          </a:prstGeom>
          <a:gradFill rotWithShape="1">
            <a:gsLst>
              <a:gs pos="0">
                <a:srgbClr val="DDC7F6"/>
              </a:gs>
              <a:gs pos="100000">
                <a:srgbClr val="A179D9"/>
              </a:gs>
            </a:gsLst>
            <a:lin ang="3600000" scaled="1"/>
          </a:gradFill>
          <a:ln w="5464">
            <a:solidFill>
              <a:srgbClr val="6234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8" name="ahr_component_path_18"/>
          <p:cNvSpPr/>
          <p:nvPr/>
        </p:nvSpPr>
        <p:spPr>
          <a:xfrm>
            <a:off x="3686461" y="7879939"/>
            <a:ext cx="179737" cy="211195"/>
          </a:xfrm>
          <a:custGeom>
            <a:avLst/>
            <a:gdLst/>
            <a:ahLst/>
            <a:cxnLst/>
            <a:rect l="0" t="0" r="r" b="b"/>
            <a:pathLst>
              <a:path w="179737" h="211195">
                <a:moveTo>
                  <a:pt x="4858" y="163784"/>
                </a:moveTo>
                <a:cubicBezTo>
                  <a:pt x="4858" y="103443"/>
                  <a:pt x="0" y="73272"/>
                  <a:pt x="43720" y="43101"/>
                </a:cubicBezTo>
                <a:cubicBezTo>
                  <a:pt x="106871" y="0"/>
                  <a:pt x="131159" y="0"/>
                  <a:pt x="150590" y="43101"/>
                </a:cubicBezTo>
                <a:cubicBezTo>
                  <a:pt x="179737" y="90512"/>
                  <a:pt x="155448" y="142234"/>
                  <a:pt x="82582" y="146544"/>
                </a:cubicBezTo>
                <a:cubicBezTo>
                  <a:pt x="53435" y="150854"/>
                  <a:pt x="43720" y="155164"/>
                  <a:pt x="38862" y="185335"/>
                </a:cubicBezTo>
                <a:cubicBezTo>
                  <a:pt x="34004" y="211195"/>
                  <a:pt x="0" y="202575"/>
                  <a:pt x="4858" y="163784"/>
                </a:cubicBezTo>
                <a:close/>
              </a:path>
            </a:pathLst>
          </a:custGeom>
          <a:gradFill rotWithShape="1">
            <a:gsLst>
              <a:gs pos="0">
                <a:srgbClr val="E4D2F8"/>
              </a:gs>
              <a:gs pos="35000">
                <a:srgbClr val="DDC7F6"/>
              </a:gs>
              <a:gs pos="80000">
                <a:srgbClr val="A179D9"/>
              </a:gs>
              <a:gs pos="100000">
                <a:srgbClr val="855ABF"/>
              </a:gs>
            </a:gsLst>
            <a:lin ang="7800000" scaled="1"/>
          </a:gradFill>
          <a:ln w="6375" cap="rnd">
            <a:solidFill>
              <a:srgbClr val="6234A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9" name="ahr_component_oval_19"/>
          <p:cNvSpPr/>
          <p:nvPr/>
        </p:nvSpPr>
        <p:spPr>
          <a:xfrm rot="900000">
            <a:off x="3705892" y="7810977"/>
            <a:ext cx="121444" cy="163784"/>
          </a:xfrm>
          <a:prstGeom prst="ellipse">
            <a:avLst/>
          </a:prstGeom>
          <a:gradFill rotWithShape="1">
            <a:gsLst>
              <a:gs pos="0">
                <a:srgbClr val="DDC7F6"/>
              </a:gs>
              <a:gs pos="50000">
                <a:srgbClr val="B390E2"/>
              </a:gs>
              <a:gs pos="100000">
                <a:srgbClr val="A179D9"/>
              </a:gs>
            </a:gsLst>
            <a:lin ang="3300000" scaled="1"/>
          </a:gradFill>
          <a:ln w="6072">
            <a:solidFill>
              <a:srgbClr val="6234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0" name="ahr_component_oval_20"/>
          <p:cNvSpPr/>
          <p:nvPr/>
        </p:nvSpPr>
        <p:spPr>
          <a:xfrm>
            <a:off x="3691318" y="7750636"/>
            <a:ext cx="77724" cy="73272"/>
          </a:xfrm>
          <a:prstGeom prst="ellipse">
            <a:avLst/>
          </a:prstGeom>
          <a:gradFill rotWithShape="1">
            <a:gsLst>
              <a:gs pos="0">
                <a:srgbClr val="DDC7F6"/>
              </a:gs>
              <a:gs pos="100000">
                <a:srgbClr val="A179D9"/>
              </a:gs>
            </a:gsLst>
            <a:lin ang="3600000" scaled="1"/>
          </a:gradFill>
          <a:ln w="5464">
            <a:solidFill>
              <a:srgbClr val="6234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1" name="ahr_component_oval_21"/>
          <p:cNvSpPr/>
          <p:nvPr/>
        </p:nvSpPr>
        <p:spPr>
          <a:xfrm>
            <a:off x="3608737" y="7742015"/>
            <a:ext cx="126302" cy="112063"/>
          </a:xfrm>
          <a:prstGeom prst="ellipse">
            <a:avLst/>
          </a:prstGeom>
          <a:gradFill rotWithShape="1">
            <a:gsLst>
              <a:gs pos="0">
                <a:srgbClr val="E8DEF6"/>
              </a:gs>
              <a:gs pos="30000">
                <a:srgbClr val="B89AE2"/>
              </a:gs>
              <a:gs pos="67000">
                <a:srgbClr val="A179D9"/>
              </a:gs>
              <a:gs pos="100000">
                <a:srgbClr val="7A4EB6"/>
              </a:gs>
            </a:gsLst>
            <a:lin ang="3300000" scaled="1"/>
          </a:gradFill>
          <a:ln w="7893">
            <a:solidFill>
              <a:srgbClr val="6234A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2" name="ahr_component_oval_22"/>
          <p:cNvSpPr/>
          <p:nvPr/>
        </p:nvSpPr>
        <p:spPr>
          <a:xfrm>
            <a:off x="3639049" y="7762747"/>
            <a:ext cx="32838" cy="20732"/>
          </a:xfrm>
          <a:prstGeom prst="ellipse">
            <a:avLst/>
          </a:prstGeom>
          <a:solidFill>
            <a:srgbClr val="E7D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3" name="ahr_component_path_23"/>
          <p:cNvSpPr/>
          <p:nvPr/>
        </p:nvSpPr>
        <p:spPr>
          <a:xfrm>
            <a:off x="3555302" y="7849768"/>
            <a:ext cx="24289" cy="77582"/>
          </a:xfrm>
          <a:custGeom>
            <a:avLst/>
            <a:gdLst/>
            <a:ahLst/>
            <a:cxnLst/>
            <a:rect l="0" t="0" r="r" b="b"/>
            <a:pathLst>
              <a:path w="24289" h="77582">
                <a:moveTo>
                  <a:pt x="24289" y="0"/>
                </a:moveTo>
                <a:cubicBezTo>
                  <a:pt x="4858" y="21551"/>
                  <a:pt x="0" y="56031"/>
                  <a:pt x="9715" y="77582"/>
                </a:cubicBezTo>
              </a:path>
            </a:pathLst>
          </a:custGeom>
          <a:noFill/>
          <a:ln w="9108" cap="rnd">
            <a:solidFill>
              <a:srgbClr val="DDC7F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4" name="tmao_component_path_1"/>
          <p:cNvSpPr/>
          <p:nvPr/>
        </p:nvSpPr>
        <p:spPr>
          <a:xfrm>
            <a:off x="723900" y="4070381"/>
            <a:ext cx="95" cy="246141"/>
          </a:xfrm>
          <a:custGeom>
            <a:avLst/>
            <a:gdLst/>
            <a:ahLst/>
            <a:cxnLst/>
            <a:rect l="0" t="0" r="r" b="b"/>
            <a:pathLst>
              <a:path w="95" h="246141">
                <a:moveTo>
                  <a:pt x="0" y="246141"/>
                </a:moveTo>
                <a:lnTo>
                  <a:pt x="0" y="0"/>
                </a:lnTo>
              </a:path>
            </a:pathLst>
          </a:custGeom>
          <a:noFill/>
          <a:ln w="92868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5" name="tmao_component_path_2"/>
          <p:cNvSpPr/>
          <p:nvPr/>
        </p:nvSpPr>
        <p:spPr>
          <a:xfrm>
            <a:off x="723900" y="4070381"/>
            <a:ext cx="95" cy="246141"/>
          </a:xfrm>
          <a:custGeom>
            <a:avLst/>
            <a:gdLst/>
            <a:ahLst/>
            <a:cxnLst/>
            <a:rect l="0" t="0" r="r" b="b"/>
            <a:pathLst>
              <a:path w="95" h="246141">
                <a:moveTo>
                  <a:pt x="0" y="246141"/>
                </a:moveTo>
                <a:lnTo>
                  <a:pt x="0" y="0"/>
                </a:lnTo>
              </a:path>
            </a:pathLst>
          </a:custGeom>
          <a:noFill/>
          <a:ln w="71199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6" name="tmao_component_path_3"/>
          <p:cNvSpPr/>
          <p:nvPr/>
        </p:nvSpPr>
        <p:spPr>
          <a:xfrm>
            <a:off x="713994" y="4070381"/>
            <a:ext cx="4953" cy="235201"/>
          </a:xfrm>
          <a:custGeom>
            <a:avLst/>
            <a:gdLst/>
            <a:ahLst/>
            <a:cxnLst/>
            <a:rect l="0" t="0" r="r" b="b"/>
            <a:pathLst>
              <a:path w="4953" h="235201">
                <a:moveTo>
                  <a:pt x="0" y="235201"/>
                </a:moveTo>
                <a:lnTo>
                  <a:pt x="4953" y="0"/>
                </a:lnTo>
              </a:path>
            </a:pathLst>
          </a:custGeom>
          <a:noFill/>
          <a:ln w="15478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7" name="tmao_component_path_4"/>
          <p:cNvSpPr/>
          <p:nvPr/>
        </p:nvSpPr>
        <p:spPr>
          <a:xfrm>
            <a:off x="565404" y="4316522"/>
            <a:ext cx="158496" cy="114866"/>
          </a:xfrm>
          <a:custGeom>
            <a:avLst/>
            <a:gdLst/>
            <a:ahLst/>
            <a:cxnLst/>
            <a:rect l="0" t="0" r="r" b="b"/>
            <a:pathLst>
              <a:path w="158496" h="114866">
                <a:moveTo>
                  <a:pt x="158496" y="0"/>
                </a:moveTo>
                <a:lnTo>
                  <a:pt x="0" y="114866"/>
                </a:lnTo>
              </a:path>
            </a:pathLst>
          </a:custGeom>
          <a:noFill/>
          <a:ln w="92868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8" name="tmao_component_path_5"/>
          <p:cNvSpPr/>
          <p:nvPr/>
        </p:nvSpPr>
        <p:spPr>
          <a:xfrm>
            <a:off x="565404" y="4316522"/>
            <a:ext cx="158496" cy="114866"/>
          </a:xfrm>
          <a:custGeom>
            <a:avLst/>
            <a:gdLst/>
            <a:ahLst/>
            <a:cxnLst/>
            <a:rect l="0" t="0" r="r" b="b"/>
            <a:pathLst>
              <a:path w="158496" h="114866">
                <a:moveTo>
                  <a:pt x="158496" y="0"/>
                </a:moveTo>
                <a:lnTo>
                  <a:pt x="0" y="114866"/>
                </a:lnTo>
              </a:path>
            </a:pathLst>
          </a:custGeom>
          <a:noFill/>
          <a:ln w="71199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9" name="tmao_component_path_6"/>
          <p:cNvSpPr/>
          <p:nvPr/>
        </p:nvSpPr>
        <p:spPr>
          <a:xfrm>
            <a:off x="560451" y="4305582"/>
            <a:ext cx="153543" cy="125805"/>
          </a:xfrm>
          <a:custGeom>
            <a:avLst/>
            <a:gdLst/>
            <a:ahLst/>
            <a:cxnLst/>
            <a:rect l="0" t="0" r="r" b="b"/>
            <a:pathLst>
              <a:path w="153543" h="125805">
                <a:moveTo>
                  <a:pt x="153543" y="0"/>
                </a:moveTo>
                <a:lnTo>
                  <a:pt x="0" y="125805"/>
                </a:lnTo>
              </a:path>
            </a:pathLst>
          </a:custGeom>
          <a:noFill/>
          <a:ln w="15478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0" name="tmao_component_path_7"/>
          <p:cNvSpPr/>
          <p:nvPr/>
        </p:nvSpPr>
        <p:spPr>
          <a:xfrm>
            <a:off x="723900" y="4316522"/>
            <a:ext cx="158496" cy="114866"/>
          </a:xfrm>
          <a:custGeom>
            <a:avLst/>
            <a:gdLst/>
            <a:ahLst/>
            <a:cxnLst/>
            <a:rect l="0" t="0" r="r" b="b"/>
            <a:pathLst>
              <a:path w="158496" h="114866">
                <a:moveTo>
                  <a:pt x="0" y="0"/>
                </a:moveTo>
                <a:lnTo>
                  <a:pt x="158496" y="114866"/>
                </a:lnTo>
              </a:path>
            </a:pathLst>
          </a:custGeom>
          <a:noFill/>
          <a:ln w="92868" cap="rnd">
            <a:solidFill>
              <a:srgbClr val="087D9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1" name="tmao_component_path_8"/>
          <p:cNvSpPr/>
          <p:nvPr/>
        </p:nvSpPr>
        <p:spPr>
          <a:xfrm>
            <a:off x="723900" y="4316522"/>
            <a:ext cx="158496" cy="114866"/>
          </a:xfrm>
          <a:custGeom>
            <a:avLst/>
            <a:gdLst/>
            <a:ahLst/>
            <a:cxnLst/>
            <a:rect l="0" t="0" r="r" b="b"/>
            <a:pathLst>
              <a:path w="158496" h="114866">
                <a:moveTo>
                  <a:pt x="0" y="0"/>
                </a:moveTo>
                <a:lnTo>
                  <a:pt x="158496" y="114866"/>
                </a:lnTo>
              </a:path>
            </a:pathLst>
          </a:custGeom>
          <a:noFill/>
          <a:ln w="71199" cap="rnd">
            <a:solidFill>
              <a:srgbClr val="00B6D9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2" name="tmao_component_path_9"/>
          <p:cNvSpPr/>
          <p:nvPr/>
        </p:nvSpPr>
        <p:spPr>
          <a:xfrm>
            <a:off x="713994" y="4305582"/>
            <a:ext cx="163449" cy="125805"/>
          </a:xfrm>
          <a:custGeom>
            <a:avLst/>
            <a:gdLst/>
            <a:ahLst/>
            <a:cxnLst/>
            <a:rect l="0" t="0" r="r" b="b"/>
            <a:pathLst>
              <a:path w="163449" h="125805">
                <a:moveTo>
                  <a:pt x="0" y="0"/>
                </a:moveTo>
                <a:lnTo>
                  <a:pt x="163449" y="125805"/>
                </a:lnTo>
              </a:path>
            </a:pathLst>
          </a:custGeom>
          <a:noFill/>
          <a:ln w="15478" cap="rnd">
            <a:solidFill>
              <a:srgbClr val="A8F0F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3" name="tmao_component_oval_10"/>
          <p:cNvSpPr/>
          <p:nvPr/>
        </p:nvSpPr>
        <p:spPr>
          <a:xfrm>
            <a:off x="649605" y="4234475"/>
            <a:ext cx="148590" cy="164094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048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4" name="tmao_component_oval_11"/>
          <p:cNvSpPr/>
          <p:nvPr/>
        </p:nvSpPr>
        <p:spPr>
          <a:xfrm>
            <a:off x="685267" y="4264832"/>
            <a:ext cx="38633" cy="30357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5" name="tmao_component_oval_12"/>
          <p:cNvSpPr/>
          <p:nvPr/>
        </p:nvSpPr>
        <p:spPr>
          <a:xfrm>
            <a:off x="661988" y="4002009"/>
            <a:ext cx="123825" cy="13674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048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6" name="tmao_component_oval_13"/>
          <p:cNvSpPr/>
          <p:nvPr/>
        </p:nvSpPr>
        <p:spPr>
          <a:xfrm>
            <a:off x="691706" y="4027307"/>
            <a:ext cx="32194" cy="25298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7" name="tmao_component_oval_14"/>
          <p:cNvSpPr/>
          <p:nvPr/>
        </p:nvSpPr>
        <p:spPr>
          <a:xfrm>
            <a:off x="503492" y="4363015"/>
            <a:ext cx="123825" cy="13674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048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8" name="tmao_component_oval_15"/>
          <p:cNvSpPr/>
          <p:nvPr/>
        </p:nvSpPr>
        <p:spPr>
          <a:xfrm>
            <a:off x="533210" y="4388313"/>
            <a:ext cx="32194" cy="25298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9" name="tmao_component_oval_16"/>
          <p:cNvSpPr/>
          <p:nvPr/>
        </p:nvSpPr>
        <p:spPr>
          <a:xfrm>
            <a:off x="820484" y="4363015"/>
            <a:ext cx="123825" cy="136745"/>
          </a:xfrm>
          <a:prstGeom prst="ellipse">
            <a:avLst/>
          </a:prstGeom>
          <a:gradFill rotWithShape="1">
            <a:gsLst>
              <a:gs pos="0">
                <a:srgbClr val="BFEDF6"/>
              </a:gs>
              <a:gs pos="30000">
                <a:srgbClr val="40C8E2"/>
              </a:gs>
              <a:gs pos="67000">
                <a:srgbClr val="00B6D9"/>
              </a:gs>
              <a:gs pos="100000">
                <a:srgbClr val="0593B4"/>
              </a:gs>
            </a:gsLst>
            <a:lin ang="3300000" scaled="1"/>
          </a:gradFill>
          <a:ln w="8048">
            <a:solidFill>
              <a:srgbClr val="087D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0" name="tmao_component_oval_17"/>
          <p:cNvSpPr/>
          <p:nvPr/>
        </p:nvSpPr>
        <p:spPr>
          <a:xfrm>
            <a:off x="850201" y="4388313"/>
            <a:ext cx="32194" cy="25298"/>
          </a:xfrm>
          <a:prstGeom prst="ellipse">
            <a:avLst/>
          </a:prstGeom>
          <a:solidFill>
            <a:srgbClr val="BD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1" name="tmao_component_atom_18"/>
          <p:cNvSpPr txBox="1"/>
          <p:nvPr/>
        </p:nvSpPr>
        <p:spPr>
          <a:xfrm>
            <a:off x="649605" y="4218066"/>
            <a:ext cx="148590" cy="1859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80" b="0" i="0">
                <a:solidFill>
                  <a:srgbClr val="FFFFFF"/>
                </a:solidFill>
                <a:latin typeface="Arial" panose="020B0604020202020204"/>
              </a:rPr>
              <a:t>N</a:t>
            </a:r>
            <a:endParaRPr sz="1780" b="0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82" name="scfa_component_path_1"/>
          <p:cNvSpPr/>
          <p:nvPr/>
        </p:nvSpPr>
        <p:spPr>
          <a:xfrm>
            <a:off x="543878" y="5718225"/>
            <a:ext cx="257175" cy="95"/>
          </a:xfrm>
          <a:custGeom>
            <a:avLst/>
            <a:gdLst/>
            <a:ahLst/>
            <a:cxnLst/>
            <a:rect l="0" t="0" r="r" b="b"/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/>
          <a:ln w="139303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3" name="scfa_component_path_2"/>
          <p:cNvSpPr/>
          <p:nvPr/>
        </p:nvSpPr>
        <p:spPr>
          <a:xfrm>
            <a:off x="543878" y="5712635"/>
            <a:ext cx="257175" cy="95"/>
          </a:xfrm>
          <a:custGeom>
            <a:avLst/>
            <a:gdLst/>
            <a:ahLst/>
            <a:cxnLst/>
            <a:rect l="0" t="0" r="r" b="b"/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/>
          <a:ln w="75009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4" name="scfa_component_path_3"/>
          <p:cNvSpPr/>
          <p:nvPr/>
        </p:nvSpPr>
        <p:spPr>
          <a:xfrm>
            <a:off x="801052" y="5718225"/>
            <a:ext cx="265748" cy="95"/>
          </a:xfrm>
          <a:custGeom>
            <a:avLst/>
            <a:gdLst/>
            <a:ahLst/>
            <a:cxnLst/>
            <a:rect l="0" t="0" r="r" b="b"/>
            <a:pathLst>
              <a:path w="265748" h="95">
                <a:moveTo>
                  <a:pt x="0" y="0"/>
                </a:moveTo>
                <a:lnTo>
                  <a:pt x="265748" y="0"/>
                </a:lnTo>
              </a:path>
            </a:pathLst>
          </a:custGeom>
          <a:noFill/>
          <a:ln w="139303" cap="rnd">
            <a:solidFill>
              <a:srgbClr val="5F784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5" name="scfa_component_path_4"/>
          <p:cNvSpPr/>
          <p:nvPr/>
        </p:nvSpPr>
        <p:spPr>
          <a:xfrm>
            <a:off x="801052" y="5712635"/>
            <a:ext cx="265748" cy="95"/>
          </a:xfrm>
          <a:custGeom>
            <a:avLst/>
            <a:gdLst/>
            <a:ahLst/>
            <a:cxnLst/>
            <a:rect l="0" t="0" r="r" b="b"/>
            <a:pathLst>
              <a:path w="265748" h="95">
                <a:moveTo>
                  <a:pt x="0" y="0"/>
                </a:moveTo>
                <a:lnTo>
                  <a:pt x="265748" y="0"/>
                </a:lnTo>
              </a:path>
            </a:pathLst>
          </a:custGeom>
          <a:noFill/>
          <a:ln w="75009" cap="rnd">
            <a:solidFill>
              <a:srgbClr val="BBD4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6" name="scfa_component_oval_5"/>
          <p:cNvSpPr/>
          <p:nvPr/>
        </p:nvSpPr>
        <p:spPr>
          <a:xfrm>
            <a:off x="418719" y="5606433"/>
            <a:ext cx="250317" cy="22358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6073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7" name="scfa_component_oval_6"/>
          <p:cNvSpPr/>
          <p:nvPr/>
        </p:nvSpPr>
        <p:spPr>
          <a:xfrm>
            <a:off x="475298" y="5641368"/>
            <a:ext cx="51435" cy="5589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8" name="scfa_component_oval_7"/>
          <p:cNvSpPr/>
          <p:nvPr/>
        </p:nvSpPr>
        <p:spPr>
          <a:xfrm>
            <a:off x="675894" y="5606433"/>
            <a:ext cx="250317" cy="22358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6073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9" name="scfa_component_oval_8"/>
          <p:cNvSpPr/>
          <p:nvPr/>
        </p:nvSpPr>
        <p:spPr>
          <a:xfrm>
            <a:off x="732472" y="5641368"/>
            <a:ext cx="51435" cy="5589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0" name="scfa_component_oval_9"/>
          <p:cNvSpPr/>
          <p:nvPr/>
        </p:nvSpPr>
        <p:spPr>
          <a:xfrm>
            <a:off x="941642" y="5606433"/>
            <a:ext cx="250317" cy="223584"/>
          </a:xfrm>
          <a:prstGeom prst="ellipse">
            <a:avLst/>
          </a:prstGeom>
          <a:gradFill rotWithShape="1">
            <a:gsLst>
              <a:gs pos="0">
                <a:srgbClr val="E1ECC8"/>
              </a:gs>
              <a:gs pos="33000">
                <a:srgbClr val="AEC88E"/>
              </a:gs>
              <a:gs pos="72000">
                <a:srgbClr val="8AAE6A"/>
              </a:gs>
              <a:gs pos="100000">
                <a:srgbClr val="66864F"/>
              </a:gs>
            </a:gsLst>
            <a:lin ang="3300000" scaled="1"/>
          </a:gradFill>
          <a:ln w="16073">
            <a:solidFill>
              <a:srgbClr val="53734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1" name="scfa_component_oval_10"/>
          <p:cNvSpPr/>
          <p:nvPr/>
        </p:nvSpPr>
        <p:spPr>
          <a:xfrm>
            <a:off x="998220" y="5641368"/>
            <a:ext cx="51435" cy="55896"/>
          </a:xfrm>
          <a:prstGeom prst="ellipse">
            <a:avLst/>
          </a:prstGeom>
          <a:solidFill>
            <a:srgbClr val="EAF1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2" name="secondary_ba_component_steroid_ring_1"/>
          <p:cNvSpPr/>
          <p:nvPr/>
        </p:nvSpPr>
        <p:spPr>
          <a:xfrm>
            <a:off x="439784" y="7084696"/>
            <a:ext cx="527455" cy="317738"/>
          </a:xfrm>
          <a:custGeom>
            <a:avLst/>
            <a:gdLst/>
            <a:ahLst/>
            <a:cxnLst/>
            <a:rect l="0" t="0" r="r" b="b"/>
            <a:pathLst>
              <a:path w="527455" h="317738">
                <a:moveTo>
                  <a:pt x="389976" y="190006"/>
                </a:moveTo>
                <a:lnTo>
                  <a:pt x="454175" y="262769"/>
                </a:lnTo>
                <a:lnTo>
                  <a:pt x="527455" y="206190"/>
                </a:lnTo>
                <a:lnTo>
                  <a:pt x="508545" y="98460"/>
                </a:lnTo>
                <a:lnTo>
                  <a:pt x="423579" y="88457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62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3" name="secondary_ba_component_steroid_ring_2"/>
          <p:cNvSpPr/>
          <p:nvPr/>
        </p:nvSpPr>
        <p:spPr>
          <a:xfrm>
            <a:off x="439784" y="7084696"/>
            <a:ext cx="527455" cy="317738"/>
          </a:xfrm>
          <a:custGeom>
            <a:avLst/>
            <a:gdLst/>
            <a:ahLst/>
            <a:cxnLst/>
            <a:rect l="0" t="0" r="r" b="b"/>
            <a:pathLst>
              <a:path w="527455" h="317738">
                <a:moveTo>
                  <a:pt x="0" y="153915"/>
                </a:moveTo>
                <a:lnTo>
                  <a:pt x="33602" y="52366"/>
                </a:lnTo>
                <a:lnTo>
                  <a:pt x="118318" y="39275"/>
                </a:lnTo>
                <a:lnTo>
                  <a:pt x="169431" y="127732"/>
                </a:lnTo>
                <a:lnTo>
                  <a:pt x="135829" y="229281"/>
                </a:lnTo>
                <a:lnTo>
                  <a:pt x="51113" y="242372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62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4" name="secondary_ba_component_steroid_ring_3"/>
          <p:cNvSpPr/>
          <p:nvPr/>
        </p:nvSpPr>
        <p:spPr>
          <a:xfrm>
            <a:off x="439784" y="7084696"/>
            <a:ext cx="527455" cy="317738"/>
          </a:xfrm>
          <a:custGeom>
            <a:avLst/>
            <a:gdLst/>
            <a:ahLst/>
            <a:cxnLst/>
            <a:rect l="0" t="0" r="r" b="b"/>
            <a:pathLst>
              <a:path w="527455" h="317738">
                <a:moveTo>
                  <a:pt x="169431" y="127732"/>
                </a:moveTo>
                <a:lnTo>
                  <a:pt x="135829" y="229281"/>
                </a:lnTo>
                <a:lnTo>
                  <a:pt x="186942" y="317738"/>
                </a:lnTo>
                <a:lnTo>
                  <a:pt x="271658" y="304646"/>
                </a:lnTo>
                <a:lnTo>
                  <a:pt x="305261" y="203098"/>
                </a:lnTo>
                <a:lnTo>
                  <a:pt x="254147" y="114640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62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5" name="secondary_ba_component_steroid_ring_4"/>
          <p:cNvSpPr/>
          <p:nvPr/>
        </p:nvSpPr>
        <p:spPr>
          <a:xfrm>
            <a:off x="439784" y="7084696"/>
            <a:ext cx="527455" cy="317738"/>
          </a:xfrm>
          <a:custGeom>
            <a:avLst/>
            <a:gdLst/>
            <a:ahLst/>
            <a:cxnLst/>
            <a:rect l="0" t="0" r="r" b="b"/>
            <a:pathLst>
              <a:path w="527455" h="317738">
                <a:moveTo>
                  <a:pt x="305261" y="203098"/>
                </a:moveTo>
                <a:lnTo>
                  <a:pt x="389976" y="190006"/>
                </a:lnTo>
                <a:lnTo>
                  <a:pt x="423579" y="88457"/>
                </a:lnTo>
                <a:lnTo>
                  <a:pt x="372465" y="0"/>
                </a:lnTo>
                <a:lnTo>
                  <a:pt x="287750" y="13092"/>
                </a:lnTo>
                <a:lnTo>
                  <a:pt x="254147" y="114640"/>
                </a:lnTo>
                <a:close/>
              </a:path>
            </a:pathLst>
          </a:custGeom>
          <a:gradFill rotWithShape="1">
            <a:gsLst>
              <a:gs pos="0">
                <a:srgbClr val="FFF1CF"/>
              </a:gs>
              <a:gs pos="55000">
                <a:srgbClr val="F5D19A"/>
              </a:gs>
              <a:gs pos="100000">
                <a:srgbClr val="E9AE62"/>
              </a:gs>
            </a:gsLst>
            <a:lin ang="4500000" scaled="1"/>
          </a:gradFill>
          <a:ln w="11620" cap="rnd">
            <a:solidFill>
              <a:srgbClr val="BD792E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4" name="indole_component_path_1"/>
          <p:cNvSpPr/>
          <p:nvPr/>
        </p:nvSpPr>
        <p:spPr>
          <a:xfrm>
            <a:off x="454563" y="7763469"/>
            <a:ext cx="235367" cy="285767"/>
          </a:xfrm>
          <a:custGeom>
            <a:avLst/>
            <a:gdLst/>
            <a:ahLst/>
            <a:cxnLst/>
            <a:rect l="0" t="0" r="r" b="b"/>
            <a:pathLst>
              <a:path w="235367" h="285767">
                <a:moveTo>
                  <a:pt x="0" y="72346"/>
                </a:moveTo>
                <a:lnTo>
                  <a:pt x="122042" y="0"/>
                </a:lnTo>
                <a:lnTo>
                  <a:pt x="235367" y="72346"/>
                </a:lnTo>
                <a:lnTo>
                  <a:pt x="235367" y="213421"/>
                </a:lnTo>
                <a:lnTo>
                  <a:pt x="122042" y="285767"/>
                </a:lnTo>
                <a:lnTo>
                  <a:pt x="0" y="213421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11763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5" name="indole_component_path_2"/>
          <p:cNvSpPr/>
          <p:nvPr/>
        </p:nvSpPr>
        <p:spPr>
          <a:xfrm>
            <a:off x="689930" y="7796025"/>
            <a:ext cx="196139" cy="227890"/>
          </a:xfrm>
          <a:custGeom>
            <a:avLst/>
            <a:gdLst/>
            <a:ahLst/>
            <a:cxnLst/>
            <a:rect l="0" t="0" r="r" b="b"/>
            <a:pathLst>
              <a:path w="196139" h="227890">
                <a:moveTo>
                  <a:pt x="0" y="39790"/>
                </a:moveTo>
                <a:lnTo>
                  <a:pt x="117683" y="0"/>
                </a:lnTo>
                <a:lnTo>
                  <a:pt x="196139" y="119371"/>
                </a:lnTo>
                <a:lnTo>
                  <a:pt x="113325" y="227890"/>
                </a:lnTo>
                <a:lnTo>
                  <a:pt x="0" y="180865"/>
                </a:lnTo>
                <a:close/>
              </a:path>
            </a:pathLst>
          </a:custGeom>
          <a:gradFill rotWithShape="1">
            <a:gsLst>
              <a:gs pos="0">
                <a:srgbClr val="E8DCF0"/>
              </a:gs>
              <a:gs pos="100000">
                <a:srgbClr val="BCA2D8"/>
              </a:gs>
            </a:gsLst>
            <a:lin ang="3900000" scaled="1"/>
          </a:gradFill>
          <a:ln w="11763" cap="rnd">
            <a:solidFill>
              <a:srgbClr val="604197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6" name="indole_component_path_3"/>
          <p:cNvSpPr/>
          <p:nvPr/>
        </p:nvSpPr>
        <p:spPr>
          <a:xfrm>
            <a:off x="480715" y="7799642"/>
            <a:ext cx="82814" cy="50642"/>
          </a:xfrm>
          <a:custGeom>
            <a:avLst/>
            <a:gdLst/>
            <a:ahLst/>
            <a:cxnLst/>
            <a:rect l="0" t="0" r="r" b="b"/>
            <a:pathLst>
              <a:path w="82814" h="50642">
                <a:moveTo>
                  <a:pt x="0" y="50642"/>
                </a:moveTo>
                <a:lnTo>
                  <a:pt x="82814" y="0"/>
                </a:lnTo>
              </a:path>
            </a:pathLst>
          </a:custGeom>
          <a:noFill/>
          <a:ln w="10525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7" name="indole_component_path_4"/>
          <p:cNvSpPr/>
          <p:nvPr/>
        </p:nvSpPr>
        <p:spPr>
          <a:xfrm>
            <a:off x="602757" y="7799642"/>
            <a:ext cx="61021" cy="43408"/>
          </a:xfrm>
          <a:custGeom>
            <a:avLst/>
            <a:gdLst/>
            <a:ahLst/>
            <a:cxnLst/>
            <a:rect l="0" t="0" r="r" b="b"/>
            <a:pathLst>
              <a:path w="61021" h="43408">
                <a:moveTo>
                  <a:pt x="0" y="0"/>
                </a:moveTo>
                <a:lnTo>
                  <a:pt x="61021" y="43408"/>
                </a:lnTo>
              </a:path>
            </a:pathLst>
          </a:custGeom>
          <a:noFill/>
          <a:ln w="10525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8" name="indole_component_path_5"/>
          <p:cNvSpPr/>
          <p:nvPr/>
        </p:nvSpPr>
        <p:spPr>
          <a:xfrm>
            <a:off x="480715" y="7879223"/>
            <a:ext cx="95" cy="83198"/>
          </a:xfrm>
          <a:custGeom>
            <a:avLst/>
            <a:gdLst/>
            <a:ahLst/>
            <a:cxnLst/>
            <a:rect l="0" t="0" r="r" b="b"/>
            <a:pathLst>
              <a:path w="95" h="83198">
                <a:moveTo>
                  <a:pt x="0" y="0"/>
                </a:moveTo>
                <a:lnTo>
                  <a:pt x="0" y="83198"/>
                </a:lnTo>
              </a:path>
            </a:pathLst>
          </a:custGeom>
          <a:noFill/>
          <a:ln w="10525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9" name="indole_component_path_6"/>
          <p:cNvSpPr/>
          <p:nvPr/>
        </p:nvSpPr>
        <p:spPr>
          <a:xfrm>
            <a:off x="602757" y="7980508"/>
            <a:ext cx="61021" cy="36173"/>
          </a:xfrm>
          <a:custGeom>
            <a:avLst/>
            <a:gdLst/>
            <a:ahLst/>
            <a:cxnLst/>
            <a:rect l="0" t="0" r="r" b="b"/>
            <a:pathLst>
              <a:path w="61021" h="36173">
                <a:moveTo>
                  <a:pt x="0" y="36173"/>
                </a:moveTo>
                <a:lnTo>
                  <a:pt x="61021" y="0"/>
                </a:lnTo>
              </a:path>
            </a:pathLst>
          </a:custGeom>
          <a:noFill/>
          <a:ln w="10525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0" name="indole_component_path_7"/>
          <p:cNvSpPr/>
          <p:nvPr/>
        </p:nvSpPr>
        <p:spPr>
          <a:xfrm>
            <a:off x="803255" y="7839433"/>
            <a:ext cx="47945" cy="72346"/>
          </a:xfrm>
          <a:custGeom>
            <a:avLst/>
            <a:gdLst/>
            <a:ahLst/>
            <a:cxnLst/>
            <a:rect l="0" t="0" r="r" b="b"/>
            <a:pathLst>
              <a:path w="47945" h="72346">
                <a:moveTo>
                  <a:pt x="0" y="0"/>
                </a:moveTo>
                <a:lnTo>
                  <a:pt x="47945" y="72346"/>
                </a:lnTo>
              </a:path>
            </a:pathLst>
          </a:custGeom>
          <a:noFill/>
          <a:ln w="10525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1" name="indole_component_path_8"/>
          <p:cNvSpPr/>
          <p:nvPr/>
        </p:nvSpPr>
        <p:spPr>
          <a:xfrm>
            <a:off x="811972" y="7947952"/>
            <a:ext cx="34869" cy="50642"/>
          </a:xfrm>
          <a:custGeom>
            <a:avLst/>
            <a:gdLst/>
            <a:ahLst/>
            <a:cxnLst/>
            <a:rect l="0" t="0" r="r" b="b"/>
            <a:pathLst>
              <a:path w="34869" h="50642">
                <a:moveTo>
                  <a:pt x="34869" y="0"/>
                </a:moveTo>
                <a:lnTo>
                  <a:pt x="0" y="50642"/>
                </a:lnTo>
              </a:path>
            </a:pathLst>
          </a:custGeom>
          <a:noFill/>
          <a:ln w="10525" cap="rnd">
            <a:solidFill>
              <a:srgbClr val="614396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2" name="indole_component_atom_9"/>
          <p:cNvSpPr txBox="1"/>
          <p:nvPr/>
        </p:nvSpPr>
        <p:spPr>
          <a:xfrm>
            <a:off x="790575" y="8019067"/>
            <a:ext cx="89154" cy="923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0" b="0" i="0">
                <a:solidFill>
                  <a:srgbClr val="57388E"/>
                </a:solidFill>
                <a:latin typeface="Arial" panose="020B0604020202020204"/>
              </a:rPr>
              <a:t>N</a:t>
            </a:r>
            <a:endParaRPr sz="970" b="0" i="0">
              <a:solidFill>
                <a:srgbClr val="57388E"/>
              </a:solidFill>
              <a:latin typeface="Arial" panose="020B0604020202020204"/>
            </a:endParaRPr>
          </a:p>
        </p:txBody>
      </p:sp>
      <p:sp>
        <p:nvSpPr>
          <p:cNvPr id="1013" name="circulating_tmao_oxygen_label"/>
          <p:cNvSpPr txBox="1"/>
          <p:nvPr/>
        </p:nvSpPr>
        <p:spPr>
          <a:xfrm>
            <a:off x="953223" y="4073632"/>
            <a:ext cx="135712" cy="135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Times New Roman" panose="02020603050405020304"/>
              </a:rPr>
              <a:t>O</a:t>
            </a:r>
            <a:endParaRPr sz="860" b="1" i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014" name="circulating_tmao_oxygen_charge"/>
          <p:cNvSpPr txBox="1"/>
          <p:nvPr/>
        </p:nvSpPr>
        <p:spPr>
          <a:xfrm>
            <a:off x="1079591" y="4017560"/>
            <a:ext cx="84108" cy="1121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23364A"/>
                </a:solidFill>
                <a:latin typeface="Times New Roman" panose="02020603050405020304"/>
              </a:rPr>
              <a:t>−</a:t>
            </a:r>
            <a:endParaRPr sz="81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15" name="circulating_tmao_nitrogen_charge"/>
          <p:cNvSpPr txBox="1"/>
          <p:nvPr/>
        </p:nvSpPr>
        <p:spPr>
          <a:xfrm>
            <a:off x="799186" y="4216425"/>
            <a:ext cx="84108" cy="1121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23364A"/>
                </a:solidFill>
                <a:latin typeface="Times New Roman" panose="02020603050405020304"/>
              </a:rPr>
              <a:t>+</a:t>
            </a:r>
            <a:endParaRPr sz="81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16" name="label_lps"/>
          <p:cNvSpPr txBox="1"/>
          <p:nvPr/>
        </p:nvSpPr>
        <p:spPr>
          <a:xfrm>
            <a:off x="266700" y="714375"/>
            <a:ext cx="1438275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90" b="1" i="0">
                <a:solidFill>
                  <a:srgbClr val="A82D2A"/>
                </a:solidFill>
                <a:latin typeface="Times New Roman" panose="02020603050405020304"/>
              </a:rPr>
              <a:t>Circulating</a:t>
            </a:r>
            <a:endParaRPr sz="1590" b="1" i="0">
              <a:solidFill>
                <a:srgbClr val="A82D2A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90" b="1" i="0">
                <a:solidFill>
                  <a:srgbClr val="A82D2A"/>
                </a:solidFill>
                <a:latin typeface="Times New Roman" panose="02020603050405020304"/>
              </a:rPr>
              <a:t>LPS (MAMP)</a:t>
            </a:r>
            <a:endParaRPr sz="1590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1017" name="label_hmgb1"/>
          <p:cNvSpPr txBox="1"/>
          <p:nvPr/>
        </p:nvSpPr>
        <p:spPr>
          <a:xfrm>
            <a:off x="266700" y="1809750"/>
            <a:ext cx="1476375" cy="619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5" b="1" i="0">
                <a:solidFill>
                  <a:srgbClr val="A82D2A"/>
                </a:solidFill>
                <a:latin typeface="Times New Roman" panose="02020603050405020304"/>
              </a:rPr>
              <a:t>Host-derived</a:t>
            </a:r>
            <a:endParaRPr sz="1465" b="1" i="0">
              <a:solidFill>
                <a:srgbClr val="A82D2A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5" b="1" i="0">
                <a:solidFill>
                  <a:srgbClr val="A82D2A"/>
                </a:solidFill>
                <a:latin typeface="Times New Roman" panose="02020603050405020304"/>
              </a:rPr>
              <a:t>HMGB1 (DAMP)</a:t>
            </a:r>
            <a:endParaRPr sz="1465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1018" name="label_tlr4"/>
          <p:cNvSpPr txBox="1"/>
          <p:nvPr/>
        </p:nvSpPr>
        <p:spPr>
          <a:xfrm>
            <a:off x="3028950" y="314325"/>
            <a:ext cx="1257300" cy="2952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A82D2A"/>
                </a:solidFill>
                <a:latin typeface="Times New Roman" panose="02020603050405020304"/>
              </a:rPr>
              <a:t>TLR4</a:t>
            </a:r>
            <a:endParaRPr sz="1875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1019" name="node_myd88"/>
          <p:cNvSpPr txBox="1"/>
          <p:nvPr/>
        </p:nvSpPr>
        <p:spPr>
          <a:xfrm>
            <a:off x="2867025" y="1905000"/>
            <a:ext cx="1704975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A82D2A"/>
                </a:solidFill>
                <a:latin typeface="Times New Roman" panose="02020603050405020304"/>
              </a:rPr>
              <a:t>MyD88 / TRIF</a:t>
            </a:r>
            <a:endParaRPr sz="1540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1020" name="node_nfkb"/>
          <p:cNvSpPr txBox="1"/>
          <p:nvPr/>
        </p:nvSpPr>
        <p:spPr>
          <a:xfrm>
            <a:off x="2867025" y="2324100"/>
            <a:ext cx="1704975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A82D2A"/>
                </a:solidFill>
                <a:latin typeface="Times New Roman" panose="02020603050405020304"/>
              </a:rPr>
              <a:t>NF-κB / MAPK</a:t>
            </a:r>
            <a:endParaRPr sz="1540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1021" name="node_cytokines"/>
          <p:cNvSpPr txBox="1"/>
          <p:nvPr/>
        </p:nvSpPr>
        <p:spPr>
          <a:xfrm>
            <a:off x="2828925" y="2705100"/>
            <a:ext cx="178117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A82D2A"/>
                </a:solidFill>
                <a:latin typeface="Times New Roman" panose="02020603050405020304"/>
              </a:rPr>
              <a:t>Cytokines /</a:t>
            </a:r>
            <a:endParaRPr sz="1540" b="1" i="0">
              <a:solidFill>
                <a:srgbClr val="A82D2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A82D2A"/>
                </a:solidFill>
                <a:latin typeface="Times New Roman" panose="02020603050405020304"/>
              </a:rPr>
              <a:t>chemokines</a:t>
            </a:r>
            <a:endParaRPr sz="1540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1022" name="node_inflammatory_output"/>
          <p:cNvSpPr txBox="1"/>
          <p:nvPr/>
        </p:nvSpPr>
        <p:spPr>
          <a:xfrm>
            <a:off x="5476875" y="2581275"/>
            <a:ext cx="2381250" cy="552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82D2A"/>
                </a:solidFill>
                <a:latin typeface="Times New Roman" panose="02020603050405020304"/>
              </a:rPr>
              <a:t>Endothelial activation</a:t>
            </a:r>
            <a:endParaRPr sz="1500" b="0" i="0">
              <a:solidFill>
                <a:srgbClr val="A82D2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82D2A"/>
                </a:solidFill>
                <a:latin typeface="Times New Roman" panose="02020603050405020304"/>
              </a:rPr>
              <a:t>&amp; perivascular inflammation</a:t>
            </a:r>
            <a:endParaRPr sz="1500" b="0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1023" name="label_bmpr2"/>
          <p:cNvSpPr txBox="1"/>
          <p:nvPr/>
        </p:nvSpPr>
        <p:spPr>
          <a:xfrm>
            <a:off x="4867275" y="838200"/>
            <a:ext cx="30289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3364A"/>
                </a:solidFill>
                <a:latin typeface="Times New Roman" panose="02020603050405020304"/>
              </a:rPr>
              <a:t>BMPR2 deficiency amplifies</a:t>
            </a:r>
            <a:endParaRPr sz="1500" b="1" i="0">
              <a:solidFill>
                <a:srgbClr val="23364A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3364A"/>
                </a:solidFill>
                <a:latin typeface="Times New Roman" panose="02020603050405020304"/>
              </a:rPr>
              <a:t>LPS-induced inflammatory</a:t>
            </a:r>
            <a:endParaRPr sz="1500" b="1" i="0">
              <a:solidFill>
                <a:srgbClr val="23364A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3364A"/>
                </a:solidFill>
                <a:latin typeface="Times New Roman" panose="02020603050405020304"/>
              </a:rPr>
              <a:t>responses</a:t>
            </a:r>
            <a:endParaRPr sz="150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24" name="label_bmpr2_context"/>
          <p:cNvSpPr txBox="1"/>
          <p:nvPr/>
        </p:nvSpPr>
        <p:spPr>
          <a:xfrm>
            <a:off x="4867275" y="1685925"/>
            <a:ext cx="208597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 i="1">
                <a:solidFill>
                  <a:srgbClr val="627588"/>
                </a:solidFill>
                <a:latin typeface="Times New Roman" panose="02020603050405020304"/>
              </a:rPr>
              <a:t>Experimental PH</a:t>
            </a:r>
            <a:endParaRPr sz="1290" b="0" i="1">
              <a:solidFill>
                <a:srgbClr val="627588"/>
              </a:solidFill>
              <a:latin typeface="Times New Roman" panose="02020603050405020304"/>
            </a:endParaRPr>
          </a:p>
        </p:txBody>
      </p:sp>
      <p:sp>
        <p:nvSpPr>
          <p:cNvPr id="1025" name="label_tmao"/>
          <p:cNvSpPr txBox="1"/>
          <p:nvPr/>
        </p:nvSpPr>
        <p:spPr>
          <a:xfrm>
            <a:off x="266700" y="3419475"/>
            <a:ext cx="2114550" cy="2952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7254A8"/>
                </a:solidFill>
                <a:latin typeface="Times New Roman" panose="02020603050405020304"/>
              </a:rPr>
              <a:t>Circulating TMAO</a:t>
            </a:r>
            <a:endParaRPr sz="1725" b="1" i="0">
              <a:solidFill>
                <a:srgbClr val="7254A8"/>
              </a:solidFill>
              <a:latin typeface="Times New Roman" panose="02020603050405020304"/>
            </a:endParaRPr>
          </a:p>
        </p:txBody>
      </p:sp>
      <p:sp>
        <p:nvSpPr>
          <p:cNvPr id="1026" name="label_tmao_context"/>
          <p:cNvSpPr txBox="1"/>
          <p:nvPr/>
        </p:nvSpPr>
        <p:spPr>
          <a:xfrm>
            <a:off x="266700" y="3714750"/>
            <a:ext cx="225742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5" b="0" i="1">
                <a:solidFill>
                  <a:srgbClr val="627588"/>
                </a:solidFill>
                <a:latin typeface="Times New Roman" panose="02020603050405020304"/>
              </a:rPr>
              <a:t>Experimental PH / cell studies</a:t>
            </a:r>
            <a:endParaRPr sz="1245" b="0" i="1">
              <a:solidFill>
                <a:srgbClr val="627588"/>
              </a:solidFill>
              <a:latin typeface="Times New Roman" panose="02020603050405020304"/>
            </a:endParaRPr>
          </a:p>
        </p:txBody>
      </p:sp>
      <p:sp>
        <p:nvSpPr>
          <p:cNvPr id="1027" name="label_tmao_macrophage"/>
          <p:cNvSpPr txBox="1"/>
          <p:nvPr/>
        </p:nvSpPr>
        <p:spPr>
          <a:xfrm>
            <a:off x="2390775" y="4543425"/>
            <a:ext cx="1314450" cy="3714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23364A"/>
                </a:solidFill>
                <a:latin typeface="Times New Roman" panose="02020603050405020304"/>
              </a:rPr>
              <a:t>Macrophage</a:t>
            </a:r>
            <a:endParaRPr sz="1425" b="0" i="0">
              <a:solidFill>
                <a:srgbClr val="23364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23364A"/>
                </a:solidFill>
                <a:latin typeface="Times New Roman" panose="02020603050405020304"/>
              </a:rPr>
              <a:t>activation</a:t>
            </a:r>
            <a:endParaRPr sz="1425" b="0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28" name="label_paracrine"/>
          <p:cNvSpPr txBox="1"/>
          <p:nvPr/>
        </p:nvSpPr>
        <p:spPr>
          <a:xfrm>
            <a:off x="4124325" y="4543425"/>
            <a:ext cx="1314450" cy="3714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7254A8"/>
                </a:solidFill>
                <a:latin typeface="Times New Roman" panose="02020603050405020304"/>
              </a:rPr>
              <a:t>Paracrine</a:t>
            </a:r>
            <a:endParaRPr sz="1425" b="0" i="0">
              <a:solidFill>
                <a:srgbClr val="7254A8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7254A8"/>
                </a:solidFill>
                <a:latin typeface="Times New Roman" panose="02020603050405020304"/>
              </a:rPr>
              <a:t>mediators</a:t>
            </a:r>
            <a:endParaRPr sz="1425" b="0" i="0">
              <a:solidFill>
                <a:srgbClr val="7254A8"/>
              </a:solidFill>
              <a:latin typeface="Times New Roman" panose="02020603050405020304"/>
            </a:endParaRPr>
          </a:p>
        </p:txBody>
      </p:sp>
      <p:sp>
        <p:nvSpPr>
          <p:cNvPr id="1029" name="node_pasmsc"/>
          <p:cNvSpPr txBox="1"/>
          <p:nvPr/>
        </p:nvSpPr>
        <p:spPr>
          <a:xfrm>
            <a:off x="6067425" y="3857625"/>
            <a:ext cx="1838325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254A8"/>
                </a:solidFill>
                <a:latin typeface="Times New Roman" panose="02020603050405020304"/>
              </a:rPr>
              <a:t>PASMC proliferation</a:t>
            </a:r>
            <a:endParaRPr sz="1600" b="1" i="0">
              <a:solidFill>
                <a:srgbClr val="7254A8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254A8"/>
                </a:solidFill>
                <a:latin typeface="Times New Roman" panose="02020603050405020304"/>
              </a:rPr>
              <a:t>&amp; migration</a:t>
            </a:r>
            <a:endParaRPr sz="1600" b="1" i="0">
              <a:solidFill>
                <a:srgbClr val="7254A8"/>
              </a:solidFill>
              <a:latin typeface="Times New Roman" panose="02020603050405020304"/>
            </a:endParaRPr>
          </a:p>
        </p:txBody>
      </p:sp>
      <p:sp>
        <p:nvSpPr>
          <p:cNvPr id="1030" name="label_scfa"/>
          <p:cNvSpPr txBox="1"/>
          <p:nvPr/>
        </p:nvSpPr>
        <p:spPr>
          <a:xfrm>
            <a:off x="266700" y="5057775"/>
            <a:ext cx="1228725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2F7049"/>
                </a:solidFill>
                <a:latin typeface="Times New Roman" panose="02020603050405020304"/>
              </a:rPr>
              <a:t>SCFAs</a:t>
            </a:r>
            <a:endParaRPr sz="1725" b="1" i="0">
              <a:solidFill>
                <a:srgbClr val="2F7049"/>
              </a:solidFill>
              <a:latin typeface="Times New Roman" panose="02020603050405020304"/>
            </a:endParaRPr>
          </a:p>
        </p:txBody>
      </p:sp>
      <p:sp>
        <p:nvSpPr>
          <p:cNvPr id="1031" name="label_ffar"/>
          <p:cNvSpPr txBox="1"/>
          <p:nvPr/>
        </p:nvSpPr>
        <p:spPr>
          <a:xfrm>
            <a:off x="2362200" y="4981575"/>
            <a:ext cx="1295400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2F7049"/>
                </a:solidFill>
                <a:latin typeface="Times New Roman" panose="02020603050405020304"/>
              </a:rPr>
              <a:t>FFAR2/3</a:t>
            </a:r>
            <a:endParaRPr sz="1575" b="1" i="0">
              <a:solidFill>
                <a:srgbClr val="2F7049"/>
              </a:solidFill>
              <a:latin typeface="Times New Roman" panose="02020603050405020304"/>
            </a:endParaRPr>
          </a:p>
        </p:txBody>
      </p:sp>
      <p:sp>
        <p:nvSpPr>
          <p:cNvPr id="1032" name="node_myeloid"/>
          <p:cNvSpPr txBox="1"/>
          <p:nvPr/>
        </p:nvSpPr>
        <p:spPr>
          <a:xfrm>
            <a:off x="3857625" y="5105400"/>
            <a:ext cx="236220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5" b="1" i="0">
                <a:solidFill>
                  <a:srgbClr val="2F7049"/>
                </a:solidFill>
                <a:latin typeface="Times New Roman" panose="02020603050405020304"/>
              </a:rPr>
              <a:t>Pulmonary myeloid</a:t>
            </a:r>
            <a:endParaRPr sz="1515" b="1" i="0">
              <a:solidFill>
                <a:srgbClr val="2F7049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5" b="1" i="0">
                <a:solidFill>
                  <a:srgbClr val="2F7049"/>
                </a:solidFill>
                <a:latin typeface="Times New Roman" panose="02020603050405020304"/>
              </a:rPr>
              <a:t>modulation</a:t>
            </a:r>
            <a:endParaRPr sz="1515" b="1" i="0">
              <a:solidFill>
                <a:srgbClr val="2F7049"/>
              </a:solidFill>
              <a:latin typeface="Times New Roman" panose="02020603050405020304"/>
            </a:endParaRPr>
          </a:p>
        </p:txBody>
      </p:sp>
      <p:sp>
        <p:nvSpPr>
          <p:cNvPr id="1033" name="label_butyrate"/>
          <p:cNvSpPr txBox="1"/>
          <p:nvPr/>
        </p:nvSpPr>
        <p:spPr>
          <a:xfrm>
            <a:off x="1457325" y="5924550"/>
            <a:ext cx="942975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2F7049"/>
                </a:solidFill>
                <a:latin typeface="Times New Roman" panose="02020603050405020304"/>
              </a:rPr>
              <a:t>Butyrate</a:t>
            </a:r>
            <a:endParaRPr sz="1350" b="0" i="1">
              <a:solidFill>
                <a:srgbClr val="2F7049"/>
              </a:solidFill>
              <a:latin typeface="Times New Roman" panose="02020603050405020304"/>
            </a:endParaRPr>
          </a:p>
        </p:txBody>
      </p:sp>
      <p:sp>
        <p:nvSpPr>
          <p:cNvPr id="1034" name="node_hdac"/>
          <p:cNvSpPr txBox="1"/>
          <p:nvPr/>
        </p:nvSpPr>
        <p:spPr>
          <a:xfrm>
            <a:off x="2409825" y="6019800"/>
            <a:ext cx="110490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F7049"/>
                </a:solidFill>
                <a:latin typeface="Times New Roman" panose="02020603050405020304"/>
              </a:rPr>
              <a:t>HDAC</a:t>
            </a:r>
            <a:endParaRPr sz="1500" b="0" i="0">
              <a:solidFill>
                <a:srgbClr val="2F7049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F7049"/>
                </a:solidFill>
                <a:latin typeface="Times New Roman" panose="02020603050405020304"/>
              </a:rPr>
              <a:t>inhibition</a:t>
            </a:r>
            <a:endParaRPr sz="1500" b="0" i="0">
              <a:solidFill>
                <a:srgbClr val="2F7049"/>
              </a:solidFill>
              <a:latin typeface="Times New Roman" panose="02020603050405020304"/>
            </a:endParaRPr>
          </a:p>
        </p:txBody>
      </p:sp>
      <p:sp>
        <p:nvSpPr>
          <p:cNvPr id="1035" name="label_acetylation"/>
          <p:cNvSpPr txBox="1"/>
          <p:nvPr/>
        </p:nvSpPr>
        <p:spPr>
          <a:xfrm>
            <a:off x="3552825" y="6296025"/>
            <a:ext cx="1914525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F7049"/>
                </a:solidFill>
                <a:latin typeface="Times New Roman" panose="02020603050405020304"/>
              </a:rPr>
              <a:t>Histone H3 acetylation</a:t>
            </a:r>
            <a:endParaRPr sz="1170" b="0" i="0">
              <a:solidFill>
                <a:srgbClr val="2F7049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F7049"/>
                </a:solidFill>
                <a:latin typeface="Times New Roman" panose="02020603050405020304"/>
              </a:rPr>
              <a:t>at the Foxp3 locus ↑</a:t>
            </a:r>
            <a:endParaRPr sz="1170" b="0" i="0">
              <a:solidFill>
                <a:srgbClr val="2F7049"/>
              </a:solidFill>
              <a:latin typeface="Times New Roman" panose="02020603050405020304"/>
            </a:endParaRPr>
          </a:p>
        </p:txBody>
      </p:sp>
      <p:sp>
        <p:nvSpPr>
          <p:cNvPr id="1036" name="node_treg_support"/>
          <p:cNvSpPr txBox="1"/>
          <p:nvPr/>
        </p:nvSpPr>
        <p:spPr>
          <a:xfrm>
            <a:off x="5229225" y="6086475"/>
            <a:ext cx="158115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2F7049"/>
                </a:solidFill>
                <a:latin typeface="Times New Roman" panose="02020603050405020304"/>
              </a:rPr>
              <a:t>Treg support</a:t>
            </a:r>
            <a:endParaRPr sz="1575" b="1" i="0">
              <a:solidFill>
                <a:srgbClr val="2F7049"/>
              </a:solidFill>
              <a:latin typeface="Times New Roman" panose="02020603050405020304"/>
            </a:endParaRPr>
          </a:p>
        </p:txBody>
      </p:sp>
      <p:sp>
        <p:nvSpPr>
          <p:cNvPr id="1037" name="label_perivascular_macrophage"/>
          <p:cNvSpPr txBox="1"/>
          <p:nvPr/>
        </p:nvSpPr>
        <p:spPr>
          <a:xfrm>
            <a:off x="8382000" y="6162675"/>
            <a:ext cx="1276350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5" b="0" i="0">
                <a:solidFill>
                  <a:srgbClr val="23364A"/>
                </a:solidFill>
                <a:latin typeface="Times New Roman" panose="02020603050405020304"/>
              </a:rPr>
              <a:t>Macrophage</a:t>
            </a:r>
            <a:endParaRPr sz="1395" b="0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38" name="label_foxp3"/>
          <p:cNvSpPr txBox="1"/>
          <p:nvPr/>
        </p:nvSpPr>
        <p:spPr>
          <a:xfrm>
            <a:off x="9906000" y="7038975"/>
            <a:ext cx="1200150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23364A"/>
                </a:solidFill>
                <a:latin typeface="Times New Roman" panose="02020603050405020304"/>
              </a:rPr>
              <a:t>FOXP3⁺ Treg</a:t>
            </a:r>
            <a:endParaRPr sz="1425" b="0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39" name="label_secondary_ba"/>
          <p:cNvSpPr txBox="1"/>
          <p:nvPr/>
        </p:nvSpPr>
        <p:spPr>
          <a:xfrm>
            <a:off x="266700" y="6734175"/>
            <a:ext cx="1990725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5" b="1" i="0">
                <a:solidFill>
                  <a:srgbClr val="B97724"/>
                </a:solidFill>
                <a:latin typeface="Times New Roman" panose="02020603050405020304"/>
              </a:rPr>
              <a:t>Secondary BAs</a:t>
            </a:r>
            <a:endParaRPr sz="1625" b="1" i="0">
              <a:solidFill>
                <a:srgbClr val="B97724"/>
              </a:solidFill>
              <a:latin typeface="Times New Roman" panose="02020603050405020304"/>
            </a:endParaRPr>
          </a:p>
        </p:txBody>
      </p:sp>
      <p:sp>
        <p:nvSpPr>
          <p:cNvPr id="1040" name="label_fxr"/>
          <p:cNvSpPr txBox="1"/>
          <p:nvPr/>
        </p:nvSpPr>
        <p:spPr>
          <a:xfrm>
            <a:off x="2447925" y="6734175"/>
            <a:ext cx="27241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B97724"/>
                </a:solidFill>
                <a:latin typeface="Times New Roman" panose="02020603050405020304"/>
              </a:rPr>
              <a:t>Endothelial FXR activation</a:t>
            </a:r>
            <a:endParaRPr sz="1540" b="1" i="0">
              <a:solidFill>
                <a:srgbClr val="B97724"/>
              </a:solidFill>
              <a:latin typeface="Times New Roman" panose="02020603050405020304"/>
            </a:endParaRPr>
          </a:p>
        </p:txBody>
      </p:sp>
      <p:sp>
        <p:nvSpPr>
          <p:cNvPr id="1041" name="node_et1"/>
          <p:cNvSpPr txBox="1"/>
          <p:nvPr/>
        </p:nvSpPr>
        <p:spPr>
          <a:xfrm>
            <a:off x="5543550" y="7086600"/>
            <a:ext cx="2085975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B97724"/>
                </a:solidFill>
                <a:latin typeface="Times New Roman" panose="02020603050405020304"/>
              </a:rPr>
              <a:t>ET-1 expression</a:t>
            </a:r>
            <a:endParaRPr sz="1575" b="0" i="0">
              <a:solidFill>
                <a:srgbClr val="B97724"/>
              </a:solidFill>
              <a:latin typeface="Times New Roman" panose="02020603050405020304"/>
            </a:endParaRPr>
          </a:p>
        </p:txBody>
      </p:sp>
      <p:sp>
        <p:nvSpPr>
          <p:cNvPr id="1042" name="label_indole"/>
          <p:cNvSpPr txBox="1"/>
          <p:nvPr/>
        </p:nvSpPr>
        <p:spPr>
          <a:xfrm>
            <a:off x="266700" y="7486650"/>
            <a:ext cx="2857500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5" b="1" i="0">
                <a:solidFill>
                  <a:srgbClr val="7254A8"/>
                </a:solidFill>
                <a:latin typeface="Times New Roman" panose="02020603050405020304"/>
              </a:rPr>
              <a:t>Gut-derived indole metabolites</a:t>
            </a:r>
            <a:endParaRPr sz="1625" b="1" i="0">
              <a:solidFill>
                <a:srgbClr val="7254A8"/>
              </a:solidFill>
              <a:latin typeface="Times New Roman" panose="02020603050405020304"/>
            </a:endParaRPr>
          </a:p>
        </p:txBody>
      </p:sp>
      <p:sp>
        <p:nvSpPr>
          <p:cNvPr id="1043" name="label_ahr"/>
          <p:cNvSpPr txBox="1"/>
          <p:nvPr/>
        </p:nvSpPr>
        <p:spPr>
          <a:xfrm>
            <a:off x="3286125" y="7477125"/>
            <a:ext cx="904875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7254A8"/>
                </a:solidFill>
                <a:latin typeface="Times New Roman" panose="02020603050405020304"/>
              </a:rPr>
              <a:t>AhR</a:t>
            </a:r>
            <a:endParaRPr sz="1550" b="1" i="0">
              <a:solidFill>
                <a:srgbClr val="7254A8"/>
              </a:solidFill>
              <a:latin typeface="Times New Roman" panose="02020603050405020304"/>
            </a:endParaRPr>
          </a:p>
        </p:txBody>
      </p:sp>
      <p:sp>
        <p:nvSpPr>
          <p:cNvPr id="1044" name="node_tcell"/>
          <p:cNvSpPr txBox="1"/>
          <p:nvPr/>
        </p:nvSpPr>
        <p:spPr>
          <a:xfrm>
            <a:off x="5410200" y="7791450"/>
            <a:ext cx="2333625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254A8"/>
                </a:solidFill>
                <a:latin typeface="Times New Roman" panose="02020603050405020304"/>
              </a:rPr>
              <a:t>Immune modulation</a:t>
            </a:r>
            <a:endParaRPr sz="1500" b="0" i="0">
              <a:solidFill>
                <a:srgbClr val="7254A8"/>
              </a:solidFill>
              <a:latin typeface="Times New Roman" panose="02020603050405020304"/>
            </a:endParaRPr>
          </a:p>
        </p:txBody>
      </p:sp>
      <p:sp>
        <p:nvSpPr>
          <p:cNvPr id="1045" name="label_pulmonary_arteriole"/>
          <p:cNvSpPr txBox="1"/>
          <p:nvPr/>
        </p:nvSpPr>
        <p:spPr>
          <a:xfrm>
            <a:off x="9525000" y="342900"/>
            <a:ext cx="38290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3364A"/>
                </a:solidFill>
                <a:latin typeface="Times New Roman" panose="02020603050405020304"/>
              </a:rPr>
              <a:t>Pulmonary arteriole</a:t>
            </a:r>
            <a:endParaRPr sz="210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46" name="label_endothelium"/>
          <p:cNvSpPr txBox="1"/>
          <p:nvPr/>
        </p:nvSpPr>
        <p:spPr>
          <a:xfrm>
            <a:off x="7829550" y="2209800"/>
            <a:ext cx="1152525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23364A"/>
                </a:solidFill>
                <a:latin typeface="Times New Roman" panose="02020603050405020304"/>
              </a:rPr>
              <a:t>Endothelium</a:t>
            </a:r>
            <a:endParaRPr sz="147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47" name="label_media"/>
          <p:cNvSpPr txBox="1"/>
          <p:nvPr/>
        </p:nvSpPr>
        <p:spPr>
          <a:xfrm>
            <a:off x="8208010" y="3228340"/>
            <a:ext cx="1247775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23364A"/>
                </a:solidFill>
                <a:latin typeface="Times New Roman" panose="02020603050405020304"/>
              </a:rPr>
              <a:t>Media</a:t>
            </a:r>
            <a:endParaRPr sz="1470" b="1" i="0">
              <a:solidFill>
                <a:srgbClr val="23364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23364A"/>
                </a:solidFill>
                <a:latin typeface="Times New Roman" panose="02020603050405020304"/>
              </a:rPr>
              <a:t>(PASMCs)</a:t>
            </a:r>
            <a:endParaRPr sz="147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48" name="label_adventitia"/>
          <p:cNvSpPr txBox="1"/>
          <p:nvPr/>
        </p:nvSpPr>
        <p:spPr>
          <a:xfrm>
            <a:off x="9039225" y="4800600"/>
            <a:ext cx="1247775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23364A"/>
                </a:solidFill>
                <a:latin typeface="Times New Roman" panose="02020603050405020304"/>
              </a:rPr>
              <a:t>Adventitia</a:t>
            </a:r>
            <a:endParaRPr sz="147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49" name="outcome_endothelial"/>
          <p:cNvSpPr txBox="1"/>
          <p:nvPr/>
        </p:nvSpPr>
        <p:spPr>
          <a:xfrm>
            <a:off x="13049250" y="2371725"/>
            <a:ext cx="1809750" cy="561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5" b="1" i="0">
                <a:solidFill>
                  <a:srgbClr val="23364A"/>
                </a:solidFill>
                <a:latin typeface="Times New Roman" panose="02020603050405020304"/>
              </a:rPr>
              <a:t>Endothelial</a:t>
            </a:r>
            <a:endParaRPr sz="1765" b="1" i="0">
              <a:solidFill>
                <a:srgbClr val="23364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5" b="1" i="0">
                <a:solidFill>
                  <a:srgbClr val="23364A"/>
                </a:solidFill>
                <a:latin typeface="Times New Roman" panose="02020603050405020304"/>
              </a:rPr>
              <a:t>dysfunction</a:t>
            </a:r>
            <a:endParaRPr sz="1765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50" name="outcome_medial"/>
          <p:cNvSpPr txBox="1"/>
          <p:nvPr/>
        </p:nvSpPr>
        <p:spPr>
          <a:xfrm>
            <a:off x="13049250" y="3895725"/>
            <a:ext cx="1809750" cy="561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5" b="1" i="0">
                <a:solidFill>
                  <a:srgbClr val="A82D2A"/>
                </a:solidFill>
                <a:latin typeface="Times New Roman" panose="02020603050405020304"/>
              </a:rPr>
              <a:t>Medial</a:t>
            </a:r>
            <a:endParaRPr sz="1765" b="1" i="0">
              <a:solidFill>
                <a:srgbClr val="A82D2A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5" b="1" i="0">
                <a:solidFill>
                  <a:srgbClr val="A82D2A"/>
                </a:solidFill>
                <a:latin typeface="Times New Roman" panose="02020603050405020304"/>
              </a:rPr>
              <a:t>thickening</a:t>
            </a:r>
            <a:endParaRPr sz="1765" b="1" i="0">
              <a:solidFill>
                <a:srgbClr val="A82D2A"/>
              </a:solidFill>
              <a:latin typeface="Times New Roman" panose="02020603050405020304"/>
            </a:endParaRPr>
          </a:p>
        </p:txBody>
      </p:sp>
      <p:sp>
        <p:nvSpPr>
          <p:cNvPr id="1051" name="outcome_adventitial"/>
          <p:cNvSpPr txBox="1"/>
          <p:nvPr/>
        </p:nvSpPr>
        <p:spPr>
          <a:xfrm>
            <a:off x="13049250" y="5419725"/>
            <a:ext cx="1809750" cy="561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5" b="1" i="0">
                <a:solidFill>
                  <a:srgbClr val="7254A8"/>
                </a:solidFill>
                <a:latin typeface="Times New Roman" panose="02020603050405020304"/>
              </a:rPr>
              <a:t>Adventitial</a:t>
            </a:r>
            <a:endParaRPr sz="1765" b="1" i="0">
              <a:solidFill>
                <a:srgbClr val="7254A8"/>
              </a:solidFill>
              <a:latin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5" b="1" i="0">
                <a:solidFill>
                  <a:srgbClr val="7254A8"/>
                </a:solidFill>
                <a:latin typeface="Times New Roman" panose="02020603050405020304"/>
              </a:rPr>
              <a:t>remodeling</a:t>
            </a:r>
            <a:endParaRPr sz="1765" b="1" i="0">
              <a:solidFill>
                <a:srgbClr val="7254A8"/>
              </a:solidFill>
              <a:latin typeface="Times New Roman" panose="02020603050405020304"/>
            </a:endParaRPr>
          </a:p>
        </p:txBody>
      </p:sp>
      <p:sp>
        <p:nvSpPr>
          <p:cNvPr id="1052" name="outcome_pvr"/>
          <p:cNvSpPr txBox="1"/>
          <p:nvPr/>
        </p:nvSpPr>
        <p:spPr>
          <a:xfrm>
            <a:off x="13658850" y="6391275"/>
            <a:ext cx="1362075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23364A"/>
                </a:solidFill>
                <a:latin typeface="Times New Roman" panose="02020603050405020304"/>
              </a:rPr>
              <a:t>PVR ↑</a:t>
            </a:r>
            <a:endParaRPr sz="2250" b="1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53" name="normal_cross_section_label"/>
          <p:cNvSpPr txBox="1"/>
          <p:nvPr/>
        </p:nvSpPr>
        <p:spPr>
          <a:xfrm>
            <a:off x="11239500" y="7115175"/>
            <a:ext cx="1095375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3364A"/>
                </a:solidFill>
                <a:latin typeface="Times New Roman" panose="02020603050405020304"/>
              </a:rPr>
              <a:t>Normal</a:t>
            </a:r>
            <a:endParaRPr sz="1350" b="0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54" name="remodeled_cross_section_label"/>
          <p:cNvSpPr txBox="1"/>
          <p:nvPr/>
        </p:nvSpPr>
        <p:spPr>
          <a:xfrm>
            <a:off x="12449175" y="7115175"/>
            <a:ext cx="1190625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3364A"/>
                </a:solidFill>
                <a:latin typeface="Times New Roman" panose="02020603050405020304"/>
              </a:rPr>
              <a:t>Remodeled</a:t>
            </a:r>
            <a:endParaRPr sz="1350" b="0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55" name="cross_section_note"/>
          <p:cNvSpPr txBox="1"/>
          <p:nvPr/>
        </p:nvSpPr>
        <p:spPr>
          <a:xfrm>
            <a:off x="11277600" y="8020050"/>
            <a:ext cx="245745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27588"/>
                </a:solidFill>
                <a:latin typeface="Times New Roman" panose="02020603050405020304"/>
              </a:rPr>
              <a:t>Schematic morphology</a:t>
            </a:r>
            <a:endParaRPr sz="1200" b="0" i="1">
              <a:solidFill>
                <a:srgbClr val="627588"/>
              </a:solidFill>
              <a:latin typeface="Times New Roman" panose="02020603050405020304"/>
            </a:endParaRPr>
          </a:p>
        </p:txBody>
      </p:sp>
      <p:sp>
        <p:nvSpPr>
          <p:cNvPr id="1056" name="legend_solid"/>
          <p:cNvSpPr txBox="1"/>
          <p:nvPr/>
        </p:nvSpPr>
        <p:spPr>
          <a:xfrm>
            <a:off x="962025" y="8305800"/>
            <a:ext cx="4733925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3364A"/>
                </a:solidFill>
                <a:latin typeface="Times New Roman" panose="02020603050405020304"/>
              </a:rPr>
              <a:t>Solid: experimental support for the depicted step</a:t>
            </a:r>
            <a:endParaRPr sz="1260" b="0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57" name="legend_dashed"/>
          <p:cNvSpPr txBox="1"/>
          <p:nvPr/>
        </p:nvSpPr>
        <p:spPr>
          <a:xfrm>
            <a:off x="6934200" y="8305800"/>
            <a:ext cx="5476875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3364A"/>
                </a:solidFill>
                <a:latin typeface="Times New Roman" panose="02020603050405020304"/>
              </a:rPr>
              <a:t>Dashed: proposed PAH link / incomplete pathway</a:t>
            </a:r>
            <a:endParaRPr sz="1260" b="0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58" name="label_tlr4_cell_scope"/>
          <p:cNvSpPr txBox="1"/>
          <p:nvPr/>
        </p:nvSpPr>
        <p:spPr>
          <a:xfrm>
            <a:off x="266700" y="2686050"/>
            <a:ext cx="232410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1">
                <a:solidFill>
                  <a:srgbClr val="627588"/>
                </a:solidFill>
                <a:latin typeface="Times New Roman" panose="02020603050405020304"/>
              </a:rPr>
              <a:t>Immune and vascular cells</a:t>
            </a:r>
            <a:endParaRPr sz="1320" b="0" i="1">
              <a:solidFill>
                <a:srgbClr val="627588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1">
                <a:solidFill>
                  <a:srgbClr val="627588"/>
                </a:solidFill>
                <a:latin typeface="Times New Roman" panose="02020603050405020304"/>
              </a:rPr>
              <a:t>(schematic)</a:t>
            </a:r>
            <a:endParaRPr sz="1320" b="0" i="1">
              <a:solidFill>
                <a:srgbClr val="627588"/>
              </a:solidFill>
              <a:latin typeface="Times New Roman" panose="02020603050405020304"/>
            </a:endParaRPr>
          </a:p>
        </p:txBody>
      </p:sp>
      <p:sp>
        <p:nvSpPr>
          <p:cNvPr id="1059" name="label_myeloid_candidate"/>
          <p:cNvSpPr txBox="1"/>
          <p:nvPr/>
        </p:nvSpPr>
        <p:spPr>
          <a:xfrm>
            <a:off x="4133850" y="5514975"/>
            <a:ext cx="1914525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1">
                <a:solidFill>
                  <a:srgbClr val="627588"/>
                </a:solidFill>
                <a:latin typeface="Times New Roman" panose="02020603050405020304"/>
              </a:rPr>
              <a:t>Proposed PH link</a:t>
            </a:r>
            <a:endParaRPr sz="1230" b="0" i="1">
              <a:solidFill>
                <a:srgbClr val="627588"/>
              </a:solidFill>
              <a:latin typeface="Times New Roman" panose="02020603050405020304"/>
            </a:endParaRPr>
          </a:p>
        </p:txBody>
      </p:sp>
      <p:sp>
        <p:nvSpPr>
          <p:cNvPr id="1060" name="label_butyrate_direct"/>
          <p:cNvSpPr txBox="1"/>
          <p:nvPr/>
        </p:nvSpPr>
        <p:spPr>
          <a:xfrm>
            <a:off x="8067675" y="7048500"/>
            <a:ext cx="990600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2F7049"/>
                </a:solidFill>
                <a:latin typeface="Times New Roman" panose="02020603050405020304"/>
              </a:rPr>
              <a:t>Butyrate</a:t>
            </a:r>
            <a:endParaRPr sz="1575" b="1" i="0">
              <a:solidFill>
                <a:srgbClr val="2F7049"/>
              </a:solidFill>
              <a:latin typeface="Times New Roman" panose="02020603050405020304"/>
            </a:endParaRPr>
          </a:p>
        </p:txBody>
      </p:sp>
      <p:sp>
        <p:nvSpPr>
          <p:cNvPr id="1061" name="label_butyrate_cell_studies"/>
          <p:cNvSpPr txBox="1"/>
          <p:nvPr/>
        </p:nvSpPr>
        <p:spPr>
          <a:xfrm>
            <a:off x="8067675" y="7334250"/>
            <a:ext cx="1000125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1">
                <a:solidFill>
                  <a:srgbClr val="627588"/>
                </a:solidFill>
                <a:latin typeface="Times New Roman" panose="02020603050405020304"/>
              </a:rPr>
              <a:t>Cell studies</a:t>
            </a:r>
            <a:endParaRPr sz="1260" b="0" i="1">
              <a:solidFill>
                <a:srgbClr val="627588"/>
              </a:solidFill>
              <a:latin typeface="Times New Roman" panose="02020603050405020304"/>
            </a:endParaRPr>
          </a:p>
        </p:txBody>
      </p:sp>
      <p:sp>
        <p:nvSpPr>
          <p:cNvPr id="1062" name="node_endothelial_barrier_protection"/>
          <p:cNvSpPr txBox="1"/>
          <p:nvPr/>
        </p:nvSpPr>
        <p:spPr>
          <a:xfrm>
            <a:off x="9315450" y="7305675"/>
            <a:ext cx="185737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2F7049"/>
                </a:solidFill>
                <a:latin typeface="Times New Roman" panose="02020603050405020304"/>
              </a:rPr>
              <a:t>Endothelial barrier</a:t>
            </a:r>
            <a:endParaRPr sz="1425" b="1" i="0">
              <a:solidFill>
                <a:srgbClr val="2F7049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2F7049"/>
                </a:solidFill>
                <a:latin typeface="Times New Roman" panose="02020603050405020304"/>
              </a:rPr>
              <a:t>protection</a:t>
            </a:r>
            <a:endParaRPr sz="1425" b="1" i="0">
              <a:solidFill>
                <a:srgbClr val="2F7049"/>
              </a:solidFill>
              <a:latin typeface="Times New Roman" panose="02020603050405020304"/>
            </a:endParaRPr>
          </a:p>
        </p:txBody>
      </p:sp>
      <p:sp>
        <p:nvSpPr>
          <p:cNvPr id="1063" name="node_butyrate_pasmsc"/>
          <p:cNvSpPr txBox="1"/>
          <p:nvPr/>
        </p:nvSpPr>
        <p:spPr>
          <a:xfrm>
            <a:off x="9315450" y="7772400"/>
            <a:ext cx="192405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5" b="0" i="0">
                <a:solidFill>
                  <a:srgbClr val="2F7049"/>
                </a:solidFill>
                <a:latin typeface="Times New Roman" panose="02020603050405020304"/>
              </a:rPr>
              <a:t>PDGF-induced PASMC</a:t>
            </a:r>
            <a:endParaRPr sz="1395" b="0" i="0">
              <a:solidFill>
                <a:srgbClr val="2F7049"/>
              </a:solidFill>
              <a:latin typeface="Times New Roman" panose="020206030504050203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5" b="0" i="0">
                <a:solidFill>
                  <a:srgbClr val="2F7049"/>
                </a:solidFill>
                <a:latin typeface="Times New Roman" panose="02020603050405020304"/>
              </a:rPr>
              <a:t>proliferation &amp; migration</a:t>
            </a:r>
            <a:endParaRPr sz="1395" b="0" i="0">
              <a:solidFill>
                <a:srgbClr val="2F7049"/>
              </a:solidFill>
              <a:latin typeface="Times New Roman" panose="02020603050405020304"/>
            </a:endParaRPr>
          </a:p>
        </p:txBody>
      </p:sp>
      <p:sp>
        <p:nvSpPr>
          <p:cNvPr id="1064" name="legend_inhibition"/>
          <p:cNvSpPr txBox="1"/>
          <p:nvPr/>
        </p:nvSpPr>
        <p:spPr>
          <a:xfrm>
            <a:off x="13277850" y="8305800"/>
            <a:ext cx="16192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3364A"/>
                </a:solidFill>
                <a:latin typeface="Times New Roman" panose="02020603050405020304"/>
              </a:rPr>
              <a:t>Inhibition</a:t>
            </a:r>
            <a:endParaRPr sz="1260" b="0" i="0">
              <a:solidFill>
                <a:srgbClr val="23364A"/>
              </a:solidFill>
              <a:latin typeface="Times New Roman" panose="02020603050405020304"/>
            </a:endParaRPr>
          </a:p>
        </p:txBody>
      </p:sp>
      <p:sp>
        <p:nvSpPr>
          <p:cNvPr id="1065" name="label_ahr_experimental_ph"/>
          <p:cNvSpPr txBox="1"/>
          <p:nvPr/>
        </p:nvSpPr>
        <p:spPr>
          <a:xfrm>
            <a:off x="4057650" y="7639050"/>
            <a:ext cx="13335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 i="1">
                <a:solidFill>
                  <a:srgbClr val="627588"/>
                </a:solidFill>
                <a:latin typeface="Times New Roman" panose="02020603050405020304"/>
              </a:rPr>
              <a:t>Experimental PH</a:t>
            </a:r>
            <a:endParaRPr sz="1290" b="0" i="1">
              <a:solidFill>
                <a:srgbClr val="627588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992</Words>
  <Application>WPS 演示</Application>
  <PresentationFormat>On-screen Show (16:9)</PresentationFormat>
  <Paragraphs>129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Arial</vt:lpstr>
      <vt:lpstr>Times New Roman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Pulmonary vascular signaling and remodeling</dc:title>
  <dc:creator/>
  <cp:lastModifiedBy>小李</cp:lastModifiedBy>
  <cp:revision>4</cp:revision>
  <dcterms:created xsi:type="dcterms:W3CDTF">2026-10-17T12:05:00Z</dcterms:created>
  <dcterms:modified xsi:type="dcterms:W3CDTF">2026-10-24T09:10:59Z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E16349F1F92D40D58560D785A689C692_13</vt:lpwstr>
  </property>
  <property fmtid="{D5CDD505-2E9C-101B-9397-08002B2CF9AE}" pid="3" name="KSOProductBuildVer">
    <vt:lpwstr>2052-12.1.0.29158</vt:lpwstr>
  </property>
</Properties>
</file>