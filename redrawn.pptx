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shly drawn gradient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7EE"/>
              </a:gs>
              <a:gs pos="47000">
                <a:srgbClr val="FCF5EC"/>
              </a:gs>
              <a:gs pos="70000">
                <a:srgbClr val="EDF0F7"/>
              </a:gs>
              <a:gs pos="100000">
                <a:srgbClr val="D3E3FD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mall bowel backing"/>
          <p:cNvSpPr/>
          <p:nvPr/>
        </p:nvSpPr>
        <p:spPr>
          <a:xfrm>
            <a:off x="485775" y="457200"/>
            <a:ext cx="1143000" cy="1038225"/>
          </a:xfrm>
          <a:custGeom>
            <a:avLst/>
            <a:gdLst/>
            <a:ahLst/>
            <a:cxnLst/>
            <a:rect l="0" t="0" r="r" b="b"/>
            <a:pathLst>
              <a:path w="1143000" h="1038225">
                <a:moveTo>
                  <a:pt x="85725" y="133350"/>
                </a:moveTo>
                <a:cubicBezTo>
                  <a:pt x="228600" y="28575"/>
                  <a:pt x="904875" y="0"/>
                  <a:pt x="1047750" y="190500"/>
                </a:cubicBezTo>
                <a:cubicBezTo>
                  <a:pt x="1143000" y="419100"/>
                  <a:pt x="1057275" y="857250"/>
                  <a:pt x="876300" y="981075"/>
                </a:cubicBezTo>
                <a:cubicBezTo>
                  <a:pt x="695325" y="1038225"/>
                  <a:pt x="276225" y="923925"/>
                  <a:pt x="123825" y="771525"/>
                </a:cubicBezTo>
                <a:cubicBezTo>
                  <a:pt x="0" y="600075"/>
                  <a:pt x="19050" y="295275"/>
                  <a:pt x="85725" y="133350"/>
                </a:cubicBezTo>
                <a:close/>
              </a:path>
            </a:pathLst>
          </a:custGeom>
          <a:gradFill rotWithShape="1">
            <a:gsLst>
              <a:gs pos="0">
                <a:srgbClr val="F8C6B8"/>
              </a:gs>
              <a:gs pos="60000">
                <a:srgbClr val="F1AB9A"/>
              </a:gs>
              <a:gs pos="100000">
                <a:srgbClr val="DA9482"/>
              </a:gs>
            </a:gsLst>
            <a:lin ang="5400000" scaled="1"/>
          </a:gradFill>
          <a:ln w="10477" cap="rnd">
            <a:solidFill>
              <a:srgbClr val="D9907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um"/>
          <p:cNvSpPr/>
          <p:nvPr/>
        </p:nvSpPr>
        <p:spPr>
          <a:xfrm>
            <a:off x="781050" y="1285875"/>
            <a:ext cx="342900" cy="552450"/>
          </a:xfrm>
          <a:custGeom>
            <a:avLst/>
            <a:gdLst/>
            <a:ahLst/>
            <a:cxnLst/>
            <a:rect l="0" t="0" r="r" b="b"/>
            <a:pathLst>
              <a:path w="342900" h="552450">
                <a:moveTo>
                  <a:pt x="123825" y="0"/>
                </a:moveTo>
                <a:cubicBezTo>
                  <a:pt x="0" y="95250"/>
                  <a:pt x="38100" y="219075"/>
                  <a:pt x="85725" y="314325"/>
                </a:cubicBezTo>
                <a:cubicBezTo>
                  <a:pt x="95250" y="390525"/>
                  <a:pt x="85725" y="514350"/>
                  <a:pt x="161925" y="542925"/>
                </a:cubicBezTo>
                <a:cubicBezTo>
                  <a:pt x="238125" y="552450"/>
                  <a:pt x="238125" y="428625"/>
                  <a:pt x="266700" y="352425"/>
                </a:cubicBezTo>
                <a:cubicBezTo>
                  <a:pt x="342900" y="190500"/>
                  <a:pt x="266700" y="85725"/>
                  <a:pt x="323850" y="47625"/>
                </a:cubicBezTo>
                <a:close/>
              </a:path>
            </a:pathLst>
          </a:custGeom>
          <a:gradFill rotWithShape="1">
            <a:gsLst>
              <a:gs pos="0">
                <a:srgbClr val="EEA998"/>
              </a:gs>
              <a:gs pos="45000">
                <a:srgbClr val="F4B9A9"/>
              </a:gs>
              <a:gs pos="100000">
                <a:srgbClr val="DE8E7D"/>
              </a:gs>
            </a:gsLst>
            <a:lin ang="5400000" scaled="1"/>
          </a:gradFill>
          <a:ln w="14287" cap="rnd">
            <a:solidFill>
              <a:srgbClr val="CA7E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owel fold outline 0"/>
          <p:cNvSpPr/>
          <p:nvPr/>
        </p:nvSpPr>
        <p:spPr>
          <a:xfrm>
            <a:off x="628650" y="552450"/>
            <a:ext cx="828675" cy="447675"/>
          </a:xfrm>
          <a:custGeom>
            <a:avLst/>
            <a:gdLst/>
            <a:ahLst/>
            <a:cxnLst/>
            <a:rect l="0" t="0" r="r" b="b"/>
            <a:pathLst>
              <a:path w="828675" h="447675">
                <a:moveTo>
                  <a:pt x="0" y="142875"/>
                </a:moveTo>
                <a:cubicBezTo>
                  <a:pt x="114300" y="28575"/>
                  <a:pt x="247650" y="152400"/>
                  <a:pt x="352425" y="133350"/>
                </a:cubicBezTo>
                <a:cubicBezTo>
                  <a:pt x="447675" y="104775"/>
                  <a:pt x="571500" y="152400"/>
                  <a:pt x="638175" y="76200"/>
                </a:cubicBezTo>
                <a:cubicBezTo>
                  <a:pt x="733425" y="0"/>
                  <a:pt x="828675" y="76200"/>
                  <a:pt x="771525" y="180975"/>
                </a:cubicBezTo>
                <a:cubicBezTo>
                  <a:pt x="685800" y="295275"/>
                  <a:pt x="504825" y="209550"/>
                  <a:pt x="447675" y="314325"/>
                </a:cubicBezTo>
                <a:cubicBezTo>
                  <a:pt x="381000" y="447675"/>
                  <a:pt x="266700" y="400050"/>
                  <a:pt x="180975" y="314325"/>
                </a:cubicBezTo>
              </a:path>
            </a:pathLst>
          </a:custGeom>
          <a:noFill/>
          <a:ln w="13335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wel fold 0"/>
          <p:cNvSpPr/>
          <p:nvPr/>
        </p:nvSpPr>
        <p:spPr>
          <a:xfrm>
            <a:off x="628650" y="552450"/>
            <a:ext cx="828675" cy="447675"/>
          </a:xfrm>
          <a:custGeom>
            <a:avLst/>
            <a:gdLst/>
            <a:ahLst/>
            <a:cxnLst/>
            <a:rect l="0" t="0" r="r" b="b"/>
            <a:pathLst>
              <a:path w="828675" h="447675">
                <a:moveTo>
                  <a:pt x="0" y="142875"/>
                </a:moveTo>
                <a:cubicBezTo>
                  <a:pt x="114300" y="28575"/>
                  <a:pt x="247650" y="152400"/>
                  <a:pt x="352425" y="133350"/>
                </a:cubicBezTo>
                <a:cubicBezTo>
                  <a:pt x="447675" y="104775"/>
                  <a:pt x="571500" y="152400"/>
                  <a:pt x="638175" y="76200"/>
                </a:cubicBezTo>
                <a:cubicBezTo>
                  <a:pt x="733425" y="0"/>
                  <a:pt x="828675" y="76200"/>
                  <a:pt x="771525" y="180975"/>
                </a:cubicBezTo>
                <a:cubicBezTo>
                  <a:pt x="685800" y="295275"/>
                  <a:pt x="504825" y="209550"/>
                  <a:pt x="447675" y="314325"/>
                </a:cubicBezTo>
                <a:cubicBezTo>
                  <a:pt x="381000" y="447675"/>
                  <a:pt x="266700" y="400050"/>
                  <a:pt x="180975" y="314325"/>
                </a:cubicBezTo>
              </a:path>
            </a:pathLst>
          </a:custGeom>
          <a:noFill/>
          <a:ln w="100012" cap="rnd">
            <a:solidFill>
              <a:srgbClr val="F6B7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wel fold highlight 0"/>
          <p:cNvSpPr/>
          <p:nvPr/>
        </p:nvSpPr>
        <p:spPr>
          <a:xfrm>
            <a:off x="628650" y="552450"/>
            <a:ext cx="828675" cy="447675"/>
          </a:xfrm>
          <a:custGeom>
            <a:avLst/>
            <a:gdLst/>
            <a:ahLst/>
            <a:cxnLst/>
            <a:rect l="0" t="0" r="r" b="b"/>
            <a:pathLst>
              <a:path w="828675" h="447675">
                <a:moveTo>
                  <a:pt x="0" y="142875"/>
                </a:moveTo>
                <a:cubicBezTo>
                  <a:pt x="114300" y="28575"/>
                  <a:pt x="247650" y="152400"/>
                  <a:pt x="352425" y="133350"/>
                </a:cubicBezTo>
                <a:cubicBezTo>
                  <a:pt x="447675" y="104775"/>
                  <a:pt x="571500" y="152400"/>
                  <a:pt x="638175" y="76200"/>
                </a:cubicBezTo>
                <a:cubicBezTo>
                  <a:pt x="733425" y="0"/>
                  <a:pt x="828675" y="76200"/>
                  <a:pt x="771525" y="180975"/>
                </a:cubicBezTo>
                <a:cubicBezTo>
                  <a:pt x="685800" y="295275"/>
                  <a:pt x="504825" y="209550"/>
                  <a:pt x="447675" y="314325"/>
                </a:cubicBezTo>
                <a:cubicBezTo>
                  <a:pt x="381000" y="447675"/>
                  <a:pt x="266700" y="400050"/>
                  <a:pt x="180975" y="314325"/>
                </a:cubicBezTo>
              </a:path>
            </a:pathLst>
          </a:custGeom>
          <a:noFill/>
          <a:ln w="41910" cap="rnd">
            <a:solidFill>
              <a:srgbClr val="FFD0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wel fold outline 1"/>
          <p:cNvSpPr/>
          <p:nvPr/>
        </p:nvSpPr>
        <p:spPr>
          <a:xfrm>
            <a:off x="619125" y="695325"/>
            <a:ext cx="781050" cy="742950"/>
          </a:xfrm>
          <a:custGeom>
            <a:avLst/>
            <a:gdLst/>
            <a:ahLst/>
            <a:cxnLst/>
            <a:rect l="0" t="0" r="r" b="b"/>
            <a:pathLst>
              <a:path w="781050" h="742950">
                <a:moveTo>
                  <a:pt x="95250" y="0"/>
                </a:moveTo>
                <a:cubicBezTo>
                  <a:pt x="9525" y="133350"/>
                  <a:pt x="0" y="314325"/>
                  <a:pt x="123825" y="390525"/>
                </a:cubicBezTo>
                <a:cubicBezTo>
                  <a:pt x="209550" y="438150"/>
                  <a:pt x="295275" y="352425"/>
                  <a:pt x="371475" y="409575"/>
                </a:cubicBezTo>
                <a:cubicBezTo>
                  <a:pt x="466725" y="523875"/>
                  <a:pt x="552450" y="361950"/>
                  <a:pt x="638175" y="428625"/>
                </a:cubicBezTo>
                <a:cubicBezTo>
                  <a:pt x="752475" y="533400"/>
                  <a:pt x="781050" y="628650"/>
                  <a:pt x="647700" y="685800"/>
                </a:cubicBezTo>
                <a:cubicBezTo>
                  <a:pt x="523875" y="742950"/>
                  <a:pt x="371475" y="600075"/>
                  <a:pt x="276225" y="628650"/>
                </a:cubicBezTo>
                <a:cubicBezTo>
                  <a:pt x="152400" y="685800"/>
                  <a:pt x="57150" y="600075"/>
                  <a:pt x="85725" y="495300"/>
                </a:cubicBezTo>
              </a:path>
            </a:pathLst>
          </a:custGeom>
          <a:noFill/>
          <a:ln w="13335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wel fold 1"/>
          <p:cNvSpPr/>
          <p:nvPr/>
        </p:nvSpPr>
        <p:spPr>
          <a:xfrm>
            <a:off x="619125" y="695325"/>
            <a:ext cx="781050" cy="742950"/>
          </a:xfrm>
          <a:custGeom>
            <a:avLst/>
            <a:gdLst/>
            <a:ahLst/>
            <a:cxnLst/>
            <a:rect l="0" t="0" r="r" b="b"/>
            <a:pathLst>
              <a:path w="781050" h="742950">
                <a:moveTo>
                  <a:pt x="95250" y="0"/>
                </a:moveTo>
                <a:cubicBezTo>
                  <a:pt x="9525" y="133350"/>
                  <a:pt x="0" y="314325"/>
                  <a:pt x="123825" y="390525"/>
                </a:cubicBezTo>
                <a:cubicBezTo>
                  <a:pt x="209550" y="438150"/>
                  <a:pt x="295275" y="352425"/>
                  <a:pt x="371475" y="409575"/>
                </a:cubicBezTo>
                <a:cubicBezTo>
                  <a:pt x="466725" y="523875"/>
                  <a:pt x="552450" y="361950"/>
                  <a:pt x="638175" y="428625"/>
                </a:cubicBezTo>
                <a:cubicBezTo>
                  <a:pt x="752475" y="533400"/>
                  <a:pt x="781050" y="628650"/>
                  <a:pt x="647700" y="685800"/>
                </a:cubicBezTo>
                <a:cubicBezTo>
                  <a:pt x="523875" y="742950"/>
                  <a:pt x="371475" y="600075"/>
                  <a:pt x="276225" y="628650"/>
                </a:cubicBezTo>
                <a:cubicBezTo>
                  <a:pt x="152400" y="685800"/>
                  <a:pt x="57150" y="600075"/>
                  <a:pt x="85725" y="495300"/>
                </a:cubicBezTo>
              </a:path>
            </a:pathLst>
          </a:custGeom>
          <a:noFill/>
          <a:ln w="100012" cap="rnd">
            <a:solidFill>
              <a:srgbClr val="F6B7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wel fold highlight 1"/>
          <p:cNvSpPr/>
          <p:nvPr/>
        </p:nvSpPr>
        <p:spPr>
          <a:xfrm>
            <a:off x="619125" y="695325"/>
            <a:ext cx="781050" cy="742950"/>
          </a:xfrm>
          <a:custGeom>
            <a:avLst/>
            <a:gdLst/>
            <a:ahLst/>
            <a:cxnLst/>
            <a:rect l="0" t="0" r="r" b="b"/>
            <a:pathLst>
              <a:path w="781050" h="742950">
                <a:moveTo>
                  <a:pt x="95250" y="0"/>
                </a:moveTo>
                <a:cubicBezTo>
                  <a:pt x="9525" y="133350"/>
                  <a:pt x="0" y="314325"/>
                  <a:pt x="123825" y="390525"/>
                </a:cubicBezTo>
                <a:cubicBezTo>
                  <a:pt x="209550" y="438150"/>
                  <a:pt x="295275" y="352425"/>
                  <a:pt x="371475" y="409575"/>
                </a:cubicBezTo>
                <a:cubicBezTo>
                  <a:pt x="466725" y="523875"/>
                  <a:pt x="552450" y="361950"/>
                  <a:pt x="638175" y="428625"/>
                </a:cubicBezTo>
                <a:cubicBezTo>
                  <a:pt x="752475" y="533400"/>
                  <a:pt x="781050" y="628650"/>
                  <a:pt x="647700" y="685800"/>
                </a:cubicBezTo>
                <a:cubicBezTo>
                  <a:pt x="523875" y="742950"/>
                  <a:pt x="371475" y="600075"/>
                  <a:pt x="276225" y="628650"/>
                </a:cubicBezTo>
                <a:cubicBezTo>
                  <a:pt x="152400" y="685800"/>
                  <a:pt x="57150" y="600075"/>
                  <a:pt x="85725" y="495300"/>
                </a:cubicBezTo>
              </a:path>
            </a:pathLst>
          </a:custGeom>
          <a:noFill/>
          <a:ln w="41910" cap="rnd">
            <a:solidFill>
              <a:srgbClr val="FFD0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owel fold outline 2"/>
          <p:cNvSpPr/>
          <p:nvPr/>
        </p:nvSpPr>
        <p:spPr>
          <a:xfrm>
            <a:off x="581025" y="752475"/>
            <a:ext cx="781050" cy="457200"/>
          </a:xfrm>
          <a:custGeom>
            <a:avLst/>
            <a:gdLst/>
            <a:ahLst/>
            <a:cxnLst/>
            <a:rect l="0" t="0" r="r" b="b"/>
            <a:pathLst>
              <a:path w="781050" h="457200">
                <a:moveTo>
                  <a:pt x="209550" y="104775"/>
                </a:moveTo>
                <a:cubicBezTo>
                  <a:pt x="333375" y="0"/>
                  <a:pt x="390525" y="161925"/>
                  <a:pt x="533400" y="133350"/>
                </a:cubicBezTo>
                <a:cubicBezTo>
                  <a:pt x="723900" y="85725"/>
                  <a:pt x="781050" y="161925"/>
                  <a:pt x="685800" y="257175"/>
                </a:cubicBezTo>
                <a:cubicBezTo>
                  <a:pt x="581025" y="352425"/>
                  <a:pt x="485775" y="219075"/>
                  <a:pt x="381000" y="285750"/>
                </a:cubicBezTo>
                <a:cubicBezTo>
                  <a:pt x="285750" y="361950"/>
                  <a:pt x="333375" y="447675"/>
                  <a:pt x="209550" y="447675"/>
                </a:cubicBezTo>
                <a:cubicBezTo>
                  <a:pt x="28575" y="457200"/>
                  <a:pt x="0" y="333375"/>
                  <a:pt x="38100" y="219075"/>
                </a:cubicBezTo>
              </a:path>
            </a:pathLst>
          </a:custGeom>
          <a:noFill/>
          <a:ln w="13335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owel fold 2"/>
          <p:cNvSpPr/>
          <p:nvPr/>
        </p:nvSpPr>
        <p:spPr>
          <a:xfrm>
            <a:off x="581025" y="752475"/>
            <a:ext cx="781050" cy="457200"/>
          </a:xfrm>
          <a:custGeom>
            <a:avLst/>
            <a:gdLst/>
            <a:ahLst/>
            <a:cxnLst/>
            <a:rect l="0" t="0" r="r" b="b"/>
            <a:pathLst>
              <a:path w="781050" h="457200">
                <a:moveTo>
                  <a:pt x="209550" y="104775"/>
                </a:moveTo>
                <a:cubicBezTo>
                  <a:pt x="333375" y="0"/>
                  <a:pt x="390525" y="161925"/>
                  <a:pt x="533400" y="133350"/>
                </a:cubicBezTo>
                <a:cubicBezTo>
                  <a:pt x="723900" y="85725"/>
                  <a:pt x="781050" y="161925"/>
                  <a:pt x="685800" y="257175"/>
                </a:cubicBezTo>
                <a:cubicBezTo>
                  <a:pt x="581025" y="352425"/>
                  <a:pt x="485775" y="219075"/>
                  <a:pt x="381000" y="285750"/>
                </a:cubicBezTo>
                <a:cubicBezTo>
                  <a:pt x="285750" y="361950"/>
                  <a:pt x="333375" y="447675"/>
                  <a:pt x="209550" y="447675"/>
                </a:cubicBezTo>
                <a:cubicBezTo>
                  <a:pt x="28575" y="457200"/>
                  <a:pt x="0" y="333375"/>
                  <a:pt x="38100" y="219075"/>
                </a:cubicBezTo>
              </a:path>
            </a:pathLst>
          </a:custGeom>
          <a:noFill/>
          <a:ln w="100012" cap="rnd">
            <a:solidFill>
              <a:srgbClr val="F6B7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owel fold highlight 2"/>
          <p:cNvSpPr/>
          <p:nvPr/>
        </p:nvSpPr>
        <p:spPr>
          <a:xfrm>
            <a:off x="581025" y="752475"/>
            <a:ext cx="781050" cy="457200"/>
          </a:xfrm>
          <a:custGeom>
            <a:avLst/>
            <a:gdLst/>
            <a:ahLst/>
            <a:cxnLst/>
            <a:rect l="0" t="0" r="r" b="b"/>
            <a:pathLst>
              <a:path w="781050" h="457200">
                <a:moveTo>
                  <a:pt x="209550" y="104775"/>
                </a:moveTo>
                <a:cubicBezTo>
                  <a:pt x="333375" y="0"/>
                  <a:pt x="390525" y="161925"/>
                  <a:pt x="533400" y="133350"/>
                </a:cubicBezTo>
                <a:cubicBezTo>
                  <a:pt x="723900" y="85725"/>
                  <a:pt x="781050" y="161925"/>
                  <a:pt x="685800" y="257175"/>
                </a:cubicBezTo>
                <a:cubicBezTo>
                  <a:pt x="581025" y="352425"/>
                  <a:pt x="485775" y="219075"/>
                  <a:pt x="381000" y="285750"/>
                </a:cubicBezTo>
                <a:cubicBezTo>
                  <a:pt x="285750" y="361950"/>
                  <a:pt x="333375" y="447675"/>
                  <a:pt x="209550" y="447675"/>
                </a:cubicBezTo>
                <a:cubicBezTo>
                  <a:pt x="28575" y="457200"/>
                  <a:pt x="0" y="333375"/>
                  <a:pt x="38100" y="219075"/>
                </a:cubicBezTo>
              </a:path>
            </a:pathLst>
          </a:custGeom>
          <a:noFill/>
          <a:ln w="41910" cap="rnd">
            <a:solidFill>
              <a:srgbClr val="FFD0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owel fold outline 3"/>
          <p:cNvSpPr/>
          <p:nvPr/>
        </p:nvSpPr>
        <p:spPr>
          <a:xfrm>
            <a:off x="1362075" y="790575"/>
            <a:ext cx="190500" cy="571500"/>
          </a:xfrm>
          <a:custGeom>
            <a:avLst/>
            <a:gdLst/>
            <a:ahLst/>
            <a:cxnLst/>
            <a:rect l="0" t="0" r="r" b="b"/>
            <a:pathLst>
              <a:path w="190500" h="571500">
                <a:moveTo>
                  <a:pt x="19050" y="0"/>
                </a:moveTo>
                <a:cubicBezTo>
                  <a:pt x="95250" y="123825"/>
                  <a:pt x="19050" y="228600"/>
                  <a:pt x="95250" y="295275"/>
                </a:cubicBezTo>
                <a:cubicBezTo>
                  <a:pt x="190500" y="381000"/>
                  <a:pt x="114300" y="552450"/>
                  <a:pt x="0" y="571500"/>
                </a:cubicBezTo>
              </a:path>
            </a:pathLst>
          </a:custGeom>
          <a:noFill/>
          <a:ln w="13335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owel fold 3"/>
          <p:cNvSpPr/>
          <p:nvPr/>
        </p:nvSpPr>
        <p:spPr>
          <a:xfrm>
            <a:off x="1362075" y="790575"/>
            <a:ext cx="190500" cy="571500"/>
          </a:xfrm>
          <a:custGeom>
            <a:avLst/>
            <a:gdLst/>
            <a:ahLst/>
            <a:cxnLst/>
            <a:rect l="0" t="0" r="r" b="b"/>
            <a:pathLst>
              <a:path w="190500" h="571500">
                <a:moveTo>
                  <a:pt x="19050" y="0"/>
                </a:moveTo>
                <a:cubicBezTo>
                  <a:pt x="95250" y="123825"/>
                  <a:pt x="19050" y="228600"/>
                  <a:pt x="95250" y="295275"/>
                </a:cubicBezTo>
                <a:cubicBezTo>
                  <a:pt x="190500" y="381000"/>
                  <a:pt x="114300" y="552450"/>
                  <a:pt x="0" y="571500"/>
                </a:cubicBezTo>
              </a:path>
            </a:pathLst>
          </a:custGeom>
          <a:noFill/>
          <a:ln w="100012" cap="rnd">
            <a:solidFill>
              <a:srgbClr val="F6B7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owel fold highlight 3"/>
          <p:cNvSpPr/>
          <p:nvPr/>
        </p:nvSpPr>
        <p:spPr>
          <a:xfrm>
            <a:off x="1362075" y="790575"/>
            <a:ext cx="190500" cy="571500"/>
          </a:xfrm>
          <a:custGeom>
            <a:avLst/>
            <a:gdLst/>
            <a:ahLst/>
            <a:cxnLst/>
            <a:rect l="0" t="0" r="r" b="b"/>
            <a:pathLst>
              <a:path w="190500" h="571500">
                <a:moveTo>
                  <a:pt x="19050" y="0"/>
                </a:moveTo>
                <a:cubicBezTo>
                  <a:pt x="95250" y="123825"/>
                  <a:pt x="19050" y="228600"/>
                  <a:pt x="95250" y="295275"/>
                </a:cubicBezTo>
                <a:cubicBezTo>
                  <a:pt x="190500" y="381000"/>
                  <a:pt x="114300" y="552450"/>
                  <a:pt x="0" y="571500"/>
                </a:cubicBezTo>
              </a:path>
            </a:pathLst>
          </a:custGeom>
          <a:noFill/>
          <a:ln w="41910" cap="rnd">
            <a:solidFill>
              <a:srgbClr val="FFD0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arge intestine outer contour"/>
          <p:cNvSpPr/>
          <p:nvPr/>
        </p:nvSpPr>
        <p:spPr>
          <a:xfrm>
            <a:off x="361950" y="247650"/>
            <a:ext cx="1352550" cy="1257300"/>
          </a:xfrm>
          <a:custGeom>
            <a:avLst/>
            <a:gdLst/>
            <a:ahLst/>
            <a:cxnLst/>
            <a:rect l="0" t="0" r="r" b="b"/>
            <a:pathLst>
              <a:path w="1352550" h="1257300">
                <a:moveTo>
                  <a:pt x="104775" y="1009650"/>
                </a:moveTo>
                <a:cubicBezTo>
                  <a:pt x="0" y="952500"/>
                  <a:pt x="38100" y="781050"/>
                  <a:pt x="57150" y="647700"/>
                </a:cubicBezTo>
                <a:cubicBezTo>
                  <a:pt x="85725" y="495300"/>
                  <a:pt x="9525" y="304800"/>
                  <a:pt x="95250" y="114300"/>
                </a:cubicBezTo>
                <a:cubicBezTo>
                  <a:pt x="152400" y="9525"/>
                  <a:pt x="238125" y="85725"/>
                  <a:pt x="342900" y="161925"/>
                </a:cubicBezTo>
                <a:cubicBezTo>
                  <a:pt x="552450" y="295275"/>
                  <a:pt x="771525" y="285750"/>
                  <a:pt x="971550" y="200025"/>
                </a:cubicBezTo>
                <a:cubicBezTo>
                  <a:pt x="1095375" y="142875"/>
                  <a:pt x="1171575" y="0"/>
                  <a:pt x="1247775" y="28575"/>
                </a:cubicBezTo>
                <a:cubicBezTo>
                  <a:pt x="1323975" y="66675"/>
                  <a:pt x="1266825" y="228600"/>
                  <a:pt x="1266825" y="371475"/>
                </a:cubicBezTo>
                <a:cubicBezTo>
                  <a:pt x="1295400" y="552450"/>
                  <a:pt x="1276350" y="676275"/>
                  <a:pt x="1304925" y="809625"/>
                </a:cubicBezTo>
                <a:cubicBezTo>
                  <a:pt x="1352550" y="1057275"/>
                  <a:pt x="1190625" y="1257300"/>
                  <a:pt x="1019175" y="1228725"/>
                </a:cubicBezTo>
                <a:cubicBezTo>
                  <a:pt x="895350" y="1219200"/>
                  <a:pt x="800100" y="1123950"/>
                  <a:pt x="657225" y="1114425"/>
                </a:cubicBezTo>
              </a:path>
            </a:pathLst>
          </a:custGeom>
          <a:noFill/>
          <a:ln w="228600" cap="rnd">
            <a:solidFill>
              <a:srgbClr val="C77C6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Large intestine tube"/>
          <p:cNvSpPr/>
          <p:nvPr/>
        </p:nvSpPr>
        <p:spPr>
          <a:xfrm>
            <a:off x="361950" y="247650"/>
            <a:ext cx="1352550" cy="1257300"/>
          </a:xfrm>
          <a:custGeom>
            <a:avLst/>
            <a:gdLst/>
            <a:ahLst/>
            <a:cxnLst/>
            <a:rect l="0" t="0" r="r" b="b"/>
            <a:pathLst>
              <a:path w="1352550" h="1257300">
                <a:moveTo>
                  <a:pt x="104775" y="1009650"/>
                </a:moveTo>
                <a:cubicBezTo>
                  <a:pt x="0" y="952500"/>
                  <a:pt x="38100" y="781050"/>
                  <a:pt x="57150" y="647700"/>
                </a:cubicBezTo>
                <a:cubicBezTo>
                  <a:pt x="85725" y="495300"/>
                  <a:pt x="9525" y="304800"/>
                  <a:pt x="95250" y="114300"/>
                </a:cubicBezTo>
                <a:cubicBezTo>
                  <a:pt x="152400" y="9525"/>
                  <a:pt x="238125" y="85725"/>
                  <a:pt x="342900" y="161925"/>
                </a:cubicBezTo>
                <a:cubicBezTo>
                  <a:pt x="552450" y="295275"/>
                  <a:pt x="771525" y="285750"/>
                  <a:pt x="971550" y="200025"/>
                </a:cubicBezTo>
                <a:cubicBezTo>
                  <a:pt x="1095375" y="142875"/>
                  <a:pt x="1171575" y="0"/>
                  <a:pt x="1247775" y="28575"/>
                </a:cubicBezTo>
                <a:cubicBezTo>
                  <a:pt x="1323975" y="66675"/>
                  <a:pt x="1266825" y="228600"/>
                  <a:pt x="1266825" y="371475"/>
                </a:cubicBezTo>
                <a:cubicBezTo>
                  <a:pt x="1295400" y="552450"/>
                  <a:pt x="1276350" y="676275"/>
                  <a:pt x="1304925" y="809625"/>
                </a:cubicBezTo>
                <a:cubicBezTo>
                  <a:pt x="1352550" y="1057275"/>
                  <a:pt x="1190625" y="1257300"/>
                  <a:pt x="1019175" y="1228725"/>
                </a:cubicBezTo>
                <a:cubicBezTo>
                  <a:pt x="895350" y="1219200"/>
                  <a:pt x="800100" y="1123950"/>
                  <a:pt x="657225" y="1114425"/>
                </a:cubicBezTo>
              </a:path>
            </a:pathLst>
          </a:custGeom>
          <a:noFill/>
          <a:ln w="190500" cap="rnd">
            <a:solidFill>
              <a:srgbClr val="F4B0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Large intestine reflected light"/>
          <p:cNvSpPr/>
          <p:nvPr/>
        </p:nvSpPr>
        <p:spPr>
          <a:xfrm>
            <a:off x="361950" y="247650"/>
            <a:ext cx="1352550" cy="1257300"/>
          </a:xfrm>
          <a:custGeom>
            <a:avLst/>
            <a:gdLst/>
            <a:ahLst/>
            <a:cxnLst/>
            <a:rect l="0" t="0" r="r" b="b"/>
            <a:pathLst>
              <a:path w="1352550" h="1257300">
                <a:moveTo>
                  <a:pt x="104775" y="1009650"/>
                </a:moveTo>
                <a:cubicBezTo>
                  <a:pt x="0" y="952500"/>
                  <a:pt x="38100" y="781050"/>
                  <a:pt x="57150" y="647700"/>
                </a:cubicBezTo>
                <a:cubicBezTo>
                  <a:pt x="85725" y="495300"/>
                  <a:pt x="9525" y="304800"/>
                  <a:pt x="95250" y="114300"/>
                </a:cubicBezTo>
                <a:cubicBezTo>
                  <a:pt x="152400" y="9525"/>
                  <a:pt x="238125" y="85725"/>
                  <a:pt x="342900" y="161925"/>
                </a:cubicBezTo>
                <a:cubicBezTo>
                  <a:pt x="552450" y="295275"/>
                  <a:pt x="771525" y="285750"/>
                  <a:pt x="971550" y="200025"/>
                </a:cubicBezTo>
                <a:cubicBezTo>
                  <a:pt x="1095375" y="142875"/>
                  <a:pt x="1171575" y="0"/>
                  <a:pt x="1247775" y="28575"/>
                </a:cubicBezTo>
                <a:cubicBezTo>
                  <a:pt x="1323975" y="66675"/>
                  <a:pt x="1266825" y="228600"/>
                  <a:pt x="1266825" y="371475"/>
                </a:cubicBezTo>
                <a:cubicBezTo>
                  <a:pt x="1295400" y="552450"/>
                  <a:pt x="1276350" y="676275"/>
                  <a:pt x="1304925" y="809625"/>
                </a:cubicBezTo>
                <a:cubicBezTo>
                  <a:pt x="1352550" y="1057275"/>
                  <a:pt x="1190625" y="1257300"/>
                  <a:pt x="1019175" y="1228725"/>
                </a:cubicBezTo>
                <a:cubicBezTo>
                  <a:pt x="895350" y="1219200"/>
                  <a:pt x="800100" y="1123950"/>
                  <a:pt x="657225" y="1114425"/>
                </a:cubicBezTo>
              </a:path>
            </a:pathLst>
          </a:custGeom>
          <a:noFill/>
          <a:ln w="76200" cap="rnd">
            <a:solidFill>
              <a:srgbClr val="F9C3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olon segment 00"/>
          <p:cNvSpPr/>
          <p:nvPr/>
        </p:nvSpPr>
        <p:spPr>
          <a:xfrm rot="20700000">
            <a:off x="352425" y="1095375"/>
            <a:ext cx="171450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lon segment 01"/>
          <p:cNvSpPr/>
          <p:nvPr/>
        </p:nvSpPr>
        <p:spPr>
          <a:xfrm rot="21300000">
            <a:off x="323850" y="947738"/>
            <a:ext cx="171450" cy="2000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olon segment 02"/>
          <p:cNvSpPr/>
          <p:nvPr/>
        </p:nvSpPr>
        <p:spPr>
          <a:xfrm>
            <a:off x="323850" y="790575"/>
            <a:ext cx="171450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olon segment 03"/>
          <p:cNvSpPr/>
          <p:nvPr/>
        </p:nvSpPr>
        <p:spPr>
          <a:xfrm>
            <a:off x="333375" y="638175"/>
            <a:ext cx="171450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olon segment 04"/>
          <p:cNvSpPr/>
          <p:nvPr/>
        </p:nvSpPr>
        <p:spPr>
          <a:xfrm>
            <a:off x="323850" y="481012"/>
            <a:ext cx="171450" cy="2000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olon segment 05"/>
          <p:cNvSpPr/>
          <p:nvPr/>
        </p:nvSpPr>
        <p:spPr>
          <a:xfrm rot="1200000">
            <a:off x="357188" y="30480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olon segment 06"/>
          <p:cNvSpPr/>
          <p:nvPr/>
        </p:nvSpPr>
        <p:spPr>
          <a:xfrm rot="2160000">
            <a:off x="457200" y="266700"/>
            <a:ext cx="190500" cy="1714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olon segment 07"/>
          <p:cNvSpPr/>
          <p:nvPr/>
        </p:nvSpPr>
        <p:spPr>
          <a:xfrm rot="1680000">
            <a:off x="590550" y="357188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olon segment 08"/>
          <p:cNvSpPr/>
          <p:nvPr/>
        </p:nvSpPr>
        <p:spPr>
          <a:xfrm rot="720000">
            <a:off x="733425" y="414338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olon segment 09"/>
          <p:cNvSpPr/>
          <p:nvPr/>
        </p:nvSpPr>
        <p:spPr>
          <a:xfrm>
            <a:off x="885825" y="423862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Colon segment 10"/>
          <p:cNvSpPr/>
          <p:nvPr/>
        </p:nvSpPr>
        <p:spPr>
          <a:xfrm rot="20820000">
            <a:off x="1047750" y="404812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Colon segment 11"/>
          <p:cNvSpPr/>
          <p:nvPr/>
        </p:nvSpPr>
        <p:spPr>
          <a:xfrm rot="19980000">
            <a:off x="1200150" y="347662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Colon segment 12"/>
          <p:cNvSpPr/>
          <p:nvPr/>
        </p:nvSpPr>
        <p:spPr>
          <a:xfrm rot="19500000">
            <a:off x="1343025" y="242888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Colon segment 13"/>
          <p:cNvSpPr/>
          <p:nvPr/>
        </p:nvSpPr>
        <p:spPr>
          <a:xfrm rot="20760000">
            <a:off x="1485900" y="185738"/>
            <a:ext cx="190500" cy="18097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olon segment 14"/>
          <p:cNvSpPr/>
          <p:nvPr/>
        </p:nvSpPr>
        <p:spPr>
          <a:xfrm>
            <a:off x="1476375" y="361950"/>
            <a:ext cx="171450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Colon segment 15"/>
          <p:cNvSpPr/>
          <p:nvPr/>
        </p:nvSpPr>
        <p:spPr>
          <a:xfrm rot="21480000">
            <a:off x="1481138" y="53340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Colon segment 16"/>
          <p:cNvSpPr/>
          <p:nvPr/>
        </p:nvSpPr>
        <p:spPr>
          <a:xfrm rot="21480000">
            <a:off x="1490662" y="70485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Colon segment 17"/>
          <p:cNvSpPr/>
          <p:nvPr/>
        </p:nvSpPr>
        <p:spPr>
          <a:xfrm rot="21480000">
            <a:off x="1500188" y="87630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Colon segment 18"/>
          <p:cNvSpPr/>
          <p:nvPr/>
        </p:nvSpPr>
        <p:spPr>
          <a:xfrm rot="840000">
            <a:off x="1490662" y="104775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Colon segment 19"/>
          <p:cNvSpPr/>
          <p:nvPr/>
        </p:nvSpPr>
        <p:spPr>
          <a:xfrm rot="2400000">
            <a:off x="1409700" y="1219200"/>
            <a:ext cx="190500" cy="19050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olon segment 20"/>
          <p:cNvSpPr/>
          <p:nvPr/>
        </p:nvSpPr>
        <p:spPr>
          <a:xfrm rot="1020000">
            <a:off x="1276350" y="1304925"/>
            <a:ext cx="190500" cy="1714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Colon segment 21"/>
          <p:cNvSpPr/>
          <p:nvPr/>
        </p:nvSpPr>
        <p:spPr>
          <a:xfrm rot="600000">
            <a:off x="1114425" y="1266825"/>
            <a:ext cx="190500" cy="1714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Colon rim highlight"/>
          <p:cNvSpPr/>
          <p:nvPr/>
        </p:nvSpPr>
        <p:spPr>
          <a:xfrm>
            <a:off x="485775" y="295275"/>
            <a:ext cx="1057275" cy="323850"/>
          </a:xfrm>
          <a:custGeom>
            <a:avLst/>
            <a:gdLst/>
            <a:ahLst/>
            <a:cxnLst/>
            <a:rect l="0" t="0" r="r" b="b"/>
            <a:pathLst>
              <a:path w="1057275" h="323850">
                <a:moveTo>
                  <a:pt x="0" y="38100"/>
                </a:moveTo>
                <a:cubicBezTo>
                  <a:pt x="266700" y="304800"/>
                  <a:pt x="714375" y="323850"/>
                  <a:pt x="1057275" y="0"/>
                </a:cubicBezTo>
              </a:path>
            </a:pathLst>
          </a:custGeom>
          <a:noFill/>
          <a:ln w="33337" cap="rnd">
            <a:solidFill>
              <a:srgbClr val="FBD4C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Appendix"/>
          <p:cNvSpPr/>
          <p:nvPr/>
        </p:nvSpPr>
        <p:spPr>
          <a:xfrm>
            <a:off x="552450" y="1333500"/>
            <a:ext cx="85725" cy="142875"/>
          </a:xfrm>
          <a:custGeom>
            <a:avLst/>
            <a:gdLst/>
            <a:ahLst/>
            <a:cxnLst/>
            <a:rect l="0" t="0" r="r" b="b"/>
            <a:pathLst>
              <a:path w="85725" h="142875">
                <a:moveTo>
                  <a:pt x="0" y="0"/>
                </a:moveTo>
                <a:cubicBezTo>
                  <a:pt x="76200" y="47625"/>
                  <a:pt x="76200" y="76200"/>
                  <a:pt x="85725" y="142875"/>
                </a:cubicBezTo>
              </a:path>
            </a:pathLst>
          </a:custGeom>
          <a:noFill/>
          <a:ln w="3810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pithelial basal reflected shadow"/>
          <p:cNvSpPr/>
          <p:nvPr/>
        </p:nvSpPr>
        <p:spPr>
          <a:xfrm>
            <a:off x="171450" y="4095750"/>
            <a:ext cx="12125325" cy="142875"/>
          </a:xfrm>
          <a:custGeom>
            <a:avLst/>
            <a:gdLst/>
            <a:ahLst/>
            <a:cxnLst/>
            <a:rect l="0" t="0" r="r" b="b"/>
            <a:pathLst>
              <a:path w="12125325" h="142875">
                <a:moveTo>
                  <a:pt x="85725" y="47625"/>
                </a:moveTo>
                <a:cubicBezTo>
                  <a:pt x="2047875" y="0"/>
                  <a:pt x="5400675" y="47625"/>
                  <a:pt x="7667625" y="38100"/>
                </a:cubicBezTo>
                <a:cubicBezTo>
                  <a:pt x="9782175" y="9525"/>
                  <a:pt x="11210925" y="28575"/>
                  <a:pt x="11982450" y="57150"/>
                </a:cubicBezTo>
                <a:cubicBezTo>
                  <a:pt x="12125325" y="142875"/>
                  <a:pt x="10896600" y="104775"/>
                  <a:pt x="9210675" y="114300"/>
                </a:cubicBezTo>
                <a:lnTo>
                  <a:pt x="285750" y="114300"/>
                </a:lnTo>
                <a:cubicBezTo>
                  <a:pt x="0" y="123825"/>
                  <a:pt x="0" y="85725"/>
                  <a:pt x="85725" y="47625"/>
                </a:cubicBezTo>
                <a:close/>
              </a:path>
            </a:pathLst>
          </a:custGeom>
          <a:solidFill>
            <a:srgbClr val="F0C8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Enterocyte 00"/>
          <p:cNvSpPr/>
          <p:nvPr/>
        </p:nvSpPr>
        <p:spPr>
          <a:xfrm>
            <a:off x="290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Cell basal highlight 00"/>
          <p:cNvSpPr/>
          <p:nvPr/>
        </p:nvSpPr>
        <p:spPr>
          <a:xfrm>
            <a:off x="338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Enterocyte nucleus 00"/>
          <p:cNvSpPr/>
          <p:nvPr/>
        </p:nvSpPr>
        <p:spPr>
          <a:xfrm>
            <a:off x="5429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Enterocyte 01"/>
          <p:cNvSpPr/>
          <p:nvPr/>
        </p:nvSpPr>
        <p:spPr>
          <a:xfrm>
            <a:off x="1052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Cell basal highlight 01"/>
          <p:cNvSpPr/>
          <p:nvPr/>
        </p:nvSpPr>
        <p:spPr>
          <a:xfrm>
            <a:off x="1100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nterocyte 02"/>
          <p:cNvSpPr/>
          <p:nvPr/>
        </p:nvSpPr>
        <p:spPr>
          <a:xfrm>
            <a:off x="1814512" y="2857500"/>
            <a:ext cx="657225" cy="1314450"/>
          </a:xfrm>
          <a:custGeom>
            <a:avLst/>
            <a:gdLst/>
            <a:ahLst/>
            <a:cxnLst/>
            <a:rect l="0" t="0" r="r" b="b"/>
            <a:pathLst>
              <a:path w="657225" h="1314450">
                <a:moveTo>
                  <a:pt x="0" y="0"/>
                </a:moveTo>
                <a:lnTo>
                  <a:pt x="657225" y="0"/>
                </a:lnTo>
                <a:lnTo>
                  <a:pt x="657225" y="1143000"/>
                </a:lnTo>
                <a:cubicBezTo>
                  <a:pt x="657225" y="1276350"/>
                  <a:pt x="609600" y="1314450"/>
                  <a:pt x="5048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Cell basal highlight 02"/>
          <p:cNvSpPr/>
          <p:nvPr/>
        </p:nvSpPr>
        <p:spPr>
          <a:xfrm>
            <a:off x="1862138" y="3857625"/>
            <a:ext cx="571500" cy="276225"/>
          </a:xfrm>
          <a:custGeom>
            <a:avLst/>
            <a:gdLst/>
            <a:ahLst/>
            <a:cxnLst/>
            <a:rect l="0" t="0" r="r" b="b"/>
            <a:pathLst>
              <a:path w="5715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28625" y="276225"/>
                </a:lnTo>
                <a:cubicBezTo>
                  <a:pt x="542925" y="276225"/>
                  <a:pt x="571500" y="228600"/>
                  <a:pt x="5715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Enterocyte nucleus 02"/>
          <p:cNvSpPr/>
          <p:nvPr/>
        </p:nvSpPr>
        <p:spPr>
          <a:xfrm>
            <a:off x="2019300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Enterocyte 03"/>
          <p:cNvSpPr/>
          <p:nvPr/>
        </p:nvSpPr>
        <p:spPr>
          <a:xfrm>
            <a:off x="24812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Cell basal highlight 03"/>
          <p:cNvSpPr/>
          <p:nvPr/>
        </p:nvSpPr>
        <p:spPr>
          <a:xfrm>
            <a:off x="25288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Enterocyte nucleus 03"/>
          <p:cNvSpPr/>
          <p:nvPr/>
        </p:nvSpPr>
        <p:spPr>
          <a:xfrm>
            <a:off x="27098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Enterocyte 04"/>
          <p:cNvSpPr/>
          <p:nvPr/>
        </p:nvSpPr>
        <p:spPr>
          <a:xfrm>
            <a:off x="31956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Cell basal highlight 04"/>
          <p:cNvSpPr/>
          <p:nvPr/>
        </p:nvSpPr>
        <p:spPr>
          <a:xfrm>
            <a:off x="32432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Enterocyte nucleus 04"/>
          <p:cNvSpPr/>
          <p:nvPr/>
        </p:nvSpPr>
        <p:spPr>
          <a:xfrm>
            <a:off x="34242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Enterocyte 05"/>
          <p:cNvSpPr/>
          <p:nvPr/>
        </p:nvSpPr>
        <p:spPr>
          <a:xfrm>
            <a:off x="391001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Cell basal highlight 05"/>
          <p:cNvSpPr/>
          <p:nvPr/>
        </p:nvSpPr>
        <p:spPr>
          <a:xfrm>
            <a:off x="395763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Enterocyte nucleus 05"/>
          <p:cNvSpPr/>
          <p:nvPr/>
        </p:nvSpPr>
        <p:spPr>
          <a:xfrm>
            <a:off x="41386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nterocyte 06"/>
          <p:cNvSpPr/>
          <p:nvPr/>
        </p:nvSpPr>
        <p:spPr>
          <a:xfrm>
            <a:off x="462438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Cell basal highlight 06"/>
          <p:cNvSpPr/>
          <p:nvPr/>
        </p:nvSpPr>
        <p:spPr>
          <a:xfrm>
            <a:off x="46720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Enterocyte nucleus 06"/>
          <p:cNvSpPr/>
          <p:nvPr/>
        </p:nvSpPr>
        <p:spPr>
          <a:xfrm>
            <a:off x="48529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nterocyte 07"/>
          <p:cNvSpPr/>
          <p:nvPr/>
        </p:nvSpPr>
        <p:spPr>
          <a:xfrm>
            <a:off x="53387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Cell basal highlight 07"/>
          <p:cNvSpPr/>
          <p:nvPr/>
        </p:nvSpPr>
        <p:spPr>
          <a:xfrm>
            <a:off x="53863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Enterocyte nucleus 07"/>
          <p:cNvSpPr/>
          <p:nvPr/>
        </p:nvSpPr>
        <p:spPr>
          <a:xfrm>
            <a:off x="55673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Enterocyte 08"/>
          <p:cNvSpPr/>
          <p:nvPr/>
        </p:nvSpPr>
        <p:spPr>
          <a:xfrm>
            <a:off x="60531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Cell basal highlight 08"/>
          <p:cNvSpPr/>
          <p:nvPr/>
        </p:nvSpPr>
        <p:spPr>
          <a:xfrm>
            <a:off x="61007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nterocyte nucleus 08"/>
          <p:cNvSpPr/>
          <p:nvPr/>
        </p:nvSpPr>
        <p:spPr>
          <a:xfrm>
            <a:off x="6281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Enterocyte 09"/>
          <p:cNvSpPr/>
          <p:nvPr/>
        </p:nvSpPr>
        <p:spPr>
          <a:xfrm>
            <a:off x="6767512" y="2857500"/>
            <a:ext cx="762000" cy="1314450"/>
          </a:xfrm>
          <a:custGeom>
            <a:avLst/>
            <a:gdLst/>
            <a:ahLst/>
            <a:cxnLst/>
            <a:rect l="0" t="0" r="r" b="b"/>
            <a:pathLst>
              <a:path w="762000" h="1314450">
                <a:moveTo>
                  <a:pt x="0" y="0"/>
                </a:moveTo>
                <a:lnTo>
                  <a:pt x="762000" y="0"/>
                </a:lnTo>
                <a:lnTo>
                  <a:pt x="762000" y="1143000"/>
                </a:lnTo>
                <a:cubicBezTo>
                  <a:pt x="762000" y="1276350"/>
                  <a:pt x="714375" y="1314450"/>
                  <a:pt x="6096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Cell basal highlight 09"/>
          <p:cNvSpPr/>
          <p:nvPr/>
        </p:nvSpPr>
        <p:spPr>
          <a:xfrm>
            <a:off x="6815138" y="3857625"/>
            <a:ext cx="676275" cy="276225"/>
          </a:xfrm>
          <a:custGeom>
            <a:avLst/>
            <a:gdLst/>
            <a:ahLst/>
            <a:cxnLst/>
            <a:rect l="0" t="0" r="r" b="b"/>
            <a:pathLst>
              <a:path w="6762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33400" y="276225"/>
                </a:lnTo>
                <a:cubicBezTo>
                  <a:pt x="647700" y="276225"/>
                  <a:pt x="676275" y="228600"/>
                  <a:pt x="6762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nterocyte nucleus 09"/>
          <p:cNvSpPr/>
          <p:nvPr/>
        </p:nvSpPr>
        <p:spPr>
          <a:xfrm>
            <a:off x="70246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Enterocyte 10"/>
          <p:cNvSpPr/>
          <p:nvPr/>
        </p:nvSpPr>
        <p:spPr>
          <a:xfrm>
            <a:off x="7539038" y="2857500"/>
            <a:ext cx="962025" cy="1314450"/>
          </a:xfrm>
          <a:custGeom>
            <a:avLst/>
            <a:gdLst/>
            <a:ahLst/>
            <a:cxnLst/>
            <a:rect l="0" t="0" r="r" b="b"/>
            <a:pathLst>
              <a:path w="962025" h="1314450">
                <a:moveTo>
                  <a:pt x="0" y="0"/>
                </a:moveTo>
                <a:lnTo>
                  <a:pt x="962025" y="0"/>
                </a:lnTo>
                <a:lnTo>
                  <a:pt x="962025" y="1143000"/>
                </a:lnTo>
                <a:cubicBezTo>
                  <a:pt x="962025" y="1276350"/>
                  <a:pt x="914400" y="1314450"/>
                  <a:pt x="8096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Cell basal highlight 10"/>
          <p:cNvSpPr/>
          <p:nvPr/>
        </p:nvSpPr>
        <p:spPr>
          <a:xfrm>
            <a:off x="7586662" y="3857625"/>
            <a:ext cx="876300" cy="276225"/>
          </a:xfrm>
          <a:custGeom>
            <a:avLst/>
            <a:gdLst/>
            <a:ahLst/>
            <a:cxnLst/>
            <a:rect l="0" t="0" r="r" b="b"/>
            <a:pathLst>
              <a:path w="8763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733425" y="276225"/>
                </a:lnTo>
                <a:cubicBezTo>
                  <a:pt x="847725" y="276225"/>
                  <a:pt x="876300" y="228600"/>
                  <a:pt x="8763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Enterocyte nucleus 10"/>
          <p:cNvSpPr/>
          <p:nvPr/>
        </p:nvSpPr>
        <p:spPr>
          <a:xfrm>
            <a:off x="78962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Enterocyte 11"/>
          <p:cNvSpPr/>
          <p:nvPr/>
        </p:nvSpPr>
        <p:spPr>
          <a:xfrm>
            <a:off x="8510588" y="2857500"/>
            <a:ext cx="885825" cy="1314450"/>
          </a:xfrm>
          <a:custGeom>
            <a:avLst/>
            <a:gdLst/>
            <a:ahLst/>
            <a:cxnLst/>
            <a:rect l="0" t="0" r="r" b="b"/>
            <a:pathLst>
              <a:path w="885825" h="1314450">
                <a:moveTo>
                  <a:pt x="0" y="0"/>
                </a:moveTo>
                <a:lnTo>
                  <a:pt x="819150" y="0"/>
                </a:lnTo>
                <a:cubicBezTo>
                  <a:pt x="809625" y="381000"/>
                  <a:pt x="828675" y="762000"/>
                  <a:pt x="876300" y="1143000"/>
                </a:cubicBezTo>
                <a:cubicBezTo>
                  <a:pt x="885825" y="1285875"/>
                  <a:pt x="800100" y="1314450"/>
                  <a:pt x="685800" y="1314450"/>
                </a:cubicBezTo>
                <a:lnTo>
                  <a:pt x="133350" y="1314450"/>
                </a:lnTo>
                <a:cubicBezTo>
                  <a:pt x="19050" y="1314450"/>
                  <a:pt x="0" y="1257300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Cell basal highlight 11"/>
          <p:cNvSpPr/>
          <p:nvPr/>
        </p:nvSpPr>
        <p:spPr>
          <a:xfrm>
            <a:off x="8558212" y="3857625"/>
            <a:ext cx="771525" cy="276225"/>
          </a:xfrm>
          <a:custGeom>
            <a:avLst/>
            <a:gdLst/>
            <a:ahLst/>
            <a:cxnLst/>
            <a:rect l="0" t="0" r="r" b="b"/>
            <a:pathLst>
              <a:path w="7715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628650" y="276225"/>
                </a:lnTo>
                <a:cubicBezTo>
                  <a:pt x="742950" y="276225"/>
                  <a:pt x="771525" y="228600"/>
                  <a:pt x="7715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Enterocyte nucleus 11"/>
          <p:cNvSpPr/>
          <p:nvPr/>
        </p:nvSpPr>
        <p:spPr>
          <a:xfrm>
            <a:off x="88153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Enterocyte 13"/>
          <p:cNvSpPr/>
          <p:nvPr/>
        </p:nvSpPr>
        <p:spPr>
          <a:xfrm>
            <a:off x="9501188" y="2857500"/>
            <a:ext cx="742950" cy="1314450"/>
          </a:xfrm>
          <a:custGeom>
            <a:avLst/>
            <a:gdLst/>
            <a:ahLst/>
            <a:cxnLst/>
            <a:rect l="0" t="0" r="r" b="b"/>
            <a:pathLst>
              <a:path w="742950" h="1314450">
                <a:moveTo>
                  <a:pt x="66675" y="0"/>
                </a:moveTo>
                <a:lnTo>
                  <a:pt x="742950" y="0"/>
                </a:lnTo>
                <a:lnTo>
                  <a:pt x="742950" y="1123950"/>
                </a:lnTo>
                <a:cubicBezTo>
                  <a:pt x="742950" y="1276350"/>
                  <a:pt x="704850" y="1314450"/>
                  <a:pt x="590550" y="1314450"/>
                </a:cubicBezTo>
                <a:lnTo>
                  <a:pt x="152400" y="1314450"/>
                </a:lnTo>
                <a:cubicBezTo>
                  <a:pt x="19050" y="1314450"/>
                  <a:pt x="0" y="1257300"/>
                  <a:pt x="9525" y="1104900"/>
                </a:cubicBezTo>
                <a:cubicBezTo>
                  <a:pt x="76200" y="695325"/>
                  <a:pt x="85725" y="400050"/>
                  <a:pt x="66675" y="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Cell basal highlight 13"/>
          <p:cNvSpPr/>
          <p:nvPr/>
        </p:nvSpPr>
        <p:spPr>
          <a:xfrm>
            <a:off x="95869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Enterocyte nucleus 13"/>
          <p:cNvSpPr/>
          <p:nvPr/>
        </p:nvSpPr>
        <p:spPr>
          <a:xfrm>
            <a:off x="97678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Enterocyte 14"/>
          <p:cNvSpPr/>
          <p:nvPr/>
        </p:nvSpPr>
        <p:spPr>
          <a:xfrm>
            <a:off x="10253662" y="2857500"/>
            <a:ext cx="685800" cy="1314450"/>
          </a:xfrm>
          <a:custGeom>
            <a:avLst/>
            <a:gdLst/>
            <a:ahLst/>
            <a:cxnLst/>
            <a:rect l="0" t="0" r="r" b="b"/>
            <a:pathLst>
              <a:path w="685800" h="1314450">
                <a:moveTo>
                  <a:pt x="0" y="0"/>
                </a:moveTo>
                <a:lnTo>
                  <a:pt x="685800" y="0"/>
                </a:lnTo>
                <a:lnTo>
                  <a:pt x="685800" y="1143000"/>
                </a:lnTo>
                <a:cubicBezTo>
                  <a:pt x="685800" y="1276350"/>
                  <a:pt x="638175" y="1314450"/>
                  <a:pt x="5334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Cell basal highlight 14"/>
          <p:cNvSpPr/>
          <p:nvPr/>
        </p:nvSpPr>
        <p:spPr>
          <a:xfrm>
            <a:off x="10301288" y="3857625"/>
            <a:ext cx="600075" cy="276225"/>
          </a:xfrm>
          <a:custGeom>
            <a:avLst/>
            <a:gdLst/>
            <a:ahLst/>
            <a:cxnLst/>
            <a:rect l="0" t="0" r="r" b="b"/>
            <a:pathLst>
              <a:path w="6000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57200" y="276225"/>
                </a:lnTo>
                <a:cubicBezTo>
                  <a:pt x="571500" y="276225"/>
                  <a:pt x="600075" y="228600"/>
                  <a:pt x="6000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Enterocyte nucleus 14"/>
          <p:cNvSpPr/>
          <p:nvPr/>
        </p:nvSpPr>
        <p:spPr>
          <a:xfrm>
            <a:off x="10472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Enterocyte 15"/>
          <p:cNvSpPr/>
          <p:nvPr/>
        </p:nvSpPr>
        <p:spPr>
          <a:xfrm>
            <a:off x="10948988" y="2857500"/>
            <a:ext cx="1181100" cy="1314450"/>
          </a:xfrm>
          <a:custGeom>
            <a:avLst/>
            <a:gdLst/>
            <a:ahLst/>
            <a:cxnLst/>
            <a:rect l="0" t="0" r="r" b="b"/>
            <a:pathLst>
              <a:path w="1181100" h="1314450">
                <a:moveTo>
                  <a:pt x="0" y="0"/>
                </a:moveTo>
                <a:lnTo>
                  <a:pt x="1181100" y="0"/>
                </a:lnTo>
                <a:lnTo>
                  <a:pt x="1181100" y="1143000"/>
                </a:lnTo>
                <a:cubicBezTo>
                  <a:pt x="1181100" y="1276350"/>
                  <a:pt x="1133475" y="1314450"/>
                  <a:pt x="10287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Cell basal highlight 15"/>
          <p:cNvSpPr/>
          <p:nvPr/>
        </p:nvSpPr>
        <p:spPr>
          <a:xfrm>
            <a:off x="10996612" y="3857625"/>
            <a:ext cx="1095375" cy="276225"/>
          </a:xfrm>
          <a:custGeom>
            <a:avLst/>
            <a:gdLst/>
            <a:ahLst/>
            <a:cxnLst/>
            <a:rect l="0" t="0" r="r" b="b"/>
            <a:pathLst>
              <a:path w="10953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952500" y="276225"/>
                </a:lnTo>
                <a:cubicBezTo>
                  <a:pt x="1066800" y="276225"/>
                  <a:pt x="1095375" y="228600"/>
                  <a:pt x="10953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Enterocyte nucleus 15"/>
          <p:cNvSpPr/>
          <p:nvPr/>
        </p:nvSpPr>
        <p:spPr>
          <a:xfrm>
            <a:off x="114157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Mucus layer"/>
          <p:cNvSpPr/>
          <p:nvPr/>
        </p:nvSpPr>
        <p:spPr>
          <a:xfrm>
            <a:off x="285750" y="2366915"/>
            <a:ext cx="9134475" cy="500110"/>
          </a:xfrm>
          <a:custGeom>
            <a:avLst/>
            <a:gdLst/>
            <a:ahLst/>
            <a:cxnLst/>
            <a:rect l="0" t="0" r="r" b="b"/>
            <a:pathLst>
              <a:path w="9134475" h="500110">
                <a:moveTo>
                  <a:pt x="0" y="442960"/>
                </a:moveTo>
                <a:lnTo>
                  <a:pt x="0" y="128635"/>
                </a:lnTo>
                <a:cubicBezTo>
                  <a:pt x="0" y="33385"/>
                  <a:pt x="28575" y="14335"/>
                  <a:pt x="114300" y="42910"/>
                </a:cubicBezTo>
                <a:cubicBezTo>
                  <a:pt x="234315" y="21325"/>
                  <a:pt x="370332" y="145150"/>
                  <a:pt x="514350" y="97525"/>
                </a:cubicBezTo>
                <a:cubicBezTo>
                  <a:pt x="634365" y="35341"/>
                  <a:pt x="770382" y="159166"/>
                  <a:pt x="914400" y="111541"/>
                </a:cubicBezTo>
                <a:cubicBezTo>
                  <a:pt x="1034415" y="27125"/>
                  <a:pt x="1170432" y="150950"/>
                  <a:pt x="1314450" y="103325"/>
                </a:cubicBezTo>
                <a:cubicBezTo>
                  <a:pt x="1434465" y="8788"/>
                  <a:pt x="1570482" y="132613"/>
                  <a:pt x="1714500" y="84988"/>
                </a:cubicBezTo>
                <a:cubicBezTo>
                  <a:pt x="1834515" y="0"/>
                  <a:pt x="1970532" y="123825"/>
                  <a:pt x="2114550" y="76200"/>
                </a:cubicBezTo>
                <a:cubicBezTo>
                  <a:pt x="2234565" y="13299"/>
                  <a:pt x="2370582" y="137124"/>
                  <a:pt x="2514600" y="89499"/>
                </a:cubicBezTo>
                <a:cubicBezTo>
                  <a:pt x="2634615" y="44728"/>
                  <a:pt x="2770632" y="168553"/>
                  <a:pt x="2914650" y="120928"/>
                </a:cubicBezTo>
                <a:cubicBezTo>
                  <a:pt x="3034665" y="76791"/>
                  <a:pt x="3170682" y="200616"/>
                  <a:pt x="3314700" y="152991"/>
                </a:cubicBezTo>
                <a:cubicBezTo>
                  <a:pt x="3434715" y="91519"/>
                  <a:pt x="3570732" y="215344"/>
                  <a:pt x="3714750" y="167719"/>
                </a:cubicBezTo>
                <a:cubicBezTo>
                  <a:pt x="3834765" y="83887"/>
                  <a:pt x="3970782" y="207712"/>
                  <a:pt x="4114800" y="160087"/>
                </a:cubicBezTo>
                <a:cubicBezTo>
                  <a:pt x="4234815" y="65571"/>
                  <a:pt x="4370832" y="189396"/>
                  <a:pt x="4514850" y="141771"/>
                </a:cubicBezTo>
                <a:cubicBezTo>
                  <a:pt x="4634865" y="56224"/>
                  <a:pt x="4770882" y="180049"/>
                  <a:pt x="4914900" y="132424"/>
                </a:cubicBezTo>
                <a:cubicBezTo>
                  <a:pt x="5034915" y="68802"/>
                  <a:pt x="5170932" y="192627"/>
                  <a:pt x="5314950" y="145002"/>
                </a:cubicBezTo>
                <a:cubicBezTo>
                  <a:pt x="5434965" y="99886"/>
                  <a:pt x="5570982" y="223711"/>
                  <a:pt x="5715000" y="176086"/>
                </a:cubicBezTo>
                <a:cubicBezTo>
                  <a:pt x="5835015" y="132239"/>
                  <a:pt x="5971032" y="256064"/>
                  <a:pt x="6115050" y="208439"/>
                </a:cubicBezTo>
                <a:cubicBezTo>
                  <a:pt x="6235065" y="147673"/>
                  <a:pt x="6371082" y="271498"/>
                  <a:pt x="6515100" y="223873"/>
                </a:cubicBezTo>
                <a:cubicBezTo>
                  <a:pt x="6635115" y="140638"/>
                  <a:pt x="6771132" y="264463"/>
                  <a:pt x="6915150" y="216838"/>
                </a:cubicBezTo>
                <a:cubicBezTo>
                  <a:pt x="7035165" y="122363"/>
                  <a:pt x="7171182" y="246188"/>
                  <a:pt x="7315200" y="198563"/>
                </a:cubicBezTo>
                <a:cubicBezTo>
                  <a:pt x="7435215" y="112471"/>
                  <a:pt x="7571232" y="236296"/>
                  <a:pt x="7715250" y="188671"/>
                </a:cubicBezTo>
                <a:cubicBezTo>
                  <a:pt x="7835265" y="124324"/>
                  <a:pt x="7971282" y="248149"/>
                  <a:pt x="8115300" y="200524"/>
                </a:cubicBezTo>
                <a:cubicBezTo>
                  <a:pt x="8235315" y="155046"/>
                  <a:pt x="8371332" y="278871"/>
                  <a:pt x="8515350" y="231246"/>
                </a:cubicBezTo>
                <a:cubicBezTo>
                  <a:pt x="8635365" y="187669"/>
                  <a:pt x="8771382" y="311494"/>
                  <a:pt x="8915400" y="263869"/>
                </a:cubicBezTo>
                <a:cubicBezTo>
                  <a:pt x="8991600" y="223885"/>
                  <a:pt x="9105900" y="242935"/>
                  <a:pt x="9134475" y="414385"/>
                </a:cubicBezTo>
                <a:lnTo>
                  <a:pt x="9124950" y="500110"/>
                </a:lnTo>
                <a:lnTo>
                  <a:pt x="0" y="500110"/>
                </a:lnTo>
                <a:close/>
              </a:path>
            </a:pathLst>
          </a:custGeom>
          <a:gradFill rotWithShape="1">
            <a:gsLst>
              <a:gs pos="0">
                <a:srgbClr val="F9EDC5"/>
              </a:gs>
              <a:gs pos="55000">
                <a:srgbClr val="F7E7B8"/>
              </a:gs>
              <a:gs pos="100000">
                <a:srgbClr val="F4DFAD"/>
              </a:gs>
            </a:gsLst>
            <a:lin ang="5400000" scaled="1"/>
          </a:gradFill>
          <a:ln w="11429" cap="rnd">
            <a:solidFill>
              <a:srgbClr val="CBB66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Mucus layer right"/>
          <p:cNvSpPr/>
          <p:nvPr/>
        </p:nvSpPr>
        <p:spPr>
          <a:xfrm>
            <a:off x="9505950" y="2524125"/>
            <a:ext cx="2628900" cy="352425"/>
          </a:xfrm>
          <a:custGeom>
            <a:avLst/>
            <a:gdLst/>
            <a:ahLst/>
            <a:cxnLst/>
            <a:rect l="0" t="0" r="r" b="b"/>
            <a:pathLst>
              <a:path w="2628900" h="352425">
                <a:moveTo>
                  <a:pt x="0" y="276225"/>
                </a:moveTo>
                <a:cubicBezTo>
                  <a:pt x="57150" y="161925"/>
                  <a:pt x="161925" y="95250"/>
                  <a:pt x="266700" y="66675"/>
                </a:cubicBezTo>
                <a:cubicBezTo>
                  <a:pt x="352425" y="0"/>
                  <a:pt x="438150" y="114300"/>
                  <a:pt x="542925" y="76200"/>
                </a:cubicBezTo>
                <a:cubicBezTo>
                  <a:pt x="628650" y="0"/>
                  <a:pt x="714375" y="114300"/>
                  <a:pt x="819150" y="76200"/>
                </a:cubicBezTo>
                <a:cubicBezTo>
                  <a:pt x="904875" y="0"/>
                  <a:pt x="990600" y="114300"/>
                  <a:pt x="1095375" y="76200"/>
                </a:cubicBezTo>
                <a:cubicBezTo>
                  <a:pt x="1181100" y="0"/>
                  <a:pt x="1266825" y="114300"/>
                  <a:pt x="1371600" y="76200"/>
                </a:cubicBezTo>
                <a:cubicBezTo>
                  <a:pt x="1457325" y="0"/>
                  <a:pt x="1543050" y="114300"/>
                  <a:pt x="1647825" y="76200"/>
                </a:cubicBezTo>
                <a:cubicBezTo>
                  <a:pt x="1733550" y="0"/>
                  <a:pt x="1819275" y="114300"/>
                  <a:pt x="1924050" y="76200"/>
                </a:cubicBezTo>
                <a:cubicBezTo>
                  <a:pt x="2009775" y="0"/>
                  <a:pt x="2095500" y="114300"/>
                  <a:pt x="2200275" y="76200"/>
                </a:cubicBezTo>
                <a:cubicBezTo>
                  <a:pt x="2286000" y="0"/>
                  <a:pt x="2371725" y="114300"/>
                  <a:pt x="2476500" y="76200"/>
                </a:cubicBezTo>
                <a:cubicBezTo>
                  <a:pt x="2571750" y="38100"/>
                  <a:pt x="2628900" y="85725"/>
                  <a:pt x="2628900" y="180975"/>
                </a:cubicBezTo>
                <a:lnTo>
                  <a:pt x="2628900" y="352425"/>
                </a:lnTo>
                <a:lnTo>
                  <a:pt x="38100" y="352425"/>
                </a:lnTo>
                <a:close/>
              </a:path>
            </a:pathLst>
          </a:custGeom>
          <a:gradFill rotWithShape="1">
            <a:gsLst>
              <a:gs pos="0">
                <a:srgbClr val="FBEDC7"/>
              </a:gs>
              <a:gs pos="55000">
                <a:srgbClr val="F7E8B9"/>
              </a:gs>
              <a:gs pos="100000">
                <a:srgbClr val="F6DFA9"/>
              </a:gs>
            </a:gsLst>
            <a:lin ang="5400000" scaled="1"/>
          </a:gradFill>
          <a:ln w="11429" cap="rnd">
            <a:solidFill>
              <a:srgbClr val="CCB8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Mucus granule 000"/>
          <p:cNvSpPr/>
          <p:nvPr/>
        </p:nvSpPr>
        <p:spPr>
          <a:xfrm>
            <a:off x="10084202" y="2640413"/>
            <a:ext cx="79517" cy="795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Mucus granule 001"/>
          <p:cNvSpPr/>
          <p:nvPr/>
        </p:nvSpPr>
        <p:spPr>
          <a:xfrm>
            <a:off x="8693449" y="2635668"/>
            <a:ext cx="71683" cy="7168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Mucus granule 002"/>
          <p:cNvSpPr/>
          <p:nvPr/>
        </p:nvSpPr>
        <p:spPr>
          <a:xfrm>
            <a:off x="4107352" y="2646527"/>
            <a:ext cx="72109" cy="7210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Mucus granule 003"/>
          <p:cNvSpPr/>
          <p:nvPr/>
        </p:nvSpPr>
        <p:spPr>
          <a:xfrm>
            <a:off x="6070657" y="2524772"/>
            <a:ext cx="66753" cy="6675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Mucus granule 004"/>
          <p:cNvSpPr/>
          <p:nvPr/>
        </p:nvSpPr>
        <p:spPr>
          <a:xfrm>
            <a:off x="1561215" y="2596137"/>
            <a:ext cx="89670" cy="896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Mucus granule 005"/>
          <p:cNvSpPr/>
          <p:nvPr/>
        </p:nvSpPr>
        <p:spPr>
          <a:xfrm>
            <a:off x="7033894" y="2677842"/>
            <a:ext cx="71327" cy="7132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Mucus granule 006"/>
          <p:cNvSpPr/>
          <p:nvPr/>
        </p:nvSpPr>
        <p:spPr>
          <a:xfrm>
            <a:off x="3183028" y="2549706"/>
            <a:ext cx="64382" cy="6438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Mucus granule 007"/>
          <p:cNvSpPr/>
          <p:nvPr/>
        </p:nvSpPr>
        <p:spPr>
          <a:xfrm>
            <a:off x="8076609" y="2610721"/>
            <a:ext cx="67049" cy="6704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Mucus granule 008"/>
          <p:cNvSpPr/>
          <p:nvPr/>
        </p:nvSpPr>
        <p:spPr>
          <a:xfrm>
            <a:off x="5670290" y="2588636"/>
            <a:ext cx="64172" cy="641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Mucus granule 009"/>
          <p:cNvSpPr/>
          <p:nvPr/>
        </p:nvSpPr>
        <p:spPr>
          <a:xfrm>
            <a:off x="5106621" y="2530773"/>
            <a:ext cx="57907" cy="5790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Mucus granule 010"/>
          <p:cNvSpPr/>
          <p:nvPr/>
        </p:nvSpPr>
        <p:spPr>
          <a:xfrm>
            <a:off x="972448" y="2671162"/>
            <a:ext cx="27048" cy="2704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Mucus granule 011"/>
          <p:cNvSpPr/>
          <p:nvPr/>
        </p:nvSpPr>
        <p:spPr>
          <a:xfrm>
            <a:off x="3646977" y="2524927"/>
            <a:ext cx="67946" cy="6794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Mucus granule 012"/>
          <p:cNvSpPr/>
          <p:nvPr/>
        </p:nvSpPr>
        <p:spPr>
          <a:xfrm>
            <a:off x="7840041" y="2581983"/>
            <a:ext cx="30049" cy="30049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Mucus granule 013"/>
          <p:cNvSpPr/>
          <p:nvPr/>
        </p:nvSpPr>
        <p:spPr>
          <a:xfrm>
            <a:off x="2988531" y="2645616"/>
            <a:ext cx="53706" cy="537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Mucus granule 014"/>
          <p:cNvSpPr/>
          <p:nvPr/>
        </p:nvSpPr>
        <p:spPr>
          <a:xfrm>
            <a:off x="2425852" y="2661807"/>
            <a:ext cx="30274" cy="3027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Mucus granule 015"/>
          <p:cNvSpPr/>
          <p:nvPr/>
        </p:nvSpPr>
        <p:spPr>
          <a:xfrm>
            <a:off x="10858426" y="2518284"/>
            <a:ext cx="82210" cy="822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Mucus granule 016"/>
          <p:cNvSpPr/>
          <p:nvPr/>
        </p:nvSpPr>
        <p:spPr>
          <a:xfrm>
            <a:off x="1281951" y="2507543"/>
            <a:ext cx="86170" cy="86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Mucus granule 017"/>
          <p:cNvSpPr/>
          <p:nvPr/>
        </p:nvSpPr>
        <p:spPr>
          <a:xfrm>
            <a:off x="6735951" y="2594414"/>
            <a:ext cx="49438" cy="494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Mucus granule 018"/>
          <p:cNvSpPr/>
          <p:nvPr/>
        </p:nvSpPr>
        <p:spPr>
          <a:xfrm>
            <a:off x="3999967" y="2498051"/>
            <a:ext cx="82302" cy="8230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Mucus granule 019"/>
          <p:cNvSpPr/>
          <p:nvPr/>
        </p:nvSpPr>
        <p:spPr>
          <a:xfrm>
            <a:off x="2660061" y="2653175"/>
            <a:ext cx="53437" cy="534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Mucus granule 020"/>
          <p:cNvSpPr/>
          <p:nvPr/>
        </p:nvSpPr>
        <p:spPr>
          <a:xfrm>
            <a:off x="8690591" y="2610825"/>
            <a:ext cx="41306" cy="413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Mucus granule 021"/>
          <p:cNvSpPr/>
          <p:nvPr/>
        </p:nvSpPr>
        <p:spPr>
          <a:xfrm>
            <a:off x="1411932" y="2530557"/>
            <a:ext cx="88331" cy="883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Mucus granule 022"/>
          <p:cNvSpPr/>
          <p:nvPr/>
        </p:nvSpPr>
        <p:spPr>
          <a:xfrm>
            <a:off x="761804" y="2608861"/>
            <a:ext cx="73628" cy="7362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Mucus granule 023"/>
          <p:cNvSpPr/>
          <p:nvPr/>
        </p:nvSpPr>
        <p:spPr>
          <a:xfrm>
            <a:off x="4357343" y="2579470"/>
            <a:ext cx="39850" cy="398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Mucus granule 024"/>
          <p:cNvSpPr/>
          <p:nvPr/>
        </p:nvSpPr>
        <p:spPr>
          <a:xfrm>
            <a:off x="10032055" y="2649293"/>
            <a:ext cx="32578" cy="3257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Mucus granule 025"/>
          <p:cNvSpPr/>
          <p:nvPr/>
        </p:nvSpPr>
        <p:spPr>
          <a:xfrm>
            <a:off x="4927187" y="2625562"/>
            <a:ext cx="70285" cy="70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Mucus granule 026"/>
          <p:cNvSpPr/>
          <p:nvPr/>
        </p:nvSpPr>
        <p:spPr>
          <a:xfrm>
            <a:off x="1611431" y="2564189"/>
            <a:ext cx="55334" cy="5533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Mucus granule 027"/>
          <p:cNvSpPr/>
          <p:nvPr/>
        </p:nvSpPr>
        <p:spPr>
          <a:xfrm>
            <a:off x="5549798" y="2682811"/>
            <a:ext cx="48416" cy="4841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Mucus granule 028"/>
          <p:cNvSpPr/>
          <p:nvPr/>
        </p:nvSpPr>
        <p:spPr>
          <a:xfrm>
            <a:off x="385578" y="2518430"/>
            <a:ext cx="46596" cy="4659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Mucus granule 029"/>
          <p:cNvSpPr/>
          <p:nvPr/>
        </p:nvSpPr>
        <p:spPr>
          <a:xfrm>
            <a:off x="10560556" y="2665368"/>
            <a:ext cx="46744" cy="467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Mucus granule 030"/>
          <p:cNvSpPr/>
          <p:nvPr/>
        </p:nvSpPr>
        <p:spPr>
          <a:xfrm>
            <a:off x="5579256" y="2519080"/>
            <a:ext cx="56305" cy="56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Mucus granule 031"/>
          <p:cNvSpPr/>
          <p:nvPr/>
        </p:nvSpPr>
        <p:spPr>
          <a:xfrm>
            <a:off x="1004519" y="2629984"/>
            <a:ext cx="57567" cy="575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Mucus granule 032"/>
          <p:cNvSpPr/>
          <p:nvPr/>
        </p:nvSpPr>
        <p:spPr>
          <a:xfrm>
            <a:off x="11252794" y="2619613"/>
            <a:ext cx="36416" cy="3641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Mucus granule 033"/>
          <p:cNvSpPr/>
          <p:nvPr/>
        </p:nvSpPr>
        <p:spPr>
          <a:xfrm>
            <a:off x="3621607" y="2661397"/>
            <a:ext cx="46040" cy="4604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Mucus granule 034"/>
          <p:cNvSpPr/>
          <p:nvPr/>
        </p:nvSpPr>
        <p:spPr>
          <a:xfrm>
            <a:off x="6571184" y="2589568"/>
            <a:ext cx="59170" cy="59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Mucus granule 036"/>
          <p:cNvSpPr/>
          <p:nvPr/>
        </p:nvSpPr>
        <p:spPr>
          <a:xfrm>
            <a:off x="2282990" y="2510245"/>
            <a:ext cx="67875" cy="678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Mucus granule 037"/>
          <p:cNvSpPr/>
          <p:nvPr/>
        </p:nvSpPr>
        <p:spPr>
          <a:xfrm>
            <a:off x="7202489" y="2655157"/>
            <a:ext cx="28426" cy="2842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Mucus granule 038"/>
          <p:cNvSpPr/>
          <p:nvPr/>
        </p:nvSpPr>
        <p:spPr>
          <a:xfrm>
            <a:off x="6606903" y="2676868"/>
            <a:ext cx="40558" cy="405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Mucus granule 039"/>
          <p:cNvSpPr/>
          <p:nvPr/>
        </p:nvSpPr>
        <p:spPr>
          <a:xfrm>
            <a:off x="8880353" y="2684891"/>
            <a:ext cx="62465" cy="6246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Mucus granule 040"/>
          <p:cNvSpPr/>
          <p:nvPr/>
        </p:nvSpPr>
        <p:spPr>
          <a:xfrm>
            <a:off x="7833424" y="2674926"/>
            <a:ext cx="76355" cy="763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Mucus granule 041"/>
          <p:cNvSpPr/>
          <p:nvPr/>
        </p:nvSpPr>
        <p:spPr>
          <a:xfrm>
            <a:off x="4625019" y="2662746"/>
            <a:ext cx="63239" cy="632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Mucus granule 042"/>
          <p:cNvSpPr/>
          <p:nvPr/>
        </p:nvSpPr>
        <p:spPr>
          <a:xfrm>
            <a:off x="4556657" y="2575852"/>
            <a:ext cx="78503" cy="785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Mucus granule 043"/>
          <p:cNvSpPr/>
          <p:nvPr/>
        </p:nvSpPr>
        <p:spPr>
          <a:xfrm>
            <a:off x="7640681" y="2587316"/>
            <a:ext cx="48092" cy="4809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Mucus granule 044"/>
          <p:cNvSpPr/>
          <p:nvPr/>
        </p:nvSpPr>
        <p:spPr>
          <a:xfrm>
            <a:off x="5438017" y="2524655"/>
            <a:ext cx="41081" cy="410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Mucus granule 045"/>
          <p:cNvSpPr/>
          <p:nvPr/>
        </p:nvSpPr>
        <p:spPr>
          <a:xfrm>
            <a:off x="6906670" y="2580446"/>
            <a:ext cx="38173" cy="381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Mucus granule 046"/>
          <p:cNvSpPr/>
          <p:nvPr/>
        </p:nvSpPr>
        <p:spPr>
          <a:xfrm>
            <a:off x="4867314" y="2511368"/>
            <a:ext cx="58132" cy="5813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Mucus granule 047"/>
          <p:cNvSpPr/>
          <p:nvPr/>
        </p:nvSpPr>
        <p:spPr>
          <a:xfrm>
            <a:off x="11657834" y="2610094"/>
            <a:ext cx="69493" cy="6949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Mucus granule 048"/>
          <p:cNvSpPr/>
          <p:nvPr/>
        </p:nvSpPr>
        <p:spPr>
          <a:xfrm>
            <a:off x="8956441" y="2666067"/>
            <a:ext cx="67285" cy="67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Mucus granule 050"/>
          <p:cNvSpPr/>
          <p:nvPr/>
        </p:nvSpPr>
        <p:spPr>
          <a:xfrm>
            <a:off x="11422567" y="2601462"/>
            <a:ext cx="51467" cy="514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Mucus granule 051"/>
          <p:cNvSpPr/>
          <p:nvPr/>
        </p:nvSpPr>
        <p:spPr>
          <a:xfrm>
            <a:off x="7923923" y="2573888"/>
            <a:ext cx="88095" cy="880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Mucus granule 052"/>
          <p:cNvSpPr/>
          <p:nvPr/>
        </p:nvSpPr>
        <p:spPr>
          <a:xfrm>
            <a:off x="5793582" y="2564987"/>
            <a:ext cx="69347" cy="6934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Mucus granule 053"/>
          <p:cNvSpPr/>
          <p:nvPr/>
        </p:nvSpPr>
        <p:spPr>
          <a:xfrm>
            <a:off x="3698369" y="2639796"/>
            <a:ext cx="62944" cy="629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Mucus granule 054"/>
          <p:cNvSpPr/>
          <p:nvPr/>
        </p:nvSpPr>
        <p:spPr>
          <a:xfrm>
            <a:off x="8398955" y="2658278"/>
            <a:ext cx="42362" cy="4236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Mucus granule 055"/>
          <p:cNvSpPr/>
          <p:nvPr/>
        </p:nvSpPr>
        <p:spPr>
          <a:xfrm>
            <a:off x="3501905" y="2573501"/>
            <a:ext cx="60401" cy="604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Mucus granule 056"/>
          <p:cNvSpPr/>
          <p:nvPr/>
        </p:nvSpPr>
        <p:spPr>
          <a:xfrm>
            <a:off x="9791749" y="2581497"/>
            <a:ext cx="56531" cy="565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Mucus granule 057"/>
          <p:cNvSpPr/>
          <p:nvPr/>
        </p:nvSpPr>
        <p:spPr>
          <a:xfrm>
            <a:off x="1204853" y="2616448"/>
            <a:ext cx="86075" cy="860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Mucus granule 058"/>
          <p:cNvSpPr/>
          <p:nvPr/>
        </p:nvSpPr>
        <p:spPr>
          <a:xfrm>
            <a:off x="7258416" y="2613147"/>
            <a:ext cx="31520" cy="3152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Mucus granule 059"/>
          <p:cNvSpPr/>
          <p:nvPr/>
        </p:nvSpPr>
        <p:spPr>
          <a:xfrm>
            <a:off x="4192350" y="2655863"/>
            <a:ext cx="42121" cy="4212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Mucus granule 060"/>
          <p:cNvSpPr/>
          <p:nvPr/>
        </p:nvSpPr>
        <p:spPr>
          <a:xfrm>
            <a:off x="5748403" y="2566105"/>
            <a:ext cx="42874" cy="4287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Mucus granule 061"/>
          <p:cNvSpPr/>
          <p:nvPr/>
        </p:nvSpPr>
        <p:spPr>
          <a:xfrm>
            <a:off x="9968877" y="2678163"/>
            <a:ext cx="67931" cy="679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Mucus granule 062"/>
          <p:cNvSpPr/>
          <p:nvPr/>
        </p:nvSpPr>
        <p:spPr>
          <a:xfrm>
            <a:off x="9996453" y="2609161"/>
            <a:ext cx="65115" cy="6511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Mucus granule 063"/>
          <p:cNvSpPr/>
          <p:nvPr/>
        </p:nvSpPr>
        <p:spPr>
          <a:xfrm>
            <a:off x="6638926" y="2590203"/>
            <a:ext cx="55959" cy="5595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Mucus granule 064"/>
          <p:cNvSpPr/>
          <p:nvPr/>
        </p:nvSpPr>
        <p:spPr>
          <a:xfrm>
            <a:off x="2061269" y="2634028"/>
            <a:ext cx="31200" cy="3120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Mucus granule 065"/>
          <p:cNvSpPr/>
          <p:nvPr/>
        </p:nvSpPr>
        <p:spPr>
          <a:xfrm>
            <a:off x="11946004" y="2591222"/>
            <a:ext cx="49455" cy="494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Mucus granule 066"/>
          <p:cNvSpPr/>
          <p:nvPr/>
        </p:nvSpPr>
        <p:spPr>
          <a:xfrm>
            <a:off x="7188699" y="2526418"/>
            <a:ext cx="62139" cy="621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Mucus granule 067"/>
          <p:cNvSpPr/>
          <p:nvPr/>
        </p:nvSpPr>
        <p:spPr>
          <a:xfrm>
            <a:off x="8640695" y="2510171"/>
            <a:ext cx="83281" cy="832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Mucus granule 068"/>
          <p:cNvSpPr/>
          <p:nvPr/>
        </p:nvSpPr>
        <p:spPr>
          <a:xfrm>
            <a:off x="1273859" y="2644830"/>
            <a:ext cx="88237" cy="882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Mucus granule 069"/>
          <p:cNvSpPr/>
          <p:nvPr/>
        </p:nvSpPr>
        <p:spPr>
          <a:xfrm>
            <a:off x="3464211" y="2680627"/>
            <a:ext cx="32723" cy="32723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Mucus granule 070"/>
          <p:cNvSpPr/>
          <p:nvPr/>
        </p:nvSpPr>
        <p:spPr>
          <a:xfrm>
            <a:off x="1561383" y="2643436"/>
            <a:ext cx="91017" cy="910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Mucus granule 071"/>
          <p:cNvSpPr/>
          <p:nvPr/>
        </p:nvSpPr>
        <p:spPr>
          <a:xfrm>
            <a:off x="6982823" y="2666551"/>
            <a:ext cx="89152" cy="8915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Mucus granule 072"/>
          <p:cNvSpPr/>
          <p:nvPr/>
        </p:nvSpPr>
        <p:spPr>
          <a:xfrm>
            <a:off x="7769754" y="2553223"/>
            <a:ext cx="72805" cy="728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Mucus granule 073"/>
          <p:cNvSpPr/>
          <p:nvPr/>
        </p:nvSpPr>
        <p:spPr>
          <a:xfrm>
            <a:off x="10861209" y="2652784"/>
            <a:ext cx="84072" cy="840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Mucus granule 074"/>
          <p:cNvSpPr/>
          <p:nvPr/>
        </p:nvSpPr>
        <p:spPr>
          <a:xfrm>
            <a:off x="11450197" y="2675979"/>
            <a:ext cx="81966" cy="8196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Mucus granule 075"/>
          <p:cNvSpPr/>
          <p:nvPr/>
        </p:nvSpPr>
        <p:spPr>
          <a:xfrm>
            <a:off x="10813034" y="2644803"/>
            <a:ext cx="67510" cy="675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Mucus granule 076"/>
          <p:cNvSpPr/>
          <p:nvPr/>
        </p:nvSpPr>
        <p:spPr>
          <a:xfrm>
            <a:off x="4001478" y="2544443"/>
            <a:ext cx="37381" cy="3738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Mucus granule 077"/>
          <p:cNvSpPr/>
          <p:nvPr/>
        </p:nvSpPr>
        <p:spPr>
          <a:xfrm>
            <a:off x="9948272" y="2699628"/>
            <a:ext cx="48078" cy="4807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Mucus granule 078"/>
          <p:cNvSpPr/>
          <p:nvPr/>
        </p:nvSpPr>
        <p:spPr>
          <a:xfrm>
            <a:off x="3242322" y="2519025"/>
            <a:ext cx="51890" cy="518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Mucus granule 079"/>
          <p:cNvSpPr/>
          <p:nvPr/>
        </p:nvSpPr>
        <p:spPr>
          <a:xfrm>
            <a:off x="1733117" y="2617852"/>
            <a:ext cx="28404" cy="2840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Mucus granule 080"/>
          <p:cNvSpPr/>
          <p:nvPr/>
        </p:nvSpPr>
        <p:spPr>
          <a:xfrm>
            <a:off x="5410761" y="2536957"/>
            <a:ext cx="29917" cy="29917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Mucus granule 082"/>
          <p:cNvSpPr/>
          <p:nvPr/>
        </p:nvSpPr>
        <p:spPr>
          <a:xfrm>
            <a:off x="6288461" y="2539786"/>
            <a:ext cx="84344" cy="843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Mucus granule 083"/>
          <p:cNvSpPr/>
          <p:nvPr/>
        </p:nvSpPr>
        <p:spPr>
          <a:xfrm>
            <a:off x="6087930" y="2672888"/>
            <a:ext cx="43001" cy="430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Mucus granule 084"/>
          <p:cNvSpPr/>
          <p:nvPr/>
        </p:nvSpPr>
        <p:spPr>
          <a:xfrm>
            <a:off x="1405702" y="2602746"/>
            <a:ext cx="33621" cy="3362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Mucus granule 085"/>
          <p:cNvSpPr/>
          <p:nvPr/>
        </p:nvSpPr>
        <p:spPr>
          <a:xfrm>
            <a:off x="1086908" y="2645214"/>
            <a:ext cx="55837" cy="558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Mucus granule 086"/>
          <p:cNvSpPr/>
          <p:nvPr/>
        </p:nvSpPr>
        <p:spPr>
          <a:xfrm>
            <a:off x="2172520" y="2650690"/>
            <a:ext cx="58524" cy="5852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cus granule 087"/>
          <p:cNvSpPr/>
          <p:nvPr/>
        </p:nvSpPr>
        <p:spPr>
          <a:xfrm>
            <a:off x="2145416" y="2643054"/>
            <a:ext cx="64603" cy="646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cus granule 088"/>
          <p:cNvSpPr/>
          <p:nvPr/>
        </p:nvSpPr>
        <p:spPr>
          <a:xfrm>
            <a:off x="2123844" y="2568491"/>
            <a:ext cx="78126" cy="7812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cus granule 090"/>
          <p:cNvSpPr/>
          <p:nvPr/>
        </p:nvSpPr>
        <p:spPr>
          <a:xfrm>
            <a:off x="9969321" y="2667764"/>
            <a:ext cx="84114" cy="8411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cus granule 091"/>
          <p:cNvSpPr/>
          <p:nvPr/>
        </p:nvSpPr>
        <p:spPr>
          <a:xfrm>
            <a:off x="4570023" y="2639152"/>
            <a:ext cx="47225" cy="4722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cus granule 092"/>
          <p:cNvSpPr/>
          <p:nvPr/>
        </p:nvSpPr>
        <p:spPr>
          <a:xfrm>
            <a:off x="2011817" y="2571848"/>
            <a:ext cx="69804" cy="6980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cus granule 093"/>
          <p:cNvSpPr/>
          <p:nvPr/>
        </p:nvSpPr>
        <p:spPr>
          <a:xfrm>
            <a:off x="339138" y="2654230"/>
            <a:ext cx="63554" cy="6355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cus granule 094"/>
          <p:cNvSpPr/>
          <p:nvPr/>
        </p:nvSpPr>
        <p:spPr>
          <a:xfrm>
            <a:off x="5975065" y="2535495"/>
            <a:ext cx="54450" cy="544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cus granule 095"/>
          <p:cNvSpPr/>
          <p:nvPr/>
        </p:nvSpPr>
        <p:spPr>
          <a:xfrm>
            <a:off x="6587343" y="2527413"/>
            <a:ext cx="40258" cy="402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cus granule 096"/>
          <p:cNvSpPr/>
          <p:nvPr/>
        </p:nvSpPr>
        <p:spPr>
          <a:xfrm>
            <a:off x="7788156" y="2542760"/>
            <a:ext cx="59305" cy="59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cus granule 097"/>
          <p:cNvSpPr/>
          <p:nvPr/>
        </p:nvSpPr>
        <p:spPr>
          <a:xfrm>
            <a:off x="2282445" y="2608091"/>
            <a:ext cx="54938" cy="549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cus granule 098"/>
          <p:cNvSpPr/>
          <p:nvPr/>
        </p:nvSpPr>
        <p:spPr>
          <a:xfrm>
            <a:off x="11303910" y="2541773"/>
            <a:ext cx="73190" cy="731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cus granule 099"/>
          <p:cNvSpPr/>
          <p:nvPr/>
        </p:nvSpPr>
        <p:spPr>
          <a:xfrm>
            <a:off x="5571042" y="2522213"/>
            <a:ext cx="60319" cy="6031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cus granule 100"/>
          <p:cNvSpPr/>
          <p:nvPr/>
        </p:nvSpPr>
        <p:spPr>
          <a:xfrm>
            <a:off x="6556586" y="2659841"/>
            <a:ext cx="67044" cy="670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cus granule 101"/>
          <p:cNvSpPr/>
          <p:nvPr/>
        </p:nvSpPr>
        <p:spPr>
          <a:xfrm>
            <a:off x="1781545" y="2575633"/>
            <a:ext cx="67994" cy="6799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cus granule 102"/>
          <p:cNvSpPr/>
          <p:nvPr/>
        </p:nvSpPr>
        <p:spPr>
          <a:xfrm>
            <a:off x="5906044" y="2556798"/>
            <a:ext cx="76995" cy="769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cus granule 103"/>
          <p:cNvSpPr/>
          <p:nvPr/>
        </p:nvSpPr>
        <p:spPr>
          <a:xfrm>
            <a:off x="1378463" y="2549349"/>
            <a:ext cx="40212" cy="4021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cus granule 104"/>
          <p:cNvSpPr/>
          <p:nvPr/>
        </p:nvSpPr>
        <p:spPr>
          <a:xfrm>
            <a:off x="7293333" y="2601158"/>
            <a:ext cx="61073" cy="610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icrovillus brush border"/>
          <p:cNvSpPr/>
          <p:nvPr/>
        </p:nvSpPr>
        <p:spPr>
          <a:xfrm>
            <a:off x="285750" y="2752725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2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2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2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2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2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icrovillus rim light"/>
          <p:cNvSpPr/>
          <p:nvPr/>
        </p:nvSpPr>
        <p:spPr>
          <a:xfrm>
            <a:off x="291941" y="2748439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7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7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7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icrovillus brush border"/>
          <p:cNvSpPr/>
          <p:nvPr/>
        </p:nvSpPr>
        <p:spPr>
          <a:xfrm>
            <a:off x="9544050" y="2752725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icrovillus rim light"/>
          <p:cNvSpPr/>
          <p:nvPr/>
        </p:nvSpPr>
        <p:spPr>
          <a:xfrm>
            <a:off x="9550241" y="2748439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Tight junction 00 0"/>
          <p:cNvSpPr/>
          <p:nvPr/>
        </p:nvSpPr>
        <p:spPr>
          <a:xfrm>
            <a:off x="995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14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Tight junction 00 1"/>
          <p:cNvSpPr/>
          <p:nvPr/>
        </p:nvSpPr>
        <p:spPr>
          <a:xfrm>
            <a:off x="995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14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Tight junction 01 0"/>
          <p:cNvSpPr/>
          <p:nvPr/>
        </p:nvSpPr>
        <p:spPr>
          <a:xfrm>
            <a:off x="24241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4431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Tight junction 01 1"/>
          <p:cNvSpPr/>
          <p:nvPr/>
        </p:nvSpPr>
        <p:spPr>
          <a:xfrm>
            <a:off x="24241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4431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Tight junction 02 0"/>
          <p:cNvSpPr/>
          <p:nvPr/>
        </p:nvSpPr>
        <p:spPr>
          <a:xfrm>
            <a:off x="31384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31575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Tight junction 02 1"/>
          <p:cNvSpPr/>
          <p:nvPr/>
        </p:nvSpPr>
        <p:spPr>
          <a:xfrm>
            <a:off x="31384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1575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ight junction 03 0"/>
          <p:cNvSpPr/>
          <p:nvPr/>
        </p:nvSpPr>
        <p:spPr>
          <a:xfrm>
            <a:off x="38433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8623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Tight junction 03 1"/>
          <p:cNvSpPr/>
          <p:nvPr/>
        </p:nvSpPr>
        <p:spPr>
          <a:xfrm>
            <a:off x="38433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8623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Tight junction 04 0"/>
          <p:cNvSpPr/>
          <p:nvPr/>
        </p:nvSpPr>
        <p:spPr>
          <a:xfrm>
            <a:off x="45577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5767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ight junction 04 1"/>
          <p:cNvSpPr/>
          <p:nvPr/>
        </p:nvSpPr>
        <p:spPr>
          <a:xfrm>
            <a:off x="45577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5767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Tight junction 05 0"/>
          <p:cNvSpPr/>
          <p:nvPr/>
        </p:nvSpPr>
        <p:spPr>
          <a:xfrm>
            <a:off x="52720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2911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Tight junction 05 1"/>
          <p:cNvSpPr/>
          <p:nvPr/>
        </p:nvSpPr>
        <p:spPr>
          <a:xfrm>
            <a:off x="52720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2911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ight junction 06 0"/>
          <p:cNvSpPr/>
          <p:nvPr/>
        </p:nvSpPr>
        <p:spPr>
          <a:xfrm>
            <a:off x="59864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0055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Tight junction 06 1"/>
          <p:cNvSpPr/>
          <p:nvPr/>
        </p:nvSpPr>
        <p:spPr>
          <a:xfrm>
            <a:off x="59864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0055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Tight junction 07 0"/>
          <p:cNvSpPr/>
          <p:nvPr/>
        </p:nvSpPr>
        <p:spPr>
          <a:xfrm>
            <a:off x="6710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729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ight junction 07 1"/>
          <p:cNvSpPr/>
          <p:nvPr/>
        </p:nvSpPr>
        <p:spPr>
          <a:xfrm>
            <a:off x="6710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29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Tight junction 08 0"/>
          <p:cNvSpPr/>
          <p:nvPr/>
        </p:nvSpPr>
        <p:spPr>
          <a:xfrm>
            <a:off x="74818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5009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Tight junction 08 1"/>
          <p:cNvSpPr/>
          <p:nvPr/>
        </p:nvSpPr>
        <p:spPr>
          <a:xfrm>
            <a:off x="74818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5009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Tight junction 09 0"/>
          <p:cNvSpPr/>
          <p:nvPr/>
        </p:nvSpPr>
        <p:spPr>
          <a:xfrm>
            <a:off x="84534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4724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Tight junction 09 1"/>
          <p:cNvSpPr/>
          <p:nvPr/>
        </p:nvSpPr>
        <p:spPr>
          <a:xfrm>
            <a:off x="84534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4724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Tight junction 10 0"/>
          <p:cNvSpPr/>
          <p:nvPr/>
        </p:nvSpPr>
        <p:spPr>
          <a:xfrm>
            <a:off x="101965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2155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Tight junction 10 1"/>
          <p:cNvSpPr/>
          <p:nvPr/>
        </p:nvSpPr>
        <p:spPr>
          <a:xfrm>
            <a:off x="101965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2155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Tight junction 11 0"/>
          <p:cNvSpPr/>
          <p:nvPr/>
        </p:nvSpPr>
        <p:spPr>
          <a:xfrm>
            <a:off x="108918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09108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Tight junction 11 1"/>
          <p:cNvSpPr/>
          <p:nvPr/>
        </p:nvSpPr>
        <p:spPr>
          <a:xfrm>
            <a:off x="108918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9108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Goblet cell"/>
          <p:cNvSpPr/>
          <p:nvPr/>
        </p:nvSpPr>
        <p:spPr>
          <a:xfrm>
            <a:off x="1314450" y="2752725"/>
            <a:ext cx="600075" cy="1447800"/>
          </a:xfrm>
          <a:custGeom>
            <a:avLst/>
            <a:gdLst/>
            <a:ahLst/>
            <a:cxnLst/>
            <a:rect l="0" t="0" r="r" b="b"/>
            <a:pathLst>
              <a:path w="600075" h="1447800">
                <a:moveTo>
                  <a:pt x="257175" y="0"/>
                </a:moveTo>
                <a:cubicBezTo>
                  <a:pt x="76200" y="0"/>
                  <a:pt x="0" y="285750"/>
                  <a:pt x="19050" y="504825"/>
                </a:cubicBezTo>
                <a:cubicBezTo>
                  <a:pt x="38100" y="695325"/>
                  <a:pt x="76200" y="781050"/>
                  <a:pt x="57150" y="1000125"/>
                </a:cubicBezTo>
                <a:cubicBezTo>
                  <a:pt x="28575" y="1209675"/>
                  <a:pt x="85725" y="1409700"/>
                  <a:pt x="257175" y="1419225"/>
                </a:cubicBezTo>
                <a:cubicBezTo>
                  <a:pt x="466725" y="1447800"/>
                  <a:pt x="504825" y="1266825"/>
                  <a:pt x="495300" y="1076325"/>
                </a:cubicBezTo>
                <a:cubicBezTo>
                  <a:pt x="476250" y="885825"/>
                  <a:pt x="476250" y="742950"/>
                  <a:pt x="523875" y="542925"/>
                </a:cubicBezTo>
                <a:cubicBezTo>
                  <a:pt x="600075" y="285750"/>
                  <a:pt x="476250" y="19050"/>
                  <a:pt x="314325" y="0"/>
                </a:cubicBezTo>
                <a:close/>
              </a:path>
            </a:pathLst>
          </a:custGeom>
          <a:gradFill rotWithShape="1">
            <a:gsLst>
              <a:gs pos="0">
                <a:srgbClr val="C1C6A1"/>
              </a:gs>
              <a:gs pos="42000">
                <a:srgbClr val="B5BD97"/>
              </a:gs>
              <a:gs pos="76000">
                <a:srgbClr val="C7CBAB"/>
              </a:gs>
              <a:gs pos="100000">
                <a:srgbClr val="A8B58A"/>
              </a:gs>
            </a:gsLst>
            <a:lin ang="5400000" scaled="1"/>
          </a:gradFill>
          <a:ln w="17145" cap="rnd">
            <a:solidFill>
              <a:srgbClr val="7F8B6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Goblet cell highlight"/>
          <p:cNvSpPr/>
          <p:nvPr/>
        </p:nvSpPr>
        <p:spPr>
          <a:xfrm>
            <a:off x="1352550" y="2876550"/>
            <a:ext cx="219075" cy="1238250"/>
          </a:xfrm>
          <a:custGeom>
            <a:avLst/>
            <a:gdLst/>
            <a:ahLst/>
            <a:cxnLst/>
            <a:rect l="0" t="0" r="r" b="b"/>
            <a:pathLst>
              <a:path w="219075" h="1238250">
                <a:moveTo>
                  <a:pt x="104775" y="0"/>
                </a:moveTo>
                <a:cubicBezTo>
                  <a:pt x="0" y="180975"/>
                  <a:pt x="19050" y="361950"/>
                  <a:pt x="66675" y="495300"/>
                </a:cubicBezTo>
                <a:cubicBezTo>
                  <a:pt x="104775" y="647700"/>
                  <a:pt x="85725" y="895350"/>
                  <a:pt x="76200" y="1009650"/>
                </a:cubicBezTo>
                <a:cubicBezTo>
                  <a:pt x="76200" y="1162050"/>
                  <a:pt x="142875" y="1238250"/>
                  <a:pt x="219075" y="1228725"/>
                </a:cubicBezTo>
              </a:path>
            </a:pathLst>
          </a:custGeom>
          <a:noFill/>
          <a:ln w="30480" cap="rnd">
            <a:solidFill>
              <a:srgbClr val="DFE1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Goblet secretion granule"/>
          <p:cNvSpPr/>
          <p:nvPr/>
        </p:nvSpPr>
        <p:spPr>
          <a:xfrm rot="355423">
            <a:off x="1449339" y="284061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Goblet secretion granule"/>
          <p:cNvSpPr/>
          <p:nvPr/>
        </p:nvSpPr>
        <p:spPr>
          <a:xfrm rot="20839970">
            <a:off x="1534386" y="28348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Goblet secretion granule"/>
          <p:cNvSpPr/>
          <p:nvPr/>
        </p:nvSpPr>
        <p:spPr>
          <a:xfrm rot="452623">
            <a:off x="1617514" y="282160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Goblet secretion granule"/>
          <p:cNvSpPr/>
          <p:nvPr/>
        </p:nvSpPr>
        <p:spPr>
          <a:xfrm rot="20647653">
            <a:off x="1382371" y="290702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Goblet secretion granule"/>
          <p:cNvSpPr/>
          <p:nvPr/>
        </p:nvSpPr>
        <p:spPr>
          <a:xfrm rot="455601">
            <a:off x="1476384" y="291947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Goblet secretion granule"/>
          <p:cNvSpPr/>
          <p:nvPr/>
        </p:nvSpPr>
        <p:spPr>
          <a:xfrm rot="21099253">
            <a:off x="1572878" y="290733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Goblet secretion granule"/>
          <p:cNvSpPr/>
          <p:nvPr/>
        </p:nvSpPr>
        <p:spPr>
          <a:xfrm rot="20191262">
            <a:off x="1659294" y="290527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Goblet secretion granule"/>
          <p:cNvSpPr/>
          <p:nvPr/>
        </p:nvSpPr>
        <p:spPr>
          <a:xfrm rot="866549">
            <a:off x="1368551" y="301940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Goblet secretion granule"/>
          <p:cNvSpPr/>
          <p:nvPr/>
        </p:nvSpPr>
        <p:spPr>
          <a:xfrm rot="21385975">
            <a:off x="1450820" y="300825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Goblet secretion granule"/>
          <p:cNvSpPr/>
          <p:nvPr/>
        </p:nvSpPr>
        <p:spPr>
          <a:xfrm rot="21184351">
            <a:off x="1530330" y="299169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Goblet secretion granule"/>
          <p:cNvSpPr/>
          <p:nvPr/>
        </p:nvSpPr>
        <p:spPr>
          <a:xfrm rot="906972">
            <a:off x="1613579" y="300087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Goblet secretion granule"/>
          <p:cNvSpPr/>
          <p:nvPr/>
        </p:nvSpPr>
        <p:spPr>
          <a:xfrm rot="1413492">
            <a:off x="1713953" y="299708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Goblet secretion granule"/>
          <p:cNvSpPr/>
          <p:nvPr/>
        </p:nvSpPr>
        <p:spPr>
          <a:xfrm rot="513322">
            <a:off x="1350674" y="30984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Goblet secretion granule"/>
          <p:cNvSpPr/>
          <p:nvPr/>
        </p:nvSpPr>
        <p:spPr>
          <a:xfrm rot="20734015">
            <a:off x="1463259" y="308828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Goblet secretion granule"/>
          <p:cNvSpPr/>
          <p:nvPr/>
        </p:nvSpPr>
        <p:spPr>
          <a:xfrm rot="21053293">
            <a:off x="1532573" y="308527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Goblet secretion granule"/>
          <p:cNvSpPr/>
          <p:nvPr/>
        </p:nvSpPr>
        <p:spPr>
          <a:xfrm rot="1196925">
            <a:off x="1621565" y="310543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Goblet secretion granule"/>
          <p:cNvSpPr/>
          <p:nvPr/>
        </p:nvSpPr>
        <p:spPr>
          <a:xfrm rot="666452">
            <a:off x="1709310" y="308469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Goblet secretion granule"/>
          <p:cNvSpPr/>
          <p:nvPr/>
        </p:nvSpPr>
        <p:spPr>
          <a:xfrm rot="20400641">
            <a:off x="1407994" y="31791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Goblet secretion granule"/>
          <p:cNvSpPr/>
          <p:nvPr/>
        </p:nvSpPr>
        <p:spPr>
          <a:xfrm rot="619437">
            <a:off x="1478645" y="320328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Goblet secretion granule"/>
          <p:cNvSpPr/>
          <p:nvPr/>
        </p:nvSpPr>
        <p:spPr>
          <a:xfrm rot="701910">
            <a:off x="1560368" y="318059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Goblet secretion granule"/>
          <p:cNvSpPr/>
          <p:nvPr/>
        </p:nvSpPr>
        <p:spPr>
          <a:xfrm rot="20200518">
            <a:off x="1641469" y="319960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Goblet secretion granule"/>
          <p:cNvSpPr/>
          <p:nvPr/>
        </p:nvSpPr>
        <p:spPr>
          <a:xfrm rot="392498">
            <a:off x="1445725" y="329074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Goblet secretion granule"/>
          <p:cNvSpPr/>
          <p:nvPr/>
        </p:nvSpPr>
        <p:spPr>
          <a:xfrm rot="1162875">
            <a:off x="1538815" y="32678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Goblet secretion granule"/>
          <p:cNvSpPr/>
          <p:nvPr/>
        </p:nvSpPr>
        <p:spPr>
          <a:xfrm rot="1025991">
            <a:off x="1599313" y="329512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Goblet secretion granule"/>
          <p:cNvSpPr/>
          <p:nvPr/>
        </p:nvSpPr>
        <p:spPr>
          <a:xfrm rot="21516831">
            <a:off x="1494650" y="338307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Goblet secretion granule"/>
          <p:cNvSpPr/>
          <p:nvPr/>
        </p:nvSpPr>
        <p:spPr>
          <a:xfrm rot="20324828">
            <a:off x="1590962" y="336939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Goblet nucleus"/>
          <p:cNvSpPr/>
          <p:nvPr/>
        </p:nvSpPr>
        <p:spPr>
          <a:xfrm>
            <a:off x="1466850" y="3648075"/>
            <a:ext cx="238125" cy="361950"/>
          </a:xfrm>
          <a:prstGeom prst="ellipse">
            <a:avLst/>
          </a:prstGeom>
          <a:gradFill rotWithShape="1">
            <a:gsLst>
              <a:gs pos="0">
                <a:srgbClr val="BAC19B"/>
              </a:gs>
              <a:gs pos="70000">
                <a:srgbClr val="A2AC80"/>
              </a:gs>
              <a:gs pos="100000">
                <a:srgbClr val="929F70"/>
              </a:gs>
            </a:gsLst>
            <a:lin ang="5400000" scaled="1"/>
          </a:gradFill>
          <a:ln w="10477">
            <a:solidFill>
              <a:srgbClr val="7784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Goblet nucleus rim"/>
          <p:cNvSpPr/>
          <p:nvPr/>
        </p:nvSpPr>
        <p:spPr>
          <a:xfrm>
            <a:off x="1457325" y="3705225"/>
            <a:ext cx="104775" cy="266700"/>
          </a:xfrm>
          <a:custGeom>
            <a:avLst/>
            <a:gdLst/>
            <a:ahLst/>
            <a:cxnLst/>
            <a:rect l="0" t="0" r="r" b="b"/>
            <a:pathLst>
              <a:path w="104775" h="266700">
                <a:moveTo>
                  <a:pt x="57150" y="0"/>
                </a:moveTo>
                <a:cubicBezTo>
                  <a:pt x="0" y="85725"/>
                  <a:pt x="47625" y="228600"/>
                  <a:pt x="104775" y="266700"/>
                </a:cubicBezTo>
              </a:path>
            </a:pathLst>
          </a:custGeom>
          <a:noFill/>
          <a:ln w="13334" cap="rnd">
            <a:solidFill>
              <a:srgbClr val="CAD1A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Portal capillary lumen"/>
          <p:cNvSpPr/>
          <p:nvPr/>
        </p:nvSpPr>
        <p:spPr>
          <a:xfrm>
            <a:off x="266700" y="6029325"/>
            <a:ext cx="8943975" cy="990600"/>
          </a:xfrm>
          <a:custGeom>
            <a:avLst/>
            <a:gdLst/>
            <a:ahLst/>
            <a:cxnLst/>
            <a:rect l="0" t="0" r="r" b="b"/>
            <a:pathLst>
              <a:path w="8943975" h="990600">
                <a:moveTo>
                  <a:pt x="57150" y="38100"/>
                </a:moveTo>
                <a:cubicBezTo>
                  <a:pt x="1323975" y="0"/>
                  <a:pt x="2009775" y="47625"/>
                  <a:pt x="2876550" y="57150"/>
                </a:cubicBezTo>
                <a:cubicBezTo>
                  <a:pt x="4829175" y="85725"/>
                  <a:pt x="5600700" y="9525"/>
                  <a:pt x="7239000" y="57150"/>
                </a:cubicBezTo>
                <a:lnTo>
                  <a:pt x="8020050" y="57150"/>
                </a:lnTo>
                <a:cubicBezTo>
                  <a:pt x="8305800" y="66675"/>
                  <a:pt x="8343900" y="152400"/>
                  <a:pt x="8458200" y="304800"/>
                </a:cubicBezTo>
                <a:cubicBezTo>
                  <a:pt x="8534400" y="400050"/>
                  <a:pt x="8620125" y="438150"/>
                  <a:pt x="8772525" y="428625"/>
                </a:cubicBezTo>
                <a:lnTo>
                  <a:pt x="8934450" y="400050"/>
                </a:lnTo>
                <a:lnTo>
                  <a:pt x="8943975" y="581025"/>
                </a:lnTo>
                <a:lnTo>
                  <a:pt x="8734425" y="561975"/>
                </a:lnTo>
                <a:cubicBezTo>
                  <a:pt x="8591550" y="561975"/>
                  <a:pt x="8534400" y="600075"/>
                  <a:pt x="8458200" y="723900"/>
                </a:cubicBezTo>
                <a:cubicBezTo>
                  <a:pt x="8353425" y="885825"/>
                  <a:pt x="8277225" y="962025"/>
                  <a:pt x="8020050" y="971550"/>
                </a:cubicBezTo>
                <a:cubicBezTo>
                  <a:pt x="6334125" y="942975"/>
                  <a:pt x="5695950" y="952500"/>
                  <a:pt x="4352925" y="962025"/>
                </a:cubicBezTo>
                <a:cubicBezTo>
                  <a:pt x="2371725" y="990600"/>
                  <a:pt x="1276350" y="952500"/>
                  <a:pt x="57150" y="971550"/>
                </a:cubicBezTo>
                <a:cubicBezTo>
                  <a:pt x="9525" y="971550"/>
                  <a:pt x="0" y="933450"/>
                  <a:pt x="47625" y="885825"/>
                </a:cubicBezTo>
                <a:cubicBezTo>
                  <a:pt x="180975" y="704850"/>
                  <a:pt x="171450" y="314325"/>
                  <a:pt x="47625" y="142875"/>
                </a:cubicBezTo>
                <a:cubicBezTo>
                  <a:pt x="0" y="85725"/>
                  <a:pt x="9525" y="47625"/>
                  <a:pt x="57150" y="38100"/>
                </a:cubicBezTo>
                <a:close/>
              </a:path>
            </a:pathLst>
          </a:custGeom>
          <a:gradFill rotWithShape="1">
            <a:gsLst>
              <a:gs pos="0">
                <a:srgbClr val="E8838E"/>
              </a:gs>
              <a:gs pos="13000">
                <a:srgbClr val="F4A3AA"/>
              </a:gs>
              <a:gs pos="55000">
                <a:srgbClr val="FBC0C2"/>
              </a:gs>
              <a:gs pos="86000">
                <a:srgbClr val="F2A2AA"/>
              </a:gs>
              <a:gs pos="100000">
                <a:srgbClr val="DF7B89"/>
              </a:gs>
            </a:gsLst>
            <a:lin ang="5400000" scaled="1"/>
          </a:gradFill>
          <a:ln w="15240" cap="rnd">
            <a:solidFill>
              <a:srgbClr val="D15A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Portal capillary upper rim"/>
          <p:cNvSpPr/>
          <p:nvPr/>
        </p:nvSpPr>
        <p:spPr>
          <a:xfrm>
            <a:off x="323850" y="6105525"/>
            <a:ext cx="8639175" cy="419100"/>
          </a:xfrm>
          <a:custGeom>
            <a:avLst/>
            <a:gdLst/>
            <a:ahLst/>
            <a:cxnLst/>
            <a:rect l="0" t="0" r="r" b="b"/>
            <a:pathLst>
              <a:path w="8639175" h="419100">
                <a:moveTo>
                  <a:pt x="0" y="28575"/>
                </a:moveTo>
                <a:cubicBezTo>
                  <a:pt x="1581150" y="0"/>
                  <a:pt x="2438400" y="57150"/>
                  <a:pt x="3562350" y="47625"/>
                </a:cubicBezTo>
                <a:cubicBezTo>
                  <a:pt x="5324475" y="38100"/>
                  <a:pt x="6657975" y="19050"/>
                  <a:pt x="7981950" y="57150"/>
                </a:cubicBezTo>
                <a:cubicBezTo>
                  <a:pt x="8229600" y="57150"/>
                  <a:pt x="8267700" y="152400"/>
                  <a:pt x="8343900" y="285750"/>
                </a:cubicBezTo>
                <a:cubicBezTo>
                  <a:pt x="8401050" y="381000"/>
                  <a:pt x="8486775" y="419100"/>
                  <a:pt x="8639175" y="419100"/>
                </a:cubicBezTo>
              </a:path>
            </a:pathLst>
          </a:custGeom>
          <a:noFill/>
          <a:ln w="19050" cap="rnd">
            <a:solidFill>
              <a:srgbClr val="FFC9C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Portal capillary lower rim"/>
          <p:cNvSpPr/>
          <p:nvPr/>
        </p:nvSpPr>
        <p:spPr>
          <a:xfrm>
            <a:off x="323850" y="6534150"/>
            <a:ext cx="8648700" cy="419100"/>
          </a:xfrm>
          <a:custGeom>
            <a:avLst/>
            <a:gdLst/>
            <a:ahLst/>
            <a:cxnLst/>
            <a:rect l="0" t="0" r="r" b="b"/>
            <a:pathLst>
              <a:path w="8648700" h="419100">
                <a:moveTo>
                  <a:pt x="0" y="400050"/>
                </a:moveTo>
                <a:cubicBezTo>
                  <a:pt x="1847850" y="371475"/>
                  <a:pt x="2867025" y="419100"/>
                  <a:pt x="4676775" y="409575"/>
                </a:cubicBezTo>
                <a:cubicBezTo>
                  <a:pt x="6238875" y="381000"/>
                  <a:pt x="7029450" y="390525"/>
                  <a:pt x="7905750" y="400050"/>
                </a:cubicBezTo>
                <a:cubicBezTo>
                  <a:pt x="8191500" y="400050"/>
                  <a:pt x="8258175" y="304800"/>
                  <a:pt x="8324850" y="161925"/>
                </a:cubicBezTo>
                <a:cubicBezTo>
                  <a:pt x="8401050" y="28575"/>
                  <a:pt x="8496300" y="0"/>
                  <a:pt x="8648700" y="0"/>
                </a:cubicBezTo>
              </a:path>
            </a:pathLst>
          </a:custGeom>
          <a:noFill/>
          <a:ln w="15240" cap="rnd">
            <a:solidFill>
              <a:srgbClr val="CD677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Systemic capillary lumen"/>
          <p:cNvSpPr/>
          <p:nvPr/>
        </p:nvSpPr>
        <p:spPr>
          <a:xfrm>
            <a:off x="11572875" y="5819775"/>
            <a:ext cx="3533775" cy="1971675"/>
          </a:xfrm>
          <a:custGeom>
            <a:avLst/>
            <a:gdLst/>
            <a:ahLst/>
            <a:cxnLst/>
            <a:rect l="0" t="0" r="r" b="b"/>
            <a:pathLst>
              <a:path w="3533775" h="1971675">
                <a:moveTo>
                  <a:pt x="142875" y="666750"/>
                </a:moveTo>
                <a:cubicBezTo>
                  <a:pt x="352425" y="790575"/>
                  <a:pt x="533400" y="657225"/>
                  <a:pt x="704850" y="352425"/>
                </a:cubicBezTo>
                <a:cubicBezTo>
                  <a:pt x="847725" y="85725"/>
                  <a:pt x="1123950" y="0"/>
                  <a:pt x="1428750" y="9525"/>
                </a:cubicBezTo>
                <a:lnTo>
                  <a:pt x="3219450" y="9525"/>
                </a:lnTo>
                <a:cubicBezTo>
                  <a:pt x="3390900" y="9525"/>
                  <a:pt x="3533775" y="447675"/>
                  <a:pt x="3533775" y="981075"/>
                </a:cubicBezTo>
                <a:cubicBezTo>
                  <a:pt x="3533775" y="1504950"/>
                  <a:pt x="3429000" y="1962150"/>
                  <a:pt x="3228975" y="1971675"/>
                </a:cubicBezTo>
                <a:lnTo>
                  <a:pt x="1485900" y="1962150"/>
                </a:lnTo>
                <a:cubicBezTo>
                  <a:pt x="1019175" y="1962150"/>
                  <a:pt x="923925" y="1771650"/>
                  <a:pt x="781050" y="1466850"/>
                </a:cubicBezTo>
                <a:cubicBezTo>
                  <a:pt x="628650" y="1133475"/>
                  <a:pt x="581025" y="1000125"/>
                  <a:pt x="342900" y="990600"/>
                </a:cubicBezTo>
                <a:lnTo>
                  <a:pt x="0" y="990600"/>
                </a:lnTo>
                <a:lnTo>
                  <a:pt x="0" y="685800"/>
                </a:lnTo>
                <a:close/>
              </a:path>
            </a:pathLst>
          </a:custGeom>
          <a:gradFill rotWithShape="1">
            <a:gsLst>
              <a:gs pos="0">
                <a:srgbClr val="E88691"/>
              </a:gs>
              <a:gs pos="18000">
                <a:srgbClr val="F3A2AC"/>
              </a:gs>
              <a:gs pos="53000">
                <a:srgbClr val="FBB8BE"/>
              </a:gs>
              <a:gs pos="78000">
                <a:srgbClr val="F6AAB3"/>
              </a:gs>
              <a:gs pos="100000">
                <a:srgbClr val="E88997"/>
              </a:gs>
            </a:gsLst>
            <a:lin ang="5400000" scaled="1"/>
          </a:gradFill>
          <a:ln w="15716" cap="rnd">
            <a:solidFill>
              <a:srgbClr val="D35F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Systemic upper rim"/>
          <p:cNvSpPr/>
          <p:nvPr/>
        </p:nvSpPr>
        <p:spPr>
          <a:xfrm>
            <a:off x="11658600" y="5915025"/>
            <a:ext cx="3228975" cy="828675"/>
          </a:xfrm>
          <a:custGeom>
            <a:avLst/>
            <a:gdLst/>
            <a:ahLst/>
            <a:cxnLst/>
            <a:rect l="0" t="0" r="r" b="b"/>
            <a:pathLst>
              <a:path w="3228975" h="828675">
                <a:moveTo>
                  <a:pt x="0" y="695325"/>
                </a:moveTo>
                <a:cubicBezTo>
                  <a:pt x="409575" y="828675"/>
                  <a:pt x="542925" y="590550"/>
                  <a:pt x="714375" y="285750"/>
                </a:cubicBezTo>
                <a:cubicBezTo>
                  <a:pt x="857250" y="47625"/>
                  <a:pt x="1095375" y="0"/>
                  <a:pt x="1371600" y="9525"/>
                </a:cubicBezTo>
                <a:lnTo>
                  <a:pt x="3228975" y="9525"/>
                </a:lnTo>
              </a:path>
            </a:pathLst>
          </a:custGeom>
          <a:noFill/>
          <a:ln w="28575" cap="rnd">
            <a:solidFill>
              <a:srgbClr val="FFC5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Systemic lower rim"/>
          <p:cNvSpPr/>
          <p:nvPr/>
        </p:nvSpPr>
        <p:spPr>
          <a:xfrm>
            <a:off x="11620500" y="6705600"/>
            <a:ext cx="3295650" cy="981075"/>
          </a:xfrm>
          <a:custGeom>
            <a:avLst/>
            <a:gdLst/>
            <a:ahLst/>
            <a:cxnLst/>
            <a:rect l="0" t="0" r="r" b="b"/>
            <a:pathLst>
              <a:path w="3295650" h="981075">
                <a:moveTo>
                  <a:pt x="0" y="19050"/>
                </a:moveTo>
                <a:lnTo>
                  <a:pt x="304800" y="19050"/>
                </a:lnTo>
                <a:cubicBezTo>
                  <a:pt x="638175" y="0"/>
                  <a:pt x="647700" y="285750"/>
                  <a:pt x="800100" y="600075"/>
                </a:cubicBezTo>
                <a:cubicBezTo>
                  <a:pt x="952500" y="933450"/>
                  <a:pt x="1047750" y="981075"/>
                  <a:pt x="1476375" y="981075"/>
                </a:cubicBezTo>
                <a:lnTo>
                  <a:pt x="3295650" y="981075"/>
                </a:lnTo>
              </a:path>
            </a:pathLst>
          </a:custGeom>
          <a:noFill/>
          <a:ln w="17145" cap="rnd">
            <a:solidFill>
              <a:srgbClr val="C66C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Liver posterior lobe"/>
          <p:cNvSpPr/>
          <p:nvPr/>
        </p:nvSpPr>
        <p:spPr>
          <a:xfrm>
            <a:off x="9877425" y="5648325"/>
            <a:ext cx="2286000" cy="2009775"/>
          </a:xfrm>
          <a:custGeom>
            <a:avLst/>
            <a:gdLst/>
            <a:ahLst/>
            <a:cxnLst/>
            <a:rect l="0" t="0" r="r" b="b"/>
            <a:pathLst>
              <a:path w="2286000" h="2009775">
                <a:moveTo>
                  <a:pt x="123825" y="0"/>
                </a:moveTo>
                <a:cubicBezTo>
                  <a:pt x="428625" y="9525"/>
                  <a:pt x="590550" y="114300"/>
                  <a:pt x="885825" y="142875"/>
                </a:cubicBezTo>
                <a:cubicBezTo>
                  <a:pt x="1323975" y="142875"/>
                  <a:pt x="1752600" y="123825"/>
                  <a:pt x="2047875" y="238125"/>
                </a:cubicBezTo>
                <a:cubicBezTo>
                  <a:pt x="2286000" y="352425"/>
                  <a:pt x="1943100" y="590550"/>
                  <a:pt x="1781175" y="904875"/>
                </a:cubicBezTo>
                <a:cubicBezTo>
                  <a:pt x="1562100" y="1257300"/>
                  <a:pt x="1381125" y="1609725"/>
                  <a:pt x="1066800" y="1828800"/>
                </a:cubicBezTo>
                <a:cubicBezTo>
                  <a:pt x="819150" y="2009775"/>
                  <a:pt x="542925" y="1971675"/>
                  <a:pt x="323850" y="1847850"/>
                </a:cubicBezTo>
                <a:cubicBezTo>
                  <a:pt x="38100" y="1590675"/>
                  <a:pt x="0" y="1133475"/>
                  <a:pt x="95250" y="695325"/>
                </a:cubicBezTo>
                <a:close/>
              </a:path>
            </a:pathLst>
          </a:custGeom>
          <a:gradFill rotWithShape="1">
            <a:gsLst>
              <a:gs pos="0">
                <a:srgbClr val="D18B79"/>
              </a:gs>
              <a:gs pos="40000">
                <a:srgbClr val="D78F7D"/>
              </a:gs>
              <a:gs pos="70000">
                <a:srgbClr val="D99B88"/>
              </a:gs>
              <a:gs pos="100000">
                <a:srgbClr val="BC7764"/>
              </a:gs>
            </a:gsLst>
            <a:lin ang="5400000" scaled="1"/>
          </a:gradFill>
          <a:ln w="15240" cap="rnd">
            <a:solidFill>
              <a:srgbClr val="98614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Liver anterior lobe"/>
          <p:cNvSpPr/>
          <p:nvPr/>
        </p:nvSpPr>
        <p:spPr>
          <a:xfrm>
            <a:off x="8953500" y="5343525"/>
            <a:ext cx="3190875" cy="2781300"/>
          </a:xfrm>
          <a:custGeom>
            <a:avLst/>
            <a:gdLst/>
            <a:ahLst/>
            <a:cxnLst/>
            <a:rect l="0" t="0" r="r" b="b"/>
            <a:pathLst>
              <a:path w="3190875" h="2781300">
                <a:moveTo>
                  <a:pt x="57150" y="1123950"/>
                </a:moveTo>
                <a:cubicBezTo>
                  <a:pt x="57150" y="657225"/>
                  <a:pt x="238125" y="361950"/>
                  <a:pt x="542925" y="200025"/>
                </a:cubicBezTo>
                <a:cubicBezTo>
                  <a:pt x="942975" y="0"/>
                  <a:pt x="1266825" y="95250"/>
                  <a:pt x="1609725" y="200025"/>
                </a:cubicBezTo>
                <a:cubicBezTo>
                  <a:pt x="1952625" y="314325"/>
                  <a:pt x="2200275" y="323850"/>
                  <a:pt x="2514600" y="323850"/>
                </a:cubicBezTo>
                <a:cubicBezTo>
                  <a:pt x="2771775" y="342900"/>
                  <a:pt x="3000375" y="400050"/>
                  <a:pt x="3095625" y="495300"/>
                </a:cubicBezTo>
                <a:cubicBezTo>
                  <a:pt x="3190875" y="638175"/>
                  <a:pt x="2952750" y="838200"/>
                  <a:pt x="2838450" y="981075"/>
                </a:cubicBezTo>
                <a:cubicBezTo>
                  <a:pt x="2676525" y="1190625"/>
                  <a:pt x="2581275" y="1466850"/>
                  <a:pt x="2362200" y="1685925"/>
                </a:cubicBezTo>
                <a:cubicBezTo>
                  <a:pt x="2105025" y="1943100"/>
                  <a:pt x="1685925" y="2000250"/>
                  <a:pt x="1428750" y="2114550"/>
                </a:cubicBezTo>
                <a:cubicBezTo>
                  <a:pt x="1352550" y="2181225"/>
                  <a:pt x="1228725" y="2209800"/>
                  <a:pt x="1095375" y="2276475"/>
                </a:cubicBezTo>
                <a:cubicBezTo>
                  <a:pt x="819150" y="2390775"/>
                  <a:pt x="581025" y="2667000"/>
                  <a:pt x="323850" y="2714625"/>
                </a:cubicBezTo>
                <a:cubicBezTo>
                  <a:pt x="104775" y="2781300"/>
                  <a:pt x="28575" y="2543175"/>
                  <a:pt x="38100" y="2305050"/>
                </a:cubicBezTo>
                <a:cubicBezTo>
                  <a:pt x="0" y="1857375"/>
                  <a:pt x="47625" y="1543050"/>
                  <a:pt x="57150" y="1123950"/>
                </a:cubicBezTo>
                <a:close/>
              </a:path>
            </a:pathLst>
          </a:custGeom>
          <a:gradFill rotWithShape="1">
            <a:gsLst>
              <a:gs pos="0">
                <a:srgbClr val="D58C7A"/>
              </a:gs>
              <a:gs pos="22000">
                <a:srgbClr val="E7A291"/>
              </a:gs>
              <a:gs pos="54000">
                <a:srgbClr val="E4A08F"/>
              </a:gs>
              <a:gs pos="80000">
                <a:srgbClr val="D9907D"/>
              </a:gs>
              <a:gs pos="100000">
                <a:srgbClr val="C9816D"/>
              </a:gs>
            </a:gsLst>
            <a:lin ang="5400000" scaled="1"/>
          </a:gradFill>
          <a:ln w="16192" cap="rnd">
            <a:solidFill>
              <a:srgbClr val="945F5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Liver lobule 000"/>
          <p:cNvSpPr/>
          <p:nvPr/>
        </p:nvSpPr>
        <p:spPr>
          <a:xfrm>
            <a:off x="9865763" y="7068683"/>
            <a:ext cx="264138" cy="198536"/>
          </a:xfrm>
          <a:custGeom>
            <a:avLst/>
            <a:gdLst/>
            <a:ahLst/>
            <a:cxnLst/>
            <a:rect l="0" t="0" r="r" b="b"/>
            <a:pathLst>
              <a:path w="264138" h="198536">
                <a:moveTo>
                  <a:pt x="264138" y="99268"/>
                </a:moveTo>
                <a:lnTo>
                  <a:pt x="199301" y="198536"/>
                </a:lnTo>
                <a:lnTo>
                  <a:pt x="56489" y="198536"/>
                </a:lnTo>
                <a:lnTo>
                  <a:pt x="0" y="99268"/>
                </a:lnTo>
                <a:lnTo>
                  <a:pt x="49981" y="0"/>
                </a:lnTo>
                <a:lnTo>
                  <a:pt x="201549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Liver lobule 003"/>
          <p:cNvSpPr/>
          <p:nvPr/>
        </p:nvSpPr>
        <p:spPr>
          <a:xfrm>
            <a:off x="9943041" y="6007535"/>
            <a:ext cx="265915" cy="207393"/>
          </a:xfrm>
          <a:custGeom>
            <a:avLst/>
            <a:gdLst/>
            <a:ahLst/>
            <a:cxnLst/>
            <a:rect l="0" t="0" r="r" b="b"/>
            <a:pathLst>
              <a:path w="265915" h="207393">
                <a:moveTo>
                  <a:pt x="265915" y="103697"/>
                </a:moveTo>
                <a:lnTo>
                  <a:pt x="198218" y="207393"/>
                </a:lnTo>
                <a:lnTo>
                  <a:pt x="55960" y="207393"/>
                </a:lnTo>
                <a:lnTo>
                  <a:pt x="0" y="103697"/>
                </a:lnTo>
                <a:lnTo>
                  <a:pt x="67032" y="0"/>
                </a:lnTo>
                <a:lnTo>
                  <a:pt x="199925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Liver lobule 004"/>
          <p:cNvSpPr/>
          <p:nvPr/>
        </p:nvSpPr>
        <p:spPr>
          <a:xfrm>
            <a:off x="10255549" y="5919846"/>
            <a:ext cx="305994" cy="208146"/>
          </a:xfrm>
          <a:custGeom>
            <a:avLst/>
            <a:gdLst/>
            <a:ahLst/>
            <a:cxnLst/>
            <a:rect l="0" t="0" r="r" b="b"/>
            <a:pathLst>
              <a:path w="305994" h="208146">
                <a:moveTo>
                  <a:pt x="305994" y="104073"/>
                </a:moveTo>
                <a:lnTo>
                  <a:pt x="241844" y="208146"/>
                </a:lnTo>
                <a:lnTo>
                  <a:pt x="79475" y="208146"/>
                </a:lnTo>
                <a:lnTo>
                  <a:pt x="0" y="104073"/>
                </a:lnTo>
                <a:lnTo>
                  <a:pt x="96402" y="0"/>
                </a:lnTo>
                <a:lnTo>
                  <a:pt x="226983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Liver lobule 005"/>
          <p:cNvSpPr/>
          <p:nvPr/>
        </p:nvSpPr>
        <p:spPr>
          <a:xfrm>
            <a:off x="11101508" y="5794223"/>
            <a:ext cx="190522" cy="125966"/>
          </a:xfrm>
          <a:custGeom>
            <a:avLst/>
            <a:gdLst/>
            <a:ahLst/>
            <a:cxnLst/>
            <a:rect l="0" t="0" r="r" b="b"/>
            <a:pathLst>
              <a:path w="190522" h="125966">
                <a:moveTo>
                  <a:pt x="190522" y="62983"/>
                </a:moveTo>
                <a:lnTo>
                  <a:pt x="139728" y="125966"/>
                </a:lnTo>
                <a:lnTo>
                  <a:pt x="46507" y="125966"/>
                </a:lnTo>
                <a:lnTo>
                  <a:pt x="0" y="62983"/>
                </a:lnTo>
                <a:lnTo>
                  <a:pt x="45174" y="0"/>
                </a:lnTo>
                <a:lnTo>
                  <a:pt x="135934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Liver lobule 006"/>
          <p:cNvSpPr/>
          <p:nvPr/>
        </p:nvSpPr>
        <p:spPr>
          <a:xfrm>
            <a:off x="9252770" y="5942218"/>
            <a:ext cx="150079" cy="111581"/>
          </a:xfrm>
          <a:custGeom>
            <a:avLst/>
            <a:gdLst/>
            <a:ahLst/>
            <a:cxnLst/>
            <a:rect l="0" t="0" r="r" b="b"/>
            <a:pathLst>
              <a:path w="150079" h="111581">
                <a:moveTo>
                  <a:pt x="150079" y="55791"/>
                </a:moveTo>
                <a:lnTo>
                  <a:pt x="116933" y="111581"/>
                </a:lnTo>
                <a:lnTo>
                  <a:pt x="35812" y="111581"/>
                </a:lnTo>
                <a:lnTo>
                  <a:pt x="0" y="55791"/>
                </a:lnTo>
                <a:lnTo>
                  <a:pt x="36071" y="0"/>
                </a:lnTo>
                <a:lnTo>
                  <a:pt x="114307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Liver lobule 009"/>
          <p:cNvSpPr/>
          <p:nvPr/>
        </p:nvSpPr>
        <p:spPr>
          <a:xfrm>
            <a:off x="9697173" y="6709701"/>
            <a:ext cx="247268" cy="189740"/>
          </a:xfrm>
          <a:custGeom>
            <a:avLst/>
            <a:gdLst/>
            <a:ahLst/>
            <a:cxnLst/>
            <a:rect l="0" t="0" r="r" b="b"/>
            <a:pathLst>
              <a:path w="247268" h="189740">
                <a:moveTo>
                  <a:pt x="247268" y="94870"/>
                </a:moveTo>
                <a:lnTo>
                  <a:pt x="180296" y="189740"/>
                </a:lnTo>
                <a:lnTo>
                  <a:pt x="45161" y="189740"/>
                </a:lnTo>
                <a:lnTo>
                  <a:pt x="0" y="94870"/>
                </a:lnTo>
                <a:lnTo>
                  <a:pt x="52647" y="0"/>
                </a:lnTo>
                <a:lnTo>
                  <a:pt x="181674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Liver lobule 010"/>
          <p:cNvSpPr/>
          <p:nvPr/>
        </p:nvSpPr>
        <p:spPr>
          <a:xfrm>
            <a:off x="9496281" y="6504800"/>
            <a:ext cx="204394" cy="144609"/>
          </a:xfrm>
          <a:custGeom>
            <a:avLst/>
            <a:gdLst/>
            <a:ahLst/>
            <a:cxnLst/>
            <a:rect l="0" t="0" r="r" b="b"/>
            <a:pathLst>
              <a:path w="204394" h="144609">
                <a:moveTo>
                  <a:pt x="204394" y="72304"/>
                </a:moveTo>
                <a:lnTo>
                  <a:pt x="166224" y="144609"/>
                </a:lnTo>
                <a:lnTo>
                  <a:pt x="66171" y="144609"/>
                </a:lnTo>
                <a:lnTo>
                  <a:pt x="0" y="72304"/>
                </a:lnTo>
                <a:lnTo>
                  <a:pt x="56841" y="0"/>
                </a:lnTo>
                <a:lnTo>
                  <a:pt x="161394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Liver lobule 013"/>
          <p:cNvSpPr/>
          <p:nvPr/>
        </p:nvSpPr>
        <p:spPr>
          <a:xfrm>
            <a:off x="10770402" y="6710297"/>
            <a:ext cx="176790" cy="127204"/>
          </a:xfrm>
          <a:custGeom>
            <a:avLst/>
            <a:gdLst/>
            <a:ahLst/>
            <a:cxnLst/>
            <a:rect l="0" t="0" r="r" b="b"/>
            <a:pathLst>
              <a:path w="176790" h="127204">
                <a:moveTo>
                  <a:pt x="176790" y="63602"/>
                </a:moveTo>
                <a:lnTo>
                  <a:pt x="139089" y="127204"/>
                </a:lnTo>
                <a:lnTo>
                  <a:pt x="49172" y="127204"/>
                </a:lnTo>
                <a:lnTo>
                  <a:pt x="0" y="63602"/>
                </a:lnTo>
                <a:lnTo>
                  <a:pt x="53652" y="0"/>
                </a:lnTo>
                <a:lnTo>
                  <a:pt x="138096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Liver lobule 014"/>
          <p:cNvSpPr/>
          <p:nvPr/>
        </p:nvSpPr>
        <p:spPr>
          <a:xfrm>
            <a:off x="9585948" y="6512278"/>
            <a:ext cx="157280" cy="127640"/>
          </a:xfrm>
          <a:custGeom>
            <a:avLst/>
            <a:gdLst/>
            <a:ahLst/>
            <a:cxnLst/>
            <a:rect l="0" t="0" r="r" b="b"/>
            <a:pathLst>
              <a:path w="157280" h="127640">
                <a:moveTo>
                  <a:pt x="157280" y="63820"/>
                </a:moveTo>
                <a:lnTo>
                  <a:pt x="126972" y="127640"/>
                </a:lnTo>
                <a:lnTo>
                  <a:pt x="34695" y="127640"/>
                </a:lnTo>
                <a:lnTo>
                  <a:pt x="0" y="63820"/>
                </a:lnTo>
                <a:lnTo>
                  <a:pt x="32662" y="0"/>
                </a:lnTo>
                <a:lnTo>
                  <a:pt x="122810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Liver lobule 016"/>
          <p:cNvSpPr/>
          <p:nvPr/>
        </p:nvSpPr>
        <p:spPr>
          <a:xfrm>
            <a:off x="10831872" y="6502664"/>
            <a:ext cx="276333" cy="206467"/>
          </a:xfrm>
          <a:custGeom>
            <a:avLst/>
            <a:gdLst/>
            <a:ahLst/>
            <a:cxnLst/>
            <a:rect l="0" t="0" r="r" b="b"/>
            <a:pathLst>
              <a:path w="276333" h="206467">
                <a:moveTo>
                  <a:pt x="276333" y="103233"/>
                </a:moveTo>
                <a:lnTo>
                  <a:pt x="220095" y="206467"/>
                </a:lnTo>
                <a:lnTo>
                  <a:pt x="64161" y="206467"/>
                </a:lnTo>
                <a:lnTo>
                  <a:pt x="0" y="103233"/>
                </a:lnTo>
                <a:lnTo>
                  <a:pt x="66642" y="0"/>
                </a:lnTo>
                <a:lnTo>
                  <a:pt x="206363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Liver lobule 017"/>
          <p:cNvSpPr/>
          <p:nvPr/>
        </p:nvSpPr>
        <p:spPr>
          <a:xfrm>
            <a:off x="9909613" y="6591954"/>
            <a:ext cx="289524" cy="187788"/>
          </a:xfrm>
          <a:custGeom>
            <a:avLst/>
            <a:gdLst/>
            <a:ahLst/>
            <a:cxnLst/>
            <a:rect l="0" t="0" r="r" b="b"/>
            <a:pathLst>
              <a:path w="289524" h="187788">
                <a:moveTo>
                  <a:pt x="289524" y="93894"/>
                </a:moveTo>
                <a:lnTo>
                  <a:pt x="198642" y="187788"/>
                </a:lnTo>
                <a:lnTo>
                  <a:pt x="79654" y="187788"/>
                </a:lnTo>
                <a:lnTo>
                  <a:pt x="0" y="93894"/>
                </a:lnTo>
                <a:lnTo>
                  <a:pt x="75171" y="0"/>
                </a:lnTo>
                <a:lnTo>
                  <a:pt x="198850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Liver lobule 023"/>
          <p:cNvSpPr/>
          <p:nvPr/>
        </p:nvSpPr>
        <p:spPr>
          <a:xfrm>
            <a:off x="9758462" y="5803799"/>
            <a:ext cx="163555" cy="116763"/>
          </a:xfrm>
          <a:custGeom>
            <a:avLst/>
            <a:gdLst/>
            <a:ahLst/>
            <a:cxnLst/>
            <a:rect l="0" t="0" r="r" b="b"/>
            <a:pathLst>
              <a:path w="163555" h="116763">
                <a:moveTo>
                  <a:pt x="163555" y="58382"/>
                </a:moveTo>
                <a:lnTo>
                  <a:pt x="121569" y="116763"/>
                </a:lnTo>
                <a:lnTo>
                  <a:pt x="45857" y="116763"/>
                </a:lnTo>
                <a:lnTo>
                  <a:pt x="0" y="58382"/>
                </a:lnTo>
                <a:lnTo>
                  <a:pt x="49594" y="0"/>
                </a:lnTo>
                <a:lnTo>
                  <a:pt x="124641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Liver lobule 024"/>
          <p:cNvSpPr/>
          <p:nvPr/>
        </p:nvSpPr>
        <p:spPr>
          <a:xfrm>
            <a:off x="9628292" y="7176771"/>
            <a:ext cx="183190" cy="132433"/>
          </a:xfrm>
          <a:custGeom>
            <a:avLst/>
            <a:gdLst/>
            <a:ahLst/>
            <a:cxnLst/>
            <a:rect l="0" t="0" r="r" b="b"/>
            <a:pathLst>
              <a:path w="183190" h="132433">
                <a:moveTo>
                  <a:pt x="183190" y="66216"/>
                </a:moveTo>
                <a:lnTo>
                  <a:pt x="137600" y="132433"/>
                </a:lnTo>
                <a:lnTo>
                  <a:pt x="42832" y="132433"/>
                </a:lnTo>
                <a:lnTo>
                  <a:pt x="0" y="66216"/>
                </a:lnTo>
                <a:lnTo>
                  <a:pt x="46237" y="0"/>
                </a:lnTo>
                <a:lnTo>
                  <a:pt x="143230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Liver lobule 026"/>
          <p:cNvSpPr/>
          <p:nvPr/>
        </p:nvSpPr>
        <p:spPr>
          <a:xfrm>
            <a:off x="9324190" y="6602608"/>
            <a:ext cx="233609" cy="155243"/>
          </a:xfrm>
          <a:custGeom>
            <a:avLst/>
            <a:gdLst/>
            <a:ahLst/>
            <a:cxnLst/>
            <a:rect l="0" t="0" r="r" b="b"/>
            <a:pathLst>
              <a:path w="233609" h="155243">
                <a:moveTo>
                  <a:pt x="233609" y="77621"/>
                </a:moveTo>
                <a:lnTo>
                  <a:pt x="177428" y="155243"/>
                </a:lnTo>
                <a:lnTo>
                  <a:pt x="68906" y="155243"/>
                </a:lnTo>
                <a:lnTo>
                  <a:pt x="0" y="77621"/>
                </a:lnTo>
                <a:lnTo>
                  <a:pt x="66316" y="0"/>
                </a:lnTo>
                <a:lnTo>
                  <a:pt x="176739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Liver lobule 028"/>
          <p:cNvSpPr/>
          <p:nvPr/>
        </p:nvSpPr>
        <p:spPr>
          <a:xfrm>
            <a:off x="10556526" y="5884995"/>
            <a:ext cx="247871" cy="185657"/>
          </a:xfrm>
          <a:custGeom>
            <a:avLst/>
            <a:gdLst/>
            <a:ahLst/>
            <a:cxnLst/>
            <a:rect l="0" t="0" r="r" b="b"/>
            <a:pathLst>
              <a:path w="247871" h="185657">
                <a:moveTo>
                  <a:pt x="247871" y="92829"/>
                </a:moveTo>
                <a:lnTo>
                  <a:pt x="188740" y="185657"/>
                </a:lnTo>
                <a:lnTo>
                  <a:pt x="64755" y="185657"/>
                </a:lnTo>
                <a:lnTo>
                  <a:pt x="0" y="92829"/>
                </a:lnTo>
                <a:lnTo>
                  <a:pt x="49976" y="0"/>
                </a:lnTo>
                <a:lnTo>
                  <a:pt x="19042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Liver lobule 033"/>
          <p:cNvSpPr/>
          <p:nvPr/>
        </p:nvSpPr>
        <p:spPr>
          <a:xfrm>
            <a:off x="10857970" y="6385208"/>
            <a:ext cx="274767" cy="207883"/>
          </a:xfrm>
          <a:custGeom>
            <a:avLst/>
            <a:gdLst/>
            <a:ahLst/>
            <a:cxnLst/>
            <a:rect l="0" t="0" r="r" b="b"/>
            <a:pathLst>
              <a:path w="274767" h="207883">
                <a:moveTo>
                  <a:pt x="274767" y="103941"/>
                </a:moveTo>
                <a:lnTo>
                  <a:pt x="201812" y="207883"/>
                </a:lnTo>
                <a:lnTo>
                  <a:pt x="63498" y="207883"/>
                </a:lnTo>
                <a:lnTo>
                  <a:pt x="0" y="103941"/>
                </a:lnTo>
                <a:lnTo>
                  <a:pt x="62460" y="0"/>
                </a:lnTo>
                <a:lnTo>
                  <a:pt x="199614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Liver lobule 035"/>
          <p:cNvSpPr/>
          <p:nvPr/>
        </p:nvSpPr>
        <p:spPr>
          <a:xfrm>
            <a:off x="10138109" y="5676525"/>
            <a:ext cx="231903" cy="156278"/>
          </a:xfrm>
          <a:custGeom>
            <a:avLst/>
            <a:gdLst/>
            <a:ahLst/>
            <a:cxnLst/>
            <a:rect l="0" t="0" r="r" b="b"/>
            <a:pathLst>
              <a:path w="231903" h="156278">
                <a:moveTo>
                  <a:pt x="231903" y="78139"/>
                </a:moveTo>
                <a:lnTo>
                  <a:pt x="169001" y="156278"/>
                </a:lnTo>
                <a:lnTo>
                  <a:pt x="69770" y="156278"/>
                </a:lnTo>
                <a:lnTo>
                  <a:pt x="0" y="78139"/>
                </a:lnTo>
                <a:lnTo>
                  <a:pt x="65943" y="0"/>
                </a:lnTo>
                <a:lnTo>
                  <a:pt x="16788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Liver lobule 037"/>
          <p:cNvSpPr/>
          <p:nvPr/>
        </p:nvSpPr>
        <p:spPr>
          <a:xfrm>
            <a:off x="9709475" y="6162217"/>
            <a:ext cx="153004" cy="116837"/>
          </a:xfrm>
          <a:custGeom>
            <a:avLst/>
            <a:gdLst/>
            <a:ahLst/>
            <a:cxnLst/>
            <a:rect l="0" t="0" r="r" b="b"/>
            <a:pathLst>
              <a:path w="153004" h="116837">
                <a:moveTo>
                  <a:pt x="153004" y="58418"/>
                </a:moveTo>
                <a:lnTo>
                  <a:pt x="117999" y="116837"/>
                </a:lnTo>
                <a:lnTo>
                  <a:pt x="38743" y="116837"/>
                </a:lnTo>
                <a:lnTo>
                  <a:pt x="0" y="58418"/>
                </a:lnTo>
                <a:lnTo>
                  <a:pt x="37829" y="0"/>
                </a:lnTo>
                <a:lnTo>
                  <a:pt x="116368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Liver lobule 038"/>
          <p:cNvSpPr/>
          <p:nvPr/>
        </p:nvSpPr>
        <p:spPr>
          <a:xfrm>
            <a:off x="9716115" y="5993607"/>
            <a:ext cx="245460" cy="174288"/>
          </a:xfrm>
          <a:custGeom>
            <a:avLst/>
            <a:gdLst/>
            <a:ahLst/>
            <a:cxnLst/>
            <a:rect l="0" t="0" r="r" b="b"/>
            <a:pathLst>
              <a:path w="245460" h="174288">
                <a:moveTo>
                  <a:pt x="245460" y="87144"/>
                </a:moveTo>
                <a:lnTo>
                  <a:pt x="198299" y="174288"/>
                </a:lnTo>
                <a:lnTo>
                  <a:pt x="73923" y="174288"/>
                </a:lnTo>
                <a:lnTo>
                  <a:pt x="0" y="87144"/>
                </a:lnTo>
                <a:lnTo>
                  <a:pt x="62975" y="0"/>
                </a:lnTo>
                <a:lnTo>
                  <a:pt x="18775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Liver lobule 040"/>
          <p:cNvSpPr/>
          <p:nvPr/>
        </p:nvSpPr>
        <p:spPr>
          <a:xfrm>
            <a:off x="9351928" y="6707812"/>
            <a:ext cx="217495" cy="143681"/>
          </a:xfrm>
          <a:custGeom>
            <a:avLst/>
            <a:gdLst/>
            <a:ahLst/>
            <a:cxnLst/>
            <a:rect l="0" t="0" r="r" b="b"/>
            <a:pathLst>
              <a:path w="217495" h="143681">
                <a:moveTo>
                  <a:pt x="217495" y="71840"/>
                </a:moveTo>
                <a:lnTo>
                  <a:pt x="163257" y="143681"/>
                </a:lnTo>
                <a:lnTo>
                  <a:pt x="65554" y="143681"/>
                </a:lnTo>
                <a:lnTo>
                  <a:pt x="0" y="71840"/>
                </a:lnTo>
                <a:lnTo>
                  <a:pt x="56444" y="0"/>
                </a:lnTo>
                <a:lnTo>
                  <a:pt x="164011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Liver lobule 042"/>
          <p:cNvSpPr/>
          <p:nvPr/>
        </p:nvSpPr>
        <p:spPr>
          <a:xfrm>
            <a:off x="10965324" y="6595218"/>
            <a:ext cx="210659" cy="137119"/>
          </a:xfrm>
          <a:custGeom>
            <a:avLst/>
            <a:gdLst/>
            <a:ahLst/>
            <a:cxnLst/>
            <a:rect l="0" t="0" r="r" b="b"/>
            <a:pathLst>
              <a:path w="210659" h="137119">
                <a:moveTo>
                  <a:pt x="210659" y="68559"/>
                </a:moveTo>
                <a:lnTo>
                  <a:pt x="157515" y="137119"/>
                </a:lnTo>
                <a:lnTo>
                  <a:pt x="52881" y="137119"/>
                </a:lnTo>
                <a:lnTo>
                  <a:pt x="0" y="68559"/>
                </a:lnTo>
                <a:lnTo>
                  <a:pt x="50621" y="0"/>
                </a:lnTo>
                <a:lnTo>
                  <a:pt x="149705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Liver lobule 043"/>
          <p:cNvSpPr/>
          <p:nvPr/>
        </p:nvSpPr>
        <p:spPr>
          <a:xfrm>
            <a:off x="10588595" y="6575405"/>
            <a:ext cx="200555" cy="144956"/>
          </a:xfrm>
          <a:custGeom>
            <a:avLst/>
            <a:gdLst/>
            <a:ahLst/>
            <a:cxnLst/>
            <a:rect l="0" t="0" r="r" b="b"/>
            <a:pathLst>
              <a:path w="200555" h="144956">
                <a:moveTo>
                  <a:pt x="200555" y="72478"/>
                </a:moveTo>
                <a:lnTo>
                  <a:pt x="145517" y="144956"/>
                </a:lnTo>
                <a:lnTo>
                  <a:pt x="35961" y="144956"/>
                </a:lnTo>
                <a:lnTo>
                  <a:pt x="0" y="72478"/>
                </a:lnTo>
                <a:lnTo>
                  <a:pt x="41221" y="0"/>
                </a:lnTo>
                <a:lnTo>
                  <a:pt x="14423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Liver lobule 044"/>
          <p:cNvSpPr/>
          <p:nvPr/>
        </p:nvSpPr>
        <p:spPr>
          <a:xfrm>
            <a:off x="9915325" y="5951601"/>
            <a:ext cx="181813" cy="128765"/>
          </a:xfrm>
          <a:custGeom>
            <a:avLst/>
            <a:gdLst/>
            <a:ahLst/>
            <a:cxnLst/>
            <a:rect l="0" t="0" r="r" b="b"/>
            <a:pathLst>
              <a:path w="181813" h="128765">
                <a:moveTo>
                  <a:pt x="181813" y="64382"/>
                </a:moveTo>
                <a:lnTo>
                  <a:pt x="128652" y="128765"/>
                </a:lnTo>
                <a:lnTo>
                  <a:pt x="39676" y="128765"/>
                </a:lnTo>
                <a:lnTo>
                  <a:pt x="0" y="64382"/>
                </a:lnTo>
                <a:lnTo>
                  <a:pt x="40260" y="0"/>
                </a:lnTo>
                <a:lnTo>
                  <a:pt x="126365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Liver lobule 045"/>
          <p:cNvSpPr/>
          <p:nvPr/>
        </p:nvSpPr>
        <p:spPr>
          <a:xfrm>
            <a:off x="9096007" y="6872159"/>
            <a:ext cx="286589" cy="208632"/>
          </a:xfrm>
          <a:custGeom>
            <a:avLst/>
            <a:gdLst/>
            <a:ahLst/>
            <a:cxnLst/>
            <a:rect l="0" t="0" r="r" b="b"/>
            <a:pathLst>
              <a:path w="286589" h="208632">
                <a:moveTo>
                  <a:pt x="286589" y="104316"/>
                </a:moveTo>
                <a:lnTo>
                  <a:pt x="218902" y="208632"/>
                </a:lnTo>
                <a:lnTo>
                  <a:pt x="72063" y="208632"/>
                </a:lnTo>
                <a:lnTo>
                  <a:pt x="0" y="104316"/>
                </a:lnTo>
                <a:lnTo>
                  <a:pt x="85463" y="0"/>
                </a:lnTo>
                <a:lnTo>
                  <a:pt x="220537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Liver lobule 048"/>
          <p:cNvSpPr/>
          <p:nvPr/>
        </p:nvSpPr>
        <p:spPr>
          <a:xfrm>
            <a:off x="10276856" y="6380984"/>
            <a:ext cx="190957" cy="131831"/>
          </a:xfrm>
          <a:custGeom>
            <a:avLst/>
            <a:gdLst/>
            <a:ahLst/>
            <a:cxnLst/>
            <a:rect l="0" t="0" r="r" b="b"/>
            <a:pathLst>
              <a:path w="190957" h="131831">
                <a:moveTo>
                  <a:pt x="190957" y="65915"/>
                </a:moveTo>
                <a:lnTo>
                  <a:pt x="138029" y="131831"/>
                </a:lnTo>
                <a:lnTo>
                  <a:pt x="51597" y="131831"/>
                </a:lnTo>
                <a:lnTo>
                  <a:pt x="0" y="65915"/>
                </a:lnTo>
                <a:lnTo>
                  <a:pt x="54040" y="0"/>
                </a:lnTo>
                <a:lnTo>
                  <a:pt x="142869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Liver lobule 049"/>
          <p:cNvSpPr/>
          <p:nvPr/>
        </p:nvSpPr>
        <p:spPr>
          <a:xfrm>
            <a:off x="11030734" y="6095234"/>
            <a:ext cx="169245" cy="121386"/>
          </a:xfrm>
          <a:custGeom>
            <a:avLst/>
            <a:gdLst/>
            <a:ahLst/>
            <a:cxnLst/>
            <a:rect l="0" t="0" r="r" b="b"/>
            <a:pathLst>
              <a:path w="169245" h="121386">
                <a:moveTo>
                  <a:pt x="169245" y="60693"/>
                </a:moveTo>
                <a:lnTo>
                  <a:pt x="129180" y="121386"/>
                </a:lnTo>
                <a:lnTo>
                  <a:pt x="45838" y="121386"/>
                </a:lnTo>
                <a:lnTo>
                  <a:pt x="0" y="60693"/>
                </a:lnTo>
                <a:lnTo>
                  <a:pt x="49531" y="0"/>
                </a:lnTo>
                <a:lnTo>
                  <a:pt x="129508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Liver lobule 050"/>
          <p:cNvSpPr/>
          <p:nvPr/>
        </p:nvSpPr>
        <p:spPr>
          <a:xfrm>
            <a:off x="10152474" y="6976781"/>
            <a:ext cx="154074" cy="119694"/>
          </a:xfrm>
          <a:custGeom>
            <a:avLst/>
            <a:gdLst/>
            <a:ahLst/>
            <a:cxnLst/>
            <a:rect l="0" t="0" r="r" b="b"/>
            <a:pathLst>
              <a:path w="154074" h="119694">
                <a:moveTo>
                  <a:pt x="154074" y="59847"/>
                </a:moveTo>
                <a:lnTo>
                  <a:pt x="113476" y="119694"/>
                </a:lnTo>
                <a:lnTo>
                  <a:pt x="29271" y="119694"/>
                </a:lnTo>
                <a:lnTo>
                  <a:pt x="0" y="59847"/>
                </a:lnTo>
                <a:lnTo>
                  <a:pt x="34891" y="0"/>
                </a:lnTo>
                <a:lnTo>
                  <a:pt x="111551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Liver lobule 052"/>
          <p:cNvSpPr/>
          <p:nvPr/>
        </p:nvSpPr>
        <p:spPr>
          <a:xfrm>
            <a:off x="10879696" y="6220928"/>
            <a:ext cx="236250" cy="163461"/>
          </a:xfrm>
          <a:custGeom>
            <a:avLst/>
            <a:gdLst/>
            <a:ahLst/>
            <a:cxnLst/>
            <a:rect l="0" t="0" r="r" b="b"/>
            <a:pathLst>
              <a:path w="236250" h="163461">
                <a:moveTo>
                  <a:pt x="236250" y="81730"/>
                </a:moveTo>
                <a:lnTo>
                  <a:pt x="174781" y="163461"/>
                </a:lnTo>
                <a:lnTo>
                  <a:pt x="56852" y="163461"/>
                </a:lnTo>
                <a:lnTo>
                  <a:pt x="0" y="81730"/>
                </a:lnTo>
                <a:lnTo>
                  <a:pt x="62012" y="0"/>
                </a:lnTo>
                <a:lnTo>
                  <a:pt x="174578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Liver lobule 054"/>
          <p:cNvSpPr/>
          <p:nvPr/>
        </p:nvSpPr>
        <p:spPr>
          <a:xfrm>
            <a:off x="9289025" y="7059891"/>
            <a:ext cx="298589" cy="206966"/>
          </a:xfrm>
          <a:custGeom>
            <a:avLst/>
            <a:gdLst/>
            <a:ahLst/>
            <a:cxnLst/>
            <a:rect l="0" t="0" r="r" b="b"/>
            <a:pathLst>
              <a:path w="298589" h="206966">
                <a:moveTo>
                  <a:pt x="298589" y="103483"/>
                </a:moveTo>
                <a:lnTo>
                  <a:pt x="227956" y="206966"/>
                </a:lnTo>
                <a:lnTo>
                  <a:pt x="80578" y="206966"/>
                </a:lnTo>
                <a:lnTo>
                  <a:pt x="0" y="103483"/>
                </a:lnTo>
                <a:lnTo>
                  <a:pt x="88862" y="0"/>
                </a:lnTo>
                <a:lnTo>
                  <a:pt x="217911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Liver lobule 056"/>
          <p:cNvSpPr/>
          <p:nvPr/>
        </p:nvSpPr>
        <p:spPr>
          <a:xfrm>
            <a:off x="9785219" y="6971302"/>
            <a:ext cx="153467" cy="108712"/>
          </a:xfrm>
          <a:custGeom>
            <a:avLst/>
            <a:gdLst/>
            <a:ahLst/>
            <a:cxnLst/>
            <a:rect l="0" t="0" r="r" b="b"/>
            <a:pathLst>
              <a:path w="153467" h="108712">
                <a:moveTo>
                  <a:pt x="153467" y="54356"/>
                </a:moveTo>
                <a:lnTo>
                  <a:pt x="113616" y="108712"/>
                </a:lnTo>
                <a:lnTo>
                  <a:pt x="42459" y="108712"/>
                </a:lnTo>
                <a:lnTo>
                  <a:pt x="0" y="54356"/>
                </a:lnTo>
                <a:lnTo>
                  <a:pt x="41702" y="0"/>
                </a:lnTo>
                <a:lnTo>
                  <a:pt x="113948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Liver lobule 057"/>
          <p:cNvSpPr/>
          <p:nvPr/>
        </p:nvSpPr>
        <p:spPr>
          <a:xfrm>
            <a:off x="10207569" y="6372389"/>
            <a:ext cx="253314" cy="192806"/>
          </a:xfrm>
          <a:custGeom>
            <a:avLst/>
            <a:gdLst/>
            <a:ahLst/>
            <a:cxnLst/>
            <a:rect l="0" t="0" r="r" b="b"/>
            <a:pathLst>
              <a:path w="253314" h="192806">
                <a:moveTo>
                  <a:pt x="253314" y="96403"/>
                </a:moveTo>
                <a:lnTo>
                  <a:pt x="206080" y="192806"/>
                </a:lnTo>
                <a:lnTo>
                  <a:pt x="62146" y="192806"/>
                </a:lnTo>
                <a:lnTo>
                  <a:pt x="0" y="96403"/>
                </a:lnTo>
                <a:lnTo>
                  <a:pt x="64968" y="0"/>
                </a:lnTo>
                <a:lnTo>
                  <a:pt x="196141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Liver lobule 058"/>
          <p:cNvSpPr/>
          <p:nvPr/>
        </p:nvSpPr>
        <p:spPr>
          <a:xfrm>
            <a:off x="10013819" y="6573382"/>
            <a:ext cx="174899" cy="118258"/>
          </a:xfrm>
          <a:custGeom>
            <a:avLst/>
            <a:gdLst/>
            <a:ahLst/>
            <a:cxnLst/>
            <a:rect l="0" t="0" r="r" b="b"/>
            <a:pathLst>
              <a:path w="174899" h="118258">
                <a:moveTo>
                  <a:pt x="174899" y="59129"/>
                </a:moveTo>
                <a:lnTo>
                  <a:pt x="127606" y="118258"/>
                </a:lnTo>
                <a:lnTo>
                  <a:pt x="43174" y="118258"/>
                </a:lnTo>
                <a:lnTo>
                  <a:pt x="0" y="59129"/>
                </a:lnTo>
                <a:lnTo>
                  <a:pt x="41681" y="0"/>
                </a:lnTo>
                <a:lnTo>
                  <a:pt x="12439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Liver lobule 061"/>
          <p:cNvSpPr/>
          <p:nvPr/>
        </p:nvSpPr>
        <p:spPr>
          <a:xfrm>
            <a:off x="9755109" y="7261069"/>
            <a:ext cx="161985" cy="124912"/>
          </a:xfrm>
          <a:custGeom>
            <a:avLst/>
            <a:gdLst/>
            <a:ahLst/>
            <a:cxnLst/>
            <a:rect l="0" t="0" r="r" b="b"/>
            <a:pathLst>
              <a:path w="161985" h="124912">
                <a:moveTo>
                  <a:pt x="161985" y="62456"/>
                </a:moveTo>
                <a:lnTo>
                  <a:pt x="123745" y="124912"/>
                </a:lnTo>
                <a:lnTo>
                  <a:pt x="34481" y="124912"/>
                </a:lnTo>
                <a:lnTo>
                  <a:pt x="0" y="62456"/>
                </a:lnTo>
                <a:lnTo>
                  <a:pt x="43257" y="0"/>
                </a:lnTo>
                <a:lnTo>
                  <a:pt x="127104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Liver lobule 062"/>
          <p:cNvSpPr/>
          <p:nvPr/>
        </p:nvSpPr>
        <p:spPr>
          <a:xfrm>
            <a:off x="9944863" y="6088069"/>
            <a:ext cx="175233" cy="123753"/>
          </a:xfrm>
          <a:custGeom>
            <a:avLst/>
            <a:gdLst/>
            <a:ahLst/>
            <a:cxnLst/>
            <a:rect l="0" t="0" r="r" b="b"/>
            <a:pathLst>
              <a:path w="175233" h="123753">
                <a:moveTo>
                  <a:pt x="175233" y="61877"/>
                </a:moveTo>
                <a:lnTo>
                  <a:pt x="126537" y="123753"/>
                </a:lnTo>
                <a:lnTo>
                  <a:pt x="38398" y="123753"/>
                </a:lnTo>
                <a:lnTo>
                  <a:pt x="0" y="61877"/>
                </a:lnTo>
                <a:lnTo>
                  <a:pt x="41836" y="0"/>
                </a:lnTo>
                <a:lnTo>
                  <a:pt x="127586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Liver lobule 064"/>
          <p:cNvSpPr/>
          <p:nvPr/>
        </p:nvSpPr>
        <p:spPr>
          <a:xfrm>
            <a:off x="10359387" y="6968873"/>
            <a:ext cx="193208" cy="133327"/>
          </a:xfrm>
          <a:custGeom>
            <a:avLst/>
            <a:gdLst/>
            <a:ahLst/>
            <a:cxnLst/>
            <a:rect l="0" t="0" r="r" b="b"/>
            <a:pathLst>
              <a:path w="193208" h="133327">
                <a:moveTo>
                  <a:pt x="193208" y="66663"/>
                </a:moveTo>
                <a:lnTo>
                  <a:pt x="149503" y="133327"/>
                </a:lnTo>
                <a:lnTo>
                  <a:pt x="47388" y="133327"/>
                </a:lnTo>
                <a:lnTo>
                  <a:pt x="0" y="66663"/>
                </a:lnTo>
                <a:lnTo>
                  <a:pt x="45675" y="0"/>
                </a:lnTo>
                <a:lnTo>
                  <a:pt x="141834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Liver lobule 065"/>
          <p:cNvSpPr/>
          <p:nvPr/>
        </p:nvSpPr>
        <p:spPr>
          <a:xfrm>
            <a:off x="10960566" y="6261430"/>
            <a:ext cx="172345" cy="126584"/>
          </a:xfrm>
          <a:custGeom>
            <a:avLst/>
            <a:gdLst/>
            <a:ahLst/>
            <a:cxnLst/>
            <a:rect l="0" t="0" r="r" b="b"/>
            <a:pathLst>
              <a:path w="172345" h="126584">
                <a:moveTo>
                  <a:pt x="172345" y="63292"/>
                </a:moveTo>
                <a:lnTo>
                  <a:pt x="123983" y="126584"/>
                </a:lnTo>
                <a:lnTo>
                  <a:pt x="38111" y="126584"/>
                </a:lnTo>
                <a:lnTo>
                  <a:pt x="0" y="63292"/>
                </a:lnTo>
                <a:lnTo>
                  <a:pt x="43157" y="0"/>
                </a:lnTo>
                <a:lnTo>
                  <a:pt x="12342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Liver lobule 067"/>
          <p:cNvSpPr/>
          <p:nvPr/>
        </p:nvSpPr>
        <p:spPr>
          <a:xfrm>
            <a:off x="9565936" y="5802799"/>
            <a:ext cx="202719" cy="137590"/>
          </a:xfrm>
          <a:custGeom>
            <a:avLst/>
            <a:gdLst/>
            <a:ahLst/>
            <a:cxnLst/>
            <a:rect l="0" t="0" r="r" b="b"/>
            <a:pathLst>
              <a:path w="202719" h="137590">
                <a:moveTo>
                  <a:pt x="202719" y="68795"/>
                </a:moveTo>
                <a:lnTo>
                  <a:pt x="152867" y="137590"/>
                </a:lnTo>
                <a:lnTo>
                  <a:pt x="56321" y="137590"/>
                </a:lnTo>
                <a:lnTo>
                  <a:pt x="0" y="68795"/>
                </a:lnTo>
                <a:lnTo>
                  <a:pt x="50340" y="0"/>
                </a:lnTo>
                <a:lnTo>
                  <a:pt x="14788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Liver lobule 068"/>
          <p:cNvSpPr/>
          <p:nvPr/>
        </p:nvSpPr>
        <p:spPr>
          <a:xfrm>
            <a:off x="9395822" y="6666518"/>
            <a:ext cx="304158" cy="204664"/>
          </a:xfrm>
          <a:custGeom>
            <a:avLst/>
            <a:gdLst/>
            <a:ahLst/>
            <a:cxnLst/>
            <a:rect l="0" t="0" r="r" b="b"/>
            <a:pathLst>
              <a:path w="304158" h="204664">
                <a:moveTo>
                  <a:pt x="304158" y="102332"/>
                </a:moveTo>
                <a:lnTo>
                  <a:pt x="226567" y="204664"/>
                </a:lnTo>
                <a:lnTo>
                  <a:pt x="67360" y="204664"/>
                </a:lnTo>
                <a:lnTo>
                  <a:pt x="0" y="102332"/>
                </a:lnTo>
                <a:lnTo>
                  <a:pt x="65126" y="0"/>
                </a:lnTo>
                <a:lnTo>
                  <a:pt x="211518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Liver lobule 071"/>
          <p:cNvSpPr/>
          <p:nvPr/>
        </p:nvSpPr>
        <p:spPr>
          <a:xfrm>
            <a:off x="10054085" y="6095940"/>
            <a:ext cx="220888" cy="157319"/>
          </a:xfrm>
          <a:custGeom>
            <a:avLst/>
            <a:gdLst/>
            <a:ahLst/>
            <a:cxnLst/>
            <a:rect l="0" t="0" r="r" b="b"/>
            <a:pathLst>
              <a:path w="220888" h="157319">
                <a:moveTo>
                  <a:pt x="220888" y="78659"/>
                </a:moveTo>
                <a:lnTo>
                  <a:pt x="164579" y="157319"/>
                </a:lnTo>
                <a:lnTo>
                  <a:pt x="49811" y="157319"/>
                </a:lnTo>
                <a:lnTo>
                  <a:pt x="0" y="78659"/>
                </a:lnTo>
                <a:lnTo>
                  <a:pt x="52243" y="0"/>
                </a:lnTo>
                <a:lnTo>
                  <a:pt x="173443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Liver lobule 073"/>
          <p:cNvSpPr/>
          <p:nvPr/>
        </p:nvSpPr>
        <p:spPr>
          <a:xfrm>
            <a:off x="9336663" y="7600763"/>
            <a:ext cx="204372" cy="158035"/>
          </a:xfrm>
          <a:custGeom>
            <a:avLst/>
            <a:gdLst/>
            <a:ahLst/>
            <a:cxnLst/>
            <a:rect l="0" t="0" r="r" b="b"/>
            <a:pathLst>
              <a:path w="204372" h="158035">
                <a:moveTo>
                  <a:pt x="204372" y="79017"/>
                </a:moveTo>
                <a:lnTo>
                  <a:pt x="161765" y="158035"/>
                </a:lnTo>
                <a:lnTo>
                  <a:pt x="51798" y="158035"/>
                </a:lnTo>
                <a:lnTo>
                  <a:pt x="0" y="79017"/>
                </a:lnTo>
                <a:lnTo>
                  <a:pt x="49540" y="0"/>
                </a:lnTo>
                <a:lnTo>
                  <a:pt x="167460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Liver lobule 076"/>
          <p:cNvSpPr/>
          <p:nvPr/>
        </p:nvSpPr>
        <p:spPr>
          <a:xfrm>
            <a:off x="10566241" y="6081844"/>
            <a:ext cx="245857" cy="171135"/>
          </a:xfrm>
          <a:custGeom>
            <a:avLst/>
            <a:gdLst/>
            <a:ahLst/>
            <a:cxnLst/>
            <a:rect l="0" t="0" r="r" b="b"/>
            <a:pathLst>
              <a:path w="245857" h="171135">
                <a:moveTo>
                  <a:pt x="245857" y="85568"/>
                </a:moveTo>
                <a:lnTo>
                  <a:pt x="189130" y="171135"/>
                </a:lnTo>
                <a:lnTo>
                  <a:pt x="79625" y="171135"/>
                </a:lnTo>
                <a:lnTo>
                  <a:pt x="0" y="85568"/>
                </a:lnTo>
                <a:lnTo>
                  <a:pt x="67225" y="0"/>
                </a:lnTo>
                <a:lnTo>
                  <a:pt x="190654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Liver lobule 077"/>
          <p:cNvSpPr/>
          <p:nvPr/>
        </p:nvSpPr>
        <p:spPr>
          <a:xfrm>
            <a:off x="10276230" y="6170001"/>
            <a:ext cx="189532" cy="135829"/>
          </a:xfrm>
          <a:custGeom>
            <a:avLst/>
            <a:gdLst/>
            <a:ahLst/>
            <a:cxnLst/>
            <a:rect l="0" t="0" r="r" b="b"/>
            <a:pathLst>
              <a:path w="189532" h="135829">
                <a:moveTo>
                  <a:pt x="189532" y="67915"/>
                </a:moveTo>
                <a:lnTo>
                  <a:pt x="144469" y="135829"/>
                </a:lnTo>
                <a:lnTo>
                  <a:pt x="52834" y="135829"/>
                </a:lnTo>
                <a:lnTo>
                  <a:pt x="0" y="67915"/>
                </a:lnTo>
                <a:lnTo>
                  <a:pt x="49247" y="0"/>
                </a:lnTo>
                <a:lnTo>
                  <a:pt x="153804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Liver lobule 078"/>
          <p:cNvSpPr/>
          <p:nvPr/>
        </p:nvSpPr>
        <p:spPr>
          <a:xfrm>
            <a:off x="10569453" y="6396564"/>
            <a:ext cx="240504" cy="157061"/>
          </a:xfrm>
          <a:custGeom>
            <a:avLst/>
            <a:gdLst/>
            <a:ahLst/>
            <a:cxnLst/>
            <a:rect l="0" t="0" r="r" b="b"/>
            <a:pathLst>
              <a:path w="240504" h="157061">
                <a:moveTo>
                  <a:pt x="240504" y="78530"/>
                </a:moveTo>
                <a:lnTo>
                  <a:pt x="173448" y="157061"/>
                </a:lnTo>
                <a:lnTo>
                  <a:pt x="69921" y="157061"/>
                </a:lnTo>
                <a:lnTo>
                  <a:pt x="0" y="78530"/>
                </a:lnTo>
                <a:lnTo>
                  <a:pt x="73704" y="0"/>
                </a:lnTo>
                <a:lnTo>
                  <a:pt x="184312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Liver lobule 079"/>
          <p:cNvSpPr/>
          <p:nvPr/>
        </p:nvSpPr>
        <p:spPr>
          <a:xfrm>
            <a:off x="9218199" y="6796905"/>
            <a:ext cx="281697" cy="192144"/>
          </a:xfrm>
          <a:custGeom>
            <a:avLst/>
            <a:gdLst/>
            <a:ahLst/>
            <a:cxnLst/>
            <a:rect l="0" t="0" r="r" b="b"/>
            <a:pathLst>
              <a:path w="281697" h="192144">
                <a:moveTo>
                  <a:pt x="281697" y="96072"/>
                </a:moveTo>
                <a:lnTo>
                  <a:pt x="209650" y="192144"/>
                </a:lnTo>
                <a:lnTo>
                  <a:pt x="75842" y="192144"/>
                </a:lnTo>
                <a:lnTo>
                  <a:pt x="0" y="96072"/>
                </a:lnTo>
                <a:lnTo>
                  <a:pt x="69367" y="0"/>
                </a:lnTo>
                <a:lnTo>
                  <a:pt x="19955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Liver lobule 080"/>
          <p:cNvSpPr/>
          <p:nvPr/>
        </p:nvSpPr>
        <p:spPr>
          <a:xfrm>
            <a:off x="10660322" y="6494928"/>
            <a:ext cx="184166" cy="142724"/>
          </a:xfrm>
          <a:custGeom>
            <a:avLst/>
            <a:gdLst/>
            <a:ahLst/>
            <a:cxnLst/>
            <a:rect l="0" t="0" r="r" b="b"/>
            <a:pathLst>
              <a:path w="184166" h="142724">
                <a:moveTo>
                  <a:pt x="184166" y="71362"/>
                </a:moveTo>
                <a:lnTo>
                  <a:pt x="140875" y="142724"/>
                </a:lnTo>
                <a:lnTo>
                  <a:pt x="36875" y="142724"/>
                </a:lnTo>
                <a:lnTo>
                  <a:pt x="0" y="71362"/>
                </a:lnTo>
                <a:lnTo>
                  <a:pt x="38985" y="0"/>
                </a:lnTo>
                <a:lnTo>
                  <a:pt x="137745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Liver lobule 081"/>
          <p:cNvSpPr/>
          <p:nvPr/>
        </p:nvSpPr>
        <p:spPr>
          <a:xfrm>
            <a:off x="9269553" y="6208050"/>
            <a:ext cx="220765" cy="157042"/>
          </a:xfrm>
          <a:custGeom>
            <a:avLst/>
            <a:gdLst/>
            <a:ahLst/>
            <a:cxnLst/>
            <a:rect l="0" t="0" r="r" b="b"/>
            <a:pathLst>
              <a:path w="220765" h="157042">
                <a:moveTo>
                  <a:pt x="220765" y="78521"/>
                </a:moveTo>
                <a:lnTo>
                  <a:pt x="159065" y="157042"/>
                </a:lnTo>
                <a:lnTo>
                  <a:pt x="49895" y="157042"/>
                </a:lnTo>
                <a:lnTo>
                  <a:pt x="0" y="78521"/>
                </a:lnTo>
                <a:lnTo>
                  <a:pt x="56901" y="0"/>
                </a:lnTo>
                <a:lnTo>
                  <a:pt x="157429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Liver lobule 082"/>
          <p:cNvSpPr/>
          <p:nvPr/>
        </p:nvSpPr>
        <p:spPr>
          <a:xfrm>
            <a:off x="10862893" y="6170210"/>
            <a:ext cx="296126" cy="209553"/>
          </a:xfrm>
          <a:custGeom>
            <a:avLst/>
            <a:gdLst/>
            <a:ahLst/>
            <a:cxnLst/>
            <a:rect l="0" t="0" r="r" b="b"/>
            <a:pathLst>
              <a:path w="296126" h="209553">
                <a:moveTo>
                  <a:pt x="296126" y="104777"/>
                </a:moveTo>
                <a:lnTo>
                  <a:pt x="235810" y="209553"/>
                </a:lnTo>
                <a:lnTo>
                  <a:pt x="96075" y="209553"/>
                </a:lnTo>
                <a:lnTo>
                  <a:pt x="0" y="104777"/>
                </a:lnTo>
                <a:lnTo>
                  <a:pt x="95229" y="0"/>
                </a:lnTo>
                <a:lnTo>
                  <a:pt x="24216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Liver lobule 085"/>
          <p:cNvSpPr/>
          <p:nvPr/>
        </p:nvSpPr>
        <p:spPr>
          <a:xfrm>
            <a:off x="9338949" y="7534360"/>
            <a:ext cx="205119" cy="145856"/>
          </a:xfrm>
          <a:custGeom>
            <a:avLst/>
            <a:gdLst/>
            <a:ahLst/>
            <a:cxnLst/>
            <a:rect l="0" t="0" r="r" b="b"/>
            <a:pathLst>
              <a:path w="205119" h="145856">
                <a:moveTo>
                  <a:pt x="205119" y="72928"/>
                </a:moveTo>
                <a:lnTo>
                  <a:pt x="157495" y="145856"/>
                </a:lnTo>
                <a:lnTo>
                  <a:pt x="55215" y="145856"/>
                </a:lnTo>
                <a:lnTo>
                  <a:pt x="0" y="72928"/>
                </a:lnTo>
                <a:lnTo>
                  <a:pt x="59336" y="0"/>
                </a:lnTo>
                <a:lnTo>
                  <a:pt x="160198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Liver lobule 086"/>
          <p:cNvSpPr/>
          <p:nvPr/>
        </p:nvSpPr>
        <p:spPr>
          <a:xfrm>
            <a:off x="10951721" y="5906923"/>
            <a:ext cx="268119" cy="195618"/>
          </a:xfrm>
          <a:custGeom>
            <a:avLst/>
            <a:gdLst/>
            <a:ahLst/>
            <a:cxnLst/>
            <a:rect l="0" t="0" r="r" b="b"/>
            <a:pathLst>
              <a:path w="268119" h="195618">
                <a:moveTo>
                  <a:pt x="268119" y="97809"/>
                </a:moveTo>
                <a:lnTo>
                  <a:pt x="197194" y="195618"/>
                </a:lnTo>
                <a:lnTo>
                  <a:pt x="56408" y="195618"/>
                </a:lnTo>
                <a:lnTo>
                  <a:pt x="0" y="97809"/>
                </a:lnTo>
                <a:lnTo>
                  <a:pt x="65094" y="0"/>
                </a:lnTo>
                <a:lnTo>
                  <a:pt x="19566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Liver lobule 088"/>
          <p:cNvSpPr/>
          <p:nvPr/>
        </p:nvSpPr>
        <p:spPr>
          <a:xfrm>
            <a:off x="10967514" y="6304431"/>
            <a:ext cx="279634" cy="200813"/>
          </a:xfrm>
          <a:custGeom>
            <a:avLst/>
            <a:gdLst/>
            <a:ahLst/>
            <a:cxnLst/>
            <a:rect l="0" t="0" r="r" b="b"/>
            <a:pathLst>
              <a:path w="279634" h="200813">
                <a:moveTo>
                  <a:pt x="279634" y="100407"/>
                </a:moveTo>
                <a:lnTo>
                  <a:pt x="225423" y="200813"/>
                </a:lnTo>
                <a:lnTo>
                  <a:pt x="75541" y="200813"/>
                </a:lnTo>
                <a:lnTo>
                  <a:pt x="0" y="100407"/>
                </a:lnTo>
                <a:lnTo>
                  <a:pt x="80770" y="0"/>
                </a:lnTo>
                <a:lnTo>
                  <a:pt x="211047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Liver lobule 089"/>
          <p:cNvSpPr/>
          <p:nvPr/>
        </p:nvSpPr>
        <p:spPr>
          <a:xfrm>
            <a:off x="10644024" y="6146143"/>
            <a:ext cx="266470" cy="191096"/>
          </a:xfrm>
          <a:custGeom>
            <a:avLst/>
            <a:gdLst/>
            <a:ahLst/>
            <a:cxnLst/>
            <a:rect l="0" t="0" r="r" b="b"/>
            <a:pathLst>
              <a:path w="266470" h="191096">
                <a:moveTo>
                  <a:pt x="266470" y="95548"/>
                </a:moveTo>
                <a:lnTo>
                  <a:pt x="195954" y="191096"/>
                </a:lnTo>
                <a:lnTo>
                  <a:pt x="52262" y="191096"/>
                </a:lnTo>
                <a:lnTo>
                  <a:pt x="0" y="95548"/>
                </a:lnTo>
                <a:lnTo>
                  <a:pt x="66248" y="0"/>
                </a:lnTo>
                <a:lnTo>
                  <a:pt x="190481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Liver lobule 090"/>
          <p:cNvSpPr/>
          <p:nvPr/>
        </p:nvSpPr>
        <p:spPr>
          <a:xfrm>
            <a:off x="11098068" y="6098738"/>
            <a:ext cx="296500" cy="209944"/>
          </a:xfrm>
          <a:custGeom>
            <a:avLst/>
            <a:gdLst/>
            <a:ahLst/>
            <a:cxnLst/>
            <a:rect l="0" t="0" r="r" b="b"/>
            <a:pathLst>
              <a:path w="296500" h="209944">
                <a:moveTo>
                  <a:pt x="296500" y="104972"/>
                </a:moveTo>
                <a:lnTo>
                  <a:pt x="231701" y="209944"/>
                </a:lnTo>
                <a:lnTo>
                  <a:pt x="82846" y="209944"/>
                </a:lnTo>
                <a:lnTo>
                  <a:pt x="0" y="104972"/>
                </a:lnTo>
                <a:lnTo>
                  <a:pt x="75003" y="0"/>
                </a:lnTo>
                <a:lnTo>
                  <a:pt x="227743" y="0"/>
                </a:lnTo>
                <a:close/>
              </a:path>
            </a:pathLst>
          </a:custGeom>
          <a:solidFill>
            <a:srgbClr val="D38B7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Liver lobule 091"/>
          <p:cNvSpPr/>
          <p:nvPr/>
        </p:nvSpPr>
        <p:spPr>
          <a:xfrm>
            <a:off x="10226994" y="6057964"/>
            <a:ext cx="186832" cy="131330"/>
          </a:xfrm>
          <a:custGeom>
            <a:avLst/>
            <a:gdLst/>
            <a:ahLst/>
            <a:cxnLst/>
            <a:rect l="0" t="0" r="r" b="b"/>
            <a:pathLst>
              <a:path w="186832" h="131330">
                <a:moveTo>
                  <a:pt x="186832" y="65665"/>
                </a:moveTo>
                <a:lnTo>
                  <a:pt x="143933" y="131330"/>
                </a:lnTo>
                <a:lnTo>
                  <a:pt x="48723" y="131330"/>
                </a:lnTo>
                <a:lnTo>
                  <a:pt x="0" y="65665"/>
                </a:lnTo>
                <a:lnTo>
                  <a:pt x="49644" y="0"/>
                </a:lnTo>
                <a:lnTo>
                  <a:pt x="139992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Liver lobule 092"/>
          <p:cNvSpPr/>
          <p:nvPr/>
        </p:nvSpPr>
        <p:spPr>
          <a:xfrm>
            <a:off x="10603058" y="5701118"/>
            <a:ext cx="165443" cy="116890"/>
          </a:xfrm>
          <a:custGeom>
            <a:avLst/>
            <a:gdLst/>
            <a:ahLst/>
            <a:cxnLst/>
            <a:rect l="0" t="0" r="r" b="b"/>
            <a:pathLst>
              <a:path w="165443" h="116890">
                <a:moveTo>
                  <a:pt x="165443" y="58445"/>
                </a:moveTo>
                <a:lnTo>
                  <a:pt x="110901" y="116890"/>
                </a:lnTo>
                <a:lnTo>
                  <a:pt x="28755" y="116890"/>
                </a:lnTo>
                <a:lnTo>
                  <a:pt x="0" y="58445"/>
                </a:lnTo>
                <a:lnTo>
                  <a:pt x="29119" y="0"/>
                </a:lnTo>
                <a:lnTo>
                  <a:pt x="112049" y="0"/>
                </a:lnTo>
                <a:close/>
              </a:path>
            </a:pathLst>
          </a:custGeom>
          <a:solidFill>
            <a:srgbClr val="EBA998">
              <a:alpha val="17000"/>
            </a:srgbClr>
          </a:solidFill>
          <a:ln w="5714" cap="rnd">
            <a:solidFill>
              <a:srgbClr val="D18776">
                <a:alpha val="17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Liver interlobar fold"/>
          <p:cNvSpPr/>
          <p:nvPr/>
        </p:nvSpPr>
        <p:spPr>
          <a:xfrm>
            <a:off x="10287000" y="6619875"/>
            <a:ext cx="304800" cy="838200"/>
          </a:xfrm>
          <a:custGeom>
            <a:avLst/>
            <a:gdLst/>
            <a:ahLst/>
            <a:cxnLst/>
            <a:rect l="0" t="0" r="r" b="b"/>
            <a:pathLst>
              <a:path w="304800" h="838200">
                <a:moveTo>
                  <a:pt x="123825" y="0"/>
                </a:moveTo>
                <a:cubicBezTo>
                  <a:pt x="304800" y="276225"/>
                  <a:pt x="200025" y="676275"/>
                  <a:pt x="0" y="838200"/>
                </a:cubicBezTo>
              </a:path>
            </a:pathLst>
          </a:custGeom>
          <a:noFill/>
          <a:ln w="23812" cap="rnd">
            <a:solidFill>
              <a:srgbClr val="B9776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Liver fold highlight"/>
          <p:cNvSpPr/>
          <p:nvPr/>
        </p:nvSpPr>
        <p:spPr>
          <a:xfrm>
            <a:off x="10344150" y="6657975"/>
            <a:ext cx="295275" cy="800100"/>
          </a:xfrm>
          <a:custGeom>
            <a:avLst/>
            <a:gdLst/>
            <a:ahLst/>
            <a:cxnLst/>
            <a:rect l="0" t="0" r="r" b="b"/>
            <a:pathLst>
              <a:path w="295275" h="800100">
                <a:moveTo>
                  <a:pt x="114300" y="0"/>
                </a:moveTo>
                <a:cubicBezTo>
                  <a:pt x="295275" y="238125"/>
                  <a:pt x="200025" y="609600"/>
                  <a:pt x="0" y="800100"/>
                </a:cubicBezTo>
              </a:path>
            </a:pathLst>
          </a:custGeom>
          <a:noFill/>
          <a:ln w="12382" cap="rnd">
            <a:solidFill>
              <a:srgbClr val="E7A38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Hepatic portal branch outline 00"/>
          <p:cNvSpPr/>
          <p:nvPr/>
        </p:nvSpPr>
        <p:spPr>
          <a:xfrm>
            <a:off x="8839200" y="6438900"/>
            <a:ext cx="2076450" cy="514350"/>
          </a:xfrm>
          <a:custGeom>
            <a:avLst/>
            <a:gdLst/>
            <a:ahLst/>
            <a:cxnLst/>
            <a:rect l="0" t="0" r="r" b="b"/>
            <a:pathLst>
              <a:path w="2076450" h="514350">
                <a:moveTo>
                  <a:pt x="0" y="95250"/>
                </a:moveTo>
                <a:cubicBezTo>
                  <a:pt x="266700" y="0"/>
                  <a:pt x="466725" y="133350"/>
                  <a:pt x="609600" y="285750"/>
                </a:cubicBezTo>
                <a:cubicBezTo>
                  <a:pt x="762000" y="438150"/>
                  <a:pt x="914400" y="514350"/>
                  <a:pt x="1066800" y="371475"/>
                </a:cubicBezTo>
                <a:cubicBezTo>
                  <a:pt x="1190625" y="266700"/>
                  <a:pt x="1257300" y="161925"/>
                  <a:pt x="1419225" y="142875"/>
                </a:cubicBezTo>
                <a:cubicBezTo>
                  <a:pt x="1666875" y="114300"/>
                  <a:pt x="1819275" y="228600"/>
                  <a:pt x="2076450" y="219075"/>
                </a:cubicBezTo>
              </a:path>
            </a:pathLst>
          </a:custGeom>
          <a:noFill/>
          <a:ln w="190500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Hepatic portal branch 00"/>
          <p:cNvSpPr/>
          <p:nvPr/>
        </p:nvSpPr>
        <p:spPr>
          <a:xfrm>
            <a:off x="8839200" y="6438900"/>
            <a:ext cx="2076450" cy="514350"/>
          </a:xfrm>
          <a:custGeom>
            <a:avLst/>
            <a:gdLst/>
            <a:ahLst/>
            <a:cxnLst/>
            <a:rect l="0" t="0" r="r" b="b"/>
            <a:pathLst>
              <a:path w="2076450" h="514350">
                <a:moveTo>
                  <a:pt x="0" y="95250"/>
                </a:moveTo>
                <a:cubicBezTo>
                  <a:pt x="266700" y="0"/>
                  <a:pt x="466725" y="133350"/>
                  <a:pt x="609600" y="285750"/>
                </a:cubicBezTo>
                <a:cubicBezTo>
                  <a:pt x="762000" y="438150"/>
                  <a:pt x="914400" y="514350"/>
                  <a:pt x="1066800" y="371475"/>
                </a:cubicBezTo>
                <a:cubicBezTo>
                  <a:pt x="1190625" y="266700"/>
                  <a:pt x="1257300" y="161925"/>
                  <a:pt x="1419225" y="142875"/>
                </a:cubicBezTo>
                <a:cubicBezTo>
                  <a:pt x="1666875" y="114300"/>
                  <a:pt x="1819275" y="228600"/>
                  <a:pt x="2076450" y="219075"/>
                </a:cubicBezTo>
              </a:path>
            </a:pathLst>
          </a:custGeom>
          <a:noFill/>
          <a:ln w="171450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Portal branch highlight"/>
          <p:cNvSpPr/>
          <p:nvPr/>
        </p:nvSpPr>
        <p:spPr>
          <a:xfrm>
            <a:off x="8839200" y="6438900"/>
            <a:ext cx="2076450" cy="514350"/>
          </a:xfrm>
          <a:custGeom>
            <a:avLst/>
            <a:gdLst/>
            <a:ahLst/>
            <a:cxnLst/>
            <a:rect l="0" t="0" r="r" b="b"/>
            <a:pathLst>
              <a:path w="2076450" h="514350">
                <a:moveTo>
                  <a:pt x="0" y="95250"/>
                </a:moveTo>
                <a:cubicBezTo>
                  <a:pt x="266700" y="0"/>
                  <a:pt x="466725" y="133350"/>
                  <a:pt x="609600" y="285750"/>
                </a:cubicBezTo>
                <a:cubicBezTo>
                  <a:pt x="762000" y="438150"/>
                  <a:pt x="914400" y="514350"/>
                  <a:pt x="1066800" y="371475"/>
                </a:cubicBezTo>
                <a:cubicBezTo>
                  <a:pt x="1190625" y="266700"/>
                  <a:pt x="1257300" y="161925"/>
                  <a:pt x="1419225" y="142875"/>
                </a:cubicBezTo>
                <a:cubicBezTo>
                  <a:pt x="1666875" y="114300"/>
                  <a:pt x="1819275" y="228600"/>
                  <a:pt x="2076450" y="219075"/>
                </a:cubicBezTo>
              </a:path>
            </a:pathLst>
          </a:custGeom>
          <a:noFill/>
          <a:ln w="80581" cap="rnd">
            <a:solidFill>
              <a:srgbClr val="EEA3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Hepatic portal branch outline 01"/>
          <p:cNvSpPr/>
          <p:nvPr/>
        </p:nvSpPr>
        <p:spPr>
          <a:xfrm>
            <a:off x="9591675" y="6000750"/>
            <a:ext cx="447675" cy="771525"/>
          </a:xfrm>
          <a:custGeom>
            <a:avLst/>
            <a:gdLst/>
            <a:ahLst/>
            <a:cxnLst/>
            <a:rect l="0" t="0" r="r" b="b"/>
            <a:pathLst>
              <a:path w="447675" h="771525">
                <a:moveTo>
                  <a:pt x="342900" y="771525"/>
                </a:moveTo>
                <a:cubicBezTo>
                  <a:pt x="447675" y="571500"/>
                  <a:pt x="400050" y="428625"/>
                  <a:pt x="352425" y="285750"/>
                </a:cubicBezTo>
                <a:cubicBezTo>
                  <a:pt x="295275" y="123825"/>
                  <a:pt x="142875" y="76200"/>
                  <a:pt x="0" y="0"/>
                </a:cubicBezTo>
              </a:path>
            </a:pathLst>
          </a:custGeom>
          <a:noFill/>
          <a:ln w="66675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Hepatic portal branch 01"/>
          <p:cNvSpPr/>
          <p:nvPr/>
        </p:nvSpPr>
        <p:spPr>
          <a:xfrm>
            <a:off x="9591675" y="6000750"/>
            <a:ext cx="447675" cy="771525"/>
          </a:xfrm>
          <a:custGeom>
            <a:avLst/>
            <a:gdLst/>
            <a:ahLst/>
            <a:cxnLst/>
            <a:rect l="0" t="0" r="r" b="b"/>
            <a:pathLst>
              <a:path w="447675" h="771525">
                <a:moveTo>
                  <a:pt x="342900" y="771525"/>
                </a:moveTo>
                <a:cubicBezTo>
                  <a:pt x="447675" y="571500"/>
                  <a:pt x="400050" y="428625"/>
                  <a:pt x="352425" y="285750"/>
                </a:cubicBezTo>
                <a:cubicBezTo>
                  <a:pt x="295275" y="123825"/>
                  <a:pt x="142875" y="76200"/>
                  <a:pt x="0" y="0"/>
                </a:cubicBezTo>
              </a:path>
            </a:pathLst>
          </a:custGeom>
          <a:noFill/>
          <a:ln w="57150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Hepatic portal branch outline 02"/>
          <p:cNvSpPr/>
          <p:nvPr/>
        </p:nvSpPr>
        <p:spPr>
          <a:xfrm>
            <a:off x="9963150" y="5819775"/>
            <a:ext cx="142875" cy="752475"/>
          </a:xfrm>
          <a:custGeom>
            <a:avLst/>
            <a:gdLst/>
            <a:ahLst/>
            <a:cxnLst/>
            <a:rect l="0" t="0" r="r" b="b"/>
            <a:pathLst>
              <a:path w="142875" h="752475">
                <a:moveTo>
                  <a:pt x="76200" y="752475"/>
                </a:moveTo>
                <a:cubicBezTo>
                  <a:pt x="0" y="457200"/>
                  <a:pt x="0" y="219075"/>
                  <a:pt x="142875" y="0"/>
                </a:cubicBezTo>
              </a:path>
            </a:pathLst>
          </a:custGeom>
          <a:noFill/>
          <a:ln w="38100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Hepatic portal branch 02"/>
          <p:cNvSpPr/>
          <p:nvPr/>
        </p:nvSpPr>
        <p:spPr>
          <a:xfrm>
            <a:off x="9963150" y="5819775"/>
            <a:ext cx="142875" cy="752475"/>
          </a:xfrm>
          <a:custGeom>
            <a:avLst/>
            <a:gdLst/>
            <a:ahLst/>
            <a:cxnLst/>
            <a:rect l="0" t="0" r="r" b="b"/>
            <a:pathLst>
              <a:path w="142875" h="752475">
                <a:moveTo>
                  <a:pt x="76200" y="752475"/>
                </a:moveTo>
                <a:cubicBezTo>
                  <a:pt x="0" y="457200"/>
                  <a:pt x="0" y="219075"/>
                  <a:pt x="142875" y="0"/>
                </a:cubicBezTo>
              </a:path>
            </a:pathLst>
          </a:custGeom>
          <a:noFill/>
          <a:ln w="28575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Hepatic portal branch outline 03"/>
          <p:cNvSpPr/>
          <p:nvPr/>
        </p:nvSpPr>
        <p:spPr>
          <a:xfrm>
            <a:off x="10258425" y="5734050"/>
            <a:ext cx="333375" cy="847725"/>
          </a:xfrm>
          <a:custGeom>
            <a:avLst/>
            <a:gdLst/>
            <a:ahLst/>
            <a:cxnLst/>
            <a:rect l="0" t="0" r="r" b="b"/>
            <a:pathLst>
              <a:path w="333375" h="847725">
                <a:moveTo>
                  <a:pt x="0" y="847725"/>
                </a:moveTo>
                <a:cubicBezTo>
                  <a:pt x="152400" y="695325"/>
                  <a:pt x="247650" y="447675"/>
                  <a:pt x="295275" y="228600"/>
                </a:cubicBezTo>
                <a:cubicBezTo>
                  <a:pt x="333375" y="104775"/>
                  <a:pt x="295275" y="57150"/>
                  <a:pt x="285750" y="0"/>
                </a:cubicBezTo>
              </a:path>
            </a:pathLst>
          </a:custGeom>
          <a:noFill/>
          <a:ln w="47625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Hepatic portal branch 03"/>
          <p:cNvSpPr/>
          <p:nvPr/>
        </p:nvSpPr>
        <p:spPr>
          <a:xfrm>
            <a:off x="10258425" y="5734050"/>
            <a:ext cx="333375" cy="847725"/>
          </a:xfrm>
          <a:custGeom>
            <a:avLst/>
            <a:gdLst/>
            <a:ahLst/>
            <a:cxnLst/>
            <a:rect l="0" t="0" r="r" b="b"/>
            <a:pathLst>
              <a:path w="333375" h="847725">
                <a:moveTo>
                  <a:pt x="0" y="847725"/>
                </a:moveTo>
                <a:cubicBezTo>
                  <a:pt x="152400" y="695325"/>
                  <a:pt x="247650" y="447675"/>
                  <a:pt x="295275" y="228600"/>
                </a:cubicBezTo>
                <a:cubicBezTo>
                  <a:pt x="333375" y="104775"/>
                  <a:pt x="295275" y="57150"/>
                  <a:pt x="285750" y="0"/>
                </a:cubicBezTo>
              </a:path>
            </a:pathLst>
          </a:custGeom>
          <a:noFill/>
          <a:ln w="38100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Hepatic portal branch outline 04"/>
          <p:cNvSpPr/>
          <p:nvPr/>
        </p:nvSpPr>
        <p:spPr>
          <a:xfrm>
            <a:off x="10429875" y="5934075"/>
            <a:ext cx="409575" cy="466725"/>
          </a:xfrm>
          <a:custGeom>
            <a:avLst/>
            <a:gdLst/>
            <a:ahLst/>
            <a:cxnLst/>
            <a:rect l="0" t="0" r="r" b="b"/>
            <a:pathLst>
              <a:path w="409575" h="466725">
                <a:moveTo>
                  <a:pt x="0" y="466725"/>
                </a:moveTo>
                <a:cubicBezTo>
                  <a:pt x="104775" y="266700"/>
                  <a:pt x="276225" y="152400"/>
                  <a:pt x="409575" y="0"/>
                </a:cubicBezTo>
              </a:path>
            </a:pathLst>
          </a:custGeom>
          <a:noFill/>
          <a:ln w="38100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Hepatic portal branch 04"/>
          <p:cNvSpPr/>
          <p:nvPr/>
        </p:nvSpPr>
        <p:spPr>
          <a:xfrm>
            <a:off x="10429875" y="5934075"/>
            <a:ext cx="409575" cy="466725"/>
          </a:xfrm>
          <a:custGeom>
            <a:avLst/>
            <a:gdLst/>
            <a:ahLst/>
            <a:cxnLst/>
            <a:rect l="0" t="0" r="r" b="b"/>
            <a:pathLst>
              <a:path w="409575" h="466725">
                <a:moveTo>
                  <a:pt x="0" y="466725"/>
                </a:moveTo>
                <a:cubicBezTo>
                  <a:pt x="104775" y="266700"/>
                  <a:pt x="276225" y="152400"/>
                  <a:pt x="409575" y="0"/>
                </a:cubicBezTo>
              </a:path>
            </a:pathLst>
          </a:custGeom>
          <a:noFill/>
          <a:ln w="28575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Hepatic portal branch outline 05"/>
          <p:cNvSpPr/>
          <p:nvPr/>
        </p:nvSpPr>
        <p:spPr>
          <a:xfrm>
            <a:off x="9210675" y="6896100"/>
            <a:ext cx="533400" cy="742950"/>
          </a:xfrm>
          <a:custGeom>
            <a:avLst/>
            <a:gdLst/>
            <a:ahLst/>
            <a:cxnLst/>
            <a:rect l="0" t="0" r="r" b="b"/>
            <a:pathLst>
              <a:path w="533400" h="742950">
                <a:moveTo>
                  <a:pt x="533400" y="0"/>
                </a:moveTo>
                <a:cubicBezTo>
                  <a:pt x="428625" y="200025"/>
                  <a:pt x="476250" y="323850"/>
                  <a:pt x="333375" y="428625"/>
                </a:cubicBezTo>
                <a:cubicBezTo>
                  <a:pt x="171450" y="533400"/>
                  <a:pt x="47625" y="590550"/>
                  <a:pt x="0" y="742950"/>
                </a:cubicBezTo>
              </a:path>
            </a:pathLst>
          </a:custGeom>
          <a:noFill/>
          <a:ln w="57150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Hepatic portal branch 05"/>
          <p:cNvSpPr/>
          <p:nvPr/>
        </p:nvSpPr>
        <p:spPr>
          <a:xfrm>
            <a:off x="9210675" y="6896100"/>
            <a:ext cx="533400" cy="742950"/>
          </a:xfrm>
          <a:custGeom>
            <a:avLst/>
            <a:gdLst/>
            <a:ahLst/>
            <a:cxnLst/>
            <a:rect l="0" t="0" r="r" b="b"/>
            <a:pathLst>
              <a:path w="533400" h="742950">
                <a:moveTo>
                  <a:pt x="533400" y="0"/>
                </a:moveTo>
                <a:cubicBezTo>
                  <a:pt x="428625" y="200025"/>
                  <a:pt x="476250" y="323850"/>
                  <a:pt x="333375" y="428625"/>
                </a:cubicBezTo>
                <a:cubicBezTo>
                  <a:pt x="171450" y="533400"/>
                  <a:pt x="47625" y="590550"/>
                  <a:pt x="0" y="742950"/>
                </a:cubicBezTo>
              </a:path>
            </a:pathLst>
          </a:custGeom>
          <a:noFill/>
          <a:ln w="47625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Hepatic portal branch outline 06"/>
          <p:cNvSpPr/>
          <p:nvPr/>
        </p:nvSpPr>
        <p:spPr>
          <a:xfrm>
            <a:off x="9696450" y="7048500"/>
            <a:ext cx="476250" cy="76200"/>
          </a:xfrm>
          <a:custGeom>
            <a:avLst/>
            <a:gdLst/>
            <a:ahLst/>
            <a:cxnLst/>
            <a:rect l="0" t="0" r="r" b="b"/>
            <a:pathLst>
              <a:path w="476250" h="76200">
                <a:moveTo>
                  <a:pt x="0" y="9525"/>
                </a:moveTo>
                <a:cubicBezTo>
                  <a:pt x="133350" y="38100"/>
                  <a:pt x="295275" y="76200"/>
                  <a:pt x="476250" y="0"/>
                </a:cubicBezTo>
              </a:path>
            </a:pathLst>
          </a:custGeom>
          <a:noFill/>
          <a:ln w="38100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Hepatic portal branch 06"/>
          <p:cNvSpPr/>
          <p:nvPr/>
        </p:nvSpPr>
        <p:spPr>
          <a:xfrm>
            <a:off x="9696450" y="7048500"/>
            <a:ext cx="476250" cy="76200"/>
          </a:xfrm>
          <a:custGeom>
            <a:avLst/>
            <a:gdLst/>
            <a:ahLst/>
            <a:cxnLst/>
            <a:rect l="0" t="0" r="r" b="b"/>
            <a:pathLst>
              <a:path w="476250" h="76200">
                <a:moveTo>
                  <a:pt x="0" y="9525"/>
                </a:moveTo>
                <a:cubicBezTo>
                  <a:pt x="133350" y="38100"/>
                  <a:pt x="295275" y="76200"/>
                  <a:pt x="476250" y="0"/>
                </a:cubicBezTo>
              </a:path>
            </a:pathLst>
          </a:custGeom>
          <a:noFill/>
          <a:ln w="28575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Hepatic portal branch outline 07"/>
          <p:cNvSpPr/>
          <p:nvPr/>
        </p:nvSpPr>
        <p:spPr>
          <a:xfrm>
            <a:off x="9601200" y="7200900"/>
            <a:ext cx="57150" cy="304800"/>
          </a:xfrm>
          <a:custGeom>
            <a:avLst/>
            <a:gdLst/>
            <a:ahLst/>
            <a:cxnLst/>
            <a:rect l="0" t="0" r="r" b="b"/>
            <a:pathLst>
              <a:path w="57150" h="304800">
                <a:moveTo>
                  <a:pt x="38100" y="0"/>
                </a:moveTo>
                <a:cubicBezTo>
                  <a:pt x="0" y="133350"/>
                  <a:pt x="9525" y="238125"/>
                  <a:pt x="57150" y="304800"/>
                </a:cubicBezTo>
              </a:path>
            </a:pathLst>
          </a:custGeom>
          <a:noFill/>
          <a:ln w="31432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Hepatic portal branch 07"/>
          <p:cNvSpPr/>
          <p:nvPr/>
        </p:nvSpPr>
        <p:spPr>
          <a:xfrm>
            <a:off x="9601200" y="7200900"/>
            <a:ext cx="57150" cy="304800"/>
          </a:xfrm>
          <a:custGeom>
            <a:avLst/>
            <a:gdLst/>
            <a:ahLst/>
            <a:cxnLst/>
            <a:rect l="0" t="0" r="r" b="b"/>
            <a:pathLst>
              <a:path w="57150" h="304800">
                <a:moveTo>
                  <a:pt x="38100" y="0"/>
                </a:moveTo>
                <a:cubicBezTo>
                  <a:pt x="0" y="133350"/>
                  <a:pt x="9525" y="238125"/>
                  <a:pt x="57150" y="304800"/>
                </a:cubicBezTo>
              </a:path>
            </a:pathLst>
          </a:custGeom>
          <a:noFill/>
          <a:ln w="21907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Hepatic portal branch outline 08"/>
          <p:cNvSpPr/>
          <p:nvPr/>
        </p:nvSpPr>
        <p:spPr>
          <a:xfrm>
            <a:off x="10544175" y="6610350"/>
            <a:ext cx="361950" cy="304800"/>
          </a:xfrm>
          <a:custGeom>
            <a:avLst/>
            <a:gdLst/>
            <a:ahLst/>
            <a:cxnLst/>
            <a:rect l="0" t="0" r="r" b="b"/>
            <a:pathLst>
              <a:path w="361950" h="304800">
                <a:moveTo>
                  <a:pt x="0" y="0"/>
                </a:moveTo>
                <a:cubicBezTo>
                  <a:pt x="171450" y="57150"/>
                  <a:pt x="257175" y="200025"/>
                  <a:pt x="361950" y="304800"/>
                </a:cubicBezTo>
              </a:path>
            </a:pathLst>
          </a:custGeom>
          <a:noFill/>
          <a:ln w="31432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Hepatic portal branch 08"/>
          <p:cNvSpPr/>
          <p:nvPr/>
        </p:nvSpPr>
        <p:spPr>
          <a:xfrm>
            <a:off x="10544175" y="6610350"/>
            <a:ext cx="361950" cy="304800"/>
          </a:xfrm>
          <a:custGeom>
            <a:avLst/>
            <a:gdLst/>
            <a:ahLst/>
            <a:cxnLst/>
            <a:rect l="0" t="0" r="r" b="b"/>
            <a:pathLst>
              <a:path w="361950" h="304800">
                <a:moveTo>
                  <a:pt x="0" y="0"/>
                </a:moveTo>
                <a:cubicBezTo>
                  <a:pt x="171450" y="57150"/>
                  <a:pt x="257175" y="200025"/>
                  <a:pt x="361950" y="304800"/>
                </a:cubicBezTo>
              </a:path>
            </a:pathLst>
          </a:custGeom>
          <a:noFill/>
          <a:ln w="21907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Hepatic portal branch outline 09"/>
          <p:cNvSpPr/>
          <p:nvPr/>
        </p:nvSpPr>
        <p:spPr>
          <a:xfrm>
            <a:off x="10734675" y="6600825"/>
            <a:ext cx="314325" cy="85725"/>
          </a:xfrm>
          <a:custGeom>
            <a:avLst/>
            <a:gdLst/>
            <a:ahLst/>
            <a:cxnLst/>
            <a:rect l="0" t="0" r="r" b="b"/>
            <a:pathLst>
              <a:path w="314325" h="85725">
                <a:moveTo>
                  <a:pt x="0" y="47625"/>
                </a:moveTo>
                <a:cubicBezTo>
                  <a:pt x="161925" y="85725"/>
                  <a:pt x="257175" y="66675"/>
                  <a:pt x="314325" y="0"/>
                </a:cubicBezTo>
              </a:path>
            </a:pathLst>
          </a:custGeom>
          <a:noFill/>
          <a:ln w="25717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Hepatic portal branch 09"/>
          <p:cNvSpPr/>
          <p:nvPr/>
        </p:nvSpPr>
        <p:spPr>
          <a:xfrm>
            <a:off x="10734675" y="6600825"/>
            <a:ext cx="314325" cy="85725"/>
          </a:xfrm>
          <a:custGeom>
            <a:avLst/>
            <a:gdLst/>
            <a:ahLst/>
            <a:cxnLst/>
            <a:rect l="0" t="0" r="r" b="b"/>
            <a:pathLst>
              <a:path w="314325" h="85725">
                <a:moveTo>
                  <a:pt x="0" y="47625"/>
                </a:moveTo>
                <a:cubicBezTo>
                  <a:pt x="161925" y="85725"/>
                  <a:pt x="257175" y="66675"/>
                  <a:pt x="314325" y="0"/>
                </a:cubicBezTo>
              </a:path>
            </a:pathLst>
          </a:custGeom>
          <a:noFill/>
          <a:ln w="16192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Hepatic portal branch outline 10"/>
          <p:cNvSpPr/>
          <p:nvPr/>
        </p:nvSpPr>
        <p:spPr>
          <a:xfrm>
            <a:off x="9753600" y="5943600"/>
            <a:ext cx="180975" cy="295275"/>
          </a:xfrm>
          <a:custGeom>
            <a:avLst/>
            <a:gdLst/>
            <a:ahLst/>
            <a:cxnLst/>
            <a:rect l="0" t="0" r="r" b="b"/>
            <a:pathLst>
              <a:path w="180975" h="295275">
                <a:moveTo>
                  <a:pt x="180975" y="295275"/>
                </a:moveTo>
                <a:cubicBezTo>
                  <a:pt x="85725" y="171450"/>
                  <a:pt x="28575" y="104775"/>
                  <a:pt x="0" y="0"/>
                </a:cubicBezTo>
              </a:path>
            </a:pathLst>
          </a:custGeom>
          <a:noFill/>
          <a:ln w="26669" cap="rnd">
            <a:solidFill>
              <a:srgbClr val="B86F6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Hepatic portal branch 10"/>
          <p:cNvSpPr/>
          <p:nvPr/>
        </p:nvSpPr>
        <p:spPr>
          <a:xfrm>
            <a:off x="9753600" y="5943600"/>
            <a:ext cx="180975" cy="295275"/>
          </a:xfrm>
          <a:custGeom>
            <a:avLst/>
            <a:gdLst/>
            <a:ahLst/>
            <a:cxnLst/>
            <a:rect l="0" t="0" r="r" b="b"/>
            <a:pathLst>
              <a:path w="180975" h="295275">
                <a:moveTo>
                  <a:pt x="180975" y="295275"/>
                </a:moveTo>
                <a:cubicBezTo>
                  <a:pt x="85725" y="171450"/>
                  <a:pt x="28575" y="104775"/>
                  <a:pt x="0" y="0"/>
                </a:cubicBezTo>
              </a:path>
            </a:pathLst>
          </a:custGeom>
          <a:noFill/>
          <a:ln w="17145" cap="rnd">
            <a:solidFill>
              <a:srgbClr val="D7858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Metabolite absorption"/>
          <p:cNvSpPr/>
          <p:nvPr/>
        </p:nvSpPr>
        <p:spPr>
          <a:xfrm>
            <a:off x="3033712" y="2800350"/>
            <a:ext cx="95" cy="3590925"/>
          </a:xfrm>
          <a:custGeom>
            <a:avLst/>
            <a:gdLst/>
            <a:ahLst/>
            <a:cxnLst/>
            <a:rect l="0" t="0" r="r" b="b"/>
            <a:pathLst>
              <a:path w="95" h="3590925">
                <a:moveTo>
                  <a:pt x="0" y="0"/>
                </a:moveTo>
                <a:lnTo>
                  <a:pt x="0" y="3590925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Metabolite absorption_head"/>
          <p:cNvSpPr/>
          <p:nvPr/>
        </p:nvSpPr>
        <p:spPr>
          <a:xfrm>
            <a:off x="2955893" y="621030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Metabolite absorption"/>
          <p:cNvSpPr/>
          <p:nvPr/>
        </p:nvSpPr>
        <p:spPr>
          <a:xfrm>
            <a:off x="4600575" y="2867025"/>
            <a:ext cx="95" cy="3524250"/>
          </a:xfrm>
          <a:custGeom>
            <a:avLst/>
            <a:gdLst/>
            <a:ahLst/>
            <a:cxnLst/>
            <a:rect l="0" t="0" r="r" b="b"/>
            <a:pathLst>
              <a:path w="95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Metabolite absorption_head"/>
          <p:cNvSpPr/>
          <p:nvPr/>
        </p:nvSpPr>
        <p:spPr>
          <a:xfrm>
            <a:off x="4522756" y="621030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Metabolite absorption"/>
          <p:cNvSpPr/>
          <p:nvPr/>
        </p:nvSpPr>
        <p:spPr>
          <a:xfrm>
            <a:off x="6124575" y="2876550"/>
            <a:ext cx="95" cy="3514725"/>
          </a:xfrm>
          <a:custGeom>
            <a:avLst/>
            <a:gdLst/>
            <a:ahLst/>
            <a:cxnLst/>
            <a:rect l="0" t="0" r="r" b="b"/>
            <a:pathLst>
              <a:path w="95" h="3514725">
                <a:moveTo>
                  <a:pt x="0" y="0"/>
                </a:moveTo>
                <a:lnTo>
                  <a:pt x="0" y="3514725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Metabolite absorption_head"/>
          <p:cNvSpPr/>
          <p:nvPr/>
        </p:nvSpPr>
        <p:spPr>
          <a:xfrm>
            <a:off x="6046756" y="621030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Metabolite absorption"/>
          <p:cNvSpPr/>
          <p:nvPr/>
        </p:nvSpPr>
        <p:spPr>
          <a:xfrm>
            <a:off x="7848600" y="2838450"/>
            <a:ext cx="95" cy="3552825"/>
          </a:xfrm>
          <a:custGeom>
            <a:avLst/>
            <a:gdLst/>
            <a:ahLst/>
            <a:cxnLst/>
            <a:rect l="0" t="0" r="r" b="b"/>
            <a:pathLst>
              <a:path w="95" h="3552825">
                <a:moveTo>
                  <a:pt x="0" y="0"/>
                </a:moveTo>
                <a:lnTo>
                  <a:pt x="0" y="3552825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Metabolite absorption_head"/>
          <p:cNvSpPr/>
          <p:nvPr/>
        </p:nvSpPr>
        <p:spPr>
          <a:xfrm>
            <a:off x="7770781" y="621030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TMA synthesis"/>
          <p:cNvSpPr/>
          <p:nvPr/>
        </p:nvSpPr>
        <p:spPr>
          <a:xfrm>
            <a:off x="7486650" y="2505075"/>
            <a:ext cx="104775" cy="95"/>
          </a:xfrm>
          <a:custGeom>
            <a:avLst/>
            <a:gdLst/>
            <a:ahLst/>
            <a:cxnLst/>
            <a:rect l="0" t="0" r="r" b="b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8097" cap="rnd">
            <a:solidFill>
              <a:srgbClr val="C76A0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TMA synthesis_head"/>
          <p:cNvSpPr/>
          <p:nvPr/>
        </p:nvSpPr>
        <p:spPr>
          <a:xfrm>
            <a:off x="7524750" y="2476405"/>
            <a:ext cx="66675" cy="57340"/>
          </a:xfrm>
          <a:custGeom>
            <a:avLst/>
            <a:gdLst/>
            <a:ahLst/>
            <a:cxnLst/>
            <a:rect l="0" t="0" r="r" b="b"/>
            <a:pathLst>
              <a:path w="66675" h="57340">
                <a:moveTo>
                  <a:pt x="66675" y="28670"/>
                </a:moveTo>
                <a:lnTo>
                  <a:pt x="0" y="57340"/>
                </a:lnTo>
                <a:lnTo>
                  <a:pt x="0" y="0"/>
                </a:lnTo>
                <a:close/>
              </a:path>
            </a:pathLst>
          </a:custGeom>
          <a:solidFill>
            <a:srgbClr val="C76A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Portal circulation"/>
          <p:cNvSpPr/>
          <p:nvPr/>
        </p:nvSpPr>
        <p:spPr>
          <a:xfrm>
            <a:off x="7000875" y="7477125"/>
            <a:ext cx="1971675" cy="95"/>
          </a:xfrm>
          <a:custGeom>
            <a:avLst/>
            <a:gdLst/>
            <a:ahLst/>
            <a:cxnLst/>
            <a:rect l="0" t="0" r="r" b="b"/>
            <a:pathLst>
              <a:path w="1971675" h="9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/>
          <a:ln w="38100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Portal circulation_head"/>
          <p:cNvSpPr/>
          <p:nvPr/>
        </p:nvSpPr>
        <p:spPr>
          <a:xfrm>
            <a:off x="8791575" y="7399306"/>
            <a:ext cx="180975" cy="155638"/>
          </a:xfrm>
          <a:custGeom>
            <a:avLst/>
            <a:gdLst/>
            <a:ahLst/>
            <a:cxnLst/>
            <a:rect l="0" t="0" r="r" b="b"/>
            <a:pathLst>
              <a:path w="180975" h="155638">
                <a:moveTo>
                  <a:pt x="180975" y="77819"/>
                </a:moveTo>
                <a:lnTo>
                  <a:pt x="0" y="155638"/>
                </a:lnTo>
                <a:lnTo>
                  <a:pt x="0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Lymphatic capillary"/>
          <p:cNvSpPr/>
          <p:nvPr/>
        </p:nvSpPr>
        <p:spPr>
          <a:xfrm>
            <a:off x="10648950" y="48672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DF0EC"/>
          </a:solidFill>
          <a:ln w="20955">
            <a:solidFill>
              <a:srgbClr val="559D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Lymphatic route"/>
          <p:cNvSpPr/>
          <p:nvPr/>
        </p:nvSpPr>
        <p:spPr>
          <a:xfrm>
            <a:off x="9344025" y="4676775"/>
            <a:ext cx="4086225" cy="1514475"/>
          </a:xfrm>
          <a:custGeom>
            <a:avLst/>
            <a:gdLst/>
            <a:ahLst/>
            <a:cxnLst/>
            <a:rect l="0" t="0" r="r" b="b"/>
            <a:pathLst>
              <a:path w="4086225" h="1514475">
                <a:moveTo>
                  <a:pt x="0" y="0"/>
                </a:moveTo>
                <a:cubicBezTo>
                  <a:pt x="0" y="257175"/>
                  <a:pt x="600075" y="304800"/>
                  <a:pt x="1323975" y="323850"/>
                </a:cubicBezTo>
                <a:cubicBezTo>
                  <a:pt x="2971800" y="323850"/>
                  <a:pt x="3733800" y="542925"/>
                  <a:pt x="4086225" y="1514475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Lymphatic arrival"/>
          <p:cNvSpPr/>
          <p:nvPr/>
        </p:nvSpPr>
        <p:spPr>
          <a:xfrm>
            <a:off x="13354050" y="6000750"/>
            <a:ext cx="76200" cy="190500"/>
          </a:xfrm>
          <a:custGeom>
            <a:avLst/>
            <a:gdLst/>
            <a:ahLst/>
            <a:cxnLst/>
            <a:rect l="0" t="0" r="r" b="b"/>
            <a:pathLst>
              <a:path w="76200" h="190500">
                <a:moveTo>
                  <a:pt x="0" y="0"/>
                </a:moveTo>
                <a:lnTo>
                  <a:pt x="76200" y="190500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Lymphatic arrival_head"/>
          <p:cNvSpPr/>
          <p:nvPr/>
        </p:nvSpPr>
        <p:spPr>
          <a:xfrm>
            <a:off x="13320145" y="6035777"/>
            <a:ext cx="114084" cy="155473"/>
          </a:xfrm>
          <a:custGeom>
            <a:avLst/>
            <a:gdLst/>
            <a:ahLst/>
            <a:cxnLst/>
            <a:rect l="0" t="0" r="r" b="b"/>
            <a:pathLst>
              <a:path w="114084" h="155473">
                <a:moveTo>
                  <a:pt x="110105" y="155473"/>
                </a:moveTo>
                <a:lnTo>
                  <a:pt x="0" y="45634"/>
                </a:lnTo>
                <a:lnTo>
                  <a:pt x="114084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LPS portal route"/>
          <p:cNvSpPr/>
          <p:nvPr/>
        </p:nvSpPr>
        <p:spPr>
          <a:xfrm>
            <a:off x="8982075" y="2647950"/>
            <a:ext cx="371475" cy="3886200"/>
          </a:xfrm>
          <a:custGeom>
            <a:avLst/>
            <a:gdLst/>
            <a:ahLst/>
            <a:cxnLst/>
            <a:rect l="0" t="0" r="r" b="b"/>
            <a:pathLst>
              <a:path w="371475" h="3886200">
                <a:moveTo>
                  <a:pt x="361950" y="0"/>
                </a:moveTo>
                <a:lnTo>
                  <a:pt x="361950" y="2028825"/>
                </a:lnTo>
                <a:cubicBezTo>
                  <a:pt x="371475" y="2600325"/>
                  <a:pt x="257175" y="3295650"/>
                  <a:pt x="0" y="3886200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Portal arrival"/>
          <p:cNvSpPr/>
          <p:nvPr/>
        </p:nvSpPr>
        <p:spPr>
          <a:xfrm>
            <a:off x="8982075" y="6372225"/>
            <a:ext cx="66675" cy="161925"/>
          </a:xfrm>
          <a:custGeom>
            <a:avLst/>
            <a:gdLst/>
            <a:ahLst/>
            <a:cxnLst/>
            <a:rect l="0" t="0" r="r" b="b"/>
            <a:pathLst>
              <a:path w="66675" h="161925">
                <a:moveTo>
                  <a:pt x="66675" y="0"/>
                </a:moveTo>
                <a:lnTo>
                  <a:pt x="0" y="161925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Portal arrival_head"/>
          <p:cNvSpPr/>
          <p:nvPr/>
        </p:nvSpPr>
        <p:spPr>
          <a:xfrm>
            <a:off x="8979666" y="6378645"/>
            <a:ext cx="113618" cy="155505"/>
          </a:xfrm>
          <a:custGeom>
            <a:avLst/>
            <a:gdLst/>
            <a:ahLst/>
            <a:cxnLst/>
            <a:rect l="0" t="0" r="r" b="b"/>
            <a:pathLst>
              <a:path w="113618" h="155505">
                <a:moveTo>
                  <a:pt x="2409" y="155505"/>
                </a:moveTo>
                <a:lnTo>
                  <a:pt x="0" y="0"/>
                </a:lnTo>
                <a:lnTo>
                  <a:pt x="113618" y="46784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PG apical uptake"/>
          <p:cNvSpPr/>
          <p:nvPr/>
        </p:nvSpPr>
        <p:spPr>
          <a:xfrm>
            <a:off x="11287125" y="2724150"/>
            <a:ext cx="95" cy="381000"/>
          </a:xfrm>
          <a:custGeom>
            <a:avLst/>
            <a:gdLst/>
            <a:ahLst/>
            <a:cxnLst/>
            <a:rect l="0" t="0" r="r" b="b"/>
            <a:pathLst>
              <a:path w="9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PG apical uptake_head"/>
          <p:cNvSpPr/>
          <p:nvPr/>
        </p:nvSpPr>
        <p:spPr>
          <a:xfrm>
            <a:off x="11233880" y="29813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PG basal transfer"/>
          <p:cNvSpPr/>
          <p:nvPr/>
        </p:nvSpPr>
        <p:spPr>
          <a:xfrm>
            <a:off x="11287125" y="3867150"/>
            <a:ext cx="95" cy="685800"/>
          </a:xfrm>
          <a:custGeom>
            <a:avLst/>
            <a:gdLst/>
            <a:ahLst/>
            <a:cxnLst/>
            <a:rect l="0" t="0" r="r" b="b"/>
            <a:pathLst>
              <a:path w="9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PG basal transfer_head"/>
          <p:cNvSpPr/>
          <p:nvPr/>
        </p:nvSpPr>
        <p:spPr>
          <a:xfrm>
            <a:off x="11233880" y="44291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FMO3 conversion"/>
          <p:cNvSpPr/>
          <p:nvPr/>
        </p:nvSpPr>
        <p:spPr>
          <a:xfrm>
            <a:off x="10210800" y="7096125"/>
            <a:ext cx="657225" cy="95"/>
          </a:xfrm>
          <a:custGeom>
            <a:avLst/>
            <a:gdLst/>
            <a:ahLst/>
            <a:cxnLst/>
            <a:rect l="0" t="0" r="r" b="b"/>
            <a:pathLst>
              <a:path w="657225" h="9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/>
          <a:ln w="3524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FMO3 conversion_head"/>
          <p:cNvSpPr/>
          <p:nvPr/>
        </p:nvSpPr>
        <p:spPr>
          <a:xfrm>
            <a:off x="10725150" y="7034689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Hepatic outflow"/>
          <p:cNvSpPr/>
          <p:nvPr/>
        </p:nvSpPr>
        <p:spPr>
          <a:xfrm>
            <a:off x="11830050" y="7086600"/>
            <a:ext cx="1381125" cy="95"/>
          </a:xfrm>
          <a:custGeom>
            <a:avLst/>
            <a:gdLst/>
            <a:ahLst/>
            <a:cxnLst/>
            <a:rect l="0" t="0" r="r" b="b"/>
            <a:pathLst>
              <a:path w="1381125" h="9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/>
          <a:ln w="3905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Hepatic outflow_head"/>
          <p:cNvSpPr/>
          <p:nvPr/>
        </p:nvSpPr>
        <p:spPr>
          <a:xfrm>
            <a:off x="13068300" y="7025164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luminal_commensals_component_path_1"/>
          <p:cNvSpPr/>
          <p:nvPr/>
        </p:nvSpPr>
        <p:spPr>
          <a:xfrm>
            <a:off x="617568" y="2340526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0132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luminal_commensals_component_path_2"/>
          <p:cNvSpPr/>
          <p:nvPr/>
        </p:nvSpPr>
        <p:spPr>
          <a:xfrm>
            <a:off x="633667" y="2353573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luminal_commensals_component_path_3"/>
          <p:cNvSpPr/>
          <p:nvPr/>
        </p:nvSpPr>
        <p:spPr>
          <a:xfrm>
            <a:off x="683741" y="2389390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luminal_commensals_component_oval_4"/>
          <p:cNvSpPr/>
          <p:nvPr/>
        </p:nvSpPr>
        <p:spPr>
          <a:xfrm>
            <a:off x="695609" y="245877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luminal_commensals_component_oval_5"/>
          <p:cNvSpPr/>
          <p:nvPr/>
        </p:nvSpPr>
        <p:spPr>
          <a:xfrm>
            <a:off x="783162" y="242621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luminal_commensals_component_oval_6"/>
          <p:cNvSpPr/>
          <p:nvPr/>
        </p:nvSpPr>
        <p:spPr>
          <a:xfrm>
            <a:off x="816987" y="238238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luminal_commensals_component_oval_7"/>
          <p:cNvSpPr/>
          <p:nvPr/>
        </p:nvSpPr>
        <p:spPr>
          <a:xfrm>
            <a:off x="705727" y="2411813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luminal_commensals_component_oval_8"/>
          <p:cNvSpPr/>
          <p:nvPr/>
        </p:nvSpPr>
        <p:spPr>
          <a:xfrm>
            <a:off x="621810" y="2417361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luminal_commensals_component_oval_9"/>
          <p:cNvSpPr/>
          <p:nvPr/>
        </p:nvSpPr>
        <p:spPr>
          <a:xfrm>
            <a:off x="719341" y="2376212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luminal_commensals_component_oval_10"/>
          <p:cNvSpPr/>
          <p:nvPr/>
        </p:nvSpPr>
        <p:spPr>
          <a:xfrm>
            <a:off x="804681" y="2340207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luminal_commensals_component_path_11"/>
          <p:cNvSpPr/>
          <p:nvPr/>
        </p:nvSpPr>
        <p:spPr>
          <a:xfrm>
            <a:off x="962944" y="2369087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0132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luminal_commensals_component_path_12"/>
          <p:cNvSpPr/>
          <p:nvPr/>
        </p:nvSpPr>
        <p:spPr>
          <a:xfrm>
            <a:off x="979043" y="2382134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luminal_commensals_component_path_13"/>
          <p:cNvSpPr/>
          <p:nvPr/>
        </p:nvSpPr>
        <p:spPr>
          <a:xfrm>
            <a:off x="1029117" y="2417951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luminal_commensals_component_oval_14"/>
          <p:cNvSpPr/>
          <p:nvPr/>
        </p:nvSpPr>
        <p:spPr>
          <a:xfrm>
            <a:off x="1040985" y="248733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luminal_commensals_component_oval_15"/>
          <p:cNvSpPr/>
          <p:nvPr/>
        </p:nvSpPr>
        <p:spPr>
          <a:xfrm>
            <a:off x="1128538" y="245477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luminal_commensals_component_oval_16"/>
          <p:cNvSpPr/>
          <p:nvPr/>
        </p:nvSpPr>
        <p:spPr>
          <a:xfrm>
            <a:off x="1162364" y="2410948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luminal_commensals_component_oval_17"/>
          <p:cNvSpPr/>
          <p:nvPr/>
        </p:nvSpPr>
        <p:spPr>
          <a:xfrm>
            <a:off x="1051103" y="2440373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luminal_commensals_component_oval_18"/>
          <p:cNvSpPr/>
          <p:nvPr/>
        </p:nvSpPr>
        <p:spPr>
          <a:xfrm>
            <a:off x="967187" y="2445922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luminal_commensals_component_oval_19"/>
          <p:cNvSpPr/>
          <p:nvPr/>
        </p:nvSpPr>
        <p:spPr>
          <a:xfrm>
            <a:off x="1064718" y="2404773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luminal_commensals_component_oval_20"/>
          <p:cNvSpPr/>
          <p:nvPr/>
        </p:nvSpPr>
        <p:spPr>
          <a:xfrm>
            <a:off x="1150057" y="2368768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luminal_commensals_component_path_21"/>
          <p:cNvSpPr/>
          <p:nvPr/>
        </p:nvSpPr>
        <p:spPr>
          <a:xfrm>
            <a:off x="620496" y="2643877"/>
            <a:ext cx="254433" cy="144865"/>
          </a:xfrm>
          <a:custGeom>
            <a:avLst/>
            <a:gdLst/>
            <a:ahLst/>
            <a:cxnLst/>
            <a:rect l="0" t="0" r="r" b="b"/>
            <a:pathLst>
              <a:path w="254433" h="144865">
                <a:moveTo>
                  <a:pt x="88170" y="9195"/>
                </a:moveTo>
                <a:lnTo>
                  <a:pt x="207351" y="44451"/>
                </a:lnTo>
                <a:cubicBezTo>
                  <a:pt x="238433" y="53646"/>
                  <a:pt x="254433" y="81520"/>
                  <a:pt x="243087" y="106709"/>
                </a:cubicBezTo>
                <a:cubicBezTo>
                  <a:pt x="231741" y="131899"/>
                  <a:pt x="197346" y="144865"/>
                  <a:pt x="166263" y="135670"/>
                </a:cubicBezTo>
                <a:lnTo>
                  <a:pt x="47082" y="100414"/>
                </a:lnTo>
                <a:cubicBezTo>
                  <a:pt x="16000" y="91219"/>
                  <a:pt x="0" y="63345"/>
                  <a:pt x="11346" y="38156"/>
                </a:cubicBezTo>
                <a:cubicBezTo>
                  <a:pt x="22692" y="12966"/>
                  <a:pt x="57087" y="0"/>
                  <a:pt x="88170" y="9195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0132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luminal_commensals_component_path_22"/>
          <p:cNvSpPr/>
          <p:nvPr/>
        </p:nvSpPr>
        <p:spPr>
          <a:xfrm>
            <a:off x="636408" y="2656773"/>
            <a:ext cx="222609" cy="119075"/>
          </a:xfrm>
          <a:custGeom>
            <a:avLst/>
            <a:gdLst/>
            <a:ahLst/>
            <a:cxnLst/>
            <a:rect l="0" t="0" r="r" b="b"/>
            <a:pathLst>
              <a:path w="222609" h="119075">
                <a:moveTo>
                  <a:pt x="67424" y="7031"/>
                </a:moveTo>
                <a:lnTo>
                  <a:pt x="186605" y="42288"/>
                </a:lnTo>
                <a:cubicBezTo>
                  <a:pt x="210374" y="49319"/>
                  <a:pt x="222609" y="70634"/>
                  <a:pt x="213933" y="89897"/>
                </a:cubicBezTo>
                <a:cubicBezTo>
                  <a:pt x="205256" y="109159"/>
                  <a:pt x="178954" y="119075"/>
                  <a:pt x="155185" y="112043"/>
                </a:cubicBezTo>
                <a:lnTo>
                  <a:pt x="36004" y="76787"/>
                </a:lnTo>
                <a:cubicBezTo>
                  <a:pt x="12235" y="69756"/>
                  <a:pt x="0" y="48440"/>
                  <a:pt x="8676" y="29178"/>
                </a:cubicBezTo>
                <a:cubicBezTo>
                  <a:pt x="17353" y="9915"/>
                  <a:pt x="43655" y="0"/>
                  <a:pt x="67424" y="7031"/>
                </a:cubicBezTo>
                <a:close/>
              </a:path>
            </a:pathLst>
          </a:custGeom>
          <a:noFill/>
          <a:ln w="5726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luminal_commensals_component_path_23"/>
          <p:cNvSpPr/>
          <p:nvPr/>
        </p:nvSpPr>
        <p:spPr>
          <a:xfrm>
            <a:off x="705506" y="2675913"/>
            <a:ext cx="81109" cy="23994"/>
          </a:xfrm>
          <a:custGeom>
            <a:avLst/>
            <a:gdLst/>
            <a:ahLst/>
            <a:cxnLst/>
            <a:rect l="0" t="0" r="r" b="b"/>
            <a:pathLst>
              <a:path w="81109" h="23994">
                <a:moveTo>
                  <a:pt x="0" y="0"/>
                </a:moveTo>
                <a:lnTo>
                  <a:pt x="81109" y="23994"/>
                </a:lnTo>
              </a:path>
            </a:pathLst>
          </a:custGeom>
          <a:noFill/>
          <a:ln w="11453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luminal_commensals_component_oval_24"/>
          <p:cNvSpPr/>
          <p:nvPr/>
        </p:nvSpPr>
        <p:spPr>
          <a:xfrm>
            <a:off x="676155" y="2708054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luminal_commensals_component_oval_25"/>
          <p:cNvSpPr/>
          <p:nvPr/>
        </p:nvSpPr>
        <p:spPr>
          <a:xfrm>
            <a:off x="755621" y="2735697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luminal_commensals_component_oval_26"/>
          <p:cNvSpPr/>
          <p:nvPr/>
        </p:nvSpPr>
        <p:spPr>
          <a:xfrm>
            <a:off x="813062" y="2724779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luminal_commensals_component_oval_27"/>
          <p:cNvSpPr/>
          <p:nvPr/>
        </p:nvSpPr>
        <p:spPr>
          <a:xfrm>
            <a:off x="722305" y="2681391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luminal_commensals_component_oval_28"/>
          <p:cNvSpPr/>
          <p:nvPr/>
        </p:nvSpPr>
        <p:spPr>
          <a:xfrm>
            <a:off x="667807" y="2637567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luminal_commensals_component_oval_29"/>
          <p:cNvSpPr/>
          <p:nvPr/>
        </p:nvSpPr>
        <p:spPr>
          <a:xfrm>
            <a:off x="760503" y="2664988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luminal_commensals_component_oval_30"/>
          <p:cNvSpPr/>
          <p:nvPr/>
        </p:nvSpPr>
        <p:spPr>
          <a:xfrm>
            <a:off x="841612" y="2688982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luminal_commensals_component_path_31"/>
          <p:cNvSpPr/>
          <p:nvPr/>
        </p:nvSpPr>
        <p:spPr>
          <a:xfrm>
            <a:off x="975448" y="2642833"/>
            <a:ext cx="249379" cy="158378"/>
          </a:xfrm>
          <a:custGeom>
            <a:avLst/>
            <a:gdLst/>
            <a:ahLst/>
            <a:cxnLst/>
            <a:rect l="0" t="0" r="r" b="b"/>
            <a:pathLst>
              <a:path w="249379" h="158378">
                <a:moveTo>
                  <a:pt x="40755" y="59862"/>
                </a:moveTo>
                <a:lnTo>
                  <a:pt x="153291" y="12383"/>
                </a:lnTo>
                <a:cubicBezTo>
                  <a:pt x="182640" y="0"/>
                  <a:pt x="218819" y="9243"/>
                  <a:pt x="234099" y="33028"/>
                </a:cubicBezTo>
                <a:cubicBezTo>
                  <a:pt x="249379" y="56813"/>
                  <a:pt x="237973" y="86133"/>
                  <a:pt x="208623" y="98516"/>
                </a:cubicBezTo>
                <a:lnTo>
                  <a:pt x="96088" y="145995"/>
                </a:lnTo>
                <a:cubicBezTo>
                  <a:pt x="66738" y="158378"/>
                  <a:pt x="30559" y="149134"/>
                  <a:pt x="15280" y="125349"/>
                </a:cubicBezTo>
                <a:cubicBezTo>
                  <a:pt x="0" y="101565"/>
                  <a:pt x="11406" y="72245"/>
                  <a:pt x="40755" y="59862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0132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luminal_commensals_component_path_32"/>
          <p:cNvSpPr/>
          <p:nvPr/>
        </p:nvSpPr>
        <p:spPr>
          <a:xfrm>
            <a:off x="991547" y="2655880"/>
            <a:ext cx="217180" cy="132284"/>
          </a:xfrm>
          <a:custGeom>
            <a:avLst/>
            <a:gdLst/>
            <a:ahLst/>
            <a:cxnLst/>
            <a:rect l="0" t="0" r="r" b="b"/>
            <a:pathLst>
              <a:path w="217180" h="132284">
                <a:moveTo>
                  <a:pt x="31166" y="56949"/>
                </a:moveTo>
                <a:lnTo>
                  <a:pt x="143702" y="9469"/>
                </a:lnTo>
                <a:cubicBezTo>
                  <a:pt x="166145" y="0"/>
                  <a:pt x="193811" y="7068"/>
                  <a:pt x="205496" y="25257"/>
                </a:cubicBezTo>
                <a:cubicBezTo>
                  <a:pt x="217180" y="43445"/>
                  <a:pt x="208458" y="65866"/>
                  <a:pt x="186015" y="75335"/>
                </a:cubicBezTo>
                <a:lnTo>
                  <a:pt x="73479" y="122815"/>
                </a:lnTo>
                <a:cubicBezTo>
                  <a:pt x="51035" y="132284"/>
                  <a:pt x="23369" y="125216"/>
                  <a:pt x="11684" y="107027"/>
                </a:cubicBezTo>
                <a:cubicBezTo>
                  <a:pt x="0" y="88839"/>
                  <a:pt x="8722" y="66418"/>
                  <a:pt x="31166" y="56949"/>
                </a:cubicBezTo>
                <a:close/>
              </a:path>
            </a:pathLst>
          </a:custGeom>
          <a:noFill/>
          <a:ln w="5726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luminal_commensals_component_path_33"/>
          <p:cNvSpPr/>
          <p:nvPr/>
        </p:nvSpPr>
        <p:spPr>
          <a:xfrm>
            <a:off x="1034869" y="2687688"/>
            <a:ext cx="76587" cy="32312"/>
          </a:xfrm>
          <a:custGeom>
            <a:avLst/>
            <a:gdLst/>
            <a:ahLst/>
            <a:cxnLst/>
            <a:rect l="0" t="0" r="r" b="b"/>
            <a:pathLst>
              <a:path w="76587" h="32312">
                <a:moveTo>
                  <a:pt x="0" y="32312"/>
                </a:moveTo>
                <a:lnTo>
                  <a:pt x="76587" y="0"/>
                </a:lnTo>
              </a:path>
            </a:pathLst>
          </a:custGeom>
          <a:noFill/>
          <a:ln w="11453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luminal_commensals_component_oval_34"/>
          <p:cNvSpPr/>
          <p:nvPr/>
        </p:nvSpPr>
        <p:spPr>
          <a:xfrm>
            <a:off x="1047237" y="2753172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luminal_commensals_component_oval_35"/>
          <p:cNvSpPr/>
          <p:nvPr/>
        </p:nvSpPr>
        <p:spPr>
          <a:xfrm>
            <a:off x="1126037" y="272430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luminal_commensals_component_oval_36"/>
          <p:cNvSpPr/>
          <p:nvPr/>
        </p:nvSpPr>
        <p:spPr>
          <a:xfrm>
            <a:off x="1154862" y="268258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luminal_commensals_component_oval_37"/>
          <p:cNvSpPr/>
          <p:nvPr/>
        </p:nvSpPr>
        <p:spPr>
          <a:xfrm>
            <a:off x="1054104" y="2707578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luminal_commensals_component_oval_38"/>
          <p:cNvSpPr/>
          <p:nvPr/>
        </p:nvSpPr>
        <p:spPr>
          <a:xfrm>
            <a:off x="977190" y="2710172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luminal_commensals_component_oval_39"/>
          <p:cNvSpPr/>
          <p:nvPr/>
        </p:nvSpPr>
        <p:spPr>
          <a:xfrm>
            <a:off x="1064718" y="2673244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luminal_commensals_component_oval_40"/>
          <p:cNvSpPr/>
          <p:nvPr/>
        </p:nvSpPr>
        <p:spPr>
          <a:xfrm>
            <a:off x="1141305" y="2640931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scfa_lumen_component_path_1"/>
          <p:cNvSpPr/>
          <p:nvPr/>
        </p:nvSpPr>
        <p:spPr>
          <a:xfrm>
            <a:off x="2751611" y="2557462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scfa_lumen_component_path_2"/>
          <p:cNvSpPr/>
          <p:nvPr/>
        </p:nvSpPr>
        <p:spPr>
          <a:xfrm>
            <a:off x="2751611" y="2551519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scfa_lumen_component_path_3"/>
          <p:cNvSpPr/>
          <p:nvPr/>
        </p:nvSpPr>
        <p:spPr>
          <a:xfrm>
            <a:off x="3025073" y="2557462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scfa_lumen_component_path_4"/>
          <p:cNvSpPr/>
          <p:nvPr/>
        </p:nvSpPr>
        <p:spPr>
          <a:xfrm>
            <a:off x="3025073" y="2551519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scfa_lumen_component_oval_5"/>
          <p:cNvSpPr/>
          <p:nvPr/>
        </p:nvSpPr>
        <p:spPr>
          <a:xfrm>
            <a:off x="2618525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scfa_lumen_component_oval_6"/>
          <p:cNvSpPr/>
          <p:nvPr/>
        </p:nvSpPr>
        <p:spPr>
          <a:xfrm>
            <a:off x="2678687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scfa_lumen_component_oval_7"/>
          <p:cNvSpPr/>
          <p:nvPr/>
        </p:nvSpPr>
        <p:spPr>
          <a:xfrm>
            <a:off x="2891988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scfa_lumen_component_oval_8"/>
          <p:cNvSpPr/>
          <p:nvPr/>
        </p:nvSpPr>
        <p:spPr>
          <a:xfrm>
            <a:off x="2952150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scfa_lumen_component_oval_9"/>
          <p:cNvSpPr/>
          <p:nvPr/>
        </p:nvSpPr>
        <p:spPr>
          <a:xfrm>
            <a:off x="3174566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scfa_lumen_component_oval_10"/>
          <p:cNvSpPr/>
          <p:nvPr/>
        </p:nvSpPr>
        <p:spPr>
          <a:xfrm>
            <a:off x="3234728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secondary_ba_lumen_component_path_1"/>
          <p:cNvSpPr/>
          <p:nvPr/>
        </p:nvSpPr>
        <p:spPr>
          <a:xfrm>
            <a:off x="4242279" y="2552063"/>
            <a:ext cx="185397" cy="222808"/>
          </a:xfrm>
          <a:custGeom>
            <a:avLst/>
            <a:gdLst/>
            <a:ahLst/>
            <a:cxnLst/>
            <a:rect l="0" t="0" r="r" b="b"/>
            <a:pathLst>
              <a:path w="185397" h="222808">
                <a:moveTo>
                  <a:pt x="0" y="56887"/>
                </a:moveTo>
                <a:lnTo>
                  <a:pt x="96132" y="0"/>
                </a:lnTo>
                <a:lnTo>
                  <a:pt x="185397" y="56887"/>
                </a:lnTo>
                <a:lnTo>
                  <a:pt x="185397" y="165921"/>
                </a:lnTo>
                <a:lnTo>
                  <a:pt x="96132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secondary_ba_lumen_component_path_2"/>
          <p:cNvSpPr/>
          <p:nvPr/>
        </p:nvSpPr>
        <p:spPr>
          <a:xfrm>
            <a:off x="4252309" y="2563350"/>
            <a:ext cx="86102" cy="52937"/>
          </a:xfrm>
          <a:custGeom>
            <a:avLst/>
            <a:gdLst/>
            <a:ahLst/>
            <a:cxnLst/>
            <a:rect l="0" t="0" r="r" b="b"/>
            <a:pathLst>
              <a:path w="86102" h="52937">
                <a:moveTo>
                  <a:pt x="0" y="52937"/>
                </a:moveTo>
                <a:lnTo>
                  <a:pt x="861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secondary_ba_lumen_component_path_3"/>
          <p:cNvSpPr/>
          <p:nvPr/>
        </p:nvSpPr>
        <p:spPr>
          <a:xfrm>
            <a:off x="4427676" y="2552063"/>
            <a:ext cx="178531" cy="222808"/>
          </a:xfrm>
          <a:custGeom>
            <a:avLst/>
            <a:gdLst/>
            <a:ahLst/>
            <a:cxnLst/>
            <a:rect l="0" t="0" r="r" b="b"/>
            <a:pathLst>
              <a:path w="178531" h="222808">
                <a:moveTo>
                  <a:pt x="0" y="56887"/>
                </a:moveTo>
                <a:lnTo>
                  <a:pt x="89265" y="0"/>
                </a:lnTo>
                <a:lnTo>
                  <a:pt x="178531" y="56887"/>
                </a:lnTo>
                <a:lnTo>
                  <a:pt x="178531" y="165921"/>
                </a:lnTo>
                <a:lnTo>
                  <a:pt x="89265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secondary_ba_lumen_component_path_4"/>
          <p:cNvSpPr/>
          <p:nvPr/>
        </p:nvSpPr>
        <p:spPr>
          <a:xfrm>
            <a:off x="4437706" y="2563350"/>
            <a:ext cx="79236" cy="52937"/>
          </a:xfrm>
          <a:custGeom>
            <a:avLst/>
            <a:gdLst/>
            <a:ahLst/>
            <a:cxnLst/>
            <a:rect l="0" t="0" r="r" b="b"/>
            <a:pathLst>
              <a:path w="79236" h="52937">
                <a:moveTo>
                  <a:pt x="0" y="5293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secondary_ba_lumen_component_path_5"/>
          <p:cNvSpPr/>
          <p:nvPr/>
        </p:nvSpPr>
        <p:spPr>
          <a:xfrm>
            <a:off x="4427676" y="2433548"/>
            <a:ext cx="192264" cy="232289"/>
          </a:xfrm>
          <a:custGeom>
            <a:avLst/>
            <a:gdLst/>
            <a:ahLst/>
            <a:cxnLst/>
            <a:rect l="0" t="0" r="r" b="b"/>
            <a:pathLst>
              <a:path w="192264" h="232289">
                <a:moveTo>
                  <a:pt x="0" y="61628"/>
                </a:moveTo>
                <a:lnTo>
                  <a:pt x="102999" y="0"/>
                </a:lnTo>
                <a:lnTo>
                  <a:pt x="192264" y="61628"/>
                </a:lnTo>
                <a:lnTo>
                  <a:pt x="192264" y="170661"/>
                </a:lnTo>
                <a:lnTo>
                  <a:pt x="102999" y="232289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secondary_ba_lumen_component_path_6"/>
          <p:cNvSpPr/>
          <p:nvPr/>
        </p:nvSpPr>
        <p:spPr>
          <a:xfrm>
            <a:off x="4437706" y="2444835"/>
            <a:ext cx="92969" cy="57677"/>
          </a:xfrm>
          <a:custGeom>
            <a:avLst/>
            <a:gdLst/>
            <a:ahLst/>
            <a:cxnLst/>
            <a:rect l="0" t="0" r="r" b="b"/>
            <a:pathLst>
              <a:path w="92969" h="57677">
                <a:moveTo>
                  <a:pt x="0" y="57677"/>
                </a:moveTo>
                <a:lnTo>
                  <a:pt x="92969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secondary_ba_lumen_component_path_7"/>
          <p:cNvSpPr/>
          <p:nvPr/>
        </p:nvSpPr>
        <p:spPr>
          <a:xfrm>
            <a:off x="4619940" y="2428807"/>
            <a:ext cx="178531" cy="237030"/>
          </a:xfrm>
          <a:custGeom>
            <a:avLst/>
            <a:gdLst/>
            <a:ahLst/>
            <a:cxnLst/>
            <a:rect l="0" t="0" r="r" b="b"/>
            <a:pathLst>
              <a:path w="178531" h="237030">
                <a:moveTo>
                  <a:pt x="0" y="61628"/>
                </a:moveTo>
                <a:lnTo>
                  <a:pt x="89265" y="0"/>
                </a:lnTo>
                <a:lnTo>
                  <a:pt x="178531" y="61628"/>
                </a:lnTo>
                <a:lnTo>
                  <a:pt x="178531" y="175402"/>
                </a:lnTo>
                <a:lnTo>
                  <a:pt x="89265" y="237030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secondary_ba_lumen_component_path_8"/>
          <p:cNvSpPr/>
          <p:nvPr/>
        </p:nvSpPr>
        <p:spPr>
          <a:xfrm>
            <a:off x="4629970" y="2440094"/>
            <a:ext cx="79236" cy="57677"/>
          </a:xfrm>
          <a:custGeom>
            <a:avLst/>
            <a:gdLst/>
            <a:ahLst/>
            <a:cxnLst/>
            <a:rect l="0" t="0" r="r" b="b"/>
            <a:pathLst>
              <a:path w="79236" h="57677">
                <a:moveTo>
                  <a:pt x="0" y="5767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secondary_ba_lumen_component_path_9"/>
          <p:cNvSpPr/>
          <p:nvPr/>
        </p:nvSpPr>
        <p:spPr>
          <a:xfrm>
            <a:off x="4798471" y="2433548"/>
            <a:ext cx="144198" cy="170661"/>
          </a:xfrm>
          <a:custGeom>
            <a:avLst/>
            <a:gdLst/>
            <a:ahLst/>
            <a:cxnLst/>
            <a:rect l="0" t="0" r="r" b="b"/>
            <a:pathLst>
              <a:path w="144198" h="170661">
                <a:moveTo>
                  <a:pt x="0" y="52147"/>
                </a:moveTo>
                <a:lnTo>
                  <a:pt x="75532" y="0"/>
                </a:lnTo>
                <a:lnTo>
                  <a:pt x="144198" y="52147"/>
                </a:lnTo>
                <a:lnTo>
                  <a:pt x="144198" y="156440"/>
                </a:lnTo>
                <a:lnTo>
                  <a:pt x="0" y="17066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secondary_ba_lumen_component_path_10"/>
          <p:cNvSpPr/>
          <p:nvPr/>
        </p:nvSpPr>
        <p:spPr>
          <a:xfrm>
            <a:off x="4808501" y="2444835"/>
            <a:ext cx="65502" cy="48196"/>
          </a:xfrm>
          <a:custGeom>
            <a:avLst/>
            <a:gdLst/>
            <a:ahLst/>
            <a:cxnLst/>
            <a:rect l="0" t="0" r="r" b="b"/>
            <a:pathLst>
              <a:path w="65502" h="48196">
                <a:moveTo>
                  <a:pt x="0" y="48196"/>
                </a:moveTo>
                <a:lnTo>
                  <a:pt x="655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secondary_ba_lumen_component_path_11"/>
          <p:cNvSpPr/>
          <p:nvPr/>
        </p:nvSpPr>
        <p:spPr>
          <a:xfrm>
            <a:off x="4874003" y="2352958"/>
            <a:ext cx="95" cy="80590"/>
          </a:xfrm>
          <a:custGeom>
            <a:avLst/>
            <a:gdLst/>
            <a:ahLst/>
            <a:cxnLst/>
            <a:rect l="0" t="0" r="r" b="b"/>
            <a:pathLst>
              <a:path w="95" h="80590">
                <a:moveTo>
                  <a:pt x="0" y="80590"/>
                </a:moveTo>
                <a:lnTo>
                  <a:pt x="0" y="0"/>
                </a:lnTo>
              </a:path>
            </a:pathLst>
          </a:custGeom>
          <a:noFill/>
          <a:ln w="17359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secondary_ba_lumen_component_path_12"/>
          <p:cNvSpPr/>
          <p:nvPr/>
        </p:nvSpPr>
        <p:spPr>
          <a:xfrm>
            <a:off x="4496342" y="2580506"/>
            <a:ext cx="34333" cy="18962"/>
          </a:xfrm>
          <a:custGeom>
            <a:avLst/>
            <a:gdLst/>
            <a:ahLst/>
            <a:cxnLst/>
            <a:rect l="0" t="0" r="r" b="b"/>
            <a:pathLst>
              <a:path w="34333" h="18962">
                <a:moveTo>
                  <a:pt x="0" y="18962"/>
                </a:moveTo>
                <a:lnTo>
                  <a:pt x="34333" y="0"/>
                </a:lnTo>
              </a:path>
            </a:pathLst>
          </a:custGeom>
          <a:noFill/>
          <a:ln w="23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indole_lumen_component_path_1"/>
          <p:cNvSpPr/>
          <p:nvPr/>
        </p:nvSpPr>
        <p:spPr>
          <a:xfrm>
            <a:off x="5798950" y="228313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indole_lumen_component_path_2"/>
          <p:cNvSpPr/>
          <p:nvPr/>
        </p:nvSpPr>
        <p:spPr>
          <a:xfrm>
            <a:off x="6160147" y="233309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indole_lumen_component_path_3"/>
          <p:cNvSpPr/>
          <p:nvPr/>
        </p:nvSpPr>
        <p:spPr>
          <a:xfrm>
            <a:off x="5839083" y="233865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indole_lumen_component_path_4"/>
          <p:cNvSpPr/>
          <p:nvPr/>
        </p:nvSpPr>
        <p:spPr>
          <a:xfrm>
            <a:off x="6026371" y="233865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indole_lumen_component_path_5"/>
          <p:cNvSpPr/>
          <p:nvPr/>
        </p:nvSpPr>
        <p:spPr>
          <a:xfrm>
            <a:off x="5839083" y="246077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indole_lumen_component_path_6"/>
          <p:cNvSpPr/>
          <p:nvPr/>
        </p:nvSpPr>
        <p:spPr>
          <a:xfrm>
            <a:off x="6026371" y="261620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indole_lumen_component_path_7"/>
          <p:cNvSpPr/>
          <p:nvPr/>
        </p:nvSpPr>
        <p:spPr>
          <a:xfrm>
            <a:off x="6334057" y="239971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indole_lumen_component_path_8"/>
          <p:cNvSpPr/>
          <p:nvPr/>
        </p:nvSpPr>
        <p:spPr>
          <a:xfrm>
            <a:off x="6347435" y="256624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indole_lumen_component_atom_9"/>
          <p:cNvSpPr txBox="1"/>
          <p:nvPr/>
        </p:nvSpPr>
        <p:spPr>
          <a:xfrm>
            <a:off x="6314599" y="2675382"/>
            <a:ext cx="136817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88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459" name="tma_lumen_component_path_1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tma_lumen_component_path_2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tma_lumen_component_path_3"/>
          <p:cNvSpPr/>
          <p:nvPr/>
        </p:nvSpPr>
        <p:spPr>
          <a:xfrm>
            <a:off x="7839456" y="2376868"/>
            <a:ext cx="4572" cy="217075"/>
          </a:xfrm>
          <a:custGeom>
            <a:avLst/>
            <a:gdLst/>
            <a:ahLst/>
            <a:cxnLst/>
            <a:rect l="0" t="0" r="r" b="b"/>
            <a:pathLst>
              <a:path w="4572" h="217075">
                <a:moveTo>
                  <a:pt x="0" y="217075"/>
                </a:moveTo>
                <a:lnTo>
                  <a:pt x="4572" y="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tma_lumen_component_path_4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tma_lumen_component_path_5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tma_lumen_component_path_6"/>
          <p:cNvSpPr/>
          <p:nvPr/>
        </p:nvSpPr>
        <p:spPr>
          <a:xfrm>
            <a:off x="7697724" y="2593943"/>
            <a:ext cx="141732" cy="116110"/>
          </a:xfrm>
          <a:custGeom>
            <a:avLst/>
            <a:gdLst/>
            <a:ahLst/>
            <a:cxnLst/>
            <a:rect l="0" t="0" r="r" b="b"/>
            <a:pathLst>
              <a:path w="141732" h="116110">
                <a:moveTo>
                  <a:pt x="141732" y="0"/>
                </a:moveTo>
                <a:lnTo>
                  <a:pt x="0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tma_lumen_component_path_7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tma_lumen_component_path_8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tma_lumen_component_path_9"/>
          <p:cNvSpPr/>
          <p:nvPr/>
        </p:nvSpPr>
        <p:spPr>
          <a:xfrm>
            <a:off x="7839456" y="2593943"/>
            <a:ext cx="150876" cy="116110"/>
          </a:xfrm>
          <a:custGeom>
            <a:avLst/>
            <a:gdLst/>
            <a:ahLst/>
            <a:cxnLst/>
            <a:rect l="0" t="0" r="r" b="b"/>
            <a:pathLst>
              <a:path w="150876" h="116110">
                <a:moveTo>
                  <a:pt x="0" y="0"/>
                </a:moveTo>
                <a:lnTo>
                  <a:pt x="150876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tma_lumen_component_oval_10"/>
          <p:cNvSpPr/>
          <p:nvPr/>
        </p:nvSpPr>
        <p:spPr>
          <a:xfrm>
            <a:off x="7780020" y="2528316"/>
            <a:ext cx="137160" cy="151448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tma_lumen_component_oval_11"/>
          <p:cNvSpPr/>
          <p:nvPr/>
        </p:nvSpPr>
        <p:spPr>
          <a:xfrm>
            <a:off x="7812938" y="2556334"/>
            <a:ext cx="35662" cy="2801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tma_lumen_component_oval_12"/>
          <p:cNvSpPr/>
          <p:nvPr/>
        </p:nvSpPr>
        <p:spPr>
          <a:xfrm>
            <a:off x="7791450" y="2313765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tma_lumen_component_oval_13"/>
          <p:cNvSpPr/>
          <p:nvPr/>
        </p:nvSpPr>
        <p:spPr>
          <a:xfrm>
            <a:off x="7818882" y="2337114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tma_lumen_component_oval_14"/>
          <p:cNvSpPr/>
          <p:nvPr/>
        </p:nvSpPr>
        <p:spPr>
          <a:xfrm>
            <a:off x="7645146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tma_lumen_component_oval_15"/>
          <p:cNvSpPr/>
          <p:nvPr/>
        </p:nvSpPr>
        <p:spPr>
          <a:xfrm>
            <a:off x="7672578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tma_lumen_component_oval_16"/>
          <p:cNvSpPr/>
          <p:nvPr/>
        </p:nvSpPr>
        <p:spPr>
          <a:xfrm>
            <a:off x="7937754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tma_lumen_component_oval_17"/>
          <p:cNvSpPr/>
          <p:nvPr/>
        </p:nvSpPr>
        <p:spPr>
          <a:xfrm>
            <a:off x="7965186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tma_lumen_component_atom_18"/>
          <p:cNvSpPr txBox="1"/>
          <p:nvPr/>
        </p:nvSpPr>
        <p:spPr>
          <a:xfrm>
            <a:off x="7780020" y="2513171"/>
            <a:ext cx="137160" cy="17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43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477" name="lps_source_component_path_1"/>
          <p:cNvSpPr/>
          <p:nvPr/>
        </p:nvSpPr>
        <p:spPr>
          <a:xfrm>
            <a:off x="8617719" y="2647209"/>
            <a:ext cx="67390" cy="41555"/>
          </a:xfrm>
          <a:custGeom>
            <a:avLst/>
            <a:gdLst/>
            <a:ahLst/>
            <a:cxnLst/>
            <a:rect l="0" t="0" r="r" b="b"/>
            <a:pathLst>
              <a:path w="67390" h="41555">
                <a:moveTo>
                  <a:pt x="67390" y="0"/>
                </a:moveTo>
                <a:lnTo>
                  <a:pt x="0" y="4155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lps_source_component_oval_2"/>
          <p:cNvSpPr/>
          <p:nvPr/>
        </p:nvSpPr>
        <p:spPr>
          <a:xfrm>
            <a:off x="8599755" y="266985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lps_source_component_oval_3"/>
          <p:cNvSpPr/>
          <p:nvPr/>
        </p:nvSpPr>
        <p:spPr>
          <a:xfrm>
            <a:off x="8608378" y="267685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lps_source_component_path_4"/>
          <p:cNvSpPr/>
          <p:nvPr/>
        </p:nvSpPr>
        <p:spPr>
          <a:xfrm>
            <a:off x="8616143" y="2442030"/>
            <a:ext cx="59702" cy="58457"/>
          </a:xfrm>
          <a:custGeom>
            <a:avLst/>
            <a:gdLst/>
            <a:ahLst/>
            <a:cxnLst/>
            <a:rect l="0" t="0" r="r" b="b"/>
            <a:pathLst>
              <a:path w="59702" h="58457">
                <a:moveTo>
                  <a:pt x="59702" y="58457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lps_source_component_oval_5"/>
          <p:cNvSpPr/>
          <p:nvPr/>
        </p:nvSpPr>
        <p:spPr>
          <a:xfrm>
            <a:off x="8598179" y="242312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lps_source_component_oval_6"/>
          <p:cNvSpPr/>
          <p:nvPr/>
        </p:nvSpPr>
        <p:spPr>
          <a:xfrm>
            <a:off x="8606802" y="243012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lps_source_component_path_7"/>
          <p:cNvSpPr/>
          <p:nvPr/>
        </p:nvSpPr>
        <p:spPr>
          <a:xfrm>
            <a:off x="8753713" y="2347672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lps_source_component_oval_8"/>
          <p:cNvSpPr/>
          <p:nvPr/>
        </p:nvSpPr>
        <p:spPr>
          <a:xfrm>
            <a:off x="8735749" y="2328766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lps_source_component_oval_9"/>
          <p:cNvSpPr/>
          <p:nvPr/>
        </p:nvSpPr>
        <p:spPr>
          <a:xfrm>
            <a:off x="8744372" y="2335761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lps_source_component_path_10"/>
          <p:cNvSpPr/>
          <p:nvPr/>
        </p:nvSpPr>
        <p:spPr>
          <a:xfrm>
            <a:off x="8915448" y="2247940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lps_source_component_oval_11"/>
          <p:cNvSpPr/>
          <p:nvPr/>
        </p:nvSpPr>
        <p:spPr>
          <a:xfrm>
            <a:off x="8897484" y="2229033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lps_source_component_oval_12"/>
          <p:cNvSpPr/>
          <p:nvPr/>
        </p:nvSpPr>
        <p:spPr>
          <a:xfrm>
            <a:off x="8906106" y="22360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lps_source_component_path_13"/>
          <p:cNvSpPr/>
          <p:nvPr/>
        </p:nvSpPr>
        <p:spPr>
          <a:xfrm>
            <a:off x="9145465" y="2228440"/>
            <a:ext cx="48805" cy="58677"/>
          </a:xfrm>
          <a:custGeom>
            <a:avLst/>
            <a:gdLst/>
            <a:ahLst/>
            <a:cxnLst/>
            <a:rect l="0" t="0" r="r" b="b"/>
            <a:pathLst>
              <a:path w="48805" h="58677">
                <a:moveTo>
                  <a:pt x="0" y="58677"/>
                </a:moveTo>
                <a:lnTo>
                  <a:pt x="48805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lps_source_component_oval_14"/>
          <p:cNvSpPr/>
          <p:nvPr/>
        </p:nvSpPr>
        <p:spPr>
          <a:xfrm>
            <a:off x="9176306" y="220953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lps_source_component_oval_15"/>
          <p:cNvSpPr/>
          <p:nvPr/>
        </p:nvSpPr>
        <p:spPr>
          <a:xfrm>
            <a:off x="9184928" y="22165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lps_source_component_path_16"/>
          <p:cNvSpPr/>
          <p:nvPr/>
        </p:nvSpPr>
        <p:spPr>
          <a:xfrm>
            <a:off x="9216537" y="2414779"/>
            <a:ext cx="84341" cy="5154"/>
          </a:xfrm>
          <a:custGeom>
            <a:avLst/>
            <a:gdLst/>
            <a:ahLst/>
            <a:cxnLst/>
            <a:rect l="0" t="0" r="r" b="b"/>
            <a:pathLst>
              <a:path w="84341" h="5154">
                <a:moveTo>
                  <a:pt x="0" y="0"/>
                </a:moveTo>
                <a:lnTo>
                  <a:pt x="84341" y="5154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lps_source_component_oval_17"/>
          <p:cNvSpPr/>
          <p:nvPr/>
        </p:nvSpPr>
        <p:spPr>
          <a:xfrm>
            <a:off x="9282914" y="2401027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lps_source_component_oval_18"/>
          <p:cNvSpPr/>
          <p:nvPr/>
        </p:nvSpPr>
        <p:spPr>
          <a:xfrm>
            <a:off x="9291537" y="240802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lps_source_component_path_19"/>
          <p:cNvSpPr/>
          <p:nvPr/>
        </p:nvSpPr>
        <p:spPr>
          <a:xfrm>
            <a:off x="9086390" y="2571250"/>
            <a:ext cx="39485" cy="70923"/>
          </a:xfrm>
          <a:custGeom>
            <a:avLst/>
            <a:gdLst/>
            <a:ahLst/>
            <a:cxnLst/>
            <a:rect l="0" t="0" r="r" b="b"/>
            <a:pathLst>
              <a:path w="39485" h="70923">
                <a:moveTo>
                  <a:pt x="0" y="0"/>
                </a:moveTo>
                <a:lnTo>
                  <a:pt x="39485" y="70923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lps_source_component_oval_20"/>
          <p:cNvSpPr/>
          <p:nvPr/>
        </p:nvSpPr>
        <p:spPr>
          <a:xfrm>
            <a:off x="9107910" y="262326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lps_source_component_oval_21"/>
          <p:cNvSpPr/>
          <p:nvPr/>
        </p:nvSpPr>
        <p:spPr>
          <a:xfrm>
            <a:off x="9116533" y="263026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lps_source_component_path_22"/>
          <p:cNvSpPr/>
          <p:nvPr/>
        </p:nvSpPr>
        <p:spPr>
          <a:xfrm>
            <a:off x="8938133" y="2662672"/>
            <a:ext cx="32746" cy="75079"/>
          </a:xfrm>
          <a:custGeom>
            <a:avLst/>
            <a:gdLst/>
            <a:ahLst/>
            <a:cxnLst/>
            <a:rect l="0" t="0" r="r" b="b"/>
            <a:pathLst>
              <a:path w="32746" h="75079">
                <a:moveTo>
                  <a:pt x="0" y="0"/>
                </a:moveTo>
                <a:lnTo>
                  <a:pt x="32746" y="75079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lps_source_component_oval_23"/>
          <p:cNvSpPr/>
          <p:nvPr/>
        </p:nvSpPr>
        <p:spPr>
          <a:xfrm>
            <a:off x="8952914" y="27188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lps_source_component_oval_24"/>
          <p:cNvSpPr/>
          <p:nvPr/>
        </p:nvSpPr>
        <p:spPr>
          <a:xfrm>
            <a:off x="8961537" y="27258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lps_source_component_path_25"/>
          <p:cNvSpPr/>
          <p:nvPr/>
        </p:nvSpPr>
        <p:spPr>
          <a:xfrm>
            <a:off x="8791508" y="2724505"/>
            <a:ext cx="12529" cy="87545"/>
          </a:xfrm>
          <a:custGeom>
            <a:avLst/>
            <a:gdLst/>
            <a:ahLst/>
            <a:cxnLst/>
            <a:rect l="0" t="0" r="r" b="b"/>
            <a:pathLst>
              <a:path w="12529" h="87545">
                <a:moveTo>
                  <a:pt x="0" y="0"/>
                </a:moveTo>
                <a:lnTo>
                  <a:pt x="12529" y="8754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lps_source_component_oval_26"/>
          <p:cNvSpPr/>
          <p:nvPr/>
        </p:nvSpPr>
        <p:spPr>
          <a:xfrm>
            <a:off x="8786073" y="27931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lps_source_component_oval_27"/>
          <p:cNvSpPr/>
          <p:nvPr/>
        </p:nvSpPr>
        <p:spPr>
          <a:xfrm>
            <a:off x="8794696" y="28001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lps_source_component_path_28"/>
          <p:cNvSpPr/>
          <p:nvPr/>
        </p:nvSpPr>
        <p:spPr>
          <a:xfrm>
            <a:off x="8625640" y="2233060"/>
            <a:ext cx="617621" cy="520788"/>
          </a:xfrm>
          <a:custGeom>
            <a:avLst/>
            <a:gdLst/>
            <a:ahLst/>
            <a:cxnLst/>
            <a:rect l="0" t="0" r="r" b="b"/>
            <a:pathLst>
              <a:path w="617621" h="520788">
                <a:moveTo>
                  <a:pt x="89481" y="224154"/>
                </a:moveTo>
                <a:lnTo>
                  <a:pt x="385995" y="41311"/>
                </a:lnTo>
                <a:cubicBezTo>
                  <a:pt x="452988" y="0"/>
                  <a:pt x="539116" y="23667"/>
                  <a:pt x="578369" y="94173"/>
                </a:cubicBezTo>
                <a:cubicBezTo>
                  <a:pt x="617621" y="164679"/>
                  <a:pt x="595133" y="255324"/>
                  <a:pt x="528140" y="296635"/>
                </a:cubicBezTo>
                <a:lnTo>
                  <a:pt x="231626" y="479478"/>
                </a:lnTo>
                <a:cubicBezTo>
                  <a:pt x="164633" y="520788"/>
                  <a:pt x="78504" y="497121"/>
                  <a:pt x="39252" y="426615"/>
                </a:cubicBezTo>
                <a:cubicBezTo>
                  <a:pt x="0" y="356109"/>
                  <a:pt x="22488" y="265464"/>
                  <a:pt x="89481" y="224154"/>
                </a:cubicBezTo>
                <a:close/>
              </a:path>
            </a:pathLst>
          </a:custGeom>
          <a:gradFill rotWithShape="1">
            <a:gsLst>
              <a:gs pos="0">
                <a:srgbClr val="D6E0C3"/>
              </a:gs>
              <a:gs pos="35000">
                <a:srgbClr val="BDCD9E"/>
              </a:gs>
              <a:gs pos="100000">
                <a:srgbClr val="90AE77"/>
              </a:gs>
            </a:gsLst>
            <a:lin ang="4200000" scaled="1"/>
          </a:gradFill>
          <a:ln w="11227" cap="rnd">
            <a:solidFill>
              <a:srgbClr val="5F8D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lps_source_component_path_29"/>
          <p:cNvSpPr/>
          <p:nvPr/>
        </p:nvSpPr>
        <p:spPr>
          <a:xfrm>
            <a:off x="8643479" y="2251835"/>
            <a:ext cx="581942" cy="483239"/>
          </a:xfrm>
          <a:custGeom>
            <a:avLst/>
            <a:gdLst/>
            <a:ahLst/>
            <a:cxnLst/>
            <a:rect l="0" t="0" r="r" b="b"/>
            <a:pathLst>
              <a:path w="581942" h="483239">
                <a:moveTo>
                  <a:pt x="79539" y="219563"/>
                </a:moveTo>
                <a:lnTo>
                  <a:pt x="376053" y="36721"/>
                </a:lnTo>
                <a:cubicBezTo>
                  <a:pt x="435602" y="0"/>
                  <a:pt x="512161" y="21038"/>
                  <a:pt x="547051" y="83710"/>
                </a:cubicBezTo>
                <a:cubicBezTo>
                  <a:pt x="581942" y="146381"/>
                  <a:pt x="561953" y="226955"/>
                  <a:pt x="502404" y="263675"/>
                </a:cubicBezTo>
                <a:lnTo>
                  <a:pt x="205890" y="446518"/>
                </a:lnTo>
                <a:cubicBezTo>
                  <a:pt x="146340" y="483239"/>
                  <a:pt x="69782" y="462201"/>
                  <a:pt x="34891" y="399529"/>
                </a:cubicBezTo>
                <a:cubicBezTo>
                  <a:pt x="0" y="336857"/>
                  <a:pt x="19989" y="256284"/>
                  <a:pt x="79539" y="219563"/>
                </a:cubicBezTo>
                <a:close/>
              </a:path>
            </a:pathLst>
          </a:custGeom>
          <a:noFill/>
          <a:ln w="6346" cap="rnd">
            <a:solidFill>
              <a:srgbClr val="90AE7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lps_source_component_path_30"/>
          <p:cNvSpPr/>
          <p:nvPr/>
        </p:nvSpPr>
        <p:spPr>
          <a:xfrm>
            <a:off x="8772074" y="2384624"/>
            <a:ext cx="188691" cy="116355"/>
          </a:xfrm>
          <a:custGeom>
            <a:avLst/>
            <a:gdLst/>
            <a:ahLst/>
            <a:cxnLst/>
            <a:rect l="0" t="0" r="r" b="b"/>
            <a:pathLst>
              <a:path w="188691" h="116355">
                <a:moveTo>
                  <a:pt x="0" y="116355"/>
                </a:moveTo>
                <a:lnTo>
                  <a:pt x="188691" y="0"/>
                </a:lnTo>
              </a:path>
            </a:pathLst>
          </a:custGeom>
          <a:noFill/>
          <a:ln w="12692" cap="rnd">
            <a:solidFill>
              <a:srgbClr val="E5EC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lps_source_component_oval_31"/>
          <p:cNvSpPr/>
          <p:nvPr/>
        </p:nvSpPr>
        <p:spPr>
          <a:xfrm>
            <a:off x="8814604" y="2609197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lps_source_component_oval_32"/>
          <p:cNvSpPr/>
          <p:nvPr/>
        </p:nvSpPr>
        <p:spPr>
          <a:xfrm>
            <a:off x="9008980" y="2503055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lps_source_component_oval_33"/>
          <p:cNvSpPr/>
          <p:nvPr/>
        </p:nvSpPr>
        <p:spPr>
          <a:xfrm>
            <a:off x="9078424" y="2367629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lps_source_component_oval_34"/>
          <p:cNvSpPr/>
          <p:nvPr/>
        </p:nvSpPr>
        <p:spPr>
          <a:xfrm>
            <a:off x="8829252" y="2466403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lps_source_component_path_35"/>
          <p:cNvSpPr/>
          <p:nvPr/>
        </p:nvSpPr>
        <p:spPr>
          <a:xfrm>
            <a:off x="8676704" y="2337273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lps_source_component_path_36"/>
          <p:cNvSpPr/>
          <p:nvPr/>
        </p:nvSpPr>
        <p:spPr>
          <a:xfrm>
            <a:off x="8674751" y="2334807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lps_source_component_path_37"/>
          <p:cNvSpPr/>
          <p:nvPr/>
        </p:nvSpPr>
        <p:spPr>
          <a:xfrm>
            <a:off x="8676704" y="2287953"/>
            <a:ext cx="39052" cy="49320"/>
          </a:xfrm>
          <a:custGeom>
            <a:avLst/>
            <a:gdLst/>
            <a:ahLst/>
            <a:cxnLst/>
            <a:rect l="0" t="0" r="r" b="b"/>
            <a:pathLst>
              <a:path w="39052" h="49320">
                <a:moveTo>
                  <a:pt x="0" y="49320"/>
                </a:moveTo>
                <a:lnTo>
                  <a:pt x="3905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lps_source_component_path_38"/>
          <p:cNvSpPr/>
          <p:nvPr/>
        </p:nvSpPr>
        <p:spPr>
          <a:xfrm>
            <a:off x="8674751" y="2285487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lps_source_component_path_39"/>
          <p:cNvSpPr/>
          <p:nvPr/>
        </p:nvSpPr>
        <p:spPr>
          <a:xfrm>
            <a:off x="8707946" y="2246852"/>
            <a:ext cx="7810" cy="41100"/>
          </a:xfrm>
          <a:custGeom>
            <a:avLst/>
            <a:gdLst/>
            <a:ahLst/>
            <a:cxnLst/>
            <a:rect l="0" t="0" r="r" b="b"/>
            <a:pathLst>
              <a:path w="7810" h="41100">
                <a:moveTo>
                  <a:pt x="7810" y="4110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lps_source_component_path_40"/>
          <p:cNvSpPr/>
          <p:nvPr/>
        </p:nvSpPr>
        <p:spPr>
          <a:xfrm>
            <a:off x="8705993" y="2244386"/>
            <a:ext cx="7811" cy="41100"/>
          </a:xfrm>
          <a:custGeom>
            <a:avLst/>
            <a:gdLst/>
            <a:ahLst/>
            <a:cxnLst/>
            <a:rect l="0" t="0" r="r" b="b"/>
            <a:pathLst>
              <a:path w="7811" h="41100">
                <a:moveTo>
                  <a:pt x="7811" y="4110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lps_source_component_path_41"/>
          <p:cNvSpPr/>
          <p:nvPr/>
        </p:nvSpPr>
        <p:spPr>
          <a:xfrm>
            <a:off x="8707946" y="2189312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lps_source_component_path_42"/>
          <p:cNvSpPr/>
          <p:nvPr/>
        </p:nvSpPr>
        <p:spPr>
          <a:xfrm>
            <a:off x="8705993" y="2186846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lps_source_component_path_43"/>
          <p:cNvSpPr/>
          <p:nvPr/>
        </p:nvSpPr>
        <p:spPr>
          <a:xfrm>
            <a:off x="8754808" y="2123551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lps_source_component_path_44"/>
          <p:cNvSpPr/>
          <p:nvPr/>
        </p:nvSpPr>
        <p:spPr>
          <a:xfrm>
            <a:off x="8752856" y="2121085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lps_source_component_path_45"/>
          <p:cNvSpPr/>
          <p:nvPr/>
        </p:nvSpPr>
        <p:spPr>
          <a:xfrm>
            <a:off x="8778240" y="2090671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lps_source_component_path_46"/>
          <p:cNvSpPr/>
          <p:nvPr/>
        </p:nvSpPr>
        <p:spPr>
          <a:xfrm>
            <a:off x="8776287" y="2088205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lps_source_component_oval_47"/>
          <p:cNvSpPr/>
          <p:nvPr/>
        </p:nvSpPr>
        <p:spPr>
          <a:xfrm>
            <a:off x="8661082" y="2320833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lps_source_component_oval_48"/>
          <p:cNvSpPr/>
          <p:nvPr/>
        </p:nvSpPr>
        <p:spPr>
          <a:xfrm>
            <a:off x="8668581" y="2326916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lps_source_component_oval_49"/>
          <p:cNvSpPr/>
          <p:nvPr/>
        </p:nvSpPr>
        <p:spPr>
          <a:xfrm>
            <a:off x="8692324" y="22304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lps_source_component_oval_50"/>
          <p:cNvSpPr/>
          <p:nvPr/>
        </p:nvSpPr>
        <p:spPr>
          <a:xfrm>
            <a:off x="8699823" y="22364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lps_source_component_oval_51"/>
          <p:cNvSpPr/>
          <p:nvPr/>
        </p:nvSpPr>
        <p:spPr>
          <a:xfrm>
            <a:off x="8762619" y="2107111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lps_source_component_oval_52"/>
          <p:cNvSpPr/>
          <p:nvPr/>
        </p:nvSpPr>
        <p:spPr>
          <a:xfrm>
            <a:off x="8770117" y="2113194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lps_source_component_oval_53"/>
          <p:cNvSpPr/>
          <p:nvPr/>
        </p:nvSpPr>
        <p:spPr>
          <a:xfrm>
            <a:off x="8784488" y="20643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lps_source_component_oval_54"/>
          <p:cNvSpPr/>
          <p:nvPr/>
        </p:nvSpPr>
        <p:spPr>
          <a:xfrm>
            <a:off x="8796485" y="2074099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lps_source_component_path_55"/>
          <p:cNvSpPr/>
          <p:nvPr/>
        </p:nvSpPr>
        <p:spPr>
          <a:xfrm>
            <a:off x="9043797" y="2222192"/>
            <a:ext cx="7810" cy="49320"/>
          </a:xfrm>
          <a:custGeom>
            <a:avLst/>
            <a:gdLst/>
            <a:ahLst/>
            <a:cxnLst/>
            <a:rect l="0" t="0" r="r" b="b"/>
            <a:pathLst>
              <a:path w="7810" h="49320">
                <a:moveTo>
                  <a:pt x="0" y="49320"/>
                </a:moveTo>
                <a:lnTo>
                  <a:pt x="781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lps_source_component_path_56"/>
          <p:cNvSpPr/>
          <p:nvPr/>
        </p:nvSpPr>
        <p:spPr>
          <a:xfrm>
            <a:off x="9041844" y="2219726"/>
            <a:ext cx="7811" cy="49320"/>
          </a:xfrm>
          <a:custGeom>
            <a:avLst/>
            <a:gdLst/>
            <a:ahLst/>
            <a:cxnLst/>
            <a:rect l="0" t="0" r="r" b="b"/>
            <a:pathLst>
              <a:path w="7811" h="49320">
                <a:moveTo>
                  <a:pt x="0" y="49320"/>
                </a:moveTo>
                <a:lnTo>
                  <a:pt x="7811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lps_source_component_path_57"/>
          <p:cNvSpPr/>
          <p:nvPr/>
        </p:nvSpPr>
        <p:spPr>
          <a:xfrm>
            <a:off x="9035986" y="2172872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lps_source_component_path_58"/>
          <p:cNvSpPr/>
          <p:nvPr/>
        </p:nvSpPr>
        <p:spPr>
          <a:xfrm>
            <a:off x="9034034" y="217040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lps_source_component_oval_59"/>
          <p:cNvSpPr/>
          <p:nvPr/>
        </p:nvSpPr>
        <p:spPr>
          <a:xfrm>
            <a:off x="9035986" y="220575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lps_source_component_oval_60"/>
          <p:cNvSpPr/>
          <p:nvPr/>
        </p:nvSpPr>
        <p:spPr>
          <a:xfrm>
            <a:off x="9043485" y="221183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lps_source_component_oval_61"/>
          <p:cNvSpPr/>
          <p:nvPr/>
        </p:nvSpPr>
        <p:spPr>
          <a:xfrm>
            <a:off x="9010993" y="21465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lps_source_component_oval_62"/>
          <p:cNvSpPr/>
          <p:nvPr/>
        </p:nvSpPr>
        <p:spPr>
          <a:xfrm>
            <a:off x="9022990" y="2156300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lps_source_component_path_63"/>
          <p:cNvSpPr/>
          <p:nvPr/>
        </p:nvSpPr>
        <p:spPr>
          <a:xfrm>
            <a:off x="9145334" y="2287953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lps_source_component_path_64"/>
          <p:cNvSpPr/>
          <p:nvPr/>
        </p:nvSpPr>
        <p:spPr>
          <a:xfrm>
            <a:off x="9143381" y="2285487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lps_source_component_path_65"/>
          <p:cNvSpPr/>
          <p:nvPr/>
        </p:nvSpPr>
        <p:spPr>
          <a:xfrm>
            <a:off x="9184386" y="2263292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lps_source_component_path_66"/>
          <p:cNvSpPr/>
          <p:nvPr/>
        </p:nvSpPr>
        <p:spPr>
          <a:xfrm>
            <a:off x="9182433" y="2260826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lps_source_component_path_67"/>
          <p:cNvSpPr/>
          <p:nvPr/>
        </p:nvSpPr>
        <p:spPr>
          <a:xfrm>
            <a:off x="9215628" y="2238632"/>
            <a:ext cx="39053" cy="24660"/>
          </a:xfrm>
          <a:custGeom>
            <a:avLst/>
            <a:gdLst/>
            <a:ahLst/>
            <a:cxnLst/>
            <a:rect l="0" t="0" r="r" b="b"/>
            <a:pathLst>
              <a:path w="39053" h="24660">
                <a:moveTo>
                  <a:pt x="0" y="2466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lps_source_component_path_68"/>
          <p:cNvSpPr/>
          <p:nvPr/>
        </p:nvSpPr>
        <p:spPr>
          <a:xfrm>
            <a:off x="9213675" y="2236166"/>
            <a:ext cx="39052" cy="24660"/>
          </a:xfrm>
          <a:custGeom>
            <a:avLst/>
            <a:gdLst/>
            <a:ahLst/>
            <a:cxnLst/>
            <a:rect l="0" t="0" r="r" b="b"/>
            <a:pathLst>
              <a:path w="39052" h="24660">
                <a:moveTo>
                  <a:pt x="0" y="24660"/>
                </a:moveTo>
                <a:lnTo>
                  <a:pt x="3905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lps_source_component_oval_69"/>
          <p:cNvSpPr/>
          <p:nvPr/>
        </p:nvSpPr>
        <p:spPr>
          <a:xfrm>
            <a:off x="9168765" y="22715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lps_source_component_oval_70"/>
          <p:cNvSpPr/>
          <p:nvPr/>
        </p:nvSpPr>
        <p:spPr>
          <a:xfrm>
            <a:off x="9176263" y="22775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lps_source_component_oval_71"/>
          <p:cNvSpPr/>
          <p:nvPr/>
        </p:nvSpPr>
        <p:spPr>
          <a:xfrm>
            <a:off x="9229687" y="2212328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lps_source_component_oval_72"/>
          <p:cNvSpPr/>
          <p:nvPr/>
        </p:nvSpPr>
        <p:spPr>
          <a:xfrm>
            <a:off x="9241684" y="2222061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lps_source_component_path_73"/>
          <p:cNvSpPr/>
          <p:nvPr/>
        </p:nvSpPr>
        <p:spPr>
          <a:xfrm>
            <a:off x="9035986" y="263319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lps_source_component_path_74"/>
          <p:cNvSpPr/>
          <p:nvPr/>
        </p:nvSpPr>
        <p:spPr>
          <a:xfrm>
            <a:off x="9034034" y="2630730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lps_source_component_path_75"/>
          <p:cNvSpPr/>
          <p:nvPr/>
        </p:nvSpPr>
        <p:spPr>
          <a:xfrm>
            <a:off x="9028176" y="2682516"/>
            <a:ext cx="23431" cy="49320"/>
          </a:xfrm>
          <a:custGeom>
            <a:avLst/>
            <a:gdLst/>
            <a:ahLst/>
            <a:cxnLst/>
            <a:rect l="0" t="0" r="r" b="b"/>
            <a:pathLst>
              <a:path w="23431" h="49320">
                <a:moveTo>
                  <a:pt x="23431" y="0"/>
                </a:moveTo>
                <a:lnTo>
                  <a:pt x="0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lps_source_component_path_76"/>
          <p:cNvSpPr/>
          <p:nvPr/>
        </p:nvSpPr>
        <p:spPr>
          <a:xfrm>
            <a:off x="9026223" y="2680050"/>
            <a:ext cx="23432" cy="49320"/>
          </a:xfrm>
          <a:custGeom>
            <a:avLst/>
            <a:gdLst/>
            <a:ahLst/>
            <a:cxnLst/>
            <a:rect l="0" t="0" r="r" b="b"/>
            <a:pathLst>
              <a:path w="23432" h="49320">
                <a:moveTo>
                  <a:pt x="23432" y="0"/>
                </a:moveTo>
                <a:lnTo>
                  <a:pt x="0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lps_source_component_path_77"/>
          <p:cNvSpPr/>
          <p:nvPr/>
        </p:nvSpPr>
        <p:spPr>
          <a:xfrm>
            <a:off x="9028176" y="2731837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lps_source_component_path_78"/>
          <p:cNvSpPr/>
          <p:nvPr/>
        </p:nvSpPr>
        <p:spPr>
          <a:xfrm>
            <a:off x="9026223" y="2729371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lps_source_component_oval_79"/>
          <p:cNvSpPr/>
          <p:nvPr/>
        </p:nvSpPr>
        <p:spPr>
          <a:xfrm>
            <a:off x="9035986" y="2666076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lps_source_component_oval_80"/>
          <p:cNvSpPr/>
          <p:nvPr/>
        </p:nvSpPr>
        <p:spPr>
          <a:xfrm>
            <a:off x="9043485" y="2672159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lps_source_component_oval_81"/>
          <p:cNvSpPr/>
          <p:nvPr/>
        </p:nvSpPr>
        <p:spPr>
          <a:xfrm>
            <a:off x="9042235" y="2746633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lps_source_component_oval_82"/>
          <p:cNvSpPr/>
          <p:nvPr/>
        </p:nvSpPr>
        <p:spPr>
          <a:xfrm>
            <a:off x="9054232" y="2756365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lps_source_component_path_83"/>
          <p:cNvSpPr/>
          <p:nvPr/>
        </p:nvSpPr>
        <p:spPr>
          <a:xfrm>
            <a:off x="8950071" y="2592095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lps_source_component_path_84"/>
          <p:cNvSpPr/>
          <p:nvPr/>
        </p:nvSpPr>
        <p:spPr>
          <a:xfrm>
            <a:off x="8948118" y="2589629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lps_source_component_path_85"/>
          <p:cNvSpPr/>
          <p:nvPr/>
        </p:nvSpPr>
        <p:spPr>
          <a:xfrm>
            <a:off x="8950071" y="2542775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lps_source_component_path_86"/>
          <p:cNvSpPr/>
          <p:nvPr/>
        </p:nvSpPr>
        <p:spPr>
          <a:xfrm>
            <a:off x="8948118" y="2540309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lps_source_component_oval_87"/>
          <p:cNvSpPr/>
          <p:nvPr/>
        </p:nvSpPr>
        <p:spPr>
          <a:xfrm>
            <a:off x="8934450" y="257565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lps_source_component_oval_88"/>
          <p:cNvSpPr/>
          <p:nvPr/>
        </p:nvSpPr>
        <p:spPr>
          <a:xfrm>
            <a:off x="8941948" y="258173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lps_source_component_oval_89"/>
          <p:cNvSpPr/>
          <p:nvPr/>
        </p:nvSpPr>
        <p:spPr>
          <a:xfrm>
            <a:off x="8964130" y="251647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lps_source_component_oval_90"/>
          <p:cNvSpPr/>
          <p:nvPr/>
        </p:nvSpPr>
        <p:spPr>
          <a:xfrm>
            <a:off x="8976127" y="2526203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lps_source_component_path_91"/>
          <p:cNvSpPr/>
          <p:nvPr/>
        </p:nvSpPr>
        <p:spPr>
          <a:xfrm>
            <a:off x="9192196" y="2550995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lps_source_component_path_92"/>
          <p:cNvSpPr/>
          <p:nvPr/>
        </p:nvSpPr>
        <p:spPr>
          <a:xfrm>
            <a:off x="9190244" y="2548529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lps_source_component_path_93"/>
          <p:cNvSpPr/>
          <p:nvPr/>
        </p:nvSpPr>
        <p:spPr>
          <a:xfrm>
            <a:off x="9223438" y="2567435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lps_source_component_path_94"/>
          <p:cNvSpPr/>
          <p:nvPr/>
        </p:nvSpPr>
        <p:spPr>
          <a:xfrm>
            <a:off x="9221486" y="2564969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lps_source_component_oval_95"/>
          <p:cNvSpPr/>
          <p:nvPr/>
        </p:nvSpPr>
        <p:spPr>
          <a:xfrm>
            <a:off x="9207818" y="255099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lps_source_component_oval_96"/>
          <p:cNvSpPr/>
          <p:nvPr/>
        </p:nvSpPr>
        <p:spPr>
          <a:xfrm>
            <a:off x="9215316" y="255707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lps_source_component_oval_97"/>
          <p:cNvSpPr/>
          <p:nvPr/>
        </p:nvSpPr>
        <p:spPr>
          <a:xfrm>
            <a:off x="9229687" y="259045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lps_source_component_oval_98"/>
          <p:cNvSpPr/>
          <p:nvPr/>
        </p:nvSpPr>
        <p:spPr>
          <a:xfrm>
            <a:off x="9241684" y="2600184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pg_source_component_path_1"/>
          <p:cNvSpPr/>
          <p:nvPr/>
        </p:nvSpPr>
        <p:spPr>
          <a:xfrm>
            <a:off x="10477383" y="2418100"/>
            <a:ext cx="31815" cy="98639"/>
          </a:xfrm>
          <a:custGeom>
            <a:avLst/>
            <a:gdLst/>
            <a:ahLst/>
            <a:cxnLst/>
            <a:rect l="0" t="0" r="r" b="b"/>
            <a:pathLst>
              <a:path w="31815" h="98639">
                <a:moveTo>
                  <a:pt x="0" y="98639"/>
                </a:moveTo>
                <a:lnTo>
                  <a:pt x="31815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pg_source_component_path_2"/>
          <p:cNvSpPr/>
          <p:nvPr/>
        </p:nvSpPr>
        <p:spPr>
          <a:xfrm>
            <a:off x="10509198" y="236871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pg_source_component_path_3"/>
          <p:cNvSpPr/>
          <p:nvPr/>
        </p:nvSpPr>
        <p:spPr>
          <a:xfrm>
            <a:off x="10576927" y="231933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pg_source_component_path_4"/>
          <p:cNvSpPr/>
          <p:nvPr/>
        </p:nvSpPr>
        <p:spPr>
          <a:xfrm>
            <a:off x="10644656" y="226995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pg_source_component_path_5"/>
          <p:cNvSpPr/>
          <p:nvPr/>
        </p:nvSpPr>
        <p:spPr>
          <a:xfrm>
            <a:off x="10712385" y="222057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pg_source_component_path_6"/>
          <p:cNvSpPr/>
          <p:nvPr/>
        </p:nvSpPr>
        <p:spPr>
          <a:xfrm>
            <a:off x="10780113" y="2171189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pg_source_component_path_7"/>
          <p:cNvSpPr/>
          <p:nvPr/>
        </p:nvSpPr>
        <p:spPr>
          <a:xfrm>
            <a:off x="10847842" y="2171189"/>
            <a:ext cx="91329" cy="8854"/>
          </a:xfrm>
          <a:custGeom>
            <a:avLst/>
            <a:gdLst/>
            <a:ahLst/>
            <a:cxnLst/>
            <a:rect l="0" t="0" r="r" b="b"/>
            <a:pathLst>
              <a:path w="91329" h="8854">
                <a:moveTo>
                  <a:pt x="0" y="0"/>
                </a:moveTo>
                <a:lnTo>
                  <a:pt x="91329" y="8854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pg_source_component_path_8"/>
          <p:cNvSpPr/>
          <p:nvPr/>
        </p:nvSpPr>
        <p:spPr>
          <a:xfrm>
            <a:off x="10432491" y="2455168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pg_source_component_path_9"/>
          <p:cNvSpPr/>
          <p:nvPr/>
        </p:nvSpPr>
        <p:spPr>
          <a:xfrm>
            <a:off x="10416489" y="244373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pg_source_component_oval_10"/>
          <p:cNvSpPr/>
          <p:nvPr/>
        </p:nvSpPr>
        <p:spPr>
          <a:xfrm>
            <a:off x="10418775" y="244145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pg_source_component_oval_11"/>
          <p:cNvSpPr/>
          <p:nvPr/>
        </p:nvSpPr>
        <p:spPr>
          <a:xfrm>
            <a:off x="10425358" y="244652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pg_source_component_path_12"/>
          <p:cNvSpPr/>
          <p:nvPr/>
        </p:nvSpPr>
        <p:spPr>
          <a:xfrm>
            <a:off x="10477773" y="237500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pg_source_component_path_13"/>
          <p:cNvSpPr/>
          <p:nvPr/>
        </p:nvSpPr>
        <p:spPr>
          <a:xfrm>
            <a:off x="10461771" y="236357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pg_source_component_oval_14"/>
          <p:cNvSpPr/>
          <p:nvPr/>
        </p:nvSpPr>
        <p:spPr>
          <a:xfrm>
            <a:off x="10464057" y="236128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pg_source_component_oval_15"/>
          <p:cNvSpPr/>
          <p:nvPr/>
        </p:nvSpPr>
        <p:spPr>
          <a:xfrm>
            <a:off x="10470641" y="236635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pg_source_component_path_16"/>
          <p:cNvSpPr/>
          <p:nvPr/>
        </p:nvSpPr>
        <p:spPr>
          <a:xfrm>
            <a:off x="10545502" y="232561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pg_source_component_path_17"/>
          <p:cNvSpPr/>
          <p:nvPr/>
        </p:nvSpPr>
        <p:spPr>
          <a:xfrm>
            <a:off x="10529500" y="231418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pg_source_component_oval_18"/>
          <p:cNvSpPr/>
          <p:nvPr/>
        </p:nvSpPr>
        <p:spPr>
          <a:xfrm>
            <a:off x="10531786" y="231190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pg_source_component_oval_19"/>
          <p:cNvSpPr/>
          <p:nvPr/>
        </p:nvSpPr>
        <p:spPr>
          <a:xfrm>
            <a:off x="10538370" y="231697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pg_source_component_path_20"/>
          <p:cNvSpPr/>
          <p:nvPr/>
        </p:nvSpPr>
        <p:spPr>
          <a:xfrm>
            <a:off x="10613231" y="227623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pg_source_component_path_21"/>
          <p:cNvSpPr/>
          <p:nvPr/>
        </p:nvSpPr>
        <p:spPr>
          <a:xfrm>
            <a:off x="10597229" y="226480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pg_source_component_oval_22"/>
          <p:cNvSpPr/>
          <p:nvPr/>
        </p:nvSpPr>
        <p:spPr>
          <a:xfrm>
            <a:off x="10599515" y="226252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pg_source_component_oval_23"/>
          <p:cNvSpPr/>
          <p:nvPr/>
        </p:nvSpPr>
        <p:spPr>
          <a:xfrm>
            <a:off x="10606098" y="226759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pg_source_component_path_24"/>
          <p:cNvSpPr/>
          <p:nvPr/>
        </p:nvSpPr>
        <p:spPr>
          <a:xfrm>
            <a:off x="10680960" y="2226853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pg_source_component_path_25"/>
          <p:cNvSpPr/>
          <p:nvPr/>
        </p:nvSpPr>
        <p:spPr>
          <a:xfrm>
            <a:off x="10664958" y="2215423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pg_source_component_oval_26"/>
          <p:cNvSpPr/>
          <p:nvPr/>
        </p:nvSpPr>
        <p:spPr>
          <a:xfrm>
            <a:off x="10667244" y="2213137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pg_source_component_oval_27"/>
          <p:cNvSpPr/>
          <p:nvPr/>
        </p:nvSpPr>
        <p:spPr>
          <a:xfrm>
            <a:off x="10673827" y="2218212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pg_source_component_path_28"/>
          <p:cNvSpPr/>
          <p:nvPr/>
        </p:nvSpPr>
        <p:spPr>
          <a:xfrm>
            <a:off x="10748688" y="2177471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pg_source_component_path_29"/>
          <p:cNvSpPr/>
          <p:nvPr/>
        </p:nvSpPr>
        <p:spPr>
          <a:xfrm>
            <a:off x="10732686" y="216604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pg_source_component_oval_30"/>
          <p:cNvSpPr/>
          <p:nvPr/>
        </p:nvSpPr>
        <p:spPr>
          <a:xfrm>
            <a:off x="10734972" y="216375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pg_source_component_oval_31"/>
          <p:cNvSpPr/>
          <p:nvPr/>
        </p:nvSpPr>
        <p:spPr>
          <a:xfrm>
            <a:off x="10741556" y="2168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pg_source_component_path_32"/>
          <p:cNvSpPr/>
          <p:nvPr/>
        </p:nvSpPr>
        <p:spPr>
          <a:xfrm>
            <a:off x="10816417" y="2128089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pg_source_component_path_33"/>
          <p:cNvSpPr/>
          <p:nvPr/>
        </p:nvSpPr>
        <p:spPr>
          <a:xfrm>
            <a:off x="10800415" y="2116659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pg_source_component_oval_34"/>
          <p:cNvSpPr/>
          <p:nvPr/>
        </p:nvSpPr>
        <p:spPr>
          <a:xfrm>
            <a:off x="10802701" y="2114373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pg_source_component_oval_35"/>
          <p:cNvSpPr/>
          <p:nvPr/>
        </p:nvSpPr>
        <p:spPr>
          <a:xfrm>
            <a:off x="10809285" y="2119448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pg_source_component_path_36"/>
          <p:cNvSpPr/>
          <p:nvPr/>
        </p:nvSpPr>
        <p:spPr>
          <a:xfrm>
            <a:off x="10894278" y="2118472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pg_source_component_path_37"/>
          <p:cNvSpPr/>
          <p:nvPr/>
        </p:nvSpPr>
        <p:spPr>
          <a:xfrm>
            <a:off x="10878276" y="210704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pg_source_component_oval_38"/>
          <p:cNvSpPr/>
          <p:nvPr/>
        </p:nvSpPr>
        <p:spPr>
          <a:xfrm>
            <a:off x="10880562" y="210475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pg_source_component_oval_39"/>
          <p:cNvSpPr/>
          <p:nvPr/>
        </p:nvSpPr>
        <p:spPr>
          <a:xfrm>
            <a:off x="10887146" y="2109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pg_source_component_path_40"/>
          <p:cNvSpPr/>
          <p:nvPr/>
        </p:nvSpPr>
        <p:spPr>
          <a:xfrm>
            <a:off x="10621040" y="2713644"/>
            <a:ext cx="103643" cy="125"/>
          </a:xfrm>
          <a:custGeom>
            <a:avLst/>
            <a:gdLst/>
            <a:ahLst/>
            <a:cxnLst/>
            <a:rect l="0" t="0" r="r" b="b"/>
            <a:pathLst>
              <a:path w="103643" h="125">
                <a:moveTo>
                  <a:pt x="0" y="125"/>
                </a:moveTo>
                <a:lnTo>
                  <a:pt x="103643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pg_source_component_path_41"/>
          <p:cNvSpPr/>
          <p:nvPr/>
        </p:nvSpPr>
        <p:spPr>
          <a:xfrm>
            <a:off x="10724684" y="266426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pg_source_component_path_42"/>
          <p:cNvSpPr/>
          <p:nvPr/>
        </p:nvSpPr>
        <p:spPr>
          <a:xfrm>
            <a:off x="10792412" y="2614880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pg_source_component_path_43"/>
          <p:cNvSpPr/>
          <p:nvPr/>
        </p:nvSpPr>
        <p:spPr>
          <a:xfrm>
            <a:off x="10860141" y="256549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pg_source_component_path_44"/>
          <p:cNvSpPr/>
          <p:nvPr/>
        </p:nvSpPr>
        <p:spPr>
          <a:xfrm>
            <a:off x="10927870" y="251611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pg_source_component_path_45"/>
          <p:cNvSpPr/>
          <p:nvPr/>
        </p:nvSpPr>
        <p:spPr>
          <a:xfrm>
            <a:off x="10995599" y="246673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pg_source_component_path_46"/>
          <p:cNvSpPr/>
          <p:nvPr/>
        </p:nvSpPr>
        <p:spPr>
          <a:xfrm>
            <a:off x="11063328" y="2377073"/>
            <a:ext cx="19500" cy="89661"/>
          </a:xfrm>
          <a:custGeom>
            <a:avLst/>
            <a:gdLst/>
            <a:ahLst/>
            <a:cxnLst/>
            <a:rect l="0" t="0" r="r" b="b"/>
            <a:pathLst>
              <a:path w="19500" h="89661">
                <a:moveTo>
                  <a:pt x="0" y="89661"/>
                </a:moveTo>
                <a:lnTo>
                  <a:pt x="19500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pg_source_component_path_47"/>
          <p:cNvSpPr/>
          <p:nvPr/>
        </p:nvSpPr>
        <p:spPr>
          <a:xfrm>
            <a:off x="10621040" y="2713769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pg_source_component_path_48"/>
          <p:cNvSpPr/>
          <p:nvPr/>
        </p:nvSpPr>
        <p:spPr>
          <a:xfrm>
            <a:off x="10649931" y="276391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pg_source_component_oval_49"/>
          <p:cNvSpPr/>
          <p:nvPr/>
        </p:nvSpPr>
        <p:spPr>
          <a:xfrm>
            <a:off x="10652217" y="276162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pg_source_component_oval_50"/>
          <p:cNvSpPr/>
          <p:nvPr/>
        </p:nvSpPr>
        <p:spPr>
          <a:xfrm>
            <a:off x="10658801" y="276670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pg_source_component_path_51"/>
          <p:cNvSpPr/>
          <p:nvPr/>
        </p:nvSpPr>
        <p:spPr>
          <a:xfrm>
            <a:off x="10724684" y="271364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pg_source_component_path_52"/>
          <p:cNvSpPr/>
          <p:nvPr/>
        </p:nvSpPr>
        <p:spPr>
          <a:xfrm>
            <a:off x="10740107" y="27453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pg_source_component_oval_53"/>
          <p:cNvSpPr/>
          <p:nvPr/>
        </p:nvSpPr>
        <p:spPr>
          <a:xfrm>
            <a:off x="10742393" y="27430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pg_source_component_oval_54"/>
          <p:cNvSpPr/>
          <p:nvPr/>
        </p:nvSpPr>
        <p:spPr>
          <a:xfrm>
            <a:off x="10748976" y="27481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pg_source_component_path_55"/>
          <p:cNvSpPr/>
          <p:nvPr/>
        </p:nvSpPr>
        <p:spPr>
          <a:xfrm>
            <a:off x="10792412" y="2664262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pg_source_component_path_56"/>
          <p:cNvSpPr/>
          <p:nvPr/>
        </p:nvSpPr>
        <p:spPr>
          <a:xfrm>
            <a:off x="10807835" y="269593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pg_source_component_oval_57"/>
          <p:cNvSpPr/>
          <p:nvPr/>
        </p:nvSpPr>
        <p:spPr>
          <a:xfrm>
            <a:off x="10810121" y="269364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pg_source_component_oval_58"/>
          <p:cNvSpPr/>
          <p:nvPr/>
        </p:nvSpPr>
        <p:spPr>
          <a:xfrm>
            <a:off x="10816705" y="2698721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pg_source_component_path_59"/>
          <p:cNvSpPr/>
          <p:nvPr/>
        </p:nvSpPr>
        <p:spPr>
          <a:xfrm>
            <a:off x="10860141" y="261488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pg_source_component_path_60"/>
          <p:cNvSpPr/>
          <p:nvPr/>
        </p:nvSpPr>
        <p:spPr>
          <a:xfrm>
            <a:off x="10875564" y="264655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pg_source_component_oval_61"/>
          <p:cNvSpPr/>
          <p:nvPr/>
        </p:nvSpPr>
        <p:spPr>
          <a:xfrm>
            <a:off x="10877850" y="264426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pg_source_component_oval_62"/>
          <p:cNvSpPr/>
          <p:nvPr/>
        </p:nvSpPr>
        <p:spPr>
          <a:xfrm>
            <a:off x="10884434" y="264933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pg_source_component_path_63"/>
          <p:cNvSpPr/>
          <p:nvPr/>
        </p:nvSpPr>
        <p:spPr>
          <a:xfrm>
            <a:off x="10927870" y="256549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pg_source_component_path_64"/>
          <p:cNvSpPr/>
          <p:nvPr/>
        </p:nvSpPr>
        <p:spPr>
          <a:xfrm>
            <a:off x="10943293" y="259716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pg_source_component_oval_65"/>
          <p:cNvSpPr/>
          <p:nvPr/>
        </p:nvSpPr>
        <p:spPr>
          <a:xfrm>
            <a:off x="10945579" y="259488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pg_source_component_oval_66"/>
          <p:cNvSpPr/>
          <p:nvPr/>
        </p:nvSpPr>
        <p:spPr>
          <a:xfrm>
            <a:off x="10952163" y="259995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pg_source_component_path_67"/>
          <p:cNvSpPr/>
          <p:nvPr/>
        </p:nvSpPr>
        <p:spPr>
          <a:xfrm>
            <a:off x="10995599" y="251611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pg_source_component_path_68"/>
          <p:cNvSpPr/>
          <p:nvPr/>
        </p:nvSpPr>
        <p:spPr>
          <a:xfrm>
            <a:off x="11011022" y="254778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pg_source_component_oval_69"/>
          <p:cNvSpPr/>
          <p:nvPr/>
        </p:nvSpPr>
        <p:spPr>
          <a:xfrm>
            <a:off x="11013308" y="254550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pg_source_component_oval_70"/>
          <p:cNvSpPr/>
          <p:nvPr/>
        </p:nvSpPr>
        <p:spPr>
          <a:xfrm>
            <a:off x="11019892" y="255057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pg_source_component_path_71"/>
          <p:cNvSpPr/>
          <p:nvPr/>
        </p:nvSpPr>
        <p:spPr>
          <a:xfrm>
            <a:off x="11063328" y="246673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pg_source_component_path_72"/>
          <p:cNvSpPr/>
          <p:nvPr/>
        </p:nvSpPr>
        <p:spPr>
          <a:xfrm>
            <a:off x="11078751" y="249840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pg_source_component_oval_73"/>
          <p:cNvSpPr/>
          <p:nvPr/>
        </p:nvSpPr>
        <p:spPr>
          <a:xfrm>
            <a:off x="11081037" y="249611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pg_source_component_oval_74"/>
          <p:cNvSpPr/>
          <p:nvPr/>
        </p:nvSpPr>
        <p:spPr>
          <a:xfrm>
            <a:off x="11087621" y="250119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pg_source_component_path_75"/>
          <p:cNvSpPr/>
          <p:nvPr/>
        </p:nvSpPr>
        <p:spPr>
          <a:xfrm>
            <a:off x="11082828" y="2377073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pg_source_component_path_76"/>
          <p:cNvSpPr/>
          <p:nvPr/>
        </p:nvSpPr>
        <p:spPr>
          <a:xfrm>
            <a:off x="11111719" y="24272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pg_source_component_oval_77"/>
          <p:cNvSpPr/>
          <p:nvPr/>
        </p:nvSpPr>
        <p:spPr>
          <a:xfrm>
            <a:off x="11114005" y="24249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pg_source_component_oval_78"/>
          <p:cNvSpPr/>
          <p:nvPr/>
        </p:nvSpPr>
        <p:spPr>
          <a:xfrm>
            <a:off x="11120589" y="24300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pg_source_component_path_79"/>
          <p:cNvSpPr/>
          <p:nvPr/>
        </p:nvSpPr>
        <p:spPr>
          <a:xfrm>
            <a:off x="10467000" y="2186463"/>
            <a:ext cx="607740" cy="534353"/>
          </a:xfrm>
          <a:custGeom>
            <a:avLst/>
            <a:gdLst/>
            <a:ahLst/>
            <a:cxnLst/>
            <a:rect l="0" t="0" r="r" b="b"/>
            <a:pathLst>
              <a:path w="607740" h="534353">
                <a:moveTo>
                  <a:pt x="80871" y="245876"/>
                </a:moveTo>
                <a:lnTo>
                  <a:pt x="351787" y="48348"/>
                </a:lnTo>
                <a:cubicBezTo>
                  <a:pt x="418097" y="0"/>
                  <a:pt x="511045" y="14561"/>
                  <a:pt x="559393" y="80871"/>
                </a:cubicBezTo>
                <a:cubicBezTo>
                  <a:pt x="607740" y="147181"/>
                  <a:pt x="593179" y="240130"/>
                  <a:pt x="526869" y="288477"/>
                </a:cubicBezTo>
                <a:lnTo>
                  <a:pt x="255953" y="486006"/>
                </a:lnTo>
                <a:cubicBezTo>
                  <a:pt x="189643" y="534353"/>
                  <a:pt x="96695" y="519792"/>
                  <a:pt x="48348" y="453482"/>
                </a:cubicBezTo>
                <a:cubicBezTo>
                  <a:pt x="0" y="387172"/>
                  <a:pt x="14561" y="294224"/>
                  <a:pt x="80871" y="245876"/>
                </a:cubicBezTo>
                <a:close/>
              </a:path>
            </a:pathLst>
          </a:custGeom>
          <a:gradFill rotWithShape="1">
            <a:gsLst>
              <a:gs pos="0">
                <a:srgbClr val="E1D3EE"/>
              </a:gs>
              <a:gs pos="35000">
                <a:srgbClr val="CFB8E4"/>
              </a:gs>
              <a:gs pos="100000">
                <a:srgbClr val="A686C7"/>
              </a:gs>
            </a:gsLst>
            <a:lin ang="4200000" scaled="1"/>
          </a:gradFill>
          <a:ln w="10953" cap="rnd">
            <a:solidFill>
              <a:srgbClr val="7651A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pg_source_component_path_80"/>
          <p:cNvSpPr/>
          <p:nvPr/>
        </p:nvSpPr>
        <p:spPr>
          <a:xfrm>
            <a:off x="10484273" y="2203736"/>
            <a:ext cx="573194" cy="499807"/>
          </a:xfrm>
          <a:custGeom>
            <a:avLst/>
            <a:gdLst/>
            <a:ahLst/>
            <a:cxnLst/>
            <a:rect l="0" t="0" r="r" b="b"/>
            <a:pathLst>
              <a:path w="573194" h="499807">
                <a:moveTo>
                  <a:pt x="72577" y="240917"/>
                </a:moveTo>
                <a:lnTo>
                  <a:pt x="343492" y="43389"/>
                </a:lnTo>
                <a:cubicBezTo>
                  <a:pt x="403001" y="0"/>
                  <a:pt x="486416" y="13068"/>
                  <a:pt x="529805" y="72577"/>
                </a:cubicBezTo>
                <a:cubicBezTo>
                  <a:pt x="573194" y="132086"/>
                  <a:pt x="560126" y="215501"/>
                  <a:pt x="500617" y="258890"/>
                </a:cubicBezTo>
                <a:lnTo>
                  <a:pt x="229702" y="456418"/>
                </a:lnTo>
                <a:cubicBezTo>
                  <a:pt x="170193" y="499807"/>
                  <a:pt x="86778" y="486739"/>
                  <a:pt x="43389" y="427230"/>
                </a:cubicBezTo>
                <a:cubicBezTo>
                  <a:pt x="0" y="367721"/>
                  <a:pt x="13068" y="284306"/>
                  <a:pt x="72577" y="240917"/>
                </a:cubicBezTo>
                <a:close/>
              </a:path>
            </a:pathLst>
          </a:custGeom>
          <a:noFill/>
          <a:ln w="6191" cap="rnd">
            <a:solidFill>
              <a:srgbClr val="A686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pg_source_component_path_81"/>
          <p:cNvSpPr/>
          <p:nvPr/>
        </p:nvSpPr>
        <p:spPr>
          <a:xfrm>
            <a:off x="10606057" y="2344092"/>
            <a:ext cx="178866" cy="130414"/>
          </a:xfrm>
          <a:custGeom>
            <a:avLst/>
            <a:gdLst/>
            <a:ahLst/>
            <a:cxnLst/>
            <a:rect l="0" t="0" r="r" b="b"/>
            <a:pathLst>
              <a:path w="178866" h="130414">
                <a:moveTo>
                  <a:pt x="0" y="130414"/>
                </a:moveTo>
                <a:lnTo>
                  <a:pt x="178866" y="0"/>
                </a:lnTo>
              </a:path>
            </a:pathLst>
          </a:custGeom>
          <a:noFill/>
          <a:ln w="12382" cap="rnd">
            <a:solidFill>
              <a:srgbClr val="ECE3F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pg_source_component_oval_82"/>
          <p:cNvSpPr/>
          <p:nvPr/>
        </p:nvSpPr>
        <p:spPr>
          <a:xfrm>
            <a:off x="10663502" y="257759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pg_source_component_oval_83"/>
          <p:cNvSpPr/>
          <p:nvPr/>
        </p:nvSpPr>
        <p:spPr>
          <a:xfrm>
            <a:off x="10849371" y="2456785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pg_source_component_oval_84"/>
          <p:cNvSpPr/>
          <p:nvPr/>
        </p:nvSpPr>
        <p:spPr>
          <a:xfrm>
            <a:off x="10904308" y="2317428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pg_source_component_oval_85"/>
          <p:cNvSpPr/>
          <p:nvPr/>
        </p:nvSpPr>
        <p:spPr>
          <a:xfrm>
            <a:off x="10661656" y="243550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pg_source_component_oval_86"/>
          <p:cNvSpPr/>
          <p:nvPr/>
        </p:nvSpPr>
        <p:spPr>
          <a:xfrm>
            <a:off x="10652666" y="2670084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pg_source_component_oval_87"/>
          <p:cNvSpPr/>
          <p:nvPr/>
        </p:nvSpPr>
        <p:spPr>
          <a:xfrm>
            <a:off x="10780427" y="2576932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pg_source_component_oval_88"/>
          <p:cNvSpPr/>
          <p:nvPr/>
        </p:nvSpPr>
        <p:spPr>
          <a:xfrm>
            <a:off x="10918410" y="2476327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pg_source_component_oval_89"/>
          <p:cNvSpPr/>
          <p:nvPr/>
        </p:nvSpPr>
        <p:spPr>
          <a:xfrm>
            <a:off x="11020619" y="2401805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scfa_capillary_component_path_1"/>
          <p:cNvSpPr/>
          <p:nvPr/>
        </p:nvSpPr>
        <p:spPr>
          <a:xfrm>
            <a:off x="2753402" y="6567488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scfa_capillary_component_path_2"/>
          <p:cNvSpPr/>
          <p:nvPr/>
        </p:nvSpPr>
        <p:spPr>
          <a:xfrm>
            <a:off x="2753402" y="6561544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scfa_capillary_component_path_3"/>
          <p:cNvSpPr/>
          <p:nvPr/>
        </p:nvSpPr>
        <p:spPr>
          <a:xfrm>
            <a:off x="3026836" y="6567488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scfa_capillary_component_path_4"/>
          <p:cNvSpPr/>
          <p:nvPr/>
        </p:nvSpPr>
        <p:spPr>
          <a:xfrm>
            <a:off x="3026836" y="6561544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scfa_capillary_component_oval_5"/>
          <p:cNvSpPr/>
          <p:nvPr/>
        </p:nvSpPr>
        <p:spPr>
          <a:xfrm>
            <a:off x="2620331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scfa_capillary_component_oval_6"/>
          <p:cNvSpPr/>
          <p:nvPr/>
        </p:nvSpPr>
        <p:spPr>
          <a:xfrm>
            <a:off x="2680486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scfa_capillary_component_oval_7"/>
          <p:cNvSpPr/>
          <p:nvPr/>
        </p:nvSpPr>
        <p:spPr>
          <a:xfrm>
            <a:off x="2893765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scfa_capillary_component_oval_8"/>
          <p:cNvSpPr/>
          <p:nvPr/>
        </p:nvSpPr>
        <p:spPr>
          <a:xfrm>
            <a:off x="2953921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scfa_capillary_component_oval_9"/>
          <p:cNvSpPr/>
          <p:nvPr/>
        </p:nvSpPr>
        <p:spPr>
          <a:xfrm>
            <a:off x="3176314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scfa_capillary_component_oval_10"/>
          <p:cNvSpPr/>
          <p:nvPr/>
        </p:nvSpPr>
        <p:spPr>
          <a:xfrm>
            <a:off x="3236469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secondary_ba_capillary_component_path_1"/>
          <p:cNvSpPr/>
          <p:nvPr/>
        </p:nvSpPr>
        <p:spPr>
          <a:xfrm>
            <a:off x="4207603" y="6551657"/>
            <a:ext cx="203365" cy="244431"/>
          </a:xfrm>
          <a:custGeom>
            <a:avLst/>
            <a:gdLst/>
            <a:ahLst/>
            <a:cxnLst/>
            <a:rect l="0" t="0" r="r" b="b"/>
            <a:pathLst>
              <a:path w="203365" h="244431">
                <a:moveTo>
                  <a:pt x="0" y="62408"/>
                </a:moveTo>
                <a:lnTo>
                  <a:pt x="105449" y="0"/>
                </a:lnTo>
                <a:lnTo>
                  <a:pt x="203365" y="62408"/>
                </a:lnTo>
                <a:lnTo>
                  <a:pt x="203365" y="182023"/>
                </a:lnTo>
                <a:lnTo>
                  <a:pt x="105449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secondary_ba_capillary_component_path_2"/>
          <p:cNvSpPr/>
          <p:nvPr/>
        </p:nvSpPr>
        <p:spPr>
          <a:xfrm>
            <a:off x="4218604" y="6564039"/>
            <a:ext cx="94447" cy="58074"/>
          </a:xfrm>
          <a:custGeom>
            <a:avLst/>
            <a:gdLst/>
            <a:ahLst/>
            <a:cxnLst/>
            <a:rect l="0" t="0" r="r" b="b"/>
            <a:pathLst>
              <a:path w="94447" h="58074">
                <a:moveTo>
                  <a:pt x="0" y="58074"/>
                </a:moveTo>
                <a:lnTo>
                  <a:pt x="94447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secondary_ba_capillary_component_path_3"/>
          <p:cNvSpPr/>
          <p:nvPr/>
        </p:nvSpPr>
        <p:spPr>
          <a:xfrm>
            <a:off x="4410968" y="6551657"/>
            <a:ext cx="195833" cy="244431"/>
          </a:xfrm>
          <a:custGeom>
            <a:avLst/>
            <a:gdLst/>
            <a:ahLst/>
            <a:cxnLst/>
            <a:rect l="0" t="0" r="r" b="b"/>
            <a:pathLst>
              <a:path w="195833" h="244431">
                <a:moveTo>
                  <a:pt x="0" y="62408"/>
                </a:moveTo>
                <a:lnTo>
                  <a:pt x="97916" y="0"/>
                </a:lnTo>
                <a:lnTo>
                  <a:pt x="195833" y="62408"/>
                </a:lnTo>
                <a:lnTo>
                  <a:pt x="195833" y="182023"/>
                </a:lnTo>
                <a:lnTo>
                  <a:pt x="97916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secondary_ba_capillary_component_path_4"/>
          <p:cNvSpPr/>
          <p:nvPr/>
        </p:nvSpPr>
        <p:spPr>
          <a:xfrm>
            <a:off x="4421969" y="6564039"/>
            <a:ext cx="86915" cy="58074"/>
          </a:xfrm>
          <a:custGeom>
            <a:avLst/>
            <a:gdLst/>
            <a:ahLst/>
            <a:cxnLst/>
            <a:rect l="0" t="0" r="r" b="b"/>
            <a:pathLst>
              <a:path w="86915" h="58074">
                <a:moveTo>
                  <a:pt x="0" y="58074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secondary_ba_capillary_component_path_5"/>
          <p:cNvSpPr/>
          <p:nvPr/>
        </p:nvSpPr>
        <p:spPr>
          <a:xfrm>
            <a:off x="4410968" y="6421641"/>
            <a:ext cx="210897" cy="254832"/>
          </a:xfrm>
          <a:custGeom>
            <a:avLst/>
            <a:gdLst/>
            <a:ahLst/>
            <a:cxnLst/>
            <a:rect l="0" t="0" r="r" b="b"/>
            <a:pathLst>
              <a:path w="210897" h="254832">
                <a:moveTo>
                  <a:pt x="0" y="67608"/>
                </a:moveTo>
                <a:lnTo>
                  <a:pt x="112981" y="0"/>
                </a:lnTo>
                <a:lnTo>
                  <a:pt x="210897" y="67608"/>
                </a:lnTo>
                <a:lnTo>
                  <a:pt x="210897" y="187223"/>
                </a:lnTo>
                <a:lnTo>
                  <a:pt x="112981" y="2548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secondary_ba_capillary_component_path_6"/>
          <p:cNvSpPr/>
          <p:nvPr/>
        </p:nvSpPr>
        <p:spPr>
          <a:xfrm>
            <a:off x="4421969" y="6434023"/>
            <a:ext cx="101979" cy="63275"/>
          </a:xfrm>
          <a:custGeom>
            <a:avLst/>
            <a:gdLst/>
            <a:ahLst/>
            <a:cxnLst/>
            <a:rect l="0" t="0" r="r" b="b"/>
            <a:pathLst>
              <a:path w="101979" h="63275">
                <a:moveTo>
                  <a:pt x="0" y="63275"/>
                </a:moveTo>
                <a:lnTo>
                  <a:pt x="101979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secondary_ba_capillary_component_path_7"/>
          <p:cNvSpPr/>
          <p:nvPr/>
        </p:nvSpPr>
        <p:spPr>
          <a:xfrm>
            <a:off x="4621865" y="6416440"/>
            <a:ext cx="195833" cy="260032"/>
          </a:xfrm>
          <a:custGeom>
            <a:avLst/>
            <a:gdLst/>
            <a:ahLst/>
            <a:cxnLst/>
            <a:rect l="0" t="0" r="r" b="b"/>
            <a:pathLst>
              <a:path w="195833" h="260032">
                <a:moveTo>
                  <a:pt x="0" y="67608"/>
                </a:moveTo>
                <a:lnTo>
                  <a:pt x="97916" y="0"/>
                </a:lnTo>
                <a:lnTo>
                  <a:pt x="195833" y="67608"/>
                </a:lnTo>
                <a:lnTo>
                  <a:pt x="195833" y="192424"/>
                </a:lnTo>
                <a:lnTo>
                  <a:pt x="97916" y="2600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secondary_ba_capillary_component_path_8"/>
          <p:cNvSpPr/>
          <p:nvPr/>
        </p:nvSpPr>
        <p:spPr>
          <a:xfrm>
            <a:off x="4632867" y="6428823"/>
            <a:ext cx="86915" cy="63275"/>
          </a:xfrm>
          <a:custGeom>
            <a:avLst/>
            <a:gdLst/>
            <a:ahLst/>
            <a:cxnLst/>
            <a:rect l="0" t="0" r="r" b="b"/>
            <a:pathLst>
              <a:path w="86915" h="63275">
                <a:moveTo>
                  <a:pt x="0" y="63275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secondary_ba_capillary_component_path_9"/>
          <p:cNvSpPr/>
          <p:nvPr/>
        </p:nvSpPr>
        <p:spPr>
          <a:xfrm>
            <a:off x="4817698" y="6421641"/>
            <a:ext cx="158173" cy="187223"/>
          </a:xfrm>
          <a:custGeom>
            <a:avLst/>
            <a:gdLst/>
            <a:ahLst/>
            <a:cxnLst/>
            <a:rect l="0" t="0" r="r" b="b"/>
            <a:pathLst>
              <a:path w="158173" h="187223">
                <a:moveTo>
                  <a:pt x="0" y="57207"/>
                </a:moveTo>
                <a:lnTo>
                  <a:pt x="82852" y="0"/>
                </a:lnTo>
                <a:lnTo>
                  <a:pt x="158173" y="57207"/>
                </a:lnTo>
                <a:lnTo>
                  <a:pt x="158173" y="171621"/>
                </a:lnTo>
                <a:lnTo>
                  <a:pt x="0" y="1872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secondary_ba_capillary_component_path_10"/>
          <p:cNvSpPr/>
          <p:nvPr/>
        </p:nvSpPr>
        <p:spPr>
          <a:xfrm>
            <a:off x="4828699" y="6434023"/>
            <a:ext cx="71851" cy="52873"/>
          </a:xfrm>
          <a:custGeom>
            <a:avLst/>
            <a:gdLst/>
            <a:ahLst/>
            <a:cxnLst/>
            <a:rect l="0" t="0" r="r" b="b"/>
            <a:pathLst>
              <a:path w="71851" h="52873">
                <a:moveTo>
                  <a:pt x="0" y="52873"/>
                </a:moveTo>
                <a:lnTo>
                  <a:pt x="71851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secondary_ba_capillary_component_path_11"/>
          <p:cNvSpPr/>
          <p:nvPr/>
        </p:nvSpPr>
        <p:spPr>
          <a:xfrm>
            <a:off x="4900550" y="6333230"/>
            <a:ext cx="95" cy="88411"/>
          </a:xfrm>
          <a:custGeom>
            <a:avLst/>
            <a:gdLst/>
            <a:ahLst/>
            <a:cxnLst/>
            <a:rect l="0" t="0" r="r" b="b"/>
            <a:pathLst>
              <a:path w="95" h="88411">
                <a:moveTo>
                  <a:pt x="0" y="88411"/>
                </a:moveTo>
                <a:lnTo>
                  <a:pt x="0" y="0"/>
                </a:lnTo>
              </a:path>
            </a:pathLst>
          </a:custGeom>
          <a:noFill/>
          <a:ln w="19041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secondary_ba_capillary_component_path_12"/>
          <p:cNvSpPr/>
          <p:nvPr/>
        </p:nvSpPr>
        <p:spPr>
          <a:xfrm>
            <a:off x="4486288" y="6582861"/>
            <a:ext cx="37660" cy="20803"/>
          </a:xfrm>
          <a:custGeom>
            <a:avLst/>
            <a:gdLst/>
            <a:ahLst/>
            <a:cxnLst/>
            <a:rect l="0" t="0" r="r" b="b"/>
            <a:pathLst>
              <a:path w="37660" h="20803">
                <a:moveTo>
                  <a:pt x="0" y="20803"/>
                </a:moveTo>
                <a:lnTo>
                  <a:pt x="37660" y="0"/>
                </a:lnTo>
              </a:path>
            </a:pathLst>
          </a:custGeom>
          <a:noFill/>
          <a:ln w="25388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indole_capillary_component_path_1"/>
          <p:cNvSpPr/>
          <p:nvPr/>
        </p:nvSpPr>
        <p:spPr>
          <a:xfrm>
            <a:off x="5798950" y="630268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indole_capillary_component_path_2"/>
          <p:cNvSpPr/>
          <p:nvPr/>
        </p:nvSpPr>
        <p:spPr>
          <a:xfrm>
            <a:off x="6160147" y="635264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indole_capillary_component_path_3"/>
          <p:cNvSpPr/>
          <p:nvPr/>
        </p:nvSpPr>
        <p:spPr>
          <a:xfrm>
            <a:off x="5839083" y="635820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indole_capillary_component_path_4"/>
          <p:cNvSpPr/>
          <p:nvPr/>
        </p:nvSpPr>
        <p:spPr>
          <a:xfrm>
            <a:off x="6026371" y="635820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indole_capillary_component_path_5"/>
          <p:cNvSpPr/>
          <p:nvPr/>
        </p:nvSpPr>
        <p:spPr>
          <a:xfrm>
            <a:off x="5839083" y="648032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indole_capillary_component_path_6"/>
          <p:cNvSpPr/>
          <p:nvPr/>
        </p:nvSpPr>
        <p:spPr>
          <a:xfrm>
            <a:off x="6026371" y="663575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indole_capillary_component_path_7"/>
          <p:cNvSpPr/>
          <p:nvPr/>
        </p:nvSpPr>
        <p:spPr>
          <a:xfrm>
            <a:off x="6334057" y="641926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indole_capillary_component_path_8"/>
          <p:cNvSpPr/>
          <p:nvPr/>
        </p:nvSpPr>
        <p:spPr>
          <a:xfrm>
            <a:off x="6347435" y="658579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indole_capillary_component_atom_9"/>
          <p:cNvSpPr txBox="1"/>
          <p:nvPr/>
        </p:nvSpPr>
        <p:spPr>
          <a:xfrm>
            <a:off x="6314599" y="6694932"/>
            <a:ext cx="136817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88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695" name="tma_capillary_component_path_1"/>
          <p:cNvSpPr/>
          <p:nvPr/>
        </p:nvSpPr>
        <p:spPr>
          <a:xfrm>
            <a:off x="7848600" y="6311316"/>
            <a:ext cx="95" cy="300166"/>
          </a:xfrm>
          <a:custGeom>
            <a:avLst/>
            <a:gdLst/>
            <a:ahLst/>
            <a:cxnLst/>
            <a:rect l="0" t="0" r="r" b="b"/>
            <a:pathLst>
              <a:path w="95" h="300166">
                <a:moveTo>
                  <a:pt x="0" y="300166"/>
                </a:moveTo>
                <a:lnTo>
                  <a:pt x="0" y="0"/>
                </a:lnTo>
              </a:path>
            </a:pathLst>
          </a:custGeom>
          <a:noFill/>
          <a:ln w="114300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tma_capillary_component_path_2"/>
          <p:cNvSpPr/>
          <p:nvPr/>
        </p:nvSpPr>
        <p:spPr>
          <a:xfrm>
            <a:off x="7848600" y="6311316"/>
            <a:ext cx="95" cy="300166"/>
          </a:xfrm>
          <a:custGeom>
            <a:avLst/>
            <a:gdLst/>
            <a:ahLst/>
            <a:cxnLst/>
            <a:rect l="0" t="0" r="r" b="b"/>
            <a:pathLst>
              <a:path w="95" h="300166">
                <a:moveTo>
                  <a:pt x="0" y="300166"/>
                </a:moveTo>
                <a:lnTo>
                  <a:pt x="0" y="0"/>
                </a:lnTo>
              </a:path>
            </a:pathLst>
          </a:custGeom>
          <a:noFill/>
          <a:ln w="87630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tma_capillary_component_path_3"/>
          <p:cNvSpPr/>
          <p:nvPr/>
        </p:nvSpPr>
        <p:spPr>
          <a:xfrm>
            <a:off x="7836408" y="6311316"/>
            <a:ext cx="6096" cy="286825"/>
          </a:xfrm>
          <a:custGeom>
            <a:avLst/>
            <a:gdLst/>
            <a:ahLst/>
            <a:cxnLst/>
            <a:rect l="0" t="0" r="r" b="b"/>
            <a:pathLst>
              <a:path w="6096" h="286825">
                <a:moveTo>
                  <a:pt x="0" y="286825"/>
                </a:moveTo>
                <a:lnTo>
                  <a:pt x="6096" y="0"/>
                </a:lnTo>
              </a:path>
            </a:pathLst>
          </a:custGeom>
          <a:noFill/>
          <a:ln w="19050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tma_capillary_component_path_4"/>
          <p:cNvSpPr/>
          <p:nvPr/>
        </p:nvSpPr>
        <p:spPr>
          <a:xfrm>
            <a:off x="7653528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195072" y="0"/>
                </a:moveTo>
                <a:lnTo>
                  <a:pt x="0" y="140078"/>
                </a:lnTo>
              </a:path>
            </a:pathLst>
          </a:custGeom>
          <a:noFill/>
          <a:ln w="114300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tma_capillary_component_path_5"/>
          <p:cNvSpPr/>
          <p:nvPr/>
        </p:nvSpPr>
        <p:spPr>
          <a:xfrm>
            <a:off x="7653528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195072" y="0"/>
                </a:moveTo>
                <a:lnTo>
                  <a:pt x="0" y="140078"/>
                </a:lnTo>
              </a:path>
            </a:pathLst>
          </a:custGeom>
          <a:noFill/>
          <a:ln w="87630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tma_capillary_component_path_6"/>
          <p:cNvSpPr/>
          <p:nvPr/>
        </p:nvSpPr>
        <p:spPr>
          <a:xfrm>
            <a:off x="7647432" y="6598142"/>
            <a:ext cx="188976" cy="153418"/>
          </a:xfrm>
          <a:custGeom>
            <a:avLst/>
            <a:gdLst/>
            <a:ahLst/>
            <a:cxnLst/>
            <a:rect l="0" t="0" r="r" b="b"/>
            <a:pathLst>
              <a:path w="188976" h="153418">
                <a:moveTo>
                  <a:pt x="188976" y="0"/>
                </a:moveTo>
                <a:lnTo>
                  <a:pt x="0" y="153418"/>
                </a:lnTo>
              </a:path>
            </a:pathLst>
          </a:custGeom>
          <a:noFill/>
          <a:ln w="19050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tma_capillary_component_path_7"/>
          <p:cNvSpPr/>
          <p:nvPr/>
        </p:nvSpPr>
        <p:spPr>
          <a:xfrm>
            <a:off x="7848600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0" y="0"/>
                </a:moveTo>
                <a:lnTo>
                  <a:pt x="195072" y="140078"/>
                </a:lnTo>
              </a:path>
            </a:pathLst>
          </a:custGeom>
          <a:noFill/>
          <a:ln w="114300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tma_capillary_component_path_8"/>
          <p:cNvSpPr/>
          <p:nvPr/>
        </p:nvSpPr>
        <p:spPr>
          <a:xfrm>
            <a:off x="7848600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0" y="0"/>
                </a:moveTo>
                <a:lnTo>
                  <a:pt x="195072" y="140078"/>
                </a:lnTo>
              </a:path>
            </a:pathLst>
          </a:custGeom>
          <a:noFill/>
          <a:ln w="87630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tma_capillary_component_path_9"/>
          <p:cNvSpPr/>
          <p:nvPr/>
        </p:nvSpPr>
        <p:spPr>
          <a:xfrm>
            <a:off x="7836408" y="6598142"/>
            <a:ext cx="201168" cy="153418"/>
          </a:xfrm>
          <a:custGeom>
            <a:avLst/>
            <a:gdLst/>
            <a:ahLst/>
            <a:cxnLst/>
            <a:rect l="0" t="0" r="r" b="b"/>
            <a:pathLst>
              <a:path w="201168" h="153418">
                <a:moveTo>
                  <a:pt x="0" y="0"/>
                </a:moveTo>
                <a:lnTo>
                  <a:pt x="201168" y="153418"/>
                </a:lnTo>
              </a:path>
            </a:pathLst>
          </a:custGeom>
          <a:noFill/>
          <a:ln w="19050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tma_capillary_component_oval_10"/>
          <p:cNvSpPr/>
          <p:nvPr/>
        </p:nvSpPr>
        <p:spPr>
          <a:xfrm>
            <a:off x="7757160" y="6511427"/>
            <a:ext cx="182880" cy="200111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tma_capillary_component_oval_11"/>
          <p:cNvSpPr/>
          <p:nvPr/>
        </p:nvSpPr>
        <p:spPr>
          <a:xfrm>
            <a:off x="7801051" y="6548448"/>
            <a:ext cx="47549" cy="3702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tma_capillary_component_oval_12"/>
          <p:cNvSpPr/>
          <p:nvPr/>
        </p:nvSpPr>
        <p:spPr>
          <a:xfrm>
            <a:off x="7772400" y="6227937"/>
            <a:ext cx="152400" cy="166759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tma_capillary_component_oval_13"/>
          <p:cNvSpPr/>
          <p:nvPr/>
        </p:nvSpPr>
        <p:spPr>
          <a:xfrm>
            <a:off x="7808976" y="6258787"/>
            <a:ext cx="39624" cy="3085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tma_capillary_component_oval_14"/>
          <p:cNvSpPr/>
          <p:nvPr/>
        </p:nvSpPr>
        <p:spPr>
          <a:xfrm>
            <a:off x="7577328" y="6668181"/>
            <a:ext cx="152400" cy="166759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tma_capillary_component_oval_15"/>
          <p:cNvSpPr/>
          <p:nvPr/>
        </p:nvSpPr>
        <p:spPr>
          <a:xfrm>
            <a:off x="7613904" y="6699031"/>
            <a:ext cx="39624" cy="3085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tma_capillary_component_oval_16"/>
          <p:cNvSpPr/>
          <p:nvPr/>
        </p:nvSpPr>
        <p:spPr>
          <a:xfrm>
            <a:off x="7967472" y="6668181"/>
            <a:ext cx="152400" cy="166759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tma_capillary_component_oval_17"/>
          <p:cNvSpPr/>
          <p:nvPr/>
        </p:nvSpPr>
        <p:spPr>
          <a:xfrm>
            <a:off x="8004048" y="6699031"/>
            <a:ext cx="39624" cy="3085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tma_capillary_component_atom_18"/>
          <p:cNvSpPr txBox="1"/>
          <p:nvPr/>
        </p:nvSpPr>
        <p:spPr>
          <a:xfrm>
            <a:off x="7757160" y="6491416"/>
            <a:ext cx="182880" cy="226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2170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713" name="tma_liver_component_path_1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tma_liver_component_path_2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tma_liver_component_path_3"/>
          <p:cNvSpPr/>
          <p:nvPr/>
        </p:nvSpPr>
        <p:spPr>
          <a:xfrm>
            <a:off x="9833991" y="6862242"/>
            <a:ext cx="5048" cy="237676"/>
          </a:xfrm>
          <a:custGeom>
            <a:avLst/>
            <a:gdLst/>
            <a:ahLst/>
            <a:cxnLst/>
            <a:rect l="0" t="0" r="r" b="b"/>
            <a:pathLst>
              <a:path w="5048" h="237676">
                <a:moveTo>
                  <a:pt x="0" y="237676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tma_liver_component_path_4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tma_liver_component_path_5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tma_liver_component_path_6"/>
          <p:cNvSpPr/>
          <p:nvPr/>
        </p:nvSpPr>
        <p:spPr>
          <a:xfrm>
            <a:off x="9677495" y="7099919"/>
            <a:ext cx="156496" cy="127129"/>
          </a:xfrm>
          <a:custGeom>
            <a:avLst/>
            <a:gdLst/>
            <a:ahLst/>
            <a:cxnLst/>
            <a:rect l="0" t="0" r="r" b="b"/>
            <a:pathLst>
              <a:path w="156496" h="127129">
                <a:moveTo>
                  <a:pt x="156496" y="0"/>
                </a:moveTo>
                <a:lnTo>
                  <a:pt x="0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tma_liver_component_path_7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tma_liver_component_path_8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tma_liver_component_path_9"/>
          <p:cNvSpPr/>
          <p:nvPr/>
        </p:nvSpPr>
        <p:spPr>
          <a:xfrm>
            <a:off x="9833991" y="7099919"/>
            <a:ext cx="166592" cy="127129"/>
          </a:xfrm>
          <a:custGeom>
            <a:avLst/>
            <a:gdLst/>
            <a:ahLst/>
            <a:cxnLst/>
            <a:rect l="0" t="0" r="r" b="b"/>
            <a:pathLst>
              <a:path w="166592" h="127129">
                <a:moveTo>
                  <a:pt x="0" y="0"/>
                </a:moveTo>
                <a:lnTo>
                  <a:pt x="166592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tma_liver_component_oval_10"/>
          <p:cNvSpPr/>
          <p:nvPr/>
        </p:nvSpPr>
        <p:spPr>
          <a:xfrm>
            <a:off x="9768364" y="7028063"/>
            <a:ext cx="151448" cy="165821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tma_liver_component_oval_11"/>
          <p:cNvSpPr/>
          <p:nvPr/>
        </p:nvSpPr>
        <p:spPr>
          <a:xfrm>
            <a:off x="9804711" y="7058740"/>
            <a:ext cx="39376" cy="30677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tma_liver_component_oval_12"/>
          <p:cNvSpPr/>
          <p:nvPr/>
        </p:nvSpPr>
        <p:spPr>
          <a:xfrm>
            <a:off x="9780984" y="6793150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ma_liver_component_oval_13"/>
          <p:cNvSpPr/>
          <p:nvPr/>
        </p:nvSpPr>
        <p:spPr>
          <a:xfrm>
            <a:off x="9811274" y="6818714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ma_liver_component_oval_14"/>
          <p:cNvSpPr/>
          <p:nvPr/>
        </p:nvSpPr>
        <p:spPr>
          <a:xfrm>
            <a:off x="9619440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ma_liver_component_oval_15"/>
          <p:cNvSpPr/>
          <p:nvPr/>
        </p:nvSpPr>
        <p:spPr>
          <a:xfrm>
            <a:off x="9649730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_liver_component_oval_16"/>
          <p:cNvSpPr/>
          <p:nvPr/>
        </p:nvSpPr>
        <p:spPr>
          <a:xfrm>
            <a:off x="9942528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_liver_component_oval_17"/>
          <p:cNvSpPr/>
          <p:nvPr/>
        </p:nvSpPr>
        <p:spPr>
          <a:xfrm>
            <a:off x="9972818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_liver_component_atom_18"/>
          <p:cNvSpPr txBox="1"/>
          <p:nvPr/>
        </p:nvSpPr>
        <p:spPr>
          <a:xfrm>
            <a:off x="9768364" y="7011481"/>
            <a:ext cx="151448" cy="1879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98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731" name="tmao_liver_component_path_1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o_liver_component_path_2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o_liver_component_path_3"/>
          <p:cNvSpPr/>
          <p:nvPr/>
        </p:nvSpPr>
        <p:spPr>
          <a:xfrm>
            <a:off x="11138916" y="6863100"/>
            <a:ext cx="5048" cy="239724"/>
          </a:xfrm>
          <a:custGeom>
            <a:avLst/>
            <a:gdLst/>
            <a:ahLst/>
            <a:cxnLst/>
            <a:rect l="0" t="0" r="r" b="b"/>
            <a:pathLst>
              <a:path w="5048" h="239724">
                <a:moveTo>
                  <a:pt x="0" y="239724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o_liver_component_path_4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o_liver_component_path_5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o_liver_component_path_6"/>
          <p:cNvSpPr/>
          <p:nvPr/>
        </p:nvSpPr>
        <p:spPr>
          <a:xfrm>
            <a:off x="10982420" y="7102824"/>
            <a:ext cx="156496" cy="128225"/>
          </a:xfrm>
          <a:custGeom>
            <a:avLst/>
            <a:gdLst/>
            <a:ahLst/>
            <a:cxnLst/>
            <a:rect l="0" t="0" r="r" b="b"/>
            <a:pathLst>
              <a:path w="156496" h="128225">
                <a:moveTo>
                  <a:pt x="156496" y="0"/>
                </a:moveTo>
                <a:lnTo>
                  <a:pt x="0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o_liver_component_path_7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o_liver_component_path_8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o_liver_component_path_9"/>
          <p:cNvSpPr/>
          <p:nvPr/>
        </p:nvSpPr>
        <p:spPr>
          <a:xfrm>
            <a:off x="11138916" y="7102824"/>
            <a:ext cx="166592" cy="128225"/>
          </a:xfrm>
          <a:custGeom>
            <a:avLst/>
            <a:gdLst/>
            <a:ahLst/>
            <a:cxnLst/>
            <a:rect l="0" t="0" r="r" b="b"/>
            <a:pathLst>
              <a:path w="166592" h="128225">
                <a:moveTo>
                  <a:pt x="0" y="0"/>
                </a:moveTo>
                <a:lnTo>
                  <a:pt x="166592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o_liver_component_oval_10"/>
          <p:cNvSpPr/>
          <p:nvPr/>
        </p:nvSpPr>
        <p:spPr>
          <a:xfrm>
            <a:off x="11073289" y="7030349"/>
            <a:ext cx="151448" cy="167249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tmao_liver_component_oval_11"/>
          <p:cNvSpPr/>
          <p:nvPr/>
        </p:nvSpPr>
        <p:spPr>
          <a:xfrm>
            <a:off x="11109636" y="7061290"/>
            <a:ext cx="39376" cy="30941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2" name="tmao_liver_component_oval_12"/>
          <p:cNvSpPr/>
          <p:nvPr/>
        </p:nvSpPr>
        <p:spPr>
          <a:xfrm>
            <a:off x="11085909" y="6793412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o_liver_component_oval_13"/>
          <p:cNvSpPr/>
          <p:nvPr/>
        </p:nvSpPr>
        <p:spPr>
          <a:xfrm>
            <a:off x="11116199" y="6819197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o_liver_component_oval_14"/>
          <p:cNvSpPr/>
          <p:nvPr/>
        </p:nvSpPr>
        <p:spPr>
          <a:xfrm>
            <a:off x="10924365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o_liver_component_oval_15"/>
          <p:cNvSpPr/>
          <p:nvPr/>
        </p:nvSpPr>
        <p:spPr>
          <a:xfrm>
            <a:off x="10954655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o_liver_component_oval_16"/>
          <p:cNvSpPr/>
          <p:nvPr/>
        </p:nvSpPr>
        <p:spPr>
          <a:xfrm>
            <a:off x="11247453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o_liver_component_oval_17"/>
          <p:cNvSpPr/>
          <p:nvPr/>
        </p:nvSpPr>
        <p:spPr>
          <a:xfrm>
            <a:off x="11277743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o_liver_component_atom_18"/>
          <p:cNvSpPr txBox="1"/>
          <p:nvPr/>
        </p:nvSpPr>
        <p:spPr>
          <a:xfrm>
            <a:off x="11073289" y="7013624"/>
            <a:ext cx="151448" cy="189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14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749" name="scfa_systemic_component_path_1"/>
          <p:cNvSpPr/>
          <p:nvPr/>
        </p:nvSpPr>
        <p:spPr>
          <a:xfrm>
            <a:off x="13473494" y="7348061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scfa_systemic_component_path_2"/>
          <p:cNvSpPr/>
          <p:nvPr/>
        </p:nvSpPr>
        <p:spPr>
          <a:xfrm>
            <a:off x="13473494" y="7343962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scfa_systemic_component_path_3"/>
          <p:cNvSpPr/>
          <p:nvPr/>
        </p:nvSpPr>
        <p:spPr>
          <a:xfrm>
            <a:off x="13662088" y="7348061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scfa_systemic_component_path_4"/>
          <p:cNvSpPr/>
          <p:nvPr/>
        </p:nvSpPr>
        <p:spPr>
          <a:xfrm>
            <a:off x="13662088" y="7343962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scfa_systemic_component_oval_5"/>
          <p:cNvSpPr/>
          <p:nvPr/>
        </p:nvSpPr>
        <p:spPr>
          <a:xfrm>
            <a:off x="13381711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scfa_systemic_component_oval_6"/>
          <p:cNvSpPr/>
          <p:nvPr/>
        </p:nvSpPr>
        <p:spPr>
          <a:xfrm>
            <a:off x="13423202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scfa_systemic_component_oval_7"/>
          <p:cNvSpPr/>
          <p:nvPr/>
        </p:nvSpPr>
        <p:spPr>
          <a:xfrm>
            <a:off x="13570306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scfa_systemic_component_oval_8"/>
          <p:cNvSpPr/>
          <p:nvPr/>
        </p:nvSpPr>
        <p:spPr>
          <a:xfrm>
            <a:off x="13611796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scfa_systemic_component_oval_9"/>
          <p:cNvSpPr/>
          <p:nvPr/>
        </p:nvSpPr>
        <p:spPr>
          <a:xfrm>
            <a:off x="13765187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scfa_systemic_component_oval_10"/>
          <p:cNvSpPr/>
          <p:nvPr/>
        </p:nvSpPr>
        <p:spPr>
          <a:xfrm>
            <a:off x="13806678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secondary_ba_systemic_component_path_1"/>
          <p:cNvSpPr/>
          <p:nvPr/>
        </p:nvSpPr>
        <p:spPr>
          <a:xfrm>
            <a:off x="14060195" y="7231173"/>
            <a:ext cx="137331" cy="165085"/>
          </a:xfrm>
          <a:custGeom>
            <a:avLst/>
            <a:gdLst/>
            <a:ahLst/>
            <a:cxnLst/>
            <a:rect l="0" t="0" r="r" b="b"/>
            <a:pathLst>
              <a:path w="137331" h="165085">
                <a:moveTo>
                  <a:pt x="0" y="42149"/>
                </a:moveTo>
                <a:lnTo>
                  <a:pt x="71209" y="0"/>
                </a:lnTo>
                <a:lnTo>
                  <a:pt x="137331" y="42149"/>
                </a:lnTo>
                <a:lnTo>
                  <a:pt x="137331" y="122935"/>
                </a:lnTo>
                <a:lnTo>
                  <a:pt x="71209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0" name="secondary_ba_systemic_component_path_2"/>
          <p:cNvSpPr/>
          <p:nvPr/>
        </p:nvSpPr>
        <p:spPr>
          <a:xfrm>
            <a:off x="14067625" y="7239536"/>
            <a:ext cx="63779" cy="39222"/>
          </a:xfrm>
          <a:custGeom>
            <a:avLst/>
            <a:gdLst/>
            <a:ahLst/>
            <a:cxnLst/>
            <a:rect l="0" t="0" r="r" b="b"/>
            <a:pathLst>
              <a:path w="63779" h="39222">
                <a:moveTo>
                  <a:pt x="0" y="39222"/>
                </a:moveTo>
                <a:lnTo>
                  <a:pt x="63779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secondary_ba_systemic_component_path_3"/>
          <p:cNvSpPr/>
          <p:nvPr/>
        </p:nvSpPr>
        <p:spPr>
          <a:xfrm>
            <a:off x="14197527" y="7231173"/>
            <a:ext cx="132245" cy="165085"/>
          </a:xfrm>
          <a:custGeom>
            <a:avLst/>
            <a:gdLst/>
            <a:ahLst/>
            <a:cxnLst/>
            <a:rect l="0" t="0" r="r" b="b"/>
            <a:pathLst>
              <a:path w="132245" h="165085">
                <a:moveTo>
                  <a:pt x="0" y="42149"/>
                </a:moveTo>
                <a:lnTo>
                  <a:pt x="66123" y="0"/>
                </a:lnTo>
                <a:lnTo>
                  <a:pt x="132245" y="42149"/>
                </a:lnTo>
                <a:lnTo>
                  <a:pt x="132245" y="122935"/>
                </a:lnTo>
                <a:lnTo>
                  <a:pt x="66123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secondary_ba_systemic_component_path_4"/>
          <p:cNvSpPr/>
          <p:nvPr/>
        </p:nvSpPr>
        <p:spPr>
          <a:xfrm>
            <a:off x="14204956" y="7239536"/>
            <a:ext cx="58693" cy="39222"/>
          </a:xfrm>
          <a:custGeom>
            <a:avLst/>
            <a:gdLst/>
            <a:ahLst/>
            <a:cxnLst/>
            <a:rect l="0" t="0" r="r" b="b"/>
            <a:pathLst>
              <a:path w="58693" h="39222">
                <a:moveTo>
                  <a:pt x="0" y="39222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secondary_ba_systemic_component_path_5"/>
          <p:cNvSpPr/>
          <p:nvPr/>
        </p:nvSpPr>
        <p:spPr>
          <a:xfrm>
            <a:off x="14197527" y="7143362"/>
            <a:ext cx="142418" cy="172110"/>
          </a:xfrm>
          <a:custGeom>
            <a:avLst/>
            <a:gdLst/>
            <a:ahLst/>
            <a:cxnLst/>
            <a:rect l="0" t="0" r="r" b="b"/>
            <a:pathLst>
              <a:path w="142418" h="172110">
                <a:moveTo>
                  <a:pt x="0" y="45662"/>
                </a:moveTo>
                <a:lnTo>
                  <a:pt x="76295" y="0"/>
                </a:lnTo>
                <a:lnTo>
                  <a:pt x="142418" y="45662"/>
                </a:lnTo>
                <a:lnTo>
                  <a:pt x="142418" y="126448"/>
                </a:lnTo>
                <a:lnTo>
                  <a:pt x="76295" y="172110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secondary_ba_systemic_component_path_6"/>
          <p:cNvSpPr/>
          <p:nvPr/>
        </p:nvSpPr>
        <p:spPr>
          <a:xfrm>
            <a:off x="14204956" y="7151725"/>
            <a:ext cx="68866" cy="42735"/>
          </a:xfrm>
          <a:custGeom>
            <a:avLst/>
            <a:gdLst/>
            <a:ahLst/>
            <a:cxnLst/>
            <a:rect l="0" t="0" r="r" b="b"/>
            <a:pathLst>
              <a:path w="68866" h="42735">
                <a:moveTo>
                  <a:pt x="0" y="42735"/>
                </a:moveTo>
                <a:lnTo>
                  <a:pt x="68866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secondary_ba_systemic_component_path_7"/>
          <p:cNvSpPr/>
          <p:nvPr/>
        </p:nvSpPr>
        <p:spPr>
          <a:xfrm>
            <a:off x="14339945" y="7139850"/>
            <a:ext cx="132245" cy="175622"/>
          </a:xfrm>
          <a:custGeom>
            <a:avLst/>
            <a:gdLst/>
            <a:ahLst/>
            <a:cxnLst/>
            <a:rect l="0" t="0" r="r" b="b"/>
            <a:pathLst>
              <a:path w="132245" h="175622">
                <a:moveTo>
                  <a:pt x="0" y="45662"/>
                </a:moveTo>
                <a:lnTo>
                  <a:pt x="66123" y="0"/>
                </a:lnTo>
                <a:lnTo>
                  <a:pt x="132245" y="45662"/>
                </a:lnTo>
                <a:lnTo>
                  <a:pt x="132245" y="129960"/>
                </a:lnTo>
                <a:lnTo>
                  <a:pt x="66123" y="175622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secondary_ba_systemic_component_path_8"/>
          <p:cNvSpPr/>
          <p:nvPr/>
        </p:nvSpPr>
        <p:spPr>
          <a:xfrm>
            <a:off x="14347374" y="7148213"/>
            <a:ext cx="58693" cy="42735"/>
          </a:xfrm>
          <a:custGeom>
            <a:avLst/>
            <a:gdLst/>
            <a:ahLst/>
            <a:cxnLst/>
            <a:rect l="0" t="0" r="r" b="b"/>
            <a:pathLst>
              <a:path w="58693" h="42735">
                <a:moveTo>
                  <a:pt x="0" y="42735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secondary_ba_systemic_component_path_9"/>
          <p:cNvSpPr/>
          <p:nvPr/>
        </p:nvSpPr>
        <p:spPr>
          <a:xfrm>
            <a:off x="14472190" y="7143362"/>
            <a:ext cx="106813" cy="126448"/>
          </a:xfrm>
          <a:custGeom>
            <a:avLst/>
            <a:gdLst/>
            <a:ahLst/>
            <a:cxnLst/>
            <a:rect l="0" t="0" r="r" b="b"/>
            <a:pathLst>
              <a:path w="106813" h="126448">
                <a:moveTo>
                  <a:pt x="0" y="38637"/>
                </a:moveTo>
                <a:lnTo>
                  <a:pt x="55950" y="0"/>
                </a:lnTo>
                <a:lnTo>
                  <a:pt x="106813" y="38637"/>
                </a:lnTo>
                <a:lnTo>
                  <a:pt x="106813" y="115910"/>
                </a:lnTo>
                <a:lnTo>
                  <a:pt x="0" y="126448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secondary_ba_systemic_component_path_10"/>
          <p:cNvSpPr/>
          <p:nvPr/>
        </p:nvSpPr>
        <p:spPr>
          <a:xfrm>
            <a:off x="14479619" y="7151725"/>
            <a:ext cx="48520" cy="35710"/>
          </a:xfrm>
          <a:custGeom>
            <a:avLst/>
            <a:gdLst/>
            <a:ahLst/>
            <a:cxnLst/>
            <a:rect l="0" t="0" r="r" b="b"/>
            <a:pathLst>
              <a:path w="48520" h="35710">
                <a:moveTo>
                  <a:pt x="0" y="35710"/>
                </a:moveTo>
                <a:lnTo>
                  <a:pt x="48520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secondary_ba_systemic_component_path_11"/>
          <p:cNvSpPr/>
          <p:nvPr/>
        </p:nvSpPr>
        <p:spPr>
          <a:xfrm>
            <a:off x="14528140" y="7083651"/>
            <a:ext cx="95" cy="59711"/>
          </a:xfrm>
          <a:custGeom>
            <a:avLst/>
            <a:gdLst/>
            <a:ahLst/>
            <a:cxnLst/>
            <a:rect l="0" t="0" r="r" b="b"/>
            <a:pathLst>
              <a:path w="95" h="59711">
                <a:moveTo>
                  <a:pt x="0" y="59711"/>
                </a:moveTo>
                <a:lnTo>
                  <a:pt x="0" y="0"/>
                </a:lnTo>
              </a:path>
            </a:pathLst>
          </a:custGeom>
          <a:noFill/>
          <a:ln w="12858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secondary_ba_systemic_component_path_12"/>
          <p:cNvSpPr/>
          <p:nvPr/>
        </p:nvSpPr>
        <p:spPr>
          <a:xfrm>
            <a:off x="14248390" y="7252248"/>
            <a:ext cx="25432" cy="14050"/>
          </a:xfrm>
          <a:custGeom>
            <a:avLst/>
            <a:gdLst/>
            <a:ahLst/>
            <a:cxnLst/>
            <a:rect l="0" t="0" r="r" b="b"/>
            <a:pathLst>
              <a:path w="25432" h="14050">
                <a:moveTo>
                  <a:pt x="0" y="14050"/>
                </a:moveTo>
                <a:lnTo>
                  <a:pt x="25432" y="0"/>
                </a:lnTo>
              </a:path>
            </a:pathLst>
          </a:custGeom>
          <a:noFill/>
          <a:ln w="17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indole_systemic_component_path_1"/>
          <p:cNvSpPr/>
          <p:nvPr/>
        </p:nvSpPr>
        <p:spPr>
          <a:xfrm>
            <a:off x="13284034" y="7526385"/>
            <a:ext cx="167472" cy="202649"/>
          </a:xfrm>
          <a:custGeom>
            <a:avLst/>
            <a:gdLst/>
            <a:ahLst/>
            <a:cxnLst/>
            <a:rect l="0" t="0" r="r" b="b"/>
            <a:pathLst>
              <a:path w="167472" h="202649">
                <a:moveTo>
                  <a:pt x="0" y="51304"/>
                </a:moveTo>
                <a:lnTo>
                  <a:pt x="86838" y="0"/>
                </a:lnTo>
                <a:lnTo>
                  <a:pt x="167472" y="51304"/>
                </a:lnTo>
                <a:lnTo>
                  <a:pt x="167472" y="151345"/>
                </a:lnTo>
                <a:lnTo>
                  <a:pt x="86838" y="202649"/>
                </a:lnTo>
                <a:lnTo>
                  <a:pt x="0" y="15134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indole_systemic_component_path_2"/>
          <p:cNvSpPr/>
          <p:nvPr/>
        </p:nvSpPr>
        <p:spPr>
          <a:xfrm>
            <a:off x="13451506" y="7549472"/>
            <a:ext cx="139560" cy="161606"/>
          </a:xfrm>
          <a:custGeom>
            <a:avLst/>
            <a:gdLst/>
            <a:ahLst/>
            <a:cxnLst/>
            <a:rect l="0" t="0" r="r" b="b"/>
            <a:pathLst>
              <a:path w="139560" h="161606">
                <a:moveTo>
                  <a:pt x="0" y="28217"/>
                </a:moveTo>
                <a:lnTo>
                  <a:pt x="83736" y="0"/>
                </a:lnTo>
                <a:lnTo>
                  <a:pt x="139560" y="84651"/>
                </a:lnTo>
                <a:lnTo>
                  <a:pt x="80635" y="161606"/>
                </a:lnTo>
                <a:lnTo>
                  <a:pt x="0" y="12825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indole_systemic_component_path_3"/>
          <p:cNvSpPr/>
          <p:nvPr/>
        </p:nvSpPr>
        <p:spPr>
          <a:xfrm>
            <a:off x="13302642" y="7552037"/>
            <a:ext cx="58925" cy="35912"/>
          </a:xfrm>
          <a:custGeom>
            <a:avLst/>
            <a:gdLst/>
            <a:ahLst/>
            <a:cxnLst/>
            <a:rect l="0" t="0" r="r" b="b"/>
            <a:pathLst>
              <a:path w="58925" h="35912">
                <a:moveTo>
                  <a:pt x="0" y="35912"/>
                </a:moveTo>
                <a:lnTo>
                  <a:pt x="58925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indole_systemic_component_path_4"/>
          <p:cNvSpPr/>
          <p:nvPr/>
        </p:nvSpPr>
        <p:spPr>
          <a:xfrm>
            <a:off x="13389479" y="7552037"/>
            <a:ext cx="43419" cy="30782"/>
          </a:xfrm>
          <a:custGeom>
            <a:avLst/>
            <a:gdLst/>
            <a:ahLst/>
            <a:cxnLst/>
            <a:rect l="0" t="0" r="r" b="b"/>
            <a:pathLst>
              <a:path w="43419" h="30782">
                <a:moveTo>
                  <a:pt x="0" y="0"/>
                </a:moveTo>
                <a:lnTo>
                  <a:pt x="43419" y="3078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indole_systemic_component_path_5"/>
          <p:cNvSpPr/>
          <p:nvPr/>
        </p:nvSpPr>
        <p:spPr>
          <a:xfrm>
            <a:off x="13302642" y="7608471"/>
            <a:ext cx="95" cy="58999"/>
          </a:xfrm>
          <a:custGeom>
            <a:avLst/>
            <a:gdLst/>
            <a:ahLst/>
            <a:cxnLst/>
            <a:rect l="0" t="0" r="r" b="b"/>
            <a:pathLst>
              <a:path w="95" h="58999">
                <a:moveTo>
                  <a:pt x="0" y="0"/>
                </a:moveTo>
                <a:lnTo>
                  <a:pt x="0" y="58999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indole_systemic_component_path_6"/>
          <p:cNvSpPr/>
          <p:nvPr/>
        </p:nvSpPr>
        <p:spPr>
          <a:xfrm>
            <a:off x="13389479" y="7680296"/>
            <a:ext cx="43419" cy="25652"/>
          </a:xfrm>
          <a:custGeom>
            <a:avLst/>
            <a:gdLst/>
            <a:ahLst/>
            <a:cxnLst/>
            <a:rect l="0" t="0" r="r" b="b"/>
            <a:pathLst>
              <a:path w="43419" h="25652">
                <a:moveTo>
                  <a:pt x="0" y="25652"/>
                </a:moveTo>
                <a:lnTo>
                  <a:pt x="43419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indole_systemic_component_path_7"/>
          <p:cNvSpPr/>
          <p:nvPr/>
        </p:nvSpPr>
        <p:spPr>
          <a:xfrm>
            <a:off x="13532141" y="7580254"/>
            <a:ext cx="34115" cy="51304"/>
          </a:xfrm>
          <a:custGeom>
            <a:avLst/>
            <a:gdLst/>
            <a:ahLst/>
            <a:cxnLst/>
            <a:rect l="0" t="0" r="r" b="b"/>
            <a:pathLst>
              <a:path w="34115" h="51304">
                <a:moveTo>
                  <a:pt x="0" y="0"/>
                </a:moveTo>
                <a:lnTo>
                  <a:pt x="34115" y="51304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indole_systemic_component_path_8"/>
          <p:cNvSpPr/>
          <p:nvPr/>
        </p:nvSpPr>
        <p:spPr>
          <a:xfrm>
            <a:off x="13538344" y="7657209"/>
            <a:ext cx="24811" cy="35912"/>
          </a:xfrm>
          <a:custGeom>
            <a:avLst/>
            <a:gdLst/>
            <a:ahLst/>
            <a:cxnLst/>
            <a:rect l="0" t="0" r="r" b="b"/>
            <a:pathLst>
              <a:path w="24811" h="35912">
                <a:moveTo>
                  <a:pt x="24811" y="0"/>
                </a:moveTo>
                <a:lnTo>
                  <a:pt x="0" y="3591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indole_systemic_component_atom_9"/>
          <p:cNvSpPr txBox="1"/>
          <p:nvPr/>
        </p:nvSpPr>
        <p:spPr>
          <a:xfrm>
            <a:off x="13523119" y="7707640"/>
            <a:ext cx="63436" cy="65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687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780" name="tmao_systemic_component_path_1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tmao_systemic_component_path_2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tmao_systemic_component_path_3"/>
          <p:cNvSpPr/>
          <p:nvPr/>
        </p:nvSpPr>
        <p:spPr>
          <a:xfrm>
            <a:off x="14447520" y="7467190"/>
            <a:ext cx="3334" cy="158301"/>
          </a:xfrm>
          <a:custGeom>
            <a:avLst/>
            <a:gdLst/>
            <a:ahLst/>
            <a:cxnLst/>
            <a:rect l="0" t="0" r="r" b="b"/>
            <a:pathLst>
              <a:path w="3334" h="158301">
                <a:moveTo>
                  <a:pt x="0" y="158301"/>
                </a:moveTo>
                <a:lnTo>
                  <a:pt x="3334" y="0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tmao_systemic_component_path_4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tmao_systemic_component_path_5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tmao_systemic_component_path_6"/>
          <p:cNvSpPr/>
          <p:nvPr/>
        </p:nvSpPr>
        <p:spPr>
          <a:xfrm>
            <a:off x="14344174" y="7625491"/>
            <a:ext cx="103346" cy="84672"/>
          </a:xfrm>
          <a:custGeom>
            <a:avLst/>
            <a:gdLst/>
            <a:ahLst/>
            <a:cxnLst/>
            <a:rect l="0" t="0" r="r" b="b"/>
            <a:pathLst>
              <a:path w="103346" h="84672">
                <a:moveTo>
                  <a:pt x="103346" y="0"/>
                </a:moveTo>
                <a:lnTo>
                  <a:pt x="0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tmao_systemic_component_path_7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tmao_systemic_component_path_8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tmao_systemic_component_path_9"/>
          <p:cNvSpPr/>
          <p:nvPr/>
        </p:nvSpPr>
        <p:spPr>
          <a:xfrm>
            <a:off x="14447520" y="7625491"/>
            <a:ext cx="110014" cy="84672"/>
          </a:xfrm>
          <a:custGeom>
            <a:avLst/>
            <a:gdLst/>
            <a:ahLst/>
            <a:cxnLst/>
            <a:rect l="0" t="0" r="r" b="b"/>
            <a:pathLst>
              <a:path w="110014" h="84672">
                <a:moveTo>
                  <a:pt x="0" y="0"/>
                </a:moveTo>
                <a:lnTo>
                  <a:pt x="110014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tmao_systemic_component_oval_10"/>
          <p:cNvSpPr/>
          <p:nvPr/>
        </p:nvSpPr>
        <p:spPr>
          <a:xfrm>
            <a:off x="14404181" y="7577633"/>
            <a:ext cx="100012" cy="110442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tmao_systemic_component_oval_11"/>
          <p:cNvSpPr/>
          <p:nvPr/>
        </p:nvSpPr>
        <p:spPr>
          <a:xfrm>
            <a:off x="14428184" y="7598065"/>
            <a:ext cx="26003" cy="20432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tmao_systemic_component_oval_12"/>
          <p:cNvSpPr/>
          <p:nvPr/>
        </p:nvSpPr>
        <p:spPr>
          <a:xfrm>
            <a:off x="14412516" y="7421173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tmao_systemic_component_oval_13"/>
          <p:cNvSpPr/>
          <p:nvPr/>
        </p:nvSpPr>
        <p:spPr>
          <a:xfrm>
            <a:off x="14432518" y="7438199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tmao_systemic_component_oval_14"/>
          <p:cNvSpPr/>
          <p:nvPr/>
        </p:nvSpPr>
        <p:spPr>
          <a:xfrm>
            <a:off x="1430583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tmao_systemic_component_oval_15"/>
          <p:cNvSpPr/>
          <p:nvPr/>
        </p:nvSpPr>
        <p:spPr>
          <a:xfrm>
            <a:off x="1432583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tmao_systemic_component_oval_16"/>
          <p:cNvSpPr/>
          <p:nvPr/>
        </p:nvSpPr>
        <p:spPr>
          <a:xfrm>
            <a:off x="1451919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tmao_systemic_component_oval_17"/>
          <p:cNvSpPr/>
          <p:nvPr/>
        </p:nvSpPr>
        <p:spPr>
          <a:xfrm>
            <a:off x="1453919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tmao_systemic_component_atom_18"/>
          <p:cNvSpPr txBox="1"/>
          <p:nvPr/>
        </p:nvSpPr>
        <p:spPr>
          <a:xfrm>
            <a:off x="14404181" y="7566589"/>
            <a:ext cx="100012" cy="125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198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798" name="tma_generating_taxa_cluster_path_1"/>
          <p:cNvSpPr/>
          <p:nvPr/>
        </p:nvSpPr>
        <p:spPr>
          <a:xfrm>
            <a:off x="6674658" y="2234685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2049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tma_generating_taxa_cluster_path_2"/>
          <p:cNvSpPr/>
          <p:nvPr/>
        </p:nvSpPr>
        <p:spPr>
          <a:xfrm>
            <a:off x="6693803" y="2249455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tma_generating_taxa_cluster_path_3"/>
          <p:cNvSpPr/>
          <p:nvPr/>
        </p:nvSpPr>
        <p:spPr>
          <a:xfrm>
            <a:off x="6753351" y="2290002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tma_generating_taxa_cluster_oval_4"/>
          <p:cNvSpPr/>
          <p:nvPr/>
        </p:nvSpPr>
        <p:spPr>
          <a:xfrm>
            <a:off x="6767464" y="236855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tma_generating_taxa_cluster_oval_5"/>
          <p:cNvSpPr/>
          <p:nvPr/>
        </p:nvSpPr>
        <p:spPr>
          <a:xfrm>
            <a:off x="6871581" y="233169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tma_generating_taxa_cluster_oval_6"/>
          <p:cNvSpPr/>
          <p:nvPr/>
        </p:nvSpPr>
        <p:spPr>
          <a:xfrm>
            <a:off x="6911806" y="2282075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tma_generating_taxa_cluster_oval_7"/>
          <p:cNvSpPr/>
          <p:nvPr/>
        </p:nvSpPr>
        <p:spPr>
          <a:xfrm>
            <a:off x="6779496" y="2315386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tma_generating_taxa_cluster_oval_8"/>
          <p:cNvSpPr/>
          <p:nvPr/>
        </p:nvSpPr>
        <p:spPr>
          <a:xfrm>
            <a:off x="6679704" y="2321667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tma_generating_taxa_cluster_oval_9"/>
          <p:cNvSpPr/>
          <p:nvPr/>
        </p:nvSpPr>
        <p:spPr>
          <a:xfrm>
            <a:off x="6795686" y="227508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tma_generating_taxa_cluster_oval_10"/>
          <p:cNvSpPr/>
          <p:nvPr/>
        </p:nvSpPr>
        <p:spPr>
          <a:xfrm>
            <a:off x="6897171" y="223432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tma_generating_taxa_cluster_path_11"/>
          <p:cNvSpPr/>
          <p:nvPr/>
        </p:nvSpPr>
        <p:spPr>
          <a:xfrm>
            <a:off x="7085376" y="2267018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2049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9" name="tma_generating_taxa_cluster_path_12"/>
          <p:cNvSpPr/>
          <p:nvPr/>
        </p:nvSpPr>
        <p:spPr>
          <a:xfrm>
            <a:off x="7104521" y="2281788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tma_generating_taxa_cluster_path_13"/>
          <p:cNvSpPr/>
          <p:nvPr/>
        </p:nvSpPr>
        <p:spPr>
          <a:xfrm>
            <a:off x="7164069" y="2322335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tma_generating_taxa_cluster_oval_14"/>
          <p:cNvSpPr/>
          <p:nvPr/>
        </p:nvSpPr>
        <p:spPr>
          <a:xfrm>
            <a:off x="7178182" y="2400887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tma_generating_taxa_cluster_oval_15"/>
          <p:cNvSpPr/>
          <p:nvPr/>
        </p:nvSpPr>
        <p:spPr>
          <a:xfrm>
            <a:off x="7282299" y="2364026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tma_generating_taxa_cluster_oval_16"/>
          <p:cNvSpPr/>
          <p:nvPr/>
        </p:nvSpPr>
        <p:spPr>
          <a:xfrm>
            <a:off x="7322524" y="2314408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tma_generating_taxa_cluster_oval_17"/>
          <p:cNvSpPr/>
          <p:nvPr/>
        </p:nvSpPr>
        <p:spPr>
          <a:xfrm>
            <a:off x="7190214" y="2347719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tma_generating_taxa_cluster_oval_18"/>
          <p:cNvSpPr/>
          <p:nvPr/>
        </p:nvSpPr>
        <p:spPr>
          <a:xfrm>
            <a:off x="7090422" y="2354000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tma_generating_taxa_cluster_oval_19"/>
          <p:cNvSpPr/>
          <p:nvPr/>
        </p:nvSpPr>
        <p:spPr>
          <a:xfrm>
            <a:off x="7206404" y="2307417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tma_generating_taxa_cluster_oval_20"/>
          <p:cNvSpPr/>
          <p:nvPr/>
        </p:nvSpPr>
        <p:spPr>
          <a:xfrm>
            <a:off x="7307889" y="2266656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tma_generating_taxa_cluster_path_21"/>
          <p:cNvSpPr/>
          <p:nvPr/>
        </p:nvSpPr>
        <p:spPr>
          <a:xfrm>
            <a:off x="6678141" y="2578099"/>
            <a:ext cx="302569" cy="163997"/>
          </a:xfrm>
          <a:custGeom>
            <a:avLst/>
            <a:gdLst/>
            <a:ahLst/>
            <a:cxnLst/>
            <a:rect l="0" t="0" r="r" b="b"/>
            <a:pathLst>
              <a:path w="302569" h="163997">
                <a:moveTo>
                  <a:pt x="104850" y="10409"/>
                </a:moveTo>
                <a:lnTo>
                  <a:pt x="246579" y="50322"/>
                </a:lnTo>
                <a:cubicBezTo>
                  <a:pt x="283542" y="60731"/>
                  <a:pt x="302569" y="92286"/>
                  <a:pt x="289076" y="120802"/>
                </a:cubicBezTo>
                <a:cubicBezTo>
                  <a:pt x="275584" y="149318"/>
                  <a:pt x="234681" y="163997"/>
                  <a:pt x="197718" y="153588"/>
                </a:cubicBezTo>
                <a:lnTo>
                  <a:pt x="55990" y="113675"/>
                </a:lnTo>
                <a:cubicBezTo>
                  <a:pt x="19027" y="103266"/>
                  <a:pt x="0" y="71711"/>
                  <a:pt x="13493" y="43195"/>
                </a:cubicBezTo>
                <a:cubicBezTo>
                  <a:pt x="26985" y="14679"/>
                  <a:pt x="67887" y="0"/>
                  <a:pt x="104850" y="10409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2049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tma_generating_taxa_cluster_path_22"/>
          <p:cNvSpPr/>
          <p:nvPr/>
        </p:nvSpPr>
        <p:spPr>
          <a:xfrm>
            <a:off x="6697063" y="2592697"/>
            <a:ext cx="264724" cy="134801"/>
          </a:xfrm>
          <a:custGeom>
            <a:avLst/>
            <a:gdLst/>
            <a:ahLst/>
            <a:cxnLst/>
            <a:rect l="0" t="0" r="r" b="b"/>
            <a:pathLst>
              <a:path w="264724" h="134801">
                <a:moveTo>
                  <a:pt x="80180" y="7960"/>
                </a:moveTo>
                <a:lnTo>
                  <a:pt x="221909" y="47872"/>
                </a:lnTo>
                <a:cubicBezTo>
                  <a:pt x="250174" y="55832"/>
                  <a:pt x="264724" y="79963"/>
                  <a:pt x="254406" y="101769"/>
                </a:cubicBezTo>
                <a:cubicBezTo>
                  <a:pt x="244088" y="123576"/>
                  <a:pt x="212810" y="134801"/>
                  <a:pt x="184544" y="126841"/>
                </a:cubicBezTo>
                <a:lnTo>
                  <a:pt x="42816" y="86928"/>
                </a:lnTo>
                <a:cubicBezTo>
                  <a:pt x="14550" y="78968"/>
                  <a:pt x="0" y="54838"/>
                  <a:pt x="10318" y="33031"/>
                </a:cubicBezTo>
                <a:cubicBezTo>
                  <a:pt x="20636" y="11225"/>
                  <a:pt x="51914" y="0"/>
                  <a:pt x="80180" y="7960"/>
                </a:cubicBezTo>
                <a:close/>
              </a:path>
            </a:pathLst>
          </a:custGeom>
          <a:noFill/>
          <a:ln w="6810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tma_generating_taxa_cluster_path_23"/>
          <p:cNvSpPr/>
          <p:nvPr/>
        </p:nvSpPr>
        <p:spPr>
          <a:xfrm>
            <a:off x="6779233" y="2614366"/>
            <a:ext cx="96454" cy="27163"/>
          </a:xfrm>
          <a:custGeom>
            <a:avLst/>
            <a:gdLst/>
            <a:ahLst/>
            <a:cxnLst/>
            <a:rect l="0" t="0" r="r" b="b"/>
            <a:pathLst>
              <a:path w="96454" h="27163">
                <a:moveTo>
                  <a:pt x="0" y="0"/>
                </a:moveTo>
                <a:lnTo>
                  <a:pt x="96454" y="27163"/>
                </a:lnTo>
              </a:path>
            </a:pathLst>
          </a:custGeom>
          <a:noFill/>
          <a:ln w="13620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tma_generating_taxa_cluster_oval_24"/>
          <p:cNvSpPr/>
          <p:nvPr/>
        </p:nvSpPr>
        <p:spPr>
          <a:xfrm>
            <a:off x="6744329" y="2650751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tma_generating_taxa_cluster_oval_25"/>
          <p:cNvSpPr/>
          <p:nvPr/>
        </p:nvSpPr>
        <p:spPr>
          <a:xfrm>
            <a:off x="6838829" y="2682045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tma_generating_taxa_cluster_oval_26"/>
          <p:cNvSpPr/>
          <p:nvPr/>
        </p:nvSpPr>
        <p:spPr>
          <a:xfrm>
            <a:off x="6907138" y="2669684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tma_generating_taxa_cluster_oval_27"/>
          <p:cNvSpPr/>
          <p:nvPr/>
        </p:nvSpPr>
        <p:spPr>
          <a:xfrm>
            <a:off x="6799211" y="2620567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tma_generating_taxa_cluster_oval_28"/>
          <p:cNvSpPr/>
          <p:nvPr/>
        </p:nvSpPr>
        <p:spPr>
          <a:xfrm>
            <a:off x="6734402" y="2570955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tma_generating_taxa_cluster_oval_29"/>
          <p:cNvSpPr/>
          <p:nvPr/>
        </p:nvSpPr>
        <p:spPr>
          <a:xfrm>
            <a:off x="6844635" y="2601998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7" name="tma_generating_taxa_cluster_oval_30"/>
          <p:cNvSpPr/>
          <p:nvPr/>
        </p:nvSpPr>
        <p:spPr>
          <a:xfrm>
            <a:off x="6941090" y="2629160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tma_generating_taxa_cluster_path_31"/>
          <p:cNvSpPr/>
          <p:nvPr/>
        </p:nvSpPr>
        <p:spPr>
          <a:xfrm>
            <a:off x="7100246" y="2576917"/>
            <a:ext cx="296558" cy="179294"/>
          </a:xfrm>
          <a:custGeom>
            <a:avLst/>
            <a:gdLst/>
            <a:ahLst/>
            <a:cxnLst/>
            <a:rect l="0" t="0" r="r" b="b"/>
            <a:pathLst>
              <a:path w="296558" h="179294">
                <a:moveTo>
                  <a:pt x="48466" y="67768"/>
                </a:moveTo>
                <a:lnTo>
                  <a:pt x="182292" y="14018"/>
                </a:lnTo>
                <a:cubicBezTo>
                  <a:pt x="217194" y="0"/>
                  <a:pt x="260218" y="10464"/>
                  <a:pt x="278388" y="37390"/>
                </a:cubicBezTo>
                <a:cubicBezTo>
                  <a:pt x="296558" y="64316"/>
                  <a:pt x="282995" y="97508"/>
                  <a:pt x="248093" y="111526"/>
                </a:cubicBezTo>
                <a:lnTo>
                  <a:pt x="114266" y="165276"/>
                </a:lnTo>
                <a:cubicBezTo>
                  <a:pt x="79364" y="179294"/>
                  <a:pt x="36341" y="168830"/>
                  <a:pt x="18170" y="141904"/>
                </a:cubicBezTo>
                <a:cubicBezTo>
                  <a:pt x="0" y="114978"/>
                  <a:pt x="13564" y="81786"/>
                  <a:pt x="48466" y="67768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2049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tma_generating_taxa_cluster_path_32"/>
          <p:cNvSpPr/>
          <p:nvPr/>
        </p:nvSpPr>
        <p:spPr>
          <a:xfrm>
            <a:off x="7119391" y="2591687"/>
            <a:ext cx="258269" cy="149754"/>
          </a:xfrm>
          <a:custGeom>
            <a:avLst/>
            <a:gdLst/>
            <a:ahLst/>
            <a:cxnLst/>
            <a:rect l="0" t="0" r="r" b="b"/>
            <a:pathLst>
              <a:path w="258269" h="149754">
                <a:moveTo>
                  <a:pt x="37062" y="64470"/>
                </a:moveTo>
                <a:lnTo>
                  <a:pt x="170888" y="10720"/>
                </a:lnTo>
                <a:cubicBezTo>
                  <a:pt x="197578" y="0"/>
                  <a:pt x="230479" y="8002"/>
                  <a:pt x="244374" y="28593"/>
                </a:cubicBezTo>
                <a:cubicBezTo>
                  <a:pt x="258269" y="49183"/>
                  <a:pt x="247896" y="74565"/>
                  <a:pt x="221207" y="85285"/>
                </a:cubicBezTo>
                <a:lnTo>
                  <a:pt x="87380" y="139035"/>
                </a:lnTo>
                <a:cubicBezTo>
                  <a:pt x="60690" y="149754"/>
                  <a:pt x="27790" y="141752"/>
                  <a:pt x="13895" y="121162"/>
                </a:cubicBezTo>
                <a:cubicBezTo>
                  <a:pt x="0" y="100571"/>
                  <a:pt x="10372" y="75189"/>
                  <a:pt x="37062" y="64470"/>
                </a:cubicBezTo>
                <a:close/>
              </a:path>
            </a:pathLst>
          </a:custGeom>
          <a:noFill/>
          <a:ln w="6810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tma_generating_taxa_cluster_path_33"/>
          <p:cNvSpPr/>
          <p:nvPr/>
        </p:nvSpPr>
        <p:spPr>
          <a:xfrm>
            <a:off x="7170909" y="2627695"/>
            <a:ext cx="91076" cy="36580"/>
          </a:xfrm>
          <a:custGeom>
            <a:avLst/>
            <a:gdLst/>
            <a:ahLst/>
            <a:cxnLst/>
            <a:rect l="0" t="0" r="r" b="b"/>
            <a:pathLst>
              <a:path w="91076" h="36580">
                <a:moveTo>
                  <a:pt x="0" y="36580"/>
                </a:moveTo>
                <a:lnTo>
                  <a:pt x="91076" y="0"/>
                </a:lnTo>
              </a:path>
            </a:pathLst>
          </a:custGeom>
          <a:noFill/>
          <a:ln w="13620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tma_generating_taxa_cluster_oval_34"/>
          <p:cNvSpPr/>
          <p:nvPr/>
        </p:nvSpPr>
        <p:spPr>
          <a:xfrm>
            <a:off x="7185617" y="270182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tma_generating_taxa_cluster_oval_35"/>
          <p:cNvSpPr/>
          <p:nvPr/>
        </p:nvSpPr>
        <p:spPr>
          <a:xfrm>
            <a:off x="7279325" y="266914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tma_generating_taxa_cluster_oval_36"/>
          <p:cNvSpPr/>
          <p:nvPr/>
        </p:nvSpPr>
        <p:spPr>
          <a:xfrm>
            <a:off x="7313602" y="2621918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tma_generating_taxa_cluster_oval_37"/>
          <p:cNvSpPr/>
          <p:nvPr/>
        </p:nvSpPr>
        <p:spPr>
          <a:xfrm>
            <a:off x="7193783" y="2650212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tma_generating_taxa_cluster_oval_38"/>
          <p:cNvSpPr/>
          <p:nvPr/>
        </p:nvSpPr>
        <p:spPr>
          <a:xfrm>
            <a:off x="7102317" y="2653149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tma_generating_taxa_cluster_oval_39"/>
          <p:cNvSpPr/>
          <p:nvPr/>
        </p:nvSpPr>
        <p:spPr>
          <a:xfrm>
            <a:off x="7206404" y="261134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tma_generating_taxa_cluster_oval_40"/>
          <p:cNvSpPr/>
          <p:nvPr/>
        </p:nvSpPr>
        <p:spPr>
          <a:xfrm>
            <a:off x="7297481" y="257476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Section bracket"/>
          <p:cNvSpPr/>
          <p:nvPr/>
        </p:nvSpPr>
        <p:spPr>
          <a:xfrm>
            <a:off x="2080260" y="1352550"/>
            <a:ext cx="5825490" cy="635"/>
          </a:xfrm>
          <a:custGeom>
            <a:avLst/>
            <a:gdLst/>
            <a:ahLst/>
            <a:cxnLst/>
            <a:rect l="0" t="0" r="r" b="b"/>
            <a:pathLst>
              <a:path w="5825490" h="635">
                <a:moveTo>
                  <a:pt x="0" y="0"/>
                </a:moveTo>
                <a:lnTo>
                  <a:pt x="5825490" y="635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Section bracket"/>
          <p:cNvSpPr/>
          <p:nvPr/>
        </p:nvSpPr>
        <p:spPr>
          <a:xfrm>
            <a:off x="2075815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Section bracket"/>
          <p:cNvSpPr/>
          <p:nvPr/>
        </p:nvSpPr>
        <p:spPr>
          <a:xfrm>
            <a:off x="7905750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Section bracket"/>
          <p:cNvSpPr/>
          <p:nvPr/>
        </p:nvSpPr>
        <p:spPr>
          <a:xfrm>
            <a:off x="8305800" y="1353185"/>
            <a:ext cx="3857625" cy="95"/>
          </a:xfrm>
          <a:custGeom>
            <a:avLst/>
            <a:gdLst/>
            <a:ahLst/>
            <a:cxnLst/>
            <a:rect l="0" t="0" r="r" b="b"/>
            <a:pathLst>
              <a:path w="3857625" h="95">
                <a:moveTo>
                  <a:pt x="0" y="0"/>
                </a:moveTo>
                <a:lnTo>
                  <a:pt x="3857625" y="95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Section bracket"/>
          <p:cNvSpPr/>
          <p:nvPr/>
        </p:nvSpPr>
        <p:spPr>
          <a:xfrm>
            <a:off x="8305800" y="133413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Section bracket"/>
          <p:cNvSpPr/>
          <p:nvPr/>
        </p:nvSpPr>
        <p:spPr>
          <a:xfrm>
            <a:off x="12163425" y="1352550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Text 842"/>
          <p:cNvSpPr txBox="1"/>
          <p:nvPr/>
        </p:nvSpPr>
        <p:spPr>
          <a:xfrm>
            <a:off x="8953500" y="1552575"/>
            <a:ext cx="2809875" cy="2095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0" i="1">
                <a:solidFill>
                  <a:srgbClr val="8B4B47"/>
                </a:solidFill>
                <a:latin typeface="Times New Roman"/>
              </a:rPr>
              <a:t>Representative MAMPs</a:t>
            </a:r>
          </a:p>
        </p:txBody>
      </p:sp>
      <p:sp>
        <p:nvSpPr>
          <p:cNvPr id="845" name="Text 843"/>
          <p:cNvSpPr txBox="1"/>
          <p:nvPr/>
        </p:nvSpPr>
        <p:spPr>
          <a:xfrm>
            <a:off x="2505075" y="2038350"/>
            <a:ext cx="10668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SCFAs</a:t>
            </a:r>
          </a:p>
        </p:txBody>
      </p:sp>
      <p:sp>
        <p:nvSpPr>
          <p:cNvPr id="846" name="Text 844"/>
          <p:cNvSpPr txBox="1"/>
          <p:nvPr/>
        </p:nvSpPr>
        <p:spPr>
          <a:xfrm>
            <a:off x="3867150" y="2038350"/>
            <a:ext cx="15049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Secondary BAs</a:t>
            </a:r>
          </a:p>
        </p:txBody>
      </p:sp>
      <p:sp>
        <p:nvSpPr>
          <p:cNvPr id="847" name="Text 845"/>
          <p:cNvSpPr txBox="1"/>
          <p:nvPr/>
        </p:nvSpPr>
        <p:spPr>
          <a:xfrm>
            <a:off x="5248275" y="2038350"/>
            <a:ext cx="1752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1" i="0">
                <a:solidFill>
                  <a:srgbClr val="23364A"/>
                </a:solidFill>
                <a:latin typeface="Times New Roman"/>
              </a:rPr>
              <a:t>Indole metabolites</a:t>
            </a:r>
          </a:p>
        </p:txBody>
      </p:sp>
      <p:sp>
        <p:nvSpPr>
          <p:cNvPr id="848" name="Text 846"/>
          <p:cNvSpPr txBox="1"/>
          <p:nvPr/>
        </p:nvSpPr>
        <p:spPr>
          <a:xfrm>
            <a:off x="1866900" y="381000"/>
            <a:ext cx="17430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Altered gut microbial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composition</a:t>
            </a:r>
          </a:p>
        </p:txBody>
      </p:sp>
      <p:sp>
        <p:nvSpPr>
          <p:cNvPr id="849" name="Text 847"/>
          <p:cNvSpPr txBox="1"/>
          <p:nvPr/>
        </p:nvSpPr>
        <p:spPr>
          <a:xfrm>
            <a:off x="1866900" y="942975"/>
            <a:ext cx="174307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0" i="0">
                <a:solidFill>
                  <a:srgbClr val="23364A"/>
                </a:solidFill>
                <a:latin typeface="Times New Roman"/>
              </a:rPr>
              <a:t>Cohort-dependent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0" i="0">
                <a:solidFill>
                  <a:srgbClr val="23364A"/>
                </a:solidFill>
                <a:latin typeface="Times New Roman"/>
              </a:rPr>
              <a:t>differences</a:t>
            </a:r>
          </a:p>
        </p:txBody>
      </p:sp>
      <p:sp>
        <p:nvSpPr>
          <p:cNvPr id="850" name="Text 848"/>
          <p:cNvSpPr txBox="1"/>
          <p:nvPr/>
        </p:nvSpPr>
        <p:spPr>
          <a:xfrm>
            <a:off x="285750" y="1952625"/>
            <a:ext cx="230505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00" b="1" i="0">
                <a:solidFill>
                  <a:srgbClr val="23364A"/>
                </a:solidFill>
                <a:latin typeface="Times New Roman"/>
              </a:rPr>
              <a:t>Intestinal lumen</a:t>
            </a:r>
          </a:p>
        </p:txBody>
      </p:sp>
      <p:sp>
        <p:nvSpPr>
          <p:cNvPr id="851" name="Text 849"/>
          <p:cNvSpPr txBox="1"/>
          <p:nvPr/>
        </p:nvSpPr>
        <p:spPr>
          <a:xfrm>
            <a:off x="3638550" y="619125"/>
            <a:ext cx="4286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23364A"/>
                </a:solidFill>
                <a:latin typeface="Times New Roman"/>
              </a:rPr>
              <a:t>Metabolite absorption across 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23364A"/>
                </a:solidFill>
                <a:latin typeface="Times New Roman"/>
              </a:rPr>
              <a:t>relatively intact barrier</a:t>
            </a:r>
          </a:p>
        </p:txBody>
      </p:sp>
      <p:sp>
        <p:nvSpPr>
          <p:cNvPr id="852" name="Text 850"/>
          <p:cNvSpPr txBox="1"/>
          <p:nvPr/>
        </p:nvSpPr>
        <p:spPr>
          <a:xfrm>
            <a:off x="8591550" y="619125"/>
            <a:ext cx="35623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A82D2A"/>
                </a:solidFill>
                <a:latin typeface="Times New Roman"/>
              </a:rPr>
              <a:t>MAMP uptake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A82D2A"/>
                </a:solidFill>
                <a:latin typeface="Times New Roman"/>
              </a:rPr>
              <a:t>translocation</a:t>
            </a:r>
          </a:p>
        </p:txBody>
      </p:sp>
      <p:sp>
        <p:nvSpPr>
          <p:cNvPr id="853" name="Text 851"/>
          <p:cNvSpPr txBox="1"/>
          <p:nvPr/>
        </p:nvSpPr>
        <p:spPr>
          <a:xfrm>
            <a:off x="6600825" y="1504950"/>
            <a:ext cx="1990725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Some TMA-producing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taxa ↑</a:t>
            </a:r>
          </a:p>
        </p:txBody>
      </p:sp>
      <p:sp>
        <p:nvSpPr>
          <p:cNvPr id="854" name="Text 852"/>
          <p:cNvSpPr txBox="1"/>
          <p:nvPr/>
        </p:nvSpPr>
        <p:spPr>
          <a:xfrm>
            <a:off x="7572375" y="2019300"/>
            <a:ext cx="5524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C76A0B"/>
                </a:solidFill>
                <a:latin typeface="Times New Roman"/>
              </a:rPr>
              <a:t>TMA</a:t>
            </a:r>
          </a:p>
        </p:txBody>
      </p:sp>
      <p:sp>
        <p:nvSpPr>
          <p:cNvPr id="855" name="Text 853"/>
          <p:cNvSpPr txBox="1"/>
          <p:nvPr/>
        </p:nvSpPr>
        <p:spPr>
          <a:xfrm>
            <a:off x="4800600" y="4800600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00868A"/>
                </a:solidFill>
                <a:latin typeface="Times New Roman"/>
              </a:rPr>
              <a:t>Intestinal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00868A"/>
                </a:solidFill>
                <a:latin typeface="Times New Roman"/>
              </a:rPr>
              <a:t>absorption</a:t>
            </a:r>
          </a:p>
        </p:txBody>
      </p:sp>
      <p:sp>
        <p:nvSpPr>
          <p:cNvPr id="856" name="Text 854"/>
          <p:cNvSpPr txBox="1"/>
          <p:nvPr/>
        </p:nvSpPr>
        <p:spPr>
          <a:xfrm>
            <a:off x="266700" y="7077075"/>
            <a:ext cx="1314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14" b="1" i="0">
                <a:solidFill>
                  <a:srgbClr val="23364A"/>
                </a:solidFill>
                <a:latin typeface="Times New Roman"/>
              </a:rPr>
              <a:t>Mucosal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14" b="1" i="0">
                <a:solidFill>
                  <a:srgbClr val="23364A"/>
                </a:solidFill>
                <a:latin typeface="Times New Roman"/>
              </a:rPr>
              <a:t>capillary</a:t>
            </a:r>
          </a:p>
        </p:txBody>
      </p:sp>
      <p:sp>
        <p:nvSpPr>
          <p:cNvPr id="857" name="Text 855"/>
          <p:cNvSpPr txBox="1"/>
          <p:nvPr/>
        </p:nvSpPr>
        <p:spPr>
          <a:xfrm>
            <a:off x="7038975" y="7048500"/>
            <a:ext cx="2124075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1" i="0">
                <a:solidFill>
                  <a:srgbClr val="00868A"/>
                </a:solidFill>
                <a:latin typeface="Times New Roman"/>
              </a:rPr>
              <a:t>Portal circulation</a:t>
            </a:r>
          </a:p>
        </p:txBody>
      </p:sp>
      <p:sp>
        <p:nvSpPr>
          <p:cNvPr id="858" name="Text 856"/>
          <p:cNvSpPr txBox="1"/>
          <p:nvPr/>
        </p:nvSpPr>
        <p:spPr>
          <a:xfrm>
            <a:off x="9296400" y="1943100"/>
            <a:ext cx="59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A82D2A"/>
                </a:solidFill>
                <a:latin typeface="Times New Roman"/>
              </a:rPr>
              <a:t>LPS</a:t>
            </a:r>
          </a:p>
        </p:txBody>
      </p:sp>
      <p:sp>
        <p:nvSpPr>
          <p:cNvPr id="859" name="Molecular marker"/>
          <p:cNvSpPr/>
          <p:nvPr/>
        </p:nvSpPr>
        <p:spPr>
          <a:xfrm>
            <a:off x="9274969" y="2426494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Molecular marker"/>
          <p:cNvSpPr/>
          <p:nvPr/>
        </p:nvSpPr>
        <p:spPr>
          <a:xfrm>
            <a:off x="9313069" y="2569369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Molecular marker"/>
          <p:cNvSpPr/>
          <p:nvPr/>
        </p:nvSpPr>
        <p:spPr>
          <a:xfrm>
            <a:off x="9867900" y="49244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Molecular marker"/>
          <p:cNvSpPr/>
          <p:nvPr/>
        </p:nvSpPr>
        <p:spPr>
          <a:xfrm>
            <a:off x="9248775" y="562927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Molecular marker"/>
          <p:cNvSpPr/>
          <p:nvPr/>
        </p:nvSpPr>
        <p:spPr>
          <a:xfrm>
            <a:off x="8896350" y="651510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Molecular marker"/>
          <p:cNvSpPr/>
          <p:nvPr/>
        </p:nvSpPr>
        <p:spPr>
          <a:xfrm>
            <a:off x="11010900" y="49720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Molecular marker"/>
          <p:cNvSpPr/>
          <p:nvPr/>
        </p:nvSpPr>
        <p:spPr>
          <a:xfrm>
            <a:off x="11991975" y="50863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Text 864"/>
          <p:cNvSpPr txBox="1"/>
          <p:nvPr/>
        </p:nvSpPr>
        <p:spPr>
          <a:xfrm>
            <a:off x="10172700" y="1790700"/>
            <a:ext cx="2781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7254A8"/>
                </a:solidFill>
                <a:latin typeface="Times New Roman"/>
              </a:rPr>
              <a:t>Peptidoglycan fragments</a:t>
            </a:r>
          </a:p>
        </p:txBody>
      </p:sp>
      <p:sp>
        <p:nvSpPr>
          <p:cNvPr id="867" name="Molecular marker"/>
          <p:cNvSpPr/>
          <p:nvPr/>
        </p:nvSpPr>
        <p:spPr>
          <a:xfrm>
            <a:off x="11253788" y="24860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Molecular marker"/>
          <p:cNvSpPr/>
          <p:nvPr/>
        </p:nvSpPr>
        <p:spPr>
          <a:xfrm>
            <a:off x="11244263" y="261937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Molecular marker"/>
          <p:cNvSpPr/>
          <p:nvPr/>
        </p:nvSpPr>
        <p:spPr>
          <a:xfrm>
            <a:off x="11168063" y="32861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Molecular marker"/>
          <p:cNvSpPr/>
          <p:nvPr/>
        </p:nvSpPr>
        <p:spPr>
          <a:xfrm>
            <a:off x="11244263" y="37528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Text 869"/>
          <p:cNvSpPr txBox="1"/>
          <p:nvPr/>
        </p:nvSpPr>
        <p:spPr>
          <a:xfrm>
            <a:off x="9477375" y="5819775"/>
            <a:ext cx="23336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23364A"/>
                </a:solidFill>
                <a:latin typeface="Times New Roman"/>
              </a:rPr>
              <a:t>Hepatic processing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23364A"/>
                </a:solidFill>
                <a:latin typeface="Times New Roman"/>
              </a:rPr>
              <a:t>of metabolites</a:t>
            </a:r>
          </a:p>
        </p:txBody>
      </p:sp>
      <p:sp>
        <p:nvSpPr>
          <p:cNvPr id="872" name="Text 870"/>
          <p:cNvSpPr txBox="1"/>
          <p:nvPr/>
        </p:nvSpPr>
        <p:spPr>
          <a:xfrm>
            <a:off x="9515475" y="7372350"/>
            <a:ext cx="6858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TMA</a:t>
            </a:r>
          </a:p>
        </p:txBody>
      </p:sp>
      <p:sp>
        <p:nvSpPr>
          <p:cNvPr id="873" name="Text 871"/>
          <p:cNvSpPr txBox="1"/>
          <p:nvPr/>
        </p:nvSpPr>
        <p:spPr>
          <a:xfrm>
            <a:off x="10829925" y="7372350"/>
            <a:ext cx="8382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TMAO</a:t>
            </a:r>
          </a:p>
        </p:txBody>
      </p:sp>
      <p:sp>
        <p:nvSpPr>
          <p:cNvPr id="874" name="Text 872"/>
          <p:cNvSpPr txBox="1"/>
          <p:nvPr/>
        </p:nvSpPr>
        <p:spPr>
          <a:xfrm>
            <a:off x="10220325" y="6705600"/>
            <a:ext cx="6477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15" b="1" i="0">
                <a:solidFill>
                  <a:srgbClr val="23364A"/>
                </a:solidFill>
                <a:latin typeface="Times New Roman"/>
              </a:rPr>
              <a:t>FMO3</a:t>
            </a:r>
          </a:p>
        </p:txBody>
      </p:sp>
      <p:sp>
        <p:nvSpPr>
          <p:cNvPr id="875" name="Chemical bond"/>
          <p:cNvSpPr/>
          <p:nvPr/>
        </p:nvSpPr>
        <p:spPr>
          <a:xfrm>
            <a:off x="11176453" y="7037894"/>
            <a:ext cx="236673" cy="95"/>
          </a:xfrm>
          <a:custGeom>
            <a:avLst/>
            <a:gdLst/>
            <a:ahLst/>
            <a:cxnLst/>
            <a:rect l="0" t="0" r="r" b="b"/>
            <a:pathLst>
              <a:path w="236673" h="95">
                <a:moveTo>
                  <a:pt x="0" y="0"/>
                </a:moveTo>
                <a:lnTo>
                  <a:pt x="236673" y="0"/>
                </a:lnTo>
              </a:path>
            </a:pathLst>
          </a:custGeom>
          <a:noFill/>
          <a:ln w="3028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6" name="Molecular marker"/>
          <p:cNvSpPr/>
          <p:nvPr/>
        </p:nvSpPr>
        <p:spPr>
          <a:xfrm>
            <a:off x="11382746" y="6866413"/>
            <a:ext cx="138322" cy="138322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7" name="Text 875"/>
          <p:cNvSpPr txBox="1"/>
          <p:nvPr/>
        </p:nvSpPr>
        <p:spPr>
          <a:xfrm>
            <a:off x="11382746" y="6866413"/>
            <a:ext cx="138322" cy="1383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75" b="1" i="0">
                <a:solidFill>
                  <a:srgbClr val="FFFFFF"/>
                </a:solidFill>
                <a:latin typeface="Times New Roman"/>
              </a:rPr>
              <a:t>O</a:t>
            </a:r>
          </a:p>
        </p:txBody>
      </p:sp>
      <p:sp>
        <p:nvSpPr>
          <p:cNvPr id="878" name="Text 876"/>
          <p:cNvSpPr txBox="1"/>
          <p:nvPr/>
        </p:nvSpPr>
        <p:spPr>
          <a:xfrm>
            <a:off x="11511544" y="6809263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−</a:t>
            </a:r>
          </a:p>
        </p:txBody>
      </p:sp>
      <p:sp>
        <p:nvSpPr>
          <p:cNvPr id="879" name="Text 877"/>
          <p:cNvSpPr txBox="1"/>
          <p:nvPr/>
        </p:nvSpPr>
        <p:spPr>
          <a:xfrm>
            <a:off x="11225746" y="7011952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+</a:t>
            </a:r>
          </a:p>
        </p:txBody>
      </p:sp>
      <p:sp>
        <p:nvSpPr>
          <p:cNvPr id="880" name="Text 878"/>
          <p:cNvSpPr txBox="1"/>
          <p:nvPr/>
        </p:nvSpPr>
        <p:spPr>
          <a:xfrm>
            <a:off x="12601575" y="7972425"/>
            <a:ext cx="257175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75" b="1" i="0">
                <a:solidFill>
                  <a:srgbClr val="23364A"/>
                </a:solidFill>
                <a:latin typeface="Times New Roman"/>
              </a:rPr>
              <a:t>Systemic circulation</a:t>
            </a:r>
          </a:p>
        </p:txBody>
      </p:sp>
      <p:sp>
        <p:nvSpPr>
          <p:cNvPr id="881" name="Molecular marker"/>
          <p:cNvSpPr/>
          <p:nvPr/>
        </p:nvSpPr>
        <p:spPr>
          <a:xfrm>
            <a:off x="13482638" y="6167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2" name="Molecular marker"/>
          <p:cNvSpPr/>
          <p:nvPr/>
        </p:nvSpPr>
        <p:spPr>
          <a:xfrm>
            <a:off x="13668375" y="6176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3" name="Chemical bond"/>
          <p:cNvSpPr/>
          <p:nvPr/>
        </p:nvSpPr>
        <p:spPr>
          <a:xfrm>
            <a:off x="14482715" y="7579526"/>
            <a:ext cx="144968" cy="95"/>
          </a:xfrm>
          <a:custGeom>
            <a:avLst/>
            <a:gdLst/>
            <a:ahLst/>
            <a:cxnLst/>
            <a:rect l="0" t="0" r="r" b="b"/>
            <a:pathLst>
              <a:path w="144968" h="95">
                <a:moveTo>
                  <a:pt x="0" y="0"/>
                </a:moveTo>
                <a:lnTo>
                  <a:pt x="144968" y="0"/>
                </a:lnTo>
              </a:path>
            </a:pathLst>
          </a:custGeom>
          <a:noFill/>
          <a:ln w="20003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4" name="Molecular marker"/>
          <p:cNvSpPr/>
          <p:nvPr/>
        </p:nvSpPr>
        <p:spPr>
          <a:xfrm>
            <a:off x="14608540" y="7469376"/>
            <a:ext cx="91345" cy="91345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5" name="Text 883"/>
          <p:cNvSpPr txBox="1"/>
          <p:nvPr/>
        </p:nvSpPr>
        <p:spPr>
          <a:xfrm>
            <a:off x="14608540" y="7469376"/>
            <a:ext cx="91345" cy="913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580" b="1" i="0">
                <a:solidFill>
                  <a:srgbClr val="FFFFFF"/>
                </a:solidFill>
                <a:latin typeface="Times New Roman"/>
              </a:rPr>
              <a:t>O</a:t>
            </a:r>
          </a:p>
        </p:txBody>
      </p:sp>
      <p:sp>
        <p:nvSpPr>
          <p:cNvPr id="886" name="Text 884"/>
          <p:cNvSpPr txBox="1"/>
          <p:nvPr/>
        </p:nvSpPr>
        <p:spPr>
          <a:xfrm>
            <a:off x="14690360" y="7412226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−</a:t>
            </a:r>
          </a:p>
        </p:txBody>
      </p:sp>
      <p:sp>
        <p:nvSpPr>
          <p:cNvPr id="887" name="Text 885"/>
          <p:cNvSpPr txBox="1"/>
          <p:nvPr/>
        </p:nvSpPr>
        <p:spPr>
          <a:xfrm>
            <a:off x="14504861" y="7565484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+</a:t>
            </a:r>
          </a:p>
        </p:txBody>
      </p:sp>
      <p:sp>
        <p:nvSpPr>
          <p:cNvPr id="888" name="Text 886"/>
          <p:cNvSpPr txBox="1"/>
          <p:nvPr/>
        </p:nvSpPr>
        <p:spPr>
          <a:xfrm>
            <a:off x="2019300" y="1476375"/>
            <a:ext cx="18954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SCFA synthesis–related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gene abundance ↓</a:t>
            </a:r>
          </a:p>
        </p:txBody>
      </p:sp>
      <p:sp>
        <p:nvSpPr>
          <p:cNvPr id="889" name="Text 887"/>
          <p:cNvSpPr txBox="1"/>
          <p:nvPr/>
        </p:nvSpPr>
        <p:spPr>
          <a:xfrm>
            <a:off x="4235450" y="1485900"/>
            <a:ext cx="20478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BA deconjugation–related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gene abundance ↓</a:t>
            </a:r>
          </a:p>
        </p:txBody>
      </p:sp>
      <p:sp>
        <p:nvSpPr>
          <p:cNvPr id="890" name="Molecular marker"/>
          <p:cNvSpPr/>
          <p:nvPr/>
        </p:nvSpPr>
        <p:spPr>
          <a:xfrm>
            <a:off x="9310688" y="326231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Molecular marker"/>
          <p:cNvSpPr/>
          <p:nvPr/>
        </p:nvSpPr>
        <p:spPr>
          <a:xfrm>
            <a:off x="9310688" y="3614738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Molecular marker"/>
          <p:cNvSpPr/>
          <p:nvPr/>
        </p:nvSpPr>
        <p:spPr>
          <a:xfrm>
            <a:off x="9310688" y="396716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Molecular marker"/>
          <p:cNvSpPr/>
          <p:nvPr/>
        </p:nvSpPr>
        <p:spPr>
          <a:xfrm>
            <a:off x="9305925" y="43529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Molecular marker"/>
          <p:cNvSpPr/>
          <p:nvPr/>
        </p:nvSpPr>
        <p:spPr>
          <a:xfrm>
            <a:off x="11244263" y="4667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Text 893"/>
          <p:cNvSpPr txBox="1"/>
          <p:nvPr/>
        </p:nvSpPr>
        <p:spPr>
          <a:xfrm>
            <a:off x="9639300" y="44005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1">
                <a:solidFill>
                  <a:srgbClr val="4E5F70"/>
                </a:solidFill>
                <a:latin typeface="Times New Roman"/>
              </a:rPr>
              <a:t>Lamina propria</a:t>
            </a:r>
          </a:p>
        </p:txBody>
      </p:sp>
      <p:sp>
        <p:nvSpPr>
          <p:cNvPr id="896" name="Text 894"/>
          <p:cNvSpPr txBox="1"/>
          <p:nvPr/>
        </p:nvSpPr>
        <p:spPr>
          <a:xfrm>
            <a:off x="12230100" y="3209925"/>
            <a:ext cx="27622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7254A8"/>
                </a:solidFill>
                <a:latin typeface="Times New Roman"/>
              </a:rPr>
              <a:t>Active epithelial uptake</a:t>
            </a:r>
          </a:p>
        </p:txBody>
      </p:sp>
      <p:sp>
        <p:nvSpPr>
          <p:cNvPr id="897" name="Text 895"/>
          <p:cNvSpPr txBox="1"/>
          <p:nvPr/>
        </p:nvSpPr>
        <p:spPr>
          <a:xfrm>
            <a:off x="12230100" y="3571875"/>
            <a:ext cx="2286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0">
                <a:solidFill>
                  <a:srgbClr val="7254A8"/>
                </a:solidFill>
                <a:latin typeface="Times New Roman"/>
              </a:rPr>
              <a:t>(steady state)</a:t>
            </a:r>
          </a:p>
        </p:txBody>
      </p:sp>
      <p:sp>
        <p:nvSpPr>
          <p:cNvPr id="898" name="Text 896"/>
          <p:cNvSpPr txBox="1"/>
          <p:nvPr/>
        </p:nvSpPr>
        <p:spPr>
          <a:xfrm>
            <a:off x="9544050" y="5143500"/>
            <a:ext cx="101917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Portal route</a:t>
            </a:r>
          </a:p>
        </p:txBody>
      </p:sp>
      <p:sp>
        <p:nvSpPr>
          <p:cNvPr id="899" name="Text 897"/>
          <p:cNvSpPr txBox="1"/>
          <p:nvPr/>
        </p:nvSpPr>
        <p:spPr>
          <a:xfrm>
            <a:off x="10382250" y="5286375"/>
            <a:ext cx="17335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467D78"/>
                </a:solidFill>
                <a:latin typeface="Times New Roman"/>
              </a:rPr>
              <a:t>Lymphatic capillary</a:t>
            </a:r>
          </a:p>
        </p:txBody>
      </p:sp>
      <p:sp>
        <p:nvSpPr>
          <p:cNvPr id="900" name="Text 898"/>
          <p:cNvSpPr txBox="1"/>
          <p:nvPr/>
        </p:nvSpPr>
        <p:spPr>
          <a:xfrm>
            <a:off x="11972925" y="4648200"/>
            <a:ext cx="1857375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A82D2A"/>
                </a:solidFill>
                <a:latin typeface="Times New Roman"/>
              </a:rPr>
              <a:t>Lymphatic route</a:t>
            </a:r>
          </a:p>
        </p:txBody>
      </p:sp>
      <p:sp>
        <p:nvSpPr>
          <p:cNvPr id="901" name="Text 899"/>
          <p:cNvSpPr txBox="1"/>
          <p:nvPr/>
        </p:nvSpPr>
        <p:spPr>
          <a:xfrm>
            <a:off x="7943850" y="4257675"/>
            <a:ext cx="13716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A82D2A"/>
                </a:solidFill>
                <a:latin typeface="Times New Roman"/>
              </a:rPr>
              <a:t>Barrier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A82D2A"/>
                </a:solidFill>
                <a:latin typeface="Times New Roman"/>
              </a:rPr>
              <a:t>alterations</a:t>
            </a:r>
          </a:p>
        </p:txBody>
      </p:sp>
      <p:sp>
        <p:nvSpPr>
          <p:cNvPr id="902" name="Text 900"/>
          <p:cNvSpPr txBox="1"/>
          <p:nvPr/>
        </p:nvSpPr>
        <p:spPr>
          <a:xfrm>
            <a:off x="7915275" y="4695825"/>
            <a:ext cx="139065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0">
                <a:solidFill>
                  <a:srgbClr val="A82D2A"/>
                </a:solidFill>
                <a:latin typeface="Times New Roman"/>
              </a:rPr>
              <a:t>Experimental PH</a:t>
            </a:r>
          </a:p>
        </p:txBody>
      </p:sp>
      <p:sp>
        <p:nvSpPr>
          <p:cNvPr id="903" name="Text 901"/>
          <p:cNvSpPr txBox="1"/>
          <p:nvPr/>
        </p:nvSpPr>
        <p:spPr>
          <a:xfrm>
            <a:off x="7924800" y="5010150"/>
            <a:ext cx="13335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Goblet cells ↓</a:t>
            </a:r>
          </a:p>
        </p:txBody>
      </p:sp>
      <p:sp>
        <p:nvSpPr>
          <p:cNvPr id="904" name="Text 902"/>
          <p:cNvSpPr txBox="1"/>
          <p:nvPr/>
        </p:nvSpPr>
        <p:spPr>
          <a:xfrm>
            <a:off x="7905750" y="5286375"/>
            <a:ext cx="138112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Tight-junction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alterations</a:t>
            </a:r>
          </a:p>
        </p:txBody>
      </p:sp>
      <p:sp>
        <p:nvSpPr>
          <p:cNvPr id="905" name="Text 903"/>
          <p:cNvSpPr txBox="1"/>
          <p:nvPr/>
        </p:nvSpPr>
        <p:spPr>
          <a:xfrm>
            <a:off x="7905750" y="5705475"/>
            <a:ext cx="13430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Permeability ↑</a:t>
            </a:r>
          </a:p>
        </p:txBody>
      </p:sp>
      <p:sp>
        <p:nvSpPr>
          <p:cNvPr id="906" name="Text 904"/>
          <p:cNvSpPr txBox="1"/>
          <p:nvPr/>
        </p:nvSpPr>
        <p:spPr>
          <a:xfrm>
            <a:off x="12896850" y="6324600"/>
            <a:ext cx="20383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1" i="0">
                <a:solidFill>
                  <a:srgbClr val="A82D2A"/>
                </a:solidFill>
                <a:latin typeface="Times New Roman"/>
              </a:rPr>
              <a:t>Circulating MAMPs</a:t>
            </a:r>
          </a:p>
        </p:txBody>
      </p:sp>
      <p:sp>
        <p:nvSpPr>
          <p:cNvPr id="907" name="Text 905"/>
          <p:cNvSpPr txBox="1"/>
          <p:nvPr/>
        </p:nvSpPr>
        <p:spPr>
          <a:xfrm>
            <a:off x="12630150" y="6762750"/>
            <a:ext cx="24669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Microbiota-related metabolites</a:t>
            </a:r>
          </a:p>
        </p:txBody>
      </p:sp>
      <p:sp>
        <p:nvSpPr>
          <p:cNvPr id="908" name="Molecular marker"/>
          <p:cNvSpPr/>
          <p:nvPr/>
        </p:nvSpPr>
        <p:spPr>
          <a:xfrm>
            <a:off x="11339513" y="35147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9" name="Molecular marker"/>
          <p:cNvSpPr/>
          <p:nvPr/>
        </p:nvSpPr>
        <p:spPr>
          <a:xfrm>
            <a:off x="11371263" y="4794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0" name="Molecular marker"/>
          <p:cNvSpPr/>
          <p:nvPr/>
        </p:nvSpPr>
        <p:spPr>
          <a:xfrm>
            <a:off x="13795375" y="6303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Molecular marker"/>
          <p:cNvSpPr/>
          <p:nvPr/>
        </p:nvSpPr>
        <p:spPr>
          <a:xfrm>
            <a:off x="13609638" y="6294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Barrier and circulating exposure</dc:title>
  <dc:subject/>
  <dc:creator/>
  <cp:keywords/>
  <dc:description/>
  <cp:lastModifiedBy/>
  <cp:revision>1</cp:revision>
  <dcterms:created xsi:type="dcterms:W3CDTF">2026-10-17T03:47:33Z</dcterms:created>
  <dcterms:modified xsi:type="dcterms:W3CDTF">2026-10-17T03:47:33Z</dcterms:modified>
  <cp:category/>
  <dc:identifier/>
  <cp:contentStatus/>
  <cp:version/>
</cp:coreProperties>
</file>