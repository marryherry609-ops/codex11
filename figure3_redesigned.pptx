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240000" cy="8572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per background"/>
          <p:cNvSpPr/>
          <p:nvPr/>
        </p:nvSpPr>
        <p:spPr>
          <a:xfrm>
            <a:off x="0" y="0"/>
            <a:ext cx="15240000" cy="8572500"/>
          </a:xfrm>
          <a:prstGeom prst="rect">
            <a:avLst/>
          </a:prstGeom>
          <a:solidFill>
            <a:srgbClr val="FFFE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igure_title"/>
          <p:cNvSpPr txBox="1"/>
          <p:nvPr/>
        </p:nvSpPr>
        <p:spPr>
          <a:xfrm>
            <a:off x="419100" y="209550"/>
            <a:ext cx="144018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2500" b="1" i="0">
                <a:solidFill>
                  <a:srgbClr val="283B4E"/>
                </a:solidFill>
                <a:latin typeface="Times New Roman"/>
              </a:rPr>
              <a:t>Gut–pulmonary vascular–right ventricular interactions in PAH</a:t>
            </a:r>
          </a:p>
        </p:txBody>
      </p:sp>
      <p:sp>
        <p:nvSpPr>
          <p:cNvPr id="4" name="figure_subtitle"/>
          <p:cNvSpPr txBox="1"/>
          <p:nvPr/>
        </p:nvSpPr>
        <p:spPr>
          <a:xfrm>
            <a:off x="419100" y="647700"/>
            <a:ext cx="14401800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697786"/>
                </a:solidFill>
                <a:latin typeface="Times New Roman"/>
              </a:rPr>
              <a:t>Microbiota-related signals, vascular load and proposed hemodynamic feedback</a:t>
            </a:r>
          </a:p>
        </p:txBody>
      </p:sp>
      <p:sp>
        <p:nvSpPr>
          <p:cNvPr id="5" name="Title rule"/>
          <p:cNvSpPr/>
          <p:nvPr/>
        </p:nvSpPr>
        <p:spPr>
          <a:xfrm>
            <a:off x="419100" y="1000125"/>
            <a:ext cx="14401800" cy="95"/>
          </a:xfrm>
          <a:custGeom>
            <a:avLst/>
            <a:gdLst/>
            <a:ahLst/>
            <a:cxnLst/>
            <a:rect l="0" t="0" r="r" b="b"/>
            <a:pathLst>
              <a:path w="14401800" h="95">
                <a:moveTo>
                  <a:pt x="0" y="0"/>
                </a:moveTo>
                <a:lnTo>
                  <a:pt x="14401800" y="0"/>
                </a:lnTo>
              </a:path>
            </a:pathLst>
          </a:custGeom>
          <a:noFill/>
          <a:ln w="10477" cap="rnd">
            <a:solidFill>
              <a:srgbClr val="D9DF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anel_gut"/>
          <p:cNvSpPr txBox="1"/>
          <p:nvPr/>
        </p:nvSpPr>
        <p:spPr>
          <a:xfrm>
            <a:off x="514350" y="1133475"/>
            <a:ext cx="56769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850" b="1" i="0">
                <a:solidFill>
                  <a:srgbClr val="283B4E"/>
                </a:solidFill>
                <a:latin typeface="Times New Roman"/>
              </a:rPr>
              <a:t>A   Intestinal changes</a:t>
            </a:r>
          </a:p>
        </p:txBody>
      </p:sp>
      <p:sp>
        <p:nvSpPr>
          <p:cNvPr id="7" name="panel_lung"/>
          <p:cNvSpPr txBox="1"/>
          <p:nvPr/>
        </p:nvSpPr>
        <p:spPr>
          <a:xfrm>
            <a:off x="6772275" y="1133475"/>
            <a:ext cx="381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850" b="1" i="0">
                <a:solidFill>
                  <a:srgbClr val="283B4E"/>
                </a:solidFill>
                <a:latin typeface="Times New Roman"/>
              </a:rPr>
              <a:t>B   Pulmonary vasculature</a:t>
            </a:r>
          </a:p>
        </p:txBody>
      </p:sp>
      <p:sp>
        <p:nvSpPr>
          <p:cNvPr id="8" name="panel_rv"/>
          <p:cNvSpPr txBox="1"/>
          <p:nvPr/>
        </p:nvSpPr>
        <p:spPr>
          <a:xfrm>
            <a:off x="11182350" y="1133475"/>
            <a:ext cx="36385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850" b="1" i="0">
                <a:solidFill>
                  <a:srgbClr val="283B4E"/>
                </a:solidFill>
                <a:latin typeface="Times New Roman"/>
              </a:rPr>
              <a:t>C   Right ventricle</a:t>
            </a:r>
          </a:p>
        </p:txBody>
      </p:sp>
      <p:sp>
        <p:nvSpPr>
          <p:cNvPr id="9" name="Compartment rule"/>
          <p:cNvSpPr/>
          <p:nvPr/>
        </p:nvSpPr>
        <p:spPr>
          <a:xfrm>
            <a:off x="514350" y="1485900"/>
            <a:ext cx="5810250" cy="95"/>
          </a:xfrm>
          <a:custGeom>
            <a:avLst/>
            <a:gdLst/>
            <a:ahLst/>
            <a:cxnLst/>
            <a:rect l="0" t="0" r="r" b="b"/>
            <a:pathLst>
              <a:path w="5810250" h="9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8096" cap="rnd">
            <a:solidFill>
              <a:srgbClr val="D9DF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ompartment rule"/>
          <p:cNvSpPr/>
          <p:nvPr/>
        </p:nvSpPr>
        <p:spPr>
          <a:xfrm>
            <a:off x="6772275" y="1485900"/>
            <a:ext cx="3752850" cy="95"/>
          </a:xfrm>
          <a:custGeom>
            <a:avLst/>
            <a:gdLst/>
            <a:ahLst/>
            <a:cxnLst/>
            <a:rect l="0" t="0" r="r" b="b"/>
            <a:pathLst>
              <a:path w="3752850" h="95">
                <a:moveTo>
                  <a:pt x="0" y="0"/>
                </a:moveTo>
                <a:lnTo>
                  <a:pt x="3752850" y="0"/>
                </a:lnTo>
              </a:path>
            </a:pathLst>
          </a:custGeom>
          <a:noFill/>
          <a:ln w="8096" cap="rnd">
            <a:solidFill>
              <a:srgbClr val="D9DF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ompartment rule"/>
          <p:cNvSpPr/>
          <p:nvPr/>
        </p:nvSpPr>
        <p:spPr>
          <a:xfrm>
            <a:off x="11182350" y="1485900"/>
            <a:ext cx="3638550" cy="95"/>
          </a:xfrm>
          <a:custGeom>
            <a:avLst/>
            <a:gdLst/>
            <a:ahLst/>
            <a:cxnLst/>
            <a:rect l="0" t="0" r="r" b="b"/>
            <a:pathLst>
              <a:path w="3638550" h="95">
                <a:moveTo>
                  <a:pt x="0" y="0"/>
                </a:moveTo>
                <a:lnTo>
                  <a:pt x="3638550" y="0"/>
                </a:lnTo>
              </a:path>
            </a:pathLst>
          </a:custGeom>
          <a:noFill/>
          <a:ln w="8096" cap="rnd">
            <a:solidFill>
              <a:srgbClr val="D9DF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Editable intestinal organ"/>
          <p:cNvGrpSpPr/>
          <p:nvPr/>
        </p:nvGrpSpPr>
        <p:grpSpPr>
          <a:xfrm>
            <a:off x="676275" y="1752600"/>
            <a:ext cx="1847850" cy="2276475"/>
            <a:chOff x="306745" y="139310"/>
            <a:chExt cx="1424354" cy="1681973"/>
          </a:xfrm>
        </p:grpSpPr>
        <p:sp>
          <p:nvSpPr>
            <p:cNvPr id="13" name="Intestinal wall"/>
            <p:cNvSpPr/>
            <p:nvPr/>
          </p:nvSpPr>
          <p:spPr>
            <a:xfrm>
              <a:off x="306745" y="139310"/>
              <a:ext cx="1424354" cy="1681973"/>
            </a:xfrm>
            <a:custGeom>
              <a:avLst/>
              <a:gdLst/>
              <a:ahLst/>
              <a:cxnLst/>
              <a:rect l="0" t="0" r="r" b="b"/>
              <a:pathLst>
                <a:path w="1424354" h="1681973">
                  <a:moveTo>
                    <a:pt x="230745" y="1029735"/>
                  </a:moveTo>
                  <a:lnTo>
                    <a:pt x="226755" y="1024256"/>
                  </a:lnTo>
                  <a:lnTo>
                    <a:pt x="223561" y="1022031"/>
                  </a:lnTo>
                  <a:lnTo>
                    <a:pt x="219072" y="1018144"/>
                  </a:lnTo>
                  <a:lnTo>
                    <a:pt x="214256" y="1012305"/>
                  </a:lnTo>
                  <a:lnTo>
                    <a:pt x="210305" y="1004453"/>
                  </a:lnTo>
                  <a:lnTo>
                    <a:pt x="208276" y="994750"/>
                  </a:lnTo>
                  <a:lnTo>
                    <a:pt x="208641" y="983512"/>
                  </a:lnTo>
                  <a:lnTo>
                    <a:pt x="210943" y="971103"/>
                  </a:lnTo>
                  <a:lnTo>
                    <a:pt x="213811" y="957799"/>
                  </a:lnTo>
                  <a:lnTo>
                    <a:pt x="215475" y="943721"/>
                  </a:lnTo>
                  <a:lnTo>
                    <a:pt x="214649" y="928857"/>
                  </a:lnTo>
                  <a:lnTo>
                    <a:pt x="211361" y="913155"/>
                  </a:lnTo>
                  <a:lnTo>
                    <a:pt x="207174" y="896636"/>
                  </a:lnTo>
                  <a:lnTo>
                    <a:pt x="204460" y="879414"/>
                  </a:lnTo>
                  <a:lnTo>
                    <a:pt x="205010" y="861643"/>
                  </a:lnTo>
                  <a:lnTo>
                    <a:pt x="208783" y="843414"/>
                  </a:lnTo>
                  <a:lnTo>
                    <a:pt x="213706" y="824724"/>
                  </a:lnTo>
                  <a:lnTo>
                    <a:pt x="216839" y="805536"/>
                  </a:lnTo>
                  <a:lnTo>
                    <a:pt x="216260" y="785880"/>
                  </a:lnTo>
                  <a:lnTo>
                    <a:pt x="212397" y="765876"/>
                  </a:lnTo>
                  <a:lnTo>
                    <a:pt x="207802" y="745646"/>
                  </a:lnTo>
                  <a:lnTo>
                    <a:pt x="205419" y="725202"/>
                  </a:lnTo>
                  <a:lnTo>
                    <a:pt x="206532" y="704429"/>
                  </a:lnTo>
                  <a:lnTo>
                    <a:pt x="209741" y="681817"/>
                  </a:lnTo>
                  <a:lnTo>
                    <a:pt x="211916" y="657365"/>
                  </a:lnTo>
                  <a:lnTo>
                    <a:pt x="209992" y="636098"/>
                  </a:lnTo>
                  <a:lnTo>
                    <a:pt x="203832" y="615178"/>
                  </a:lnTo>
                  <a:lnTo>
                    <a:pt x="197653" y="594233"/>
                  </a:lnTo>
                  <a:lnTo>
                    <a:pt x="195872" y="573102"/>
                  </a:lnTo>
                  <a:lnTo>
                    <a:pt x="199147" y="551957"/>
                  </a:lnTo>
                  <a:lnTo>
                    <a:pt x="203913" y="531065"/>
                  </a:lnTo>
                  <a:lnTo>
                    <a:pt x="205661" y="510507"/>
                  </a:lnTo>
                  <a:lnTo>
                    <a:pt x="202852" y="490158"/>
                  </a:lnTo>
                  <a:lnTo>
                    <a:pt x="198067" y="469916"/>
                  </a:lnTo>
                  <a:lnTo>
                    <a:pt x="195628" y="449895"/>
                  </a:lnTo>
                  <a:lnTo>
                    <a:pt x="197981" y="430349"/>
                  </a:lnTo>
                  <a:lnTo>
                    <a:pt x="203891" y="411423"/>
                  </a:lnTo>
                  <a:lnTo>
                    <a:pt x="209679" y="392982"/>
                  </a:lnTo>
                  <a:lnTo>
                    <a:pt x="212194" y="374716"/>
                  </a:lnTo>
                  <a:lnTo>
                    <a:pt x="211064" y="356438"/>
                  </a:lnTo>
                  <a:lnTo>
                    <a:pt x="208676" y="338305"/>
                  </a:lnTo>
                  <a:lnTo>
                    <a:pt x="208244" y="320770"/>
                  </a:lnTo>
                  <a:lnTo>
                    <a:pt x="211588" y="304285"/>
                  </a:lnTo>
                  <a:lnTo>
                    <a:pt x="218144" y="288993"/>
                  </a:lnTo>
                  <a:lnTo>
                    <a:pt x="225624" y="274625"/>
                  </a:lnTo>
                  <a:lnTo>
                    <a:pt x="231584" y="260681"/>
                  </a:lnTo>
                  <a:lnTo>
                    <a:pt x="234813" y="246750"/>
                  </a:lnTo>
                  <a:lnTo>
                    <a:pt x="234832" y="246553"/>
                  </a:lnTo>
                  <a:lnTo>
                    <a:pt x="235662" y="247825"/>
                  </a:lnTo>
                  <a:lnTo>
                    <a:pt x="251495" y="266688"/>
                  </a:lnTo>
                  <a:lnTo>
                    <a:pt x="270680" y="281666"/>
                  </a:lnTo>
                  <a:lnTo>
                    <a:pt x="292446" y="292999"/>
                  </a:lnTo>
                  <a:lnTo>
                    <a:pt x="314476" y="303311"/>
                  </a:lnTo>
                  <a:lnTo>
                    <a:pt x="334798" y="315552"/>
                  </a:lnTo>
                  <a:lnTo>
                    <a:pt x="353207" y="330675"/>
                  </a:lnTo>
                  <a:lnTo>
                    <a:pt x="371193" y="346857"/>
                  </a:lnTo>
                  <a:lnTo>
                    <a:pt x="390618" y="360866"/>
                  </a:lnTo>
                  <a:lnTo>
                    <a:pt x="412296" y="370503"/>
                  </a:lnTo>
                  <a:lnTo>
                    <a:pt x="435531" y="376254"/>
                  </a:lnTo>
                  <a:lnTo>
                    <a:pt x="458822" y="380933"/>
                  </a:lnTo>
                  <a:lnTo>
                    <a:pt x="481052" y="387598"/>
                  </a:lnTo>
                  <a:lnTo>
                    <a:pt x="502205" y="397307"/>
                  </a:lnTo>
                  <a:lnTo>
                    <a:pt x="523173" y="408348"/>
                  </a:lnTo>
                  <a:lnTo>
                    <a:pt x="544931" y="417472"/>
                  </a:lnTo>
                  <a:lnTo>
                    <a:pt x="567805" y="422199"/>
                  </a:lnTo>
                  <a:lnTo>
                    <a:pt x="591354" y="422557"/>
                  </a:lnTo>
                  <a:lnTo>
                    <a:pt x="614860" y="421025"/>
                  </a:lnTo>
                  <a:lnTo>
                    <a:pt x="637932" y="420784"/>
                  </a:lnTo>
                  <a:lnTo>
                    <a:pt x="660735" y="423506"/>
                  </a:lnTo>
                  <a:lnTo>
                    <a:pt x="683697" y="428213"/>
                  </a:lnTo>
                  <a:lnTo>
                    <a:pt x="707019" y="431967"/>
                  </a:lnTo>
                  <a:lnTo>
                    <a:pt x="730440" y="431871"/>
                  </a:lnTo>
                  <a:lnTo>
                    <a:pt x="752106" y="427184"/>
                  </a:lnTo>
                  <a:lnTo>
                    <a:pt x="777243" y="418488"/>
                  </a:lnTo>
                  <a:lnTo>
                    <a:pt x="803142" y="411317"/>
                  </a:lnTo>
                  <a:lnTo>
                    <a:pt x="829513" y="408846"/>
                  </a:lnTo>
                  <a:lnTo>
                    <a:pt x="856323" y="408714"/>
                  </a:lnTo>
                  <a:lnTo>
                    <a:pt x="882468" y="405741"/>
                  </a:lnTo>
                  <a:lnTo>
                    <a:pt x="906842" y="396973"/>
                  </a:lnTo>
                  <a:lnTo>
                    <a:pt x="929566" y="384309"/>
                  </a:lnTo>
                  <a:lnTo>
                    <a:pt x="952027" y="372528"/>
                  </a:lnTo>
                  <a:lnTo>
                    <a:pt x="975589" y="364879"/>
                  </a:lnTo>
                  <a:lnTo>
                    <a:pt x="1000216" y="360349"/>
                  </a:lnTo>
                  <a:lnTo>
                    <a:pt x="1024384" y="354865"/>
                  </a:lnTo>
                  <a:lnTo>
                    <a:pt x="1046420" y="345026"/>
                  </a:lnTo>
                  <a:lnTo>
                    <a:pt x="1066026" y="330941"/>
                  </a:lnTo>
                  <a:lnTo>
                    <a:pt x="1084595" y="315916"/>
                  </a:lnTo>
                  <a:lnTo>
                    <a:pt x="1104031" y="303548"/>
                  </a:lnTo>
                  <a:lnTo>
                    <a:pt x="1125136" y="294890"/>
                  </a:lnTo>
                  <a:lnTo>
                    <a:pt x="1146949" y="287893"/>
                  </a:lnTo>
                  <a:lnTo>
                    <a:pt x="1167532" y="279282"/>
                  </a:lnTo>
                  <a:lnTo>
                    <a:pt x="1185497" y="267125"/>
                  </a:lnTo>
                  <a:lnTo>
                    <a:pt x="1201025" y="252094"/>
                  </a:lnTo>
                  <a:lnTo>
                    <a:pt x="1215651" y="236731"/>
                  </a:lnTo>
                  <a:lnTo>
                    <a:pt x="1226279" y="227655"/>
                  </a:lnTo>
                  <a:lnTo>
                    <a:pt x="1225509" y="237599"/>
                  </a:lnTo>
                  <a:lnTo>
                    <a:pt x="1219694" y="257758"/>
                  </a:lnTo>
                  <a:lnTo>
                    <a:pt x="1211517" y="284436"/>
                  </a:lnTo>
                  <a:lnTo>
                    <a:pt x="1205821" y="309296"/>
                  </a:lnTo>
                  <a:lnTo>
                    <a:pt x="1206175" y="335138"/>
                  </a:lnTo>
                  <a:lnTo>
                    <a:pt x="1210633" y="361609"/>
                  </a:lnTo>
                  <a:lnTo>
                    <a:pt x="1212697" y="388287"/>
                  </a:lnTo>
                  <a:lnTo>
                    <a:pt x="1208402" y="415091"/>
                  </a:lnTo>
                  <a:lnTo>
                    <a:pt x="1201460" y="442234"/>
                  </a:lnTo>
                  <a:lnTo>
                    <a:pt x="1199398" y="469833"/>
                  </a:lnTo>
                  <a:lnTo>
                    <a:pt x="1204276" y="497736"/>
                  </a:lnTo>
                  <a:lnTo>
                    <a:pt x="1209614" y="525746"/>
                  </a:lnTo>
                  <a:lnTo>
                    <a:pt x="1208357" y="553846"/>
                  </a:lnTo>
                  <a:lnTo>
                    <a:pt x="1202131" y="582083"/>
                  </a:lnTo>
                  <a:lnTo>
                    <a:pt x="1199332" y="610342"/>
                  </a:lnTo>
                  <a:lnTo>
                    <a:pt x="1204111" y="638425"/>
                  </a:lnTo>
                  <a:lnTo>
                    <a:pt x="1210863" y="666312"/>
                  </a:lnTo>
                  <a:lnTo>
                    <a:pt x="1211636" y="694154"/>
                  </a:lnTo>
                  <a:lnTo>
                    <a:pt x="1206473" y="721964"/>
                  </a:lnTo>
                  <a:lnTo>
                    <a:pt x="1203070" y="749464"/>
                  </a:lnTo>
                  <a:lnTo>
                    <a:pt x="1206755" y="776365"/>
                  </a:lnTo>
                  <a:lnTo>
                    <a:pt x="1214076" y="802688"/>
                  </a:lnTo>
                  <a:lnTo>
                    <a:pt x="1217549" y="828676"/>
                  </a:lnTo>
                  <a:lnTo>
                    <a:pt x="1214653" y="854417"/>
                  </a:lnTo>
                  <a:lnTo>
                    <a:pt x="1210126" y="879656"/>
                  </a:lnTo>
                  <a:lnTo>
                    <a:pt x="1210130" y="905754"/>
                  </a:lnTo>
                  <a:lnTo>
                    <a:pt x="1215533" y="926265"/>
                  </a:lnTo>
                  <a:lnTo>
                    <a:pt x="1221103" y="941931"/>
                  </a:lnTo>
                  <a:lnTo>
                    <a:pt x="1223448" y="957348"/>
                  </a:lnTo>
                  <a:lnTo>
                    <a:pt x="1220942" y="972008"/>
                  </a:lnTo>
                  <a:lnTo>
                    <a:pt x="1214969" y="985459"/>
                  </a:lnTo>
                  <a:lnTo>
                    <a:pt x="1208597" y="997852"/>
                  </a:lnTo>
                  <a:lnTo>
                    <a:pt x="1204399" y="1009892"/>
                  </a:lnTo>
                  <a:lnTo>
                    <a:pt x="1202965" y="1022267"/>
                  </a:lnTo>
                  <a:lnTo>
                    <a:pt x="1202833" y="1035063"/>
                  </a:lnTo>
                  <a:lnTo>
                    <a:pt x="1201618" y="1047604"/>
                  </a:lnTo>
                  <a:lnTo>
                    <a:pt x="1197478" y="1058852"/>
                  </a:lnTo>
                  <a:lnTo>
                    <a:pt x="1190074" y="1068100"/>
                  </a:lnTo>
                  <a:lnTo>
                    <a:pt x="1180576" y="1075500"/>
                  </a:lnTo>
                  <a:lnTo>
                    <a:pt x="1170878" y="1082088"/>
                  </a:lnTo>
                  <a:lnTo>
                    <a:pt x="1162526" y="1089259"/>
                  </a:lnTo>
                  <a:lnTo>
                    <a:pt x="1155948" y="1097971"/>
                  </a:lnTo>
                  <a:lnTo>
                    <a:pt x="1150354" y="1108131"/>
                  </a:lnTo>
                  <a:lnTo>
                    <a:pt x="1144269" y="1118537"/>
                  </a:lnTo>
                  <a:lnTo>
                    <a:pt x="1136374" y="1127463"/>
                  </a:lnTo>
                  <a:lnTo>
                    <a:pt x="1126187" y="1133600"/>
                  </a:lnTo>
                  <a:lnTo>
                    <a:pt x="1114229" y="1136869"/>
                  </a:lnTo>
                  <a:lnTo>
                    <a:pt x="1101632" y="1138597"/>
                  </a:lnTo>
                  <a:lnTo>
                    <a:pt x="1089443" y="1140875"/>
                  </a:lnTo>
                  <a:lnTo>
                    <a:pt x="1078833" y="1145099"/>
                  </a:lnTo>
                  <a:lnTo>
                    <a:pt x="1070304" y="1150965"/>
                  </a:lnTo>
                  <a:lnTo>
                    <a:pt x="1062118" y="1157079"/>
                  </a:lnTo>
                  <a:lnTo>
                    <a:pt x="1052720" y="1161500"/>
                  </a:lnTo>
                  <a:lnTo>
                    <a:pt x="1042220" y="1162538"/>
                  </a:lnTo>
                  <a:lnTo>
                    <a:pt x="1031119" y="1159972"/>
                  </a:lnTo>
                  <a:lnTo>
                    <a:pt x="1019761" y="1155156"/>
                  </a:lnTo>
                  <a:lnTo>
                    <a:pt x="1008026" y="1150305"/>
                  </a:lnTo>
                  <a:lnTo>
                    <a:pt x="995440" y="1147307"/>
                  </a:lnTo>
                  <a:lnTo>
                    <a:pt x="981596" y="1146706"/>
                  </a:lnTo>
                  <a:lnTo>
                    <a:pt x="966536" y="1147396"/>
                  </a:lnTo>
                  <a:lnTo>
                    <a:pt x="950804" y="1147249"/>
                  </a:lnTo>
                  <a:lnTo>
                    <a:pt x="935106" y="1144337"/>
                  </a:lnTo>
                  <a:lnTo>
                    <a:pt x="919825" y="1138050"/>
                  </a:lnTo>
                  <a:lnTo>
                    <a:pt x="904752" y="1129463"/>
                  </a:lnTo>
                  <a:lnTo>
                    <a:pt x="889235" y="1120745"/>
                  </a:lnTo>
                  <a:lnTo>
                    <a:pt x="872627" y="1113995"/>
                  </a:lnTo>
                  <a:lnTo>
                    <a:pt x="854701" y="1110190"/>
                  </a:lnTo>
                  <a:lnTo>
                    <a:pt x="835750" y="1108829"/>
                  </a:lnTo>
                  <a:lnTo>
                    <a:pt x="816320" y="1108382"/>
                  </a:lnTo>
                  <a:lnTo>
                    <a:pt x="796804" y="1107208"/>
                  </a:lnTo>
                  <a:lnTo>
                    <a:pt x="777180" y="1104422"/>
                  </a:lnTo>
                  <a:lnTo>
                    <a:pt x="757037" y="1100306"/>
                  </a:lnTo>
                  <a:lnTo>
                    <a:pt x="735873" y="1096164"/>
                  </a:lnTo>
                  <a:lnTo>
                    <a:pt x="713990" y="1093755"/>
                  </a:lnTo>
                  <a:lnTo>
                    <a:pt x="692556" y="1094346"/>
                  </a:lnTo>
                  <a:lnTo>
                    <a:pt x="672072" y="1098307"/>
                  </a:lnTo>
                  <a:lnTo>
                    <a:pt x="653273" y="1107624"/>
                  </a:lnTo>
                  <a:lnTo>
                    <a:pt x="634547" y="1115522"/>
                  </a:lnTo>
                  <a:lnTo>
                    <a:pt x="617083" y="1125712"/>
                  </a:lnTo>
                  <a:lnTo>
                    <a:pt x="600637" y="1137124"/>
                  </a:lnTo>
                  <a:lnTo>
                    <a:pt x="585210" y="1149599"/>
                  </a:lnTo>
                  <a:lnTo>
                    <a:pt x="570833" y="1163070"/>
                  </a:lnTo>
                  <a:lnTo>
                    <a:pt x="557594" y="1177527"/>
                  </a:lnTo>
                  <a:lnTo>
                    <a:pt x="545646" y="1192974"/>
                  </a:lnTo>
                  <a:lnTo>
                    <a:pt x="535197" y="1209387"/>
                  </a:lnTo>
                  <a:lnTo>
                    <a:pt x="526483" y="1226683"/>
                  </a:lnTo>
                  <a:lnTo>
                    <a:pt x="519727" y="1244707"/>
                  </a:lnTo>
                  <a:lnTo>
                    <a:pt x="515099" y="1263244"/>
                  </a:lnTo>
                  <a:lnTo>
                    <a:pt x="512676" y="1282035"/>
                  </a:lnTo>
                  <a:lnTo>
                    <a:pt x="512408" y="1300821"/>
                  </a:lnTo>
                  <a:lnTo>
                    <a:pt x="514107" y="1319385"/>
                  </a:lnTo>
                  <a:lnTo>
                    <a:pt x="517462" y="1337593"/>
                  </a:lnTo>
                  <a:lnTo>
                    <a:pt x="522089" y="1355420"/>
                  </a:lnTo>
                  <a:lnTo>
                    <a:pt x="527613" y="1372942"/>
                  </a:lnTo>
                  <a:lnTo>
                    <a:pt x="533769" y="1390301"/>
                  </a:lnTo>
                  <a:lnTo>
                    <a:pt x="540495" y="1407616"/>
                  </a:lnTo>
                  <a:lnTo>
                    <a:pt x="547973" y="1424903"/>
                  </a:lnTo>
                  <a:lnTo>
                    <a:pt x="555075" y="1439115"/>
                  </a:lnTo>
                  <a:lnTo>
                    <a:pt x="558445" y="1445737"/>
                  </a:lnTo>
                  <a:lnTo>
                    <a:pt x="561722" y="1452000"/>
                  </a:lnTo>
                  <a:lnTo>
                    <a:pt x="565159" y="1458329"/>
                  </a:lnTo>
                  <a:lnTo>
                    <a:pt x="568729" y="1464789"/>
                  </a:lnTo>
                  <a:lnTo>
                    <a:pt x="572328" y="1471446"/>
                  </a:lnTo>
                  <a:lnTo>
                    <a:pt x="575797" y="1478353"/>
                  </a:lnTo>
                  <a:lnTo>
                    <a:pt x="578963" y="1485535"/>
                  </a:lnTo>
                  <a:lnTo>
                    <a:pt x="581673" y="1492987"/>
                  </a:lnTo>
                  <a:lnTo>
                    <a:pt x="583827" y="1500679"/>
                  </a:lnTo>
                  <a:lnTo>
                    <a:pt x="585395" y="1508565"/>
                  </a:lnTo>
                  <a:lnTo>
                    <a:pt x="586423" y="1516595"/>
                  </a:lnTo>
                  <a:lnTo>
                    <a:pt x="587022" y="1524719"/>
                  </a:lnTo>
                  <a:lnTo>
                    <a:pt x="587342" y="1532899"/>
                  </a:lnTo>
                  <a:lnTo>
                    <a:pt x="587549" y="1541112"/>
                  </a:lnTo>
                  <a:lnTo>
                    <a:pt x="587794" y="1549342"/>
                  </a:lnTo>
                  <a:lnTo>
                    <a:pt x="588189" y="1557583"/>
                  </a:lnTo>
                  <a:lnTo>
                    <a:pt x="588795" y="1565829"/>
                  </a:lnTo>
                  <a:lnTo>
                    <a:pt x="589624" y="1574074"/>
                  </a:lnTo>
                  <a:lnTo>
                    <a:pt x="590638" y="1582309"/>
                  </a:lnTo>
                  <a:lnTo>
                    <a:pt x="591773" y="1590518"/>
                  </a:lnTo>
                  <a:lnTo>
                    <a:pt x="592951" y="1598687"/>
                  </a:lnTo>
                  <a:lnTo>
                    <a:pt x="594100" y="1606802"/>
                  </a:lnTo>
                  <a:lnTo>
                    <a:pt x="595165" y="1614856"/>
                  </a:lnTo>
                  <a:lnTo>
                    <a:pt x="596123" y="1622446"/>
                  </a:lnTo>
                  <a:lnTo>
                    <a:pt x="600485" y="1645113"/>
                  </a:lnTo>
                  <a:lnTo>
                    <a:pt x="613189" y="1664385"/>
                  </a:lnTo>
                  <a:lnTo>
                    <a:pt x="632301" y="1677328"/>
                  </a:lnTo>
                  <a:lnTo>
                    <a:pt x="654911" y="1681973"/>
                  </a:lnTo>
                  <a:lnTo>
                    <a:pt x="677578" y="1677611"/>
                  </a:lnTo>
                  <a:lnTo>
                    <a:pt x="696850" y="1664907"/>
                  </a:lnTo>
                  <a:lnTo>
                    <a:pt x="709793" y="1645795"/>
                  </a:lnTo>
                  <a:lnTo>
                    <a:pt x="714437" y="1623184"/>
                  </a:lnTo>
                  <a:lnTo>
                    <a:pt x="714437" y="1623184"/>
                  </a:lnTo>
                  <a:lnTo>
                    <a:pt x="715487" y="1616195"/>
                  </a:lnTo>
                  <a:lnTo>
                    <a:pt x="716792" y="1609107"/>
                  </a:lnTo>
                  <a:lnTo>
                    <a:pt x="718279" y="1601551"/>
                  </a:lnTo>
                  <a:lnTo>
                    <a:pt x="719846" y="1593553"/>
                  </a:lnTo>
                  <a:lnTo>
                    <a:pt x="721370" y="1585132"/>
                  </a:lnTo>
                  <a:lnTo>
                    <a:pt x="722723" y="1576306"/>
                  </a:lnTo>
                  <a:lnTo>
                    <a:pt x="723791" y="1567095"/>
                  </a:lnTo>
                  <a:lnTo>
                    <a:pt x="724489" y="1557520"/>
                  </a:lnTo>
                  <a:lnTo>
                    <a:pt x="724776" y="1547609"/>
                  </a:lnTo>
                  <a:lnTo>
                    <a:pt x="724665" y="1537390"/>
                  </a:lnTo>
                  <a:lnTo>
                    <a:pt x="724219" y="1526889"/>
                  </a:lnTo>
                  <a:lnTo>
                    <a:pt x="723539" y="1516125"/>
                  </a:lnTo>
                  <a:lnTo>
                    <a:pt x="722740" y="1505105"/>
                  </a:lnTo>
                  <a:lnTo>
                    <a:pt x="721925" y="1493825"/>
                  </a:lnTo>
                  <a:lnTo>
                    <a:pt x="721153" y="1482270"/>
                  </a:lnTo>
                  <a:lnTo>
                    <a:pt x="720421" y="1470422"/>
                  </a:lnTo>
                  <a:lnTo>
                    <a:pt x="719650" y="1458267"/>
                  </a:lnTo>
                  <a:lnTo>
                    <a:pt x="718690" y="1445808"/>
                  </a:lnTo>
                  <a:lnTo>
                    <a:pt x="717339" y="1433076"/>
                  </a:lnTo>
                  <a:lnTo>
                    <a:pt x="715373" y="1420127"/>
                  </a:lnTo>
                  <a:lnTo>
                    <a:pt x="712585" y="1407046"/>
                  </a:lnTo>
                  <a:lnTo>
                    <a:pt x="708821" y="1393934"/>
                  </a:lnTo>
                  <a:lnTo>
                    <a:pt x="704003" y="1380887"/>
                  </a:lnTo>
                  <a:lnTo>
                    <a:pt x="698336" y="1368366"/>
                  </a:lnTo>
                  <a:lnTo>
                    <a:pt x="692140" y="1356494"/>
                  </a:lnTo>
                  <a:lnTo>
                    <a:pt x="688287" y="1347962"/>
                  </a:lnTo>
                  <a:lnTo>
                    <a:pt x="685634" y="1339789"/>
                  </a:lnTo>
                  <a:lnTo>
                    <a:pt x="684346" y="1332056"/>
                  </a:lnTo>
                  <a:lnTo>
                    <a:pt x="684344" y="1324951"/>
                  </a:lnTo>
                  <a:lnTo>
                    <a:pt x="685347" y="1318678"/>
                  </a:lnTo>
                  <a:lnTo>
                    <a:pt x="686963" y="1313382"/>
                  </a:lnTo>
                  <a:lnTo>
                    <a:pt x="688792" y="1309104"/>
                  </a:lnTo>
                  <a:lnTo>
                    <a:pt x="690505" y="1305776"/>
                  </a:lnTo>
                  <a:lnTo>
                    <a:pt x="691899" y="1303245"/>
                  </a:lnTo>
                  <a:lnTo>
                    <a:pt x="692908" y="1301321"/>
                  </a:lnTo>
                  <a:lnTo>
                    <a:pt x="693590" y="1299810"/>
                  </a:lnTo>
                  <a:lnTo>
                    <a:pt x="694100" y="1298563"/>
                  </a:lnTo>
                  <a:lnTo>
                    <a:pt x="694645" y="1297492"/>
                  </a:lnTo>
                  <a:lnTo>
                    <a:pt x="695444" y="1296579"/>
                  </a:lnTo>
                  <a:lnTo>
                    <a:pt x="696689" y="1295867"/>
                  </a:lnTo>
                  <a:lnTo>
                    <a:pt x="698515" y="1295425"/>
                  </a:lnTo>
                  <a:lnTo>
                    <a:pt x="700994" y="1295310"/>
                  </a:lnTo>
                  <a:lnTo>
                    <a:pt x="704141" y="1295521"/>
                  </a:lnTo>
                  <a:lnTo>
                    <a:pt x="707940" y="1295966"/>
                  </a:lnTo>
                  <a:lnTo>
                    <a:pt x="712131" y="1295640"/>
                  </a:lnTo>
                  <a:lnTo>
                    <a:pt x="717886" y="1298320"/>
                  </a:lnTo>
                  <a:lnTo>
                    <a:pt x="723576" y="1297298"/>
                  </a:lnTo>
                  <a:lnTo>
                    <a:pt x="729921" y="1294625"/>
                  </a:lnTo>
                  <a:lnTo>
                    <a:pt x="736905" y="1290987"/>
                  </a:lnTo>
                  <a:lnTo>
                    <a:pt x="745170" y="1287766"/>
                  </a:lnTo>
                  <a:lnTo>
                    <a:pt x="754986" y="1286488"/>
                  </a:lnTo>
                  <a:lnTo>
                    <a:pt x="765816" y="1288229"/>
                  </a:lnTo>
                  <a:lnTo>
                    <a:pt x="777218" y="1293035"/>
                  </a:lnTo>
                  <a:lnTo>
                    <a:pt x="789135" y="1299792"/>
                  </a:lnTo>
                  <a:lnTo>
                    <a:pt x="801929" y="1306628"/>
                  </a:lnTo>
                  <a:lnTo>
                    <a:pt x="816112" y="1311780"/>
                  </a:lnTo>
                  <a:lnTo>
                    <a:pt x="831943" y="1314516"/>
                  </a:lnTo>
                  <a:lnTo>
                    <a:pt x="849162" y="1315582"/>
                  </a:lnTo>
                  <a:lnTo>
                    <a:pt x="867091" y="1316846"/>
                  </a:lnTo>
                  <a:lnTo>
                    <a:pt x="885042" y="1320244"/>
                  </a:lnTo>
                  <a:lnTo>
                    <a:pt x="902775" y="1326620"/>
                  </a:lnTo>
                  <a:lnTo>
                    <a:pt x="920640" y="1335132"/>
                  </a:lnTo>
                  <a:lnTo>
                    <a:pt x="939308" y="1343622"/>
                  </a:lnTo>
                  <a:lnTo>
                    <a:pt x="959293" y="1349729"/>
                  </a:lnTo>
                  <a:lnTo>
                    <a:pt x="980601" y="1352117"/>
                  </a:lnTo>
                  <a:lnTo>
                    <a:pt x="1002793" y="1351096"/>
                  </a:lnTo>
                  <a:lnTo>
                    <a:pt x="1025363" y="1348326"/>
                  </a:lnTo>
                  <a:lnTo>
                    <a:pt x="1048156" y="1345787"/>
                  </a:lnTo>
                  <a:lnTo>
                    <a:pt x="1071484" y="1344604"/>
                  </a:lnTo>
                  <a:lnTo>
                    <a:pt x="1095814" y="1344323"/>
                  </a:lnTo>
                  <a:lnTo>
                    <a:pt x="1121225" y="1343023"/>
                  </a:lnTo>
                  <a:lnTo>
                    <a:pt x="1146128" y="1338531"/>
                  </a:lnTo>
                  <a:lnTo>
                    <a:pt x="1168351" y="1330060"/>
                  </a:lnTo>
                  <a:lnTo>
                    <a:pt x="1187953" y="1318079"/>
                  </a:lnTo>
                  <a:lnTo>
                    <a:pt x="1206056" y="1304011"/>
                  </a:lnTo>
                  <a:lnTo>
                    <a:pt x="1223657" y="1289971"/>
                  </a:lnTo>
                  <a:lnTo>
                    <a:pt x="1241838" y="1277310"/>
                  </a:lnTo>
                  <a:lnTo>
                    <a:pt x="1261072" y="1265974"/>
                  </a:lnTo>
                  <a:lnTo>
                    <a:pt x="1280824" y="1254681"/>
                  </a:lnTo>
                  <a:lnTo>
                    <a:pt x="1299729" y="1241726"/>
                  </a:lnTo>
                  <a:lnTo>
                    <a:pt x="1316261" y="1225935"/>
                  </a:lnTo>
                  <a:lnTo>
                    <a:pt x="1329580" y="1207239"/>
                  </a:lnTo>
                  <a:lnTo>
                    <a:pt x="1340065" y="1186621"/>
                  </a:lnTo>
                  <a:lnTo>
                    <a:pt x="1349212" y="1165500"/>
                  </a:lnTo>
                  <a:lnTo>
                    <a:pt x="1358865" y="1144936"/>
                  </a:lnTo>
                  <a:lnTo>
                    <a:pt x="1370146" y="1125109"/>
                  </a:lnTo>
                  <a:lnTo>
                    <a:pt x="1382663" y="1105333"/>
                  </a:lnTo>
                  <a:lnTo>
                    <a:pt x="1394528" y="1084597"/>
                  </a:lnTo>
                  <a:lnTo>
                    <a:pt x="1403306" y="1062250"/>
                  </a:lnTo>
                  <a:lnTo>
                    <a:pt x="1407484" y="1038401"/>
                  </a:lnTo>
                  <a:lnTo>
                    <a:pt x="1407602" y="1013765"/>
                  </a:lnTo>
                  <a:lnTo>
                    <a:pt x="1406186" y="989070"/>
                  </a:lnTo>
                  <a:lnTo>
                    <a:pt x="1406251" y="964493"/>
                  </a:lnTo>
                  <a:lnTo>
                    <a:pt x="1409133" y="939608"/>
                  </a:lnTo>
                  <a:lnTo>
                    <a:pt x="1413157" y="913928"/>
                  </a:lnTo>
                  <a:lnTo>
                    <a:pt x="1414881" y="892076"/>
                  </a:lnTo>
                  <a:lnTo>
                    <a:pt x="1412508" y="869876"/>
                  </a:lnTo>
                  <a:lnTo>
                    <a:pt x="1405629" y="845551"/>
                  </a:lnTo>
                  <a:lnTo>
                    <a:pt x="1400430" y="820587"/>
                  </a:lnTo>
                  <a:lnTo>
                    <a:pt x="1401675" y="794853"/>
                  </a:lnTo>
                  <a:lnTo>
                    <a:pt x="1406867" y="768561"/>
                  </a:lnTo>
                  <a:lnTo>
                    <a:pt x="1408546" y="742078"/>
                  </a:lnTo>
                  <a:lnTo>
                    <a:pt x="1403287" y="715550"/>
                  </a:lnTo>
                  <a:lnTo>
                    <a:pt x="1396442" y="688810"/>
                  </a:lnTo>
                  <a:lnTo>
                    <a:pt x="1395731" y="661706"/>
                  </a:lnTo>
                  <a:lnTo>
                    <a:pt x="1401221" y="634373"/>
                  </a:lnTo>
                  <a:lnTo>
                    <a:pt x="1404987" y="607088"/>
                  </a:lnTo>
                  <a:lnTo>
                    <a:pt x="1401448" y="579954"/>
                  </a:lnTo>
                  <a:lnTo>
                    <a:pt x="1394780" y="552897"/>
                  </a:lnTo>
                  <a:lnTo>
                    <a:pt x="1393403" y="525926"/>
                  </a:lnTo>
                  <a:lnTo>
                    <a:pt x="1398968" y="499213"/>
                  </a:lnTo>
                  <a:lnTo>
                    <a:pt x="1404446" y="472865"/>
                  </a:lnTo>
                  <a:lnTo>
                    <a:pt x="1403380" y="446807"/>
                  </a:lnTo>
                  <a:lnTo>
                    <a:pt x="1397857" y="421012"/>
                  </a:lnTo>
                  <a:lnTo>
                    <a:pt x="1395426" y="395722"/>
                  </a:lnTo>
                  <a:lnTo>
                    <a:pt x="1399825" y="371274"/>
                  </a:lnTo>
                  <a:lnTo>
                    <a:pt x="1407115" y="347709"/>
                  </a:lnTo>
                  <a:lnTo>
                    <a:pt x="1410822" y="324732"/>
                  </a:lnTo>
                  <a:lnTo>
                    <a:pt x="1409025" y="302112"/>
                  </a:lnTo>
                  <a:lnTo>
                    <a:pt x="1405316" y="282773"/>
                  </a:lnTo>
                  <a:lnTo>
                    <a:pt x="1405952" y="267920"/>
                  </a:lnTo>
                  <a:lnTo>
                    <a:pt x="1409947" y="248246"/>
                  </a:lnTo>
                  <a:lnTo>
                    <a:pt x="1415445" y="229191"/>
                  </a:lnTo>
                  <a:lnTo>
                    <a:pt x="1420644" y="210345"/>
                  </a:lnTo>
                  <a:lnTo>
                    <a:pt x="1423898" y="191538"/>
                  </a:lnTo>
                  <a:lnTo>
                    <a:pt x="1424354" y="172843"/>
                  </a:lnTo>
                  <a:lnTo>
                    <a:pt x="1422002" y="154434"/>
                  </a:lnTo>
                  <a:lnTo>
                    <a:pt x="1417354" y="136430"/>
                  </a:lnTo>
                  <a:lnTo>
                    <a:pt x="1411012" y="118806"/>
                  </a:lnTo>
                  <a:lnTo>
                    <a:pt x="1403336" y="101403"/>
                  </a:lnTo>
                  <a:lnTo>
                    <a:pt x="1394272" y="84017"/>
                  </a:lnTo>
                  <a:lnTo>
                    <a:pt x="1383339" y="66558"/>
                  </a:lnTo>
                  <a:lnTo>
                    <a:pt x="1369768" y="49266"/>
                  </a:lnTo>
                  <a:lnTo>
                    <a:pt x="1352834" y="32912"/>
                  </a:lnTo>
                  <a:lnTo>
                    <a:pt x="1332366" y="18789"/>
                  </a:lnTo>
                  <a:lnTo>
                    <a:pt x="1309132" y="8250"/>
                  </a:lnTo>
                  <a:lnTo>
                    <a:pt x="1284623" y="2031"/>
                  </a:lnTo>
                  <a:lnTo>
                    <a:pt x="1260326" y="0"/>
                  </a:lnTo>
                  <a:lnTo>
                    <a:pt x="1237172" y="1546"/>
                  </a:lnTo>
                  <a:lnTo>
                    <a:pt x="1215552" y="6114"/>
                  </a:lnTo>
                  <a:lnTo>
                    <a:pt x="1195629" y="13455"/>
                  </a:lnTo>
                  <a:lnTo>
                    <a:pt x="1177545" y="23553"/>
                  </a:lnTo>
                  <a:lnTo>
                    <a:pt x="1161395" y="36361"/>
                  </a:lnTo>
                  <a:lnTo>
                    <a:pt x="1149586" y="49428"/>
                  </a:lnTo>
                  <a:lnTo>
                    <a:pt x="1138269" y="62921"/>
                  </a:lnTo>
                  <a:lnTo>
                    <a:pt x="1125245" y="74405"/>
                  </a:lnTo>
                  <a:lnTo>
                    <a:pt x="1109694" y="82901"/>
                  </a:lnTo>
                  <a:lnTo>
                    <a:pt x="1092375" y="89205"/>
                  </a:lnTo>
                  <a:lnTo>
                    <a:pt x="1075031" y="95742"/>
                  </a:lnTo>
                  <a:lnTo>
                    <a:pt x="1059215" y="104979"/>
                  </a:lnTo>
                  <a:lnTo>
                    <a:pt x="1045123" y="117515"/>
                  </a:lnTo>
                  <a:lnTo>
                    <a:pt x="1031385" y="131341"/>
                  </a:lnTo>
                  <a:lnTo>
                    <a:pt x="1016080" y="143110"/>
                  </a:lnTo>
                  <a:lnTo>
                    <a:pt x="998262" y="150697"/>
                  </a:lnTo>
                  <a:lnTo>
                    <a:pt x="978751" y="155081"/>
                  </a:lnTo>
                  <a:lnTo>
                    <a:pt x="959466" y="159786"/>
                  </a:lnTo>
                  <a:lnTo>
                    <a:pt x="941817" y="168042"/>
                  </a:lnTo>
                  <a:lnTo>
                    <a:pt x="925523" y="179884"/>
                  </a:lnTo>
                  <a:lnTo>
                    <a:pt x="908927" y="191837"/>
                  </a:lnTo>
                  <a:lnTo>
                    <a:pt x="890522" y="199752"/>
                  </a:lnTo>
                  <a:lnTo>
                    <a:pt x="870289" y="202545"/>
                  </a:lnTo>
                  <a:lnTo>
                    <a:pt x="849608" y="203387"/>
                  </a:lnTo>
                  <a:lnTo>
                    <a:pt x="829882" y="206984"/>
                  </a:lnTo>
                  <a:lnTo>
                    <a:pt x="811249" y="215161"/>
                  </a:lnTo>
                  <a:lnTo>
                    <a:pt x="792619" y="224888"/>
                  </a:lnTo>
                  <a:lnTo>
                    <a:pt x="772906" y="230912"/>
                  </a:lnTo>
                  <a:lnTo>
                    <a:pt x="752093" y="230799"/>
                  </a:lnTo>
                  <a:lnTo>
                    <a:pt x="729904" y="227647"/>
                  </a:lnTo>
                  <a:lnTo>
                    <a:pt x="713379" y="226931"/>
                  </a:lnTo>
                  <a:lnTo>
                    <a:pt x="698450" y="229236"/>
                  </a:lnTo>
                  <a:lnTo>
                    <a:pt x="683307" y="233836"/>
                  </a:lnTo>
                  <a:lnTo>
                    <a:pt x="667729" y="237851"/>
                  </a:lnTo>
                  <a:lnTo>
                    <a:pt x="651959" y="238360"/>
                  </a:lnTo>
                  <a:lnTo>
                    <a:pt x="636467" y="234401"/>
                  </a:lnTo>
                  <a:lnTo>
                    <a:pt x="621458" y="227663"/>
                  </a:lnTo>
                  <a:lnTo>
                    <a:pt x="606584" y="221342"/>
                  </a:lnTo>
                  <a:lnTo>
                    <a:pt x="591166" y="217937"/>
                  </a:lnTo>
                  <a:lnTo>
                    <a:pt x="574806" y="217488"/>
                  </a:lnTo>
                  <a:lnTo>
                    <a:pt x="557871" y="217536"/>
                  </a:lnTo>
                  <a:lnTo>
                    <a:pt x="541377" y="214845"/>
                  </a:lnTo>
                  <a:lnTo>
                    <a:pt x="526258" y="207721"/>
                  </a:lnTo>
                  <a:lnTo>
                    <a:pt x="512540" y="197239"/>
                  </a:lnTo>
                  <a:lnTo>
                    <a:pt x="499144" y="186473"/>
                  </a:lnTo>
                  <a:lnTo>
                    <a:pt x="484615" y="178253"/>
                  </a:lnTo>
                  <a:lnTo>
                    <a:pt x="468295" y="173083"/>
                  </a:lnTo>
                  <a:lnTo>
                    <a:pt x="451040" y="168779"/>
                  </a:lnTo>
                  <a:lnTo>
                    <a:pt x="434754" y="162126"/>
                  </a:lnTo>
                  <a:lnTo>
                    <a:pt x="420969" y="151319"/>
                  </a:lnTo>
                  <a:lnTo>
                    <a:pt x="409519" y="137325"/>
                  </a:lnTo>
                  <a:lnTo>
                    <a:pt x="398475" y="123111"/>
                  </a:lnTo>
                  <a:lnTo>
                    <a:pt x="385562" y="111320"/>
                  </a:lnTo>
                  <a:lnTo>
                    <a:pt x="370049" y="102205"/>
                  </a:lnTo>
                  <a:lnTo>
                    <a:pt x="359256" y="96208"/>
                  </a:lnTo>
                  <a:lnTo>
                    <a:pt x="345967" y="87704"/>
                  </a:lnTo>
                  <a:lnTo>
                    <a:pt x="333388" y="78892"/>
                  </a:lnTo>
                  <a:lnTo>
                    <a:pt x="321455" y="69550"/>
                  </a:lnTo>
                  <a:lnTo>
                    <a:pt x="309781" y="59761"/>
                  </a:lnTo>
                  <a:lnTo>
                    <a:pt x="297808" y="49829"/>
                  </a:lnTo>
                  <a:lnTo>
                    <a:pt x="284944" y="40185"/>
                  </a:lnTo>
                  <a:lnTo>
                    <a:pt x="270669" y="31323"/>
                  </a:lnTo>
                  <a:lnTo>
                    <a:pt x="254590" y="23785"/>
                  </a:lnTo>
                  <a:lnTo>
                    <a:pt x="236508" y="18172"/>
                  </a:lnTo>
                  <a:lnTo>
                    <a:pt x="216506" y="15158"/>
                  </a:lnTo>
                  <a:lnTo>
                    <a:pt x="195062" y="15418"/>
                  </a:lnTo>
                  <a:lnTo>
                    <a:pt x="173110" y="19448"/>
                  </a:lnTo>
                  <a:lnTo>
                    <a:pt x="151906" y="27317"/>
                  </a:lnTo>
                  <a:lnTo>
                    <a:pt x="132682" y="38541"/>
                  </a:lnTo>
                  <a:lnTo>
                    <a:pt x="116252" y="52226"/>
                  </a:lnTo>
                  <a:lnTo>
                    <a:pt x="102828" y="67387"/>
                  </a:lnTo>
                  <a:lnTo>
                    <a:pt x="92091" y="83220"/>
                  </a:lnTo>
                  <a:lnTo>
                    <a:pt x="83371" y="99199"/>
                  </a:lnTo>
                  <a:lnTo>
                    <a:pt x="75822" y="115073"/>
                  </a:lnTo>
                  <a:lnTo>
                    <a:pt x="68592" y="130812"/>
                  </a:lnTo>
                  <a:lnTo>
                    <a:pt x="61015" y="146574"/>
                  </a:lnTo>
                  <a:lnTo>
                    <a:pt x="52878" y="162676"/>
                  </a:lnTo>
                  <a:lnTo>
                    <a:pt x="45458" y="176545"/>
                  </a:lnTo>
                  <a:lnTo>
                    <a:pt x="37821" y="191974"/>
                  </a:lnTo>
                  <a:lnTo>
                    <a:pt x="32417" y="210728"/>
                  </a:lnTo>
                  <a:lnTo>
                    <a:pt x="30340" y="230559"/>
                  </a:lnTo>
                  <a:lnTo>
                    <a:pt x="30379" y="251009"/>
                  </a:lnTo>
                  <a:lnTo>
                    <a:pt x="30089" y="271526"/>
                  </a:lnTo>
                  <a:lnTo>
                    <a:pt x="27182" y="291794"/>
                  </a:lnTo>
                  <a:lnTo>
                    <a:pt x="21094" y="311904"/>
                  </a:lnTo>
                  <a:lnTo>
                    <a:pt x="13646" y="332259"/>
                  </a:lnTo>
                  <a:lnTo>
                    <a:pt x="8052" y="353263"/>
                  </a:lnTo>
                  <a:lnTo>
                    <a:pt x="6698" y="375024"/>
                  </a:lnTo>
                  <a:lnTo>
                    <a:pt x="9211" y="397304"/>
                  </a:lnTo>
                  <a:lnTo>
                    <a:pt x="12442" y="419744"/>
                  </a:lnTo>
                  <a:lnTo>
                    <a:pt x="12712" y="442160"/>
                  </a:lnTo>
                  <a:lnTo>
                    <a:pt x="8784" y="464645"/>
                  </a:lnTo>
                  <a:lnTo>
                    <a:pt x="3106" y="487407"/>
                  </a:lnTo>
                  <a:lnTo>
                    <a:pt x="0" y="510507"/>
                  </a:lnTo>
                  <a:lnTo>
                    <a:pt x="2045" y="533795"/>
                  </a:lnTo>
                  <a:lnTo>
                    <a:pt x="7705" y="557097"/>
                  </a:lnTo>
                  <a:lnTo>
                    <a:pt x="12467" y="580444"/>
                  </a:lnTo>
                  <a:lnTo>
                    <a:pt x="12770" y="604052"/>
                  </a:lnTo>
                  <a:lnTo>
                    <a:pt x="9270" y="628044"/>
                  </a:lnTo>
                  <a:lnTo>
                    <a:pt x="6385" y="652211"/>
                  </a:lnTo>
                  <a:lnTo>
                    <a:pt x="8329" y="676130"/>
                  </a:lnTo>
                  <a:lnTo>
                    <a:pt x="14970" y="696913"/>
                  </a:lnTo>
                  <a:lnTo>
                    <a:pt x="20180" y="712487"/>
                  </a:lnTo>
                  <a:lnTo>
                    <a:pt x="22599" y="730015"/>
                  </a:lnTo>
                  <a:lnTo>
                    <a:pt x="20927" y="747905"/>
                  </a:lnTo>
                  <a:lnTo>
                    <a:pt x="16547" y="765960"/>
                  </a:lnTo>
                  <a:lnTo>
                    <a:pt x="12503" y="784109"/>
                  </a:lnTo>
                  <a:lnTo>
                    <a:pt x="11444" y="802390"/>
                  </a:lnTo>
                  <a:lnTo>
                    <a:pt x="13899" y="820842"/>
                  </a:lnTo>
                  <a:lnTo>
                    <a:pt x="18045" y="839411"/>
                  </a:lnTo>
                  <a:lnTo>
                    <a:pt x="21040" y="857978"/>
                  </a:lnTo>
                  <a:lnTo>
                    <a:pt x="20912" y="876458"/>
                  </a:lnTo>
                  <a:lnTo>
                    <a:pt x="17718" y="894859"/>
                  </a:lnTo>
                  <a:lnTo>
                    <a:pt x="13349" y="913250"/>
                  </a:lnTo>
                  <a:lnTo>
                    <a:pt x="10277" y="931666"/>
                  </a:lnTo>
                  <a:lnTo>
                    <a:pt x="10161" y="950043"/>
                  </a:lnTo>
                  <a:lnTo>
                    <a:pt x="13132" y="968247"/>
                  </a:lnTo>
                  <a:lnTo>
                    <a:pt x="18001" y="986183"/>
                  </a:lnTo>
                  <a:lnTo>
                    <a:pt x="23097" y="1003890"/>
                  </a:lnTo>
                  <a:lnTo>
                    <a:pt x="27150" y="1021561"/>
                  </a:lnTo>
                  <a:lnTo>
                    <a:pt x="29801" y="1039476"/>
                  </a:lnTo>
                  <a:lnTo>
                    <a:pt x="31621" y="1057870"/>
                  </a:lnTo>
                  <a:lnTo>
                    <a:pt x="33767" y="1076822"/>
                  </a:lnTo>
                  <a:lnTo>
                    <a:pt x="37530" y="1096188"/>
                  </a:lnTo>
                  <a:lnTo>
                    <a:pt x="43977" y="1115596"/>
                  </a:lnTo>
                  <a:lnTo>
                    <a:pt x="51116" y="1130046"/>
                  </a:lnTo>
                  <a:lnTo>
                    <a:pt x="77146" y="1160598"/>
                  </a:lnTo>
                  <a:lnTo>
                    <a:pt x="112887" y="1178864"/>
                  </a:lnTo>
                  <a:lnTo>
                    <a:pt x="152897" y="1182062"/>
                  </a:lnTo>
                  <a:lnTo>
                    <a:pt x="191085" y="1169705"/>
                  </a:lnTo>
                  <a:lnTo>
                    <a:pt x="221638" y="1143675"/>
                  </a:lnTo>
                  <a:lnTo>
                    <a:pt x="239904" y="1107934"/>
                  </a:lnTo>
                  <a:lnTo>
                    <a:pt x="243102" y="1067924"/>
                  </a:lnTo>
                  <a:lnTo>
                    <a:pt x="230745" y="1029735"/>
                  </a:lnTo>
                  <a:close/>
                </a:path>
              </a:pathLst>
            </a:custGeom>
            <a:gradFill rotWithShape="1">
              <a:gsLst>
                <a:gs pos="0">
                  <a:srgbClr val="FBD5C7"/>
                </a:gs>
                <a:gs pos="30000">
                  <a:srgbClr val="F9C6B6"/>
                </a:gs>
                <a:gs pos="64000">
                  <a:srgbClr val="F2AD9D"/>
                </a:gs>
                <a:gs pos="100000">
                  <a:srgbClr val="E79988"/>
                </a:gs>
              </a:gsLst>
              <a:lin ang="4200000" scaled="1"/>
            </a:gradFill>
            <a:ln w="9525" cap="rnd">
              <a:solidFill>
                <a:srgbClr val="BE7B6D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Intestinal wall soft reflected light"/>
            <p:cNvSpPr/>
            <p:nvPr/>
          </p:nvSpPr>
          <p:spPr>
            <a:xfrm>
              <a:off x="379457" y="206394"/>
              <a:ext cx="1279228" cy="1555919"/>
            </a:xfrm>
            <a:custGeom>
              <a:avLst/>
              <a:gdLst/>
              <a:ahLst/>
              <a:cxnLst/>
              <a:rect l="0" t="0" r="r" b="b"/>
              <a:pathLst>
                <a:path w="1279228" h="1555919">
                  <a:moveTo>
                    <a:pt x="41922" y="1027491"/>
                  </a:moveTo>
                  <a:cubicBezTo>
                    <a:pt x="40887" y="1025626"/>
                    <a:pt x="37723" y="1020357"/>
                    <a:pt x="35712" y="1016305"/>
                  </a:cubicBezTo>
                  <a:cubicBezTo>
                    <a:pt x="33701" y="1012253"/>
                    <a:pt x="31642" y="1007647"/>
                    <a:pt x="29856" y="1003178"/>
                  </a:cubicBezTo>
                  <a:cubicBezTo>
                    <a:pt x="28070" y="998709"/>
                    <a:pt x="26470" y="994138"/>
                    <a:pt x="24994" y="989491"/>
                  </a:cubicBezTo>
                  <a:cubicBezTo>
                    <a:pt x="23519" y="984844"/>
                    <a:pt x="22207" y="980106"/>
                    <a:pt x="21004" y="975294"/>
                  </a:cubicBezTo>
                  <a:cubicBezTo>
                    <a:pt x="19801" y="970482"/>
                    <a:pt x="18740" y="965586"/>
                    <a:pt x="17774" y="960617"/>
                  </a:cubicBezTo>
                  <a:cubicBezTo>
                    <a:pt x="16808" y="955648"/>
                    <a:pt x="15967" y="950600"/>
                    <a:pt x="15207" y="945481"/>
                  </a:cubicBezTo>
                  <a:cubicBezTo>
                    <a:pt x="14448" y="940363"/>
                    <a:pt x="13798" y="935167"/>
                    <a:pt x="13219" y="929905"/>
                  </a:cubicBezTo>
                  <a:cubicBezTo>
                    <a:pt x="12640" y="924642"/>
                    <a:pt x="12156" y="919306"/>
                    <a:pt x="11733" y="913906"/>
                  </a:cubicBezTo>
                  <a:cubicBezTo>
                    <a:pt x="11310" y="908506"/>
                    <a:pt x="10970" y="903035"/>
                    <a:pt x="10682" y="897505"/>
                  </a:cubicBezTo>
                  <a:cubicBezTo>
                    <a:pt x="10393" y="891975"/>
                    <a:pt x="10177" y="886377"/>
                    <a:pt x="10002" y="880725"/>
                  </a:cubicBezTo>
                  <a:cubicBezTo>
                    <a:pt x="9828" y="875073"/>
                    <a:pt x="9715" y="869357"/>
                    <a:pt x="9635" y="863592"/>
                  </a:cubicBezTo>
                  <a:cubicBezTo>
                    <a:pt x="9556" y="857826"/>
                    <a:pt x="9528" y="852002"/>
                    <a:pt x="9525" y="846133"/>
                  </a:cubicBezTo>
                  <a:cubicBezTo>
                    <a:pt x="9522" y="840265"/>
                    <a:pt x="9562" y="834342"/>
                    <a:pt x="9617" y="828381"/>
                  </a:cubicBezTo>
                  <a:cubicBezTo>
                    <a:pt x="9673" y="822420"/>
                    <a:pt x="9762" y="816409"/>
                    <a:pt x="9860" y="810367"/>
                  </a:cubicBezTo>
                  <a:cubicBezTo>
                    <a:pt x="9957" y="804325"/>
                    <a:pt x="10079" y="798239"/>
                    <a:pt x="10201" y="792127"/>
                  </a:cubicBezTo>
                  <a:cubicBezTo>
                    <a:pt x="10322" y="786015"/>
                    <a:pt x="10460" y="779865"/>
                    <a:pt x="10590" y="773696"/>
                  </a:cubicBezTo>
                  <a:cubicBezTo>
                    <a:pt x="10719" y="767528"/>
                    <a:pt x="10857" y="761327"/>
                    <a:pt x="10978" y="755114"/>
                  </a:cubicBezTo>
                  <a:cubicBezTo>
                    <a:pt x="11098" y="748901"/>
                    <a:pt x="11219" y="742662"/>
                    <a:pt x="11314" y="736418"/>
                  </a:cubicBezTo>
                  <a:cubicBezTo>
                    <a:pt x="11410" y="730174"/>
                    <a:pt x="11497" y="723910"/>
                    <a:pt x="11552" y="717648"/>
                  </a:cubicBezTo>
                  <a:cubicBezTo>
                    <a:pt x="11606" y="711387"/>
                    <a:pt x="11644" y="705113"/>
                    <a:pt x="11642" y="698847"/>
                  </a:cubicBezTo>
                  <a:cubicBezTo>
                    <a:pt x="11639" y="692582"/>
                    <a:pt x="11612" y="686311"/>
                    <a:pt x="11536" y="680056"/>
                  </a:cubicBezTo>
                  <a:cubicBezTo>
                    <a:pt x="11461" y="673801"/>
                    <a:pt x="11353" y="667547"/>
                    <a:pt x="11189" y="661317"/>
                  </a:cubicBezTo>
                  <a:cubicBezTo>
                    <a:pt x="11025" y="655087"/>
                    <a:pt x="10816" y="648793"/>
                    <a:pt x="10554" y="642675"/>
                  </a:cubicBezTo>
                  <a:cubicBezTo>
                    <a:pt x="10291" y="636557"/>
                    <a:pt x="10137" y="631317"/>
                    <a:pt x="9615" y="624609"/>
                  </a:cubicBezTo>
                  <a:cubicBezTo>
                    <a:pt x="9093" y="617901"/>
                    <a:pt x="8114" y="609955"/>
                    <a:pt x="7420" y="602428"/>
                  </a:cubicBezTo>
                  <a:cubicBezTo>
                    <a:pt x="6726" y="594901"/>
                    <a:pt x="6057" y="587099"/>
                    <a:pt x="5452" y="579447"/>
                  </a:cubicBezTo>
                  <a:cubicBezTo>
                    <a:pt x="4846" y="571794"/>
                    <a:pt x="4291" y="564146"/>
                    <a:pt x="3786" y="556515"/>
                  </a:cubicBezTo>
                  <a:cubicBezTo>
                    <a:pt x="3282" y="548883"/>
                    <a:pt x="2827" y="541259"/>
                    <a:pt x="2424" y="533656"/>
                  </a:cubicBezTo>
                  <a:cubicBezTo>
                    <a:pt x="2020" y="526052"/>
                    <a:pt x="1666" y="518461"/>
                    <a:pt x="1364" y="510893"/>
                  </a:cubicBezTo>
                  <a:cubicBezTo>
                    <a:pt x="1061" y="503326"/>
                    <a:pt x="808" y="495775"/>
                    <a:pt x="606" y="488251"/>
                  </a:cubicBezTo>
                  <a:cubicBezTo>
                    <a:pt x="404" y="480728"/>
                    <a:pt x="253" y="473225"/>
                    <a:pt x="152" y="465753"/>
                  </a:cubicBezTo>
                  <a:cubicBezTo>
                    <a:pt x="51" y="458282"/>
                    <a:pt x="0" y="450835"/>
                    <a:pt x="0" y="443423"/>
                  </a:cubicBezTo>
                  <a:cubicBezTo>
                    <a:pt x="0" y="436011"/>
                    <a:pt x="51" y="428628"/>
                    <a:pt x="152" y="421283"/>
                  </a:cubicBezTo>
                  <a:cubicBezTo>
                    <a:pt x="253" y="413939"/>
                    <a:pt x="405" y="406627"/>
                    <a:pt x="607" y="399358"/>
                  </a:cubicBezTo>
                  <a:cubicBezTo>
                    <a:pt x="809" y="392089"/>
                    <a:pt x="1062" y="384856"/>
                    <a:pt x="1366" y="377671"/>
                  </a:cubicBezTo>
                  <a:cubicBezTo>
                    <a:pt x="1670" y="370485"/>
                    <a:pt x="2025" y="363339"/>
                    <a:pt x="2430" y="356244"/>
                  </a:cubicBezTo>
                  <a:cubicBezTo>
                    <a:pt x="2836" y="349149"/>
                    <a:pt x="3292" y="342098"/>
                    <a:pt x="3800" y="335101"/>
                  </a:cubicBezTo>
                  <a:cubicBezTo>
                    <a:pt x="4307" y="328105"/>
                    <a:pt x="4865" y="321155"/>
                    <a:pt x="5475" y="314265"/>
                  </a:cubicBezTo>
                  <a:cubicBezTo>
                    <a:pt x="6085" y="307374"/>
                    <a:pt x="6745" y="300535"/>
                    <a:pt x="7458" y="293758"/>
                  </a:cubicBezTo>
                  <a:cubicBezTo>
                    <a:pt x="8170" y="286981"/>
                    <a:pt x="8933" y="280259"/>
                    <a:pt x="9748" y="273603"/>
                  </a:cubicBezTo>
                  <a:cubicBezTo>
                    <a:pt x="10564" y="266947"/>
                    <a:pt x="11430" y="260350"/>
                    <a:pt x="12349" y="253823"/>
                  </a:cubicBezTo>
                  <a:cubicBezTo>
                    <a:pt x="13268" y="247295"/>
                    <a:pt x="14238" y="240830"/>
                    <a:pt x="15261" y="234438"/>
                  </a:cubicBezTo>
                  <a:cubicBezTo>
                    <a:pt x="16284" y="228047"/>
                    <a:pt x="17359" y="221721"/>
                    <a:pt x="18487" y="215472"/>
                  </a:cubicBezTo>
                  <a:cubicBezTo>
                    <a:pt x="19615" y="209223"/>
                    <a:pt x="20795" y="203044"/>
                    <a:pt x="22029" y="196945"/>
                  </a:cubicBezTo>
                  <a:cubicBezTo>
                    <a:pt x="23263" y="190846"/>
                    <a:pt x="24550" y="184820"/>
                    <a:pt x="25891" y="178878"/>
                  </a:cubicBezTo>
                  <a:cubicBezTo>
                    <a:pt x="27232" y="172937"/>
                    <a:pt x="28626" y="167071"/>
                    <a:pt x="30075" y="161293"/>
                  </a:cubicBezTo>
                  <a:cubicBezTo>
                    <a:pt x="31525" y="155515"/>
                    <a:pt x="33060" y="149709"/>
                    <a:pt x="34587" y="144209"/>
                  </a:cubicBezTo>
                  <a:cubicBezTo>
                    <a:pt x="36115" y="138710"/>
                    <a:pt x="37827" y="133285"/>
                    <a:pt x="39240" y="128297"/>
                  </a:cubicBezTo>
                  <a:cubicBezTo>
                    <a:pt x="40654" y="123309"/>
                    <a:pt x="41681" y="118925"/>
                    <a:pt x="43067" y="114282"/>
                  </a:cubicBezTo>
                  <a:cubicBezTo>
                    <a:pt x="44453" y="109638"/>
                    <a:pt x="45983" y="104881"/>
                    <a:pt x="47556" y="100439"/>
                  </a:cubicBezTo>
                  <a:cubicBezTo>
                    <a:pt x="49129" y="95996"/>
                    <a:pt x="50769" y="91733"/>
                    <a:pt x="52506" y="87626"/>
                  </a:cubicBezTo>
                  <a:cubicBezTo>
                    <a:pt x="54243" y="83519"/>
                    <a:pt x="56054" y="79581"/>
                    <a:pt x="57978" y="75795"/>
                  </a:cubicBezTo>
                  <a:cubicBezTo>
                    <a:pt x="59901" y="72010"/>
                    <a:pt x="61909" y="68383"/>
                    <a:pt x="64049" y="64911"/>
                  </a:cubicBezTo>
                  <a:cubicBezTo>
                    <a:pt x="66189" y="61439"/>
                    <a:pt x="68428" y="58117"/>
                    <a:pt x="70819" y="54961"/>
                  </a:cubicBezTo>
                  <a:cubicBezTo>
                    <a:pt x="73211" y="51806"/>
                    <a:pt x="75721" y="48795"/>
                    <a:pt x="78398" y="45979"/>
                  </a:cubicBezTo>
                  <a:cubicBezTo>
                    <a:pt x="81075" y="43163"/>
                    <a:pt x="83898" y="40495"/>
                    <a:pt x="86882" y="38064"/>
                  </a:cubicBezTo>
                  <a:cubicBezTo>
                    <a:pt x="89866" y="35632"/>
                    <a:pt x="93021" y="33371"/>
                    <a:pt x="96304" y="31389"/>
                  </a:cubicBezTo>
                  <a:cubicBezTo>
                    <a:pt x="99587" y="29407"/>
                    <a:pt x="103049" y="27637"/>
                    <a:pt x="106579" y="26175"/>
                  </a:cubicBezTo>
                  <a:cubicBezTo>
                    <a:pt x="110109" y="24712"/>
                    <a:pt x="113797" y="23511"/>
                    <a:pt x="117482" y="22612"/>
                  </a:cubicBezTo>
                  <a:cubicBezTo>
                    <a:pt x="121168" y="21712"/>
                    <a:pt x="124957" y="21113"/>
                    <a:pt x="128694" y="20778"/>
                  </a:cubicBezTo>
                  <a:cubicBezTo>
                    <a:pt x="132431" y="20443"/>
                    <a:pt x="136203" y="20414"/>
                    <a:pt x="139904" y="20603"/>
                  </a:cubicBezTo>
                  <a:cubicBezTo>
                    <a:pt x="143605" y="20792"/>
                    <a:pt x="147285" y="21263"/>
                    <a:pt x="150899" y="21911"/>
                  </a:cubicBezTo>
                  <a:cubicBezTo>
                    <a:pt x="154514" y="22560"/>
                    <a:pt x="158077" y="23452"/>
                    <a:pt x="161591" y="24495"/>
                  </a:cubicBezTo>
                  <a:cubicBezTo>
                    <a:pt x="165105" y="25538"/>
                    <a:pt x="168560" y="26786"/>
                    <a:pt x="171982" y="28170"/>
                  </a:cubicBezTo>
                  <a:cubicBezTo>
                    <a:pt x="175405" y="29554"/>
                    <a:pt x="178775" y="31113"/>
                    <a:pt x="182127" y="32798"/>
                  </a:cubicBezTo>
                  <a:cubicBezTo>
                    <a:pt x="185480" y="34484"/>
                    <a:pt x="188792" y="36323"/>
                    <a:pt x="192098" y="38283"/>
                  </a:cubicBezTo>
                  <a:cubicBezTo>
                    <a:pt x="195404" y="40244"/>
                    <a:pt x="198682" y="42343"/>
                    <a:pt x="201963" y="44560"/>
                  </a:cubicBezTo>
                  <a:cubicBezTo>
                    <a:pt x="205244" y="46777"/>
                    <a:pt x="208509" y="49125"/>
                    <a:pt x="211783" y="51586"/>
                  </a:cubicBezTo>
                  <a:cubicBezTo>
                    <a:pt x="215057" y="54047"/>
                    <a:pt x="218325" y="56632"/>
                    <a:pt x="221607" y="59329"/>
                  </a:cubicBezTo>
                  <a:cubicBezTo>
                    <a:pt x="224888" y="62025"/>
                    <a:pt x="228172" y="64840"/>
                    <a:pt x="231472" y="67764"/>
                  </a:cubicBezTo>
                  <a:cubicBezTo>
                    <a:pt x="234772" y="70688"/>
                    <a:pt x="238225" y="73865"/>
                    <a:pt x="241408" y="76871"/>
                  </a:cubicBezTo>
                  <a:cubicBezTo>
                    <a:pt x="244591" y="79877"/>
                    <a:pt x="246555" y="82090"/>
                    <a:pt x="250569" y="85798"/>
                  </a:cubicBezTo>
                  <a:cubicBezTo>
                    <a:pt x="254583" y="89506"/>
                    <a:pt x="260460" y="94775"/>
                    <a:pt x="265492" y="99117"/>
                  </a:cubicBezTo>
                  <a:cubicBezTo>
                    <a:pt x="270525" y="103460"/>
                    <a:pt x="275619" y="107707"/>
                    <a:pt x="280766" y="111855"/>
                  </a:cubicBezTo>
                  <a:cubicBezTo>
                    <a:pt x="285912" y="116003"/>
                    <a:pt x="291118" y="120055"/>
                    <a:pt x="296373" y="124007"/>
                  </a:cubicBezTo>
                  <a:cubicBezTo>
                    <a:pt x="301627" y="127958"/>
                    <a:pt x="306937" y="131812"/>
                    <a:pt x="312292" y="135564"/>
                  </a:cubicBezTo>
                  <a:cubicBezTo>
                    <a:pt x="317648" y="139317"/>
                    <a:pt x="323055" y="142970"/>
                    <a:pt x="328505" y="146520"/>
                  </a:cubicBezTo>
                  <a:cubicBezTo>
                    <a:pt x="333954" y="150070"/>
                    <a:pt x="339452" y="153520"/>
                    <a:pt x="344988" y="156866"/>
                  </a:cubicBezTo>
                  <a:cubicBezTo>
                    <a:pt x="350525" y="160212"/>
                    <a:pt x="356107" y="163456"/>
                    <a:pt x="361723" y="166594"/>
                  </a:cubicBezTo>
                  <a:cubicBezTo>
                    <a:pt x="367340" y="169733"/>
                    <a:pt x="372998" y="172768"/>
                    <a:pt x="378688" y="175697"/>
                  </a:cubicBezTo>
                  <a:cubicBezTo>
                    <a:pt x="384378" y="178626"/>
                    <a:pt x="390106" y="181450"/>
                    <a:pt x="395862" y="184167"/>
                  </a:cubicBezTo>
                  <a:cubicBezTo>
                    <a:pt x="401618" y="186883"/>
                    <a:pt x="407409" y="189494"/>
                    <a:pt x="413225" y="191996"/>
                  </a:cubicBezTo>
                  <a:cubicBezTo>
                    <a:pt x="419040" y="194498"/>
                    <a:pt x="424887" y="196893"/>
                    <a:pt x="430755" y="199177"/>
                  </a:cubicBezTo>
                  <a:cubicBezTo>
                    <a:pt x="436623" y="201462"/>
                    <a:pt x="442518" y="203638"/>
                    <a:pt x="448432" y="205703"/>
                  </a:cubicBezTo>
                  <a:cubicBezTo>
                    <a:pt x="454345" y="207768"/>
                    <a:pt x="460283" y="209724"/>
                    <a:pt x="466234" y="211567"/>
                  </a:cubicBezTo>
                  <a:cubicBezTo>
                    <a:pt x="472186" y="213410"/>
                    <a:pt x="478159" y="215143"/>
                    <a:pt x="484142" y="216761"/>
                  </a:cubicBezTo>
                  <a:cubicBezTo>
                    <a:pt x="490126" y="218380"/>
                    <a:pt x="496127" y="219887"/>
                    <a:pt x="502135" y="221280"/>
                  </a:cubicBezTo>
                  <a:cubicBezTo>
                    <a:pt x="508143" y="222672"/>
                    <a:pt x="514165" y="223951"/>
                    <a:pt x="520191" y="225115"/>
                  </a:cubicBezTo>
                  <a:cubicBezTo>
                    <a:pt x="526217" y="226278"/>
                    <a:pt x="532254" y="227328"/>
                    <a:pt x="538291" y="228261"/>
                  </a:cubicBezTo>
                  <a:cubicBezTo>
                    <a:pt x="544329" y="229193"/>
                    <a:pt x="550373" y="230011"/>
                    <a:pt x="556415" y="230711"/>
                  </a:cubicBezTo>
                  <a:cubicBezTo>
                    <a:pt x="562457" y="231410"/>
                    <a:pt x="568503" y="231994"/>
                    <a:pt x="574542" y="232459"/>
                  </a:cubicBezTo>
                  <a:cubicBezTo>
                    <a:pt x="580582" y="232923"/>
                    <a:pt x="586622" y="233270"/>
                    <a:pt x="592654" y="233498"/>
                  </a:cubicBezTo>
                  <a:cubicBezTo>
                    <a:pt x="598685" y="233725"/>
                    <a:pt x="604713" y="233834"/>
                    <a:pt x="610729" y="233822"/>
                  </a:cubicBezTo>
                  <a:cubicBezTo>
                    <a:pt x="616745" y="233810"/>
                    <a:pt x="622756" y="233679"/>
                    <a:pt x="628750" y="233426"/>
                  </a:cubicBezTo>
                  <a:cubicBezTo>
                    <a:pt x="634745" y="233173"/>
                    <a:pt x="640663" y="232808"/>
                    <a:pt x="646698" y="232303"/>
                  </a:cubicBezTo>
                  <a:cubicBezTo>
                    <a:pt x="652734" y="231798"/>
                    <a:pt x="658086" y="231164"/>
                    <a:pt x="664962" y="230398"/>
                  </a:cubicBezTo>
                  <a:cubicBezTo>
                    <a:pt x="671839" y="229632"/>
                    <a:pt x="680394" y="228720"/>
                    <a:pt x="687955" y="227708"/>
                  </a:cubicBezTo>
                  <a:cubicBezTo>
                    <a:pt x="695517" y="226696"/>
                    <a:pt x="702921" y="225570"/>
                    <a:pt x="710333" y="224327"/>
                  </a:cubicBezTo>
                  <a:cubicBezTo>
                    <a:pt x="717746" y="223085"/>
                    <a:pt x="725113" y="221721"/>
                    <a:pt x="732432" y="220253"/>
                  </a:cubicBezTo>
                  <a:cubicBezTo>
                    <a:pt x="739750" y="218785"/>
                    <a:pt x="747021" y="217202"/>
                    <a:pt x="754243" y="215520"/>
                  </a:cubicBezTo>
                  <a:cubicBezTo>
                    <a:pt x="761464" y="213838"/>
                    <a:pt x="768637" y="212047"/>
                    <a:pt x="775759" y="210162"/>
                  </a:cubicBezTo>
                  <a:cubicBezTo>
                    <a:pt x="782881" y="208278"/>
                    <a:pt x="789954" y="206289"/>
                    <a:pt x="796973" y="204214"/>
                  </a:cubicBezTo>
                  <a:cubicBezTo>
                    <a:pt x="803993" y="202138"/>
                    <a:pt x="810962" y="199964"/>
                    <a:pt x="817877" y="197709"/>
                  </a:cubicBezTo>
                  <a:cubicBezTo>
                    <a:pt x="824792" y="195454"/>
                    <a:pt x="831655" y="193106"/>
                    <a:pt x="838462" y="190682"/>
                  </a:cubicBezTo>
                  <a:cubicBezTo>
                    <a:pt x="845269" y="188259"/>
                    <a:pt x="852023" y="185749"/>
                    <a:pt x="858719" y="183169"/>
                  </a:cubicBezTo>
                  <a:cubicBezTo>
                    <a:pt x="865415" y="180589"/>
                    <a:pt x="872057" y="177928"/>
                    <a:pt x="878639" y="175204"/>
                  </a:cubicBezTo>
                  <a:cubicBezTo>
                    <a:pt x="885222" y="172479"/>
                    <a:pt x="891748" y="169679"/>
                    <a:pt x="898213" y="166822"/>
                  </a:cubicBezTo>
                  <a:cubicBezTo>
                    <a:pt x="904679" y="163964"/>
                    <a:pt x="911087" y="161037"/>
                    <a:pt x="917433" y="158058"/>
                  </a:cubicBezTo>
                  <a:cubicBezTo>
                    <a:pt x="923778" y="155079"/>
                    <a:pt x="930065" y="152037"/>
                    <a:pt x="936287" y="148949"/>
                  </a:cubicBezTo>
                  <a:cubicBezTo>
                    <a:pt x="942510" y="145860"/>
                    <a:pt x="948672" y="142715"/>
                    <a:pt x="954768" y="139529"/>
                  </a:cubicBezTo>
                  <a:cubicBezTo>
                    <a:pt x="960865" y="136343"/>
                    <a:pt x="966899" y="133106"/>
                    <a:pt x="972866" y="129835"/>
                  </a:cubicBezTo>
                  <a:cubicBezTo>
                    <a:pt x="978833" y="126563"/>
                    <a:pt x="984736" y="123246"/>
                    <a:pt x="990570" y="119902"/>
                  </a:cubicBezTo>
                  <a:cubicBezTo>
                    <a:pt x="996405" y="116557"/>
                    <a:pt x="1002174" y="113173"/>
                    <a:pt x="1007873" y="109767"/>
                  </a:cubicBezTo>
                  <a:cubicBezTo>
                    <a:pt x="1013572" y="106361"/>
                    <a:pt x="1019204" y="102921"/>
                    <a:pt x="1024764" y="99465"/>
                  </a:cubicBezTo>
                  <a:cubicBezTo>
                    <a:pt x="1030325" y="96010"/>
                    <a:pt x="1035816" y="92527"/>
                    <a:pt x="1041235" y="89034"/>
                  </a:cubicBezTo>
                  <a:cubicBezTo>
                    <a:pt x="1046653" y="85542"/>
                    <a:pt x="1052001" y="82028"/>
                    <a:pt x="1057275" y="78510"/>
                  </a:cubicBezTo>
                  <a:cubicBezTo>
                    <a:pt x="1062548" y="74992"/>
                    <a:pt x="1067750" y="71459"/>
                    <a:pt x="1072876" y="67929"/>
                  </a:cubicBezTo>
                  <a:cubicBezTo>
                    <a:pt x="1078001" y="64398"/>
                    <a:pt x="1083054" y="60858"/>
                    <a:pt x="1088028" y="57327"/>
                  </a:cubicBezTo>
                  <a:cubicBezTo>
                    <a:pt x="1093003" y="53796"/>
                    <a:pt x="1097893" y="50268"/>
                    <a:pt x="1102724" y="46741"/>
                  </a:cubicBezTo>
                  <a:cubicBezTo>
                    <a:pt x="1107554" y="43214"/>
                    <a:pt x="1112585" y="39463"/>
                    <a:pt x="1117012" y="36163"/>
                  </a:cubicBezTo>
                  <a:cubicBezTo>
                    <a:pt x="1121439" y="32863"/>
                    <a:pt x="1125101" y="29876"/>
                    <a:pt x="1129286" y="26943"/>
                  </a:cubicBezTo>
                  <a:cubicBezTo>
                    <a:pt x="1133472" y="24010"/>
                    <a:pt x="1137872" y="21112"/>
                    <a:pt x="1142127" y="18563"/>
                  </a:cubicBezTo>
                  <a:cubicBezTo>
                    <a:pt x="1146382" y="16014"/>
                    <a:pt x="1150592" y="13703"/>
                    <a:pt x="1154816" y="11648"/>
                  </a:cubicBezTo>
                  <a:cubicBezTo>
                    <a:pt x="1159040" y="9593"/>
                    <a:pt x="1163238" y="7771"/>
                    <a:pt x="1167472" y="6231"/>
                  </a:cubicBezTo>
                  <a:cubicBezTo>
                    <a:pt x="1171705" y="4692"/>
                    <a:pt x="1175940" y="3387"/>
                    <a:pt x="1180218" y="2411"/>
                  </a:cubicBezTo>
                  <a:cubicBezTo>
                    <a:pt x="1184495" y="1434"/>
                    <a:pt x="1188809" y="710"/>
                    <a:pt x="1193135" y="374"/>
                  </a:cubicBezTo>
                  <a:cubicBezTo>
                    <a:pt x="1197460" y="38"/>
                    <a:pt x="1201853" y="0"/>
                    <a:pt x="1206171" y="395"/>
                  </a:cubicBezTo>
                  <a:cubicBezTo>
                    <a:pt x="1210490" y="790"/>
                    <a:pt x="1214868" y="1558"/>
                    <a:pt x="1219044" y="2745"/>
                  </a:cubicBezTo>
                  <a:cubicBezTo>
                    <a:pt x="1223221" y="3932"/>
                    <a:pt x="1227378" y="5560"/>
                    <a:pt x="1231230" y="7516"/>
                  </a:cubicBezTo>
                  <a:cubicBezTo>
                    <a:pt x="1235082" y="9473"/>
                    <a:pt x="1238784" y="11874"/>
                    <a:pt x="1242154" y="14486"/>
                  </a:cubicBezTo>
                  <a:cubicBezTo>
                    <a:pt x="1245524" y="17097"/>
                    <a:pt x="1248632" y="20077"/>
                    <a:pt x="1251450" y="23185"/>
                  </a:cubicBezTo>
                  <a:cubicBezTo>
                    <a:pt x="1254268" y="26292"/>
                    <a:pt x="1256780" y="29663"/>
                    <a:pt x="1259061" y="33129"/>
                  </a:cubicBezTo>
                  <a:cubicBezTo>
                    <a:pt x="1261343" y="36596"/>
                    <a:pt x="1263333" y="40242"/>
                    <a:pt x="1265140" y="43981"/>
                  </a:cubicBezTo>
                  <a:cubicBezTo>
                    <a:pt x="1266947" y="47721"/>
                    <a:pt x="1268502" y="51593"/>
                    <a:pt x="1269902" y="55567"/>
                  </a:cubicBezTo>
                  <a:cubicBezTo>
                    <a:pt x="1271302" y="59542"/>
                    <a:pt x="1272491" y="63629"/>
                    <a:pt x="1273541" y="67827"/>
                  </a:cubicBezTo>
                  <a:cubicBezTo>
                    <a:pt x="1274592" y="72025"/>
                    <a:pt x="1275463" y="76332"/>
                    <a:pt x="1276204" y="80754"/>
                  </a:cubicBezTo>
                  <a:cubicBezTo>
                    <a:pt x="1276945" y="85176"/>
                    <a:pt x="1277530" y="89710"/>
                    <a:pt x="1277990" y="94361"/>
                  </a:cubicBezTo>
                  <a:cubicBezTo>
                    <a:pt x="1278450" y="99013"/>
                    <a:pt x="1278768" y="103779"/>
                    <a:pt x="1278966" y="108663"/>
                  </a:cubicBezTo>
                  <a:cubicBezTo>
                    <a:pt x="1279163" y="113548"/>
                    <a:pt x="1279228" y="118550"/>
                    <a:pt x="1279173" y="123669"/>
                  </a:cubicBezTo>
                  <a:cubicBezTo>
                    <a:pt x="1279119" y="128789"/>
                    <a:pt x="1278938" y="134027"/>
                    <a:pt x="1278639" y="139381"/>
                  </a:cubicBezTo>
                  <a:cubicBezTo>
                    <a:pt x="1278341" y="144735"/>
                    <a:pt x="1277919" y="150207"/>
                    <a:pt x="1277380" y="155793"/>
                  </a:cubicBezTo>
                  <a:cubicBezTo>
                    <a:pt x="1276841" y="161378"/>
                    <a:pt x="1276182" y="167081"/>
                    <a:pt x="1275406" y="172893"/>
                  </a:cubicBezTo>
                  <a:cubicBezTo>
                    <a:pt x="1274629" y="178706"/>
                    <a:pt x="1273681" y="184948"/>
                    <a:pt x="1272720" y="190666"/>
                  </a:cubicBezTo>
                  <a:cubicBezTo>
                    <a:pt x="1271759" y="196385"/>
                    <a:pt x="1270502" y="200836"/>
                    <a:pt x="1269641" y="207204"/>
                  </a:cubicBezTo>
                  <a:cubicBezTo>
                    <a:pt x="1268781" y="213572"/>
                    <a:pt x="1268223" y="221376"/>
                    <a:pt x="1267557" y="228874"/>
                  </a:cubicBezTo>
                  <a:cubicBezTo>
                    <a:pt x="1266890" y="236372"/>
                    <a:pt x="1266236" y="244300"/>
                    <a:pt x="1265642" y="252191"/>
                  </a:cubicBezTo>
                  <a:cubicBezTo>
                    <a:pt x="1265048" y="260082"/>
                    <a:pt x="1264500" y="268103"/>
                    <a:pt x="1263992" y="276220"/>
                  </a:cubicBezTo>
                  <a:cubicBezTo>
                    <a:pt x="1263484" y="284337"/>
                    <a:pt x="1263021" y="292573"/>
                    <a:pt x="1262596" y="300894"/>
                  </a:cubicBezTo>
                  <a:cubicBezTo>
                    <a:pt x="1262171" y="309215"/>
                    <a:pt x="1261788" y="317643"/>
                    <a:pt x="1261442" y="326145"/>
                  </a:cubicBezTo>
                  <a:cubicBezTo>
                    <a:pt x="1261096" y="334648"/>
                    <a:pt x="1260791" y="343246"/>
                    <a:pt x="1260520" y="351908"/>
                  </a:cubicBezTo>
                  <a:cubicBezTo>
                    <a:pt x="1260250" y="360571"/>
                    <a:pt x="1260018" y="369318"/>
                    <a:pt x="1259818" y="378118"/>
                  </a:cubicBezTo>
                  <a:cubicBezTo>
                    <a:pt x="1259619" y="386919"/>
                    <a:pt x="1259456" y="395793"/>
                    <a:pt x="1259324" y="404710"/>
                  </a:cubicBezTo>
                  <a:cubicBezTo>
                    <a:pt x="1259193" y="413627"/>
                    <a:pt x="1259096" y="422607"/>
                    <a:pt x="1259027" y="431619"/>
                  </a:cubicBezTo>
                  <a:cubicBezTo>
                    <a:pt x="1258959" y="440631"/>
                    <a:pt x="1258923" y="449696"/>
                    <a:pt x="1258914" y="458782"/>
                  </a:cubicBezTo>
                  <a:cubicBezTo>
                    <a:pt x="1258905" y="467868"/>
                    <a:pt x="1258927" y="476996"/>
                    <a:pt x="1258974" y="486134"/>
                  </a:cubicBezTo>
                  <a:cubicBezTo>
                    <a:pt x="1259020" y="495273"/>
                    <a:pt x="1259096" y="504443"/>
                    <a:pt x="1259194" y="513613"/>
                  </a:cubicBezTo>
                  <a:cubicBezTo>
                    <a:pt x="1259292" y="522783"/>
                    <a:pt x="1259416" y="531974"/>
                    <a:pt x="1259562" y="541154"/>
                  </a:cubicBezTo>
                  <a:cubicBezTo>
                    <a:pt x="1259707" y="550335"/>
                    <a:pt x="1259877" y="559526"/>
                    <a:pt x="1260066" y="568696"/>
                  </a:cubicBezTo>
                  <a:cubicBezTo>
                    <a:pt x="1260254" y="577866"/>
                    <a:pt x="1260465" y="587036"/>
                    <a:pt x="1260693" y="596174"/>
                  </a:cubicBezTo>
                  <a:cubicBezTo>
                    <a:pt x="1260921" y="605313"/>
                    <a:pt x="1261169" y="614441"/>
                    <a:pt x="1261432" y="623527"/>
                  </a:cubicBezTo>
                  <a:cubicBezTo>
                    <a:pt x="1261695" y="632613"/>
                    <a:pt x="1261976" y="641679"/>
                    <a:pt x="1262270" y="650692"/>
                  </a:cubicBezTo>
                  <a:cubicBezTo>
                    <a:pt x="1262564" y="659705"/>
                    <a:pt x="1262874" y="668686"/>
                    <a:pt x="1263194" y="677605"/>
                  </a:cubicBezTo>
                  <a:cubicBezTo>
                    <a:pt x="1263515" y="686524"/>
                    <a:pt x="1263850" y="695401"/>
                    <a:pt x="1264193" y="704205"/>
                  </a:cubicBezTo>
                  <a:cubicBezTo>
                    <a:pt x="1264537" y="713009"/>
                    <a:pt x="1264893" y="721761"/>
                    <a:pt x="1265255" y="730430"/>
                  </a:cubicBezTo>
                  <a:cubicBezTo>
                    <a:pt x="1265617" y="739098"/>
                    <a:pt x="1265989" y="747704"/>
                    <a:pt x="1266366" y="756216"/>
                  </a:cubicBezTo>
                  <a:cubicBezTo>
                    <a:pt x="1266742" y="764729"/>
                    <a:pt x="1267127" y="773168"/>
                    <a:pt x="1267514" y="781503"/>
                  </a:cubicBezTo>
                  <a:cubicBezTo>
                    <a:pt x="1267901" y="789838"/>
                    <a:pt x="1268299" y="798175"/>
                    <a:pt x="1268687" y="806228"/>
                  </a:cubicBezTo>
                  <a:cubicBezTo>
                    <a:pt x="1269076" y="814281"/>
                    <a:pt x="1269343" y="822339"/>
                    <a:pt x="1269844" y="829824"/>
                  </a:cubicBezTo>
                  <a:cubicBezTo>
                    <a:pt x="1270345" y="837308"/>
                    <a:pt x="1271246" y="843888"/>
                    <a:pt x="1271692" y="851136"/>
                  </a:cubicBezTo>
                  <a:cubicBezTo>
                    <a:pt x="1272139" y="858384"/>
                    <a:pt x="1272432" y="866000"/>
                    <a:pt x="1272522" y="873313"/>
                  </a:cubicBezTo>
                  <a:cubicBezTo>
                    <a:pt x="1272612" y="880626"/>
                    <a:pt x="1272512" y="887862"/>
                    <a:pt x="1272232" y="895013"/>
                  </a:cubicBezTo>
                  <a:cubicBezTo>
                    <a:pt x="1271952" y="902164"/>
                    <a:pt x="1271486" y="909235"/>
                    <a:pt x="1270843" y="916218"/>
                  </a:cubicBezTo>
                  <a:cubicBezTo>
                    <a:pt x="1270199" y="923200"/>
                    <a:pt x="1269372" y="930100"/>
                    <a:pt x="1268372" y="936907"/>
                  </a:cubicBezTo>
                  <a:cubicBezTo>
                    <a:pt x="1267371" y="943714"/>
                    <a:pt x="1266190" y="950435"/>
                    <a:pt x="1264839" y="957059"/>
                  </a:cubicBezTo>
                  <a:cubicBezTo>
                    <a:pt x="1263488" y="963684"/>
                    <a:pt x="1261960" y="970219"/>
                    <a:pt x="1260266" y="976654"/>
                  </a:cubicBezTo>
                  <a:cubicBezTo>
                    <a:pt x="1258572" y="983088"/>
                    <a:pt x="1256704" y="989430"/>
                    <a:pt x="1254675" y="995667"/>
                  </a:cubicBezTo>
                  <a:cubicBezTo>
                    <a:pt x="1252645" y="1001904"/>
                    <a:pt x="1250446" y="1008044"/>
                    <a:pt x="1248089" y="1014076"/>
                  </a:cubicBezTo>
                  <a:cubicBezTo>
                    <a:pt x="1245731" y="1020107"/>
                    <a:pt x="1243208" y="1026038"/>
                    <a:pt x="1240532" y="1031856"/>
                  </a:cubicBezTo>
                  <a:cubicBezTo>
                    <a:pt x="1237857" y="1037674"/>
                    <a:pt x="1235019" y="1043388"/>
                    <a:pt x="1232033" y="1048985"/>
                  </a:cubicBezTo>
                  <a:cubicBezTo>
                    <a:pt x="1229048" y="1054582"/>
                    <a:pt x="1225905" y="1060070"/>
                    <a:pt x="1222619" y="1065438"/>
                  </a:cubicBezTo>
                  <a:cubicBezTo>
                    <a:pt x="1219333" y="1070806"/>
                    <a:pt x="1215895" y="1076062"/>
                    <a:pt x="1212320" y="1081194"/>
                  </a:cubicBezTo>
                  <a:cubicBezTo>
                    <a:pt x="1208744" y="1086326"/>
                    <a:pt x="1205021" y="1091341"/>
                    <a:pt x="1201166" y="1096229"/>
                  </a:cubicBezTo>
                  <a:cubicBezTo>
                    <a:pt x="1197311" y="1101118"/>
                    <a:pt x="1193314" y="1105886"/>
                    <a:pt x="1189190" y="1110524"/>
                  </a:cubicBezTo>
                  <a:cubicBezTo>
                    <a:pt x="1185067" y="1115163"/>
                    <a:pt x="1180806" y="1119677"/>
                    <a:pt x="1176425" y="1124059"/>
                  </a:cubicBezTo>
                  <a:cubicBezTo>
                    <a:pt x="1172044" y="1128441"/>
                    <a:pt x="1167531" y="1132697"/>
                    <a:pt x="1162904" y="1136817"/>
                  </a:cubicBezTo>
                  <a:cubicBezTo>
                    <a:pt x="1158276" y="1140936"/>
                    <a:pt x="1153523" y="1144927"/>
                    <a:pt x="1148660" y="1148779"/>
                  </a:cubicBezTo>
                  <a:cubicBezTo>
                    <a:pt x="1143798" y="1152632"/>
                    <a:pt x="1138815" y="1156351"/>
                    <a:pt x="1133728" y="1159932"/>
                  </a:cubicBezTo>
                  <a:cubicBezTo>
                    <a:pt x="1128642" y="1163512"/>
                    <a:pt x="1123441" y="1166957"/>
                    <a:pt x="1118141" y="1170260"/>
                  </a:cubicBezTo>
                  <a:cubicBezTo>
                    <a:pt x="1112842" y="1173564"/>
                    <a:pt x="1107434" y="1176730"/>
                    <a:pt x="1101932" y="1179753"/>
                  </a:cubicBezTo>
                  <a:cubicBezTo>
                    <a:pt x="1096431" y="1182775"/>
                    <a:pt x="1090827" y="1185658"/>
                    <a:pt x="1085134" y="1188396"/>
                  </a:cubicBezTo>
                  <a:cubicBezTo>
                    <a:pt x="1079442" y="1191134"/>
                    <a:pt x="1073690" y="1193717"/>
                    <a:pt x="1067779" y="1196180"/>
                  </a:cubicBezTo>
                  <a:cubicBezTo>
                    <a:pt x="1061867" y="1198644"/>
                    <a:pt x="1055832" y="1201037"/>
                    <a:pt x="1049664" y="1203177"/>
                  </a:cubicBezTo>
                  <a:cubicBezTo>
                    <a:pt x="1043496" y="1205317"/>
                    <a:pt x="1037117" y="1207342"/>
                    <a:pt x="1030771" y="1209022"/>
                  </a:cubicBezTo>
                  <a:cubicBezTo>
                    <a:pt x="1024425" y="1210702"/>
                    <a:pt x="1017974" y="1212108"/>
                    <a:pt x="1011588" y="1213259"/>
                  </a:cubicBezTo>
                  <a:cubicBezTo>
                    <a:pt x="1005203" y="1214410"/>
                    <a:pt x="998816" y="1215275"/>
                    <a:pt x="992460" y="1215929"/>
                  </a:cubicBezTo>
                  <a:cubicBezTo>
                    <a:pt x="986104" y="1216583"/>
                    <a:pt x="979759" y="1216974"/>
                    <a:pt x="973451" y="1217181"/>
                  </a:cubicBezTo>
                  <a:cubicBezTo>
                    <a:pt x="967142" y="1217387"/>
                    <a:pt x="960856" y="1217358"/>
                    <a:pt x="954609" y="1217169"/>
                  </a:cubicBezTo>
                  <a:cubicBezTo>
                    <a:pt x="948361" y="1216980"/>
                    <a:pt x="942144" y="1216581"/>
                    <a:pt x="935967" y="1216048"/>
                  </a:cubicBezTo>
                  <a:cubicBezTo>
                    <a:pt x="929789" y="1215515"/>
                    <a:pt x="923647" y="1214798"/>
                    <a:pt x="917546" y="1213971"/>
                  </a:cubicBezTo>
                  <a:cubicBezTo>
                    <a:pt x="911445" y="1213143"/>
                    <a:pt x="905381" y="1212157"/>
                    <a:pt x="899360" y="1211083"/>
                  </a:cubicBezTo>
                  <a:cubicBezTo>
                    <a:pt x="893338" y="1210009"/>
                    <a:pt x="887356" y="1208801"/>
                    <a:pt x="881416" y="1207527"/>
                  </a:cubicBezTo>
                  <a:cubicBezTo>
                    <a:pt x="875477" y="1206252"/>
                    <a:pt x="869578" y="1204867"/>
                    <a:pt x="863723" y="1203437"/>
                  </a:cubicBezTo>
                  <a:cubicBezTo>
                    <a:pt x="857868" y="1202006"/>
                    <a:pt x="852055" y="1200487"/>
                    <a:pt x="846287" y="1198943"/>
                  </a:cubicBezTo>
                  <a:cubicBezTo>
                    <a:pt x="840520" y="1197400"/>
                    <a:pt x="834795" y="1195789"/>
                    <a:pt x="829117" y="1194174"/>
                  </a:cubicBezTo>
                  <a:cubicBezTo>
                    <a:pt x="823440" y="1192559"/>
                    <a:pt x="817807" y="1190898"/>
                    <a:pt x="812225" y="1189252"/>
                  </a:cubicBezTo>
                  <a:cubicBezTo>
                    <a:pt x="806643" y="1187606"/>
                    <a:pt x="801107" y="1185934"/>
                    <a:pt x="795626" y="1184297"/>
                  </a:cubicBezTo>
                  <a:cubicBezTo>
                    <a:pt x="790144" y="1182660"/>
                    <a:pt x="784711" y="1181018"/>
                    <a:pt x="779337" y="1179429"/>
                  </a:cubicBezTo>
                  <a:cubicBezTo>
                    <a:pt x="773963" y="1177840"/>
                    <a:pt x="768640" y="1176265"/>
                    <a:pt x="763382" y="1174763"/>
                  </a:cubicBezTo>
                  <a:cubicBezTo>
                    <a:pt x="758124" y="1173260"/>
                    <a:pt x="752921" y="1171791"/>
                    <a:pt x="747789" y="1170412"/>
                  </a:cubicBezTo>
                  <a:cubicBezTo>
                    <a:pt x="742656" y="1169032"/>
                    <a:pt x="737584" y="1167706"/>
                    <a:pt x="732588" y="1166486"/>
                  </a:cubicBezTo>
                  <a:cubicBezTo>
                    <a:pt x="727593" y="1165265"/>
                    <a:pt x="722663" y="1164117"/>
                    <a:pt x="717817" y="1163089"/>
                  </a:cubicBezTo>
                  <a:cubicBezTo>
                    <a:pt x="712972" y="1162062"/>
                    <a:pt x="708198" y="1161124"/>
                    <a:pt x="703516" y="1160320"/>
                  </a:cubicBezTo>
                  <a:cubicBezTo>
                    <a:pt x="698834" y="1159517"/>
                    <a:pt x="694231" y="1158820"/>
                    <a:pt x="689726" y="1158268"/>
                  </a:cubicBezTo>
                  <a:cubicBezTo>
                    <a:pt x="685222" y="1157716"/>
                    <a:pt x="680804" y="1157286"/>
                    <a:pt x="676489" y="1157010"/>
                  </a:cubicBezTo>
                  <a:cubicBezTo>
                    <a:pt x="672174" y="1156733"/>
                    <a:pt x="667980" y="1156589"/>
                    <a:pt x="663836" y="1156609"/>
                  </a:cubicBezTo>
                  <a:cubicBezTo>
                    <a:pt x="659692" y="1156629"/>
                    <a:pt x="655613" y="1156813"/>
                    <a:pt x="651624" y="1157130"/>
                  </a:cubicBezTo>
                  <a:cubicBezTo>
                    <a:pt x="647636" y="1157447"/>
                    <a:pt x="643676" y="1157934"/>
                    <a:pt x="639904" y="1158510"/>
                  </a:cubicBezTo>
                  <a:cubicBezTo>
                    <a:pt x="636132" y="1159086"/>
                    <a:pt x="632477" y="1159790"/>
                    <a:pt x="628991" y="1160587"/>
                  </a:cubicBezTo>
                  <a:cubicBezTo>
                    <a:pt x="625505" y="1161384"/>
                    <a:pt x="622173" y="1162295"/>
                    <a:pt x="618988" y="1163290"/>
                  </a:cubicBezTo>
                  <a:cubicBezTo>
                    <a:pt x="615802" y="1164285"/>
                    <a:pt x="612770" y="1165385"/>
                    <a:pt x="609879" y="1166558"/>
                  </a:cubicBezTo>
                  <a:cubicBezTo>
                    <a:pt x="606987" y="1167732"/>
                    <a:pt x="604247" y="1168999"/>
                    <a:pt x="601640" y="1170334"/>
                  </a:cubicBezTo>
                  <a:cubicBezTo>
                    <a:pt x="599033" y="1171668"/>
                    <a:pt x="596573" y="1173085"/>
                    <a:pt x="594238" y="1174565"/>
                  </a:cubicBezTo>
                  <a:cubicBezTo>
                    <a:pt x="591903" y="1176044"/>
                    <a:pt x="589708" y="1177597"/>
                    <a:pt x="587629" y="1179211"/>
                  </a:cubicBezTo>
                  <a:cubicBezTo>
                    <a:pt x="585551" y="1180824"/>
                    <a:pt x="583604" y="1182504"/>
                    <a:pt x="581766" y="1184244"/>
                  </a:cubicBezTo>
                  <a:cubicBezTo>
                    <a:pt x="579928" y="1185985"/>
                    <a:pt x="578214" y="1187788"/>
                    <a:pt x="576601" y="1189655"/>
                  </a:cubicBezTo>
                  <a:cubicBezTo>
                    <a:pt x="574988" y="1191521"/>
                    <a:pt x="573490" y="1193449"/>
                    <a:pt x="572090" y="1195445"/>
                  </a:cubicBezTo>
                  <a:cubicBezTo>
                    <a:pt x="570690" y="1197441"/>
                    <a:pt x="569397" y="1199499"/>
                    <a:pt x="568201" y="1201631"/>
                  </a:cubicBezTo>
                  <a:cubicBezTo>
                    <a:pt x="567006" y="1203763"/>
                    <a:pt x="565911" y="1205961"/>
                    <a:pt x="564916" y="1208237"/>
                  </a:cubicBezTo>
                  <a:cubicBezTo>
                    <a:pt x="563921" y="1210513"/>
                    <a:pt x="563025" y="1212860"/>
                    <a:pt x="562232" y="1215288"/>
                  </a:cubicBezTo>
                  <a:cubicBezTo>
                    <a:pt x="561440" y="1217717"/>
                    <a:pt x="560746" y="1220221"/>
                    <a:pt x="560162" y="1222807"/>
                  </a:cubicBezTo>
                  <a:cubicBezTo>
                    <a:pt x="559579" y="1225393"/>
                    <a:pt x="559097" y="1228059"/>
                    <a:pt x="558732" y="1230807"/>
                  </a:cubicBezTo>
                  <a:cubicBezTo>
                    <a:pt x="558367" y="1233554"/>
                    <a:pt x="558107" y="1236383"/>
                    <a:pt x="557972" y="1239291"/>
                  </a:cubicBezTo>
                  <a:cubicBezTo>
                    <a:pt x="557838" y="1242199"/>
                    <a:pt x="557815" y="1245190"/>
                    <a:pt x="557923" y="1248254"/>
                  </a:cubicBezTo>
                  <a:cubicBezTo>
                    <a:pt x="558031" y="1251319"/>
                    <a:pt x="558257" y="1254465"/>
                    <a:pt x="558621" y="1257680"/>
                  </a:cubicBezTo>
                  <a:cubicBezTo>
                    <a:pt x="558985" y="1260894"/>
                    <a:pt x="559474" y="1264187"/>
                    <a:pt x="560105" y="1267543"/>
                  </a:cubicBezTo>
                  <a:cubicBezTo>
                    <a:pt x="560737" y="1270898"/>
                    <a:pt x="561500" y="1274328"/>
                    <a:pt x="562410" y="1277813"/>
                  </a:cubicBezTo>
                  <a:cubicBezTo>
                    <a:pt x="563321" y="1281298"/>
                    <a:pt x="564369" y="1284852"/>
                    <a:pt x="565568" y="1288456"/>
                  </a:cubicBezTo>
                  <a:cubicBezTo>
                    <a:pt x="566768" y="1292059"/>
                    <a:pt x="568110" y="1295724"/>
                    <a:pt x="569608" y="1299432"/>
                  </a:cubicBezTo>
                  <a:cubicBezTo>
                    <a:pt x="571105" y="1303140"/>
                    <a:pt x="572656" y="1306722"/>
                    <a:pt x="574554" y="1310703"/>
                  </a:cubicBezTo>
                  <a:cubicBezTo>
                    <a:pt x="576452" y="1314684"/>
                    <a:pt x="579086" y="1319442"/>
                    <a:pt x="580998" y="1323320"/>
                  </a:cubicBezTo>
                  <a:cubicBezTo>
                    <a:pt x="582909" y="1327198"/>
                    <a:pt x="584427" y="1330387"/>
                    <a:pt x="586023" y="1333971"/>
                  </a:cubicBezTo>
                  <a:cubicBezTo>
                    <a:pt x="587619" y="1337555"/>
                    <a:pt x="589143" y="1341201"/>
                    <a:pt x="590573" y="1344824"/>
                  </a:cubicBezTo>
                  <a:cubicBezTo>
                    <a:pt x="592004" y="1348447"/>
                    <a:pt x="593343" y="1352079"/>
                    <a:pt x="594606" y="1355708"/>
                  </a:cubicBezTo>
                  <a:cubicBezTo>
                    <a:pt x="595869" y="1359337"/>
                    <a:pt x="597045" y="1362971"/>
                    <a:pt x="598150" y="1366599"/>
                  </a:cubicBezTo>
                  <a:cubicBezTo>
                    <a:pt x="599256" y="1370226"/>
                    <a:pt x="600279" y="1373854"/>
                    <a:pt x="601237" y="1377473"/>
                  </a:cubicBezTo>
                  <a:cubicBezTo>
                    <a:pt x="602195" y="1381091"/>
                    <a:pt x="603077" y="1384706"/>
                    <a:pt x="603897" y="1388309"/>
                  </a:cubicBezTo>
                  <a:cubicBezTo>
                    <a:pt x="604718" y="1391911"/>
                    <a:pt x="605468" y="1395506"/>
                    <a:pt x="606162" y="1399086"/>
                  </a:cubicBezTo>
                  <a:cubicBezTo>
                    <a:pt x="606856" y="1402665"/>
                    <a:pt x="607484" y="1406235"/>
                    <a:pt x="608062" y="1409786"/>
                  </a:cubicBezTo>
                  <a:cubicBezTo>
                    <a:pt x="608640" y="1413336"/>
                    <a:pt x="609157" y="1416874"/>
                    <a:pt x="609629" y="1420389"/>
                  </a:cubicBezTo>
                  <a:cubicBezTo>
                    <a:pt x="610100" y="1423904"/>
                    <a:pt x="610516" y="1427404"/>
                    <a:pt x="610892" y="1430878"/>
                  </a:cubicBezTo>
                  <a:cubicBezTo>
                    <a:pt x="611267" y="1434353"/>
                    <a:pt x="611592" y="1437808"/>
                    <a:pt x="611881" y="1441236"/>
                  </a:cubicBezTo>
                  <a:cubicBezTo>
                    <a:pt x="612170" y="1444664"/>
                    <a:pt x="612414" y="1448070"/>
                    <a:pt x="612627" y="1451445"/>
                  </a:cubicBezTo>
                  <a:cubicBezTo>
                    <a:pt x="612839" y="1454821"/>
                    <a:pt x="613011" y="1458172"/>
                    <a:pt x="613157" y="1461489"/>
                  </a:cubicBezTo>
                  <a:cubicBezTo>
                    <a:pt x="613303" y="1464806"/>
                    <a:pt x="613413" y="1468096"/>
                    <a:pt x="613502" y="1471350"/>
                  </a:cubicBezTo>
                  <a:cubicBezTo>
                    <a:pt x="613590" y="1474603"/>
                    <a:pt x="613648" y="1477827"/>
                    <a:pt x="613688" y="1481011"/>
                  </a:cubicBezTo>
                  <a:cubicBezTo>
                    <a:pt x="613729" y="1484195"/>
                    <a:pt x="613743" y="1487345"/>
                    <a:pt x="613744" y="1490454"/>
                  </a:cubicBezTo>
                  <a:cubicBezTo>
                    <a:pt x="613746" y="1493562"/>
                    <a:pt x="613726" y="1496634"/>
                    <a:pt x="613698" y="1499660"/>
                  </a:cubicBezTo>
                  <a:cubicBezTo>
                    <a:pt x="613669" y="1502686"/>
                    <a:pt x="613624" y="1505673"/>
                    <a:pt x="613575" y="1508611"/>
                  </a:cubicBezTo>
                  <a:cubicBezTo>
                    <a:pt x="613526" y="1511549"/>
                    <a:pt x="613464" y="1514444"/>
                    <a:pt x="613403" y="1517287"/>
                  </a:cubicBezTo>
                  <a:cubicBezTo>
                    <a:pt x="613341" y="1520129"/>
                    <a:pt x="613272" y="1522926"/>
                    <a:pt x="613207" y="1525665"/>
                  </a:cubicBezTo>
                  <a:cubicBezTo>
                    <a:pt x="613142" y="1528404"/>
                    <a:pt x="613073" y="1531095"/>
                    <a:pt x="613013" y="1533723"/>
                  </a:cubicBezTo>
                  <a:cubicBezTo>
                    <a:pt x="612953" y="1536352"/>
                    <a:pt x="612893" y="1538927"/>
                    <a:pt x="612846" y="1541436"/>
                  </a:cubicBezTo>
                  <a:cubicBezTo>
                    <a:pt x="612799" y="1543945"/>
                    <a:pt x="612757" y="1546363"/>
                    <a:pt x="612730" y="1548777"/>
                  </a:cubicBezTo>
                  <a:cubicBezTo>
                    <a:pt x="612703" y="1551190"/>
                    <a:pt x="612693" y="1554729"/>
                    <a:pt x="612686" y="1555919"/>
                  </a:cubicBezTo>
                </a:path>
              </a:pathLst>
            </a:custGeom>
            <a:noFill/>
            <a:ln w="23812" cap="rnd">
              <a:solidFill>
                <a:srgbClr val="FFE8D5">
                  <a:alpha val="60000"/>
                </a:srgbClr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austral fold"/>
            <p:cNvSpPr/>
            <p:nvPr/>
          </p:nvSpPr>
          <p:spPr>
            <a:xfrm>
              <a:off x="334321" y="1038266"/>
              <a:ext cx="60010" cy="14287"/>
            </a:xfrm>
            <a:custGeom>
              <a:avLst/>
              <a:gdLst/>
              <a:ahLst/>
              <a:cxnLst/>
              <a:rect l="0" t="0" r="r" b="b"/>
              <a:pathLst>
                <a:path w="60010" h="14287">
                  <a:moveTo>
                    <a:pt x="7" y="14287"/>
                  </a:moveTo>
                  <a:cubicBezTo>
                    <a:pt x="0" y="0"/>
                    <a:pt x="36197" y="4745"/>
                    <a:pt x="60010" y="4734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austral fold"/>
            <p:cNvSpPr/>
            <p:nvPr/>
          </p:nvSpPr>
          <p:spPr>
            <a:xfrm>
              <a:off x="443860" y="1038184"/>
              <a:ext cx="60012" cy="14287"/>
            </a:xfrm>
            <a:custGeom>
              <a:avLst/>
              <a:gdLst/>
              <a:ahLst/>
              <a:cxnLst/>
              <a:rect l="0" t="0" r="r" b="b"/>
              <a:pathLst>
                <a:path w="60012" h="14287">
                  <a:moveTo>
                    <a:pt x="60012" y="14287"/>
                  </a:moveTo>
                  <a:cubicBezTo>
                    <a:pt x="60005" y="0"/>
                    <a:pt x="23812" y="4780"/>
                    <a:pt x="0" y="4791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austral fold"/>
            <p:cNvSpPr/>
            <p:nvPr/>
          </p:nvSpPr>
          <p:spPr>
            <a:xfrm>
              <a:off x="336170" y="872824"/>
              <a:ext cx="60061" cy="14286"/>
            </a:xfrm>
            <a:custGeom>
              <a:avLst/>
              <a:gdLst/>
              <a:ahLst/>
              <a:cxnLst/>
              <a:rect l="0" t="0" r="r" b="b"/>
              <a:pathLst>
                <a:path w="60061" h="14286">
                  <a:moveTo>
                    <a:pt x="173" y="14286"/>
                  </a:moveTo>
                  <a:cubicBezTo>
                    <a:pt x="0" y="0"/>
                    <a:pt x="36250" y="4325"/>
                    <a:pt x="60061" y="4037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austral fold"/>
            <p:cNvSpPr/>
            <p:nvPr/>
          </p:nvSpPr>
          <p:spPr>
            <a:xfrm>
              <a:off x="445757" y="870774"/>
              <a:ext cx="60118" cy="14286"/>
            </a:xfrm>
            <a:custGeom>
              <a:avLst/>
              <a:gdLst/>
              <a:ahLst/>
              <a:cxnLst/>
              <a:rect l="0" t="0" r="r" b="b"/>
              <a:pathLst>
                <a:path w="60118" h="14286">
                  <a:moveTo>
                    <a:pt x="60118" y="14286"/>
                  </a:moveTo>
                  <a:cubicBezTo>
                    <a:pt x="59946" y="0"/>
                    <a:pt x="23811" y="5200"/>
                    <a:pt x="0" y="5487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austral fold"/>
            <p:cNvSpPr/>
            <p:nvPr/>
          </p:nvSpPr>
          <p:spPr>
            <a:xfrm>
              <a:off x="325638" y="705197"/>
              <a:ext cx="60150" cy="14276"/>
            </a:xfrm>
            <a:custGeom>
              <a:avLst/>
              <a:gdLst/>
              <a:ahLst/>
              <a:cxnLst/>
              <a:rect l="0" t="0" r="r" b="b"/>
              <a:pathLst>
                <a:path w="60150" h="14276">
                  <a:moveTo>
                    <a:pt x="571" y="14276"/>
                  </a:moveTo>
                  <a:cubicBezTo>
                    <a:pt x="0" y="0"/>
                    <a:pt x="36357" y="3311"/>
                    <a:pt x="60150" y="2359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austral fold"/>
            <p:cNvSpPr/>
            <p:nvPr/>
          </p:nvSpPr>
          <p:spPr>
            <a:xfrm>
              <a:off x="435279" y="698416"/>
              <a:ext cx="60340" cy="14276"/>
            </a:xfrm>
            <a:custGeom>
              <a:avLst/>
              <a:gdLst/>
              <a:ahLst/>
              <a:cxnLst/>
              <a:rect l="0" t="0" r="r" b="b"/>
              <a:pathLst>
                <a:path w="60340" h="14276">
                  <a:moveTo>
                    <a:pt x="60340" y="14276"/>
                  </a:moveTo>
                  <a:cubicBezTo>
                    <a:pt x="59769" y="0"/>
                    <a:pt x="23793" y="6206"/>
                    <a:pt x="0" y="7159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austral fold"/>
            <p:cNvSpPr/>
            <p:nvPr/>
          </p:nvSpPr>
          <p:spPr>
            <a:xfrm>
              <a:off x="328745" y="523291"/>
              <a:ext cx="60539" cy="14250"/>
            </a:xfrm>
            <a:custGeom>
              <a:avLst/>
              <a:gdLst/>
              <a:ahLst/>
              <a:cxnLst/>
              <a:rect l="0" t="0" r="r" b="b"/>
              <a:pathLst>
                <a:path w="60539" h="14250">
                  <a:moveTo>
                    <a:pt x="0" y="14250"/>
                  </a:moveTo>
                  <a:cubicBezTo>
                    <a:pt x="1033" y="0"/>
                    <a:pt x="36789" y="7368"/>
                    <a:pt x="60539" y="909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austral fold"/>
            <p:cNvSpPr/>
            <p:nvPr/>
          </p:nvSpPr>
          <p:spPr>
            <a:xfrm>
              <a:off x="438685" y="535555"/>
              <a:ext cx="60195" cy="14250"/>
            </a:xfrm>
            <a:custGeom>
              <a:avLst/>
              <a:gdLst/>
              <a:ahLst/>
              <a:cxnLst/>
              <a:rect l="0" t="0" r="r" b="b"/>
              <a:pathLst>
                <a:path w="60195" h="14250">
                  <a:moveTo>
                    <a:pt x="59161" y="14250"/>
                  </a:moveTo>
                  <a:cubicBezTo>
                    <a:pt x="60195" y="0"/>
                    <a:pt x="23750" y="2132"/>
                    <a:pt x="0" y="41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austral fold"/>
            <p:cNvSpPr/>
            <p:nvPr/>
          </p:nvSpPr>
          <p:spPr>
            <a:xfrm>
              <a:off x="356520" y="340533"/>
              <a:ext cx="60522" cy="19218"/>
            </a:xfrm>
            <a:custGeom>
              <a:avLst/>
              <a:gdLst/>
              <a:ahLst/>
              <a:cxnLst/>
              <a:rect l="0" t="0" r="r" b="b"/>
              <a:pathLst>
                <a:path w="60522" h="19218">
                  <a:moveTo>
                    <a:pt x="0" y="13858"/>
                  </a:moveTo>
                  <a:cubicBezTo>
                    <a:pt x="3476" y="0"/>
                    <a:pt x="37425" y="13425"/>
                    <a:pt x="60522" y="19218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austral fold"/>
            <p:cNvSpPr/>
            <p:nvPr/>
          </p:nvSpPr>
          <p:spPr>
            <a:xfrm>
              <a:off x="465083" y="371800"/>
              <a:ext cx="59363" cy="23837"/>
            </a:xfrm>
            <a:custGeom>
              <a:avLst/>
              <a:gdLst/>
              <a:ahLst/>
              <a:cxnLst/>
              <a:rect l="0" t="0" r="r" b="b"/>
              <a:pathLst>
                <a:path w="59363" h="23837">
                  <a:moveTo>
                    <a:pt x="55888" y="23837"/>
                  </a:moveTo>
                  <a:cubicBezTo>
                    <a:pt x="59363" y="9979"/>
                    <a:pt x="23097" y="5793"/>
                    <a:pt x="0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austral fold"/>
            <p:cNvSpPr/>
            <p:nvPr/>
          </p:nvSpPr>
          <p:spPr>
            <a:xfrm>
              <a:off x="558249" y="183929"/>
              <a:ext cx="26999" cy="59180"/>
            </a:xfrm>
            <a:custGeom>
              <a:avLst/>
              <a:gdLst/>
              <a:ahLst/>
              <a:cxnLst/>
              <a:rect l="0" t="0" r="r" b="b"/>
              <a:pathLst>
                <a:path w="26999" h="59180">
                  <a:moveTo>
                    <a:pt x="13763" y="0"/>
                  </a:moveTo>
                  <a:cubicBezTo>
                    <a:pt x="26999" y="5378"/>
                    <a:pt x="8963" y="37118"/>
                    <a:pt x="0" y="5918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austral fold"/>
            <p:cNvSpPr/>
            <p:nvPr/>
          </p:nvSpPr>
          <p:spPr>
            <a:xfrm>
              <a:off x="508194" y="288996"/>
              <a:ext cx="31412" cy="57387"/>
            </a:xfrm>
            <a:custGeom>
              <a:avLst/>
              <a:gdLst/>
              <a:ahLst/>
              <a:cxnLst/>
              <a:rect l="0" t="0" r="r" b="b"/>
              <a:pathLst>
                <a:path w="31412" h="57387">
                  <a:moveTo>
                    <a:pt x="0" y="52009"/>
                  </a:moveTo>
                  <a:cubicBezTo>
                    <a:pt x="13237" y="57387"/>
                    <a:pt x="22448" y="22061"/>
                    <a:pt x="31412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austral fold"/>
            <p:cNvSpPr/>
            <p:nvPr/>
          </p:nvSpPr>
          <p:spPr>
            <a:xfrm>
              <a:off x="696478" y="297197"/>
              <a:ext cx="38334" cy="54611"/>
            </a:xfrm>
            <a:custGeom>
              <a:avLst/>
              <a:gdLst/>
              <a:ahLst/>
              <a:cxnLst/>
              <a:rect l="0" t="0" r="r" b="b"/>
              <a:pathLst>
                <a:path w="38334" h="54611">
                  <a:moveTo>
                    <a:pt x="26633" y="0"/>
                  </a:moveTo>
                  <a:cubicBezTo>
                    <a:pt x="38334" y="8198"/>
                    <a:pt x="13664" y="35109"/>
                    <a:pt x="0" y="54611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austral fold"/>
            <p:cNvSpPr/>
            <p:nvPr/>
          </p:nvSpPr>
          <p:spPr>
            <a:xfrm>
              <a:off x="625823" y="392372"/>
              <a:ext cx="42234" cy="51878"/>
            </a:xfrm>
            <a:custGeom>
              <a:avLst/>
              <a:gdLst/>
              <a:ahLst/>
              <a:cxnLst/>
              <a:rect l="0" t="0" r="r" b="b"/>
              <a:pathLst>
                <a:path w="42234" h="51878">
                  <a:moveTo>
                    <a:pt x="0" y="43679"/>
                  </a:moveTo>
                  <a:cubicBezTo>
                    <a:pt x="11701" y="51878"/>
                    <a:pt x="28570" y="19502"/>
                    <a:pt x="42234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austral fold"/>
            <p:cNvSpPr/>
            <p:nvPr/>
          </p:nvSpPr>
          <p:spPr>
            <a:xfrm>
              <a:off x="853207" y="365752"/>
              <a:ext cx="22299" cy="60140"/>
            </a:xfrm>
            <a:custGeom>
              <a:avLst/>
              <a:gdLst/>
              <a:ahLst/>
              <a:cxnLst/>
              <a:rect l="0" t="0" r="r" b="b"/>
              <a:pathLst>
                <a:path w="22299" h="60140">
                  <a:moveTo>
                    <a:pt x="8651" y="0"/>
                  </a:moveTo>
                  <a:cubicBezTo>
                    <a:pt x="22299" y="4226"/>
                    <a:pt x="7043" y="37393"/>
                    <a:pt x="0" y="6014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austral fold"/>
            <p:cNvSpPr/>
            <p:nvPr/>
          </p:nvSpPr>
          <p:spPr>
            <a:xfrm>
              <a:off x="811708" y="473205"/>
              <a:ext cx="26848" cy="58731"/>
            </a:xfrm>
            <a:custGeom>
              <a:avLst/>
              <a:gdLst/>
              <a:ahLst/>
              <a:cxnLst/>
              <a:rect l="0" t="0" r="r" b="b"/>
              <a:pathLst>
                <a:path w="26848" h="58731">
                  <a:moveTo>
                    <a:pt x="0" y="54505"/>
                  </a:moveTo>
                  <a:cubicBezTo>
                    <a:pt x="13648" y="58731"/>
                    <a:pt x="19805" y="22747"/>
                    <a:pt x="26848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austral fold"/>
            <p:cNvSpPr/>
            <p:nvPr/>
          </p:nvSpPr>
          <p:spPr>
            <a:xfrm>
              <a:off x="990077" y="385533"/>
              <a:ext cx="14287" cy="60017"/>
            </a:xfrm>
            <a:custGeom>
              <a:avLst/>
              <a:gdLst/>
              <a:ahLst/>
              <a:cxnLst/>
              <a:rect l="0" t="0" r="r" b="b"/>
              <a:pathLst>
                <a:path w="14287" h="60017">
                  <a:moveTo>
                    <a:pt x="0" y="29"/>
                  </a:moveTo>
                  <a:cubicBezTo>
                    <a:pt x="14287" y="0"/>
                    <a:pt x="9598" y="36204"/>
                    <a:pt x="9645" y="60017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austral fold"/>
            <p:cNvSpPr/>
            <p:nvPr/>
          </p:nvSpPr>
          <p:spPr>
            <a:xfrm>
              <a:off x="990416" y="495080"/>
              <a:ext cx="14287" cy="60026"/>
            </a:xfrm>
            <a:custGeom>
              <a:avLst/>
              <a:gdLst/>
              <a:ahLst/>
              <a:cxnLst/>
              <a:rect l="0" t="0" r="r" b="b"/>
              <a:pathLst>
                <a:path w="14287" h="60026">
                  <a:moveTo>
                    <a:pt x="0" y="60026"/>
                  </a:moveTo>
                  <a:cubicBezTo>
                    <a:pt x="14287" y="59998"/>
                    <a:pt x="9452" y="23812"/>
                    <a:pt x="9405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austral fold"/>
            <p:cNvSpPr/>
            <p:nvPr/>
          </p:nvSpPr>
          <p:spPr>
            <a:xfrm>
              <a:off x="1141237" y="360065"/>
              <a:ext cx="24557" cy="59230"/>
            </a:xfrm>
            <a:custGeom>
              <a:avLst/>
              <a:gdLst/>
              <a:ahLst/>
              <a:cxnLst/>
              <a:rect l="0" t="0" r="r" b="b"/>
              <a:pathLst>
                <a:path w="24557" h="59230">
                  <a:moveTo>
                    <a:pt x="0" y="3654"/>
                  </a:moveTo>
                  <a:cubicBezTo>
                    <a:pt x="13812" y="0"/>
                    <a:pt x="18466" y="36209"/>
                    <a:pt x="24557" y="5923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austral fold"/>
            <p:cNvSpPr/>
            <p:nvPr/>
          </p:nvSpPr>
          <p:spPr>
            <a:xfrm>
              <a:off x="1178462" y="467177"/>
              <a:ext cx="19952" cy="60448"/>
            </a:xfrm>
            <a:custGeom>
              <a:avLst/>
              <a:gdLst/>
              <a:ahLst/>
              <a:cxnLst/>
              <a:rect l="0" t="0" r="r" b="b"/>
              <a:pathLst>
                <a:path w="19952" h="60448">
                  <a:moveTo>
                    <a:pt x="6140" y="60448"/>
                  </a:moveTo>
                  <a:cubicBezTo>
                    <a:pt x="19952" y="56793"/>
                    <a:pt x="6091" y="23020"/>
                    <a:pt x="0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austral fold"/>
            <p:cNvSpPr/>
            <p:nvPr/>
          </p:nvSpPr>
          <p:spPr>
            <a:xfrm>
              <a:off x="1291448" y="300034"/>
              <a:ext cx="35208" cy="55869"/>
            </a:xfrm>
            <a:custGeom>
              <a:avLst/>
              <a:gdLst/>
              <a:ahLst/>
              <a:cxnLst/>
              <a:rect l="0" t="0" r="r" b="b"/>
              <a:pathLst>
                <a:path w="35208" h="55869">
                  <a:moveTo>
                    <a:pt x="0" y="6351"/>
                  </a:moveTo>
                  <a:cubicBezTo>
                    <a:pt x="12798" y="0"/>
                    <a:pt x="24622" y="34539"/>
                    <a:pt x="35208" y="55869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austral fold"/>
            <p:cNvSpPr/>
            <p:nvPr/>
          </p:nvSpPr>
          <p:spPr>
            <a:xfrm>
              <a:off x="1348674" y="400270"/>
              <a:ext cx="30942" cy="57986"/>
            </a:xfrm>
            <a:custGeom>
              <a:avLst/>
              <a:gdLst/>
              <a:ahLst/>
              <a:cxnLst/>
              <a:rect l="0" t="0" r="r" b="b"/>
              <a:pathLst>
                <a:path w="30942" h="57986">
                  <a:moveTo>
                    <a:pt x="18144" y="57986"/>
                  </a:moveTo>
                  <a:cubicBezTo>
                    <a:pt x="30942" y="51635"/>
                    <a:pt x="10586" y="21330"/>
                    <a:pt x="0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austral fold"/>
            <p:cNvSpPr/>
            <p:nvPr/>
          </p:nvSpPr>
          <p:spPr>
            <a:xfrm>
              <a:off x="1421330" y="221207"/>
              <a:ext cx="41884" cy="52120"/>
            </a:xfrm>
            <a:custGeom>
              <a:avLst/>
              <a:gdLst/>
              <a:ahLst/>
              <a:cxnLst/>
              <a:rect l="0" t="0" r="r" b="b"/>
              <a:pathLst>
                <a:path w="41884" h="52120">
                  <a:moveTo>
                    <a:pt x="0" y="8105"/>
                  </a:moveTo>
                  <a:cubicBezTo>
                    <a:pt x="11766" y="0"/>
                    <a:pt x="28376" y="32510"/>
                    <a:pt x="41884" y="5212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austral fold"/>
            <p:cNvSpPr/>
            <p:nvPr/>
          </p:nvSpPr>
          <p:spPr>
            <a:xfrm>
              <a:off x="1491310" y="314118"/>
              <a:ext cx="37961" cy="54822"/>
            </a:xfrm>
            <a:custGeom>
              <a:avLst/>
              <a:gdLst/>
              <a:ahLst/>
              <a:cxnLst/>
              <a:rect l="0" t="0" r="r" b="b"/>
              <a:pathLst>
                <a:path w="37961" h="54822">
                  <a:moveTo>
                    <a:pt x="26195" y="54822"/>
                  </a:moveTo>
                  <a:cubicBezTo>
                    <a:pt x="37961" y="46717"/>
                    <a:pt x="13508" y="19611"/>
                    <a:pt x="0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austral fold"/>
            <p:cNvSpPr/>
            <p:nvPr/>
          </p:nvSpPr>
          <p:spPr>
            <a:xfrm>
              <a:off x="1643888" y="226748"/>
              <a:ext cx="56170" cy="34530"/>
            </a:xfrm>
            <a:custGeom>
              <a:avLst/>
              <a:gdLst/>
              <a:ahLst/>
              <a:cxnLst/>
              <a:rect l="0" t="0" r="r" b="b"/>
              <a:pathLst>
                <a:path w="56170" h="34530">
                  <a:moveTo>
                    <a:pt x="49993" y="0"/>
                  </a:moveTo>
                  <a:cubicBezTo>
                    <a:pt x="56170" y="12884"/>
                    <a:pt x="21473" y="24236"/>
                    <a:pt x="0" y="3453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austral fold"/>
            <p:cNvSpPr/>
            <p:nvPr/>
          </p:nvSpPr>
          <p:spPr>
            <a:xfrm>
              <a:off x="1540996" y="282690"/>
              <a:ext cx="58228" cy="30235"/>
            </a:xfrm>
            <a:custGeom>
              <a:avLst/>
              <a:gdLst/>
              <a:ahLst/>
              <a:cxnLst/>
              <a:rect l="0" t="0" r="r" b="b"/>
              <a:pathLst>
                <a:path w="58228" h="30235">
                  <a:moveTo>
                    <a:pt x="0" y="17352"/>
                  </a:moveTo>
                  <a:cubicBezTo>
                    <a:pt x="6176" y="30235"/>
                    <a:pt x="36756" y="10294"/>
                    <a:pt x="58228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austral fold"/>
            <p:cNvSpPr/>
            <p:nvPr/>
          </p:nvSpPr>
          <p:spPr>
            <a:xfrm>
              <a:off x="1640833" y="440140"/>
              <a:ext cx="60618" cy="14231"/>
            </a:xfrm>
            <a:custGeom>
              <a:avLst/>
              <a:gdLst/>
              <a:ahLst/>
              <a:cxnLst/>
              <a:rect l="0" t="0" r="r" b="b"/>
              <a:pathLst>
                <a:path w="60618" h="14231">
                  <a:moveTo>
                    <a:pt x="60618" y="0"/>
                  </a:moveTo>
                  <a:cubicBezTo>
                    <a:pt x="59344" y="14231"/>
                    <a:pt x="23718" y="6261"/>
                    <a:pt x="0" y="4138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austral fold"/>
            <p:cNvSpPr/>
            <p:nvPr/>
          </p:nvSpPr>
          <p:spPr>
            <a:xfrm>
              <a:off x="1531307" y="425027"/>
              <a:ext cx="60193" cy="14836"/>
            </a:xfrm>
            <a:custGeom>
              <a:avLst/>
              <a:gdLst/>
              <a:ahLst/>
              <a:cxnLst/>
              <a:rect l="0" t="0" r="r" b="b"/>
              <a:pathLst>
                <a:path w="60193" h="14836">
                  <a:moveTo>
                    <a:pt x="1274" y="0"/>
                  </a:moveTo>
                  <a:cubicBezTo>
                    <a:pt x="0" y="14231"/>
                    <a:pt x="36475" y="12713"/>
                    <a:pt x="60193" y="14836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austral fold"/>
            <p:cNvSpPr/>
            <p:nvPr/>
          </p:nvSpPr>
          <p:spPr>
            <a:xfrm>
              <a:off x="1633288" y="611912"/>
              <a:ext cx="60142" cy="14286"/>
            </a:xfrm>
            <a:custGeom>
              <a:avLst/>
              <a:gdLst/>
              <a:ahLst/>
              <a:cxnLst/>
              <a:rect l="0" t="0" r="r" b="b"/>
              <a:pathLst>
                <a:path w="60142" h="14286">
                  <a:moveTo>
                    <a:pt x="60142" y="0"/>
                  </a:moveTo>
                  <a:cubicBezTo>
                    <a:pt x="59931" y="14286"/>
                    <a:pt x="23810" y="8989"/>
                    <a:pt x="0" y="8637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austral fold"/>
            <p:cNvSpPr/>
            <p:nvPr/>
          </p:nvSpPr>
          <p:spPr>
            <a:xfrm>
              <a:off x="1523692" y="609405"/>
              <a:ext cx="60071" cy="14286"/>
            </a:xfrm>
            <a:custGeom>
              <a:avLst/>
              <a:gdLst/>
              <a:ahLst/>
              <a:cxnLst/>
              <a:rect l="0" t="0" r="r" b="b"/>
              <a:pathLst>
                <a:path w="60071" h="14286">
                  <a:moveTo>
                    <a:pt x="211" y="0"/>
                  </a:moveTo>
                  <a:cubicBezTo>
                    <a:pt x="0" y="14286"/>
                    <a:pt x="36261" y="10059"/>
                    <a:pt x="60071" y="10411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austral fold"/>
            <p:cNvSpPr/>
            <p:nvPr/>
          </p:nvSpPr>
          <p:spPr>
            <a:xfrm>
              <a:off x="1634366" y="773966"/>
              <a:ext cx="60093" cy="14284"/>
            </a:xfrm>
            <a:custGeom>
              <a:avLst/>
              <a:gdLst/>
              <a:ahLst/>
              <a:cxnLst/>
              <a:rect l="0" t="0" r="r" b="b"/>
              <a:pathLst>
                <a:path w="60093" h="14284">
                  <a:moveTo>
                    <a:pt x="59799" y="0"/>
                  </a:moveTo>
                  <a:cubicBezTo>
                    <a:pt x="60093" y="14284"/>
                    <a:pt x="23807" y="10267"/>
                    <a:pt x="0" y="10757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austral fold"/>
            <p:cNvSpPr/>
            <p:nvPr/>
          </p:nvSpPr>
          <p:spPr>
            <a:xfrm>
              <a:off x="1524656" y="777451"/>
              <a:ext cx="60191" cy="14284"/>
            </a:xfrm>
            <a:custGeom>
              <a:avLst/>
              <a:gdLst/>
              <a:ahLst/>
              <a:cxnLst/>
              <a:rect l="0" t="0" r="r" b="b"/>
              <a:pathLst>
                <a:path w="60191" h="14284">
                  <a:moveTo>
                    <a:pt x="0" y="0"/>
                  </a:moveTo>
                  <a:cubicBezTo>
                    <a:pt x="294" y="14284"/>
                    <a:pt x="36383" y="8779"/>
                    <a:pt x="60191" y="8289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austral fold"/>
            <p:cNvSpPr/>
            <p:nvPr/>
          </p:nvSpPr>
          <p:spPr>
            <a:xfrm>
              <a:off x="1639761" y="934543"/>
              <a:ext cx="60154" cy="14275"/>
            </a:xfrm>
            <a:custGeom>
              <a:avLst/>
              <a:gdLst/>
              <a:ahLst/>
              <a:cxnLst/>
              <a:rect l="0" t="0" r="r" b="b"/>
              <a:pathLst>
                <a:path w="60154" h="14275">
                  <a:moveTo>
                    <a:pt x="59558" y="0"/>
                  </a:moveTo>
                  <a:cubicBezTo>
                    <a:pt x="60154" y="14275"/>
                    <a:pt x="23792" y="11027"/>
                    <a:pt x="0" y="12021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austral fold"/>
            <p:cNvSpPr/>
            <p:nvPr/>
          </p:nvSpPr>
          <p:spPr>
            <a:xfrm>
              <a:off x="1529921" y="941617"/>
              <a:ext cx="60353" cy="14275"/>
            </a:xfrm>
            <a:custGeom>
              <a:avLst/>
              <a:gdLst/>
              <a:ahLst/>
              <a:cxnLst/>
              <a:rect l="0" t="0" r="r" b="b"/>
              <a:pathLst>
                <a:path w="60353" h="14275">
                  <a:moveTo>
                    <a:pt x="0" y="0"/>
                  </a:moveTo>
                  <a:cubicBezTo>
                    <a:pt x="596" y="14275"/>
                    <a:pt x="36561" y="8006"/>
                    <a:pt x="60353" y="7013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austral fold"/>
            <p:cNvSpPr/>
            <p:nvPr/>
          </p:nvSpPr>
          <p:spPr>
            <a:xfrm>
              <a:off x="1644095" y="1127624"/>
              <a:ext cx="60628" cy="14227"/>
            </a:xfrm>
            <a:custGeom>
              <a:avLst/>
              <a:gdLst/>
              <a:ahLst/>
              <a:cxnLst/>
              <a:rect l="0" t="0" r="r" b="b"/>
              <a:pathLst>
                <a:path w="60628" h="14227">
                  <a:moveTo>
                    <a:pt x="60628" y="0"/>
                  </a:moveTo>
                  <a:cubicBezTo>
                    <a:pt x="59318" y="14227"/>
                    <a:pt x="23712" y="6165"/>
                    <a:pt x="0" y="3981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austral fold"/>
            <p:cNvSpPr/>
            <p:nvPr/>
          </p:nvSpPr>
          <p:spPr>
            <a:xfrm>
              <a:off x="1534583" y="1112074"/>
              <a:ext cx="60191" cy="14988"/>
            </a:xfrm>
            <a:custGeom>
              <a:avLst/>
              <a:gdLst/>
              <a:ahLst/>
              <a:cxnLst/>
              <a:rect l="0" t="0" r="r" b="b"/>
              <a:pathLst>
                <a:path w="60191" h="14988">
                  <a:moveTo>
                    <a:pt x="1310" y="0"/>
                  </a:moveTo>
                  <a:cubicBezTo>
                    <a:pt x="0" y="14227"/>
                    <a:pt x="36479" y="12805"/>
                    <a:pt x="60191" y="14988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austral fold"/>
            <p:cNvSpPr/>
            <p:nvPr/>
          </p:nvSpPr>
          <p:spPr>
            <a:xfrm>
              <a:off x="1581939" y="1292342"/>
              <a:ext cx="54681" cy="38212"/>
            </a:xfrm>
            <a:custGeom>
              <a:avLst/>
              <a:gdLst/>
              <a:ahLst/>
              <a:cxnLst/>
              <a:rect l="0" t="0" r="r" b="b"/>
              <a:pathLst>
                <a:path w="54681" h="38212">
                  <a:moveTo>
                    <a:pt x="54681" y="26489"/>
                  </a:moveTo>
                  <a:cubicBezTo>
                    <a:pt x="46513" y="38212"/>
                    <a:pt x="19538" y="13613"/>
                    <a:pt x="0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austral fold"/>
            <p:cNvSpPr/>
            <p:nvPr/>
          </p:nvSpPr>
          <p:spPr>
            <a:xfrm>
              <a:off x="1489343" y="1221909"/>
              <a:ext cx="51958" cy="42119"/>
            </a:xfrm>
            <a:custGeom>
              <a:avLst/>
              <a:gdLst/>
              <a:ahLst/>
              <a:cxnLst/>
              <a:rect l="0" t="0" r="r" b="b"/>
              <a:pathLst>
                <a:path w="51958" h="42119">
                  <a:moveTo>
                    <a:pt x="8168" y="0"/>
                  </a:moveTo>
                  <a:cubicBezTo>
                    <a:pt x="0" y="11723"/>
                    <a:pt x="32420" y="28507"/>
                    <a:pt x="51958" y="42119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austral fold"/>
            <p:cNvSpPr/>
            <p:nvPr/>
          </p:nvSpPr>
          <p:spPr>
            <a:xfrm>
              <a:off x="1436384" y="1401300"/>
              <a:ext cx="31891" cy="57216"/>
            </a:xfrm>
            <a:custGeom>
              <a:avLst/>
              <a:gdLst/>
              <a:ahLst/>
              <a:cxnLst/>
              <a:rect l="0" t="0" r="r" b="b"/>
              <a:pathLst>
                <a:path w="31891" h="57216">
                  <a:moveTo>
                    <a:pt x="31891" y="51716"/>
                  </a:moveTo>
                  <a:cubicBezTo>
                    <a:pt x="18704" y="57216"/>
                    <a:pt x="9167" y="21977"/>
                    <a:pt x="0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austral fold"/>
            <p:cNvSpPr/>
            <p:nvPr/>
          </p:nvSpPr>
          <p:spPr>
            <a:xfrm>
              <a:off x="1389822" y="1296537"/>
              <a:ext cx="27495" cy="59050"/>
            </a:xfrm>
            <a:custGeom>
              <a:avLst/>
              <a:gdLst/>
              <a:ahLst/>
              <a:cxnLst/>
              <a:rect l="0" t="0" r="r" b="b"/>
              <a:pathLst>
                <a:path w="27495" h="59050">
                  <a:moveTo>
                    <a:pt x="13186" y="0"/>
                  </a:moveTo>
                  <a:cubicBezTo>
                    <a:pt x="0" y="5500"/>
                    <a:pt x="18329" y="37072"/>
                    <a:pt x="27495" y="5905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austral fold"/>
            <p:cNvSpPr/>
            <p:nvPr/>
          </p:nvSpPr>
          <p:spPr>
            <a:xfrm>
              <a:off x="1235429" y="1406687"/>
              <a:ext cx="17256" cy="60670"/>
            </a:xfrm>
            <a:custGeom>
              <a:avLst/>
              <a:gdLst/>
              <a:ahLst/>
              <a:cxnLst/>
              <a:rect l="0" t="0" r="r" b="b"/>
              <a:pathLst>
                <a:path w="17256" h="60670">
                  <a:moveTo>
                    <a:pt x="13969" y="60670"/>
                  </a:moveTo>
                  <a:cubicBezTo>
                    <a:pt x="0" y="57670"/>
                    <a:pt x="12256" y="23282"/>
                    <a:pt x="17256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Haustral fold"/>
            <p:cNvSpPr/>
            <p:nvPr/>
          </p:nvSpPr>
          <p:spPr>
            <a:xfrm>
              <a:off x="1263084" y="1298591"/>
              <a:ext cx="21912" cy="59670"/>
            </a:xfrm>
            <a:custGeom>
              <a:avLst/>
              <a:gdLst/>
              <a:ahLst/>
              <a:cxnLst/>
              <a:rect l="0" t="0" r="r" b="b"/>
              <a:pathLst>
                <a:path w="21912" h="59670">
                  <a:moveTo>
                    <a:pt x="21912" y="3000"/>
                  </a:moveTo>
                  <a:cubicBezTo>
                    <a:pt x="7943" y="0"/>
                    <a:pt x="5000" y="36388"/>
                    <a:pt x="0" y="5967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Haustral fold"/>
            <p:cNvSpPr/>
            <p:nvPr/>
          </p:nvSpPr>
          <p:spPr>
            <a:xfrm>
              <a:off x="1059668" y="1359831"/>
              <a:ext cx="14819" cy="60754"/>
            </a:xfrm>
            <a:custGeom>
              <a:avLst/>
              <a:gdLst/>
              <a:ahLst/>
              <a:cxnLst/>
              <a:rect l="0" t="0" r="r" b="b"/>
              <a:pathLst>
                <a:path w="14819" h="60754">
                  <a:moveTo>
                    <a:pt x="14083" y="60754"/>
                  </a:moveTo>
                  <a:cubicBezTo>
                    <a:pt x="0" y="58344"/>
                    <a:pt x="10801" y="23471"/>
                    <a:pt x="14819" y="0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Haustral fold"/>
            <p:cNvSpPr/>
            <p:nvPr/>
          </p:nvSpPr>
          <p:spPr>
            <a:xfrm>
              <a:off x="1082845" y="1251060"/>
              <a:ext cx="19514" cy="59951"/>
            </a:xfrm>
            <a:custGeom>
              <a:avLst/>
              <a:gdLst/>
              <a:ahLst/>
              <a:cxnLst/>
              <a:rect l="0" t="0" r="r" b="b"/>
              <a:pathLst>
                <a:path w="19514" h="59951">
                  <a:moveTo>
                    <a:pt x="19514" y="2411"/>
                  </a:moveTo>
                  <a:cubicBezTo>
                    <a:pt x="5431" y="0"/>
                    <a:pt x="4018" y="36480"/>
                    <a:pt x="0" y="59951"/>
                  </a:cubicBezTo>
                </a:path>
              </a:pathLst>
            </a:custGeom>
            <a:noFill/>
            <a:ln w="5714" cap="rnd">
              <a:solidFill>
                <a:srgbClr val="CD9381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Appendix"/>
            <p:cNvSpPr/>
            <p:nvPr/>
          </p:nvSpPr>
          <p:spPr>
            <a:xfrm>
              <a:off x="485775" y="1295400"/>
              <a:ext cx="114300" cy="190500"/>
            </a:xfrm>
            <a:custGeom>
              <a:avLst/>
              <a:gdLst/>
              <a:ahLst/>
              <a:cxnLst/>
              <a:rect l="0" t="0" r="r" b="b"/>
              <a:pathLst>
                <a:path w="114300" h="190500">
                  <a:moveTo>
                    <a:pt x="0" y="0"/>
                  </a:moveTo>
                  <a:cubicBezTo>
                    <a:pt x="57150" y="28575"/>
                    <a:pt x="66675" y="76200"/>
                    <a:pt x="85725" y="114300"/>
                  </a:cubicBezTo>
                  <a:cubicBezTo>
                    <a:pt x="104775" y="152400"/>
                    <a:pt x="114300" y="161925"/>
                    <a:pt x="104775" y="190500"/>
                  </a:cubicBezTo>
                </a:path>
              </a:pathLst>
            </a:custGeom>
            <a:noFill/>
            <a:ln w="30480" cap="rnd">
              <a:solidFill>
                <a:srgbClr val="C8897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Gut microbe"/>
            <p:cNvSpPr/>
            <p:nvPr/>
          </p:nvSpPr>
          <p:spPr>
            <a:xfrm rot="19920000">
              <a:off x="666750" y="714375"/>
              <a:ext cx="190500" cy="76200"/>
            </a:xfrm>
            <a:prstGeom prst="roundRect">
              <a:avLst>
                <a:gd name="adj" fmla="val 50000"/>
              </a:avLst>
            </a:prstGeom>
            <a:solidFill>
              <a:srgbClr val="8EAF91"/>
            </a:solidFill>
            <a:ln w="5238">
              <a:solidFill>
                <a:srgbClr val="788B83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Gut microbe"/>
            <p:cNvSpPr/>
            <p:nvPr/>
          </p:nvSpPr>
          <p:spPr>
            <a:xfrm rot="19680000">
              <a:off x="1009650" y="819150"/>
              <a:ext cx="190500" cy="76200"/>
            </a:xfrm>
            <a:prstGeom prst="roundRect">
              <a:avLst>
                <a:gd name="adj" fmla="val 50000"/>
              </a:avLst>
            </a:prstGeom>
            <a:solidFill>
              <a:srgbClr val="AF99C2"/>
            </a:solidFill>
            <a:ln w="5238">
              <a:solidFill>
                <a:srgbClr val="8A819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Gut microbe"/>
            <p:cNvSpPr/>
            <p:nvPr/>
          </p:nvSpPr>
          <p:spPr>
            <a:xfrm rot="1500000">
              <a:off x="723900" y="1019175"/>
              <a:ext cx="190500" cy="76200"/>
            </a:xfrm>
            <a:prstGeom prst="roundRect">
              <a:avLst>
                <a:gd name="adj" fmla="val 50000"/>
              </a:avLst>
            </a:prstGeom>
            <a:solidFill>
              <a:srgbClr val="8EB5CA"/>
            </a:solidFill>
            <a:ln w="5238">
              <a:solidFill>
                <a:srgbClr val="8A819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Gut microbe"/>
            <p:cNvSpPr/>
            <p:nvPr/>
          </p:nvSpPr>
          <p:spPr>
            <a:xfrm rot="19920000">
              <a:off x="1095375" y="1104900"/>
              <a:ext cx="190500" cy="76200"/>
            </a:xfrm>
            <a:prstGeom prst="roundRect">
              <a:avLst>
                <a:gd name="adj" fmla="val 50000"/>
              </a:avLst>
            </a:prstGeom>
            <a:solidFill>
              <a:srgbClr val="DCB082"/>
            </a:solidFill>
            <a:ln w="5238">
              <a:solidFill>
                <a:srgbClr val="8A819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64" name="intestinal_schematic"/>
          <p:cNvSpPr txBox="1"/>
          <p:nvPr/>
        </p:nvSpPr>
        <p:spPr>
          <a:xfrm>
            <a:off x="628650" y="4076700"/>
            <a:ext cx="1971675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30" b="0" i="1">
                <a:solidFill>
                  <a:srgbClr val="697786"/>
                </a:solidFill>
                <a:latin typeface="Times New Roman"/>
              </a:rPr>
              <a:t>Intestine (schematic)</a:t>
            </a:r>
          </a:p>
        </p:txBody>
      </p:sp>
      <p:sp>
        <p:nvSpPr>
          <p:cNvPr id="65" name="Mucosal lamina propria"/>
          <p:cNvSpPr/>
          <p:nvPr/>
        </p:nvSpPr>
        <p:spPr>
          <a:xfrm>
            <a:off x="866775" y="4776406"/>
            <a:ext cx="1524000" cy="214694"/>
          </a:xfrm>
          <a:prstGeom prst="rect">
            <a:avLst/>
          </a:prstGeom>
          <a:solidFill>
            <a:srgbClr val="F6DED2"/>
          </a:solidFill>
          <a:ln w="6191">
            <a:solidFill>
              <a:srgbClr val="C9A3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Mucosal villus"/>
          <p:cNvSpPr/>
          <p:nvPr/>
        </p:nvSpPr>
        <p:spPr>
          <a:xfrm>
            <a:off x="926211" y="4495800"/>
            <a:ext cx="260604" cy="317944"/>
          </a:xfrm>
          <a:custGeom>
            <a:avLst/>
            <a:gdLst/>
            <a:ahLst/>
            <a:cxnLst/>
            <a:rect l="0" t="0" r="r" b="b"/>
            <a:pathLst>
              <a:path w="260604" h="317944">
                <a:moveTo>
                  <a:pt x="32004" y="317944"/>
                </a:moveTo>
                <a:cubicBezTo>
                  <a:pt x="66294" y="229267"/>
                  <a:pt x="0" y="114300"/>
                  <a:pt x="93726" y="47625"/>
                </a:cubicBezTo>
                <a:cubicBezTo>
                  <a:pt x="150876" y="0"/>
                  <a:pt x="237744" y="66675"/>
                  <a:pt x="219456" y="180975"/>
                </a:cubicBezTo>
                <a:cubicBezTo>
                  <a:pt x="180594" y="215265"/>
                  <a:pt x="205740" y="271272"/>
                  <a:pt x="260604" y="317944"/>
                </a:cubicBezTo>
                <a:close/>
              </a:path>
            </a:pathLst>
          </a:custGeom>
          <a:gradFill rotWithShape="1">
            <a:gsLst>
              <a:gs pos="0">
                <a:srgbClr val="FCECE1"/>
              </a:gs>
              <a:gs pos="100000">
                <a:srgbClr val="EFBFAF"/>
              </a:gs>
            </a:gsLst>
            <a:lin ang="5400000" scaled="1"/>
          </a:gradFill>
          <a:ln w="6667" cap="rnd">
            <a:solidFill>
              <a:srgbClr val="D39F8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Epithelial nucleus"/>
          <p:cNvSpPr/>
          <p:nvPr/>
        </p:nvSpPr>
        <p:spPr>
          <a:xfrm>
            <a:off x="981075" y="461962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Epithelial nucleus"/>
          <p:cNvSpPr/>
          <p:nvPr/>
        </p:nvSpPr>
        <p:spPr>
          <a:xfrm>
            <a:off x="981075" y="466725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Epithelial nucleus"/>
          <p:cNvSpPr/>
          <p:nvPr/>
        </p:nvSpPr>
        <p:spPr>
          <a:xfrm>
            <a:off x="981075" y="471487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Epithelial nucleus"/>
          <p:cNvSpPr/>
          <p:nvPr/>
        </p:nvSpPr>
        <p:spPr>
          <a:xfrm>
            <a:off x="981075" y="476250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Mucosal villus"/>
          <p:cNvSpPr/>
          <p:nvPr/>
        </p:nvSpPr>
        <p:spPr>
          <a:xfrm>
            <a:off x="1208151" y="4524375"/>
            <a:ext cx="260604" cy="289369"/>
          </a:xfrm>
          <a:custGeom>
            <a:avLst/>
            <a:gdLst/>
            <a:ahLst/>
            <a:cxnLst/>
            <a:rect l="0" t="0" r="r" b="b"/>
            <a:pathLst>
              <a:path w="260604" h="289369">
                <a:moveTo>
                  <a:pt x="32004" y="289369"/>
                </a:moveTo>
                <a:cubicBezTo>
                  <a:pt x="66294" y="200692"/>
                  <a:pt x="0" y="114300"/>
                  <a:pt x="93726" y="47625"/>
                </a:cubicBezTo>
                <a:cubicBezTo>
                  <a:pt x="150876" y="0"/>
                  <a:pt x="237744" y="66675"/>
                  <a:pt x="219456" y="180975"/>
                </a:cubicBezTo>
                <a:cubicBezTo>
                  <a:pt x="180594" y="186690"/>
                  <a:pt x="205740" y="242697"/>
                  <a:pt x="260604" y="289369"/>
                </a:cubicBezTo>
                <a:close/>
              </a:path>
            </a:pathLst>
          </a:custGeom>
          <a:gradFill rotWithShape="1">
            <a:gsLst>
              <a:gs pos="0">
                <a:srgbClr val="FCECE1"/>
              </a:gs>
              <a:gs pos="100000">
                <a:srgbClr val="EFBFAF"/>
              </a:gs>
            </a:gsLst>
            <a:lin ang="5400000" scaled="1"/>
          </a:gradFill>
          <a:ln w="6667" cap="rnd">
            <a:solidFill>
              <a:srgbClr val="D39F8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Epithelial nucleus"/>
          <p:cNvSpPr/>
          <p:nvPr/>
        </p:nvSpPr>
        <p:spPr>
          <a:xfrm>
            <a:off x="1263015" y="464820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Epithelial nucleus"/>
          <p:cNvSpPr/>
          <p:nvPr/>
        </p:nvSpPr>
        <p:spPr>
          <a:xfrm>
            <a:off x="1263015" y="469582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Epithelial nucleus"/>
          <p:cNvSpPr/>
          <p:nvPr/>
        </p:nvSpPr>
        <p:spPr>
          <a:xfrm>
            <a:off x="1263015" y="474345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Epithelial nucleus"/>
          <p:cNvSpPr/>
          <p:nvPr/>
        </p:nvSpPr>
        <p:spPr>
          <a:xfrm>
            <a:off x="1263015" y="479107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Mucosal villus"/>
          <p:cNvSpPr/>
          <p:nvPr/>
        </p:nvSpPr>
        <p:spPr>
          <a:xfrm>
            <a:off x="1490091" y="4495800"/>
            <a:ext cx="260604" cy="317944"/>
          </a:xfrm>
          <a:custGeom>
            <a:avLst/>
            <a:gdLst/>
            <a:ahLst/>
            <a:cxnLst/>
            <a:rect l="0" t="0" r="r" b="b"/>
            <a:pathLst>
              <a:path w="260604" h="317944">
                <a:moveTo>
                  <a:pt x="32004" y="317944"/>
                </a:moveTo>
                <a:cubicBezTo>
                  <a:pt x="66294" y="229267"/>
                  <a:pt x="0" y="114300"/>
                  <a:pt x="93726" y="47625"/>
                </a:cubicBezTo>
                <a:cubicBezTo>
                  <a:pt x="150876" y="0"/>
                  <a:pt x="237744" y="66675"/>
                  <a:pt x="219456" y="180975"/>
                </a:cubicBezTo>
                <a:cubicBezTo>
                  <a:pt x="180594" y="215265"/>
                  <a:pt x="205740" y="271272"/>
                  <a:pt x="260604" y="317944"/>
                </a:cubicBezTo>
                <a:close/>
              </a:path>
            </a:pathLst>
          </a:custGeom>
          <a:gradFill rotWithShape="1">
            <a:gsLst>
              <a:gs pos="0">
                <a:srgbClr val="FCECE1"/>
              </a:gs>
              <a:gs pos="100000">
                <a:srgbClr val="EFBFAF"/>
              </a:gs>
            </a:gsLst>
            <a:lin ang="5400000" scaled="1"/>
          </a:gradFill>
          <a:ln w="6667" cap="rnd">
            <a:solidFill>
              <a:srgbClr val="D39F8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Epithelial nucleus"/>
          <p:cNvSpPr/>
          <p:nvPr/>
        </p:nvSpPr>
        <p:spPr>
          <a:xfrm>
            <a:off x="1544955" y="461962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Epithelial nucleus"/>
          <p:cNvSpPr/>
          <p:nvPr/>
        </p:nvSpPr>
        <p:spPr>
          <a:xfrm>
            <a:off x="1544955" y="466725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Epithelial nucleus"/>
          <p:cNvSpPr/>
          <p:nvPr/>
        </p:nvSpPr>
        <p:spPr>
          <a:xfrm>
            <a:off x="1544955" y="471487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Epithelial nucleus"/>
          <p:cNvSpPr/>
          <p:nvPr/>
        </p:nvSpPr>
        <p:spPr>
          <a:xfrm>
            <a:off x="1544955" y="476250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Mucosal villus"/>
          <p:cNvSpPr/>
          <p:nvPr/>
        </p:nvSpPr>
        <p:spPr>
          <a:xfrm>
            <a:off x="1772031" y="4524375"/>
            <a:ext cx="260604" cy="289369"/>
          </a:xfrm>
          <a:custGeom>
            <a:avLst/>
            <a:gdLst/>
            <a:ahLst/>
            <a:cxnLst/>
            <a:rect l="0" t="0" r="r" b="b"/>
            <a:pathLst>
              <a:path w="260604" h="289369">
                <a:moveTo>
                  <a:pt x="32004" y="289369"/>
                </a:moveTo>
                <a:cubicBezTo>
                  <a:pt x="66294" y="200692"/>
                  <a:pt x="0" y="114300"/>
                  <a:pt x="93726" y="47625"/>
                </a:cubicBezTo>
                <a:cubicBezTo>
                  <a:pt x="150876" y="0"/>
                  <a:pt x="237744" y="66675"/>
                  <a:pt x="219456" y="180975"/>
                </a:cubicBezTo>
                <a:cubicBezTo>
                  <a:pt x="180594" y="186690"/>
                  <a:pt x="205740" y="242697"/>
                  <a:pt x="260604" y="289369"/>
                </a:cubicBezTo>
                <a:close/>
              </a:path>
            </a:pathLst>
          </a:custGeom>
          <a:gradFill rotWithShape="1">
            <a:gsLst>
              <a:gs pos="0">
                <a:srgbClr val="FCECE1"/>
              </a:gs>
              <a:gs pos="100000">
                <a:srgbClr val="EFBFAF"/>
              </a:gs>
            </a:gsLst>
            <a:lin ang="5400000" scaled="1"/>
          </a:gradFill>
          <a:ln w="6667" cap="rnd">
            <a:solidFill>
              <a:srgbClr val="D39F8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Epithelial nucleus"/>
          <p:cNvSpPr/>
          <p:nvPr/>
        </p:nvSpPr>
        <p:spPr>
          <a:xfrm>
            <a:off x="1826895" y="464820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Epithelial nucleus"/>
          <p:cNvSpPr/>
          <p:nvPr/>
        </p:nvSpPr>
        <p:spPr>
          <a:xfrm>
            <a:off x="1826895" y="469582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Epithelial nucleus"/>
          <p:cNvSpPr/>
          <p:nvPr/>
        </p:nvSpPr>
        <p:spPr>
          <a:xfrm>
            <a:off x="1826895" y="474345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Epithelial nucleus"/>
          <p:cNvSpPr/>
          <p:nvPr/>
        </p:nvSpPr>
        <p:spPr>
          <a:xfrm>
            <a:off x="1826895" y="479107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Mucosal villus"/>
          <p:cNvSpPr/>
          <p:nvPr/>
        </p:nvSpPr>
        <p:spPr>
          <a:xfrm>
            <a:off x="2053971" y="4495800"/>
            <a:ext cx="260604" cy="317944"/>
          </a:xfrm>
          <a:custGeom>
            <a:avLst/>
            <a:gdLst/>
            <a:ahLst/>
            <a:cxnLst/>
            <a:rect l="0" t="0" r="r" b="b"/>
            <a:pathLst>
              <a:path w="260604" h="317944">
                <a:moveTo>
                  <a:pt x="32004" y="317944"/>
                </a:moveTo>
                <a:cubicBezTo>
                  <a:pt x="66294" y="229267"/>
                  <a:pt x="0" y="114300"/>
                  <a:pt x="93726" y="47625"/>
                </a:cubicBezTo>
                <a:cubicBezTo>
                  <a:pt x="150876" y="0"/>
                  <a:pt x="237744" y="66675"/>
                  <a:pt x="219456" y="180975"/>
                </a:cubicBezTo>
                <a:cubicBezTo>
                  <a:pt x="180594" y="215265"/>
                  <a:pt x="205740" y="271272"/>
                  <a:pt x="260604" y="317944"/>
                </a:cubicBezTo>
                <a:close/>
              </a:path>
            </a:pathLst>
          </a:custGeom>
          <a:gradFill rotWithShape="1">
            <a:gsLst>
              <a:gs pos="0">
                <a:srgbClr val="FCECE1"/>
              </a:gs>
              <a:gs pos="100000">
                <a:srgbClr val="EFBFAF"/>
              </a:gs>
            </a:gsLst>
            <a:lin ang="5400000" scaled="1"/>
          </a:gradFill>
          <a:ln w="6667" cap="rnd">
            <a:solidFill>
              <a:srgbClr val="D39F8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Epithelial nucleus"/>
          <p:cNvSpPr/>
          <p:nvPr/>
        </p:nvSpPr>
        <p:spPr>
          <a:xfrm>
            <a:off x="2108835" y="461962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Epithelial nucleus"/>
          <p:cNvSpPr/>
          <p:nvPr/>
        </p:nvSpPr>
        <p:spPr>
          <a:xfrm>
            <a:off x="2108835" y="466725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Epithelial nucleus"/>
          <p:cNvSpPr/>
          <p:nvPr/>
        </p:nvSpPr>
        <p:spPr>
          <a:xfrm>
            <a:off x="2108835" y="4714875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Epithelial nucleus"/>
          <p:cNvSpPr/>
          <p:nvPr/>
        </p:nvSpPr>
        <p:spPr>
          <a:xfrm>
            <a:off x="2108835" y="4762500"/>
            <a:ext cx="15240" cy="22860"/>
          </a:xfrm>
          <a:prstGeom prst="ellipse">
            <a:avLst/>
          </a:prstGeom>
          <a:solidFill>
            <a:srgbClr val="C18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Mucosal capillary"/>
          <p:cNvSpPr/>
          <p:nvPr/>
        </p:nvSpPr>
        <p:spPr>
          <a:xfrm>
            <a:off x="914400" y="4841748"/>
            <a:ext cx="1447800" cy="126016"/>
          </a:xfrm>
          <a:custGeom>
            <a:avLst/>
            <a:gdLst/>
            <a:ahLst/>
            <a:cxnLst/>
            <a:rect l="0" t="0" r="r" b="b"/>
            <a:pathLst>
              <a:path w="1447800" h="126016">
                <a:moveTo>
                  <a:pt x="0" y="74676"/>
                </a:moveTo>
                <a:cubicBezTo>
                  <a:pt x="363855" y="0"/>
                  <a:pt x="638175" y="126016"/>
                  <a:pt x="973455" y="56007"/>
                </a:cubicBezTo>
                <a:cubicBezTo>
                  <a:pt x="1217295" y="0"/>
                  <a:pt x="1369695" y="37338"/>
                  <a:pt x="1447800" y="56007"/>
                </a:cubicBezTo>
              </a:path>
            </a:pathLst>
          </a:custGeom>
          <a:noFill/>
          <a:ln w="9525" cap="rnd">
            <a:solidFill>
              <a:srgbClr val="B8767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mucosal_schematic"/>
          <p:cNvSpPr txBox="1"/>
          <p:nvPr/>
        </p:nvSpPr>
        <p:spPr>
          <a:xfrm>
            <a:off x="647700" y="5057775"/>
            <a:ext cx="1971675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050" b="0" i="1">
                <a:solidFill>
                  <a:srgbClr val="697786"/>
                </a:solidFill>
                <a:latin typeface="Times New Roman"/>
              </a:rPr>
              <a:t>Small-intestinal mucosa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050" b="0" i="1">
                <a:solidFill>
                  <a:srgbClr val="697786"/>
                </a:solidFill>
                <a:latin typeface="Times New Roman"/>
              </a:rPr>
              <a:t>(separate schematic)</a:t>
            </a:r>
          </a:p>
        </p:txBody>
      </p:sp>
      <p:sp>
        <p:nvSpPr>
          <p:cNvPr id="93" name="barrier_impairment"/>
          <p:cNvSpPr txBox="1"/>
          <p:nvPr/>
        </p:nvSpPr>
        <p:spPr>
          <a:xfrm>
            <a:off x="2828925" y="2143125"/>
            <a:ext cx="2009775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70" b="1" i="0">
                <a:solidFill>
                  <a:srgbClr val="287A7D"/>
                </a:solidFill>
                <a:latin typeface="Times New Roman"/>
              </a:rPr>
              <a:t>Barrier impairment</a:t>
            </a:r>
          </a:p>
        </p:txBody>
      </p:sp>
      <p:sp>
        <p:nvSpPr>
          <p:cNvPr id="94" name="microbial_shifts"/>
          <p:cNvSpPr txBox="1"/>
          <p:nvPr/>
        </p:nvSpPr>
        <p:spPr>
          <a:xfrm>
            <a:off x="2828925" y="3228975"/>
            <a:ext cx="2009775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50" b="1" i="0">
                <a:solidFill>
                  <a:srgbClr val="287A7D"/>
                </a:solidFill>
                <a:latin typeface="Times New Roman"/>
              </a:rPr>
              <a:t>Microbial composition 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50" b="1" i="0">
                <a:solidFill>
                  <a:srgbClr val="287A7D"/>
                </a:solidFill>
                <a:latin typeface="Times New Roman"/>
              </a:rPr>
              <a:t>functional shifts</a:t>
            </a:r>
          </a:p>
        </p:txBody>
      </p:sp>
      <p:sp>
        <p:nvSpPr>
          <p:cNvPr id="95" name="mamp_exposure"/>
          <p:cNvSpPr txBox="1"/>
          <p:nvPr/>
        </p:nvSpPr>
        <p:spPr>
          <a:xfrm>
            <a:off x="4810125" y="1857375"/>
            <a:ext cx="21145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30" b="1" i="0">
                <a:solidFill>
                  <a:srgbClr val="287A7D"/>
                </a:solidFill>
                <a:latin typeface="Times New Roman"/>
              </a:rPr>
              <a:t>MAMP translocation /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30" b="1" i="0">
                <a:solidFill>
                  <a:srgbClr val="287A7D"/>
                </a:solidFill>
                <a:latin typeface="Times New Roman"/>
              </a:rPr>
              <a:t>exposure</a:t>
            </a:r>
          </a:p>
        </p:txBody>
      </p:sp>
      <p:sp>
        <p:nvSpPr>
          <p:cNvPr id="96" name="metabolite_exposure"/>
          <p:cNvSpPr txBox="1"/>
          <p:nvPr/>
        </p:nvSpPr>
        <p:spPr>
          <a:xfrm>
            <a:off x="4895850" y="2924175"/>
            <a:ext cx="2628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80" b="1" i="0">
                <a:solidFill>
                  <a:srgbClr val="287A7D"/>
                </a:solidFill>
                <a:latin typeface="Times New Roman"/>
              </a:rPr>
              <a:t>Altered metabolite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80" b="1" i="0">
                <a:solidFill>
                  <a:srgbClr val="287A7D"/>
                </a:solidFill>
                <a:latin typeface="Times New Roman"/>
              </a:rPr>
              <a:t>exposure</a:t>
            </a:r>
          </a:p>
        </p:txBody>
      </p:sp>
      <p:sp>
        <p:nvSpPr>
          <p:cNvPr id="97" name="host_processing"/>
          <p:cNvSpPr txBox="1"/>
          <p:nvPr/>
        </p:nvSpPr>
        <p:spPr>
          <a:xfrm>
            <a:off x="4933950" y="3638550"/>
            <a:ext cx="2600325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1">
                <a:solidFill>
                  <a:srgbClr val="697786"/>
                </a:solidFill>
                <a:latin typeface="Times New Roman"/>
              </a:rPr>
              <a:t>Microbial function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1">
                <a:solidFill>
                  <a:srgbClr val="697786"/>
                </a:solidFill>
                <a:latin typeface="Times New Roman"/>
              </a:rPr>
              <a:t>host processing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83" y="140"/>
                </a:moveTo>
                <a:cubicBezTo>
                  <a:pt x="337" y="40"/>
                  <a:pt x="276" y="87"/>
                  <a:pt x="220" y="161"/>
                </a:cubicBezTo>
                <a:cubicBezTo>
                  <a:pt x="120" y="284"/>
                  <a:pt x="70" y="474"/>
                  <a:pt x="58" y="647"/>
                </a:cubicBezTo>
                <a:cubicBezTo>
                  <a:pt x="48" y="792"/>
                  <a:pt x="67" y="918"/>
                  <a:pt x="110" y="965"/>
                </a:cubicBezTo>
                <a:cubicBezTo>
                  <a:pt x="144" y="1002"/>
                  <a:pt x="222" y="947"/>
                  <a:pt x="316" y="916"/>
                </a:cubicBezTo>
                <a:cubicBezTo>
                  <a:pt x="397" y="890"/>
                  <a:pt x="433" y="848"/>
                  <a:pt x="437" y="745"/>
                </a:cubicBezTo>
                <a:cubicBezTo>
                  <a:pt x="444" y="598"/>
                  <a:pt x="423" y="464"/>
                  <a:pt x="409" y="336"/>
                </a:cubicBezTo>
                <a:cubicBezTo>
                  <a:pt x="401" y="267"/>
                  <a:pt x="414" y="197"/>
                  <a:pt x="383" y="140"/>
                </a:cubicBezTo>
                <a:close/>
              </a:path>
            </a:pathLst>
          </a:custGeom>
          <a:gradFill rotWithShape="1">
            <a:gsLst>
              <a:gs pos="0">
                <a:srgbClr val="F7FAFC"/>
              </a:gs>
              <a:gs pos="45000">
                <a:srgbClr val="E9F0F5"/>
              </a:gs>
              <a:gs pos="100000">
                <a:srgbClr val="DCE7EF"/>
              </a:gs>
            </a:gsLst>
            <a:lin ang="5400000" scaled="1"/>
          </a:gradFill>
          <a:ln w="7143" cap="rnd">
            <a:solidFill>
              <a:srgbClr val="899BA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17" y="141"/>
                </a:moveTo>
                <a:cubicBezTo>
                  <a:pt x="659" y="48"/>
                  <a:pt x="722" y="83"/>
                  <a:pt x="782" y="153"/>
                </a:cubicBezTo>
                <a:cubicBezTo>
                  <a:pt x="890" y="277"/>
                  <a:pt x="938" y="462"/>
                  <a:pt x="946" y="643"/>
                </a:cubicBezTo>
                <a:cubicBezTo>
                  <a:pt x="958" y="791"/>
                  <a:pt x="943" y="922"/>
                  <a:pt x="906" y="964"/>
                </a:cubicBezTo>
                <a:cubicBezTo>
                  <a:pt x="874" y="1000"/>
                  <a:pt x="803" y="952"/>
                  <a:pt x="710" y="921"/>
                </a:cubicBezTo>
                <a:cubicBezTo>
                  <a:pt x="621" y="891"/>
                  <a:pt x="578" y="843"/>
                  <a:pt x="570" y="759"/>
                </a:cubicBezTo>
                <a:cubicBezTo>
                  <a:pt x="557" y="647"/>
                  <a:pt x="571" y="552"/>
                  <a:pt x="560" y="470"/>
                </a:cubicBezTo>
                <a:cubicBezTo>
                  <a:pt x="553" y="418"/>
                  <a:pt x="576" y="366"/>
                  <a:pt x="590" y="307"/>
                </a:cubicBezTo>
                <a:cubicBezTo>
                  <a:pt x="609" y="236"/>
                  <a:pt x="588" y="197"/>
                  <a:pt x="617" y="141"/>
                </a:cubicBezTo>
                <a:close/>
              </a:path>
            </a:pathLst>
          </a:custGeom>
          <a:gradFill rotWithShape="1">
            <a:gsLst>
              <a:gs pos="0">
                <a:srgbClr val="F7FAFC"/>
              </a:gs>
              <a:gs pos="45000">
                <a:srgbClr val="E9F0F5"/>
              </a:gs>
              <a:gs pos="100000">
                <a:srgbClr val="DCE7EF"/>
              </a:gs>
            </a:gsLst>
            <a:lin ang="5400000" scaled="1"/>
          </a:gradFill>
          <a:ln w="7143" cap="rnd">
            <a:solidFill>
              <a:srgbClr val="899BA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10" y="548"/>
                </a:moveTo>
                <a:cubicBezTo>
                  <a:pt x="207" y="532"/>
                  <a:pt x="306" y="611"/>
                  <a:pt x="419" y="662"/>
                </a:cubicBezTo>
              </a:path>
            </a:pathLst>
          </a:custGeom>
          <a:noFill/>
          <a:ln w="4000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87" y="567"/>
                </a:moveTo>
                <a:cubicBezTo>
                  <a:pt x="686" y="595"/>
                  <a:pt x="794" y="589"/>
                  <a:pt x="927" y="526"/>
                </a:cubicBezTo>
              </a:path>
            </a:pathLst>
          </a:custGeom>
          <a:noFill/>
          <a:ln w="4000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04" y="697"/>
                </a:moveTo>
                <a:cubicBezTo>
                  <a:pt x="706" y="735"/>
                  <a:pt x="818" y="732"/>
                  <a:pt x="943" y="670"/>
                </a:cubicBezTo>
              </a:path>
            </a:pathLst>
          </a:custGeom>
          <a:noFill/>
          <a:ln w="4000" cap="rnd">
            <a:solidFill>
              <a:srgbClr val="BECBD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76" y="15"/>
                </a:moveTo>
                <a:lnTo>
                  <a:pt x="523" y="15"/>
                </a:lnTo>
                <a:lnTo>
                  <a:pt x="523" y="264"/>
                </a:lnTo>
                <a:cubicBezTo>
                  <a:pt x="522" y="304"/>
                  <a:pt x="549" y="332"/>
                  <a:pt x="594" y="367"/>
                </a:cubicBezTo>
                <a:lnTo>
                  <a:pt x="576" y="406"/>
                </a:lnTo>
                <a:cubicBezTo>
                  <a:pt x="532" y="375"/>
                  <a:pt x="513" y="352"/>
                  <a:pt x="499" y="329"/>
                </a:cubicBezTo>
                <a:cubicBezTo>
                  <a:pt x="485" y="353"/>
                  <a:pt x="453" y="385"/>
                  <a:pt x="414" y="410"/>
                </a:cubicBezTo>
                <a:lnTo>
                  <a:pt x="391" y="375"/>
                </a:lnTo>
                <a:cubicBezTo>
                  <a:pt x="440" y="343"/>
                  <a:pt x="476" y="307"/>
                  <a:pt x="476" y="265"/>
                </a:cubicBezTo>
                <a:close/>
              </a:path>
            </a:pathLst>
          </a:custGeom>
          <a:gradFill rotWithShape="1">
            <a:gsLst>
              <a:gs pos="0">
                <a:srgbClr val="DCECF5"/>
              </a:gs>
              <a:gs pos="100000">
                <a:srgbClr val="B5D0E2"/>
              </a:gs>
            </a:gsLst>
            <a:lin ang="5400000" scaled="1"/>
          </a:gradFill>
          <a:ln w="6858" cap="rnd">
            <a:solidFill>
              <a:srgbClr val="779BB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40"/>
                </a:moveTo>
                <a:cubicBezTo>
                  <a:pt x="491" y="46"/>
                  <a:pt x="508" y="46"/>
                  <a:pt x="522" y="40"/>
                </a:cubicBezTo>
              </a:path>
            </a:pathLst>
          </a:custGeom>
          <a:noFill/>
          <a:ln w="4762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77"/>
                </a:moveTo>
                <a:cubicBezTo>
                  <a:pt x="491" y="83"/>
                  <a:pt x="508" y="83"/>
                  <a:pt x="522" y="77"/>
                </a:cubicBezTo>
              </a:path>
            </a:pathLst>
          </a:custGeom>
          <a:noFill/>
          <a:ln w="4762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14"/>
                </a:moveTo>
                <a:cubicBezTo>
                  <a:pt x="491" y="120"/>
                  <a:pt x="508" y="120"/>
                  <a:pt x="522" y="114"/>
                </a:cubicBezTo>
              </a:path>
            </a:pathLst>
          </a:custGeom>
          <a:noFill/>
          <a:ln w="4762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51"/>
                </a:moveTo>
                <a:cubicBezTo>
                  <a:pt x="491" y="157"/>
                  <a:pt x="508" y="157"/>
                  <a:pt x="522" y="151"/>
                </a:cubicBezTo>
              </a:path>
            </a:pathLst>
          </a:custGeom>
          <a:noFill/>
          <a:ln w="4762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188"/>
                </a:moveTo>
                <a:cubicBezTo>
                  <a:pt x="491" y="194"/>
                  <a:pt x="508" y="194"/>
                  <a:pt x="522" y="188"/>
                </a:cubicBezTo>
              </a:path>
            </a:pathLst>
          </a:custGeom>
          <a:noFill/>
          <a:ln w="4762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7" y="225"/>
                </a:moveTo>
                <a:cubicBezTo>
                  <a:pt x="491" y="231"/>
                  <a:pt x="508" y="231"/>
                  <a:pt x="522" y="225"/>
                </a:cubicBezTo>
              </a:path>
            </a:pathLst>
          </a:custGeom>
          <a:noFill/>
          <a:ln w="4762" cap="rnd">
            <a:solidFill>
              <a:srgbClr val="8FB1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49" y="359"/>
                </a:moveTo>
                <a:cubicBezTo>
                  <a:pt x="376" y="424"/>
                  <a:pt x="322" y="527"/>
                  <a:pt x="299" y="649"/>
                </a:cubicBezTo>
                <a:cubicBezTo>
                  <a:pt x="283" y="746"/>
                  <a:pt x="251" y="835"/>
                  <a:pt x="195" y="914"/>
                </a:cubicBezTo>
              </a:path>
            </a:pathLst>
          </a:custGeom>
          <a:noFill/>
          <a:ln w="18369" cap="rnd">
            <a:solidFill>
              <a:srgbClr val="C7647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550" y="359"/>
                </a:moveTo>
                <a:cubicBezTo>
                  <a:pt x="624" y="414"/>
                  <a:pt x="684" y="522"/>
                  <a:pt x="700" y="640"/>
                </a:cubicBezTo>
                <a:cubicBezTo>
                  <a:pt x="713" y="747"/>
                  <a:pt x="748" y="832"/>
                  <a:pt x="815" y="914"/>
                </a:cubicBezTo>
              </a:path>
            </a:pathLst>
          </a:custGeom>
          <a:noFill/>
          <a:ln w="18369" cap="rnd">
            <a:solidFill>
              <a:srgbClr val="C7647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86" y="433"/>
                </a:moveTo>
                <a:cubicBezTo>
                  <a:pt x="321" y="427"/>
                  <a:pt x="271" y="404"/>
                  <a:pt x="224" y="358"/>
                </a:cubicBezTo>
              </a:path>
            </a:pathLst>
          </a:custGeom>
          <a:noFill/>
          <a:ln w="11634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51" y="489"/>
                </a:moveTo>
                <a:cubicBezTo>
                  <a:pt x="269" y="504"/>
                  <a:pt x="198" y="497"/>
                  <a:pt x="132" y="466"/>
                </a:cubicBezTo>
              </a:path>
            </a:pathLst>
          </a:custGeom>
          <a:noFill/>
          <a:ln w="10409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16" y="589"/>
                </a:moveTo>
                <a:cubicBezTo>
                  <a:pt x="232" y="605"/>
                  <a:pt x="177" y="643"/>
                  <a:pt x="123" y="684"/>
                </a:cubicBezTo>
              </a:path>
            </a:pathLst>
          </a:custGeom>
          <a:noFill/>
          <a:ln w="10103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88" y="700"/>
                </a:moveTo>
                <a:cubicBezTo>
                  <a:pt x="240" y="727"/>
                  <a:pt x="193" y="774"/>
                  <a:pt x="166" y="817"/>
                </a:cubicBezTo>
              </a:path>
            </a:pathLst>
          </a:custGeom>
          <a:noFill/>
          <a:ln w="857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31" y="545"/>
                </a:moveTo>
                <a:cubicBezTo>
                  <a:pt x="369" y="594"/>
                  <a:pt x="385" y="660"/>
                  <a:pt x="389" y="722"/>
                </a:cubicBezTo>
              </a:path>
            </a:pathLst>
          </a:custGeom>
          <a:noFill/>
          <a:ln w="7654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68" y="762"/>
                </a:moveTo>
                <a:cubicBezTo>
                  <a:pt x="299" y="796"/>
                  <a:pt x="313" y="843"/>
                  <a:pt x="313" y="879"/>
                </a:cubicBezTo>
              </a:path>
            </a:pathLst>
          </a:custGeom>
          <a:noFill/>
          <a:ln w="6123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16" y="429"/>
                </a:moveTo>
                <a:cubicBezTo>
                  <a:pt x="684" y="424"/>
                  <a:pt x="733" y="404"/>
                  <a:pt x="781" y="359"/>
                </a:cubicBezTo>
              </a:path>
            </a:pathLst>
          </a:custGeom>
          <a:noFill/>
          <a:ln w="11634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51" y="488"/>
                </a:moveTo>
                <a:cubicBezTo>
                  <a:pt x="737" y="502"/>
                  <a:pt x="807" y="491"/>
                  <a:pt x="871" y="461"/>
                </a:cubicBezTo>
              </a:path>
            </a:pathLst>
          </a:custGeom>
          <a:noFill/>
          <a:ln w="10409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85" y="580"/>
                </a:moveTo>
                <a:cubicBezTo>
                  <a:pt x="763" y="600"/>
                  <a:pt x="821" y="640"/>
                  <a:pt x="879" y="684"/>
                </a:cubicBezTo>
              </a:path>
            </a:pathLst>
          </a:custGeom>
          <a:noFill/>
          <a:ln w="10103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11" y="701"/>
                </a:moveTo>
                <a:cubicBezTo>
                  <a:pt x="758" y="727"/>
                  <a:pt x="808" y="776"/>
                  <a:pt x="837" y="817"/>
                </a:cubicBezTo>
              </a:path>
            </a:pathLst>
          </a:custGeom>
          <a:noFill/>
          <a:ln w="8572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67" y="540"/>
                </a:moveTo>
                <a:cubicBezTo>
                  <a:pt x="626" y="587"/>
                  <a:pt x="609" y="646"/>
                  <a:pt x="606" y="709"/>
                </a:cubicBezTo>
              </a:path>
            </a:pathLst>
          </a:custGeom>
          <a:noFill/>
          <a:ln w="7347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33" y="769"/>
                </a:moveTo>
                <a:cubicBezTo>
                  <a:pt x="700" y="802"/>
                  <a:pt x="687" y="842"/>
                  <a:pt x="686" y="883"/>
                </a:cubicBezTo>
              </a:path>
            </a:pathLst>
          </a:custGeom>
          <a:noFill/>
          <a:ln w="6123" cap="rnd">
            <a:solidFill>
              <a:srgbClr val="D0808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55" y="388"/>
                </a:moveTo>
                <a:cubicBezTo>
                  <a:pt x="258" y="344"/>
                  <a:pt x="250" y="309"/>
                  <a:pt x="229" y="276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87" y="416"/>
                </a:moveTo>
                <a:cubicBezTo>
                  <a:pt x="318" y="384"/>
                  <a:pt x="329" y="344"/>
                  <a:pt x="331" y="311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07" y="493"/>
                </a:moveTo>
                <a:cubicBezTo>
                  <a:pt x="187" y="453"/>
                  <a:pt x="163" y="435"/>
                  <a:pt x="139" y="422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03" y="625"/>
                </a:moveTo>
                <a:cubicBezTo>
                  <a:pt x="204" y="583"/>
                  <a:pt x="195" y="556"/>
                  <a:pt x="177" y="533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5" y="651"/>
                </a:moveTo>
                <a:cubicBezTo>
                  <a:pt x="139" y="635"/>
                  <a:pt x="118" y="632"/>
                  <a:pt x="98" y="636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224" y="750"/>
                </a:moveTo>
                <a:cubicBezTo>
                  <a:pt x="206" y="718"/>
                  <a:pt x="182" y="706"/>
                  <a:pt x="159" y="704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69" y="636"/>
                </a:moveTo>
                <a:cubicBezTo>
                  <a:pt x="394" y="616"/>
                  <a:pt x="410" y="593"/>
                  <a:pt x="415" y="568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49" y="389"/>
                </a:moveTo>
                <a:cubicBezTo>
                  <a:pt x="746" y="344"/>
                  <a:pt x="756" y="309"/>
                  <a:pt x="777" y="277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13" y="414"/>
                </a:moveTo>
                <a:cubicBezTo>
                  <a:pt x="686" y="381"/>
                  <a:pt x="673" y="345"/>
                  <a:pt x="672" y="312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96" y="491"/>
                </a:moveTo>
                <a:cubicBezTo>
                  <a:pt x="816" y="451"/>
                  <a:pt x="838" y="432"/>
                  <a:pt x="861" y="420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99" y="626"/>
                </a:moveTo>
                <a:cubicBezTo>
                  <a:pt x="798" y="582"/>
                  <a:pt x="807" y="557"/>
                  <a:pt x="827" y="532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836" y="653"/>
                </a:moveTo>
                <a:cubicBezTo>
                  <a:pt x="859" y="635"/>
                  <a:pt x="880" y="633"/>
                  <a:pt x="899" y="638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76" y="749"/>
                </a:moveTo>
                <a:cubicBezTo>
                  <a:pt x="793" y="718"/>
                  <a:pt x="819" y="706"/>
                  <a:pt x="841" y="705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000875" y="1676400"/>
            <a:ext cx="685800" cy="714375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29" y="636"/>
                </a:moveTo>
                <a:cubicBezTo>
                  <a:pt x="604" y="618"/>
                  <a:pt x="589" y="595"/>
                  <a:pt x="584" y="570"/>
                </a:cubicBezTo>
              </a:path>
            </a:pathLst>
          </a:custGeom>
          <a:noFill/>
          <a:ln w="3367" cap="rnd">
            <a:solidFill>
              <a:srgbClr val="9CAFC2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53350" y="1800225"/>
            <a:ext cx="2019300" cy="2019300"/>
          </a:xfrm>
          <a:prstGeom prst="ellipse">
            <a:avLst/>
          </a:prstGeom>
          <a:gradFill rotWithShape="1">
            <a:gsLst>
              <a:gs pos="0">
                <a:srgbClr val="F5F1F8"/>
              </a:gs>
              <a:gs pos="48000">
                <a:srgbClr val="EAE4F0"/>
              </a:gs>
              <a:gs pos="100000">
                <a:srgbClr val="E2DBE9"/>
              </a:gs>
            </a:gsLst>
            <a:lin ang="5400000" scaled="1"/>
          </a:gradFill>
          <a:ln w="7810" cap="rnd">
            <a:solidFill>
              <a:srgbClr val="9F94A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 rot="5820000">
            <a:off x="9586958" y="2911945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 rot="7260000">
            <a:off x="9470344" y="3286474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 rot="8700000">
            <a:off x="9188705" y="3557131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 rot="10140000">
            <a:off x="8835066" y="3713900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 rot="11580000">
            <a:off x="8443297" y="3723353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 rot="13020000">
            <a:off x="8097410" y="3540342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 rot="14460000">
            <a:off x="7843667" y="3248590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 rot="15900000">
            <a:off x="7710644" y="2880553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 rot="17340000">
            <a:off x="7774651" y="2493947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 rot="18780000">
            <a:off x="7978950" y="2165480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 rot="20220000">
            <a:off x="8286207" y="1924257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 rot="60000">
            <a:off x="8673337" y="1861063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 rot="1500000">
            <a:off x="9047938" y="1959362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 rot="2940000">
            <a:off x="9371670" y="2176495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 rot="4380000">
            <a:off x="9556402" y="2522780"/>
            <a:ext cx="212026" cy="24232"/>
          </a:xfrm>
          <a:prstGeom prst="ellipse">
            <a:avLst/>
          </a:prstGeom>
          <a:solidFill>
            <a:srgbClr val="CEC2DC"/>
          </a:solidFill>
          <a:ln w="2476" cap="rnd">
            <a:solidFill>
              <a:srgbClr val="B6A8C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70" y="609"/>
                </a:moveTo>
                <a:cubicBezTo>
                  <a:pt x="948" y="663"/>
                  <a:pt x="922" y="734"/>
                  <a:pt x="890" y="794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87" y="881"/>
                </a:moveTo>
                <a:cubicBezTo>
                  <a:pt x="739" y="914"/>
                  <a:pt x="675" y="955"/>
                  <a:pt x="609" y="973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475" y="976"/>
                </a:moveTo>
                <a:cubicBezTo>
                  <a:pt x="416" y="977"/>
                  <a:pt x="341" y="961"/>
                  <a:pt x="282" y="927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72" y="852"/>
                </a:moveTo>
                <a:cubicBezTo>
                  <a:pt x="126" y="814"/>
                  <a:pt x="86" y="749"/>
                  <a:pt x="61" y="686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7" y="559"/>
                </a:moveTo>
                <a:cubicBezTo>
                  <a:pt x="13" y="500"/>
                  <a:pt x="28" y="425"/>
                  <a:pt x="42" y="360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1" y="234"/>
                </a:moveTo>
                <a:cubicBezTo>
                  <a:pt x="131" y="190"/>
                  <a:pt x="187" y="140"/>
                  <a:pt x="236" y="93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358" y="37"/>
                </a:moveTo>
                <a:cubicBezTo>
                  <a:pt x="417" y="30"/>
                  <a:pt x="492" y="19"/>
                  <a:pt x="560" y="15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687" y="59"/>
                </a:moveTo>
                <a:cubicBezTo>
                  <a:pt x="739" y="87"/>
                  <a:pt x="806" y="122"/>
                  <a:pt x="856" y="168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753350" y="1800225"/>
            <a:ext cx="2019300" cy="20193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925" y="284"/>
                </a:moveTo>
                <a:cubicBezTo>
                  <a:pt x="953" y="335"/>
                  <a:pt x="979" y="407"/>
                  <a:pt x="980" y="475"/>
                </a:cubicBezTo>
              </a:path>
            </a:pathLst>
          </a:custGeom>
          <a:noFill/>
          <a:ln w="3429" cap="rnd">
            <a:solidFill>
              <a:srgbClr val="BEB0C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889653" y="1936528"/>
            <a:ext cx="1746694" cy="1746694"/>
          </a:xfrm>
          <a:prstGeom prst="ellipse">
            <a:avLst/>
          </a:prstGeom>
          <a:gradFill rotWithShape="1">
            <a:gsLst>
              <a:gs pos="0">
                <a:srgbClr val="F0B2B6"/>
              </a:gs>
              <a:gs pos="50000">
                <a:srgbClr val="E8A1A7"/>
              </a:gs>
              <a:gs pos="100000">
                <a:srgbClr val="D98D96"/>
              </a:gs>
            </a:gsLst>
            <a:lin ang="5400000" scaled="1"/>
          </a:gradFill>
          <a:ln w="6191" cap="rnd">
            <a:solidFill>
              <a:srgbClr val="C58891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 rot="5550000">
            <a:off x="9307529" y="2794700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 rot="5550000">
            <a:off x="9398397" y="2824989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 rot="6450000">
            <a:off x="9362163" y="3003281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 rot="6450000">
            <a:off x="9442935" y="3033571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 rot="7350000">
            <a:off x="9195946" y="3148595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 rot="7350000">
            <a:off x="9286814" y="3178885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 rot="8250000">
            <a:off x="9140323" y="3351501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 rot="8250000">
            <a:off x="9221095" y="3381790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 rot="9150000">
            <a:off x="8922365" y="3399286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 rot="9150000">
            <a:off x="9013233" y="3429576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 rot="10050000">
            <a:off x="8774093" y="3542148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 rot="10050000">
            <a:off x="8854865" y="3572437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 rot="10950000">
            <a:off x="8560091" y="3479600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 rot="10950000">
            <a:off x="8650959" y="3509890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 rot="11850000">
            <a:off x="8361606" y="3524138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 rot="11850000">
            <a:off x="8442378" y="3554428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 rot="12750000">
            <a:off x="8206195" y="3368018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 rot="12750000">
            <a:off x="8297064" y="3398307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 rot="13650000">
            <a:off x="8013386" y="3302298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 rot="13650000">
            <a:off x="8094158" y="3332587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 rot="14550000">
            <a:off x="7955504" y="3094436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 rot="14550000">
            <a:off x="8046373" y="3124726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 rot="15450000">
            <a:off x="7822739" y="2936068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 rot="15450000">
            <a:off x="7903511" y="2966358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 rot="16350000">
            <a:off x="7875190" y="2732162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 rot="16350000">
            <a:off x="7966059" y="2762452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 rot="17250000">
            <a:off x="7840749" y="2523581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 rot="17250000">
            <a:off x="7921521" y="2553871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 rot="18150000">
            <a:off x="7986773" y="2378267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 rot="18150000">
            <a:off x="8077642" y="2408557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 rot="19050000">
            <a:off x="8062589" y="2175361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 rot="19050000">
            <a:off x="8143361" y="2205651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 rot="19950000">
            <a:off x="8260354" y="2127576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 rot="19950000">
            <a:off x="8351223" y="2157866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 rot="20850000">
            <a:off x="8428819" y="1984714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 rot="20850000">
            <a:off x="8509591" y="2015004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 rot="150000">
            <a:off x="8622628" y="2047262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 rot="150000">
            <a:off x="8713497" y="2077551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 rot="1050000">
            <a:off x="8841306" y="2002724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 rot="1050000">
            <a:off x="8922078" y="2033014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 rot="1950000">
            <a:off x="8976524" y="2158845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 rot="1950000">
            <a:off x="9067392" y="2189134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 rot="2850000">
            <a:off x="9189526" y="2224564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F3C1C3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 rot="2850000">
            <a:off x="9270298" y="2254854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 rot="3750000">
            <a:off x="9227215" y="2432426"/>
            <a:ext cx="343281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 rot="3750000">
            <a:off x="9318083" y="2462715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 rot="4650000">
            <a:off x="9380173" y="2590794"/>
            <a:ext cx="323088" cy="9288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500"/>
                </a:moveTo>
                <a:cubicBezTo>
                  <a:pt x="250" y="-45"/>
                  <a:pt x="750" y="-45"/>
                  <a:pt x="1000" y="500"/>
                </a:cubicBezTo>
                <a:cubicBezTo>
                  <a:pt x="750" y="1045"/>
                  <a:pt x="250" y="1045"/>
                  <a:pt x="0" y="500"/>
                </a:cubicBezTo>
                <a:close/>
              </a:path>
            </a:pathLst>
          </a:custGeom>
          <a:solidFill>
            <a:srgbClr val="EEB5B8"/>
          </a:solidFill>
          <a:ln w="3429" cap="rnd">
            <a:solidFill>
              <a:srgbClr val="D8919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 rot="4650000">
            <a:off x="9460945" y="2621083"/>
            <a:ext cx="161544" cy="32309"/>
          </a:xfrm>
          <a:prstGeom prst="ellipse">
            <a:avLst/>
          </a:prstGeom>
          <a:solidFill>
            <a:srgbClr val="C97884"/>
          </a:solidFill>
          <a:ln w="2286" cap="rnd">
            <a:solidFill>
              <a:srgbClr val="B96B7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8194567" y="2241442"/>
            <a:ext cx="1136866" cy="1136866"/>
          </a:xfrm>
          <a:prstGeom prst="ellipse">
            <a:avLst/>
          </a:prstGeom>
          <a:solidFill>
            <a:srgbClr val="F2C3C7"/>
          </a:solidFill>
          <a:ln w="7143" cap="rnd">
            <a:solidFill>
              <a:srgbClr val="CC879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8245050" y="2291925"/>
            <a:ext cx="1035901" cy="1035901"/>
          </a:xfrm>
          <a:prstGeom prst="ellipse">
            <a:avLst/>
          </a:prstGeom>
          <a:gradFill rotWithShape="1">
            <a:gsLst>
              <a:gs pos="0">
                <a:srgbClr val="D9EBF2"/>
              </a:gs>
              <a:gs pos="100000">
                <a:srgbClr val="BFD9E6"/>
              </a:gs>
            </a:gsLst>
            <a:lin ang="5400000" scaled="1"/>
          </a:gradFill>
          <a:ln w="7143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8362169" y="2409044"/>
            <a:ext cx="801662" cy="801662"/>
          </a:xfrm>
          <a:prstGeom prst="ellipse">
            <a:avLst/>
          </a:prstGeom>
          <a:gradFill rotWithShape="1">
            <a:gsLst>
              <a:gs pos="0">
                <a:srgbClr val="FFF6F1"/>
              </a:gs>
              <a:gs pos="55000">
                <a:srgbClr val="FBE6DE"/>
              </a:gs>
              <a:gs pos="100000">
                <a:srgbClr val="F3D5CF"/>
              </a:gs>
            </a:gsLst>
            <a:lin ang="5400000" scaled="1"/>
          </a:gradFill>
          <a:ln w="6191" cap="rnd">
            <a:solidFill>
              <a:srgbClr val="719FB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 rot="5940000">
            <a:off x="9085985" y="2828733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 rot="5940000">
            <a:off x="9159690" y="2864071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 rot="8100000">
            <a:off x="8957089" y="3081707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 rot="8100000">
            <a:off x="9030793" y="3117044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 rot="10260000">
            <a:off x="8704115" y="3210603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 rot="10260000">
            <a:off x="8777819" y="3245941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 rot="12420000">
            <a:off x="8423691" y="3166189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 rot="12420000">
            <a:off x="8497396" y="3201526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 rot="14580000">
            <a:off x="8222930" y="2965427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 rot="14580000">
            <a:off x="8296635" y="3000765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 rot="16740000">
            <a:off x="8178515" y="2685004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 rot="16740000">
            <a:off x="8252220" y="2720342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 rot="18900000">
            <a:off x="8307412" y="2432030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 rot="18900000">
            <a:off x="8381116" y="2467368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 rot="21060000">
            <a:off x="8560386" y="2303133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 rot="21060000">
            <a:off x="8634090" y="2338471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 rot="1620000">
            <a:off x="8840809" y="2347548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 rot="1620000">
            <a:off x="8914514" y="2382886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 rot="3780000">
            <a:off x="9041570" y="2548309"/>
            <a:ext cx="261499" cy="106013"/>
          </a:xfrm>
          <a:prstGeom prst="ellipse">
            <a:avLst/>
          </a:prstGeom>
          <a:solidFill>
            <a:srgbClr val="D3E7F1"/>
          </a:solidFill>
          <a:ln w="5238" cap="rnd">
            <a:solidFill>
              <a:srgbClr val="7DACC6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 rot="3780000">
            <a:off x="9115275" y="2583647"/>
            <a:ext cx="114090" cy="35338"/>
          </a:xfrm>
          <a:prstGeom prst="ellipse">
            <a:avLst/>
          </a:prstGeom>
          <a:solidFill>
            <a:srgbClr val="769CBC"/>
          </a:solidFill>
          <a:ln w="3048" cap="rnd">
            <a:solidFill>
              <a:srgbClr val="587FA3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Anatomic lung–arteriole leader"/>
          <p:cNvSpPr/>
          <p:nvPr/>
        </p:nvSpPr>
        <p:spPr>
          <a:xfrm>
            <a:off x="7446645" y="2019300"/>
            <a:ext cx="668655" cy="9525"/>
          </a:xfrm>
          <a:custGeom>
            <a:avLst/>
            <a:gdLst/>
            <a:ahLst/>
            <a:cxnLst/>
            <a:rect l="0" t="0" r="r" b="b"/>
            <a:pathLst>
              <a:path w="668655" h="9525">
                <a:moveTo>
                  <a:pt x="0" y="0"/>
                </a:moveTo>
                <a:lnTo>
                  <a:pt x="668655" y="9525"/>
                </a:lnTo>
              </a:path>
            </a:pathLst>
          </a:custGeom>
          <a:noFill/>
          <a:ln w="9048" cap="rnd">
            <a:solidFill>
              <a:srgbClr val="8A97A2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Pulmonary branch locator"/>
          <p:cNvSpPr/>
          <p:nvPr/>
        </p:nvSpPr>
        <p:spPr>
          <a:xfrm>
            <a:off x="7429500" y="2002155"/>
            <a:ext cx="34290" cy="34290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vascular_remodeling"/>
          <p:cNvSpPr txBox="1"/>
          <p:nvPr/>
        </p:nvSpPr>
        <p:spPr>
          <a:xfrm>
            <a:off x="7086600" y="4057650"/>
            <a:ext cx="3381375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50" b="1" i="0">
                <a:solidFill>
                  <a:srgbClr val="30485F"/>
                </a:solidFill>
                <a:latin typeface="Times New Roman"/>
              </a:rPr>
              <a:t>Vascular remodeling</a:t>
            </a:r>
          </a:p>
        </p:txBody>
      </p:sp>
      <p:sp>
        <p:nvSpPr>
          <p:cNvPr id="238" name="pvr_increase"/>
          <p:cNvSpPr txBox="1"/>
          <p:nvPr/>
        </p:nvSpPr>
        <p:spPr>
          <a:xfrm>
            <a:off x="7086600" y="4400550"/>
            <a:ext cx="33813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800" b="1" i="0">
                <a:solidFill>
                  <a:srgbClr val="30485F"/>
                </a:solidFill>
                <a:latin typeface="Times New Roman"/>
              </a:rPr>
              <a:t>PVR ↑</a:t>
            </a:r>
          </a:p>
        </p:txBody>
      </p:sp>
      <p:sp>
        <p:nvSpPr>
          <p:cNvPr id="239" name="proposed_barrier_mamp"/>
          <p:cNvSpPr/>
          <p:nvPr/>
        </p:nvSpPr>
        <p:spPr>
          <a:xfrm>
            <a:off x="4838700" y="2400300"/>
            <a:ext cx="2971800" cy="152400"/>
          </a:xfrm>
          <a:custGeom>
            <a:avLst/>
            <a:gdLst/>
            <a:ahLst/>
            <a:cxnLst/>
            <a:rect l="0" t="0" r="r" b="b"/>
            <a:pathLst>
              <a:path w="2971800" h="152400">
                <a:moveTo>
                  <a:pt x="0" y="0"/>
                </a:moveTo>
                <a:cubicBezTo>
                  <a:pt x="1038225" y="0"/>
                  <a:pt x="2000250" y="152400"/>
                  <a:pt x="2971800" y="152400"/>
                </a:cubicBezTo>
              </a:path>
            </a:pathLst>
          </a:custGeom>
          <a:noFill/>
          <a:ln w="20955" cap="rnd">
            <a:solidFill>
              <a:srgbClr val="287A7D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proposed_barrier_mamp head"/>
          <p:cNvSpPr/>
          <p:nvPr/>
        </p:nvSpPr>
        <p:spPr>
          <a:xfrm>
            <a:off x="7720012" y="2514600"/>
            <a:ext cx="90488" cy="76200"/>
          </a:xfrm>
          <a:custGeom>
            <a:avLst/>
            <a:gdLst/>
            <a:ahLst/>
            <a:cxnLst/>
            <a:rect l="0" t="0" r="r" b="b"/>
            <a:pathLst>
              <a:path w="90488" h="76200">
                <a:moveTo>
                  <a:pt x="90488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287A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proposed_metabolite"/>
          <p:cNvSpPr/>
          <p:nvPr/>
        </p:nvSpPr>
        <p:spPr>
          <a:xfrm>
            <a:off x="4838700" y="3295650"/>
            <a:ext cx="3048000" cy="266700"/>
          </a:xfrm>
          <a:custGeom>
            <a:avLst/>
            <a:gdLst/>
            <a:ahLst/>
            <a:cxnLst/>
            <a:rect l="0" t="0" r="r" b="b"/>
            <a:pathLst>
              <a:path w="3048000" h="266700">
                <a:moveTo>
                  <a:pt x="0" y="180975"/>
                </a:moveTo>
                <a:cubicBezTo>
                  <a:pt x="1085850" y="266700"/>
                  <a:pt x="2114550" y="228600"/>
                  <a:pt x="3048000" y="0"/>
                </a:cubicBezTo>
              </a:path>
            </a:pathLst>
          </a:custGeom>
          <a:noFill/>
          <a:ln w="20955" cap="rnd">
            <a:solidFill>
              <a:srgbClr val="287A7D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proposed_metabolite head"/>
          <p:cNvSpPr/>
          <p:nvPr/>
        </p:nvSpPr>
        <p:spPr>
          <a:xfrm>
            <a:off x="7789747" y="3280168"/>
            <a:ext cx="96953" cy="74013"/>
          </a:xfrm>
          <a:custGeom>
            <a:avLst/>
            <a:gdLst/>
            <a:ahLst/>
            <a:cxnLst/>
            <a:rect l="0" t="0" r="r" b="b"/>
            <a:pathLst>
              <a:path w="96953" h="74013">
                <a:moveTo>
                  <a:pt x="96953" y="15482"/>
                </a:moveTo>
                <a:lnTo>
                  <a:pt x="18126" y="74013"/>
                </a:lnTo>
                <a:lnTo>
                  <a:pt x="0" y="0"/>
                </a:lnTo>
                <a:close/>
              </a:path>
            </a:pathLst>
          </a:custGeom>
          <a:solidFill>
            <a:srgbClr val="287A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aortic arch first branch"/>
          <p:cNvSpPr/>
          <p:nvPr/>
        </p:nvSpPr>
        <p:spPr>
          <a:xfrm>
            <a:off x="11769148" y="1736089"/>
            <a:ext cx="202045" cy="299926"/>
          </a:xfrm>
          <a:custGeom>
            <a:avLst/>
            <a:gdLst/>
            <a:ahLst/>
            <a:cxnLst/>
            <a:rect l="0" t="0" r="r" b="b"/>
            <a:pathLst>
              <a:path w="202045" h="299926">
                <a:moveTo>
                  <a:pt x="51955" y="299926"/>
                </a:moveTo>
                <a:lnTo>
                  <a:pt x="0" y="28839"/>
                </a:lnTo>
                <a:lnTo>
                  <a:pt x="132773" y="0"/>
                </a:lnTo>
                <a:lnTo>
                  <a:pt x="202045" y="213409"/>
                </a:lnTo>
                <a:close/>
              </a:path>
            </a:pathLst>
          </a:custGeom>
          <a:gradFill rotWithShape="1">
            <a:gsLst>
              <a:gs pos="0">
                <a:srgbClr val="EEADB1"/>
              </a:gs>
              <a:gs pos="100000">
                <a:srgbClr val="D97E88"/>
              </a:gs>
            </a:gsLst>
            <a:lin ang="2100000" scaled="1"/>
          </a:gradFill>
          <a:ln w="6667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aortic arch second branch"/>
          <p:cNvSpPr/>
          <p:nvPr/>
        </p:nvSpPr>
        <p:spPr>
          <a:xfrm>
            <a:off x="11971193" y="1718785"/>
            <a:ext cx="155864" cy="224944"/>
          </a:xfrm>
          <a:custGeom>
            <a:avLst/>
            <a:gdLst/>
            <a:ahLst/>
            <a:cxnLst/>
            <a:rect l="0" t="0" r="r" b="b"/>
            <a:pathLst>
              <a:path w="155864" h="224944">
                <a:moveTo>
                  <a:pt x="0" y="219177"/>
                </a:moveTo>
                <a:lnTo>
                  <a:pt x="28864" y="0"/>
                </a:lnTo>
                <a:lnTo>
                  <a:pt x="155864" y="5768"/>
                </a:lnTo>
                <a:lnTo>
                  <a:pt x="127000" y="224944"/>
                </a:lnTo>
                <a:close/>
              </a:path>
            </a:pathLst>
          </a:custGeom>
          <a:gradFill rotWithShape="1">
            <a:gsLst>
              <a:gs pos="0">
                <a:srgbClr val="F0B2B5"/>
              </a:gs>
              <a:gs pos="100000">
                <a:srgbClr val="DB818B"/>
              </a:gs>
            </a:gsLst>
            <a:lin ang="2100000" scaled="1"/>
          </a:gradFill>
          <a:ln w="6667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aortic arch third branch"/>
          <p:cNvSpPr/>
          <p:nvPr/>
        </p:nvSpPr>
        <p:spPr>
          <a:xfrm>
            <a:off x="12138602" y="1741856"/>
            <a:ext cx="202045" cy="328765"/>
          </a:xfrm>
          <a:custGeom>
            <a:avLst/>
            <a:gdLst/>
            <a:ahLst/>
            <a:cxnLst/>
            <a:rect l="0" t="0" r="r" b="b"/>
            <a:pathLst>
              <a:path w="202045" h="328765">
                <a:moveTo>
                  <a:pt x="0" y="224944"/>
                </a:moveTo>
                <a:lnTo>
                  <a:pt x="75045" y="0"/>
                </a:lnTo>
                <a:lnTo>
                  <a:pt x="202045" y="23071"/>
                </a:lnTo>
                <a:lnTo>
                  <a:pt x="115455" y="328765"/>
                </a:lnTo>
                <a:close/>
              </a:path>
            </a:pathLst>
          </a:custGeom>
          <a:gradFill rotWithShape="1">
            <a:gsLst>
              <a:gs pos="0">
                <a:srgbClr val="F0B2B5"/>
              </a:gs>
              <a:gs pos="100000">
                <a:srgbClr val="DB818B"/>
              </a:gs>
            </a:gsLst>
            <a:lin ang="2100000" scaled="1"/>
          </a:gradFill>
          <a:ln w="6667" cap="rnd">
            <a:solidFill>
              <a:srgbClr val="B76B7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ascending aorta and arch"/>
          <p:cNvSpPr/>
          <p:nvPr/>
        </p:nvSpPr>
        <p:spPr>
          <a:xfrm>
            <a:off x="11578648" y="1793767"/>
            <a:ext cx="825500" cy="847867"/>
          </a:xfrm>
          <a:custGeom>
            <a:avLst/>
            <a:gdLst/>
            <a:ahLst/>
            <a:cxnLst/>
            <a:rect l="0" t="0" r="r" b="b"/>
            <a:pathLst>
              <a:path w="825500" h="847867">
                <a:moveTo>
                  <a:pt x="57727" y="847867"/>
                </a:moveTo>
                <a:cubicBezTo>
                  <a:pt x="0" y="680601"/>
                  <a:pt x="5773" y="444121"/>
                  <a:pt x="109682" y="265319"/>
                </a:cubicBezTo>
                <a:cubicBezTo>
                  <a:pt x="225136" y="57678"/>
                  <a:pt x="444500" y="0"/>
                  <a:pt x="611909" y="98053"/>
                </a:cubicBezTo>
                <a:cubicBezTo>
                  <a:pt x="762000" y="173034"/>
                  <a:pt x="825500" y="328765"/>
                  <a:pt x="790864" y="496031"/>
                </a:cubicBezTo>
                <a:lnTo>
                  <a:pt x="623455" y="640226"/>
                </a:lnTo>
                <a:cubicBezTo>
                  <a:pt x="652318" y="513335"/>
                  <a:pt x="617682" y="380675"/>
                  <a:pt x="525318" y="340300"/>
                </a:cubicBezTo>
                <a:cubicBezTo>
                  <a:pt x="415636" y="294158"/>
                  <a:pt x="305955" y="374907"/>
                  <a:pt x="271318" y="478728"/>
                </a:cubicBezTo>
                <a:cubicBezTo>
                  <a:pt x="236682" y="605619"/>
                  <a:pt x="248227" y="744047"/>
                  <a:pt x="190500" y="847867"/>
                </a:cubicBezTo>
                <a:close/>
              </a:path>
            </a:pathLst>
          </a:custGeom>
          <a:gradFill rotWithShape="1">
            <a:gsLst>
              <a:gs pos="0">
                <a:srgbClr val="F5B0B1"/>
              </a:gs>
              <a:gs pos="48000">
                <a:srgbClr val="E7969C"/>
              </a:gs>
              <a:gs pos="100000">
                <a:srgbClr val="D77D88"/>
              </a:gs>
            </a:gsLst>
            <a:lin ang="2100000" scaled="1"/>
          </a:gradFill>
          <a:ln w="8096" cap="rnd">
            <a:solidFill>
              <a:srgbClr val="BB707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aortic arch highlight"/>
          <p:cNvSpPr/>
          <p:nvPr/>
        </p:nvSpPr>
        <p:spPr>
          <a:xfrm>
            <a:off x="11630602" y="1874516"/>
            <a:ext cx="675409" cy="582548"/>
          </a:xfrm>
          <a:custGeom>
            <a:avLst/>
            <a:gdLst/>
            <a:ahLst/>
            <a:cxnLst/>
            <a:rect l="0" t="0" r="r" b="b"/>
            <a:pathLst>
              <a:path w="675409" h="582548">
                <a:moveTo>
                  <a:pt x="28864" y="582548"/>
                </a:moveTo>
                <a:cubicBezTo>
                  <a:pt x="0" y="369139"/>
                  <a:pt x="92364" y="138427"/>
                  <a:pt x="294409" y="57678"/>
                </a:cubicBezTo>
                <a:cubicBezTo>
                  <a:pt x="450273" y="0"/>
                  <a:pt x="617682" y="86517"/>
                  <a:pt x="675409" y="230712"/>
                </a:cubicBezTo>
              </a:path>
            </a:pathLst>
          </a:custGeom>
          <a:noFill/>
          <a:ln w="15240" cap="rnd">
            <a:solidFill>
              <a:srgbClr val="F7C8C5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right pulmonary artery"/>
          <p:cNvSpPr/>
          <p:nvPr/>
        </p:nvSpPr>
        <p:spPr>
          <a:xfrm>
            <a:off x="11197648" y="2099460"/>
            <a:ext cx="248227" cy="178802"/>
          </a:xfrm>
          <a:custGeom>
            <a:avLst/>
            <a:gdLst/>
            <a:ahLst/>
            <a:cxnLst/>
            <a:rect l="0" t="0" r="r" b="b"/>
            <a:pathLst>
              <a:path w="248227" h="178802">
                <a:moveTo>
                  <a:pt x="69273" y="0"/>
                </a:moveTo>
                <a:lnTo>
                  <a:pt x="242455" y="17303"/>
                </a:lnTo>
                <a:lnTo>
                  <a:pt x="248227" y="178802"/>
                </a:lnTo>
                <a:lnTo>
                  <a:pt x="34636" y="167266"/>
                </a:lnTo>
                <a:cubicBezTo>
                  <a:pt x="0" y="138427"/>
                  <a:pt x="5773" y="34607"/>
                  <a:pt x="34636" y="0"/>
                </a:cubicBezTo>
                <a:close/>
              </a:path>
            </a:pathLst>
          </a:custGeom>
          <a:gradFill rotWithShape="1">
            <a:gsLst>
              <a:gs pos="0">
                <a:srgbClr val="B1BFDF"/>
              </a:gs>
              <a:gs pos="100000">
                <a:srgbClr val="778FBA"/>
              </a:gs>
            </a:gsLst>
            <a:lin ang="2100000" scaled="1"/>
          </a:gradFill>
          <a:ln w="7143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vessel opening"/>
          <p:cNvSpPr/>
          <p:nvPr/>
        </p:nvSpPr>
        <p:spPr>
          <a:xfrm>
            <a:off x="11197648" y="2099460"/>
            <a:ext cx="69273" cy="173034"/>
          </a:xfrm>
          <a:prstGeom prst="ellipse">
            <a:avLst/>
          </a:prstGeom>
          <a:solidFill>
            <a:srgbClr val="AFC0DD"/>
          </a:solidFill>
          <a:ln w="6191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right pulmonary vein"/>
          <p:cNvSpPr/>
          <p:nvPr/>
        </p:nvSpPr>
        <p:spPr>
          <a:xfrm>
            <a:off x="11197648" y="2387850"/>
            <a:ext cx="271318" cy="161499"/>
          </a:xfrm>
          <a:custGeom>
            <a:avLst/>
            <a:gdLst/>
            <a:ahLst/>
            <a:cxnLst/>
            <a:rect l="0" t="0" r="r" b="b"/>
            <a:pathLst>
              <a:path w="271318" h="161499">
                <a:moveTo>
                  <a:pt x="46182" y="0"/>
                </a:moveTo>
                <a:lnTo>
                  <a:pt x="271318" y="46142"/>
                </a:lnTo>
                <a:lnTo>
                  <a:pt x="242455" y="161499"/>
                </a:lnTo>
                <a:lnTo>
                  <a:pt x="23091" y="126892"/>
                </a:lnTo>
                <a:cubicBezTo>
                  <a:pt x="0" y="103820"/>
                  <a:pt x="5773" y="23071"/>
                  <a:pt x="46182" y="0"/>
                </a:cubicBezTo>
                <a:close/>
              </a:path>
            </a:pathLst>
          </a:custGeom>
          <a:gradFill rotWithShape="1">
            <a:gsLst>
              <a:gs pos="0">
                <a:srgbClr val="F1BDC0"/>
              </a:gs>
              <a:gs pos="100000">
                <a:srgbClr val="DF8D96"/>
              </a:gs>
            </a:gsLst>
            <a:lin ang="2100000" scaled="1"/>
          </a:gradFill>
          <a:ln w="6667" cap="rnd">
            <a:solidFill>
              <a:srgbClr val="BD747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left superior pulmonary vein"/>
          <p:cNvSpPr/>
          <p:nvPr/>
        </p:nvSpPr>
        <p:spPr>
          <a:xfrm>
            <a:off x="12571557" y="2359011"/>
            <a:ext cx="230909" cy="178802"/>
          </a:xfrm>
          <a:custGeom>
            <a:avLst/>
            <a:gdLst/>
            <a:ahLst/>
            <a:cxnLst/>
            <a:rect l="0" t="0" r="r" b="b"/>
            <a:pathLst>
              <a:path w="230909" h="178802">
                <a:moveTo>
                  <a:pt x="0" y="34607"/>
                </a:moveTo>
                <a:lnTo>
                  <a:pt x="173182" y="0"/>
                </a:lnTo>
                <a:cubicBezTo>
                  <a:pt x="219364" y="11536"/>
                  <a:pt x="230909" y="103820"/>
                  <a:pt x="196273" y="132659"/>
                </a:cubicBezTo>
                <a:lnTo>
                  <a:pt x="40409" y="178802"/>
                </a:lnTo>
                <a:close/>
              </a:path>
            </a:pathLst>
          </a:custGeom>
          <a:gradFill rotWithShape="1">
            <a:gsLst>
              <a:gs pos="0">
                <a:srgbClr val="F4BCC0"/>
              </a:gs>
              <a:gs pos="100000">
                <a:srgbClr val="DB858E"/>
              </a:gs>
            </a:gsLst>
            <a:lin ang="2100000" scaled="1"/>
          </a:gradFill>
          <a:ln w="6667" cap="rnd">
            <a:solidFill>
              <a:srgbClr val="BC727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left inferior pulmonary vein"/>
          <p:cNvSpPr/>
          <p:nvPr/>
        </p:nvSpPr>
        <p:spPr>
          <a:xfrm>
            <a:off x="12617739" y="2572420"/>
            <a:ext cx="236682" cy="138427"/>
          </a:xfrm>
          <a:custGeom>
            <a:avLst/>
            <a:gdLst/>
            <a:ahLst/>
            <a:cxnLst/>
            <a:rect l="0" t="0" r="r" b="b"/>
            <a:pathLst>
              <a:path w="236682" h="138427">
                <a:moveTo>
                  <a:pt x="0" y="5768"/>
                </a:moveTo>
                <a:lnTo>
                  <a:pt x="202045" y="0"/>
                </a:lnTo>
                <a:cubicBezTo>
                  <a:pt x="236682" y="28839"/>
                  <a:pt x="236682" y="109588"/>
                  <a:pt x="202045" y="132659"/>
                </a:cubicBezTo>
                <a:lnTo>
                  <a:pt x="17318" y="138427"/>
                </a:lnTo>
                <a:close/>
              </a:path>
            </a:pathLst>
          </a:custGeom>
          <a:gradFill rotWithShape="1">
            <a:gsLst>
              <a:gs pos="0">
                <a:srgbClr val="F4BCC0"/>
              </a:gs>
              <a:gs pos="100000">
                <a:srgbClr val="DB858E"/>
              </a:gs>
            </a:gsLst>
            <a:lin ang="2100000" scaled="1"/>
          </a:gradFill>
          <a:ln w="6667" cap="rnd">
            <a:solidFill>
              <a:srgbClr val="BC727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superior vena cava"/>
          <p:cNvSpPr/>
          <p:nvPr/>
        </p:nvSpPr>
        <p:spPr>
          <a:xfrm>
            <a:off x="11336193" y="1816838"/>
            <a:ext cx="392545" cy="934384"/>
          </a:xfrm>
          <a:custGeom>
            <a:avLst/>
            <a:gdLst/>
            <a:ahLst/>
            <a:cxnLst/>
            <a:rect l="0" t="0" r="r" b="b"/>
            <a:pathLst>
              <a:path w="392545" h="934384">
                <a:moveTo>
                  <a:pt x="98136" y="17303"/>
                </a:moveTo>
                <a:cubicBezTo>
                  <a:pt x="98136" y="0"/>
                  <a:pt x="282864" y="0"/>
                  <a:pt x="305955" y="17303"/>
                </a:cubicBezTo>
                <a:lnTo>
                  <a:pt x="305955" y="455657"/>
                </a:lnTo>
                <a:cubicBezTo>
                  <a:pt x="311727" y="617155"/>
                  <a:pt x="357909" y="703672"/>
                  <a:pt x="392545" y="807493"/>
                </a:cubicBezTo>
                <a:lnTo>
                  <a:pt x="196273" y="934384"/>
                </a:lnTo>
                <a:lnTo>
                  <a:pt x="0" y="767118"/>
                </a:lnTo>
                <a:cubicBezTo>
                  <a:pt x="63500" y="640226"/>
                  <a:pt x="86591" y="484496"/>
                  <a:pt x="92364" y="328765"/>
                </a:cubicBezTo>
                <a:close/>
              </a:path>
            </a:pathLst>
          </a:custGeom>
          <a:gradFill rotWithShape="1">
            <a:gsLst>
              <a:gs pos="0">
                <a:srgbClr val="B6C5E1"/>
              </a:gs>
              <a:gs pos="55000">
                <a:srgbClr val="94ABD1"/>
              </a:gs>
              <a:gs pos="100000">
                <a:srgbClr val="728EBB"/>
              </a:gs>
            </a:gsLst>
            <a:lin ang="2100000" scaled="1"/>
          </a:gradFill>
          <a:ln w="7620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vessel opening"/>
          <p:cNvSpPr/>
          <p:nvPr/>
        </p:nvSpPr>
        <p:spPr>
          <a:xfrm>
            <a:off x="11434330" y="1799534"/>
            <a:ext cx="207818" cy="69214"/>
          </a:xfrm>
          <a:prstGeom prst="ellipse">
            <a:avLst/>
          </a:prstGeom>
          <a:solidFill>
            <a:srgbClr val="A5B9DA"/>
          </a:solidFill>
          <a:ln w="6667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vessel opening"/>
          <p:cNvSpPr/>
          <p:nvPr/>
        </p:nvSpPr>
        <p:spPr>
          <a:xfrm>
            <a:off x="11457420" y="1811070"/>
            <a:ext cx="167409" cy="40375"/>
          </a:xfrm>
          <a:prstGeom prst="ellipse">
            <a:avLst/>
          </a:prstGeom>
          <a:solidFill>
            <a:srgbClr val="6E88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vena cava highlight"/>
          <p:cNvSpPr/>
          <p:nvPr/>
        </p:nvSpPr>
        <p:spPr>
          <a:xfrm>
            <a:off x="11405466" y="1920658"/>
            <a:ext cx="75045" cy="599852"/>
          </a:xfrm>
          <a:custGeom>
            <a:avLst/>
            <a:gdLst/>
            <a:ahLst/>
            <a:cxnLst/>
            <a:rect l="0" t="0" r="r" b="b"/>
            <a:pathLst>
              <a:path w="75045" h="599852">
                <a:moveTo>
                  <a:pt x="75045" y="0"/>
                </a:moveTo>
                <a:lnTo>
                  <a:pt x="63500" y="259551"/>
                </a:lnTo>
                <a:cubicBezTo>
                  <a:pt x="57727" y="421050"/>
                  <a:pt x="34636" y="513335"/>
                  <a:pt x="0" y="599852"/>
                </a:cubicBezTo>
              </a:path>
            </a:pathLst>
          </a:custGeom>
          <a:noFill/>
          <a:ln w="15240" cap="rnd">
            <a:solidFill>
              <a:srgbClr val="CDD8E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inferior vena cava"/>
          <p:cNvSpPr/>
          <p:nvPr/>
        </p:nvSpPr>
        <p:spPr>
          <a:xfrm>
            <a:off x="11295784" y="3247253"/>
            <a:ext cx="248227" cy="784421"/>
          </a:xfrm>
          <a:custGeom>
            <a:avLst/>
            <a:gdLst/>
            <a:ahLst/>
            <a:cxnLst/>
            <a:rect l="0" t="0" r="r" b="b"/>
            <a:pathLst>
              <a:path w="248227" h="784421">
                <a:moveTo>
                  <a:pt x="28864" y="0"/>
                </a:moveTo>
                <a:cubicBezTo>
                  <a:pt x="11545" y="213409"/>
                  <a:pt x="0" y="478728"/>
                  <a:pt x="17318" y="767118"/>
                </a:cubicBezTo>
                <a:lnTo>
                  <a:pt x="230909" y="784421"/>
                </a:lnTo>
                <a:cubicBezTo>
                  <a:pt x="230909" y="536406"/>
                  <a:pt x="213591" y="322997"/>
                  <a:pt x="248227" y="103820"/>
                </a:cubicBezTo>
                <a:close/>
              </a:path>
            </a:pathLst>
          </a:custGeom>
          <a:gradFill rotWithShape="1">
            <a:gsLst>
              <a:gs pos="0">
                <a:srgbClr val="AEC0DF"/>
              </a:gs>
              <a:gs pos="60000">
                <a:srgbClr val="8BA2CB"/>
              </a:gs>
              <a:gs pos="100000">
                <a:srgbClr val="6C88B6"/>
              </a:gs>
            </a:gsLst>
            <a:lin ang="2100000" scaled="1"/>
          </a:gradFill>
          <a:ln w="8096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vessel opening"/>
          <p:cNvSpPr/>
          <p:nvPr/>
        </p:nvSpPr>
        <p:spPr>
          <a:xfrm>
            <a:off x="11313102" y="3985532"/>
            <a:ext cx="213591" cy="69214"/>
          </a:xfrm>
          <a:prstGeom prst="ellipse">
            <a:avLst/>
          </a:prstGeom>
          <a:solidFill>
            <a:srgbClr val="7D97C3"/>
          </a:solidFill>
          <a:ln w="6191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heart myocardium outline"/>
          <p:cNvSpPr/>
          <p:nvPr/>
        </p:nvSpPr>
        <p:spPr>
          <a:xfrm>
            <a:off x="11134148" y="2359011"/>
            <a:ext cx="1881909" cy="1903375"/>
          </a:xfrm>
          <a:custGeom>
            <a:avLst/>
            <a:gdLst/>
            <a:ahLst/>
            <a:cxnLst/>
            <a:rect l="0" t="0" r="r" b="b"/>
            <a:pathLst>
              <a:path w="1881909" h="1903375">
                <a:moveTo>
                  <a:pt x="565727" y="201873"/>
                </a:moveTo>
                <a:cubicBezTo>
                  <a:pt x="415636" y="121124"/>
                  <a:pt x="271318" y="173034"/>
                  <a:pt x="173182" y="288390"/>
                </a:cubicBezTo>
                <a:cubicBezTo>
                  <a:pt x="46182" y="426817"/>
                  <a:pt x="0" y="588316"/>
                  <a:pt x="34636" y="755582"/>
                </a:cubicBezTo>
                <a:cubicBezTo>
                  <a:pt x="57727" y="865171"/>
                  <a:pt x="92364" y="928616"/>
                  <a:pt x="115455" y="1020901"/>
                </a:cubicBezTo>
                <a:cubicBezTo>
                  <a:pt x="167409" y="1251613"/>
                  <a:pt x="369455" y="1441951"/>
                  <a:pt x="623455" y="1597682"/>
                </a:cubicBezTo>
                <a:cubicBezTo>
                  <a:pt x="894773" y="1759180"/>
                  <a:pt x="1200727" y="1897607"/>
                  <a:pt x="1472045" y="1897607"/>
                </a:cubicBezTo>
                <a:cubicBezTo>
                  <a:pt x="1691409" y="1903375"/>
                  <a:pt x="1829955" y="1753412"/>
                  <a:pt x="1853045" y="1534236"/>
                </a:cubicBezTo>
                <a:cubicBezTo>
                  <a:pt x="1881909" y="1263149"/>
                  <a:pt x="1812636" y="940152"/>
                  <a:pt x="1679864" y="726743"/>
                </a:cubicBezTo>
                <a:cubicBezTo>
                  <a:pt x="1599045" y="599852"/>
                  <a:pt x="1552864" y="530638"/>
                  <a:pt x="1547091" y="397978"/>
                </a:cubicBezTo>
                <a:cubicBezTo>
                  <a:pt x="1541318" y="207641"/>
                  <a:pt x="1472045" y="69214"/>
                  <a:pt x="1321955" y="40375"/>
                </a:cubicBezTo>
                <a:cubicBezTo>
                  <a:pt x="1160318" y="0"/>
                  <a:pt x="1039091" y="109588"/>
                  <a:pt x="964045" y="224944"/>
                </a:cubicBezTo>
                <a:cubicBezTo>
                  <a:pt x="848591" y="190338"/>
                  <a:pt x="698500" y="184570"/>
                  <a:pt x="565727" y="201873"/>
                </a:cubicBezTo>
                <a:close/>
              </a:path>
            </a:pathLst>
          </a:custGeom>
          <a:gradFill rotWithShape="1">
            <a:gsLst>
              <a:gs pos="0">
                <a:srgbClr val="F9D2D0"/>
              </a:gs>
              <a:gs pos="52000">
                <a:srgbClr val="EFA6AE"/>
              </a:gs>
              <a:gs pos="100000">
                <a:srgbClr val="DC8D98"/>
              </a:gs>
            </a:gsLst>
            <a:lin ang="2100000" scaled="1"/>
          </a:gradFill>
          <a:ln w="9048" cap="rnd">
            <a:solidFill>
              <a:srgbClr val="BE767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left ventricular muscle wall"/>
          <p:cNvSpPr/>
          <p:nvPr/>
        </p:nvSpPr>
        <p:spPr>
          <a:xfrm>
            <a:off x="12000057" y="2837739"/>
            <a:ext cx="912091" cy="1297756"/>
          </a:xfrm>
          <a:custGeom>
            <a:avLst/>
            <a:gdLst/>
            <a:ahLst/>
            <a:cxnLst/>
            <a:rect l="0" t="0" r="r" b="b"/>
            <a:pathLst>
              <a:path w="912091" h="1297756">
                <a:moveTo>
                  <a:pt x="98136" y="0"/>
                </a:moveTo>
                <a:cubicBezTo>
                  <a:pt x="0" y="253783"/>
                  <a:pt x="69273" y="553709"/>
                  <a:pt x="213591" y="836332"/>
                </a:cubicBezTo>
                <a:cubicBezTo>
                  <a:pt x="334818" y="1072812"/>
                  <a:pt x="456045" y="1217007"/>
                  <a:pt x="606136" y="1297756"/>
                </a:cubicBezTo>
                <a:cubicBezTo>
                  <a:pt x="796636" y="1286220"/>
                  <a:pt x="906318" y="1136257"/>
                  <a:pt x="906318" y="940152"/>
                </a:cubicBezTo>
                <a:cubicBezTo>
                  <a:pt x="912091" y="669065"/>
                  <a:pt x="825500" y="369139"/>
                  <a:pt x="681182" y="167266"/>
                </a:cubicBezTo>
                <a:lnTo>
                  <a:pt x="629227" y="57678"/>
                </a:lnTo>
                <a:cubicBezTo>
                  <a:pt x="519545" y="80749"/>
                  <a:pt x="288636" y="34607"/>
                  <a:pt x="98136" y="0"/>
                </a:cubicBezTo>
                <a:close/>
              </a:path>
            </a:pathLst>
          </a:custGeom>
          <a:gradFill rotWithShape="1">
            <a:gsLst>
              <a:gs pos="0">
                <a:srgbClr val="FBE0D9"/>
              </a:gs>
              <a:gs pos="50000">
                <a:srgbClr val="F1B4B8"/>
              </a:gs>
              <a:gs pos="100000">
                <a:srgbClr val="E69BA6"/>
              </a:gs>
            </a:gsLst>
            <a:lin ang="21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right atrial cavity"/>
          <p:cNvSpPr/>
          <p:nvPr/>
        </p:nvSpPr>
        <p:spPr>
          <a:xfrm>
            <a:off x="11191875" y="2537813"/>
            <a:ext cx="571500" cy="645994"/>
          </a:xfrm>
          <a:custGeom>
            <a:avLst/>
            <a:gdLst/>
            <a:ahLst/>
            <a:cxnLst/>
            <a:rect l="0" t="0" r="r" b="b"/>
            <a:pathLst>
              <a:path w="571500" h="645994">
                <a:moveTo>
                  <a:pt x="456045" y="63446"/>
                </a:moveTo>
                <a:cubicBezTo>
                  <a:pt x="323273" y="0"/>
                  <a:pt x="202045" y="74981"/>
                  <a:pt x="109682" y="190338"/>
                </a:cubicBezTo>
                <a:cubicBezTo>
                  <a:pt x="17318" y="299926"/>
                  <a:pt x="0" y="455657"/>
                  <a:pt x="57727" y="565245"/>
                </a:cubicBezTo>
                <a:cubicBezTo>
                  <a:pt x="86591" y="617155"/>
                  <a:pt x="127000" y="645994"/>
                  <a:pt x="184727" y="645994"/>
                </a:cubicBezTo>
                <a:cubicBezTo>
                  <a:pt x="311727" y="599852"/>
                  <a:pt x="432955" y="513335"/>
                  <a:pt x="502227" y="386443"/>
                </a:cubicBezTo>
                <a:cubicBezTo>
                  <a:pt x="565727" y="276855"/>
                  <a:pt x="571500" y="161499"/>
                  <a:pt x="456045" y="63446"/>
                </a:cubicBezTo>
                <a:close/>
              </a:path>
            </a:pathLst>
          </a:custGeom>
          <a:gradFill rotWithShape="1">
            <a:gsLst>
              <a:gs pos="0">
                <a:srgbClr val="B2C1DD"/>
              </a:gs>
              <a:gs pos="50000">
                <a:srgbClr val="8BA3CD"/>
              </a:gs>
              <a:gs pos="100000">
                <a:srgbClr val="708BBA"/>
              </a:gs>
            </a:gsLst>
            <a:lin ang="2100000" scaled="1"/>
          </a:gradFill>
          <a:ln w="7143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right atrial rim highlight"/>
          <p:cNvSpPr/>
          <p:nvPr/>
        </p:nvSpPr>
        <p:spPr>
          <a:xfrm>
            <a:off x="11318875" y="2635866"/>
            <a:ext cx="230909" cy="155731"/>
          </a:xfrm>
          <a:custGeom>
            <a:avLst/>
            <a:gdLst/>
            <a:ahLst/>
            <a:cxnLst/>
            <a:rect l="0" t="0" r="r" b="b"/>
            <a:pathLst>
              <a:path w="230909" h="155731">
                <a:moveTo>
                  <a:pt x="0" y="155731"/>
                </a:moveTo>
                <a:cubicBezTo>
                  <a:pt x="40409" y="57678"/>
                  <a:pt x="138545" y="0"/>
                  <a:pt x="230909" y="0"/>
                </a:cubicBezTo>
              </a:path>
            </a:pathLst>
          </a:custGeom>
          <a:noFill/>
          <a:ln w="10477" cap="rnd">
            <a:solidFill>
              <a:srgbClr val="CAD6E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left atrial cavity"/>
          <p:cNvSpPr/>
          <p:nvPr/>
        </p:nvSpPr>
        <p:spPr>
          <a:xfrm>
            <a:off x="12144375" y="2428225"/>
            <a:ext cx="479136" cy="461424"/>
          </a:xfrm>
          <a:custGeom>
            <a:avLst/>
            <a:gdLst/>
            <a:ahLst/>
            <a:cxnLst/>
            <a:rect l="0" t="0" r="r" b="b"/>
            <a:pathLst>
              <a:path w="479136" h="461424">
                <a:moveTo>
                  <a:pt x="34636" y="161499"/>
                </a:moveTo>
                <a:cubicBezTo>
                  <a:pt x="75045" y="46142"/>
                  <a:pt x="202045" y="0"/>
                  <a:pt x="311727" y="34607"/>
                </a:cubicBezTo>
                <a:cubicBezTo>
                  <a:pt x="432955" y="74981"/>
                  <a:pt x="479136" y="184570"/>
                  <a:pt x="473364" y="305694"/>
                </a:cubicBezTo>
                <a:cubicBezTo>
                  <a:pt x="461818" y="403746"/>
                  <a:pt x="369455" y="461424"/>
                  <a:pt x="259773" y="449889"/>
                </a:cubicBezTo>
                <a:cubicBezTo>
                  <a:pt x="138545" y="438353"/>
                  <a:pt x="34636" y="386443"/>
                  <a:pt x="11545" y="282622"/>
                </a:cubicBezTo>
                <a:cubicBezTo>
                  <a:pt x="0" y="242248"/>
                  <a:pt x="11545" y="201873"/>
                  <a:pt x="34636" y="161499"/>
                </a:cubicBezTo>
                <a:close/>
              </a:path>
            </a:pathLst>
          </a:custGeom>
          <a:gradFill rotWithShape="1">
            <a:gsLst>
              <a:gs pos="0">
                <a:srgbClr val="F2B8BA"/>
              </a:gs>
              <a:gs pos="50000">
                <a:srgbClr val="DF929B"/>
              </a:gs>
              <a:gs pos="100000">
                <a:srgbClr val="CE7885"/>
              </a:gs>
            </a:gsLst>
            <a:lin ang="2100000" scaled="1"/>
          </a:gradFill>
          <a:ln w="7143" cap="rnd">
            <a:solidFill>
              <a:srgbClr val="BD717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left atrial rim highlight"/>
          <p:cNvSpPr/>
          <p:nvPr/>
        </p:nvSpPr>
        <p:spPr>
          <a:xfrm>
            <a:off x="12225193" y="2485903"/>
            <a:ext cx="248227" cy="92285"/>
          </a:xfrm>
          <a:custGeom>
            <a:avLst/>
            <a:gdLst/>
            <a:ahLst/>
            <a:cxnLst/>
            <a:rect l="0" t="0" r="r" b="b"/>
            <a:pathLst>
              <a:path w="248227" h="92285">
                <a:moveTo>
                  <a:pt x="0" y="92285"/>
                </a:moveTo>
                <a:cubicBezTo>
                  <a:pt x="57727" y="17303"/>
                  <a:pt x="178955" y="0"/>
                  <a:pt x="248227" y="40375"/>
                </a:cubicBezTo>
              </a:path>
            </a:pathLst>
          </a:custGeom>
          <a:noFill/>
          <a:ln w="9048" cap="rnd">
            <a:solidFill>
              <a:srgbClr val="F7CAC7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interventricular septal myocardium"/>
          <p:cNvSpPr/>
          <p:nvPr/>
        </p:nvSpPr>
        <p:spPr>
          <a:xfrm>
            <a:off x="11936557" y="2751222"/>
            <a:ext cx="652318" cy="1372737"/>
          </a:xfrm>
          <a:custGeom>
            <a:avLst/>
            <a:gdLst/>
            <a:ahLst/>
            <a:cxnLst/>
            <a:rect l="0" t="0" r="r" b="b"/>
            <a:pathLst>
              <a:path w="652318" h="1372737">
                <a:moveTo>
                  <a:pt x="80818" y="0"/>
                </a:moveTo>
                <a:cubicBezTo>
                  <a:pt x="5773" y="167266"/>
                  <a:pt x="0" y="351836"/>
                  <a:pt x="57727" y="530638"/>
                </a:cubicBezTo>
                <a:cubicBezTo>
                  <a:pt x="138545" y="784421"/>
                  <a:pt x="271318" y="1032437"/>
                  <a:pt x="438727" y="1211239"/>
                </a:cubicBezTo>
                <a:cubicBezTo>
                  <a:pt x="502227" y="1280452"/>
                  <a:pt x="571500" y="1332363"/>
                  <a:pt x="652318" y="1372737"/>
                </a:cubicBezTo>
                <a:cubicBezTo>
                  <a:pt x="490682" y="1228542"/>
                  <a:pt x="392545" y="1026669"/>
                  <a:pt x="300182" y="795957"/>
                </a:cubicBezTo>
                <a:cubicBezTo>
                  <a:pt x="219364" y="576780"/>
                  <a:pt x="184727" y="369139"/>
                  <a:pt x="225136" y="196105"/>
                </a:cubicBezTo>
                <a:lnTo>
                  <a:pt x="277091" y="69214"/>
                </a:lnTo>
                <a:close/>
              </a:path>
            </a:pathLst>
          </a:custGeom>
          <a:gradFill rotWithShape="1">
            <a:gsLst>
              <a:gs pos="0">
                <a:srgbClr val="FFEAE1"/>
              </a:gs>
              <a:gs pos="55000">
                <a:srgbClr val="F6C4C3"/>
              </a:gs>
              <a:gs pos="100000">
                <a:srgbClr val="EDA8AF"/>
              </a:gs>
            </a:gsLst>
            <a:lin ang="2100000" scaled="1"/>
          </a:gradFill>
          <a:ln w="5238" cap="rnd">
            <a:solidFill>
              <a:srgbClr val="DC9AA3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right ventricular cavity"/>
          <p:cNvSpPr/>
          <p:nvPr/>
        </p:nvSpPr>
        <p:spPr>
          <a:xfrm>
            <a:off x="11313102" y="2797365"/>
            <a:ext cx="964045" cy="1217007"/>
          </a:xfrm>
          <a:custGeom>
            <a:avLst/>
            <a:gdLst/>
            <a:ahLst/>
            <a:cxnLst/>
            <a:rect l="0" t="0" r="r" b="b"/>
            <a:pathLst>
              <a:path w="964045" h="1217007">
                <a:moveTo>
                  <a:pt x="334818" y="236480"/>
                </a:moveTo>
                <a:cubicBezTo>
                  <a:pt x="242455" y="288390"/>
                  <a:pt x="144318" y="322997"/>
                  <a:pt x="75045" y="409514"/>
                </a:cubicBezTo>
                <a:cubicBezTo>
                  <a:pt x="0" y="501799"/>
                  <a:pt x="40409" y="634458"/>
                  <a:pt x="132773" y="732511"/>
                </a:cubicBezTo>
                <a:cubicBezTo>
                  <a:pt x="282864" y="899777"/>
                  <a:pt x="502227" y="1049740"/>
                  <a:pt x="733136" y="1147793"/>
                </a:cubicBezTo>
                <a:cubicBezTo>
                  <a:pt x="819727" y="1182400"/>
                  <a:pt x="900545" y="1217007"/>
                  <a:pt x="964045" y="1205471"/>
                </a:cubicBezTo>
                <a:cubicBezTo>
                  <a:pt x="935182" y="1124722"/>
                  <a:pt x="877455" y="1026669"/>
                  <a:pt x="808182" y="917081"/>
                </a:cubicBezTo>
                <a:cubicBezTo>
                  <a:pt x="710045" y="749814"/>
                  <a:pt x="611909" y="542174"/>
                  <a:pt x="583045" y="403746"/>
                </a:cubicBezTo>
                <a:cubicBezTo>
                  <a:pt x="559955" y="282622"/>
                  <a:pt x="594591" y="196105"/>
                  <a:pt x="629227" y="103820"/>
                </a:cubicBezTo>
                <a:cubicBezTo>
                  <a:pt x="635000" y="46142"/>
                  <a:pt x="554182" y="0"/>
                  <a:pt x="496455" y="40375"/>
                </a:cubicBezTo>
                <a:cubicBezTo>
                  <a:pt x="444500" y="92285"/>
                  <a:pt x="444500" y="167266"/>
                  <a:pt x="398318" y="213409"/>
                </a:cubicBezTo>
                <a:close/>
              </a:path>
            </a:pathLst>
          </a:custGeom>
          <a:gradFill rotWithShape="1">
            <a:gsLst>
              <a:gs pos="0">
                <a:srgbClr val="BDCEE5"/>
              </a:gs>
              <a:gs pos="45000">
                <a:srgbClr val="92ABD2"/>
              </a:gs>
              <a:gs pos="100000">
                <a:srgbClr val="6E8BBA"/>
              </a:gs>
            </a:gsLst>
            <a:lin ang="2100000" scaled="1"/>
          </a:gradFill>
          <a:ln w="7143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left ventricular cavity"/>
          <p:cNvSpPr/>
          <p:nvPr/>
        </p:nvSpPr>
        <p:spPr>
          <a:xfrm>
            <a:off x="12184784" y="2906953"/>
            <a:ext cx="565727" cy="1032437"/>
          </a:xfrm>
          <a:custGeom>
            <a:avLst/>
            <a:gdLst/>
            <a:ahLst/>
            <a:cxnLst/>
            <a:rect l="0" t="0" r="r" b="b"/>
            <a:pathLst>
              <a:path w="565727" h="1032437">
                <a:moveTo>
                  <a:pt x="92364" y="40375"/>
                </a:moveTo>
                <a:cubicBezTo>
                  <a:pt x="0" y="178802"/>
                  <a:pt x="28864" y="374907"/>
                  <a:pt x="86591" y="547941"/>
                </a:cubicBezTo>
                <a:cubicBezTo>
                  <a:pt x="167409" y="778654"/>
                  <a:pt x="282864" y="963223"/>
                  <a:pt x="404091" y="1032437"/>
                </a:cubicBezTo>
                <a:cubicBezTo>
                  <a:pt x="484909" y="1020901"/>
                  <a:pt x="548409" y="911313"/>
                  <a:pt x="554182" y="795957"/>
                </a:cubicBezTo>
                <a:cubicBezTo>
                  <a:pt x="565727" y="582548"/>
                  <a:pt x="496455" y="305694"/>
                  <a:pt x="404091" y="138427"/>
                </a:cubicBezTo>
                <a:cubicBezTo>
                  <a:pt x="357909" y="51910"/>
                  <a:pt x="288636" y="0"/>
                  <a:pt x="207818" y="5768"/>
                </a:cubicBezTo>
                <a:cubicBezTo>
                  <a:pt x="167409" y="5768"/>
                  <a:pt x="132773" y="17303"/>
                  <a:pt x="92364" y="40375"/>
                </a:cubicBezTo>
                <a:close/>
              </a:path>
            </a:pathLst>
          </a:custGeom>
          <a:gradFill rotWithShape="1">
            <a:gsLst>
              <a:gs pos="0">
                <a:srgbClr val="F0AEB2"/>
              </a:gs>
              <a:gs pos="40000">
                <a:srgbClr val="DF939D"/>
              </a:gs>
              <a:gs pos="100000">
                <a:srgbClr val="C77181"/>
              </a:gs>
            </a:gsLst>
            <a:lin ang="2100000" scaled="1"/>
          </a:gradFill>
          <a:ln w="7143" cap="rnd">
            <a:solidFill>
              <a:srgbClr val="B5667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pulmonary trunk"/>
          <p:cNvSpPr/>
          <p:nvPr/>
        </p:nvSpPr>
        <p:spPr>
          <a:xfrm>
            <a:off x="11711420" y="2116764"/>
            <a:ext cx="865909" cy="744047"/>
          </a:xfrm>
          <a:custGeom>
            <a:avLst/>
            <a:gdLst/>
            <a:ahLst/>
            <a:cxnLst/>
            <a:rect l="0" t="0" r="r" b="b"/>
            <a:pathLst>
              <a:path w="865909" h="744047">
                <a:moveTo>
                  <a:pt x="0" y="634458"/>
                </a:moveTo>
                <a:cubicBezTo>
                  <a:pt x="46182" y="484496"/>
                  <a:pt x="103909" y="340300"/>
                  <a:pt x="213591" y="224944"/>
                </a:cubicBezTo>
                <a:cubicBezTo>
                  <a:pt x="352136" y="74981"/>
                  <a:pt x="565727" y="23071"/>
                  <a:pt x="837045" y="0"/>
                </a:cubicBezTo>
                <a:lnTo>
                  <a:pt x="865909" y="155731"/>
                </a:lnTo>
                <a:cubicBezTo>
                  <a:pt x="658091" y="161499"/>
                  <a:pt x="502227" y="207641"/>
                  <a:pt x="398318" y="311461"/>
                </a:cubicBezTo>
                <a:cubicBezTo>
                  <a:pt x="294409" y="415282"/>
                  <a:pt x="248227" y="530638"/>
                  <a:pt x="236682" y="657530"/>
                </a:cubicBezTo>
                <a:lnTo>
                  <a:pt x="150091" y="744047"/>
                </a:lnTo>
                <a:lnTo>
                  <a:pt x="46182" y="744047"/>
                </a:lnTo>
                <a:close/>
              </a:path>
            </a:pathLst>
          </a:custGeom>
          <a:gradFill rotWithShape="1">
            <a:gsLst>
              <a:gs pos="0">
                <a:srgbClr val="BDCAE3"/>
              </a:gs>
              <a:gs pos="50000">
                <a:srgbClr val="9BAED2"/>
              </a:gs>
              <a:gs pos="100000">
                <a:srgbClr val="7D95C1"/>
              </a:gs>
            </a:gsLst>
            <a:lin ang="2100000" scaled="1"/>
          </a:gradFill>
          <a:ln w="7620" cap="rnd">
            <a:solidFill>
              <a:srgbClr val="536F9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vessel opening"/>
          <p:cNvSpPr/>
          <p:nvPr/>
        </p:nvSpPr>
        <p:spPr>
          <a:xfrm>
            <a:off x="12519602" y="2110996"/>
            <a:ext cx="75045" cy="167266"/>
          </a:xfrm>
          <a:prstGeom prst="ellipse">
            <a:avLst/>
          </a:prstGeom>
          <a:solidFill>
            <a:srgbClr val="A8BCDC"/>
          </a:solidFill>
          <a:ln w="6667">
            <a:solidFill>
              <a:srgbClr val="536F9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vessel opening"/>
          <p:cNvSpPr/>
          <p:nvPr/>
        </p:nvSpPr>
        <p:spPr>
          <a:xfrm>
            <a:off x="12542693" y="2134067"/>
            <a:ext cx="34636" cy="121124"/>
          </a:xfrm>
          <a:prstGeom prst="ellipse">
            <a:avLst/>
          </a:prstGeom>
          <a:solidFill>
            <a:srgbClr val="7C97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pulmonary trunk highlight"/>
          <p:cNvSpPr/>
          <p:nvPr/>
        </p:nvSpPr>
        <p:spPr>
          <a:xfrm>
            <a:off x="11948102" y="2197513"/>
            <a:ext cx="531091" cy="219177"/>
          </a:xfrm>
          <a:custGeom>
            <a:avLst/>
            <a:gdLst/>
            <a:ahLst/>
            <a:cxnLst/>
            <a:rect l="0" t="0" r="r" b="b"/>
            <a:pathLst>
              <a:path w="531091" h="219177">
                <a:moveTo>
                  <a:pt x="0" y="219177"/>
                </a:moveTo>
                <a:cubicBezTo>
                  <a:pt x="132773" y="74981"/>
                  <a:pt x="340591" y="11536"/>
                  <a:pt x="531091" y="0"/>
                </a:cubicBezTo>
              </a:path>
            </a:pathLst>
          </a:custGeom>
          <a:noFill/>
          <a:ln w="10477" cap="rnd">
            <a:solidFill>
              <a:srgbClr val="CDD8E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pulmonary valve left leaflet"/>
          <p:cNvSpPr/>
          <p:nvPr/>
        </p:nvSpPr>
        <p:spPr>
          <a:xfrm>
            <a:off x="11722966" y="2653169"/>
            <a:ext cx="127000" cy="207641"/>
          </a:xfrm>
          <a:custGeom>
            <a:avLst/>
            <a:gdLst/>
            <a:ahLst/>
            <a:cxnLst/>
            <a:rect l="0" t="0" r="r" b="b"/>
            <a:pathLst>
              <a:path w="127000" h="207641">
                <a:moveTo>
                  <a:pt x="5773" y="92285"/>
                </a:moveTo>
                <a:cubicBezTo>
                  <a:pt x="0" y="40375"/>
                  <a:pt x="46182" y="0"/>
                  <a:pt x="86591" y="17303"/>
                </a:cubicBezTo>
                <a:cubicBezTo>
                  <a:pt x="127000" y="34607"/>
                  <a:pt x="127000" y="103820"/>
                  <a:pt x="115455" y="161499"/>
                </a:cubicBezTo>
                <a:cubicBezTo>
                  <a:pt x="69273" y="207641"/>
                  <a:pt x="17318" y="190338"/>
                  <a:pt x="5773" y="144195"/>
                </a:cubicBezTo>
                <a:close/>
              </a:path>
            </a:pathLst>
          </a:custGeom>
          <a:solidFill>
            <a:srgbClr val="94ABD0"/>
          </a:solidFill>
          <a:ln w="10953" cap="rnd">
            <a:solidFill>
              <a:srgbClr val="FAE5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pulmonary valve right leaflet"/>
          <p:cNvSpPr/>
          <p:nvPr/>
        </p:nvSpPr>
        <p:spPr>
          <a:xfrm>
            <a:off x="11838420" y="2682008"/>
            <a:ext cx="138545" cy="196105"/>
          </a:xfrm>
          <a:custGeom>
            <a:avLst/>
            <a:gdLst/>
            <a:ahLst/>
            <a:cxnLst/>
            <a:rect l="0" t="0" r="r" b="b"/>
            <a:pathLst>
              <a:path w="138545" h="196105">
                <a:moveTo>
                  <a:pt x="0" y="126892"/>
                </a:moveTo>
                <a:cubicBezTo>
                  <a:pt x="5773" y="40375"/>
                  <a:pt x="34636" y="0"/>
                  <a:pt x="86591" y="0"/>
                </a:cubicBezTo>
                <a:cubicBezTo>
                  <a:pt x="138545" y="17303"/>
                  <a:pt x="138545" y="92285"/>
                  <a:pt x="98136" y="149963"/>
                </a:cubicBezTo>
                <a:cubicBezTo>
                  <a:pt x="57727" y="196105"/>
                  <a:pt x="17318" y="178802"/>
                  <a:pt x="0" y="126892"/>
                </a:cubicBezTo>
                <a:close/>
              </a:path>
            </a:pathLst>
          </a:custGeom>
          <a:solidFill>
            <a:srgbClr val="829EC8"/>
          </a:solidFill>
          <a:ln w="10953" cap="rnd">
            <a:solidFill>
              <a:srgbClr val="FAE5D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tricuspid valve septal leaflet"/>
          <p:cNvSpPr/>
          <p:nvPr/>
        </p:nvSpPr>
        <p:spPr>
          <a:xfrm>
            <a:off x="11370830" y="3016541"/>
            <a:ext cx="317500" cy="242248"/>
          </a:xfrm>
          <a:custGeom>
            <a:avLst/>
            <a:gdLst/>
            <a:ahLst/>
            <a:cxnLst/>
            <a:rect l="0" t="0" r="r" b="b"/>
            <a:pathLst>
              <a:path w="317500" h="242248">
                <a:moveTo>
                  <a:pt x="0" y="155731"/>
                </a:moveTo>
                <a:cubicBezTo>
                  <a:pt x="92364" y="98053"/>
                  <a:pt x="202045" y="40375"/>
                  <a:pt x="317500" y="0"/>
                </a:cubicBezTo>
                <a:cubicBezTo>
                  <a:pt x="259773" y="80749"/>
                  <a:pt x="225136" y="149963"/>
                  <a:pt x="213591" y="242248"/>
                </a:cubicBezTo>
                <a:cubicBezTo>
                  <a:pt x="173182" y="196105"/>
                  <a:pt x="138545" y="161499"/>
                  <a:pt x="103909" y="144195"/>
                </a:cubicBezTo>
                <a:lnTo>
                  <a:pt x="34636" y="213409"/>
                </a:lnTo>
                <a:close/>
              </a:path>
            </a:pathLst>
          </a:custGeom>
          <a:solidFill>
            <a:srgbClr val="FFF3EE"/>
          </a:solidFill>
          <a:ln w="5238" cap="rnd">
            <a:solidFill>
              <a:srgbClr val="D4D9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tricuspid valve anterior leaflet"/>
          <p:cNvSpPr/>
          <p:nvPr/>
        </p:nvSpPr>
        <p:spPr>
          <a:xfrm>
            <a:off x="11688330" y="3016541"/>
            <a:ext cx="132773" cy="230712"/>
          </a:xfrm>
          <a:custGeom>
            <a:avLst/>
            <a:gdLst/>
            <a:ahLst/>
            <a:cxnLst/>
            <a:rect l="0" t="0" r="r" b="b"/>
            <a:pathLst>
              <a:path w="132773" h="230712">
                <a:moveTo>
                  <a:pt x="0" y="0"/>
                </a:moveTo>
                <a:cubicBezTo>
                  <a:pt x="40409" y="23071"/>
                  <a:pt x="92364" y="51910"/>
                  <a:pt x="132773" y="86517"/>
                </a:cubicBezTo>
                <a:lnTo>
                  <a:pt x="121227" y="230712"/>
                </a:lnTo>
                <a:cubicBezTo>
                  <a:pt x="86591" y="138427"/>
                  <a:pt x="40409" y="74981"/>
                  <a:pt x="0" y="0"/>
                </a:cubicBezTo>
                <a:close/>
              </a:path>
            </a:pathLst>
          </a:custGeom>
          <a:solidFill>
            <a:srgbClr val="FFF3EE"/>
          </a:solidFill>
          <a:ln w="5238" cap="rnd">
            <a:solidFill>
              <a:srgbClr val="D4D9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mitral anterior leaflet"/>
          <p:cNvSpPr/>
          <p:nvPr/>
        </p:nvSpPr>
        <p:spPr>
          <a:xfrm>
            <a:off x="12248284" y="2895417"/>
            <a:ext cx="190500" cy="265319"/>
          </a:xfrm>
          <a:custGeom>
            <a:avLst/>
            <a:gdLst/>
            <a:ahLst/>
            <a:cxnLst/>
            <a:rect l="0" t="0" r="r" b="b"/>
            <a:pathLst>
              <a:path w="190500" h="265319">
                <a:moveTo>
                  <a:pt x="0" y="0"/>
                </a:moveTo>
                <a:cubicBezTo>
                  <a:pt x="57727" y="40375"/>
                  <a:pt x="127000" y="51910"/>
                  <a:pt x="190500" y="23071"/>
                </a:cubicBezTo>
                <a:cubicBezTo>
                  <a:pt x="144318" y="98053"/>
                  <a:pt x="127000" y="184570"/>
                  <a:pt x="132773" y="265319"/>
                </a:cubicBezTo>
                <a:cubicBezTo>
                  <a:pt x="86591" y="161499"/>
                  <a:pt x="51955" y="80749"/>
                  <a:pt x="0" y="0"/>
                </a:cubicBezTo>
                <a:close/>
              </a:path>
            </a:pathLst>
          </a:custGeom>
          <a:solidFill>
            <a:srgbClr val="FFF3EE"/>
          </a:solidFill>
          <a:ln w="5238" cap="rnd">
            <a:solidFill>
              <a:srgbClr val="DFB0B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mitral posterior leaflet"/>
          <p:cNvSpPr/>
          <p:nvPr/>
        </p:nvSpPr>
        <p:spPr>
          <a:xfrm>
            <a:off x="12438784" y="2866578"/>
            <a:ext cx="167409" cy="294158"/>
          </a:xfrm>
          <a:custGeom>
            <a:avLst/>
            <a:gdLst/>
            <a:ahLst/>
            <a:cxnLst/>
            <a:rect l="0" t="0" r="r" b="b"/>
            <a:pathLst>
              <a:path w="167409" h="294158">
                <a:moveTo>
                  <a:pt x="0" y="51910"/>
                </a:moveTo>
                <a:cubicBezTo>
                  <a:pt x="51955" y="17303"/>
                  <a:pt x="115455" y="0"/>
                  <a:pt x="167409" y="28839"/>
                </a:cubicBezTo>
                <a:cubicBezTo>
                  <a:pt x="115455" y="109588"/>
                  <a:pt x="98136" y="207641"/>
                  <a:pt x="109682" y="294158"/>
                </a:cubicBezTo>
                <a:cubicBezTo>
                  <a:pt x="63500" y="196105"/>
                  <a:pt x="40409" y="109588"/>
                  <a:pt x="0" y="51910"/>
                </a:cubicBezTo>
                <a:close/>
              </a:path>
            </a:pathLst>
          </a:custGeom>
          <a:solidFill>
            <a:srgbClr val="FFF3EE"/>
          </a:solidFill>
          <a:ln w="5238" cap="rnd">
            <a:solidFill>
              <a:srgbClr val="DFB0B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right papillary muscle"/>
          <p:cNvSpPr/>
          <p:nvPr/>
        </p:nvSpPr>
        <p:spPr>
          <a:xfrm>
            <a:off x="11567102" y="3235718"/>
            <a:ext cx="121227" cy="230712"/>
          </a:xfrm>
          <a:custGeom>
            <a:avLst/>
            <a:gdLst/>
            <a:ahLst/>
            <a:cxnLst/>
            <a:rect l="0" t="0" r="r" b="b"/>
            <a:pathLst>
              <a:path w="121227" h="230712">
                <a:moveTo>
                  <a:pt x="80818" y="230712"/>
                </a:moveTo>
                <a:cubicBezTo>
                  <a:pt x="23091" y="115356"/>
                  <a:pt x="0" y="51910"/>
                  <a:pt x="11545" y="0"/>
                </a:cubicBezTo>
                <a:cubicBezTo>
                  <a:pt x="63500" y="34607"/>
                  <a:pt x="98136" y="126892"/>
                  <a:pt x="121227" y="230712"/>
                </a:cubicBezTo>
                <a:close/>
              </a:path>
            </a:pathLst>
          </a:custGeom>
          <a:solidFill>
            <a:srgbClr val="90A9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right papillary muscle second"/>
          <p:cNvSpPr/>
          <p:nvPr/>
        </p:nvSpPr>
        <p:spPr>
          <a:xfrm>
            <a:off x="11780693" y="3293396"/>
            <a:ext cx="150091" cy="334533"/>
          </a:xfrm>
          <a:custGeom>
            <a:avLst/>
            <a:gdLst/>
            <a:ahLst/>
            <a:cxnLst/>
            <a:rect l="0" t="0" r="r" b="b"/>
            <a:pathLst>
              <a:path w="150091" h="334533">
                <a:moveTo>
                  <a:pt x="115455" y="334533"/>
                </a:moveTo>
                <a:cubicBezTo>
                  <a:pt x="46182" y="213409"/>
                  <a:pt x="0" y="69214"/>
                  <a:pt x="11545" y="0"/>
                </a:cubicBezTo>
                <a:cubicBezTo>
                  <a:pt x="63500" y="57678"/>
                  <a:pt x="115455" y="196105"/>
                  <a:pt x="150091" y="334533"/>
                </a:cubicBezTo>
                <a:close/>
              </a:path>
            </a:pathLst>
          </a:custGeom>
          <a:solidFill>
            <a:srgbClr val="89A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left papillary muscle"/>
          <p:cNvSpPr/>
          <p:nvPr/>
        </p:nvSpPr>
        <p:spPr>
          <a:xfrm>
            <a:off x="12369511" y="3212646"/>
            <a:ext cx="86591" cy="357604"/>
          </a:xfrm>
          <a:custGeom>
            <a:avLst/>
            <a:gdLst/>
            <a:ahLst/>
            <a:cxnLst/>
            <a:rect l="0" t="0" r="r" b="b"/>
            <a:pathLst>
              <a:path w="86591" h="357604">
                <a:moveTo>
                  <a:pt x="46182" y="334533"/>
                </a:moveTo>
                <a:cubicBezTo>
                  <a:pt x="11545" y="201873"/>
                  <a:pt x="0" y="63446"/>
                  <a:pt x="17318" y="0"/>
                </a:cubicBezTo>
                <a:cubicBezTo>
                  <a:pt x="57727" y="80749"/>
                  <a:pt x="80818" y="219177"/>
                  <a:pt x="86591" y="357604"/>
                </a:cubicBezTo>
                <a:close/>
              </a:path>
            </a:pathLst>
          </a:custGeom>
          <a:solidFill>
            <a:srgbClr val="D88A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left papillary muscle second"/>
          <p:cNvSpPr/>
          <p:nvPr/>
        </p:nvSpPr>
        <p:spPr>
          <a:xfrm>
            <a:off x="12542693" y="3218414"/>
            <a:ext cx="103909" cy="346068"/>
          </a:xfrm>
          <a:custGeom>
            <a:avLst/>
            <a:gdLst/>
            <a:ahLst/>
            <a:cxnLst/>
            <a:rect l="0" t="0" r="r" b="b"/>
            <a:pathLst>
              <a:path w="103909" h="346068">
                <a:moveTo>
                  <a:pt x="69273" y="346068"/>
                </a:moveTo>
                <a:cubicBezTo>
                  <a:pt x="34636" y="196105"/>
                  <a:pt x="0" y="69214"/>
                  <a:pt x="11545" y="0"/>
                </a:cubicBezTo>
                <a:cubicBezTo>
                  <a:pt x="63500" y="74981"/>
                  <a:pt x="103909" y="213409"/>
                  <a:pt x="103909" y="346068"/>
                </a:cubicBezTo>
                <a:close/>
              </a:path>
            </a:pathLst>
          </a:custGeom>
          <a:solidFill>
            <a:srgbClr val="D88A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chorda tendinea"/>
          <p:cNvSpPr/>
          <p:nvPr/>
        </p:nvSpPr>
        <p:spPr>
          <a:xfrm>
            <a:off x="11480511" y="3166504"/>
            <a:ext cx="173182" cy="259551"/>
          </a:xfrm>
          <a:custGeom>
            <a:avLst/>
            <a:gdLst/>
            <a:ahLst/>
            <a:cxnLst/>
            <a:rect l="0" t="0" r="r" b="b"/>
            <a:pathLst>
              <a:path w="173182" h="259551">
                <a:moveTo>
                  <a:pt x="0" y="0"/>
                </a:moveTo>
                <a:quadBezTo>
                  <a:pt x="92364" y="103820"/>
                  <a:pt x="173182" y="259551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chorda tendinea"/>
          <p:cNvSpPr/>
          <p:nvPr/>
        </p:nvSpPr>
        <p:spPr>
          <a:xfrm>
            <a:off x="11572875" y="3189575"/>
            <a:ext cx="98136" cy="253783"/>
          </a:xfrm>
          <a:custGeom>
            <a:avLst/>
            <a:gdLst/>
            <a:ahLst/>
            <a:cxnLst/>
            <a:rect l="0" t="0" r="r" b="b"/>
            <a:pathLst>
              <a:path w="98136" h="253783">
                <a:moveTo>
                  <a:pt x="0" y="0"/>
                </a:moveTo>
                <a:quadBezTo>
                  <a:pt x="57727" y="126892"/>
                  <a:pt x="98136" y="253783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chorda tendinea"/>
          <p:cNvSpPr/>
          <p:nvPr/>
        </p:nvSpPr>
        <p:spPr>
          <a:xfrm>
            <a:off x="11682557" y="3074219"/>
            <a:ext cx="190500" cy="501799"/>
          </a:xfrm>
          <a:custGeom>
            <a:avLst/>
            <a:gdLst/>
            <a:ahLst/>
            <a:cxnLst/>
            <a:rect l="0" t="0" r="r" b="b"/>
            <a:pathLst>
              <a:path w="190500" h="501799">
                <a:moveTo>
                  <a:pt x="0" y="0"/>
                </a:moveTo>
                <a:quadBezTo>
                  <a:pt x="57727" y="201873"/>
                  <a:pt x="190500" y="501799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chorda tendinea"/>
          <p:cNvSpPr/>
          <p:nvPr/>
        </p:nvSpPr>
        <p:spPr>
          <a:xfrm>
            <a:off x="11798011" y="3154968"/>
            <a:ext cx="86591" cy="438353"/>
          </a:xfrm>
          <a:custGeom>
            <a:avLst/>
            <a:gdLst/>
            <a:ahLst/>
            <a:cxnLst/>
            <a:rect l="0" t="0" r="r" b="b"/>
            <a:pathLst>
              <a:path w="86591" h="438353">
                <a:moveTo>
                  <a:pt x="0" y="0"/>
                </a:moveTo>
                <a:quadBezTo>
                  <a:pt x="5773" y="196105"/>
                  <a:pt x="86591" y="438353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chorda tendinea"/>
          <p:cNvSpPr/>
          <p:nvPr/>
        </p:nvSpPr>
        <p:spPr>
          <a:xfrm>
            <a:off x="12323330" y="2981934"/>
            <a:ext cx="103909" cy="536406"/>
          </a:xfrm>
          <a:custGeom>
            <a:avLst/>
            <a:gdLst/>
            <a:ahLst/>
            <a:cxnLst/>
            <a:rect l="0" t="0" r="r" b="b"/>
            <a:pathLst>
              <a:path w="103909" h="536406">
                <a:moveTo>
                  <a:pt x="0" y="0"/>
                </a:moveTo>
                <a:quadBezTo>
                  <a:pt x="40409" y="242248"/>
                  <a:pt x="103909" y="536406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chorda tendinea"/>
          <p:cNvSpPr/>
          <p:nvPr/>
        </p:nvSpPr>
        <p:spPr>
          <a:xfrm>
            <a:off x="12381057" y="3085755"/>
            <a:ext cx="57727" cy="432585"/>
          </a:xfrm>
          <a:custGeom>
            <a:avLst/>
            <a:gdLst/>
            <a:ahLst/>
            <a:cxnLst/>
            <a:rect l="0" t="0" r="r" b="b"/>
            <a:pathLst>
              <a:path w="57727" h="432585">
                <a:moveTo>
                  <a:pt x="0" y="0"/>
                </a:moveTo>
                <a:quadBezTo>
                  <a:pt x="23091" y="178802"/>
                  <a:pt x="57727" y="432585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chorda tendinea"/>
          <p:cNvSpPr/>
          <p:nvPr/>
        </p:nvSpPr>
        <p:spPr>
          <a:xfrm>
            <a:off x="12496511" y="2981934"/>
            <a:ext cx="121227" cy="542174"/>
          </a:xfrm>
          <a:custGeom>
            <a:avLst/>
            <a:gdLst/>
            <a:ahLst/>
            <a:cxnLst/>
            <a:rect l="0" t="0" r="r" b="b"/>
            <a:pathLst>
              <a:path w="121227" h="542174">
                <a:moveTo>
                  <a:pt x="0" y="0"/>
                </a:moveTo>
                <a:quadBezTo>
                  <a:pt x="28864" y="242248"/>
                  <a:pt x="121227" y="542174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chorda tendinea"/>
          <p:cNvSpPr/>
          <p:nvPr/>
        </p:nvSpPr>
        <p:spPr>
          <a:xfrm>
            <a:off x="12542693" y="3079987"/>
            <a:ext cx="86591" cy="444121"/>
          </a:xfrm>
          <a:custGeom>
            <a:avLst/>
            <a:gdLst/>
            <a:ahLst/>
            <a:cxnLst/>
            <a:rect l="0" t="0" r="r" b="b"/>
            <a:pathLst>
              <a:path w="86591" h="444121">
                <a:moveTo>
                  <a:pt x="0" y="0"/>
                </a:moveTo>
                <a:quadBezTo>
                  <a:pt x="40409" y="190338"/>
                  <a:pt x="86591" y="444121"/>
                </a:quadBezTo>
              </a:path>
            </a:pathLst>
          </a:custGeom>
          <a:noFill/>
          <a:ln w="6191" cap="rnd">
            <a:solidFill>
              <a:srgbClr val="FFF5EE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myocardial fibre contour"/>
          <p:cNvSpPr/>
          <p:nvPr/>
        </p:nvSpPr>
        <p:spPr>
          <a:xfrm>
            <a:off x="11272693" y="3322235"/>
            <a:ext cx="415636" cy="496031"/>
          </a:xfrm>
          <a:custGeom>
            <a:avLst/>
            <a:gdLst/>
            <a:ahLst/>
            <a:cxnLst/>
            <a:rect l="0" t="0" r="r" b="b"/>
            <a:pathLst>
              <a:path w="415636" h="496031">
                <a:moveTo>
                  <a:pt x="0" y="0"/>
                </a:moveTo>
                <a:cubicBezTo>
                  <a:pt x="34636" y="201873"/>
                  <a:pt x="225136" y="380675"/>
                  <a:pt x="415636" y="496031"/>
                </a:cubicBezTo>
              </a:path>
            </a:pathLst>
          </a:custGeom>
          <a:noFill/>
          <a:ln w="5714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myocardial fibre contour"/>
          <p:cNvSpPr/>
          <p:nvPr/>
        </p:nvSpPr>
        <p:spPr>
          <a:xfrm>
            <a:off x="11353511" y="3477965"/>
            <a:ext cx="646545" cy="490263"/>
          </a:xfrm>
          <a:custGeom>
            <a:avLst/>
            <a:gdLst/>
            <a:ahLst/>
            <a:cxnLst/>
            <a:rect l="0" t="0" r="r" b="b"/>
            <a:pathLst>
              <a:path w="646545" h="490263">
                <a:moveTo>
                  <a:pt x="0" y="0"/>
                </a:moveTo>
                <a:cubicBezTo>
                  <a:pt x="178955" y="224944"/>
                  <a:pt x="427182" y="392211"/>
                  <a:pt x="646545" y="490263"/>
                </a:cubicBezTo>
              </a:path>
            </a:pathLst>
          </a:custGeom>
          <a:noFill/>
          <a:ln w="5714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myocardial fibre contour"/>
          <p:cNvSpPr/>
          <p:nvPr/>
        </p:nvSpPr>
        <p:spPr>
          <a:xfrm>
            <a:off x="11584420" y="3777891"/>
            <a:ext cx="831273" cy="397978"/>
          </a:xfrm>
          <a:custGeom>
            <a:avLst/>
            <a:gdLst/>
            <a:ahLst/>
            <a:cxnLst/>
            <a:rect l="0" t="0" r="r" b="b"/>
            <a:pathLst>
              <a:path w="831273" h="397978">
                <a:moveTo>
                  <a:pt x="0" y="0"/>
                </a:moveTo>
                <a:cubicBezTo>
                  <a:pt x="265545" y="219177"/>
                  <a:pt x="583045" y="357604"/>
                  <a:pt x="831273" y="397978"/>
                </a:cubicBezTo>
              </a:path>
            </a:pathLst>
          </a:custGeom>
          <a:noFill/>
          <a:ln w="5714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myocardial fibre contour"/>
          <p:cNvSpPr/>
          <p:nvPr/>
        </p:nvSpPr>
        <p:spPr>
          <a:xfrm>
            <a:off x="12069330" y="3264557"/>
            <a:ext cx="357909" cy="744047"/>
          </a:xfrm>
          <a:custGeom>
            <a:avLst/>
            <a:gdLst/>
            <a:ahLst/>
            <a:cxnLst/>
            <a:rect l="0" t="0" r="r" b="b"/>
            <a:pathLst>
              <a:path w="357909" h="744047">
                <a:moveTo>
                  <a:pt x="0" y="0"/>
                </a:moveTo>
                <a:cubicBezTo>
                  <a:pt x="51955" y="265319"/>
                  <a:pt x="190500" y="553709"/>
                  <a:pt x="357909" y="744047"/>
                </a:cubicBezTo>
              </a:path>
            </a:pathLst>
          </a:custGeom>
          <a:noFill/>
          <a:ln w="5714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myocardial fibre contour"/>
          <p:cNvSpPr/>
          <p:nvPr/>
        </p:nvSpPr>
        <p:spPr>
          <a:xfrm>
            <a:off x="12762057" y="3091523"/>
            <a:ext cx="173182" cy="755582"/>
          </a:xfrm>
          <a:custGeom>
            <a:avLst/>
            <a:gdLst/>
            <a:ahLst/>
            <a:cxnLst/>
            <a:rect l="0" t="0" r="r" b="b"/>
            <a:pathLst>
              <a:path w="173182" h="755582">
                <a:moveTo>
                  <a:pt x="0" y="0"/>
                </a:moveTo>
                <a:cubicBezTo>
                  <a:pt x="103909" y="236480"/>
                  <a:pt x="173182" y="530638"/>
                  <a:pt x="150091" y="755582"/>
                </a:cubicBezTo>
              </a:path>
            </a:pathLst>
          </a:custGeom>
          <a:noFill/>
          <a:ln w="5714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myocardial fibre contour"/>
          <p:cNvSpPr/>
          <p:nvPr/>
        </p:nvSpPr>
        <p:spPr>
          <a:xfrm>
            <a:off x="12687011" y="3466430"/>
            <a:ext cx="196273" cy="634458"/>
          </a:xfrm>
          <a:custGeom>
            <a:avLst/>
            <a:gdLst/>
            <a:ahLst/>
            <a:cxnLst/>
            <a:rect l="0" t="0" r="r" b="b"/>
            <a:pathLst>
              <a:path w="196273" h="634458">
                <a:moveTo>
                  <a:pt x="144318" y="0"/>
                </a:moveTo>
                <a:cubicBezTo>
                  <a:pt x="196273" y="282622"/>
                  <a:pt x="155864" y="501799"/>
                  <a:pt x="0" y="634458"/>
                </a:cubicBezTo>
              </a:path>
            </a:pathLst>
          </a:custGeom>
          <a:noFill/>
          <a:ln w="5714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myocardial fibre contour"/>
          <p:cNvSpPr/>
          <p:nvPr/>
        </p:nvSpPr>
        <p:spPr>
          <a:xfrm>
            <a:off x="12213648" y="4060514"/>
            <a:ext cx="594591" cy="155731"/>
          </a:xfrm>
          <a:custGeom>
            <a:avLst/>
            <a:gdLst/>
            <a:ahLst/>
            <a:cxnLst/>
            <a:rect l="0" t="0" r="r" b="b"/>
            <a:pathLst>
              <a:path w="594591" h="155731">
                <a:moveTo>
                  <a:pt x="0" y="0"/>
                </a:moveTo>
                <a:cubicBezTo>
                  <a:pt x="242455" y="126892"/>
                  <a:pt x="461818" y="155731"/>
                  <a:pt x="594591" y="17303"/>
                </a:cubicBezTo>
              </a:path>
            </a:pathLst>
          </a:custGeom>
          <a:noFill/>
          <a:ln w="5714" cap="rnd">
            <a:solidFill>
              <a:srgbClr val="E7A2AB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septal cut-face highlight"/>
          <p:cNvSpPr/>
          <p:nvPr/>
        </p:nvSpPr>
        <p:spPr>
          <a:xfrm>
            <a:off x="12028920" y="2831971"/>
            <a:ext cx="559955" cy="1297756"/>
          </a:xfrm>
          <a:custGeom>
            <a:avLst/>
            <a:gdLst/>
            <a:ahLst/>
            <a:cxnLst/>
            <a:rect l="0" t="0" r="r" b="b"/>
            <a:pathLst>
              <a:path w="559955" h="1297756">
                <a:moveTo>
                  <a:pt x="69273" y="0"/>
                </a:moveTo>
                <a:cubicBezTo>
                  <a:pt x="0" y="178802"/>
                  <a:pt x="0" y="369139"/>
                  <a:pt x="80818" y="588316"/>
                </a:cubicBezTo>
                <a:cubicBezTo>
                  <a:pt x="190500" y="894010"/>
                  <a:pt x="352136" y="1170864"/>
                  <a:pt x="559955" y="1297756"/>
                </a:cubicBezTo>
              </a:path>
            </a:pathLst>
          </a:custGeom>
          <a:noFill/>
          <a:ln w="8572" cap="rnd">
            <a:solidFill>
              <a:srgbClr val="FCE3D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rv_afterload"/>
          <p:cNvSpPr txBox="1"/>
          <p:nvPr/>
        </p:nvSpPr>
        <p:spPr>
          <a:xfrm>
            <a:off x="9601200" y="2647950"/>
            <a:ext cx="152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10" b="1" i="0">
                <a:solidFill>
                  <a:srgbClr val="30485F"/>
                </a:solidFill>
                <a:latin typeface="Times New Roman"/>
              </a:rPr>
              <a:t>RV afterload ↑</a:t>
            </a:r>
          </a:p>
        </p:txBody>
      </p:sp>
      <p:sp>
        <p:nvSpPr>
          <p:cNvPr id="299" name="established_afterload"/>
          <p:cNvSpPr/>
          <p:nvPr/>
        </p:nvSpPr>
        <p:spPr>
          <a:xfrm>
            <a:off x="9753600" y="3095625"/>
            <a:ext cx="1986684" cy="301591"/>
          </a:xfrm>
          <a:custGeom>
            <a:avLst/>
            <a:gdLst/>
            <a:ahLst/>
            <a:cxnLst/>
            <a:rect l="0" t="0" r="r" b="b"/>
            <a:pathLst>
              <a:path w="1986684" h="301591">
                <a:moveTo>
                  <a:pt x="0" y="0"/>
                </a:moveTo>
                <a:cubicBezTo>
                  <a:pt x="685800" y="0"/>
                  <a:pt x="1171575" y="228600"/>
                  <a:pt x="1986684" y="301591"/>
                </a:cubicBezTo>
              </a:path>
            </a:pathLst>
          </a:custGeom>
          <a:noFill/>
          <a:ln w="26669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established_afterload head"/>
          <p:cNvSpPr/>
          <p:nvPr/>
        </p:nvSpPr>
        <p:spPr>
          <a:xfrm>
            <a:off x="11646759" y="3351197"/>
            <a:ext cx="93525" cy="75896"/>
          </a:xfrm>
          <a:custGeom>
            <a:avLst/>
            <a:gdLst/>
            <a:ahLst/>
            <a:cxnLst/>
            <a:rect l="0" t="0" r="r" b="b"/>
            <a:pathLst>
              <a:path w="93525" h="75896">
                <a:moveTo>
                  <a:pt x="93525" y="46019"/>
                </a:moveTo>
                <a:lnTo>
                  <a:pt x="0" y="75896"/>
                </a:lnTo>
                <a:lnTo>
                  <a:pt x="6796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rv_cavity_label"/>
          <p:cNvSpPr txBox="1"/>
          <p:nvPr/>
        </p:nvSpPr>
        <p:spPr>
          <a:xfrm>
            <a:off x="11892684" y="3673441"/>
            <a:ext cx="361950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50" b="1" i="0">
                <a:solidFill>
                  <a:srgbClr val="30485F"/>
                </a:solidFill>
                <a:latin typeface="Times New Roman"/>
              </a:rPr>
              <a:t>RV</a:t>
            </a:r>
          </a:p>
        </p:txBody>
      </p:sp>
      <p:sp>
        <p:nvSpPr>
          <p:cNvPr id="302" name="stage_dependent"/>
          <p:cNvSpPr txBox="1"/>
          <p:nvPr/>
        </p:nvSpPr>
        <p:spPr>
          <a:xfrm>
            <a:off x="13239750" y="1752600"/>
            <a:ext cx="1581150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60" b="0" i="1">
                <a:solidFill>
                  <a:srgbClr val="697786"/>
                </a:solidFill>
                <a:latin typeface="Times New Roman"/>
              </a:rPr>
              <a:t>Stage dependent</a:t>
            </a:r>
          </a:p>
        </p:txBody>
      </p:sp>
      <p:sp>
        <p:nvSpPr>
          <p:cNvPr id="303" name="rv_stage_responses"/>
          <p:cNvSpPr txBox="1"/>
          <p:nvPr/>
        </p:nvSpPr>
        <p:spPr>
          <a:xfrm>
            <a:off x="13239750" y="2000250"/>
            <a:ext cx="15811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0" b="1" i="0">
                <a:solidFill>
                  <a:srgbClr val="30485F"/>
                </a:solidFill>
                <a:latin typeface="Times New Roman"/>
              </a:rPr>
              <a:t>Adaptation 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0" b="1" i="0">
                <a:solidFill>
                  <a:srgbClr val="30485F"/>
                </a:solidFill>
                <a:latin typeface="Times New Roman"/>
              </a:rPr>
              <a:t>maladaptive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0" b="1" i="0">
                <a:solidFill>
                  <a:srgbClr val="30485F"/>
                </a:solidFill>
                <a:latin typeface="Times New Roman"/>
              </a:rPr>
              <a:t>remodeling</a:t>
            </a:r>
          </a:p>
        </p:txBody>
      </p:sp>
      <p:sp>
        <p:nvSpPr>
          <p:cNvPr id="304" name="RV stage separator"/>
          <p:cNvSpPr/>
          <p:nvPr/>
        </p:nvSpPr>
        <p:spPr>
          <a:xfrm>
            <a:off x="13239750" y="2828925"/>
            <a:ext cx="1581150" cy="95"/>
          </a:xfrm>
          <a:custGeom>
            <a:avLst/>
            <a:gdLst/>
            <a:ahLst/>
            <a:cxnLst/>
            <a:rect l="0" t="0" r="r" b="b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7620" cap="rnd">
            <a:solidFill>
              <a:srgbClr val="D9DF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rv_dysfunction"/>
          <p:cNvSpPr txBox="1"/>
          <p:nvPr/>
        </p:nvSpPr>
        <p:spPr>
          <a:xfrm>
            <a:off x="13239750" y="2952750"/>
            <a:ext cx="15811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0" b="1" i="0">
                <a:solidFill>
                  <a:srgbClr val="30485F"/>
                </a:solidFill>
                <a:latin typeface="Times New Roman"/>
              </a:rPr>
              <a:t>With RV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20" b="1" i="0">
                <a:solidFill>
                  <a:srgbClr val="30485F"/>
                </a:solidFill>
                <a:latin typeface="Times New Roman"/>
              </a:rPr>
              <a:t>dysfunction</a:t>
            </a:r>
          </a:p>
        </p:txBody>
      </p:sp>
      <p:sp>
        <p:nvSpPr>
          <p:cNvPr id="306" name="hemodynamic_compromise"/>
          <p:cNvSpPr txBox="1"/>
          <p:nvPr/>
        </p:nvSpPr>
        <p:spPr>
          <a:xfrm>
            <a:off x="13239750" y="3505200"/>
            <a:ext cx="15811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80" b="0" i="0">
                <a:solidFill>
                  <a:srgbClr val="30485F"/>
                </a:solidFill>
                <a:latin typeface="Times New Roman"/>
              </a:rPr>
              <a:t>Systemic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80" b="0" i="0">
                <a:solidFill>
                  <a:srgbClr val="30485F"/>
                </a:solidFill>
                <a:latin typeface="Times New Roman"/>
              </a:rPr>
              <a:t>hemodynamic</a:t>
            </a:r>
          </a:p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80" b="0" i="0">
                <a:solidFill>
                  <a:srgbClr val="30485F"/>
                </a:solidFill>
                <a:latin typeface="Times New Roman"/>
              </a:rPr>
              <a:t>compromise</a:t>
            </a:r>
          </a:p>
        </p:txBody>
      </p:sp>
      <p:sp>
        <p:nvSpPr>
          <p:cNvPr id="307" name="rv_compromise_to_shared_return"/>
          <p:cNvSpPr/>
          <p:nvPr/>
        </p:nvSpPr>
        <p:spPr>
          <a:xfrm>
            <a:off x="13954125" y="4143375"/>
            <a:ext cx="666750" cy="2619375"/>
          </a:xfrm>
          <a:custGeom>
            <a:avLst/>
            <a:gdLst/>
            <a:ahLst/>
            <a:cxnLst/>
            <a:rect l="0" t="0" r="r" b="b"/>
            <a:pathLst>
              <a:path w="666750" h="2619375">
                <a:moveTo>
                  <a:pt x="0" y="0"/>
                </a:moveTo>
                <a:cubicBezTo>
                  <a:pt x="466725" y="114300"/>
                  <a:pt x="666750" y="314325"/>
                  <a:pt x="666750" y="762000"/>
                </a:cubicBezTo>
                <a:lnTo>
                  <a:pt x="666750" y="2619375"/>
                </a:lnTo>
              </a:path>
            </a:pathLst>
          </a:custGeom>
          <a:noFill/>
          <a:ln w="2000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RV feedback source"/>
          <p:cNvSpPr/>
          <p:nvPr/>
        </p:nvSpPr>
        <p:spPr>
          <a:xfrm>
            <a:off x="13930312" y="4119562"/>
            <a:ext cx="47625" cy="47625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reverse_evidence"/>
          <p:cNvSpPr txBox="1"/>
          <p:nvPr/>
        </p:nvSpPr>
        <p:spPr>
          <a:xfrm>
            <a:off x="6210300" y="5181600"/>
            <a:ext cx="78295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00" b="1" i="0">
                <a:solidFill>
                  <a:srgbClr val="30485F"/>
                </a:solidFill>
                <a:latin typeface="Times New Roman"/>
              </a:rPr>
              <a:t>Reverse links: human heart failure evidence [68–70]</a:t>
            </a:r>
          </a:p>
        </p:txBody>
      </p:sp>
      <p:sp>
        <p:nvSpPr>
          <p:cNvPr id="310" name="feedback_limit"/>
          <p:cNvSpPr txBox="1"/>
          <p:nvPr/>
        </p:nvSpPr>
        <p:spPr>
          <a:xfrm>
            <a:off x="6210300" y="5476875"/>
            <a:ext cx="7867650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80" b="0" i="1">
                <a:solidFill>
                  <a:srgbClr val="697786"/>
                </a:solidFill>
                <a:latin typeface="Times New Roman"/>
              </a:rPr>
              <a:t>PAH feedback remains proposed; the complete loop is unvalidated.</a:t>
            </a:r>
          </a:p>
        </p:txBody>
      </p:sp>
      <p:sp>
        <p:nvSpPr>
          <p:cNvPr id="311" name="venous_congestion"/>
          <p:cNvSpPr txBox="1"/>
          <p:nvPr/>
        </p:nvSpPr>
        <p:spPr>
          <a:xfrm>
            <a:off x="10877550" y="5838825"/>
            <a:ext cx="247650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30485F"/>
                </a:solidFill>
                <a:latin typeface="Times New Roman"/>
              </a:rPr>
              <a:t>Venous congestion</a:t>
            </a:r>
          </a:p>
        </p:txBody>
      </p:sp>
      <p:sp>
        <p:nvSpPr>
          <p:cNvPr id="312" name="right_atrial_pressure"/>
          <p:cNvSpPr txBox="1"/>
          <p:nvPr/>
        </p:nvSpPr>
        <p:spPr>
          <a:xfrm>
            <a:off x="10877550" y="6172200"/>
            <a:ext cx="2476500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1">
                <a:solidFill>
                  <a:srgbClr val="697786"/>
                </a:solidFill>
                <a:latin typeface="Times New Roman"/>
              </a:rPr>
              <a:t>Right atrial pressure ↑</a:t>
            </a:r>
          </a:p>
        </p:txBody>
      </p:sp>
      <p:sp>
        <p:nvSpPr>
          <p:cNvPr id="313" name="gut_wall_edema"/>
          <p:cNvSpPr txBox="1"/>
          <p:nvPr/>
        </p:nvSpPr>
        <p:spPr>
          <a:xfrm>
            <a:off x="7229475" y="5838825"/>
            <a:ext cx="2571750" cy="295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540" b="1" i="0">
                <a:solidFill>
                  <a:srgbClr val="30485F"/>
                </a:solidFill>
                <a:latin typeface="Times New Roman"/>
              </a:rPr>
              <a:t>Gut wall edema</a:t>
            </a:r>
          </a:p>
        </p:txBody>
      </p:sp>
      <p:sp>
        <p:nvSpPr>
          <p:cNvPr id="314" name="mesenteric_hypoperfusion"/>
          <p:cNvSpPr txBox="1"/>
          <p:nvPr/>
        </p:nvSpPr>
        <p:spPr>
          <a:xfrm>
            <a:off x="10753725" y="6562725"/>
            <a:ext cx="2657475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50" b="1" i="0">
                <a:solidFill>
                  <a:srgbClr val="30485F"/>
                </a:solidFill>
                <a:latin typeface="Times New Roman"/>
              </a:rPr>
              <a:t>Mesenteric hypoperfusion</a:t>
            </a:r>
          </a:p>
        </p:txBody>
      </p:sp>
      <p:sp>
        <p:nvSpPr>
          <p:cNvPr id="315" name="reduced_mucosal_perfusion"/>
          <p:cNvSpPr txBox="1"/>
          <p:nvPr/>
        </p:nvSpPr>
        <p:spPr>
          <a:xfrm>
            <a:off x="6924675" y="6562725"/>
            <a:ext cx="3114675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50" b="1" i="0">
                <a:solidFill>
                  <a:srgbClr val="30485F"/>
                </a:solidFill>
                <a:latin typeface="Times New Roman"/>
              </a:rPr>
              <a:t>Reduced mucosal perfusion</a:t>
            </a:r>
          </a:p>
        </p:txBody>
      </p:sp>
      <p:sp>
        <p:nvSpPr>
          <p:cNvPr id="316" name="rv_to_congestion"/>
          <p:cNvSpPr/>
          <p:nvPr/>
        </p:nvSpPr>
        <p:spPr>
          <a:xfrm>
            <a:off x="13525500" y="6000750"/>
            <a:ext cx="1095375" cy="95"/>
          </a:xfrm>
          <a:custGeom>
            <a:avLst/>
            <a:gdLst/>
            <a:ahLst/>
            <a:cxnLst/>
            <a:rect l="0" t="0" r="r" b="b"/>
            <a:pathLst>
              <a:path w="1095375" h="95">
                <a:moveTo>
                  <a:pt x="1095375" y="0"/>
                </a:moveTo>
                <a:lnTo>
                  <a:pt x="0" y="0"/>
                </a:lnTo>
              </a:path>
            </a:pathLst>
          </a:custGeom>
          <a:noFill/>
          <a:ln w="20955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rv_to_congestion head"/>
          <p:cNvSpPr/>
          <p:nvPr/>
        </p:nvSpPr>
        <p:spPr>
          <a:xfrm>
            <a:off x="13525500" y="5962650"/>
            <a:ext cx="90488" cy="76200"/>
          </a:xfrm>
          <a:custGeom>
            <a:avLst/>
            <a:gdLst/>
            <a:ahLst/>
            <a:cxnLst/>
            <a:rect l="0" t="0" r="r" b="b"/>
            <a:pathLst>
              <a:path w="90488" h="76200">
                <a:moveTo>
                  <a:pt x="0" y="38100"/>
                </a:moveTo>
                <a:lnTo>
                  <a:pt x="90488" y="0"/>
                </a:lnTo>
                <a:lnTo>
                  <a:pt x="90488" y="7620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rv_to_hypoperfusion"/>
          <p:cNvSpPr/>
          <p:nvPr/>
        </p:nvSpPr>
        <p:spPr>
          <a:xfrm>
            <a:off x="13525500" y="6762750"/>
            <a:ext cx="1095375" cy="95"/>
          </a:xfrm>
          <a:custGeom>
            <a:avLst/>
            <a:gdLst/>
            <a:ahLst/>
            <a:cxnLst/>
            <a:rect l="0" t="0" r="r" b="b"/>
            <a:pathLst>
              <a:path w="1095375" h="95">
                <a:moveTo>
                  <a:pt x="1095375" y="0"/>
                </a:moveTo>
                <a:lnTo>
                  <a:pt x="0" y="0"/>
                </a:lnTo>
              </a:path>
            </a:pathLst>
          </a:custGeom>
          <a:noFill/>
          <a:ln w="20955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rv_to_hypoperfusion head"/>
          <p:cNvSpPr/>
          <p:nvPr/>
        </p:nvSpPr>
        <p:spPr>
          <a:xfrm>
            <a:off x="13525500" y="6724650"/>
            <a:ext cx="90488" cy="76200"/>
          </a:xfrm>
          <a:custGeom>
            <a:avLst/>
            <a:gdLst/>
            <a:ahLst/>
            <a:cxnLst/>
            <a:rect l="0" t="0" r="r" b="b"/>
            <a:pathLst>
              <a:path w="90488" h="76200">
                <a:moveTo>
                  <a:pt x="0" y="38100"/>
                </a:moveTo>
                <a:lnTo>
                  <a:pt x="90488" y="0"/>
                </a:lnTo>
                <a:lnTo>
                  <a:pt x="90488" y="7620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congestion_to_edema"/>
          <p:cNvSpPr/>
          <p:nvPr/>
        </p:nvSpPr>
        <p:spPr>
          <a:xfrm>
            <a:off x="9906000" y="6000750"/>
            <a:ext cx="857250" cy="95"/>
          </a:xfrm>
          <a:custGeom>
            <a:avLst/>
            <a:gdLst/>
            <a:ahLst/>
            <a:cxnLst/>
            <a:rect l="0" t="0" r="r" b="b"/>
            <a:pathLst>
              <a:path w="857250" h="95">
                <a:moveTo>
                  <a:pt x="857250" y="0"/>
                </a:moveTo>
                <a:lnTo>
                  <a:pt x="0" y="0"/>
                </a:lnTo>
              </a:path>
            </a:pathLst>
          </a:custGeom>
          <a:noFill/>
          <a:ln w="20955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congestion_to_edema head"/>
          <p:cNvSpPr/>
          <p:nvPr/>
        </p:nvSpPr>
        <p:spPr>
          <a:xfrm>
            <a:off x="9906000" y="5962650"/>
            <a:ext cx="90488" cy="76200"/>
          </a:xfrm>
          <a:custGeom>
            <a:avLst/>
            <a:gdLst/>
            <a:ahLst/>
            <a:cxnLst/>
            <a:rect l="0" t="0" r="r" b="b"/>
            <a:pathLst>
              <a:path w="90488" h="76200">
                <a:moveTo>
                  <a:pt x="0" y="38100"/>
                </a:moveTo>
                <a:lnTo>
                  <a:pt x="90488" y="0"/>
                </a:lnTo>
                <a:lnTo>
                  <a:pt x="90488" y="7620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hypoperfusion_to_mucosa"/>
          <p:cNvSpPr/>
          <p:nvPr/>
        </p:nvSpPr>
        <p:spPr>
          <a:xfrm>
            <a:off x="10163175" y="6762750"/>
            <a:ext cx="504825" cy="95"/>
          </a:xfrm>
          <a:custGeom>
            <a:avLst/>
            <a:gdLst/>
            <a:ahLst/>
            <a:cxnLst/>
            <a:rect l="0" t="0" r="r" b="b"/>
            <a:pathLst>
              <a:path w="504825" h="95">
                <a:moveTo>
                  <a:pt x="504825" y="0"/>
                </a:moveTo>
                <a:lnTo>
                  <a:pt x="0" y="0"/>
                </a:lnTo>
              </a:path>
            </a:pathLst>
          </a:custGeom>
          <a:noFill/>
          <a:ln w="20955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hypoperfusion_to_mucosa head"/>
          <p:cNvSpPr/>
          <p:nvPr/>
        </p:nvSpPr>
        <p:spPr>
          <a:xfrm>
            <a:off x="10163175" y="6724650"/>
            <a:ext cx="90488" cy="76200"/>
          </a:xfrm>
          <a:custGeom>
            <a:avLst/>
            <a:gdLst/>
            <a:ahLst/>
            <a:cxnLst/>
            <a:rect l="0" t="0" r="r" b="b"/>
            <a:pathLst>
              <a:path w="90488" h="76200">
                <a:moveTo>
                  <a:pt x="0" y="38100"/>
                </a:moveTo>
                <a:lnTo>
                  <a:pt x="90488" y="0"/>
                </a:lnTo>
                <a:lnTo>
                  <a:pt x="90488" y="7620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edema_to_join"/>
          <p:cNvSpPr/>
          <p:nvPr/>
        </p:nvSpPr>
        <p:spPr>
          <a:xfrm>
            <a:off x="6191250" y="6000750"/>
            <a:ext cx="923925" cy="266700"/>
          </a:xfrm>
          <a:custGeom>
            <a:avLst/>
            <a:gdLst/>
            <a:ahLst/>
            <a:cxnLst/>
            <a:rect l="0" t="0" r="r" b="b"/>
            <a:pathLst>
              <a:path w="923925" h="266700">
                <a:moveTo>
                  <a:pt x="923925" y="0"/>
                </a:moveTo>
                <a:cubicBezTo>
                  <a:pt x="466725" y="0"/>
                  <a:pt x="180975" y="66675"/>
                  <a:pt x="0" y="266700"/>
                </a:cubicBezTo>
              </a:path>
            </a:pathLst>
          </a:custGeom>
          <a:noFill/>
          <a:ln w="2000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mucosa_to_join"/>
          <p:cNvSpPr/>
          <p:nvPr/>
        </p:nvSpPr>
        <p:spPr>
          <a:xfrm>
            <a:off x="6191250" y="6267450"/>
            <a:ext cx="628650" cy="495300"/>
          </a:xfrm>
          <a:custGeom>
            <a:avLst/>
            <a:gdLst/>
            <a:ahLst/>
            <a:cxnLst/>
            <a:rect l="0" t="0" r="r" b="b"/>
            <a:pathLst>
              <a:path w="628650" h="495300">
                <a:moveTo>
                  <a:pt x="628650" y="495300"/>
                </a:moveTo>
                <a:cubicBezTo>
                  <a:pt x="285750" y="495300"/>
                  <a:pt x="19050" y="304800"/>
                  <a:pt x="0" y="0"/>
                </a:cubicBezTo>
              </a:path>
            </a:pathLst>
          </a:custGeom>
          <a:noFill/>
          <a:ln w="2000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Intestinal feedback convergence"/>
          <p:cNvSpPr/>
          <p:nvPr/>
        </p:nvSpPr>
        <p:spPr>
          <a:xfrm>
            <a:off x="6169342" y="6245542"/>
            <a:ext cx="43815" cy="43815"/>
          </a:xfrm>
          <a:prstGeom prst="ellipse">
            <a:avLst/>
          </a:pr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return_to_gut_alterations"/>
          <p:cNvSpPr/>
          <p:nvPr/>
        </p:nvSpPr>
        <p:spPr>
          <a:xfrm>
            <a:off x="4419600" y="5105400"/>
            <a:ext cx="1771650" cy="1162050"/>
          </a:xfrm>
          <a:custGeom>
            <a:avLst/>
            <a:gdLst/>
            <a:ahLst/>
            <a:cxnLst/>
            <a:rect l="0" t="0" r="r" b="b"/>
            <a:pathLst>
              <a:path w="1771650" h="1162050">
                <a:moveTo>
                  <a:pt x="1771650" y="1162050"/>
                </a:moveTo>
                <a:cubicBezTo>
                  <a:pt x="914400" y="1162050"/>
                  <a:pt x="57150" y="809625"/>
                  <a:pt x="0" y="0"/>
                </a:cubicBezTo>
              </a:path>
            </a:pathLst>
          </a:custGeom>
          <a:noFill/>
          <a:ln w="20955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return_to_gut_alterations head"/>
          <p:cNvSpPr/>
          <p:nvPr/>
        </p:nvSpPr>
        <p:spPr>
          <a:xfrm>
            <a:off x="4387966" y="5105400"/>
            <a:ext cx="76011" cy="92946"/>
          </a:xfrm>
          <a:custGeom>
            <a:avLst/>
            <a:gdLst/>
            <a:ahLst/>
            <a:cxnLst/>
            <a:rect l="0" t="0" r="r" b="b"/>
            <a:pathLst>
              <a:path w="76011" h="92946">
                <a:moveTo>
                  <a:pt x="31634" y="0"/>
                </a:moveTo>
                <a:lnTo>
                  <a:pt x="76011" y="87580"/>
                </a:lnTo>
                <a:lnTo>
                  <a:pt x="0" y="92946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gut_alterations"/>
          <p:cNvSpPr txBox="1"/>
          <p:nvPr/>
        </p:nvSpPr>
        <p:spPr>
          <a:xfrm>
            <a:off x="3219450" y="4695825"/>
            <a:ext cx="24765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00" b="1" i="0">
                <a:solidFill>
                  <a:srgbClr val="30485F"/>
                </a:solidFill>
                <a:latin typeface="Times New Roman"/>
              </a:rPr>
              <a:t>Gut alterations</a:t>
            </a:r>
          </a:p>
        </p:txBody>
      </p:sp>
      <p:sp>
        <p:nvSpPr>
          <p:cNvPr id="330" name="gut_alterations_to_fork"/>
          <p:cNvSpPr/>
          <p:nvPr/>
        </p:nvSpPr>
        <p:spPr>
          <a:xfrm>
            <a:off x="2867025" y="4867275"/>
            <a:ext cx="352425" cy="95"/>
          </a:xfrm>
          <a:custGeom>
            <a:avLst/>
            <a:gdLst/>
            <a:ahLst/>
            <a:cxnLst/>
            <a:rect l="0" t="0" r="r" b="b"/>
            <a:pathLst>
              <a:path w="352425" h="95">
                <a:moveTo>
                  <a:pt x="352425" y="0"/>
                </a:moveTo>
                <a:lnTo>
                  <a:pt x="0" y="0"/>
                </a:lnTo>
              </a:path>
            </a:pathLst>
          </a:custGeom>
          <a:noFill/>
          <a:ln w="2000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reverse_to_barrier"/>
          <p:cNvSpPr/>
          <p:nvPr/>
        </p:nvSpPr>
        <p:spPr>
          <a:xfrm>
            <a:off x="2667000" y="2400300"/>
            <a:ext cx="200025" cy="2466975"/>
          </a:xfrm>
          <a:custGeom>
            <a:avLst/>
            <a:gdLst/>
            <a:ahLst/>
            <a:cxnLst/>
            <a:rect l="0" t="0" r="r" b="b"/>
            <a:pathLst>
              <a:path w="200025" h="2466975">
                <a:moveTo>
                  <a:pt x="200025" y="2466975"/>
                </a:moveTo>
                <a:cubicBezTo>
                  <a:pt x="28575" y="2409825"/>
                  <a:pt x="0" y="2162175"/>
                  <a:pt x="0" y="1885950"/>
                </a:cubicBezTo>
                <a:cubicBezTo>
                  <a:pt x="0" y="971550"/>
                  <a:pt x="0" y="238125"/>
                  <a:pt x="85725" y="0"/>
                </a:cubicBezTo>
              </a:path>
            </a:pathLst>
          </a:custGeom>
          <a:noFill/>
          <a:ln w="20955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reverse_to_barrier head"/>
          <p:cNvSpPr/>
          <p:nvPr/>
        </p:nvSpPr>
        <p:spPr>
          <a:xfrm>
            <a:off x="2686227" y="2400300"/>
            <a:ext cx="71696" cy="98044"/>
          </a:xfrm>
          <a:custGeom>
            <a:avLst/>
            <a:gdLst/>
            <a:ahLst/>
            <a:cxnLst/>
            <a:rect l="0" t="0" r="r" b="b"/>
            <a:pathLst>
              <a:path w="71696" h="98044">
                <a:moveTo>
                  <a:pt x="66498" y="0"/>
                </a:moveTo>
                <a:lnTo>
                  <a:pt x="71696" y="98044"/>
                </a:lnTo>
                <a:lnTo>
                  <a:pt x="0" y="72233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candidate_ecological_response"/>
          <p:cNvSpPr/>
          <p:nvPr/>
        </p:nvSpPr>
        <p:spPr>
          <a:xfrm>
            <a:off x="2867025" y="3876675"/>
            <a:ext cx="161925" cy="990600"/>
          </a:xfrm>
          <a:custGeom>
            <a:avLst/>
            <a:gdLst/>
            <a:ahLst/>
            <a:cxnLst/>
            <a:rect l="0" t="0" r="r" b="b"/>
            <a:pathLst>
              <a:path w="161925" h="990600">
                <a:moveTo>
                  <a:pt x="0" y="990600"/>
                </a:moveTo>
                <a:cubicBezTo>
                  <a:pt x="9525" y="609600"/>
                  <a:pt x="76200" y="228600"/>
                  <a:pt x="161925" y="0"/>
                </a:cubicBezTo>
              </a:path>
            </a:pathLst>
          </a:custGeom>
          <a:noFill/>
          <a:ln w="20955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candidate_ecological_response head"/>
          <p:cNvSpPr/>
          <p:nvPr/>
        </p:nvSpPr>
        <p:spPr>
          <a:xfrm>
            <a:off x="2961504" y="3876675"/>
            <a:ext cx="71348" cy="98104"/>
          </a:xfrm>
          <a:custGeom>
            <a:avLst/>
            <a:gdLst/>
            <a:ahLst/>
            <a:cxnLst/>
            <a:rect l="0" t="0" r="r" b="b"/>
            <a:pathLst>
              <a:path w="71348" h="98104">
                <a:moveTo>
                  <a:pt x="67446" y="0"/>
                </a:moveTo>
                <a:lnTo>
                  <a:pt x="71348" y="98104"/>
                </a:lnTo>
                <a:lnTo>
                  <a:pt x="0" y="71348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candidate_ecology"/>
          <p:cNvSpPr txBox="1"/>
          <p:nvPr/>
        </p:nvSpPr>
        <p:spPr>
          <a:xfrm>
            <a:off x="3248025" y="4219575"/>
            <a:ext cx="2609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70" b="0" i="1">
                <a:solidFill>
                  <a:srgbClr val="697786"/>
                </a:solidFill>
                <a:latin typeface="Times New Roman"/>
              </a:rPr>
              <a:t>Candidate ecological response</a:t>
            </a:r>
          </a:p>
        </p:txBody>
      </p:sp>
      <p:sp>
        <p:nvSpPr>
          <p:cNvPr id="336" name="Evidence strip separator"/>
          <p:cNvSpPr/>
          <p:nvPr/>
        </p:nvSpPr>
        <p:spPr>
          <a:xfrm>
            <a:off x="419100" y="7334250"/>
            <a:ext cx="14401800" cy="95"/>
          </a:xfrm>
          <a:custGeom>
            <a:avLst/>
            <a:gdLst/>
            <a:ahLst/>
            <a:cxnLst/>
            <a:rect l="0" t="0" r="r" b="b"/>
            <a:pathLst>
              <a:path w="14401800" h="95">
                <a:moveTo>
                  <a:pt x="0" y="0"/>
                </a:moveTo>
                <a:lnTo>
                  <a:pt x="14401800" y="0"/>
                </a:lnTo>
              </a:path>
            </a:pathLst>
          </a:custGeom>
          <a:noFill/>
          <a:ln w="9525" cap="rnd">
            <a:solidFill>
              <a:srgbClr val="D9DFD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Experimental evidence strip"/>
          <p:cNvSpPr/>
          <p:nvPr/>
        </p:nvSpPr>
        <p:spPr>
          <a:xfrm>
            <a:off x="419100" y="7448550"/>
            <a:ext cx="14401800" cy="733425"/>
          </a:xfrm>
          <a:prstGeom prst="rect">
            <a:avLst/>
          </a:prstGeom>
          <a:solidFill>
            <a:srgbClr val="F7F8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Experimental evidence marker"/>
          <p:cNvSpPr/>
          <p:nvPr/>
        </p:nvSpPr>
        <p:spPr>
          <a:xfrm>
            <a:off x="552450" y="7553325"/>
            <a:ext cx="95" cy="504825"/>
          </a:xfrm>
          <a:custGeom>
            <a:avLst/>
            <a:gdLst/>
            <a:ahLst/>
            <a:cxnLst/>
            <a:rect l="0" t="0" r="r" b="b"/>
            <a:pathLst>
              <a:path w="95" h="504825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23812" cap="rnd">
            <a:solidFill>
              <a:srgbClr val="8DA99C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lgg_strain"/>
          <p:cNvSpPr txBox="1"/>
          <p:nvPr/>
        </p:nvSpPr>
        <p:spPr>
          <a:xfrm>
            <a:off x="723900" y="7524750"/>
            <a:ext cx="30861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600" b="1" i="1">
                <a:solidFill>
                  <a:srgbClr val="283B4E"/>
                </a:solidFill>
                <a:latin typeface="Times New Roman"/>
              </a:rPr>
              <a:t>L. rhamnosus GG</a:t>
            </a:r>
          </a:p>
        </p:txBody>
      </p:sp>
      <p:sp>
        <p:nvSpPr>
          <p:cNvPr id="340" name="lgg_model"/>
          <p:cNvSpPr txBox="1"/>
          <p:nvPr/>
        </p:nvSpPr>
        <p:spPr>
          <a:xfrm>
            <a:off x="723900" y="7829550"/>
            <a:ext cx="3105150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150" b="0" i="0">
                <a:solidFill>
                  <a:srgbClr val="697786"/>
                </a:solidFill>
                <a:latin typeface="Times New Roman"/>
              </a:rPr>
              <a:t>Experimental PH · MCT rats [71]</a:t>
            </a:r>
          </a:p>
        </p:txBody>
      </p:sp>
      <p:sp>
        <p:nvSpPr>
          <p:cNvPr id="341" name="lgg_rv_function"/>
          <p:cNvSpPr txBox="1"/>
          <p:nvPr/>
        </p:nvSpPr>
        <p:spPr>
          <a:xfrm>
            <a:off x="4276725" y="7543800"/>
            <a:ext cx="4019550" cy="257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470" b="1" i="0">
                <a:solidFill>
                  <a:srgbClr val="477B60"/>
                </a:solidFill>
                <a:latin typeface="Times New Roman"/>
              </a:rPr>
              <a:t>RV function improved</a:t>
            </a:r>
          </a:p>
        </p:txBody>
      </p:sp>
      <p:sp>
        <p:nvSpPr>
          <p:cNvPr id="342" name="lgg_rv_fibrosis"/>
          <p:cNvSpPr txBox="1"/>
          <p:nvPr/>
        </p:nvSpPr>
        <p:spPr>
          <a:xfrm>
            <a:off x="4276725" y="7820025"/>
            <a:ext cx="4019550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0">
                <a:solidFill>
                  <a:srgbClr val="477B60"/>
                </a:solidFill>
                <a:latin typeface="Times New Roman"/>
              </a:rPr>
              <a:t>RV fibrosis reduced</a:t>
            </a:r>
          </a:p>
        </p:txBody>
      </p:sp>
      <p:sp>
        <p:nvSpPr>
          <p:cNvPr id="343" name="lgg_pulmonary_endpoint"/>
          <p:cNvSpPr txBox="1"/>
          <p:nvPr/>
        </p:nvSpPr>
        <p:spPr>
          <a:xfrm>
            <a:off x="8915400" y="7543800"/>
            <a:ext cx="5657850" cy="257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350" b="1" i="0">
                <a:solidFill>
                  <a:srgbClr val="283B4E"/>
                </a:solidFill>
                <a:latin typeface="Times New Roman"/>
              </a:rPr>
              <a:t>Pulmonary vascular load / arteriole remodeling</a:t>
            </a:r>
          </a:p>
        </p:txBody>
      </p:sp>
      <p:sp>
        <p:nvSpPr>
          <p:cNvPr id="344" name="lgg_pulmonary_result"/>
          <p:cNvSpPr txBox="1"/>
          <p:nvPr/>
        </p:nvSpPr>
        <p:spPr>
          <a:xfrm>
            <a:off x="8915400" y="7820025"/>
            <a:ext cx="5657850" cy="219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260" b="0" i="1">
                <a:solidFill>
                  <a:srgbClr val="697786"/>
                </a:solidFill>
                <a:latin typeface="Times New Roman"/>
              </a:rPr>
              <a:t>No significant change</a:t>
            </a:r>
          </a:p>
        </p:txBody>
      </p:sp>
      <p:sp>
        <p:nvSpPr>
          <p:cNvPr id="345" name="Microbiota color key"/>
          <p:cNvSpPr/>
          <p:nvPr/>
        </p:nvSpPr>
        <p:spPr>
          <a:xfrm>
            <a:off x="419100" y="8401050"/>
            <a:ext cx="419100" cy="95"/>
          </a:xfrm>
          <a:custGeom>
            <a:avLst/>
            <a:gdLst/>
            <a:ahLst/>
            <a:cxnLst/>
            <a:rect l="0" t="0" r="r" b="b"/>
            <a:pathLst>
              <a:path w="419100" h="95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19050" cap="rnd">
            <a:solidFill>
              <a:srgbClr val="287A7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legend_microbiota"/>
          <p:cNvSpPr txBox="1"/>
          <p:nvPr/>
        </p:nvSpPr>
        <p:spPr>
          <a:xfrm>
            <a:off x="942975" y="8267700"/>
            <a:ext cx="240982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070" b="0" i="0">
                <a:solidFill>
                  <a:srgbClr val="287A7D"/>
                </a:solidFill>
                <a:latin typeface="Times New Roman"/>
              </a:rPr>
              <a:t>Microbiota-related signals</a:t>
            </a:r>
          </a:p>
        </p:txBody>
      </p:sp>
      <p:sp>
        <p:nvSpPr>
          <p:cNvPr id="347" name="Hemodynamics color key"/>
          <p:cNvSpPr/>
          <p:nvPr/>
        </p:nvSpPr>
        <p:spPr>
          <a:xfrm>
            <a:off x="3505200" y="8401050"/>
            <a:ext cx="419100" cy="95"/>
          </a:xfrm>
          <a:custGeom>
            <a:avLst/>
            <a:gdLst/>
            <a:ahLst/>
            <a:cxnLst/>
            <a:rect l="0" t="0" r="r" b="b"/>
            <a:pathLst>
              <a:path w="419100" h="95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19050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legend_hemodynamics"/>
          <p:cNvSpPr txBox="1"/>
          <p:nvPr/>
        </p:nvSpPr>
        <p:spPr>
          <a:xfrm>
            <a:off x="4029075" y="8267700"/>
            <a:ext cx="211455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070" b="0" i="0">
                <a:solidFill>
                  <a:srgbClr val="30485F"/>
                </a:solidFill>
                <a:latin typeface="Times New Roman"/>
              </a:rPr>
              <a:t>Hemodynamic effects</a:t>
            </a:r>
          </a:p>
        </p:txBody>
      </p:sp>
      <p:sp>
        <p:nvSpPr>
          <p:cNvPr id="349" name="legend_established"/>
          <p:cNvSpPr/>
          <p:nvPr/>
        </p:nvSpPr>
        <p:spPr>
          <a:xfrm>
            <a:off x="6410325" y="8401050"/>
            <a:ext cx="485775" cy="95"/>
          </a:xfrm>
          <a:custGeom>
            <a:avLst/>
            <a:gdLst/>
            <a:ahLst/>
            <a:cxnLst/>
            <a:rect l="0" t="0" r="r" b="b"/>
            <a:pathLst>
              <a:path w="485775" h="9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16192" cap="rnd">
            <a:solidFill>
              <a:srgbClr val="30485F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legend_established head"/>
          <p:cNvSpPr/>
          <p:nvPr/>
        </p:nvSpPr>
        <p:spPr>
          <a:xfrm>
            <a:off x="6805612" y="8362950"/>
            <a:ext cx="90488" cy="76200"/>
          </a:xfrm>
          <a:custGeom>
            <a:avLst/>
            <a:gdLst/>
            <a:ahLst/>
            <a:cxnLst/>
            <a:rect l="0" t="0" r="r" b="b"/>
            <a:pathLst>
              <a:path w="90488" h="76200">
                <a:moveTo>
                  <a:pt x="90488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legend_solid"/>
          <p:cNvSpPr txBox="1"/>
          <p:nvPr/>
        </p:nvSpPr>
        <p:spPr>
          <a:xfrm>
            <a:off x="7029450" y="8267700"/>
            <a:ext cx="21240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070" b="0" i="0">
                <a:solidFill>
                  <a:srgbClr val="283B4E"/>
                </a:solidFill>
                <a:latin typeface="Times New Roman"/>
              </a:rPr>
              <a:t>Established relation</a:t>
            </a:r>
          </a:p>
        </p:txBody>
      </p:sp>
      <p:sp>
        <p:nvSpPr>
          <p:cNvPr id="352" name="legend_proposed"/>
          <p:cNvSpPr/>
          <p:nvPr/>
        </p:nvSpPr>
        <p:spPr>
          <a:xfrm>
            <a:off x="9534525" y="8401050"/>
            <a:ext cx="485775" cy="95"/>
          </a:xfrm>
          <a:custGeom>
            <a:avLst/>
            <a:gdLst/>
            <a:ahLst/>
            <a:cxnLst/>
            <a:rect l="0" t="0" r="r" b="b"/>
            <a:pathLst>
              <a:path w="485775" h="9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16192" cap="rnd">
            <a:solidFill>
              <a:srgbClr val="30485F"/>
            </a:solidFill>
            <a:prstDash val="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legend_proposed head"/>
          <p:cNvSpPr/>
          <p:nvPr/>
        </p:nvSpPr>
        <p:spPr>
          <a:xfrm>
            <a:off x="9929812" y="8362950"/>
            <a:ext cx="90488" cy="76200"/>
          </a:xfrm>
          <a:custGeom>
            <a:avLst/>
            <a:gdLst/>
            <a:ahLst/>
            <a:cxnLst/>
            <a:rect l="0" t="0" r="r" b="b"/>
            <a:pathLst>
              <a:path w="90488" h="76200">
                <a:moveTo>
                  <a:pt x="90488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304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legend_dashed"/>
          <p:cNvSpPr txBox="1"/>
          <p:nvPr/>
        </p:nvSpPr>
        <p:spPr>
          <a:xfrm>
            <a:off x="10153650" y="8267700"/>
            <a:ext cx="466725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lnSpc>
                <a:spcPct val="100000"/>
              </a:lnSpc>
            </a:pPr>
            <a:r>
              <a:rPr sz="1070" b="0" i="0">
                <a:solidFill>
                  <a:srgbClr val="283B4E"/>
                </a:solidFill>
                <a:latin typeface="Times New Roman"/>
              </a:rPr>
              <a:t>Proposed PAH link / incomplete pathway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/>
  <PresentationFormat>On-screen Show (16:9)</PresentationFormat>
  <Slides>1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Gut–pulmonary vascular–right ventricular interactions in PAH</dc:title>
  <dc:subject/>
  <dc:creator/>
  <cp:keywords/>
  <dc:description/>
  <cp:lastModifiedBy/>
  <cp:revision>1</cp:revision>
  <dcterms:created xsi:type="dcterms:W3CDTF">2026-10-17T16:39:16Z</dcterms:created>
  <dcterms:modified xsi:type="dcterms:W3CDTF">2026-10-17T16:39:16Z</dcterms:modified>
  <cp:category/>
  <dc:identifier/>
  <cp:contentStatus/>
  <cp:version/>
</cp:coreProperties>
</file>