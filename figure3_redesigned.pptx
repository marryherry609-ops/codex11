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212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ft three-color paper"/>
          <p:cNvSpPr/>
          <p:nvPr/>
        </p:nvSpPr>
        <p:spPr>
          <a:xfrm>
            <a:off x="0" y="0"/>
            <a:ext cx="6480000" cy="4212000"/>
          </a:xfrm>
          <a:prstGeom prst="rect">
            <a:avLst/>
          </a:prstGeom>
          <a:gradFill rotWithShape="1">
            <a:gsLst>
              <a:gs pos="0">
                <a:srgbClr val="FFF1DF"/>
              </a:gs>
              <a:gs pos="46000">
                <a:srgbClr val="F4F4E9"/>
              </a:gs>
              <a:gs pos="100000">
                <a:srgbClr val="DFEAF8"/>
              </a:gs>
            </a:gsLst>
            <a:lin ang="12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igure_title"/>
          <p:cNvSpPr txBox="1"/>
          <p:nvPr/>
        </p:nvSpPr>
        <p:spPr>
          <a:xfrm>
            <a:off x="178200" y="68850"/>
            <a:ext cx="6123600" cy="1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978" b="1" i="0">
                <a:solidFill>
                  <a:srgbClr val="283B4E"/>
                </a:solidFill>
                <a:latin typeface="Times New Roman"/>
              </a:rPr>
              <a:t>Gut–pulmonary vascular–right ventricular interactions in PAH</a:t>
            </a:r>
          </a:p>
        </p:txBody>
      </p:sp>
      <p:sp>
        <p:nvSpPr>
          <p:cNvPr id="4" name="panel_gut"/>
          <p:cNvSpPr txBox="1"/>
          <p:nvPr/>
        </p:nvSpPr>
        <p:spPr>
          <a:xfrm>
            <a:off x="194400" y="275400"/>
            <a:ext cx="2389500" cy="12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50" b="1" i="0">
                <a:solidFill>
                  <a:srgbClr val="283B4E"/>
                </a:solidFill>
                <a:latin typeface="Times New Roman"/>
              </a:rPr>
              <a:t>A   Intestinal changes</a:t>
            </a:r>
          </a:p>
        </p:txBody>
      </p:sp>
      <p:sp>
        <p:nvSpPr>
          <p:cNvPr id="5" name="panel_lung"/>
          <p:cNvSpPr txBox="1"/>
          <p:nvPr/>
        </p:nvSpPr>
        <p:spPr>
          <a:xfrm>
            <a:off x="2907900" y="275400"/>
            <a:ext cx="1599750" cy="12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50" b="1" i="0">
                <a:solidFill>
                  <a:srgbClr val="283B4E"/>
                </a:solidFill>
                <a:latin typeface="Times New Roman"/>
              </a:rPr>
              <a:t>B   Pulmonary vasculature</a:t>
            </a:r>
          </a:p>
        </p:txBody>
      </p:sp>
      <p:sp>
        <p:nvSpPr>
          <p:cNvPr id="6" name="panel_rv"/>
          <p:cNvSpPr txBox="1"/>
          <p:nvPr/>
        </p:nvSpPr>
        <p:spPr>
          <a:xfrm>
            <a:off x="4779000" y="275400"/>
            <a:ext cx="1522800" cy="12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50" b="1" i="0">
                <a:solidFill>
                  <a:srgbClr val="283B4E"/>
                </a:solidFill>
                <a:latin typeface="Times New Roman"/>
              </a:rPr>
              <a:t>C   Right ventricle</a:t>
            </a:r>
          </a:p>
        </p:txBody>
      </p:sp>
      <p:sp>
        <p:nvSpPr>
          <p:cNvPr id="7" name="Compartment rule"/>
          <p:cNvSpPr/>
          <p:nvPr/>
        </p:nvSpPr>
        <p:spPr>
          <a:xfrm>
            <a:off x="194400" y="437400"/>
            <a:ext cx="2462400" cy="40"/>
          </a:xfrm>
          <a:custGeom>
            <a:avLst/>
            <a:gdLst/>
            <a:ahLst/>
            <a:cxnLst/>
            <a:rect l="0" t="0" r="r" b="b"/>
            <a:pathLst>
              <a:path w="5791200" h="95">
                <a:moveTo>
                  <a:pt x="0" y="0"/>
                </a:moveTo>
                <a:lnTo>
                  <a:pt x="5791200" y="0"/>
                </a:lnTo>
              </a:path>
            </a:pathLst>
          </a:custGeom>
          <a:noFill/>
          <a:ln w="405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mpartment rule"/>
          <p:cNvSpPr/>
          <p:nvPr/>
        </p:nvSpPr>
        <p:spPr>
          <a:xfrm>
            <a:off x="2907900" y="437400"/>
            <a:ext cx="1599750" cy="40"/>
          </a:xfrm>
          <a:custGeom>
            <a:avLst/>
            <a:gdLst/>
            <a:ahLst/>
            <a:cxnLst/>
            <a:rect l="0" t="0" r="r" b="b"/>
            <a:pathLst>
              <a:path w="3762375" h="95">
                <a:moveTo>
                  <a:pt x="0" y="0"/>
                </a:moveTo>
                <a:lnTo>
                  <a:pt x="3762375" y="0"/>
                </a:lnTo>
              </a:path>
            </a:pathLst>
          </a:custGeom>
          <a:noFill/>
          <a:ln w="405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mpartment rule"/>
          <p:cNvSpPr/>
          <p:nvPr/>
        </p:nvSpPr>
        <p:spPr>
          <a:xfrm>
            <a:off x="4779000" y="437400"/>
            <a:ext cx="1522800" cy="40"/>
          </a:xfrm>
          <a:custGeom>
            <a:avLst/>
            <a:gdLst/>
            <a:ahLst/>
            <a:cxnLst/>
            <a:rect l="0" t="0" r="r" b="b"/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405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0" name="Editable intestine with refined haustra and small-bowel coils"/>
          <p:cNvGrpSpPr/>
          <p:nvPr/>
        </p:nvGrpSpPr>
        <p:grpSpPr>
          <a:xfrm>
            <a:off x="198450" y="546750"/>
            <a:ext cx="696600" cy="886950"/>
            <a:chOff x="130711" y="60203"/>
            <a:chExt cx="605228" cy="767102"/>
          </a:xfrm>
        </p:grpSpPr>
        <p:sp>
          <p:nvSpPr>
            <p:cNvPr id="11" name="Fine mesenteric tissue field"/>
            <p:cNvSpPr/>
            <p:nvPr/>
          </p:nvSpPr>
          <p:spPr>
            <a:xfrm>
              <a:off x="218700" y="222750"/>
              <a:ext cx="429300" cy="360450"/>
            </a:xfrm>
            <a:custGeom>
              <a:avLst/>
              <a:gdLst/>
              <a:ahLst/>
              <a:cxnLst/>
              <a:rect l="0" t="0" r="r" b="b"/>
              <a:pathLst>
                <a:path w="1009650" h="847725">
                  <a:moveTo>
                    <a:pt x="76200" y="85725"/>
                  </a:moveTo>
                  <a:cubicBezTo>
                    <a:pt x="304800" y="0"/>
                    <a:pt x="685800" y="9525"/>
                    <a:pt x="904875" y="123825"/>
                  </a:cubicBezTo>
                  <a:cubicBezTo>
                    <a:pt x="1009650" y="295275"/>
                    <a:pt x="971550" y="571500"/>
                    <a:pt x="857250" y="723900"/>
                  </a:cubicBezTo>
                  <a:cubicBezTo>
                    <a:pt x="638175" y="847725"/>
                    <a:pt x="304800" y="819150"/>
                    <a:pt x="142875" y="676275"/>
                  </a:cubicBezTo>
                  <a:cubicBezTo>
                    <a:pt x="28575" y="504825"/>
                    <a:pt x="0" y="247650"/>
                    <a:pt x="76200" y="85725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DB"/>
                </a:gs>
                <a:gs pos="60000">
                  <a:srgbClr val="F9DECE"/>
                </a:gs>
                <a:gs pos="100000">
                  <a:srgbClr val="F3C9B7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ndividual small-bowel fold 01"/>
            <p:cNvSpPr/>
            <p:nvPr/>
          </p:nvSpPr>
          <p:spPr>
            <a:xfrm>
              <a:off x="254044" y="229396"/>
              <a:ext cx="358701" cy="140047"/>
            </a:xfrm>
            <a:custGeom>
              <a:avLst/>
              <a:gdLst/>
              <a:ahLst/>
              <a:cxnLst/>
              <a:rect l="0" t="0" r="r" b="b"/>
              <a:pathLst>
                <a:path w="843612" h="329369">
                  <a:moveTo>
                    <a:pt x="74147" y="143125"/>
                  </a:moveTo>
                  <a:lnTo>
                    <a:pt x="87588" y="135825"/>
                  </a:lnTo>
                  <a:lnTo>
                    <a:pt x="97905" y="131551"/>
                  </a:lnTo>
                  <a:lnTo>
                    <a:pt x="107461" y="128753"/>
                  </a:lnTo>
                  <a:lnTo>
                    <a:pt x="116638" y="127133"/>
                  </a:lnTo>
                  <a:lnTo>
                    <a:pt x="125857" y="126505"/>
                  </a:lnTo>
                  <a:lnTo>
                    <a:pt x="135503" y="126797"/>
                  </a:lnTo>
                  <a:lnTo>
                    <a:pt x="145859" y="128003"/>
                  </a:lnTo>
                  <a:lnTo>
                    <a:pt x="157100" y="130128"/>
                  </a:lnTo>
                  <a:lnTo>
                    <a:pt x="169317" y="133144"/>
                  </a:lnTo>
                  <a:lnTo>
                    <a:pt x="182550" y="136980"/>
                  </a:lnTo>
                  <a:lnTo>
                    <a:pt x="196822" y="141515"/>
                  </a:lnTo>
                  <a:lnTo>
                    <a:pt x="212155" y="146593"/>
                  </a:lnTo>
                  <a:lnTo>
                    <a:pt x="228576" y="152031"/>
                  </a:lnTo>
                  <a:lnTo>
                    <a:pt x="246123" y="157626"/>
                  </a:lnTo>
                  <a:lnTo>
                    <a:pt x="264835" y="163163"/>
                  </a:lnTo>
                  <a:lnTo>
                    <a:pt x="284755" y="168415"/>
                  </a:lnTo>
                  <a:lnTo>
                    <a:pt x="305923" y="173155"/>
                  </a:lnTo>
                  <a:lnTo>
                    <a:pt x="328700" y="177201"/>
                  </a:lnTo>
                  <a:lnTo>
                    <a:pt x="351827" y="179716"/>
                  </a:lnTo>
                  <a:lnTo>
                    <a:pt x="375281" y="179757"/>
                  </a:lnTo>
                  <a:lnTo>
                    <a:pt x="397746" y="177498"/>
                  </a:lnTo>
                  <a:lnTo>
                    <a:pt x="419111" y="173361"/>
                  </a:lnTo>
                  <a:lnTo>
                    <a:pt x="439370" y="167787"/>
                  </a:lnTo>
                  <a:lnTo>
                    <a:pt x="458601" y="161193"/>
                  </a:lnTo>
                  <a:lnTo>
                    <a:pt x="476929" y="153948"/>
                  </a:lnTo>
                  <a:lnTo>
                    <a:pt x="494500" y="146376"/>
                  </a:lnTo>
                  <a:lnTo>
                    <a:pt x="511453" y="138762"/>
                  </a:lnTo>
                  <a:lnTo>
                    <a:pt x="527918" y="131355"/>
                  </a:lnTo>
                  <a:lnTo>
                    <a:pt x="544007" y="124380"/>
                  </a:lnTo>
                  <a:lnTo>
                    <a:pt x="559820" y="118032"/>
                  </a:lnTo>
                  <a:lnTo>
                    <a:pt x="575458" y="112483"/>
                  </a:lnTo>
                  <a:lnTo>
                    <a:pt x="591032" y="107878"/>
                  </a:lnTo>
                  <a:lnTo>
                    <a:pt x="606681" y="104341"/>
                  </a:lnTo>
                  <a:lnTo>
                    <a:pt x="622588" y="101988"/>
                  </a:lnTo>
                  <a:lnTo>
                    <a:pt x="638983" y="100950"/>
                  </a:lnTo>
                  <a:lnTo>
                    <a:pt x="658093" y="101498"/>
                  </a:lnTo>
                  <a:lnTo>
                    <a:pt x="675449" y="102199"/>
                  </a:lnTo>
                  <a:lnTo>
                    <a:pt x="689471" y="104082"/>
                  </a:lnTo>
                  <a:lnTo>
                    <a:pt x="701855" y="106976"/>
                  </a:lnTo>
                  <a:lnTo>
                    <a:pt x="712529" y="110661"/>
                  </a:lnTo>
                  <a:lnTo>
                    <a:pt x="721440" y="114892"/>
                  </a:lnTo>
                  <a:lnTo>
                    <a:pt x="728579" y="119404"/>
                  </a:lnTo>
                  <a:lnTo>
                    <a:pt x="733995" y="123918"/>
                  </a:lnTo>
                  <a:lnTo>
                    <a:pt x="737833" y="128180"/>
                  </a:lnTo>
                  <a:lnTo>
                    <a:pt x="740335" y="132021"/>
                  </a:lnTo>
                  <a:lnTo>
                    <a:pt x="741816" y="135430"/>
                  </a:lnTo>
                  <a:lnTo>
                    <a:pt x="742571" y="138623"/>
                  </a:lnTo>
                  <a:lnTo>
                    <a:pt x="742739" y="142015"/>
                  </a:lnTo>
                  <a:lnTo>
                    <a:pt x="742203" y="146092"/>
                  </a:lnTo>
                  <a:lnTo>
                    <a:pt x="740598" y="151237"/>
                  </a:lnTo>
                  <a:lnTo>
                    <a:pt x="737431" y="157620"/>
                  </a:lnTo>
                  <a:lnTo>
                    <a:pt x="732209" y="165192"/>
                  </a:lnTo>
                  <a:lnTo>
                    <a:pt x="724521" y="173754"/>
                  </a:lnTo>
                  <a:lnTo>
                    <a:pt x="714563" y="182642"/>
                  </a:lnTo>
                  <a:lnTo>
                    <a:pt x="709422" y="185723"/>
                  </a:lnTo>
                  <a:lnTo>
                    <a:pt x="702400" y="189197"/>
                  </a:lnTo>
                  <a:lnTo>
                    <a:pt x="694830" y="192068"/>
                  </a:lnTo>
                  <a:lnTo>
                    <a:pt x="686539" y="194430"/>
                  </a:lnTo>
                  <a:lnTo>
                    <a:pt x="677429" y="196334"/>
                  </a:lnTo>
                  <a:lnTo>
                    <a:pt x="667469" y="197828"/>
                  </a:lnTo>
                  <a:lnTo>
                    <a:pt x="656675" y="198983"/>
                  </a:lnTo>
                  <a:lnTo>
                    <a:pt x="645086" y="199894"/>
                  </a:lnTo>
                  <a:lnTo>
                    <a:pt x="632746" y="200693"/>
                  </a:lnTo>
                  <a:lnTo>
                    <a:pt x="619699" y="201541"/>
                  </a:lnTo>
                  <a:lnTo>
                    <a:pt x="605980" y="202628"/>
                  </a:lnTo>
                  <a:lnTo>
                    <a:pt x="591622" y="204178"/>
                  </a:lnTo>
                  <a:lnTo>
                    <a:pt x="576665" y="206447"/>
                  </a:lnTo>
                  <a:lnTo>
                    <a:pt x="561172" y="209717"/>
                  </a:lnTo>
                  <a:lnTo>
                    <a:pt x="545252" y="214293"/>
                  </a:lnTo>
                  <a:lnTo>
                    <a:pt x="529082" y="220476"/>
                  </a:lnTo>
                  <a:lnTo>
                    <a:pt x="512912" y="228527"/>
                  </a:lnTo>
                  <a:lnTo>
                    <a:pt x="499390" y="237044"/>
                  </a:lnTo>
                  <a:lnTo>
                    <a:pt x="485149" y="250652"/>
                  </a:lnTo>
                  <a:lnTo>
                    <a:pt x="477200" y="268673"/>
                  </a:lnTo>
                  <a:lnTo>
                    <a:pt x="476752" y="288366"/>
                  </a:lnTo>
                  <a:lnTo>
                    <a:pt x="483874" y="306730"/>
                  </a:lnTo>
                  <a:lnTo>
                    <a:pt x="497482" y="320971"/>
                  </a:lnTo>
                  <a:lnTo>
                    <a:pt x="515504" y="328921"/>
                  </a:lnTo>
                  <a:lnTo>
                    <a:pt x="535196" y="329369"/>
                  </a:lnTo>
                  <a:lnTo>
                    <a:pt x="553561" y="322246"/>
                  </a:lnTo>
                  <a:lnTo>
                    <a:pt x="553561" y="322246"/>
                  </a:lnTo>
                  <a:lnTo>
                    <a:pt x="562604" y="316417"/>
                  </a:lnTo>
                  <a:lnTo>
                    <a:pt x="569626" y="312943"/>
                  </a:lnTo>
                  <a:lnTo>
                    <a:pt x="577196" y="310072"/>
                  </a:lnTo>
                  <a:lnTo>
                    <a:pt x="585487" y="307710"/>
                  </a:lnTo>
                  <a:lnTo>
                    <a:pt x="594597" y="305806"/>
                  </a:lnTo>
                  <a:lnTo>
                    <a:pt x="604557" y="304312"/>
                  </a:lnTo>
                  <a:lnTo>
                    <a:pt x="615351" y="303157"/>
                  </a:lnTo>
                  <a:lnTo>
                    <a:pt x="626940" y="302246"/>
                  </a:lnTo>
                  <a:lnTo>
                    <a:pt x="639280" y="301447"/>
                  </a:lnTo>
                  <a:lnTo>
                    <a:pt x="652327" y="300599"/>
                  </a:lnTo>
                  <a:lnTo>
                    <a:pt x="666046" y="299512"/>
                  </a:lnTo>
                  <a:lnTo>
                    <a:pt x="680404" y="297962"/>
                  </a:lnTo>
                  <a:lnTo>
                    <a:pt x="695361" y="295693"/>
                  </a:lnTo>
                  <a:lnTo>
                    <a:pt x="710854" y="292423"/>
                  </a:lnTo>
                  <a:lnTo>
                    <a:pt x="726774" y="287847"/>
                  </a:lnTo>
                  <a:lnTo>
                    <a:pt x="742944" y="281664"/>
                  </a:lnTo>
                  <a:lnTo>
                    <a:pt x="759114" y="273613"/>
                  </a:lnTo>
                  <a:lnTo>
                    <a:pt x="776538" y="262348"/>
                  </a:lnTo>
                  <a:lnTo>
                    <a:pt x="795537" y="245522"/>
                  </a:lnTo>
                  <a:lnTo>
                    <a:pt x="811339" y="227901"/>
                  </a:lnTo>
                  <a:lnTo>
                    <a:pt x="824313" y="209053"/>
                  </a:lnTo>
                  <a:lnTo>
                    <a:pt x="834228" y="189017"/>
                  </a:lnTo>
                  <a:lnTo>
                    <a:pt x="840767" y="167978"/>
                  </a:lnTo>
                  <a:lnTo>
                    <a:pt x="843612" y="146342"/>
                  </a:lnTo>
                  <a:lnTo>
                    <a:pt x="842575" y="124725"/>
                  </a:lnTo>
                  <a:lnTo>
                    <a:pt x="837715" y="103851"/>
                  </a:lnTo>
                  <a:lnTo>
                    <a:pt x="829347" y="84369"/>
                  </a:lnTo>
                  <a:lnTo>
                    <a:pt x="817944" y="66729"/>
                  </a:lnTo>
                  <a:lnTo>
                    <a:pt x="803995" y="51158"/>
                  </a:lnTo>
                  <a:lnTo>
                    <a:pt x="787922" y="37720"/>
                  </a:lnTo>
                  <a:lnTo>
                    <a:pt x="770043" y="26395"/>
                  </a:lnTo>
                  <a:lnTo>
                    <a:pt x="750585" y="17143"/>
                  </a:lnTo>
                  <a:lnTo>
                    <a:pt x="729714" y="9931"/>
                  </a:lnTo>
                  <a:lnTo>
                    <a:pt x="707556" y="4750"/>
                  </a:lnTo>
                  <a:lnTo>
                    <a:pt x="684213" y="1615"/>
                  </a:lnTo>
                  <a:lnTo>
                    <a:pt x="661558" y="592"/>
                  </a:lnTo>
                  <a:lnTo>
                    <a:pt x="637244" y="0"/>
                  </a:lnTo>
                  <a:lnTo>
                    <a:pt x="612135" y="1565"/>
                  </a:lnTo>
                  <a:lnTo>
                    <a:pt x="588263" y="5070"/>
                  </a:lnTo>
                  <a:lnTo>
                    <a:pt x="565662" y="10152"/>
                  </a:lnTo>
                  <a:lnTo>
                    <a:pt x="544318" y="16441"/>
                  </a:lnTo>
                  <a:lnTo>
                    <a:pt x="524175" y="23569"/>
                  </a:lnTo>
                  <a:lnTo>
                    <a:pt x="505149" y="31192"/>
                  </a:lnTo>
                  <a:lnTo>
                    <a:pt x="487142" y="38991"/>
                  </a:lnTo>
                  <a:lnTo>
                    <a:pt x="470060" y="46672"/>
                  </a:lnTo>
                  <a:lnTo>
                    <a:pt x="453820" y="53969"/>
                  </a:lnTo>
                  <a:lnTo>
                    <a:pt x="438353" y="60643"/>
                  </a:lnTo>
                  <a:lnTo>
                    <a:pt x="423606" y="66486"/>
                  </a:lnTo>
                  <a:lnTo>
                    <a:pt x="409525" y="71334"/>
                  </a:lnTo>
                  <a:lnTo>
                    <a:pt x="396041" y="75067"/>
                  </a:lnTo>
                  <a:lnTo>
                    <a:pt x="383037" y="77610"/>
                  </a:lnTo>
                  <a:lnTo>
                    <a:pt x="370309" y="78914"/>
                  </a:lnTo>
                  <a:lnTo>
                    <a:pt x="357551" y="78913"/>
                  </a:lnTo>
                  <a:lnTo>
                    <a:pt x="343251" y="77289"/>
                  </a:lnTo>
                  <a:lnTo>
                    <a:pt x="325781" y="74162"/>
                  </a:lnTo>
                  <a:lnTo>
                    <a:pt x="308644" y="70317"/>
                  </a:lnTo>
                  <a:lnTo>
                    <a:pt x="292022" y="65927"/>
                  </a:lnTo>
                  <a:lnTo>
                    <a:pt x="275780" y="61115"/>
                  </a:lnTo>
                  <a:lnTo>
                    <a:pt x="259783" y="56010"/>
                  </a:lnTo>
                  <a:lnTo>
                    <a:pt x="243896" y="50747"/>
                  </a:lnTo>
                  <a:lnTo>
                    <a:pt x="227979" y="45477"/>
                  </a:lnTo>
                  <a:lnTo>
                    <a:pt x="211883" y="40370"/>
                  </a:lnTo>
                  <a:lnTo>
                    <a:pt x="195453" y="35621"/>
                  </a:lnTo>
                  <a:lnTo>
                    <a:pt x="178536" y="31464"/>
                  </a:lnTo>
                  <a:lnTo>
                    <a:pt x="160996" y="28179"/>
                  </a:lnTo>
                  <a:lnTo>
                    <a:pt x="142748" y="26093"/>
                  </a:lnTo>
                  <a:lnTo>
                    <a:pt x="123789" y="25562"/>
                  </a:lnTo>
                  <a:lnTo>
                    <a:pt x="104228" y="26933"/>
                  </a:lnTo>
                  <a:lnTo>
                    <a:pt x="84271" y="30487"/>
                  </a:lnTo>
                  <a:lnTo>
                    <a:pt x="64165" y="36391"/>
                  </a:lnTo>
                  <a:lnTo>
                    <a:pt x="44113" y="44700"/>
                  </a:lnTo>
                  <a:lnTo>
                    <a:pt x="26304" y="54215"/>
                  </a:lnTo>
                  <a:lnTo>
                    <a:pt x="11113" y="66753"/>
                  </a:lnTo>
                  <a:lnTo>
                    <a:pt x="1876" y="84150"/>
                  </a:lnTo>
                  <a:lnTo>
                    <a:pt x="0" y="103758"/>
                  </a:lnTo>
                  <a:lnTo>
                    <a:pt x="5770" y="122591"/>
                  </a:lnTo>
                  <a:lnTo>
                    <a:pt x="18309" y="137783"/>
                  </a:lnTo>
                  <a:lnTo>
                    <a:pt x="35706" y="147019"/>
                  </a:lnTo>
                  <a:lnTo>
                    <a:pt x="55314" y="148895"/>
                  </a:lnTo>
                  <a:lnTo>
                    <a:pt x="74147" y="143125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Individual small-bowel fold 01 soft reflected light"/>
            <p:cNvSpPr/>
            <p:nvPr/>
          </p:nvSpPr>
          <p:spPr>
            <a:xfrm>
              <a:off x="272247" y="244147"/>
              <a:ext cx="325794" cy="109768"/>
            </a:xfrm>
            <a:custGeom>
              <a:avLst/>
              <a:gdLst/>
              <a:ahLst/>
              <a:cxnLst/>
              <a:rect l="0" t="0" r="r" b="b"/>
              <a:pathLst>
                <a:path w="766219" h="258158">
                  <a:moveTo>
                    <a:pt x="0" y="50196"/>
                  </a:moveTo>
                  <a:cubicBezTo>
                    <a:pt x="2717" y="48737"/>
                    <a:pt x="10803" y="44056"/>
                    <a:pt x="16302" y="41444"/>
                  </a:cubicBezTo>
                  <a:cubicBezTo>
                    <a:pt x="21801" y="38833"/>
                    <a:pt x="27469" y="36486"/>
                    <a:pt x="32995" y="34528"/>
                  </a:cubicBezTo>
                  <a:cubicBezTo>
                    <a:pt x="38522" y="32570"/>
                    <a:pt x="44011" y="30982"/>
                    <a:pt x="49462" y="29696"/>
                  </a:cubicBezTo>
                  <a:cubicBezTo>
                    <a:pt x="54912" y="28409"/>
                    <a:pt x="60328" y="27476"/>
                    <a:pt x="65699" y="26809"/>
                  </a:cubicBezTo>
                  <a:cubicBezTo>
                    <a:pt x="71071" y="26142"/>
                    <a:pt x="76403" y="25805"/>
                    <a:pt x="81693" y="25694"/>
                  </a:cubicBezTo>
                  <a:cubicBezTo>
                    <a:pt x="86983" y="25583"/>
                    <a:pt x="92227" y="25771"/>
                    <a:pt x="97439" y="26142"/>
                  </a:cubicBezTo>
                  <a:cubicBezTo>
                    <a:pt x="102650" y="26514"/>
                    <a:pt x="107815" y="27147"/>
                    <a:pt x="112964" y="27925"/>
                  </a:cubicBezTo>
                  <a:cubicBezTo>
                    <a:pt x="118113" y="28703"/>
                    <a:pt x="123220" y="29702"/>
                    <a:pt x="128331" y="30810"/>
                  </a:cubicBezTo>
                  <a:cubicBezTo>
                    <a:pt x="133441" y="31918"/>
                    <a:pt x="138522" y="33207"/>
                    <a:pt x="143626" y="34573"/>
                  </a:cubicBezTo>
                  <a:cubicBezTo>
                    <a:pt x="148730" y="35939"/>
                    <a:pt x="153821" y="37449"/>
                    <a:pt x="158953" y="39007"/>
                  </a:cubicBezTo>
                  <a:cubicBezTo>
                    <a:pt x="164085" y="40564"/>
                    <a:pt x="169223" y="42231"/>
                    <a:pt x="174420" y="43917"/>
                  </a:cubicBezTo>
                  <a:cubicBezTo>
                    <a:pt x="179617" y="45602"/>
                    <a:pt x="184838" y="47366"/>
                    <a:pt x="190136" y="49121"/>
                  </a:cubicBezTo>
                  <a:cubicBezTo>
                    <a:pt x="195433" y="50875"/>
                    <a:pt x="200773" y="52678"/>
                    <a:pt x="206207" y="54444"/>
                  </a:cubicBezTo>
                  <a:cubicBezTo>
                    <a:pt x="211641" y="56210"/>
                    <a:pt x="217134" y="57996"/>
                    <a:pt x="222738" y="59718"/>
                  </a:cubicBezTo>
                  <a:cubicBezTo>
                    <a:pt x="228343" y="61441"/>
                    <a:pt x="234024" y="63155"/>
                    <a:pt x="239833" y="64780"/>
                  </a:cubicBezTo>
                  <a:cubicBezTo>
                    <a:pt x="245642" y="66405"/>
                    <a:pt x="251544" y="67994"/>
                    <a:pt x="257592" y="69468"/>
                  </a:cubicBezTo>
                  <a:cubicBezTo>
                    <a:pt x="263640" y="70941"/>
                    <a:pt x="269816" y="72355"/>
                    <a:pt x="276121" y="73621"/>
                  </a:cubicBezTo>
                  <a:cubicBezTo>
                    <a:pt x="282425" y="74887"/>
                    <a:pt x="289313" y="76170"/>
                    <a:pt x="295421" y="77065"/>
                  </a:cubicBezTo>
                  <a:cubicBezTo>
                    <a:pt x="301529" y="77961"/>
                    <a:pt x="307134" y="78672"/>
                    <a:pt x="312766" y="78997"/>
                  </a:cubicBezTo>
                  <a:cubicBezTo>
                    <a:pt x="318399" y="79321"/>
                    <a:pt x="323792" y="79281"/>
                    <a:pt x="329214" y="79012"/>
                  </a:cubicBezTo>
                  <a:cubicBezTo>
                    <a:pt x="334637" y="78742"/>
                    <a:pt x="339972" y="78166"/>
                    <a:pt x="345302" y="77378"/>
                  </a:cubicBezTo>
                  <a:cubicBezTo>
                    <a:pt x="350631" y="76590"/>
                    <a:pt x="355906" y="75528"/>
                    <a:pt x="361191" y="74285"/>
                  </a:cubicBezTo>
                  <a:cubicBezTo>
                    <a:pt x="366476" y="73041"/>
                    <a:pt x="371732" y="71553"/>
                    <a:pt x="377012" y="69917"/>
                  </a:cubicBezTo>
                  <a:cubicBezTo>
                    <a:pt x="382291" y="68281"/>
                    <a:pt x="387562" y="66430"/>
                    <a:pt x="392869" y="64467"/>
                  </a:cubicBezTo>
                  <a:cubicBezTo>
                    <a:pt x="398176" y="62504"/>
                    <a:pt x="403490" y="60358"/>
                    <a:pt x="408852" y="58139"/>
                  </a:cubicBezTo>
                  <a:cubicBezTo>
                    <a:pt x="414215" y="55921"/>
                    <a:pt x="419598" y="53554"/>
                    <a:pt x="425045" y="51156"/>
                  </a:cubicBezTo>
                  <a:cubicBezTo>
                    <a:pt x="430491" y="48758"/>
                    <a:pt x="435972" y="46248"/>
                    <a:pt x="441531" y="43750"/>
                  </a:cubicBezTo>
                  <a:cubicBezTo>
                    <a:pt x="447090" y="41251"/>
                    <a:pt x="452697" y="38680"/>
                    <a:pt x="458400" y="36163"/>
                  </a:cubicBezTo>
                  <a:cubicBezTo>
                    <a:pt x="464102" y="33646"/>
                    <a:pt x="469868" y="31098"/>
                    <a:pt x="475745" y="28648"/>
                  </a:cubicBezTo>
                  <a:cubicBezTo>
                    <a:pt x="481622" y="26199"/>
                    <a:pt x="487578" y="23760"/>
                    <a:pt x="493663" y="21465"/>
                  </a:cubicBezTo>
                  <a:cubicBezTo>
                    <a:pt x="499747" y="19171"/>
                    <a:pt x="505928" y="16931"/>
                    <a:pt x="512252" y="14882"/>
                  </a:cubicBezTo>
                  <a:cubicBezTo>
                    <a:pt x="518575" y="12834"/>
                    <a:pt x="525012" y="10884"/>
                    <a:pt x="531605" y="9174"/>
                  </a:cubicBezTo>
                  <a:cubicBezTo>
                    <a:pt x="538197" y="7465"/>
                    <a:pt x="544920" y="5901"/>
                    <a:pt x="551807" y="4625"/>
                  </a:cubicBezTo>
                  <a:cubicBezTo>
                    <a:pt x="558695" y="3349"/>
                    <a:pt x="565727" y="2266"/>
                    <a:pt x="572932" y="1518"/>
                  </a:cubicBezTo>
                  <a:cubicBezTo>
                    <a:pt x="580136" y="769"/>
                    <a:pt x="587597" y="269"/>
                    <a:pt x="595034" y="134"/>
                  </a:cubicBezTo>
                  <a:cubicBezTo>
                    <a:pt x="602471" y="0"/>
                    <a:pt x="610328" y="463"/>
                    <a:pt x="617553" y="711"/>
                  </a:cubicBezTo>
                  <a:cubicBezTo>
                    <a:pt x="624777" y="959"/>
                    <a:pt x="631554" y="1021"/>
                    <a:pt x="638379" y="1624"/>
                  </a:cubicBezTo>
                  <a:cubicBezTo>
                    <a:pt x="645205" y="2226"/>
                    <a:pt x="652021" y="3144"/>
                    <a:pt x="658507" y="4326"/>
                  </a:cubicBezTo>
                  <a:cubicBezTo>
                    <a:pt x="664992" y="5509"/>
                    <a:pt x="671270" y="6987"/>
                    <a:pt x="677293" y="8718"/>
                  </a:cubicBezTo>
                  <a:cubicBezTo>
                    <a:pt x="683316" y="10449"/>
                    <a:pt x="689117" y="12461"/>
                    <a:pt x="694646" y="14713"/>
                  </a:cubicBezTo>
                  <a:cubicBezTo>
                    <a:pt x="700174" y="16966"/>
                    <a:pt x="705466" y="19484"/>
                    <a:pt x="710465" y="22233"/>
                  </a:cubicBezTo>
                  <a:cubicBezTo>
                    <a:pt x="715464" y="24982"/>
                    <a:pt x="720210" y="27985"/>
                    <a:pt x="724639" y="31207"/>
                  </a:cubicBezTo>
                  <a:cubicBezTo>
                    <a:pt x="729067" y="34430"/>
                    <a:pt x="733226" y="37895"/>
                    <a:pt x="737036" y="41567"/>
                  </a:cubicBezTo>
                  <a:cubicBezTo>
                    <a:pt x="740845" y="45238"/>
                    <a:pt x="744364" y="49145"/>
                    <a:pt x="747496" y="53237"/>
                  </a:cubicBezTo>
                  <a:cubicBezTo>
                    <a:pt x="750628" y="57328"/>
                    <a:pt x="753441" y="61646"/>
                    <a:pt x="755828" y="66116"/>
                  </a:cubicBezTo>
                  <a:cubicBezTo>
                    <a:pt x="758216" y="70585"/>
                    <a:pt x="760247" y="75267"/>
                    <a:pt x="761820" y="80053"/>
                  </a:cubicBezTo>
                  <a:cubicBezTo>
                    <a:pt x="763392" y="84838"/>
                    <a:pt x="764567" y="89810"/>
                    <a:pt x="765264" y="94827"/>
                  </a:cubicBezTo>
                  <a:cubicBezTo>
                    <a:pt x="765960" y="99844"/>
                    <a:pt x="766219" y="105004"/>
                    <a:pt x="766001" y="110156"/>
                  </a:cubicBezTo>
                  <a:cubicBezTo>
                    <a:pt x="765782" y="115307"/>
                    <a:pt x="765100" y="120545"/>
                    <a:pt x="763953" y="125734"/>
                  </a:cubicBezTo>
                  <a:cubicBezTo>
                    <a:pt x="762805" y="130923"/>
                    <a:pt x="761187" y="136143"/>
                    <a:pt x="759116" y="141290"/>
                  </a:cubicBezTo>
                  <a:cubicBezTo>
                    <a:pt x="757046" y="146437"/>
                    <a:pt x="754510" y="151568"/>
                    <a:pt x="751529" y="156616"/>
                  </a:cubicBezTo>
                  <a:cubicBezTo>
                    <a:pt x="748548" y="161663"/>
                    <a:pt x="745113" y="166664"/>
                    <a:pt x="741229" y="171573"/>
                  </a:cubicBezTo>
                  <a:cubicBezTo>
                    <a:pt x="737345" y="176482"/>
                    <a:pt x="733040" y="181305"/>
                    <a:pt x="728227" y="186069"/>
                  </a:cubicBezTo>
                  <a:cubicBezTo>
                    <a:pt x="723413" y="190833"/>
                    <a:pt x="717191" y="196401"/>
                    <a:pt x="712347" y="200156"/>
                  </a:cubicBezTo>
                  <a:cubicBezTo>
                    <a:pt x="707502" y="203911"/>
                    <a:pt x="703527" y="206112"/>
                    <a:pt x="699161" y="208598"/>
                  </a:cubicBezTo>
                  <a:cubicBezTo>
                    <a:pt x="694794" y="211083"/>
                    <a:pt x="690516" y="213151"/>
                    <a:pt x="686147" y="215069"/>
                  </a:cubicBezTo>
                  <a:cubicBezTo>
                    <a:pt x="681777" y="216988"/>
                    <a:pt x="677358" y="218634"/>
                    <a:pt x="672943" y="220110"/>
                  </a:cubicBezTo>
                  <a:cubicBezTo>
                    <a:pt x="668528" y="221585"/>
                    <a:pt x="664085" y="222820"/>
                    <a:pt x="659655" y="223922"/>
                  </a:cubicBezTo>
                  <a:cubicBezTo>
                    <a:pt x="655225" y="225024"/>
                    <a:pt x="650785" y="225921"/>
                    <a:pt x="646364" y="226721"/>
                  </a:cubicBezTo>
                  <a:cubicBezTo>
                    <a:pt x="641944" y="227521"/>
                    <a:pt x="637525" y="228153"/>
                    <a:pt x="633132" y="228722"/>
                  </a:cubicBezTo>
                  <a:cubicBezTo>
                    <a:pt x="628738" y="229291"/>
                    <a:pt x="624355" y="229729"/>
                    <a:pt x="620003" y="230136"/>
                  </a:cubicBezTo>
                  <a:cubicBezTo>
                    <a:pt x="615651" y="230543"/>
                    <a:pt x="611317" y="230853"/>
                    <a:pt x="607019" y="231163"/>
                  </a:cubicBezTo>
                  <a:cubicBezTo>
                    <a:pt x="602721" y="231472"/>
                    <a:pt x="598447" y="231719"/>
                    <a:pt x="594216" y="231993"/>
                  </a:cubicBezTo>
                  <a:cubicBezTo>
                    <a:pt x="589985" y="232268"/>
                    <a:pt x="585783" y="232511"/>
                    <a:pt x="581632" y="232809"/>
                  </a:cubicBezTo>
                  <a:cubicBezTo>
                    <a:pt x="577481" y="233107"/>
                    <a:pt x="573366" y="233404"/>
                    <a:pt x="569308" y="233781"/>
                  </a:cubicBezTo>
                  <a:cubicBezTo>
                    <a:pt x="565250" y="234159"/>
                    <a:pt x="561236" y="234564"/>
                    <a:pt x="557284" y="235072"/>
                  </a:cubicBezTo>
                  <a:cubicBezTo>
                    <a:pt x="553333" y="235581"/>
                    <a:pt x="549433" y="236144"/>
                    <a:pt x="545601" y="236834"/>
                  </a:cubicBezTo>
                  <a:cubicBezTo>
                    <a:pt x="541768" y="237523"/>
                    <a:pt x="537994" y="238292"/>
                    <a:pt x="534288" y="239209"/>
                  </a:cubicBezTo>
                  <a:cubicBezTo>
                    <a:pt x="530583" y="240126"/>
                    <a:pt x="526942" y="241145"/>
                    <a:pt x="523365" y="242335"/>
                  </a:cubicBezTo>
                  <a:cubicBezTo>
                    <a:pt x="519789" y="243525"/>
                    <a:pt x="516281" y="244838"/>
                    <a:pt x="512828" y="246349"/>
                  </a:cubicBezTo>
                  <a:cubicBezTo>
                    <a:pt x="509376" y="247860"/>
                    <a:pt x="506111" y="249433"/>
                    <a:pt x="502650" y="251401"/>
                  </a:cubicBezTo>
                  <a:cubicBezTo>
                    <a:pt x="499189" y="253370"/>
                    <a:pt x="493827" y="257032"/>
                    <a:pt x="492062" y="258158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Individual small-bowel fold 02"/>
            <p:cNvSpPr/>
            <p:nvPr/>
          </p:nvSpPr>
          <p:spPr>
            <a:xfrm>
              <a:off x="235696" y="294575"/>
              <a:ext cx="363026" cy="190623"/>
            </a:xfrm>
            <a:custGeom>
              <a:avLst/>
              <a:gdLst/>
              <a:ahLst/>
              <a:cxnLst/>
              <a:rect l="0" t="0" r="r" b="b"/>
              <a:pathLst>
                <a:path w="853783" h="448318">
                  <a:moveTo>
                    <a:pt x="81030" y="10624"/>
                  </a:moveTo>
                  <a:lnTo>
                    <a:pt x="63924" y="24333"/>
                  </a:lnTo>
                  <a:lnTo>
                    <a:pt x="46890" y="41753"/>
                  </a:lnTo>
                  <a:lnTo>
                    <a:pt x="32557" y="60742"/>
                  </a:lnTo>
                  <a:lnTo>
                    <a:pt x="20977" y="80953"/>
                  </a:lnTo>
                  <a:lnTo>
                    <a:pt x="12101" y="102019"/>
                  </a:lnTo>
                  <a:lnTo>
                    <a:pt x="5785" y="123612"/>
                  </a:lnTo>
                  <a:lnTo>
                    <a:pt x="1827" y="145470"/>
                  </a:lnTo>
                  <a:lnTo>
                    <a:pt x="0" y="167401"/>
                  </a:lnTo>
                  <a:lnTo>
                    <a:pt x="81" y="189274"/>
                  </a:lnTo>
                  <a:lnTo>
                    <a:pt x="1867" y="210991"/>
                  </a:lnTo>
                  <a:lnTo>
                    <a:pt x="5177" y="232482"/>
                  </a:lnTo>
                  <a:lnTo>
                    <a:pt x="9852" y="253685"/>
                  </a:lnTo>
                  <a:lnTo>
                    <a:pt x="15751" y="274541"/>
                  </a:lnTo>
                  <a:lnTo>
                    <a:pt x="22750" y="294989"/>
                  </a:lnTo>
                  <a:lnTo>
                    <a:pt x="30736" y="314967"/>
                  </a:lnTo>
                  <a:lnTo>
                    <a:pt x="39604" y="334407"/>
                  </a:lnTo>
                  <a:lnTo>
                    <a:pt x="49257" y="353239"/>
                  </a:lnTo>
                  <a:lnTo>
                    <a:pt x="61149" y="373802"/>
                  </a:lnTo>
                  <a:lnTo>
                    <a:pt x="75509" y="391402"/>
                  </a:lnTo>
                  <a:lnTo>
                    <a:pt x="89676" y="405383"/>
                  </a:lnTo>
                  <a:lnTo>
                    <a:pt x="104896" y="417540"/>
                  </a:lnTo>
                  <a:lnTo>
                    <a:pt x="121044" y="427786"/>
                  </a:lnTo>
                  <a:lnTo>
                    <a:pt x="137970" y="436041"/>
                  </a:lnTo>
                  <a:lnTo>
                    <a:pt x="155497" y="442238"/>
                  </a:lnTo>
                  <a:lnTo>
                    <a:pt x="173434" y="446336"/>
                  </a:lnTo>
                  <a:lnTo>
                    <a:pt x="191578" y="448318"/>
                  </a:lnTo>
                  <a:lnTo>
                    <a:pt x="209729" y="448195"/>
                  </a:lnTo>
                  <a:lnTo>
                    <a:pt x="227690" y="446002"/>
                  </a:lnTo>
                  <a:lnTo>
                    <a:pt x="245280" y="441794"/>
                  </a:lnTo>
                  <a:lnTo>
                    <a:pt x="262330" y="435642"/>
                  </a:lnTo>
                  <a:lnTo>
                    <a:pt x="278688" y="427626"/>
                  </a:lnTo>
                  <a:lnTo>
                    <a:pt x="294218" y="417830"/>
                  </a:lnTo>
                  <a:lnTo>
                    <a:pt x="308796" y="406344"/>
                  </a:lnTo>
                  <a:lnTo>
                    <a:pt x="322310" y="393256"/>
                  </a:lnTo>
                  <a:lnTo>
                    <a:pt x="334661" y="378656"/>
                  </a:lnTo>
                  <a:lnTo>
                    <a:pt x="345216" y="363477"/>
                  </a:lnTo>
                  <a:lnTo>
                    <a:pt x="356574" y="345274"/>
                  </a:lnTo>
                  <a:lnTo>
                    <a:pt x="366582" y="328649"/>
                  </a:lnTo>
                  <a:lnTo>
                    <a:pt x="375619" y="313296"/>
                  </a:lnTo>
                  <a:lnTo>
                    <a:pt x="383776" y="299345"/>
                  </a:lnTo>
                  <a:lnTo>
                    <a:pt x="391127" y="286942"/>
                  </a:lnTo>
                  <a:lnTo>
                    <a:pt x="397710" y="276255"/>
                  </a:lnTo>
                  <a:lnTo>
                    <a:pt x="403506" y="267471"/>
                  </a:lnTo>
                  <a:lnTo>
                    <a:pt x="408409" y="260784"/>
                  </a:lnTo>
                  <a:lnTo>
                    <a:pt x="412180" y="256349"/>
                  </a:lnTo>
                  <a:lnTo>
                    <a:pt x="414443" y="254159"/>
                  </a:lnTo>
                  <a:lnTo>
                    <a:pt x="414809" y="253837"/>
                  </a:lnTo>
                  <a:lnTo>
                    <a:pt x="413299" y="254486"/>
                  </a:lnTo>
                  <a:lnTo>
                    <a:pt x="410880" y="255037"/>
                  </a:lnTo>
                  <a:lnTo>
                    <a:pt x="409292" y="255092"/>
                  </a:lnTo>
                  <a:lnTo>
                    <a:pt x="409999" y="255241"/>
                  </a:lnTo>
                  <a:lnTo>
                    <a:pt x="413550" y="256431"/>
                  </a:lnTo>
                  <a:lnTo>
                    <a:pt x="419842" y="259368"/>
                  </a:lnTo>
                  <a:lnTo>
                    <a:pt x="432390" y="266574"/>
                  </a:lnTo>
                  <a:lnTo>
                    <a:pt x="447070" y="273259"/>
                  </a:lnTo>
                  <a:lnTo>
                    <a:pt x="455638" y="278259"/>
                  </a:lnTo>
                  <a:lnTo>
                    <a:pt x="462859" y="283529"/>
                  </a:lnTo>
                  <a:lnTo>
                    <a:pt x="469198" y="289195"/>
                  </a:lnTo>
                  <a:lnTo>
                    <a:pt x="475038" y="295448"/>
                  </a:lnTo>
                  <a:lnTo>
                    <a:pt x="480660" y="302475"/>
                  </a:lnTo>
                  <a:lnTo>
                    <a:pt x="486270" y="310410"/>
                  </a:lnTo>
                  <a:lnTo>
                    <a:pt x="492040" y="319313"/>
                  </a:lnTo>
                  <a:lnTo>
                    <a:pt x="498152" y="329173"/>
                  </a:lnTo>
                  <a:lnTo>
                    <a:pt x="504819" y="339918"/>
                  </a:lnTo>
                  <a:lnTo>
                    <a:pt x="512297" y="351424"/>
                  </a:lnTo>
                  <a:lnTo>
                    <a:pt x="520877" y="363506"/>
                  </a:lnTo>
                  <a:lnTo>
                    <a:pt x="530855" y="375908"/>
                  </a:lnTo>
                  <a:lnTo>
                    <a:pt x="542498" y="388300"/>
                  </a:lnTo>
                  <a:lnTo>
                    <a:pt x="555993" y="400298"/>
                  </a:lnTo>
                  <a:lnTo>
                    <a:pt x="571428" y="411517"/>
                  </a:lnTo>
                  <a:lnTo>
                    <a:pt x="588808" y="421634"/>
                  </a:lnTo>
                  <a:lnTo>
                    <a:pt x="609156" y="430836"/>
                  </a:lnTo>
                  <a:lnTo>
                    <a:pt x="632320" y="437834"/>
                  </a:lnTo>
                  <a:lnTo>
                    <a:pt x="655129" y="441930"/>
                  </a:lnTo>
                  <a:lnTo>
                    <a:pt x="677642" y="443316"/>
                  </a:lnTo>
                  <a:lnTo>
                    <a:pt x="699622" y="442108"/>
                  </a:lnTo>
                  <a:lnTo>
                    <a:pt x="720847" y="438446"/>
                  </a:lnTo>
                  <a:lnTo>
                    <a:pt x="741120" y="432483"/>
                  </a:lnTo>
                  <a:lnTo>
                    <a:pt x="760264" y="424376"/>
                  </a:lnTo>
                  <a:lnTo>
                    <a:pt x="778122" y="414272"/>
                  </a:lnTo>
                  <a:lnTo>
                    <a:pt x="794542" y="402306"/>
                  </a:lnTo>
                  <a:lnTo>
                    <a:pt x="809372" y="388601"/>
                  </a:lnTo>
                  <a:lnTo>
                    <a:pt x="822443" y="373266"/>
                  </a:lnTo>
                  <a:lnTo>
                    <a:pt x="833565" y="356413"/>
                  </a:lnTo>
                  <a:lnTo>
                    <a:pt x="842515" y="338167"/>
                  </a:lnTo>
                  <a:lnTo>
                    <a:pt x="849042" y="318691"/>
                  </a:lnTo>
                  <a:lnTo>
                    <a:pt x="852881" y="298211"/>
                  </a:lnTo>
                  <a:lnTo>
                    <a:pt x="853783" y="277031"/>
                  </a:lnTo>
                  <a:lnTo>
                    <a:pt x="851553" y="255531"/>
                  </a:lnTo>
                  <a:lnTo>
                    <a:pt x="847148" y="237713"/>
                  </a:lnTo>
                  <a:lnTo>
                    <a:pt x="838653" y="219941"/>
                  </a:lnTo>
                  <a:lnTo>
                    <a:pt x="824005" y="206773"/>
                  </a:lnTo>
                  <a:lnTo>
                    <a:pt x="805432" y="200213"/>
                  </a:lnTo>
                  <a:lnTo>
                    <a:pt x="785762" y="201260"/>
                  </a:lnTo>
                  <a:lnTo>
                    <a:pt x="767991" y="209754"/>
                  </a:lnTo>
                  <a:lnTo>
                    <a:pt x="754823" y="224403"/>
                  </a:lnTo>
                  <a:lnTo>
                    <a:pt x="748263" y="242976"/>
                  </a:lnTo>
                  <a:lnTo>
                    <a:pt x="749310" y="262645"/>
                  </a:lnTo>
                  <a:lnTo>
                    <a:pt x="749310" y="262645"/>
                  </a:lnTo>
                  <a:lnTo>
                    <a:pt x="752175" y="273359"/>
                  </a:lnTo>
                  <a:lnTo>
                    <a:pt x="752866" y="280137"/>
                  </a:lnTo>
                  <a:lnTo>
                    <a:pt x="752572" y="286725"/>
                  </a:lnTo>
                  <a:lnTo>
                    <a:pt x="751335" y="293249"/>
                  </a:lnTo>
                  <a:lnTo>
                    <a:pt x="749141" y="299758"/>
                  </a:lnTo>
                  <a:lnTo>
                    <a:pt x="745959" y="306223"/>
                  </a:lnTo>
                  <a:lnTo>
                    <a:pt x="741774" y="312551"/>
                  </a:lnTo>
                  <a:lnTo>
                    <a:pt x="736599" y="318615"/>
                  </a:lnTo>
                  <a:lnTo>
                    <a:pt x="730477" y="324270"/>
                  </a:lnTo>
                  <a:lnTo>
                    <a:pt x="723477" y="329372"/>
                  </a:lnTo>
                  <a:lnTo>
                    <a:pt x="715680" y="333788"/>
                  </a:lnTo>
                  <a:lnTo>
                    <a:pt x="707171" y="337397"/>
                  </a:lnTo>
                  <a:lnTo>
                    <a:pt x="698026" y="340094"/>
                  </a:lnTo>
                  <a:lnTo>
                    <a:pt x="688305" y="341779"/>
                  </a:lnTo>
                  <a:lnTo>
                    <a:pt x="678044" y="342351"/>
                  </a:lnTo>
                  <a:lnTo>
                    <a:pt x="667260" y="341696"/>
                  </a:lnTo>
                  <a:lnTo>
                    <a:pt x="655947" y="339673"/>
                  </a:lnTo>
                  <a:lnTo>
                    <a:pt x="644402" y="336222"/>
                  </a:lnTo>
                  <a:lnTo>
                    <a:pt x="635037" y="331874"/>
                  </a:lnTo>
                  <a:lnTo>
                    <a:pt x="626469" y="326874"/>
                  </a:lnTo>
                  <a:lnTo>
                    <a:pt x="619248" y="321604"/>
                  </a:lnTo>
                  <a:lnTo>
                    <a:pt x="612909" y="315938"/>
                  </a:lnTo>
                  <a:lnTo>
                    <a:pt x="607069" y="309685"/>
                  </a:lnTo>
                  <a:lnTo>
                    <a:pt x="601447" y="302658"/>
                  </a:lnTo>
                  <a:lnTo>
                    <a:pt x="595837" y="294723"/>
                  </a:lnTo>
                  <a:lnTo>
                    <a:pt x="590067" y="285820"/>
                  </a:lnTo>
                  <a:lnTo>
                    <a:pt x="583956" y="275960"/>
                  </a:lnTo>
                  <a:lnTo>
                    <a:pt x="577289" y="265215"/>
                  </a:lnTo>
                  <a:lnTo>
                    <a:pt x="569810" y="253709"/>
                  </a:lnTo>
                  <a:lnTo>
                    <a:pt x="561230" y="241627"/>
                  </a:lnTo>
                  <a:lnTo>
                    <a:pt x="551252" y="229225"/>
                  </a:lnTo>
                  <a:lnTo>
                    <a:pt x="539609" y="216833"/>
                  </a:lnTo>
                  <a:lnTo>
                    <a:pt x="526114" y="204835"/>
                  </a:lnTo>
                  <a:lnTo>
                    <a:pt x="510679" y="193616"/>
                  </a:lnTo>
                  <a:lnTo>
                    <a:pt x="493299" y="183499"/>
                  </a:lnTo>
                  <a:lnTo>
                    <a:pt x="478267" y="176634"/>
                  </a:lnTo>
                  <a:lnTo>
                    <a:pt x="466607" y="169886"/>
                  </a:lnTo>
                  <a:lnTo>
                    <a:pt x="450906" y="162631"/>
                  </a:lnTo>
                  <a:lnTo>
                    <a:pt x="434424" y="157275"/>
                  </a:lnTo>
                  <a:lnTo>
                    <a:pt x="416803" y="154406"/>
                  </a:lnTo>
                  <a:lnTo>
                    <a:pt x="398337" y="154854"/>
                  </a:lnTo>
                  <a:lnTo>
                    <a:pt x="380236" y="159088"/>
                  </a:lnTo>
                  <a:lnTo>
                    <a:pt x="363985" y="166597"/>
                  </a:lnTo>
                  <a:lnTo>
                    <a:pt x="350295" y="176192"/>
                  </a:lnTo>
                  <a:lnTo>
                    <a:pt x="338933" y="186859"/>
                  </a:lnTo>
                  <a:lnTo>
                    <a:pt x="329257" y="198103"/>
                  </a:lnTo>
                  <a:lnTo>
                    <a:pt x="320633" y="209800"/>
                  </a:lnTo>
                  <a:lnTo>
                    <a:pt x="312569" y="221987"/>
                  </a:lnTo>
                  <a:lnTo>
                    <a:pt x="304705" y="234740"/>
                  </a:lnTo>
                  <a:lnTo>
                    <a:pt x="296765" y="248129"/>
                  </a:lnTo>
                  <a:lnTo>
                    <a:pt x="288535" y="262204"/>
                  </a:lnTo>
                  <a:lnTo>
                    <a:pt x="279832" y="276994"/>
                  </a:lnTo>
                  <a:lnTo>
                    <a:pt x="270493" y="292510"/>
                  </a:lnTo>
                  <a:lnTo>
                    <a:pt x="260641" y="308331"/>
                  </a:lnTo>
                  <a:lnTo>
                    <a:pt x="254469" y="317311"/>
                  </a:lnTo>
                  <a:lnTo>
                    <a:pt x="248504" y="324361"/>
                  </a:lnTo>
                  <a:lnTo>
                    <a:pt x="242293" y="330375"/>
                  </a:lnTo>
                  <a:lnTo>
                    <a:pt x="235910" y="335404"/>
                  </a:lnTo>
                  <a:lnTo>
                    <a:pt x="229420" y="339497"/>
                  </a:lnTo>
                  <a:lnTo>
                    <a:pt x="222878" y="342704"/>
                  </a:lnTo>
                  <a:lnTo>
                    <a:pt x="216321" y="345071"/>
                  </a:lnTo>
                  <a:lnTo>
                    <a:pt x="209775" y="346639"/>
                  </a:lnTo>
                  <a:lnTo>
                    <a:pt x="203247" y="347438"/>
                  </a:lnTo>
                  <a:lnTo>
                    <a:pt x="196733" y="347485"/>
                  </a:lnTo>
                  <a:lnTo>
                    <a:pt x="190212" y="346775"/>
                  </a:lnTo>
                  <a:lnTo>
                    <a:pt x="183660" y="345281"/>
                  </a:lnTo>
                  <a:lnTo>
                    <a:pt x="177052" y="342947"/>
                  </a:lnTo>
                  <a:lnTo>
                    <a:pt x="170370" y="339690"/>
                  </a:lnTo>
                  <a:lnTo>
                    <a:pt x="163617" y="335407"/>
                  </a:lnTo>
                  <a:lnTo>
                    <a:pt x="156818" y="329978"/>
                  </a:lnTo>
                  <a:lnTo>
                    <a:pt x="150025" y="323275"/>
                  </a:lnTo>
                  <a:lnTo>
                    <a:pt x="144659" y="317056"/>
                  </a:lnTo>
                  <a:lnTo>
                    <a:pt x="138062" y="305200"/>
                  </a:lnTo>
                  <a:lnTo>
                    <a:pt x="130482" y="290417"/>
                  </a:lnTo>
                  <a:lnTo>
                    <a:pt x="123566" y="275262"/>
                  </a:lnTo>
                  <a:lnTo>
                    <a:pt x="117414" y="259880"/>
                  </a:lnTo>
                  <a:lnTo>
                    <a:pt x="112118" y="244420"/>
                  </a:lnTo>
                  <a:lnTo>
                    <a:pt x="107761" y="229034"/>
                  </a:lnTo>
                  <a:lnTo>
                    <a:pt x="104413" y="213878"/>
                  </a:lnTo>
                  <a:lnTo>
                    <a:pt x="102131" y="199108"/>
                  </a:lnTo>
                  <a:lnTo>
                    <a:pt x="100951" y="184878"/>
                  </a:lnTo>
                  <a:lnTo>
                    <a:pt x="100888" y="171332"/>
                  </a:lnTo>
                  <a:lnTo>
                    <a:pt x="101936" y="158590"/>
                  </a:lnTo>
                  <a:lnTo>
                    <a:pt x="104066" y="146735"/>
                  </a:lnTo>
                  <a:lnTo>
                    <a:pt x="107250" y="135791"/>
                  </a:lnTo>
                  <a:lnTo>
                    <a:pt x="111479" y="125711"/>
                  </a:lnTo>
                  <a:lnTo>
                    <a:pt x="116806" y="116383"/>
                  </a:lnTo>
                  <a:lnTo>
                    <a:pt x="123379" y="107657"/>
                  </a:lnTo>
                  <a:lnTo>
                    <a:pt x="131444" y="99399"/>
                  </a:lnTo>
                  <a:lnTo>
                    <a:pt x="143827" y="89684"/>
                  </a:lnTo>
                  <a:lnTo>
                    <a:pt x="156565" y="74659"/>
                  </a:lnTo>
                  <a:lnTo>
                    <a:pt x="162583" y="55904"/>
                  </a:lnTo>
                  <a:lnTo>
                    <a:pt x="160965" y="36273"/>
                  </a:lnTo>
                  <a:lnTo>
                    <a:pt x="151958" y="18755"/>
                  </a:lnTo>
                  <a:lnTo>
                    <a:pt x="136934" y="6018"/>
                  </a:lnTo>
                  <a:lnTo>
                    <a:pt x="118178" y="0"/>
                  </a:lnTo>
                  <a:lnTo>
                    <a:pt x="98547" y="1618"/>
                  </a:lnTo>
                  <a:lnTo>
                    <a:pt x="81030" y="10624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Individual small-bowel fold 02 soft reflected light"/>
            <p:cNvSpPr/>
            <p:nvPr/>
          </p:nvSpPr>
          <p:spPr>
            <a:xfrm>
              <a:off x="263705" y="321110"/>
              <a:ext cx="306962" cy="136081"/>
            </a:xfrm>
            <a:custGeom>
              <a:avLst/>
              <a:gdLst/>
              <a:ahLst/>
              <a:cxnLst/>
              <a:rect l="0" t="0" r="r" b="b"/>
              <a:pathLst>
                <a:path w="721928" h="320043">
                  <a:moveTo>
                    <a:pt x="56288" y="0"/>
                  </a:moveTo>
                  <a:cubicBezTo>
                    <a:pt x="53953" y="1849"/>
                    <a:pt x="46471" y="7341"/>
                    <a:pt x="42275" y="11093"/>
                  </a:cubicBezTo>
                  <a:cubicBezTo>
                    <a:pt x="38080" y="14845"/>
                    <a:pt x="34517" y="18564"/>
                    <a:pt x="31116" y="22512"/>
                  </a:cubicBezTo>
                  <a:cubicBezTo>
                    <a:pt x="27714" y="26459"/>
                    <a:pt x="24655" y="30554"/>
                    <a:pt x="21866" y="34779"/>
                  </a:cubicBezTo>
                  <a:cubicBezTo>
                    <a:pt x="19077" y="39004"/>
                    <a:pt x="16601" y="43369"/>
                    <a:pt x="14382" y="47861"/>
                  </a:cubicBezTo>
                  <a:cubicBezTo>
                    <a:pt x="12162" y="52353"/>
                    <a:pt x="10232" y="56983"/>
                    <a:pt x="8549" y="61731"/>
                  </a:cubicBezTo>
                  <a:cubicBezTo>
                    <a:pt x="6867" y="66479"/>
                    <a:pt x="5456" y="71362"/>
                    <a:pt x="4285" y="76349"/>
                  </a:cubicBezTo>
                  <a:cubicBezTo>
                    <a:pt x="3115" y="81337"/>
                    <a:pt x="2204" y="86452"/>
                    <a:pt x="1524" y="91656"/>
                  </a:cubicBezTo>
                  <a:cubicBezTo>
                    <a:pt x="845" y="96859"/>
                    <a:pt x="416" y="102179"/>
                    <a:pt x="208" y="107568"/>
                  </a:cubicBezTo>
                  <a:cubicBezTo>
                    <a:pt x="0" y="112956"/>
                    <a:pt x="34" y="118448"/>
                    <a:pt x="277" y="123986"/>
                  </a:cubicBezTo>
                  <a:cubicBezTo>
                    <a:pt x="520" y="129525"/>
                    <a:pt x="995" y="135149"/>
                    <a:pt x="1666" y="140799"/>
                  </a:cubicBezTo>
                  <a:cubicBezTo>
                    <a:pt x="2337" y="146450"/>
                    <a:pt x="3229" y="152166"/>
                    <a:pt x="4303" y="157888"/>
                  </a:cubicBezTo>
                  <a:cubicBezTo>
                    <a:pt x="5376" y="163610"/>
                    <a:pt x="6659" y="169378"/>
                    <a:pt x="8108" y="175130"/>
                  </a:cubicBezTo>
                  <a:cubicBezTo>
                    <a:pt x="9557" y="180883"/>
                    <a:pt x="11202" y="186661"/>
                    <a:pt x="12998" y="192403"/>
                  </a:cubicBezTo>
                  <a:cubicBezTo>
                    <a:pt x="14793" y="198146"/>
                    <a:pt x="16770" y="203893"/>
                    <a:pt x="18881" y="209584"/>
                  </a:cubicBezTo>
                  <a:cubicBezTo>
                    <a:pt x="20992" y="215276"/>
                    <a:pt x="23270" y="220951"/>
                    <a:pt x="25665" y="226552"/>
                  </a:cubicBezTo>
                  <a:cubicBezTo>
                    <a:pt x="28061" y="232152"/>
                    <a:pt x="30607" y="237716"/>
                    <a:pt x="33255" y="243185"/>
                  </a:cubicBezTo>
                  <a:cubicBezTo>
                    <a:pt x="35902" y="248654"/>
                    <a:pt x="38764" y="254191"/>
                    <a:pt x="41550" y="259365"/>
                  </a:cubicBezTo>
                  <a:cubicBezTo>
                    <a:pt x="44337" y="264538"/>
                    <a:pt x="47158" y="270058"/>
                    <a:pt x="49974" y="274225"/>
                  </a:cubicBezTo>
                  <a:cubicBezTo>
                    <a:pt x="52789" y="278393"/>
                    <a:pt x="55475" y="281144"/>
                    <a:pt x="58443" y="284371"/>
                  </a:cubicBezTo>
                  <a:cubicBezTo>
                    <a:pt x="61410" y="287597"/>
                    <a:pt x="64606" y="290757"/>
                    <a:pt x="67780" y="293584"/>
                  </a:cubicBezTo>
                  <a:cubicBezTo>
                    <a:pt x="70954" y="296411"/>
                    <a:pt x="74201" y="298986"/>
                    <a:pt x="77484" y="301335"/>
                  </a:cubicBezTo>
                  <a:cubicBezTo>
                    <a:pt x="80768" y="303683"/>
                    <a:pt x="84110" y="305788"/>
                    <a:pt x="87479" y="307675"/>
                  </a:cubicBezTo>
                  <a:cubicBezTo>
                    <a:pt x="90847" y="309562"/>
                    <a:pt x="94263" y="311214"/>
                    <a:pt x="97694" y="312656"/>
                  </a:cubicBezTo>
                  <a:cubicBezTo>
                    <a:pt x="101126" y="314097"/>
                    <a:pt x="104594" y="315313"/>
                    <a:pt x="108070" y="316323"/>
                  </a:cubicBezTo>
                  <a:cubicBezTo>
                    <a:pt x="111546" y="317333"/>
                    <a:pt x="115048" y="318125"/>
                    <a:pt x="118550" y="318715"/>
                  </a:cubicBezTo>
                  <a:cubicBezTo>
                    <a:pt x="122051" y="319306"/>
                    <a:pt x="125570" y="319685"/>
                    <a:pt x="129080" y="319864"/>
                  </a:cubicBezTo>
                  <a:cubicBezTo>
                    <a:pt x="132590" y="320043"/>
                    <a:pt x="136109" y="320016"/>
                    <a:pt x="139609" y="319791"/>
                  </a:cubicBezTo>
                  <a:cubicBezTo>
                    <a:pt x="143109" y="319565"/>
                    <a:pt x="146610" y="319137"/>
                    <a:pt x="150081" y="318511"/>
                  </a:cubicBezTo>
                  <a:cubicBezTo>
                    <a:pt x="153553" y="317885"/>
                    <a:pt x="157015" y="317058"/>
                    <a:pt x="160438" y="316033"/>
                  </a:cubicBezTo>
                  <a:cubicBezTo>
                    <a:pt x="163860" y="315007"/>
                    <a:pt x="167264" y="313783"/>
                    <a:pt x="170615" y="312360"/>
                  </a:cubicBezTo>
                  <a:cubicBezTo>
                    <a:pt x="173966" y="310937"/>
                    <a:pt x="177287" y="309315"/>
                    <a:pt x="180544" y="307494"/>
                  </a:cubicBezTo>
                  <a:cubicBezTo>
                    <a:pt x="183800" y="305672"/>
                    <a:pt x="187016" y="303652"/>
                    <a:pt x="190152" y="301433"/>
                  </a:cubicBezTo>
                  <a:cubicBezTo>
                    <a:pt x="193288" y="299213"/>
                    <a:pt x="196372" y="296795"/>
                    <a:pt x="199362" y="294176"/>
                  </a:cubicBezTo>
                  <a:cubicBezTo>
                    <a:pt x="202352" y="291558"/>
                    <a:pt x="205277" y="288740"/>
                    <a:pt x="208093" y="285721"/>
                  </a:cubicBezTo>
                  <a:cubicBezTo>
                    <a:pt x="210910" y="282703"/>
                    <a:pt x="213619" y="279529"/>
                    <a:pt x="216261" y="276067"/>
                  </a:cubicBezTo>
                  <a:cubicBezTo>
                    <a:pt x="218903" y="272605"/>
                    <a:pt x="220936" y="269575"/>
                    <a:pt x="223945" y="264948"/>
                  </a:cubicBezTo>
                  <a:cubicBezTo>
                    <a:pt x="226955" y="260321"/>
                    <a:pt x="230993" y="253729"/>
                    <a:pt x="234317" y="248306"/>
                  </a:cubicBezTo>
                  <a:cubicBezTo>
                    <a:pt x="237640" y="242882"/>
                    <a:pt x="240822" y="237554"/>
                    <a:pt x="243886" y="232406"/>
                  </a:cubicBezTo>
                  <a:cubicBezTo>
                    <a:pt x="246951" y="227259"/>
                    <a:pt x="249868" y="222258"/>
                    <a:pt x="252705" y="217422"/>
                  </a:cubicBezTo>
                  <a:cubicBezTo>
                    <a:pt x="255542" y="212586"/>
                    <a:pt x="258253" y="207904"/>
                    <a:pt x="260910" y="203390"/>
                  </a:cubicBezTo>
                  <a:cubicBezTo>
                    <a:pt x="263567" y="198877"/>
                    <a:pt x="266120" y="194523"/>
                    <a:pt x="268646" y="190341"/>
                  </a:cubicBezTo>
                  <a:cubicBezTo>
                    <a:pt x="271173" y="186160"/>
                    <a:pt x="273618" y="182143"/>
                    <a:pt x="276069" y="178301"/>
                  </a:cubicBezTo>
                  <a:cubicBezTo>
                    <a:pt x="278520" y="174459"/>
                    <a:pt x="280913" y="170785"/>
                    <a:pt x="283350" y="167288"/>
                  </a:cubicBezTo>
                  <a:cubicBezTo>
                    <a:pt x="285787" y="163791"/>
                    <a:pt x="288194" y="160464"/>
                    <a:pt x="290690" y="157320"/>
                  </a:cubicBezTo>
                  <a:cubicBezTo>
                    <a:pt x="293187" y="154176"/>
                    <a:pt x="295686" y="151198"/>
                    <a:pt x="298329" y="148425"/>
                  </a:cubicBezTo>
                  <a:cubicBezTo>
                    <a:pt x="300973" y="145652"/>
                    <a:pt x="303666" y="143039"/>
                    <a:pt x="306552" y="140682"/>
                  </a:cubicBezTo>
                  <a:cubicBezTo>
                    <a:pt x="309438" y="138326"/>
                    <a:pt x="312442" y="136135"/>
                    <a:pt x="315645" y="134287"/>
                  </a:cubicBezTo>
                  <a:cubicBezTo>
                    <a:pt x="318848" y="132438"/>
                    <a:pt x="322245" y="130805"/>
                    <a:pt x="325769" y="129592"/>
                  </a:cubicBezTo>
                  <a:cubicBezTo>
                    <a:pt x="329293" y="128379"/>
                    <a:pt x="333029" y="127485"/>
                    <a:pt x="336790" y="127008"/>
                  </a:cubicBezTo>
                  <a:cubicBezTo>
                    <a:pt x="340552" y="126532"/>
                    <a:pt x="344449" y="126459"/>
                    <a:pt x="348338" y="126735"/>
                  </a:cubicBezTo>
                  <a:cubicBezTo>
                    <a:pt x="352226" y="127011"/>
                    <a:pt x="356156" y="127690"/>
                    <a:pt x="360123" y="128665"/>
                  </a:cubicBezTo>
                  <a:cubicBezTo>
                    <a:pt x="364091" y="129640"/>
                    <a:pt x="368065" y="130970"/>
                    <a:pt x="372144" y="132584"/>
                  </a:cubicBezTo>
                  <a:cubicBezTo>
                    <a:pt x="376224" y="134198"/>
                    <a:pt x="380529" y="136237"/>
                    <a:pt x="384599" y="138349"/>
                  </a:cubicBezTo>
                  <a:cubicBezTo>
                    <a:pt x="388669" y="140461"/>
                    <a:pt x="392086" y="142970"/>
                    <a:pt x="396566" y="145255"/>
                  </a:cubicBezTo>
                  <a:cubicBezTo>
                    <a:pt x="401045" y="147540"/>
                    <a:pt x="406601" y="149532"/>
                    <a:pt x="411476" y="152058"/>
                  </a:cubicBezTo>
                  <a:cubicBezTo>
                    <a:pt x="416351" y="154583"/>
                    <a:pt x="421326" y="157490"/>
                    <a:pt x="425816" y="160409"/>
                  </a:cubicBezTo>
                  <a:cubicBezTo>
                    <a:pt x="430306" y="163329"/>
                    <a:pt x="434480" y="166413"/>
                    <a:pt x="438417" y="169576"/>
                  </a:cubicBezTo>
                  <a:cubicBezTo>
                    <a:pt x="442355" y="172739"/>
                    <a:pt x="445999" y="176042"/>
                    <a:pt x="449444" y="179390"/>
                  </a:cubicBezTo>
                  <a:cubicBezTo>
                    <a:pt x="452888" y="182738"/>
                    <a:pt x="456065" y="186194"/>
                    <a:pt x="459084" y="189664"/>
                  </a:cubicBezTo>
                  <a:cubicBezTo>
                    <a:pt x="462103" y="193134"/>
                    <a:pt x="464888" y="196678"/>
                    <a:pt x="467560" y="200212"/>
                  </a:cubicBezTo>
                  <a:cubicBezTo>
                    <a:pt x="470231" y="203745"/>
                    <a:pt x="472707" y="207320"/>
                    <a:pt x="475115" y="210863"/>
                  </a:cubicBezTo>
                  <a:cubicBezTo>
                    <a:pt x="477522" y="214406"/>
                    <a:pt x="479776" y="217963"/>
                    <a:pt x="482004" y="221471"/>
                  </a:cubicBezTo>
                  <a:cubicBezTo>
                    <a:pt x="484231" y="224979"/>
                    <a:pt x="486349" y="228476"/>
                    <a:pt x="488479" y="231910"/>
                  </a:cubicBezTo>
                  <a:cubicBezTo>
                    <a:pt x="490609" y="235344"/>
                    <a:pt x="492672" y="238748"/>
                    <a:pt x="494782" y="242075"/>
                  </a:cubicBezTo>
                  <a:cubicBezTo>
                    <a:pt x="496893" y="245403"/>
                    <a:pt x="498976" y="248682"/>
                    <a:pt x="501142" y="251876"/>
                  </a:cubicBezTo>
                  <a:cubicBezTo>
                    <a:pt x="503307" y="255071"/>
                    <a:pt x="505483" y="258201"/>
                    <a:pt x="507776" y="261242"/>
                  </a:cubicBezTo>
                  <a:cubicBezTo>
                    <a:pt x="510069" y="264283"/>
                    <a:pt x="512407" y="267248"/>
                    <a:pt x="514901" y="270124"/>
                  </a:cubicBezTo>
                  <a:cubicBezTo>
                    <a:pt x="517396" y="272999"/>
                    <a:pt x="519968" y="275791"/>
                    <a:pt x="522743" y="278494"/>
                  </a:cubicBezTo>
                  <a:cubicBezTo>
                    <a:pt x="525518" y="281198"/>
                    <a:pt x="528407" y="283817"/>
                    <a:pt x="531551" y="286345"/>
                  </a:cubicBezTo>
                  <a:cubicBezTo>
                    <a:pt x="534695" y="288874"/>
                    <a:pt x="537995" y="291320"/>
                    <a:pt x="541606" y="293668"/>
                  </a:cubicBezTo>
                  <a:cubicBezTo>
                    <a:pt x="545216" y="296016"/>
                    <a:pt x="549087" y="298302"/>
                    <a:pt x="553214" y="300433"/>
                  </a:cubicBezTo>
                  <a:cubicBezTo>
                    <a:pt x="557341" y="302565"/>
                    <a:pt x="561583" y="304673"/>
                    <a:pt x="566368" y="306456"/>
                  </a:cubicBezTo>
                  <a:cubicBezTo>
                    <a:pt x="571152" y="308239"/>
                    <a:pt x="576783" y="309895"/>
                    <a:pt x="581922" y="311130"/>
                  </a:cubicBezTo>
                  <a:cubicBezTo>
                    <a:pt x="587060" y="312366"/>
                    <a:pt x="592182" y="313261"/>
                    <a:pt x="597200" y="313868"/>
                  </a:cubicBezTo>
                  <a:cubicBezTo>
                    <a:pt x="602219" y="314476"/>
                    <a:pt x="607176" y="314757"/>
                    <a:pt x="612032" y="314776"/>
                  </a:cubicBezTo>
                  <a:cubicBezTo>
                    <a:pt x="616887" y="314795"/>
                    <a:pt x="621669" y="314511"/>
                    <a:pt x="626335" y="313984"/>
                  </a:cubicBezTo>
                  <a:cubicBezTo>
                    <a:pt x="631001" y="313458"/>
                    <a:pt x="635579" y="312649"/>
                    <a:pt x="640025" y="311617"/>
                  </a:cubicBezTo>
                  <a:cubicBezTo>
                    <a:pt x="644471" y="310585"/>
                    <a:pt x="648815" y="309291"/>
                    <a:pt x="653009" y="307793"/>
                  </a:cubicBezTo>
                  <a:cubicBezTo>
                    <a:pt x="657203" y="306296"/>
                    <a:pt x="661280" y="304555"/>
                    <a:pt x="665188" y="302632"/>
                  </a:cubicBezTo>
                  <a:cubicBezTo>
                    <a:pt x="669095" y="300709"/>
                    <a:pt x="672869" y="298562"/>
                    <a:pt x="676456" y="296254"/>
                  </a:cubicBezTo>
                  <a:cubicBezTo>
                    <a:pt x="680042" y="293946"/>
                    <a:pt x="683476" y="291435"/>
                    <a:pt x="686706" y="288785"/>
                  </a:cubicBezTo>
                  <a:cubicBezTo>
                    <a:pt x="689935" y="286134"/>
                    <a:pt x="692994" y="283301"/>
                    <a:pt x="695831" y="280352"/>
                  </a:cubicBezTo>
                  <a:cubicBezTo>
                    <a:pt x="698669" y="277403"/>
                    <a:pt x="701318" y="274294"/>
                    <a:pt x="703731" y="271090"/>
                  </a:cubicBezTo>
                  <a:cubicBezTo>
                    <a:pt x="706144" y="267886"/>
                    <a:pt x="708351" y="264545"/>
                    <a:pt x="710309" y="261130"/>
                  </a:cubicBezTo>
                  <a:cubicBezTo>
                    <a:pt x="712267" y="257715"/>
                    <a:pt x="714004" y="254186"/>
                    <a:pt x="715481" y="250601"/>
                  </a:cubicBezTo>
                  <a:cubicBezTo>
                    <a:pt x="716958" y="247016"/>
                    <a:pt x="718199" y="243339"/>
                    <a:pt x="719170" y="239618"/>
                  </a:cubicBezTo>
                  <a:cubicBezTo>
                    <a:pt x="720140" y="235898"/>
                    <a:pt x="720865" y="232107"/>
                    <a:pt x="721305" y="228280"/>
                  </a:cubicBezTo>
                  <a:cubicBezTo>
                    <a:pt x="721744" y="224453"/>
                    <a:pt x="721928" y="220570"/>
                    <a:pt x="721808" y="216657"/>
                  </a:cubicBezTo>
                  <a:cubicBezTo>
                    <a:pt x="721688" y="212744"/>
                    <a:pt x="721356" y="208971"/>
                    <a:pt x="720586" y="204800"/>
                  </a:cubicBezTo>
                  <a:cubicBezTo>
                    <a:pt x="719817" y="200630"/>
                    <a:pt x="717756" y="193830"/>
                    <a:pt x="717190" y="191635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Individual small-bowel fold 03"/>
            <p:cNvSpPr/>
            <p:nvPr/>
          </p:nvSpPr>
          <p:spPr>
            <a:xfrm>
              <a:off x="302432" y="302731"/>
              <a:ext cx="330583" cy="253045"/>
            </a:xfrm>
            <a:custGeom>
              <a:avLst/>
              <a:gdLst/>
              <a:ahLst/>
              <a:cxnLst/>
              <a:rect l="0" t="0" r="r" b="b"/>
              <a:pathLst>
                <a:path w="777483" h="595124">
                  <a:moveTo>
                    <a:pt x="58272" y="9834"/>
                  </a:moveTo>
                  <a:lnTo>
                    <a:pt x="46930" y="18579"/>
                  </a:lnTo>
                  <a:lnTo>
                    <a:pt x="34664" y="30618"/>
                  </a:lnTo>
                  <a:lnTo>
                    <a:pt x="24214" y="43860"/>
                  </a:lnTo>
                  <a:lnTo>
                    <a:pt x="15657" y="58040"/>
                  </a:lnTo>
                  <a:lnTo>
                    <a:pt x="9007" y="72897"/>
                  </a:lnTo>
                  <a:lnTo>
                    <a:pt x="4228" y="88190"/>
                  </a:lnTo>
                  <a:lnTo>
                    <a:pt x="1253" y="103718"/>
                  </a:lnTo>
                  <a:lnTo>
                    <a:pt x="0" y="119314"/>
                  </a:lnTo>
                  <a:lnTo>
                    <a:pt x="391" y="134845"/>
                  </a:lnTo>
                  <a:lnTo>
                    <a:pt x="2355" y="150198"/>
                  </a:lnTo>
                  <a:lnTo>
                    <a:pt x="5838" y="165272"/>
                  </a:lnTo>
                  <a:lnTo>
                    <a:pt x="10799" y="179971"/>
                  </a:lnTo>
                  <a:lnTo>
                    <a:pt x="17210" y="194196"/>
                  </a:lnTo>
                  <a:lnTo>
                    <a:pt x="25054" y="207840"/>
                  </a:lnTo>
                  <a:lnTo>
                    <a:pt x="34315" y="220782"/>
                  </a:lnTo>
                  <a:lnTo>
                    <a:pt x="44978" y="232889"/>
                  </a:lnTo>
                  <a:lnTo>
                    <a:pt x="57018" y="244008"/>
                  </a:lnTo>
                  <a:lnTo>
                    <a:pt x="75660" y="257042"/>
                  </a:lnTo>
                  <a:lnTo>
                    <a:pt x="100159" y="265760"/>
                  </a:lnTo>
                  <a:lnTo>
                    <a:pt x="123045" y="269129"/>
                  </a:lnTo>
                  <a:lnTo>
                    <a:pt x="145279" y="268148"/>
                  </a:lnTo>
                  <a:lnTo>
                    <a:pt x="165818" y="263551"/>
                  </a:lnTo>
                  <a:lnTo>
                    <a:pt x="184234" y="256439"/>
                  </a:lnTo>
                  <a:lnTo>
                    <a:pt x="200682" y="247797"/>
                  </a:lnTo>
                  <a:lnTo>
                    <a:pt x="215566" y="238320"/>
                  </a:lnTo>
                  <a:lnTo>
                    <a:pt x="229303" y="228482"/>
                  </a:lnTo>
                  <a:lnTo>
                    <a:pt x="242229" y="218630"/>
                  </a:lnTo>
                  <a:lnTo>
                    <a:pt x="254585" y="209055"/>
                  </a:lnTo>
                  <a:lnTo>
                    <a:pt x="266530" y="200025"/>
                  </a:lnTo>
                  <a:lnTo>
                    <a:pt x="278161" y="191785"/>
                  </a:lnTo>
                  <a:lnTo>
                    <a:pt x="289529" y="184547"/>
                  </a:lnTo>
                  <a:lnTo>
                    <a:pt x="300671" y="178474"/>
                  </a:lnTo>
                  <a:lnTo>
                    <a:pt x="311651" y="173664"/>
                  </a:lnTo>
                  <a:lnTo>
                    <a:pt x="322623" y="170153"/>
                  </a:lnTo>
                  <a:lnTo>
                    <a:pt x="333879" y="167962"/>
                  </a:lnTo>
                  <a:lnTo>
                    <a:pt x="346244" y="167178"/>
                  </a:lnTo>
                  <a:lnTo>
                    <a:pt x="356639" y="167826"/>
                  </a:lnTo>
                  <a:lnTo>
                    <a:pt x="365832" y="169561"/>
                  </a:lnTo>
                  <a:lnTo>
                    <a:pt x="374317" y="172256"/>
                  </a:lnTo>
                  <a:lnTo>
                    <a:pt x="382601" y="175928"/>
                  </a:lnTo>
                  <a:lnTo>
                    <a:pt x="391030" y="180641"/>
                  </a:lnTo>
                  <a:lnTo>
                    <a:pt x="399811" y="186421"/>
                  </a:lnTo>
                  <a:lnTo>
                    <a:pt x="409083" y="193213"/>
                  </a:lnTo>
                  <a:lnTo>
                    <a:pt x="418982" y="200882"/>
                  </a:lnTo>
                  <a:lnTo>
                    <a:pt x="429687" y="209225"/>
                  </a:lnTo>
                  <a:lnTo>
                    <a:pt x="441444" y="217976"/>
                  </a:lnTo>
                  <a:lnTo>
                    <a:pt x="454563" y="226787"/>
                  </a:lnTo>
                  <a:lnTo>
                    <a:pt x="469384" y="235181"/>
                  </a:lnTo>
                  <a:lnTo>
                    <a:pt x="486171" y="242515"/>
                  </a:lnTo>
                  <a:lnTo>
                    <a:pt x="504961" y="248000"/>
                  </a:lnTo>
                  <a:lnTo>
                    <a:pt x="525447" y="250867"/>
                  </a:lnTo>
                  <a:lnTo>
                    <a:pt x="547072" y="250603"/>
                  </a:lnTo>
                  <a:lnTo>
                    <a:pt x="569312" y="247056"/>
                  </a:lnTo>
                  <a:lnTo>
                    <a:pt x="590955" y="240656"/>
                  </a:lnTo>
                  <a:lnTo>
                    <a:pt x="605144" y="235063"/>
                  </a:lnTo>
                  <a:lnTo>
                    <a:pt x="614274" y="232386"/>
                  </a:lnTo>
                  <a:lnTo>
                    <a:pt x="622467" y="230834"/>
                  </a:lnTo>
                  <a:lnTo>
                    <a:pt x="629700" y="230244"/>
                  </a:lnTo>
                  <a:lnTo>
                    <a:pt x="636000" y="230445"/>
                  </a:lnTo>
                  <a:lnTo>
                    <a:pt x="641443" y="231280"/>
                  </a:lnTo>
                  <a:lnTo>
                    <a:pt x="646164" y="232631"/>
                  </a:lnTo>
                  <a:lnTo>
                    <a:pt x="650331" y="234438"/>
                  </a:lnTo>
                  <a:lnTo>
                    <a:pt x="654121" y="236720"/>
                  </a:lnTo>
                  <a:lnTo>
                    <a:pt x="657684" y="239566"/>
                  </a:lnTo>
                  <a:lnTo>
                    <a:pt x="661108" y="243115"/>
                  </a:lnTo>
                  <a:lnTo>
                    <a:pt x="664412" y="247524"/>
                  </a:lnTo>
                  <a:lnTo>
                    <a:pt x="667547" y="252938"/>
                  </a:lnTo>
                  <a:lnTo>
                    <a:pt x="670414" y="259468"/>
                  </a:lnTo>
                  <a:lnTo>
                    <a:pt x="672883" y="267186"/>
                  </a:lnTo>
                  <a:lnTo>
                    <a:pt x="674815" y="276124"/>
                  </a:lnTo>
                  <a:lnTo>
                    <a:pt x="676071" y="286285"/>
                  </a:lnTo>
                  <a:lnTo>
                    <a:pt x="676518" y="297786"/>
                  </a:lnTo>
                  <a:lnTo>
                    <a:pt x="676058" y="315500"/>
                  </a:lnTo>
                  <a:lnTo>
                    <a:pt x="674695" y="332831"/>
                  </a:lnTo>
                  <a:lnTo>
                    <a:pt x="672453" y="349591"/>
                  </a:lnTo>
                  <a:lnTo>
                    <a:pt x="669361" y="365702"/>
                  </a:lnTo>
                  <a:lnTo>
                    <a:pt x="665452" y="381093"/>
                  </a:lnTo>
                  <a:lnTo>
                    <a:pt x="660764" y="395691"/>
                  </a:lnTo>
                  <a:lnTo>
                    <a:pt x="655339" y="409433"/>
                  </a:lnTo>
                  <a:lnTo>
                    <a:pt x="649222" y="422259"/>
                  </a:lnTo>
                  <a:lnTo>
                    <a:pt x="642462" y="434123"/>
                  </a:lnTo>
                  <a:lnTo>
                    <a:pt x="635104" y="444989"/>
                  </a:lnTo>
                  <a:lnTo>
                    <a:pt x="627192" y="454836"/>
                  </a:lnTo>
                  <a:lnTo>
                    <a:pt x="618756" y="463658"/>
                  </a:lnTo>
                  <a:lnTo>
                    <a:pt x="609809" y="471463"/>
                  </a:lnTo>
                  <a:lnTo>
                    <a:pt x="600341" y="478269"/>
                  </a:lnTo>
                  <a:lnTo>
                    <a:pt x="590312" y="484093"/>
                  </a:lnTo>
                  <a:lnTo>
                    <a:pt x="579654" y="488944"/>
                  </a:lnTo>
                  <a:lnTo>
                    <a:pt x="568277" y="492809"/>
                  </a:lnTo>
                  <a:lnTo>
                    <a:pt x="553643" y="496150"/>
                  </a:lnTo>
                  <a:lnTo>
                    <a:pt x="535696" y="504268"/>
                  </a:lnTo>
                  <a:lnTo>
                    <a:pt x="522222" y="518636"/>
                  </a:lnTo>
                  <a:lnTo>
                    <a:pt x="515272" y="537066"/>
                  </a:lnTo>
                  <a:lnTo>
                    <a:pt x="515904" y="556754"/>
                  </a:lnTo>
                  <a:lnTo>
                    <a:pt x="524022" y="574700"/>
                  </a:lnTo>
                  <a:lnTo>
                    <a:pt x="538390" y="588174"/>
                  </a:lnTo>
                  <a:lnTo>
                    <a:pt x="556821" y="595124"/>
                  </a:lnTo>
                  <a:lnTo>
                    <a:pt x="576508" y="594492"/>
                  </a:lnTo>
                  <a:lnTo>
                    <a:pt x="576508" y="594492"/>
                  </a:lnTo>
                  <a:lnTo>
                    <a:pt x="595913" y="589918"/>
                  </a:lnTo>
                  <a:lnTo>
                    <a:pt x="616792" y="582831"/>
                  </a:lnTo>
                  <a:lnTo>
                    <a:pt x="636588" y="573828"/>
                  </a:lnTo>
                  <a:lnTo>
                    <a:pt x="655190" y="563036"/>
                  </a:lnTo>
                  <a:lnTo>
                    <a:pt x="672510" y="550599"/>
                  </a:lnTo>
                  <a:lnTo>
                    <a:pt x="688489" y="536673"/>
                  </a:lnTo>
                  <a:lnTo>
                    <a:pt x="703098" y="521411"/>
                  </a:lnTo>
                  <a:lnTo>
                    <a:pt x="716329" y="504959"/>
                  </a:lnTo>
                  <a:lnTo>
                    <a:pt x="728195" y="487449"/>
                  </a:lnTo>
                  <a:lnTo>
                    <a:pt x="738718" y="468997"/>
                  </a:lnTo>
                  <a:lnTo>
                    <a:pt x="747924" y="449705"/>
                  </a:lnTo>
                  <a:lnTo>
                    <a:pt x="755842" y="429661"/>
                  </a:lnTo>
                  <a:lnTo>
                    <a:pt x="762499" y="408946"/>
                  </a:lnTo>
                  <a:lnTo>
                    <a:pt x="767916" y="387631"/>
                  </a:lnTo>
                  <a:lnTo>
                    <a:pt x="772111" y="365783"/>
                  </a:lnTo>
                  <a:lnTo>
                    <a:pt x="775098" y="343466"/>
                  </a:lnTo>
                  <a:lnTo>
                    <a:pt x="776887" y="320740"/>
                  </a:lnTo>
                  <a:lnTo>
                    <a:pt x="777483" y="297556"/>
                  </a:lnTo>
                  <a:lnTo>
                    <a:pt x="776712" y="278202"/>
                  </a:lnTo>
                  <a:lnTo>
                    <a:pt x="774377" y="259349"/>
                  </a:lnTo>
                  <a:lnTo>
                    <a:pt x="770446" y="241196"/>
                  </a:lnTo>
                  <a:lnTo>
                    <a:pt x="764876" y="223820"/>
                  </a:lnTo>
                  <a:lnTo>
                    <a:pt x="757627" y="207335"/>
                  </a:lnTo>
                  <a:lnTo>
                    <a:pt x="748666" y="191889"/>
                  </a:lnTo>
                  <a:lnTo>
                    <a:pt x="737993" y="177673"/>
                  </a:lnTo>
                  <a:lnTo>
                    <a:pt x="725657" y="164910"/>
                  </a:lnTo>
                  <a:lnTo>
                    <a:pt x="711773" y="153834"/>
                  </a:lnTo>
                  <a:lnTo>
                    <a:pt x="696530" y="144663"/>
                  </a:lnTo>
                  <a:lnTo>
                    <a:pt x="680174" y="137566"/>
                  </a:lnTo>
                  <a:lnTo>
                    <a:pt x="662980" y="132639"/>
                  </a:lnTo>
                  <a:lnTo>
                    <a:pt x="645215" y="129901"/>
                  </a:lnTo>
                  <a:lnTo>
                    <a:pt x="627111" y="129312"/>
                  </a:lnTo>
                  <a:lnTo>
                    <a:pt x="608843" y="130792"/>
                  </a:lnTo>
                  <a:lnTo>
                    <a:pt x="590535" y="134251"/>
                  </a:lnTo>
                  <a:lnTo>
                    <a:pt x="572262" y="139603"/>
                  </a:lnTo>
                  <a:lnTo>
                    <a:pt x="558246" y="145136"/>
                  </a:lnTo>
                  <a:lnTo>
                    <a:pt x="546492" y="148704"/>
                  </a:lnTo>
                  <a:lnTo>
                    <a:pt x="538159" y="150032"/>
                  </a:lnTo>
                  <a:lnTo>
                    <a:pt x="531678" y="150094"/>
                  </a:lnTo>
                  <a:lnTo>
                    <a:pt x="526177" y="149289"/>
                  </a:lnTo>
                  <a:lnTo>
                    <a:pt x="520743" y="147653"/>
                  </a:lnTo>
                  <a:lnTo>
                    <a:pt x="514717" y="144966"/>
                  </a:lnTo>
                  <a:lnTo>
                    <a:pt x="507783" y="140987"/>
                  </a:lnTo>
                  <a:lnTo>
                    <a:pt x="499853" y="135621"/>
                  </a:lnTo>
                  <a:lnTo>
                    <a:pt x="490913" y="128942"/>
                  </a:lnTo>
                  <a:lnTo>
                    <a:pt x="480922" y="121148"/>
                  </a:lnTo>
                  <a:lnTo>
                    <a:pt x="469772" y="112524"/>
                  </a:lnTo>
                  <a:lnTo>
                    <a:pt x="457290" y="103415"/>
                  </a:lnTo>
                  <a:lnTo>
                    <a:pt x="443258" y="94234"/>
                  </a:lnTo>
                  <a:lnTo>
                    <a:pt x="427462" y="85477"/>
                  </a:lnTo>
                  <a:lnTo>
                    <a:pt x="409758" y="77716"/>
                  </a:lnTo>
                  <a:lnTo>
                    <a:pt x="390139" y="71566"/>
                  </a:lnTo>
                  <a:lnTo>
                    <a:pt x="368758" y="67591"/>
                  </a:lnTo>
                  <a:lnTo>
                    <a:pt x="345756" y="66214"/>
                  </a:lnTo>
                  <a:lnTo>
                    <a:pt x="321221" y="67794"/>
                  </a:lnTo>
                  <a:lnTo>
                    <a:pt x="297829" y="72280"/>
                  </a:lnTo>
                  <a:lnTo>
                    <a:pt x="276192" y="79130"/>
                  </a:lnTo>
                  <a:lnTo>
                    <a:pt x="256386" y="87739"/>
                  </a:lnTo>
                  <a:lnTo>
                    <a:pt x="238348" y="97515"/>
                  </a:lnTo>
                  <a:lnTo>
                    <a:pt x="221928" y="107929"/>
                  </a:lnTo>
                  <a:lnTo>
                    <a:pt x="206947" y="118516"/>
                  </a:lnTo>
                  <a:lnTo>
                    <a:pt x="193241" y="128863"/>
                  </a:lnTo>
                  <a:lnTo>
                    <a:pt x="180690" y="138587"/>
                  </a:lnTo>
                  <a:lnTo>
                    <a:pt x="169239" y="147327"/>
                  </a:lnTo>
                  <a:lnTo>
                    <a:pt x="158912" y="154749"/>
                  </a:lnTo>
                  <a:lnTo>
                    <a:pt x="149830" y="160573"/>
                  </a:lnTo>
                  <a:lnTo>
                    <a:pt x="142194" y="164643"/>
                  </a:lnTo>
                  <a:lnTo>
                    <a:pt x="136194" y="167030"/>
                  </a:lnTo>
                  <a:lnTo>
                    <a:pt x="131766" y="168091"/>
                  </a:lnTo>
                  <a:lnTo>
                    <a:pt x="128271" y="168299"/>
                  </a:lnTo>
                  <a:lnTo>
                    <a:pt x="124447" y="167761"/>
                  </a:lnTo>
                  <a:lnTo>
                    <a:pt x="121041" y="166850"/>
                  </a:lnTo>
                  <a:lnTo>
                    <a:pt x="121521" y="166334"/>
                  </a:lnTo>
                  <a:lnTo>
                    <a:pt x="117202" y="162336"/>
                  </a:lnTo>
                  <a:lnTo>
                    <a:pt x="113350" y="157954"/>
                  </a:lnTo>
                  <a:lnTo>
                    <a:pt x="109976" y="153231"/>
                  </a:lnTo>
                  <a:lnTo>
                    <a:pt x="107105" y="148230"/>
                  </a:lnTo>
                  <a:lnTo>
                    <a:pt x="104762" y="143026"/>
                  </a:lnTo>
                  <a:lnTo>
                    <a:pt x="102968" y="137709"/>
                  </a:lnTo>
                  <a:lnTo>
                    <a:pt x="101735" y="132373"/>
                  </a:lnTo>
                  <a:lnTo>
                    <a:pt x="101060" y="127121"/>
                  </a:lnTo>
                  <a:lnTo>
                    <a:pt x="100928" y="122047"/>
                  </a:lnTo>
                  <a:lnTo>
                    <a:pt x="101309" y="117235"/>
                  </a:lnTo>
                  <a:lnTo>
                    <a:pt x="102161" y="112746"/>
                  </a:lnTo>
                  <a:lnTo>
                    <a:pt x="103445" y="108610"/>
                  </a:lnTo>
                  <a:lnTo>
                    <a:pt x="105131" y="104822"/>
                  </a:lnTo>
                  <a:lnTo>
                    <a:pt x="107222" y="101337"/>
                  </a:lnTo>
                  <a:lnTo>
                    <a:pt x="109774" y="98090"/>
                  </a:lnTo>
                  <a:lnTo>
                    <a:pt x="112899" y="95012"/>
                  </a:lnTo>
                  <a:lnTo>
                    <a:pt x="119378" y="90208"/>
                  </a:lnTo>
                  <a:lnTo>
                    <a:pt x="132431" y="75457"/>
                  </a:lnTo>
                  <a:lnTo>
                    <a:pt x="138846" y="56833"/>
                  </a:lnTo>
                  <a:lnTo>
                    <a:pt x="137645" y="37173"/>
                  </a:lnTo>
                  <a:lnTo>
                    <a:pt x="129012" y="19468"/>
                  </a:lnTo>
                  <a:lnTo>
                    <a:pt x="114261" y="6415"/>
                  </a:lnTo>
                  <a:lnTo>
                    <a:pt x="95638" y="0"/>
                  </a:lnTo>
                  <a:lnTo>
                    <a:pt x="75977" y="1201"/>
                  </a:lnTo>
                  <a:lnTo>
                    <a:pt x="58272" y="9834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Individual small-bowel fold 03 soft reflected light"/>
            <p:cNvSpPr/>
            <p:nvPr/>
          </p:nvSpPr>
          <p:spPr>
            <a:xfrm>
              <a:off x="330508" y="329297"/>
              <a:ext cx="287704" cy="211784"/>
            </a:xfrm>
            <a:custGeom>
              <a:avLst/>
              <a:gdLst/>
              <a:ahLst/>
              <a:cxnLst/>
              <a:rect l="0" t="0" r="r" b="b"/>
              <a:pathLst>
                <a:path w="676637" h="498085">
                  <a:moveTo>
                    <a:pt x="32266" y="0"/>
                  </a:moveTo>
                  <a:cubicBezTo>
                    <a:pt x="30906" y="1027"/>
                    <a:pt x="26515" y="4108"/>
                    <a:pt x="24109" y="6164"/>
                  </a:cubicBezTo>
                  <a:cubicBezTo>
                    <a:pt x="21703" y="8219"/>
                    <a:pt x="19755" y="10189"/>
                    <a:pt x="17830" y="12333"/>
                  </a:cubicBezTo>
                  <a:cubicBezTo>
                    <a:pt x="15904" y="14477"/>
                    <a:pt x="14153" y="16717"/>
                    <a:pt x="12553" y="19029"/>
                  </a:cubicBezTo>
                  <a:cubicBezTo>
                    <a:pt x="10954" y="21340"/>
                    <a:pt x="9518" y="23740"/>
                    <a:pt x="8231" y="26203"/>
                  </a:cubicBezTo>
                  <a:cubicBezTo>
                    <a:pt x="6944" y="28667"/>
                    <a:pt x="5814" y="31212"/>
                    <a:pt x="4833" y="33810"/>
                  </a:cubicBezTo>
                  <a:cubicBezTo>
                    <a:pt x="3851" y="36409"/>
                    <a:pt x="3022" y="39082"/>
                    <a:pt x="2343" y="41795"/>
                  </a:cubicBezTo>
                  <a:cubicBezTo>
                    <a:pt x="1664" y="44509"/>
                    <a:pt x="1136" y="47288"/>
                    <a:pt x="758" y="50093"/>
                  </a:cubicBezTo>
                  <a:cubicBezTo>
                    <a:pt x="380" y="52898"/>
                    <a:pt x="153" y="55757"/>
                    <a:pt x="77" y="58626"/>
                  </a:cubicBezTo>
                  <a:cubicBezTo>
                    <a:pt x="0" y="61495"/>
                    <a:pt x="74" y="64404"/>
                    <a:pt x="298" y="67307"/>
                  </a:cubicBezTo>
                  <a:cubicBezTo>
                    <a:pt x="521" y="70210"/>
                    <a:pt x="896" y="73139"/>
                    <a:pt x="1418" y="76044"/>
                  </a:cubicBezTo>
                  <a:cubicBezTo>
                    <a:pt x="1939" y="78949"/>
                    <a:pt x="2611" y="81864"/>
                    <a:pt x="3427" y="84739"/>
                  </a:cubicBezTo>
                  <a:cubicBezTo>
                    <a:pt x="4243" y="87614"/>
                    <a:pt x="5208" y="90482"/>
                    <a:pt x="6314" y="93293"/>
                  </a:cubicBezTo>
                  <a:cubicBezTo>
                    <a:pt x="7420" y="96105"/>
                    <a:pt x="8672" y="98893"/>
                    <a:pt x="10061" y="101610"/>
                  </a:cubicBezTo>
                  <a:cubicBezTo>
                    <a:pt x="11449" y="104326"/>
                    <a:pt x="12982" y="107002"/>
                    <a:pt x="14647" y="109592"/>
                  </a:cubicBezTo>
                  <a:cubicBezTo>
                    <a:pt x="16312" y="112183"/>
                    <a:pt x="18117" y="114716"/>
                    <a:pt x="20052" y="117151"/>
                  </a:cubicBezTo>
                  <a:cubicBezTo>
                    <a:pt x="21986" y="119585"/>
                    <a:pt x="24056" y="121948"/>
                    <a:pt x="26254" y="124198"/>
                  </a:cubicBezTo>
                  <a:cubicBezTo>
                    <a:pt x="28451" y="126449"/>
                    <a:pt x="31053" y="128771"/>
                    <a:pt x="33236" y="130653"/>
                  </a:cubicBezTo>
                  <a:cubicBezTo>
                    <a:pt x="35420" y="132534"/>
                    <a:pt x="36553" y="134081"/>
                    <a:pt x="39353" y="135487"/>
                  </a:cubicBezTo>
                  <a:cubicBezTo>
                    <a:pt x="42153" y="136894"/>
                    <a:pt x="46523" y="138239"/>
                    <a:pt x="50037" y="139092"/>
                  </a:cubicBezTo>
                  <a:cubicBezTo>
                    <a:pt x="53551" y="139945"/>
                    <a:pt x="57043" y="140433"/>
                    <a:pt x="60437" y="140606"/>
                  </a:cubicBezTo>
                  <a:cubicBezTo>
                    <a:pt x="63830" y="140780"/>
                    <a:pt x="67073" y="140591"/>
                    <a:pt x="70397" y="140132"/>
                  </a:cubicBezTo>
                  <a:cubicBezTo>
                    <a:pt x="73722" y="139673"/>
                    <a:pt x="77005" y="138901"/>
                    <a:pt x="80383" y="137851"/>
                  </a:cubicBezTo>
                  <a:cubicBezTo>
                    <a:pt x="83761" y="136801"/>
                    <a:pt x="87173" y="135445"/>
                    <a:pt x="90667" y="133834"/>
                  </a:cubicBezTo>
                  <a:cubicBezTo>
                    <a:pt x="94160" y="132223"/>
                    <a:pt x="97716" y="130308"/>
                    <a:pt x="101343" y="128186"/>
                  </a:cubicBezTo>
                  <a:cubicBezTo>
                    <a:pt x="104969" y="126064"/>
                    <a:pt x="108662" y="123659"/>
                    <a:pt x="112426" y="121102"/>
                  </a:cubicBezTo>
                  <a:cubicBezTo>
                    <a:pt x="116191" y="118546"/>
                    <a:pt x="120019" y="115743"/>
                    <a:pt x="123930" y="112847"/>
                  </a:cubicBezTo>
                  <a:cubicBezTo>
                    <a:pt x="127840" y="109950"/>
                    <a:pt x="131816" y="106856"/>
                    <a:pt x="135890" y="103723"/>
                  </a:cubicBezTo>
                  <a:cubicBezTo>
                    <a:pt x="139964" y="100590"/>
                    <a:pt x="144110" y="97311"/>
                    <a:pt x="148374" y="94051"/>
                  </a:cubicBezTo>
                  <a:cubicBezTo>
                    <a:pt x="152637" y="90790"/>
                    <a:pt x="156985" y="87436"/>
                    <a:pt x="161472" y="84158"/>
                  </a:cubicBezTo>
                  <a:cubicBezTo>
                    <a:pt x="165960" y="80880"/>
                    <a:pt x="170547" y="77563"/>
                    <a:pt x="175298" y="74380"/>
                  </a:cubicBezTo>
                  <a:cubicBezTo>
                    <a:pt x="180048" y="71198"/>
                    <a:pt x="184919" y="68032"/>
                    <a:pt x="189974" y="65062"/>
                  </a:cubicBezTo>
                  <a:cubicBezTo>
                    <a:pt x="195030" y="62093"/>
                    <a:pt x="200230" y="59197"/>
                    <a:pt x="205633" y="56564"/>
                  </a:cubicBezTo>
                  <a:cubicBezTo>
                    <a:pt x="211036" y="53931"/>
                    <a:pt x="216608" y="51432"/>
                    <a:pt x="222394" y="49266"/>
                  </a:cubicBezTo>
                  <a:cubicBezTo>
                    <a:pt x="228181" y="47100"/>
                    <a:pt x="234158" y="45133"/>
                    <a:pt x="240352" y="43567"/>
                  </a:cubicBezTo>
                  <a:cubicBezTo>
                    <a:pt x="246546" y="42002"/>
                    <a:pt x="252966" y="40707"/>
                    <a:pt x="259557" y="39873"/>
                  </a:cubicBezTo>
                  <a:cubicBezTo>
                    <a:pt x="266147" y="39040"/>
                    <a:pt x="273395" y="38598"/>
                    <a:pt x="279894" y="38568"/>
                  </a:cubicBezTo>
                  <a:cubicBezTo>
                    <a:pt x="286392" y="38538"/>
                    <a:pt x="292574" y="38972"/>
                    <a:pt x="298546" y="39693"/>
                  </a:cubicBezTo>
                  <a:cubicBezTo>
                    <a:pt x="304517" y="40414"/>
                    <a:pt x="310230" y="41535"/>
                    <a:pt x="315722" y="42895"/>
                  </a:cubicBezTo>
                  <a:cubicBezTo>
                    <a:pt x="321214" y="44255"/>
                    <a:pt x="326461" y="45969"/>
                    <a:pt x="331500" y="47854"/>
                  </a:cubicBezTo>
                  <a:cubicBezTo>
                    <a:pt x="336539" y="49738"/>
                    <a:pt x="341336" y="51918"/>
                    <a:pt x="345954" y="54204"/>
                  </a:cubicBezTo>
                  <a:cubicBezTo>
                    <a:pt x="350572" y="56489"/>
                    <a:pt x="354962" y="59004"/>
                    <a:pt x="359208" y="61566"/>
                  </a:cubicBezTo>
                  <a:cubicBezTo>
                    <a:pt x="363454" y="64128"/>
                    <a:pt x="367496" y="66854"/>
                    <a:pt x="371428" y="69573"/>
                  </a:cubicBezTo>
                  <a:cubicBezTo>
                    <a:pt x="375361" y="72293"/>
                    <a:pt x="379121" y="75116"/>
                    <a:pt x="382803" y="77883"/>
                  </a:cubicBezTo>
                  <a:cubicBezTo>
                    <a:pt x="386486" y="80650"/>
                    <a:pt x="390029" y="83465"/>
                    <a:pt x="393522" y="86178"/>
                  </a:cubicBezTo>
                  <a:cubicBezTo>
                    <a:pt x="397014" y="88891"/>
                    <a:pt x="400401" y="91598"/>
                    <a:pt x="403759" y="94161"/>
                  </a:cubicBezTo>
                  <a:cubicBezTo>
                    <a:pt x="407117" y="96724"/>
                    <a:pt x="410399" y="99230"/>
                    <a:pt x="413671" y="101555"/>
                  </a:cubicBezTo>
                  <a:cubicBezTo>
                    <a:pt x="416943" y="103880"/>
                    <a:pt x="420162" y="106100"/>
                    <a:pt x="423391" y="108109"/>
                  </a:cubicBezTo>
                  <a:cubicBezTo>
                    <a:pt x="426620" y="110118"/>
                    <a:pt x="429814" y="111979"/>
                    <a:pt x="433046" y="113611"/>
                  </a:cubicBezTo>
                  <a:cubicBezTo>
                    <a:pt x="436278" y="115243"/>
                    <a:pt x="439488" y="116693"/>
                    <a:pt x="442784" y="117902"/>
                  </a:cubicBezTo>
                  <a:cubicBezTo>
                    <a:pt x="446081" y="119111"/>
                    <a:pt x="449374" y="120119"/>
                    <a:pt x="452826" y="120866"/>
                  </a:cubicBezTo>
                  <a:cubicBezTo>
                    <a:pt x="456278" y="121612"/>
                    <a:pt x="459768" y="122151"/>
                    <a:pt x="463498" y="122382"/>
                  </a:cubicBezTo>
                  <a:cubicBezTo>
                    <a:pt x="467227" y="122613"/>
                    <a:pt x="471063" y="122621"/>
                    <a:pt x="475203" y="122250"/>
                  </a:cubicBezTo>
                  <a:cubicBezTo>
                    <a:pt x="479342" y="121879"/>
                    <a:pt x="483618" y="121263"/>
                    <a:pt x="488334" y="120157"/>
                  </a:cubicBezTo>
                  <a:cubicBezTo>
                    <a:pt x="493050" y="119051"/>
                    <a:pt x="498626" y="117295"/>
                    <a:pt x="503499" y="115611"/>
                  </a:cubicBezTo>
                  <a:cubicBezTo>
                    <a:pt x="508373" y="113928"/>
                    <a:pt x="512710" y="111722"/>
                    <a:pt x="517575" y="110058"/>
                  </a:cubicBezTo>
                  <a:cubicBezTo>
                    <a:pt x="522441" y="108394"/>
                    <a:pt x="527704" y="106834"/>
                    <a:pt x="532694" y="105629"/>
                  </a:cubicBezTo>
                  <a:cubicBezTo>
                    <a:pt x="537683" y="104424"/>
                    <a:pt x="542632" y="103490"/>
                    <a:pt x="547512" y="102828"/>
                  </a:cubicBezTo>
                  <a:cubicBezTo>
                    <a:pt x="552392" y="102165"/>
                    <a:pt x="557224" y="101774"/>
                    <a:pt x="561973" y="101654"/>
                  </a:cubicBezTo>
                  <a:cubicBezTo>
                    <a:pt x="566722" y="101535"/>
                    <a:pt x="571414" y="101687"/>
                    <a:pt x="576005" y="102110"/>
                  </a:cubicBezTo>
                  <a:cubicBezTo>
                    <a:pt x="580596" y="102533"/>
                    <a:pt x="585118" y="103229"/>
                    <a:pt x="589518" y="104191"/>
                  </a:cubicBezTo>
                  <a:cubicBezTo>
                    <a:pt x="593919" y="105154"/>
                    <a:pt x="598236" y="106391"/>
                    <a:pt x="602409" y="107885"/>
                  </a:cubicBezTo>
                  <a:cubicBezTo>
                    <a:pt x="606583" y="109379"/>
                    <a:pt x="610653" y="111146"/>
                    <a:pt x="614560" y="113157"/>
                  </a:cubicBezTo>
                  <a:cubicBezTo>
                    <a:pt x="618467" y="115168"/>
                    <a:pt x="622250" y="117446"/>
                    <a:pt x="625852" y="119951"/>
                  </a:cubicBezTo>
                  <a:cubicBezTo>
                    <a:pt x="629455" y="122456"/>
                    <a:pt x="632911" y="125217"/>
                    <a:pt x="636175" y="128187"/>
                  </a:cubicBezTo>
                  <a:cubicBezTo>
                    <a:pt x="639439" y="131158"/>
                    <a:pt x="642538" y="134369"/>
                    <a:pt x="645437" y="137772"/>
                  </a:cubicBezTo>
                  <a:cubicBezTo>
                    <a:pt x="648335" y="141175"/>
                    <a:pt x="651054" y="144802"/>
                    <a:pt x="653567" y="148605"/>
                  </a:cubicBezTo>
                  <a:cubicBezTo>
                    <a:pt x="656081" y="152408"/>
                    <a:pt x="658404" y="156417"/>
                    <a:pt x="660518" y="160589"/>
                  </a:cubicBezTo>
                  <a:cubicBezTo>
                    <a:pt x="662633" y="164762"/>
                    <a:pt x="664549" y="169125"/>
                    <a:pt x="666256" y="173640"/>
                  </a:cubicBezTo>
                  <a:cubicBezTo>
                    <a:pt x="667962" y="178156"/>
                    <a:pt x="669465" y="182847"/>
                    <a:pt x="670756" y="187684"/>
                  </a:cubicBezTo>
                  <a:cubicBezTo>
                    <a:pt x="672046" y="192520"/>
                    <a:pt x="673130" y="197520"/>
                    <a:pt x="673997" y="202658"/>
                  </a:cubicBezTo>
                  <a:cubicBezTo>
                    <a:pt x="674864" y="207796"/>
                    <a:pt x="675522" y="213095"/>
                    <a:pt x="675959" y="218512"/>
                  </a:cubicBezTo>
                  <a:cubicBezTo>
                    <a:pt x="676396" y="223928"/>
                    <a:pt x="676600" y="228833"/>
                    <a:pt x="676619" y="235156"/>
                  </a:cubicBezTo>
                  <a:cubicBezTo>
                    <a:pt x="676637" y="241480"/>
                    <a:pt x="676435" y="249427"/>
                    <a:pt x="676070" y="256454"/>
                  </a:cubicBezTo>
                  <a:cubicBezTo>
                    <a:pt x="675705" y="263481"/>
                    <a:pt x="675157" y="270441"/>
                    <a:pt x="674428" y="277318"/>
                  </a:cubicBezTo>
                  <a:cubicBezTo>
                    <a:pt x="673699" y="284196"/>
                    <a:pt x="672789" y="291007"/>
                    <a:pt x="671698" y="297718"/>
                  </a:cubicBezTo>
                  <a:cubicBezTo>
                    <a:pt x="670607" y="304430"/>
                    <a:pt x="669335" y="311064"/>
                    <a:pt x="667883" y="317587"/>
                  </a:cubicBezTo>
                  <a:cubicBezTo>
                    <a:pt x="666431" y="324110"/>
                    <a:pt x="664799" y="330545"/>
                    <a:pt x="662986" y="336858"/>
                  </a:cubicBezTo>
                  <a:cubicBezTo>
                    <a:pt x="661174" y="343171"/>
                    <a:pt x="659182" y="349384"/>
                    <a:pt x="657009" y="355463"/>
                  </a:cubicBezTo>
                  <a:cubicBezTo>
                    <a:pt x="654837" y="361542"/>
                    <a:pt x="652484" y="367510"/>
                    <a:pt x="649951" y="373332"/>
                  </a:cubicBezTo>
                  <a:cubicBezTo>
                    <a:pt x="647418" y="379154"/>
                    <a:pt x="644705" y="384854"/>
                    <a:pt x="641811" y="390394"/>
                  </a:cubicBezTo>
                  <a:cubicBezTo>
                    <a:pt x="638916" y="395934"/>
                    <a:pt x="635842" y="401340"/>
                    <a:pt x="632586" y="406573"/>
                  </a:cubicBezTo>
                  <a:cubicBezTo>
                    <a:pt x="629330" y="411806"/>
                    <a:pt x="625893" y="416892"/>
                    <a:pt x="622276" y="421791"/>
                  </a:cubicBezTo>
                  <a:cubicBezTo>
                    <a:pt x="618658" y="426689"/>
                    <a:pt x="614859" y="431428"/>
                    <a:pt x="610879" y="435964"/>
                  </a:cubicBezTo>
                  <a:cubicBezTo>
                    <a:pt x="606900" y="440499"/>
                    <a:pt x="602739" y="444861"/>
                    <a:pt x="598400" y="449004"/>
                  </a:cubicBezTo>
                  <a:cubicBezTo>
                    <a:pt x="594061" y="453146"/>
                    <a:pt x="589541" y="457100"/>
                    <a:pt x="584847" y="460818"/>
                  </a:cubicBezTo>
                  <a:cubicBezTo>
                    <a:pt x="580153" y="464537"/>
                    <a:pt x="575278" y="468051"/>
                    <a:pt x="570236" y="471313"/>
                  </a:cubicBezTo>
                  <a:cubicBezTo>
                    <a:pt x="565193" y="474575"/>
                    <a:pt x="559973" y="477616"/>
                    <a:pt x="554592" y="480391"/>
                  </a:cubicBezTo>
                  <a:cubicBezTo>
                    <a:pt x="549211" y="483166"/>
                    <a:pt x="543656" y="485703"/>
                    <a:pt x="537949" y="487961"/>
                  </a:cubicBezTo>
                  <a:cubicBezTo>
                    <a:pt x="532241" y="490218"/>
                    <a:pt x="526241" y="492249"/>
                    <a:pt x="520348" y="493937"/>
                  </a:cubicBezTo>
                  <a:cubicBezTo>
                    <a:pt x="514454" y="495624"/>
                    <a:pt x="505548" y="497394"/>
                    <a:pt x="502588" y="498085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Individual small-bowel fold 04"/>
            <p:cNvSpPr/>
            <p:nvPr/>
          </p:nvSpPr>
          <p:spPr>
            <a:xfrm>
              <a:off x="270472" y="464266"/>
              <a:ext cx="277456" cy="116063"/>
            </a:xfrm>
            <a:custGeom>
              <a:avLst/>
              <a:gdLst/>
              <a:ahLst/>
              <a:cxnLst/>
              <a:rect l="0" t="0" r="r" b="b"/>
              <a:pathLst>
                <a:path w="652536" h="272963">
                  <a:moveTo>
                    <a:pt x="7194" y="97419"/>
                  </a:moveTo>
                  <a:lnTo>
                    <a:pt x="20369" y="117942"/>
                  </a:lnTo>
                  <a:lnTo>
                    <a:pt x="34155" y="137582"/>
                  </a:lnTo>
                  <a:lnTo>
                    <a:pt x="48156" y="155603"/>
                  </a:lnTo>
                  <a:lnTo>
                    <a:pt x="62484" y="172047"/>
                  </a:lnTo>
                  <a:lnTo>
                    <a:pt x="77255" y="186932"/>
                  </a:lnTo>
                  <a:lnTo>
                    <a:pt x="92583" y="200245"/>
                  </a:lnTo>
                  <a:lnTo>
                    <a:pt x="108562" y="211934"/>
                  </a:lnTo>
                  <a:lnTo>
                    <a:pt x="125238" y="221904"/>
                  </a:lnTo>
                  <a:lnTo>
                    <a:pt x="142590" y="230039"/>
                  </a:lnTo>
                  <a:lnTo>
                    <a:pt x="160512" y="236227"/>
                  </a:lnTo>
                  <a:lnTo>
                    <a:pt x="178829" y="240408"/>
                  </a:lnTo>
                  <a:lnTo>
                    <a:pt x="197335" y="242599"/>
                  </a:lnTo>
                  <a:lnTo>
                    <a:pt x="215846" y="242898"/>
                  </a:lnTo>
                  <a:lnTo>
                    <a:pt x="234239" y="241463"/>
                  </a:lnTo>
                  <a:lnTo>
                    <a:pt x="252466" y="238475"/>
                  </a:lnTo>
                  <a:lnTo>
                    <a:pt x="270544" y="234110"/>
                  </a:lnTo>
                  <a:lnTo>
                    <a:pt x="288538" y="228518"/>
                  </a:lnTo>
                  <a:lnTo>
                    <a:pt x="307143" y="221576"/>
                  </a:lnTo>
                  <a:lnTo>
                    <a:pt x="326000" y="212900"/>
                  </a:lnTo>
                  <a:lnTo>
                    <a:pt x="343537" y="202621"/>
                  </a:lnTo>
                  <a:lnTo>
                    <a:pt x="359065" y="191346"/>
                  </a:lnTo>
                  <a:lnTo>
                    <a:pt x="372640" y="179462"/>
                  </a:lnTo>
                  <a:lnTo>
                    <a:pt x="384390" y="167371"/>
                  </a:lnTo>
                  <a:lnTo>
                    <a:pt x="394506" y="155460"/>
                  </a:lnTo>
                  <a:lnTo>
                    <a:pt x="403212" y="144079"/>
                  </a:lnTo>
                  <a:lnTo>
                    <a:pt x="410731" y="133546"/>
                  </a:lnTo>
                  <a:lnTo>
                    <a:pt x="417250" y="124157"/>
                  </a:lnTo>
                  <a:lnTo>
                    <a:pt x="422890" y="116189"/>
                  </a:lnTo>
                  <a:lnTo>
                    <a:pt x="427672" y="109896"/>
                  </a:lnTo>
                  <a:lnTo>
                    <a:pt x="431505" y="105449"/>
                  </a:lnTo>
                  <a:lnTo>
                    <a:pt x="434211" y="102832"/>
                  </a:lnTo>
                  <a:lnTo>
                    <a:pt x="435692" y="101697"/>
                  </a:lnTo>
                  <a:lnTo>
                    <a:pt x="436260" y="101361"/>
                  </a:lnTo>
                  <a:lnTo>
                    <a:pt x="436876" y="101156"/>
                  </a:lnTo>
                  <a:lnTo>
                    <a:pt x="438885" y="100942"/>
                  </a:lnTo>
                  <a:lnTo>
                    <a:pt x="443610" y="101225"/>
                  </a:lnTo>
                  <a:lnTo>
                    <a:pt x="451607" y="102556"/>
                  </a:lnTo>
                  <a:lnTo>
                    <a:pt x="455587" y="104005"/>
                  </a:lnTo>
                  <a:lnTo>
                    <a:pt x="458102" y="105527"/>
                  </a:lnTo>
                  <a:lnTo>
                    <a:pt x="460423" y="107608"/>
                  </a:lnTo>
                  <a:lnTo>
                    <a:pt x="463232" y="111049"/>
                  </a:lnTo>
                  <a:lnTo>
                    <a:pt x="466612" y="116426"/>
                  </a:lnTo>
                  <a:lnTo>
                    <a:pt x="470411" y="123904"/>
                  </a:lnTo>
                  <a:lnTo>
                    <a:pt x="474513" y="133360"/>
                  </a:lnTo>
                  <a:lnTo>
                    <a:pt x="478937" y="144546"/>
                  </a:lnTo>
                  <a:lnTo>
                    <a:pt x="483841" y="157188"/>
                  </a:lnTo>
                  <a:lnTo>
                    <a:pt x="489495" y="171026"/>
                  </a:lnTo>
                  <a:lnTo>
                    <a:pt x="496271" y="185800"/>
                  </a:lnTo>
                  <a:lnTo>
                    <a:pt x="504619" y="201218"/>
                  </a:lnTo>
                  <a:lnTo>
                    <a:pt x="515035" y="216888"/>
                  </a:lnTo>
                  <a:lnTo>
                    <a:pt x="527976" y="232261"/>
                  </a:lnTo>
                  <a:lnTo>
                    <a:pt x="543732" y="246628"/>
                  </a:lnTo>
                  <a:lnTo>
                    <a:pt x="562320" y="259238"/>
                  </a:lnTo>
                  <a:lnTo>
                    <a:pt x="580142" y="268004"/>
                  </a:lnTo>
                  <a:lnTo>
                    <a:pt x="599205" y="272963"/>
                  </a:lnTo>
                  <a:lnTo>
                    <a:pt x="618715" y="270250"/>
                  </a:lnTo>
                  <a:lnTo>
                    <a:pt x="635701" y="260277"/>
                  </a:lnTo>
                  <a:lnTo>
                    <a:pt x="647577" y="244562"/>
                  </a:lnTo>
                  <a:lnTo>
                    <a:pt x="652536" y="225500"/>
                  </a:lnTo>
                  <a:lnTo>
                    <a:pt x="649822" y="205990"/>
                  </a:lnTo>
                  <a:lnTo>
                    <a:pt x="639849" y="189004"/>
                  </a:lnTo>
                  <a:lnTo>
                    <a:pt x="624135" y="177128"/>
                  </a:lnTo>
                  <a:lnTo>
                    <a:pt x="624135" y="177128"/>
                  </a:lnTo>
                  <a:lnTo>
                    <a:pt x="612585" y="171675"/>
                  </a:lnTo>
                  <a:lnTo>
                    <a:pt x="606192" y="167302"/>
                  </a:lnTo>
                  <a:lnTo>
                    <a:pt x="600807" y="162336"/>
                  </a:lnTo>
                  <a:lnTo>
                    <a:pt x="595900" y="156434"/>
                  </a:lnTo>
                  <a:lnTo>
                    <a:pt x="591213" y="149301"/>
                  </a:lnTo>
                  <a:lnTo>
                    <a:pt x="586652" y="140798"/>
                  </a:lnTo>
                  <a:lnTo>
                    <a:pt x="582164" y="130947"/>
                  </a:lnTo>
                  <a:lnTo>
                    <a:pt x="577654" y="119865"/>
                  </a:lnTo>
                  <a:lnTo>
                    <a:pt x="572941" y="107705"/>
                  </a:lnTo>
                  <a:lnTo>
                    <a:pt x="567749" y="94617"/>
                  </a:lnTo>
                  <a:lnTo>
                    <a:pt x="561685" y="80741"/>
                  </a:lnTo>
                  <a:lnTo>
                    <a:pt x="554221" y="66240"/>
                  </a:lnTo>
                  <a:lnTo>
                    <a:pt x="544693" y="51400"/>
                  </a:lnTo>
                  <a:lnTo>
                    <a:pt x="532397" y="36800"/>
                  </a:lnTo>
                  <a:lnTo>
                    <a:pt x="516870" y="23428"/>
                  </a:lnTo>
                  <a:lnTo>
                    <a:pt x="498245" y="12494"/>
                  </a:lnTo>
                  <a:lnTo>
                    <a:pt x="477242" y="4899"/>
                  </a:lnTo>
                  <a:lnTo>
                    <a:pt x="455868" y="1007"/>
                  </a:lnTo>
                  <a:lnTo>
                    <a:pt x="436715" y="0"/>
                  </a:lnTo>
                  <a:lnTo>
                    <a:pt x="417629" y="2043"/>
                  </a:lnTo>
                  <a:lnTo>
                    <a:pt x="399542" y="7309"/>
                  </a:lnTo>
                  <a:lnTo>
                    <a:pt x="383405" y="15326"/>
                  </a:lnTo>
                  <a:lnTo>
                    <a:pt x="369788" y="25091"/>
                  </a:lnTo>
                  <a:lnTo>
                    <a:pt x="358612" y="35588"/>
                  </a:lnTo>
                  <a:lnTo>
                    <a:pt x="349385" y="46138"/>
                  </a:lnTo>
                  <a:lnTo>
                    <a:pt x="341540" y="56389"/>
                  </a:lnTo>
                  <a:lnTo>
                    <a:pt x="334590" y="66181"/>
                  </a:lnTo>
                  <a:lnTo>
                    <a:pt x="328167" y="75434"/>
                  </a:lnTo>
                  <a:lnTo>
                    <a:pt x="322000" y="84091"/>
                  </a:lnTo>
                  <a:lnTo>
                    <a:pt x="315883" y="92116"/>
                  </a:lnTo>
                  <a:lnTo>
                    <a:pt x="309647" y="99493"/>
                  </a:lnTo>
                  <a:lnTo>
                    <a:pt x="303124" y="106240"/>
                  </a:lnTo>
                  <a:lnTo>
                    <a:pt x="296114" y="112410"/>
                  </a:lnTo>
                  <a:lnTo>
                    <a:pt x="288353" y="118072"/>
                  </a:lnTo>
                  <a:lnTo>
                    <a:pt x="279503" y="123279"/>
                  </a:lnTo>
                  <a:lnTo>
                    <a:pt x="268485" y="128306"/>
                  </a:lnTo>
                  <a:lnTo>
                    <a:pt x="255856" y="132989"/>
                  </a:lnTo>
                  <a:lnTo>
                    <a:pt x="243595" y="136808"/>
                  </a:lnTo>
                  <a:lnTo>
                    <a:pt x="232322" y="139540"/>
                  </a:lnTo>
                  <a:lnTo>
                    <a:pt x="222019" y="141240"/>
                  </a:lnTo>
                  <a:lnTo>
                    <a:pt x="212628" y="141984"/>
                  </a:lnTo>
                  <a:lnTo>
                    <a:pt x="204021" y="141855"/>
                  </a:lnTo>
                  <a:lnTo>
                    <a:pt x="195997" y="140913"/>
                  </a:lnTo>
                  <a:lnTo>
                    <a:pt x="188293" y="139159"/>
                  </a:lnTo>
                  <a:lnTo>
                    <a:pt x="180625" y="136512"/>
                  </a:lnTo>
                  <a:lnTo>
                    <a:pt x="172741" y="132812"/>
                  </a:lnTo>
                  <a:lnTo>
                    <a:pt x="164455" y="127851"/>
                  </a:lnTo>
                  <a:lnTo>
                    <a:pt x="155667" y="121414"/>
                  </a:lnTo>
                  <a:lnTo>
                    <a:pt x="146347" y="113310"/>
                  </a:lnTo>
                  <a:lnTo>
                    <a:pt x="136508" y="103386"/>
                  </a:lnTo>
                  <a:lnTo>
                    <a:pt x="126187" y="91532"/>
                  </a:lnTo>
                  <a:lnTo>
                    <a:pt x="115422" y="77669"/>
                  </a:lnTo>
                  <a:lnTo>
                    <a:pt x="104246" y="61741"/>
                  </a:lnTo>
                  <a:lnTo>
                    <a:pt x="92183" y="42913"/>
                  </a:lnTo>
                  <a:lnTo>
                    <a:pt x="78520" y="28726"/>
                  </a:lnTo>
                  <a:lnTo>
                    <a:pt x="60466" y="20847"/>
                  </a:lnTo>
                  <a:lnTo>
                    <a:pt x="40773" y="20477"/>
                  </a:lnTo>
                  <a:lnTo>
                    <a:pt x="22436" y="27672"/>
                  </a:lnTo>
                  <a:lnTo>
                    <a:pt x="8249" y="41335"/>
                  </a:lnTo>
                  <a:lnTo>
                    <a:pt x="370" y="59388"/>
                  </a:lnTo>
                  <a:lnTo>
                    <a:pt x="0" y="79082"/>
                  </a:lnTo>
                  <a:lnTo>
                    <a:pt x="7194" y="97419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Individual small-bowel fold 04 soft reflected light"/>
            <p:cNvSpPr/>
            <p:nvPr/>
          </p:nvSpPr>
          <p:spPr>
            <a:xfrm>
              <a:off x="297201" y="479027"/>
              <a:ext cx="232198" cy="73884"/>
            </a:xfrm>
            <a:custGeom>
              <a:avLst/>
              <a:gdLst/>
              <a:ahLst/>
              <a:cxnLst/>
              <a:rect l="0" t="0" r="r" b="b"/>
              <a:pathLst>
                <a:path w="546096" h="173764">
                  <a:moveTo>
                    <a:pt x="0" y="27002"/>
                  </a:moveTo>
                  <a:cubicBezTo>
                    <a:pt x="2074" y="30237"/>
                    <a:pt x="8359" y="40311"/>
                    <a:pt x="12446" y="46415"/>
                  </a:cubicBezTo>
                  <a:cubicBezTo>
                    <a:pt x="16533" y="52518"/>
                    <a:pt x="20530" y="58206"/>
                    <a:pt x="24523" y="63623"/>
                  </a:cubicBezTo>
                  <a:cubicBezTo>
                    <a:pt x="28516" y="69041"/>
                    <a:pt x="32473" y="74132"/>
                    <a:pt x="36404" y="78921"/>
                  </a:cubicBezTo>
                  <a:cubicBezTo>
                    <a:pt x="40335" y="83710"/>
                    <a:pt x="44234" y="88179"/>
                    <a:pt x="48108" y="92358"/>
                  </a:cubicBezTo>
                  <a:cubicBezTo>
                    <a:pt x="51981" y="96537"/>
                    <a:pt x="55825" y="100404"/>
                    <a:pt x="59648" y="103994"/>
                  </a:cubicBezTo>
                  <a:cubicBezTo>
                    <a:pt x="63470" y="107583"/>
                    <a:pt x="67264" y="110870"/>
                    <a:pt x="71041" y="113895"/>
                  </a:cubicBezTo>
                  <a:cubicBezTo>
                    <a:pt x="74818" y="116920"/>
                    <a:pt x="78568" y="119654"/>
                    <a:pt x="82309" y="122144"/>
                  </a:cubicBezTo>
                  <a:cubicBezTo>
                    <a:pt x="86051" y="124634"/>
                    <a:pt x="89768" y="126847"/>
                    <a:pt x="93490" y="128833"/>
                  </a:cubicBezTo>
                  <a:cubicBezTo>
                    <a:pt x="97212" y="130820"/>
                    <a:pt x="100915" y="132546"/>
                    <a:pt x="104641" y="134063"/>
                  </a:cubicBezTo>
                  <a:cubicBezTo>
                    <a:pt x="108367" y="135579"/>
                    <a:pt x="112085" y="136855"/>
                    <a:pt x="115846" y="137932"/>
                  </a:cubicBezTo>
                  <a:cubicBezTo>
                    <a:pt x="119608" y="139009"/>
                    <a:pt x="123377" y="139863"/>
                    <a:pt x="127212" y="140523"/>
                  </a:cubicBezTo>
                  <a:cubicBezTo>
                    <a:pt x="131046" y="141184"/>
                    <a:pt x="134908" y="141636"/>
                    <a:pt x="138852" y="141896"/>
                  </a:cubicBezTo>
                  <a:cubicBezTo>
                    <a:pt x="142796" y="142156"/>
                    <a:pt x="146789" y="142216"/>
                    <a:pt x="150876" y="142084"/>
                  </a:cubicBezTo>
                  <a:cubicBezTo>
                    <a:pt x="154963" y="141951"/>
                    <a:pt x="159117" y="141622"/>
                    <a:pt x="163373" y="141101"/>
                  </a:cubicBezTo>
                  <a:cubicBezTo>
                    <a:pt x="167628" y="140580"/>
                    <a:pt x="171966" y="139864"/>
                    <a:pt x="176409" y="138957"/>
                  </a:cubicBezTo>
                  <a:cubicBezTo>
                    <a:pt x="180852" y="138051"/>
                    <a:pt x="185387" y="136949"/>
                    <a:pt x="190031" y="135661"/>
                  </a:cubicBezTo>
                  <a:cubicBezTo>
                    <a:pt x="194674" y="134374"/>
                    <a:pt x="199448" y="132880"/>
                    <a:pt x="204269" y="131231"/>
                  </a:cubicBezTo>
                  <a:cubicBezTo>
                    <a:pt x="209091" y="129582"/>
                    <a:pt x="214224" y="127726"/>
                    <a:pt x="218960" y="125768"/>
                  </a:cubicBezTo>
                  <a:cubicBezTo>
                    <a:pt x="223695" y="123810"/>
                    <a:pt x="228421" y="121690"/>
                    <a:pt x="232682" y="119482"/>
                  </a:cubicBezTo>
                  <a:cubicBezTo>
                    <a:pt x="236944" y="117275"/>
                    <a:pt x="240814" y="114951"/>
                    <a:pt x="244529" y="112525"/>
                  </a:cubicBezTo>
                  <a:cubicBezTo>
                    <a:pt x="248244" y="110100"/>
                    <a:pt x="251684" y="107550"/>
                    <a:pt x="254970" y="104927"/>
                  </a:cubicBezTo>
                  <a:cubicBezTo>
                    <a:pt x="258256" y="102304"/>
                    <a:pt x="261311" y="99575"/>
                    <a:pt x="264245" y="96786"/>
                  </a:cubicBezTo>
                  <a:cubicBezTo>
                    <a:pt x="267179" y="93998"/>
                    <a:pt x="269921" y="91118"/>
                    <a:pt x="272571" y="88196"/>
                  </a:cubicBezTo>
                  <a:cubicBezTo>
                    <a:pt x="275221" y="85274"/>
                    <a:pt x="277715" y="82275"/>
                    <a:pt x="280146" y="79254"/>
                  </a:cubicBezTo>
                  <a:cubicBezTo>
                    <a:pt x="282577" y="76233"/>
                    <a:pt x="284882" y="73152"/>
                    <a:pt x="287156" y="70071"/>
                  </a:cubicBezTo>
                  <a:cubicBezTo>
                    <a:pt x="289430" y="66990"/>
                    <a:pt x="291608" y="63867"/>
                    <a:pt x="293790" y="60767"/>
                  </a:cubicBezTo>
                  <a:cubicBezTo>
                    <a:pt x="295971" y="57666"/>
                    <a:pt x="298087" y="54544"/>
                    <a:pt x="300246" y="51467"/>
                  </a:cubicBezTo>
                  <a:cubicBezTo>
                    <a:pt x="302404" y="48390"/>
                    <a:pt x="304529" y="45312"/>
                    <a:pt x="306743" y="42304"/>
                  </a:cubicBezTo>
                  <a:cubicBezTo>
                    <a:pt x="308958" y="39296"/>
                    <a:pt x="311173" y="36307"/>
                    <a:pt x="313532" y="33419"/>
                  </a:cubicBezTo>
                  <a:cubicBezTo>
                    <a:pt x="315891" y="30530"/>
                    <a:pt x="318294" y="27678"/>
                    <a:pt x="320898" y="24975"/>
                  </a:cubicBezTo>
                  <a:cubicBezTo>
                    <a:pt x="323501" y="22271"/>
                    <a:pt x="326205" y="19623"/>
                    <a:pt x="329152" y="17196"/>
                  </a:cubicBezTo>
                  <a:cubicBezTo>
                    <a:pt x="332099" y="14768"/>
                    <a:pt x="335216" y="12434"/>
                    <a:pt x="338582" y="10408"/>
                  </a:cubicBezTo>
                  <a:cubicBezTo>
                    <a:pt x="341948" y="8382"/>
                    <a:pt x="345543" y="6522"/>
                    <a:pt x="349347" y="5041"/>
                  </a:cubicBezTo>
                  <a:cubicBezTo>
                    <a:pt x="353151" y="3560"/>
                    <a:pt x="357198" y="2343"/>
                    <a:pt x="361407" y="1521"/>
                  </a:cubicBezTo>
                  <a:cubicBezTo>
                    <a:pt x="365616" y="699"/>
                    <a:pt x="370040" y="218"/>
                    <a:pt x="374601" y="109"/>
                  </a:cubicBezTo>
                  <a:cubicBezTo>
                    <a:pt x="379163" y="0"/>
                    <a:pt x="383621" y="239"/>
                    <a:pt x="388777" y="866"/>
                  </a:cubicBezTo>
                  <a:cubicBezTo>
                    <a:pt x="393933" y="1494"/>
                    <a:pt x="400221" y="2461"/>
                    <a:pt x="405536" y="3875"/>
                  </a:cubicBezTo>
                  <a:cubicBezTo>
                    <a:pt x="410851" y="5289"/>
                    <a:pt x="415966" y="7156"/>
                    <a:pt x="420666" y="9350"/>
                  </a:cubicBezTo>
                  <a:cubicBezTo>
                    <a:pt x="425365" y="11543"/>
                    <a:pt x="429727" y="14176"/>
                    <a:pt x="433733" y="17036"/>
                  </a:cubicBezTo>
                  <a:cubicBezTo>
                    <a:pt x="437739" y="19897"/>
                    <a:pt x="441372" y="23142"/>
                    <a:pt x="444704" y="26513"/>
                  </a:cubicBezTo>
                  <a:cubicBezTo>
                    <a:pt x="448036" y="29884"/>
                    <a:pt x="450988" y="33542"/>
                    <a:pt x="453726" y="37263"/>
                  </a:cubicBezTo>
                  <a:cubicBezTo>
                    <a:pt x="456465" y="40984"/>
                    <a:pt x="458866" y="44896"/>
                    <a:pt x="461134" y="48838"/>
                  </a:cubicBezTo>
                  <a:cubicBezTo>
                    <a:pt x="463402" y="52780"/>
                    <a:pt x="465402" y="56845"/>
                    <a:pt x="467333" y="60917"/>
                  </a:cubicBezTo>
                  <a:cubicBezTo>
                    <a:pt x="469264" y="64988"/>
                    <a:pt x="471001" y="69137"/>
                    <a:pt x="472720" y="73268"/>
                  </a:cubicBezTo>
                  <a:cubicBezTo>
                    <a:pt x="474439" y="77398"/>
                    <a:pt x="476030" y="81573"/>
                    <a:pt x="477647" y="85699"/>
                  </a:cubicBezTo>
                  <a:cubicBezTo>
                    <a:pt x="479265" y="89826"/>
                    <a:pt x="480812" y="93966"/>
                    <a:pt x="482426" y="98026"/>
                  </a:cubicBezTo>
                  <a:cubicBezTo>
                    <a:pt x="484040" y="102085"/>
                    <a:pt x="485634" y="106128"/>
                    <a:pt x="487331" y="110058"/>
                  </a:cubicBezTo>
                  <a:cubicBezTo>
                    <a:pt x="489028" y="113989"/>
                    <a:pt x="490751" y="117869"/>
                    <a:pt x="492608" y="121608"/>
                  </a:cubicBezTo>
                  <a:cubicBezTo>
                    <a:pt x="494465" y="125348"/>
                    <a:pt x="496387" y="129002"/>
                    <a:pt x="498476" y="132496"/>
                  </a:cubicBezTo>
                  <a:cubicBezTo>
                    <a:pt x="500564" y="135991"/>
                    <a:pt x="502749" y="139367"/>
                    <a:pt x="505140" y="142575"/>
                  </a:cubicBezTo>
                  <a:cubicBezTo>
                    <a:pt x="507530" y="145783"/>
                    <a:pt x="510045" y="148848"/>
                    <a:pt x="512818" y="151744"/>
                  </a:cubicBezTo>
                  <a:cubicBezTo>
                    <a:pt x="515592" y="154641"/>
                    <a:pt x="518521" y="157383"/>
                    <a:pt x="521781" y="159954"/>
                  </a:cubicBezTo>
                  <a:cubicBezTo>
                    <a:pt x="525042" y="162525"/>
                    <a:pt x="528329" y="164867"/>
                    <a:pt x="532382" y="167168"/>
                  </a:cubicBezTo>
                  <a:cubicBezTo>
                    <a:pt x="536434" y="169470"/>
                    <a:pt x="543810" y="172665"/>
                    <a:pt x="546096" y="173764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Individual small-bowel fold 05"/>
            <p:cNvSpPr/>
            <p:nvPr/>
          </p:nvSpPr>
          <p:spPr>
            <a:xfrm>
              <a:off x="194652" y="457584"/>
              <a:ext cx="189868" cy="88921"/>
            </a:xfrm>
            <a:custGeom>
              <a:avLst/>
              <a:gdLst/>
              <a:ahLst/>
              <a:cxnLst/>
              <a:rect l="0" t="0" r="r" b="b"/>
              <a:pathLst>
                <a:path w="446542" h="209130">
                  <a:moveTo>
                    <a:pt x="429260" y="15525"/>
                  </a:moveTo>
                  <a:lnTo>
                    <a:pt x="419954" y="9824"/>
                  </a:lnTo>
                  <a:lnTo>
                    <a:pt x="407182" y="4463"/>
                  </a:lnTo>
                  <a:lnTo>
                    <a:pt x="394045" y="1249"/>
                  </a:lnTo>
                  <a:lnTo>
                    <a:pt x="380928" y="0"/>
                  </a:lnTo>
                  <a:lnTo>
                    <a:pt x="368058" y="450"/>
                  </a:lnTo>
                  <a:lnTo>
                    <a:pt x="355529" y="2330"/>
                  </a:lnTo>
                  <a:lnTo>
                    <a:pt x="343351" y="5420"/>
                  </a:lnTo>
                  <a:lnTo>
                    <a:pt x="331496" y="9549"/>
                  </a:lnTo>
                  <a:lnTo>
                    <a:pt x="319928" y="14593"/>
                  </a:lnTo>
                  <a:lnTo>
                    <a:pt x="308619" y="20458"/>
                  </a:lnTo>
                  <a:lnTo>
                    <a:pt x="297548" y="27070"/>
                  </a:lnTo>
                  <a:lnTo>
                    <a:pt x="286710" y="34372"/>
                  </a:lnTo>
                  <a:lnTo>
                    <a:pt x="276108" y="42311"/>
                  </a:lnTo>
                  <a:lnTo>
                    <a:pt x="265755" y="50842"/>
                  </a:lnTo>
                  <a:lnTo>
                    <a:pt x="255672" y="59923"/>
                  </a:lnTo>
                  <a:lnTo>
                    <a:pt x="245882" y="69512"/>
                  </a:lnTo>
                  <a:lnTo>
                    <a:pt x="236417" y="79573"/>
                  </a:lnTo>
                  <a:lnTo>
                    <a:pt x="228233" y="89000"/>
                  </a:lnTo>
                  <a:lnTo>
                    <a:pt x="219832" y="98122"/>
                  </a:lnTo>
                  <a:lnTo>
                    <a:pt x="211769" y="105590"/>
                  </a:lnTo>
                  <a:lnTo>
                    <a:pt x="203498" y="112097"/>
                  </a:lnTo>
                  <a:lnTo>
                    <a:pt x="195051" y="117671"/>
                  </a:lnTo>
                  <a:lnTo>
                    <a:pt x="186451" y="122344"/>
                  </a:lnTo>
                  <a:lnTo>
                    <a:pt x="177709" y="126141"/>
                  </a:lnTo>
                  <a:lnTo>
                    <a:pt x="168830" y="129087"/>
                  </a:lnTo>
                  <a:lnTo>
                    <a:pt x="159809" y="131198"/>
                  </a:lnTo>
                  <a:lnTo>
                    <a:pt x="150635" y="132481"/>
                  </a:lnTo>
                  <a:lnTo>
                    <a:pt x="141295" y="132930"/>
                  </a:lnTo>
                  <a:lnTo>
                    <a:pt x="131777" y="132532"/>
                  </a:lnTo>
                  <a:lnTo>
                    <a:pt x="122071" y="131259"/>
                  </a:lnTo>
                  <a:lnTo>
                    <a:pt x="112176" y="129077"/>
                  </a:lnTo>
                  <a:lnTo>
                    <a:pt x="102097" y="125945"/>
                  </a:lnTo>
                  <a:lnTo>
                    <a:pt x="91850" y="121820"/>
                  </a:lnTo>
                  <a:lnTo>
                    <a:pt x="81459" y="116655"/>
                  </a:lnTo>
                  <a:lnTo>
                    <a:pt x="70955" y="110406"/>
                  </a:lnTo>
                  <a:lnTo>
                    <a:pt x="59294" y="102249"/>
                  </a:lnTo>
                  <a:lnTo>
                    <a:pt x="45674" y="96291"/>
                  </a:lnTo>
                  <a:lnTo>
                    <a:pt x="30811" y="95998"/>
                  </a:lnTo>
                  <a:lnTo>
                    <a:pt x="16967" y="101416"/>
                  </a:lnTo>
                  <a:lnTo>
                    <a:pt x="6251" y="111719"/>
                  </a:lnTo>
                  <a:lnTo>
                    <a:pt x="293" y="125338"/>
                  </a:lnTo>
                  <a:lnTo>
                    <a:pt x="0" y="140201"/>
                  </a:lnTo>
                  <a:lnTo>
                    <a:pt x="5417" y="154045"/>
                  </a:lnTo>
                  <a:lnTo>
                    <a:pt x="15720" y="164761"/>
                  </a:lnTo>
                  <a:lnTo>
                    <a:pt x="15720" y="164761"/>
                  </a:lnTo>
                  <a:lnTo>
                    <a:pt x="29622" y="174423"/>
                  </a:lnTo>
                  <a:lnTo>
                    <a:pt x="44956" y="183543"/>
                  </a:lnTo>
                  <a:lnTo>
                    <a:pt x="60599" y="191316"/>
                  </a:lnTo>
                  <a:lnTo>
                    <a:pt x="76503" y="197719"/>
                  </a:lnTo>
                  <a:lnTo>
                    <a:pt x="92615" y="202724"/>
                  </a:lnTo>
                  <a:lnTo>
                    <a:pt x="108871" y="206307"/>
                  </a:lnTo>
                  <a:lnTo>
                    <a:pt x="125199" y="208447"/>
                  </a:lnTo>
                  <a:lnTo>
                    <a:pt x="141518" y="209130"/>
                  </a:lnTo>
                  <a:lnTo>
                    <a:pt x="157741" y="208349"/>
                  </a:lnTo>
                  <a:lnTo>
                    <a:pt x="173778" y="206107"/>
                  </a:lnTo>
                  <a:lnTo>
                    <a:pt x="189536" y="202420"/>
                  </a:lnTo>
                  <a:lnTo>
                    <a:pt x="204927" y="197314"/>
                  </a:lnTo>
                  <a:lnTo>
                    <a:pt x="219867" y="190825"/>
                  </a:lnTo>
                  <a:lnTo>
                    <a:pt x="234282" y="182997"/>
                  </a:lnTo>
                  <a:lnTo>
                    <a:pt x="248106" y="173875"/>
                  </a:lnTo>
                  <a:lnTo>
                    <a:pt x="261283" y="163511"/>
                  </a:lnTo>
                  <a:lnTo>
                    <a:pt x="273766" y="151951"/>
                  </a:lnTo>
                  <a:lnTo>
                    <a:pt x="284931" y="139910"/>
                  </a:lnTo>
                  <a:lnTo>
                    <a:pt x="292958" y="130657"/>
                  </a:lnTo>
                  <a:lnTo>
                    <a:pt x="300312" y="122840"/>
                  </a:lnTo>
                  <a:lnTo>
                    <a:pt x="307851" y="115454"/>
                  </a:lnTo>
                  <a:lnTo>
                    <a:pt x="315508" y="108558"/>
                  </a:lnTo>
                  <a:lnTo>
                    <a:pt x="323209" y="102210"/>
                  </a:lnTo>
                  <a:lnTo>
                    <a:pt x="330876" y="96466"/>
                  </a:lnTo>
                  <a:lnTo>
                    <a:pt x="338425" y="91378"/>
                  </a:lnTo>
                  <a:lnTo>
                    <a:pt x="345761" y="86993"/>
                  </a:lnTo>
                  <a:lnTo>
                    <a:pt x="352779" y="83348"/>
                  </a:lnTo>
                  <a:lnTo>
                    <a:pt x="359363" y="80471"/>
                  </a:lnTo>
                  <a:lnTo>
                    <a:pt x="365386" y="78365"/>
                  </a:lnTo>
                  <a:lnTo>
                    <a:pt x="370712" y="77002"/>
                  </a:lnTo>
                  <a:lnTo>
                    <a:pt x="375218" y="76312"/>
                  </a:lnTo>
                  <a:lnTo>
                    <a:pt x="378815" y="76171"/>
                  </a:lnTo>
                  <a:lnTo>
                    <a:pt x="381497" y="76408"/>
                  </a:lnTo>
                  <a:lnTo>
                    <a:pt x="383396" y="76856"/>
                  </a:lnTo>
                  <a:lnTo>
                    <a:pt x="384797" y="77429"/>
                  </a:lnTo>
                  <a:lnTo>
                    <a:pt x="388704" y="80036"/>
                  </a:lnTo>
                  <a:lnTo>
                    <a:pt x="402591" y="85340"/>
                  </a:lnTo>
                  <a:lnTo>
                    <a:pt x="417451" y="84927"/>
                  </a:lnTo>
                  <a:lnTo>
                    <a:pt x="431022" y="78858"/>
                  </a:lnTo>
                  <a:lnTo>
                    <a:pt x="441237" y="68058"/>
                  </a:lnTo>
                  <a:lnTo>
                    <a:pt x="446542" y="54171"/>
                  </a:lnTo>
                  <a:lnTo>
                    <a:pt x="446129" y="39311"/>
                  </a:lnTo>
                  <a:lnTo>
                    <a:pt x="440060" y="25740"/>
                  </a:lnTo>
                  <a:lnTo>
                    <a:pt x="429260" y="15525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Individual small-bowel fold 05 soft reflected light"/>
            <p:cNvSpPr/>
            <p:nvPr/>
          </p:nvSpPr>
          <p:spPr>
            <a:xfrm>
              <a:off x="207728" y="478774"/>
              <a:ext cx="158149" cy="56560"/>
            </a:xfrm>
            <a:custGeom>
              <a:avLst/>
              <a:gdLst/>
              <a:ahLst/>
              <a:cxnLst/>
              <a:rect l="0" t="0" r="r" b="b"/>
              <a:pathLst>
                <a:path w="371943" h="133020">
                  <a:moveTo>
                    <a:pt x="371943" y="7944"/>
                  </a:moveTo>
                  <a:cubicBezTo>
                    <a:pt x="370981" y="7332"/>
                    <a:pt x="368022" y="5253"/>
                    <a:pt x="366173" y="4270"/>
                  </a:cubicBezTo>
                  <a:cubicBezTo>
                    <a:pt x="364324" y="3287"/>
                    <a:pt x="362699" y="2649"/>
                    <a:pt x="360849" y="2045"/>
                  </a:cubicBezTo>
                  <a:cubicBezTo>
                    <a:pt x="358999" y="1440"/>
                    <a:pt x="357083" y="974"/>
                    <a:pt x="355073" y="643"/>
                  </a:cubicBezTo>
                  <a:cubicBezTo>
                    <a:pt x="353063" y="311"/>
                    <a:pt x="350970" y="113"/>
                    <a:pt x="348791" y="56"/>
                  </a:cubicBezTo>
                  <a:cubicBezTo>
                    <a:pt x="346611" y="0"/>
                    <a:pt x="344340" y="80"/>
                    <a:pt x="341995" y="304"/>
                  </a:cubicBezTo>
                  <a:cubicBezTo>
                    <a:pt x="339650" y="529"/>
                    <a:pt x="337215" y="895"/>
                    <a:pt x="334721" y="1405"/>
                  </a:cubicBezTo>
                  <a:cubicBezTo>
                    <a:pt x="332227" y="1915"/>
                    <a:pt x="329651" y="2570"/>
                    <a:pt x="327031" y="3363"/>
                  </a:cubicBezTo>
                  <a:cubicBezTo>
                    <a:pt x="324410" y="4157"/>
                    <a:pt x="321719" y="5096"/>
                    <a:pt x="318996" y="6168"/>
                  </a:cubicBezTo>
                  <a:cubicBezTo>
                    <a:pt x="316273" y="7239"/>
                    <a:pt x="313493" y="8453"/>
                    <a:pt x="310693" y="9792"/>
                  </a:cubicBezTo>
                  <a:cubicBezTo>
                    <a:pt x="307892" y="11132"/>
                    <a:pt x="305048" y="12609"/>
                    <a:pt x="302194" y="14203"/>
                  </a:cubicBezTo>
                  <a:cubicBezTo>
                    <a:pt x="299340" y="15797"/>
                    <a:pt x="296454" y="17522"/>
                    <a:pt x="293569" y="19357"/>
                  </a:cubicBezTo>
                  <a:cubicBezTo>
                    <a:pt x="290685" y="21191"/>
                    <a:pt x="287780" y="23150"/>
                    <a:pt x="284886" y="25208"/>
                  </a:cubicBezTo>
                  <a:cubicBezTo>
                    <a:pt x="281992" y="27267"/>
                    <a:pt x="279089" y="29443"/>
                    <a:pt x="276206" y="31710"/>
                  </a:cubicBezTo>
                  <a:cubicBezTo>
                    <a:pt x="273323" y="33977"/>
                    <a:pt x="270442" y="36352"/>
                    <a:pt x="267590" y="38811"/>
                  </a:cubicBezTo>
                  <a:cubicBezTo>
                    <a:pt x="264738" y="41269"/>
                    <a:pt x="261898" y="43828"/>
                    <a:pt x="259096" y="46460"/>
                  </a:cubicBezTo>
                  <a:cubicBezTo>
                    <a:pt x="256295" y="49093"/>
                    <a:pt x="253514" y="51817"/>
                    <a:pt x="250781" y="54607"/>
                  </a:cubicBezTo>
                  <a:cubicBezTo>
                    <a:pt x="248048" y="57396"/>
                    <a:pt x="245392" y="60213"/>
                    <a:pt x="242698" y="63197"/>
                  </a:cubicBezTo>
                  <a:cubicBezTo>
                    <a:pt x="240004" y="66182"/>
                    <a:pt x="237666" y="69120"/>
                    <a:pt x="234617" y="72511"/>
                  </a:cubicBezTo>
                  <a:cubicBezTo>
                    <a:pt x="231568" y="75902"/>
                    <a:pt x="227934" y="80015"/>
                    <a:pt x="224406" y="83545"/>
                  </a:cubicBezTo>
                  <a:cubicBezTo>
                    <a:pt x="220877" y="87075"/>
                    <a:pt x="217188" y="90496"/>
                    <a:pt x="213447" y="93693"/>
                  </a:cubicBezTo>
                  <a:cubicBezTo>
                    <a:pt x="209707" y="96890"/>
                    <a:pt x="205872" y="99905"/>
                    <a:pt x="201963" y="102726"/>
                  </a:cubicBezTo>
                  <a:cubicBezTo>
                    <a:pt x="198054" y="105548"/>
                    <a:pt x="194057" y="108184"/>
                    <a:pt x="189994" y="110624"/>
                  </a:cubicBezTo>
                  <a:cubicBezTo>
                    <a:pt x="185931" y="113064"/>
                    <a:pt x="181787" y="115314"/>
                    <a:pt x="177586" y="117364"/>
                  </a:cubicBezTo>
                  <a:cubicBezTo>
                    <a:pt x="173384" y="119414"/>
                    <a:pt x="169108" y="121270"/>
                    <a:pt x="164784" y="122924"/>
                  </a:cubicBezTo>
                  <a:cubicBezTo>
                    <a:pt x="160460" y="124577"/>
                    <a:pt x="156069" y="126034"/>
                    <a:pt x="151640" y="127285"/>
                  </a:cubicBezTo>
                  <a:cubicBezTo>
                    <a:pt x="147210" y="128535"/>
                    <a:pt x="142723" y="129585"/>
                    <a:pt x="138206" y="130428"/>
                  </a:cubicBezTo>
                  <a:cubicBezTo>
                    <a:pt x="133689" y="131270"/>
                    <a:pt x="129123" y="131909"/>
                    <a:pt x="124537" y="132339"/>
                  </a:cubicBezTo>
                  <a:cubicBezTo>
                    <a:pt x="119950" y="132768"/>
                    <a:pt x="115325" y="132992"/>
                    <a:pt x="110688" y="133006"/>
                  </a:cubicBezTo>
                  <a:cubicBezTo>
                    <a:pt x="106051" y="133020"/>
                    <a:pt x="101384" y="132826"/>
                    <a:pt x="96715" y="132421"/>
                  </a:cubicBezTo>
                  <a:cubicBezTo>
                    <a:pt x="92046" y="132017"/>
                    <a:pt x="87356" y="131404"/>
                    <a:pt x="82672" y="130580"/>
                  </a:cubicBezTo>
                  <a:cubicBezTo>
                    <a:pt x="77988" y="129757"/>
                    <a:pt x="73292" y="128723"/>
                    <a:pt x="68610" y="127480"/>
                  </a:cubicBezTo>
                  <a:cubicBezTo>
                    <a:pt x="63928" y="126237"/>
                    <a:pt x="59244" y="124784"/>
                    <a:pt x="54580" y="123121"/>
                  </a:cubicBezTo>
                  <a:cubicBezTo>
                    <a:pt x="49916" y="121459"/>
                    <a:pt x="45258" y="119586"/>
                    <a:pt x="40627" y="117505"/>
                  </a:cubicBezTo>
                  <a:cubicBezTo>
                    <a:pt x="35997" y="115423"/>
                    <a:pt x="31380" y="113132"/>
                    <a:pt x="26797" y="110631"/>
                  </a:cubicBezTo>
                  <a:cubicBezTo>
                    <a:pt x="22214" y="108131"/>
                    <a:pt x="17595" y="105380"/>
                    <a:pt x="13129" y="102502"/>
                  </a:cubicBezTo>
                  <a:cubicBezTo>
                    <a:pt x="8663" y="99623"/>
                    <a:pt x="2188" y="94883"/>
                    <a:pt x="0" y="93359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ubtle small-bowel fold 00"/>
            <p:cNvSpPr/>
            <p:nvPr/>
          </p:nvSpPr>
          <p:spPr>
            <a:xfrm>
              <a:off x="295650" y="271350"/>
              <a:ext cx="12150" cy="32400"/>
            </a:xfrm>
            <a:custGeom>
              <a:avLst/>
              <a:gdLst/>
              <a:ahLst/>
              <a:cxnLst/>
              <a:rect l="0" t="0" r="r" b="b"/>
              <a:pathLst>
                <a:path w="28575" h="76200">
                  <a:moveTo>
                    <a:pt x="0" y="0"/>
                  </a:moveTo>
                  <a:quadBezTo>
                    <a:pt x="0" y="47625"/>
                    <a:pt x="28575" y="7620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ubtle small-bowel fold 01"/>
            <p:cNvSpPr/>
            <p:nvPr/>
          </p:nvSpPr>
          <p:spPr>
            <a:xfrm>
              <a:off x="405000" y="271350"/>
              <a:ext cx="16200" cy="28350"/>
            </a:xfrm>
            <a:custGeom>
              <a:avLst/>
              <a:gdLst/>
              <a:ahLst/>
              <a:cxnLst/>
              <a:rect l="0" t="0" r="r" b="b"/>
              <a:pathLst>
                <a:path w="38100" h="66675">
                  <a:moveTo>
                    <a:pt x="9525" y="0"/>
                  </a:moveTo>
                  <a:quadBezTo>
                    <a:pt x="0" y="38100"/>
                    <a:pt x="38100" y="66675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ubtle small-bowel fold 02"/>
            <p:cNvSpPr/>
            <p:nvPr/>
          </p:nvSpPr>
          <p:spPr>
            <a:xfrm>
              <a:off x="530550" y="255150"/>
              <a:ext cx="12150" cy="36450"/>
            </a:xfrm>
            <a:custGeom>
              <a:avLst/>
              <a:gdLst/>
              <a:ahLst/>
              <a:cxnLst/>
              <a:rect l="0" t="0" r="r" b="b"/>
              <a:pathLst>
                <a:path w="28575" h="85725">
                  <a:moveTo>
                    <a:pt x="28575" y="0"/>
                  </a:moveTo>
                  <a:quadBezTo>
                    <a:pt x="0" y="57150"/>
                    <a:pt x="28575" y="85725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Subtle small-bowel fold 03"/>
            <p:cNvSpPr/>
            <p:nvPr/>
          </p:nvSpPr>
          <p:spPr>
            <a:xfrm>
              <a:off x="267300" y="372600"/>
              <a:ext cx="28350" cy="16200"/>
            </a:xfrm>
            <a:custGeom>
              <a:avLst/>
              <a:gdLst/>
              <a:ahLst/>
              <a:cxnLst/>
              <a:rect l="0" t="0" r="r" b="b"/>
              <a:pathLst>
                <a:path w="66675" h="38100">
                  <a:moveTo>
                    <a:pt x="0" y="19050"/>
                  </a:moveTo>
                  <a:quadBezTo>
                    <a:pt x="28575" y="0"/>
                    <a:pt x="66675" y="3810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ubtle small-bowel fold 04"/>
            <p:cNvSpPr/>
            <p:nvPr/>
          </p:nvSpPr>
          <p:spPr>
            <a:xfrm>
              <a:off x="324000" y="417150"/>
              <a:ext cx="20250" cy="20250"/>
            </a:xfrm>
            <a:custGeom>
              <a:avLst/>
              <a:gdLst/>
              <a:ahLst/>
              <a:cxnLst/>
              <a:rect l="0" t="0" r="r" b="b"/>
              <a:pathLst>
                <a:path w="47625" h="47625">
                  <a:moveTo>
                    <a:pt x="19050" y="47625"/>
                  </a:moveTo>
                  <a:quadBezTo>
                    <a:pt x="0" y="19050"/>
                    <a:pt x="47625" y="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Subtle small-bowel fold 05"/>
            <p:cNvSpPr/>
            <p:nvPr/>
          </p:nvSpPr>
          <p:spPr>
            <a:xfrm>
              <a:off x="429300" y="392850"/>
              <a:ext cx="12150" cy="32400"/>
            </a:xfrm>
            <a:custGeom>
              <a:avLst/>
              <a:gdLst/>
              <a:ahLst/>
              <a:cxnLst/>
              <a:rect l="0" t="0" r="r" b="b"/>
              <a:pathLst>
                <a:path w="28575" h="76200">
                  <a:moveTo>
                    <a:pt x="28575" y="0"/>
                  </a:moveTo>
                  <a:quadBezTo>
                    <a:pt x="0" y="38100"/>
                    <a:pt x="19050" y="7620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Subtle small-bowel fold 06"/>
            <p:cNvSpPr/>
            <p:nvPr/>
          </p:nvSpPr>
          <p:spPr>
            <a:xfrm>
              <a:off x="583200" y="425250"/>
              <a:ext cx="20250" cy="20250"/>
            </a:xfrm>
            <a:custGeom>
              <a:avLst/>
              <a:gdLst/>
              <a:ahLst/>
              <a:cxnLst/>
              <a:rect l="0" t="0" r="r" b="b"/>
              <a:pathLst>
                <a:path w="47625" h="47625">
                  <a:moveTo>
                    <a:pt x="0" y="0"/>
                  </a:moveTo>
                  <a:quadBezTo>
                    <a:pt x="38100" y="9525"/>
                    <a:pt x="47625" y="47625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Subtle small-bowel fold 07"/>
            <p:cNvSpPr/>
            <p:nvPr/>
          </p:nvSpPr>
          <p:spPr>
            <a:xfrm>
              <a:off x="368550" y="510300"/>
              <a:ext cx="12150" cy="28350"/>
            </a:xfrm>
            <a:custGeom>
              <a:avLst/>
              <a:gdLst/>
              <a:ahLst/>
              <a:cxnLst/>
              <a:rect l="0" t="0" r="r" b="b"/>
              <a:pathLst>
                <a:path w="28575" h="66675">
                  <a:moveTo>
                    <a:pt x="9525" y="66675"/>
                  </a:moveTo>
                  <a:quadBezTo>
                    <a:pt x="0" y="28575"/>
                    <a:pt x="28575" y="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Single continuous colon surface"/>
            <p:cNvSpPr/>
            <p:nvPr/>
          </p:nvSpPr>
          <p:spPr>
            <a:xfrm>
              <a:off x="130711" y="60203"/>
              <a:ext cx="605228" cy="767102"/>
            </a:xfrm>
            <a:custGeom>
              <a:avLst/>
              <a:gdLst/>
              <a:ahLst/>
              <a:cxnLst/>
              <a:rect l="0" t="0" r="r" b="b"/>
              <a:pathLst>
                <a:path w="1423406" h="1804110">
                  <a:moveTo>
                    <a:pt x="232235" y="1041057"/>
                  </a:moveTo>
                  <a:lnTo>
                    <a:pt x="227675" y="1033994"/>
                  </a:lnTo>
                  <a:lnTo>
                    <a:pt x="223504" y="1029904"/>
                  </a:lnTo>
                  <a:lnTo>
                    <a:pt x="218293" y="1024351"/>
                  </a:lnTo>
                  <a:lnTo>
                    <a:pt x="213179" y="1017023"/>
                  </a:lnTo>
                  <a:lnTo>
                    <a:pt x="209456" y="1007855"/>
                  </a:lnTo>
                  <a:lnTo>
                    <a:pt x="208088" y="997029"/>
                  </a:lnTo>
                  <a:lnTo>
                    <a:pt x="209207" y="984886"/>
                  </a:lnTo>
                  <a:lnTo>
                    <a:pt x="211882" y="971778"/>
                  </a:lnTo>
                  <a:lnTo>
                    <a:pt x="214383" y="957933"/>
                  </a:lnTo>
                  <a:lnTo>
                    <a:pt x="214956" y="943406"/>
                  </a:lnTo>
                  <a:lnTo>
                    <a:pt x="212805" y="928137"/>
                  </a:lnTo>
                  <a:lnTo>
                    <a:pt x="208717" y="912070"/>
                  </a:lnTo>
                  <a:lnTo>
                    <a:pt x="204823" y="895247"/>
                  </a:lnTo>
                  <a:lnTo>
                    <a:pt x="203448" y="877803"/>
                  </a:lnTo>
                  <a:lnTo>
                    <a:pt x="205636" y="859876"/>
                  </a:lnTo>
                  <a:lnTo>
                    <a:pt x="210307" y="841521"/>
                  </a:lnTo>
                  <a:lnTo>
                    <a:pt x="214745" y="822705"/>
                  </a:lnTo>
                  <a:lnTo>
                    <a:pt x="216258" y="803402"/>
                  </a:lnTo>
                  <a:lnTo>
                    <a:pt x="213966" y="783672"/>
                  </a:lnTo>
                  <a:lnTo>
                    <a:pt x="209451" y="763643"/>
                  </a:lnTo>
                  <a:lnTo>
                    <a:pt x="205726" y="743405"/>
                  </a:lnTo>
                  <a:lnTo>
                    <a:pt x="205163" y="722920"/>
                  </a:lnTo>
                  <a:lnTo>
                    <a:pt x="207821" y="702068"/>
                  </a:lnTo>
                  <a:lnTo>
                    <a:pt x="211263" y="679370"/>
                  </a:lnTo>
                  <a:lnTo>
                    <a:pt x="211875" y="655029"/>
                  </a:lnTo>
                  <a:lnTo>
                    <a:pt x="207816" y="633940"/>
                  </a:lnTo>
                  <a:lnTo>
                    <a:pt x="200898" y="613050"/>
                  </a:lnTo>
                  <a:lnTo>
                    <a:pt x="196013" y="592007"/>
                  </a:lnTo>
                  <a:lnTo>
                    <a:pt x="196396" y="570776"/>
                  </a:lnTo>
                  <a:lnTo>
                    <a:pt x="200770" y="549618"/>
                  </a:lnTo>
                  <a:lnTo>
                    <a:pt x="204623" y="528769"/>
                  </a:lnTo>
                  <a:lnTo>
                    <a:pt x="204271" y="508229"/>
                  </a:lnTo>
                  <a:lnTo>
                    <a:pt x="199989" y="487850"/>
                  </a:lnTo>
                  <a:lnTo>
                    <a:pt x="195574" y="467588"/>
                  </a:lnTo>
                  <a:lnTo>
                    <a:pt x="194994" y="447618"/>
                  </a:lnTo>
                  <a:lnTo>
                    <a:pt x="199162" y="428177"/>
                  </a:lnTo>
                  <a:lnTo>
                    <a:pt x="205423" y="409305"/>
                  </a:lnTo>
                  <a:lnTo>
                    <a:pt x="209887" y="390782"/>
                  </a:lnTo>
                  <a:lnTo>
                    <a:pt x="210450" y="372325"/>
                  </a:lnTo>
                  <a:lnTo>
                    <a:pt x="208169" y="353887"/>
                  </a:lnTo>
                  <a:lnTo>
                    <a:pt x="206191" y="335771"/>
                  </a:lnTo>
                  <a:lnTo>
                    <a:pt x="207372" y="318459"/>
                  </a:lnTo>
                  <a:lnTo>
                    <a:pt x="212424" y="302279"/>
                  </a:lnTo>
                  <a:lnTo>
                    <a:pt x="219724" y="287169"/>
                  </a:lnTo>
                  <a:lnTo>
                    <a:pt x="226605" y="272719"/>
                  </a:lnTo>
                  <a:lnTo>
                    <a:pt x="231060" y="258439"/>
                  </a:lnTo>
                  <a:lnTo>
                    <a:pt x="232598" y="245433"/>
                  </a:lnTo>
                  <a:lnTo>
                    <a:pt x="233664" y="246989"/>
                  </a:lnTo>
                  <a:lnTo>
                    <a:pt x="250674" y="264587"/>
                  </a:lnTo>
                  <a:lnTo>
                    <a:pt x="271062" y="278086"/>
                  </a:lnTo>
                  <a:lnTo>
                    <a:pt x="293140" y="288911"/>
                  </a:lnTo>
                  <a:lnTo>
                    <a:pt x="314440" y="300131"/>
                  </a:lnTo>
                  <a:lnTo>
                    <a:pt x="333637" y="314031"/>
                  </a:lnTo>
                  <a:lnTo>
                    <a:pt x="351394" y="330292"/>
                  </a:lnTo>
                  <a:lnTo>
                    <a:pt x="369622" y="346196"/>
                  </a:lnTo>
                  <a:lnTo>
                    <a:pt x="389900" y="358686"/>
                  </a:lnTo>
                  <a:lnTo>
                    <a:pt x="412358" y="366680"/>
                  </a:lnTo>
                  <a:lnTo>
                    <a:pt x="435759" y="371893"/>
                  </a:lnTo>
                  <a:lnTo>
                    <a:pt x="458582" y="377558"/>
                  </a:lnTo>
                  <a:lnTo>
                    <a:pt x="480135" y="386036"/>
                  </a:lnTo>
                  <a:lnTo>
                    <a:pt x="500903" y="397079"/>
                  </a:lnTo>
                  <a:lnTo>
                    <a:pt x="521981" y="408009"/>
                  </a:lnTo>
                  <a:lnTo>
                    <a:pt x="544160" y="415641"/>
                  </a:lnTo>
                  <a:lnTo>
                    <a:pt x="567404" y="418542"/>
                  </a:lnTo>
                  <a:lnTo>
                    <a:pt x="591036" y="418015"/>
                  </a:lnTo>
                  <a:lnTo>
                    <a:pt x="614376" y="417160"/>
                  </a:lnTo>
                  <a:lnTo>
                    <a:pt x="637250" y="418693"/>
                  </a:lnTo>
                  <a:lnTo>
                    <a:pt x="659998" y="423068"/>
                  </a:lnTo>
                  <a:lnTo>
                    <a:pt x="683033" y="428180"/>
                  </a:lnTo>
                  <a:lnTo>
                    <a:pt x="706399" y="430821"/>
                  </a:lnTo>
                  <a:lnTo>
                    <a:pt x="729711" y="428857"/>
                  </a:lnTo>
                  <a:lnTo>
                    <a:pt x="751205" y="422804"/>
                  </a:lnTo>
                  <a:lnTo>
                    <a:pt x="776332" y="414399"/>
                  </a:lnTo>
                  <a:lnTo>
                    <a:pt x="802518" y="409304"/>
                  </a:lnTo>
                  <a:lnTo>
                    <a:pt x="829257" y="408619"/>
                  </a:lnTo>
                  <a:lnTo>
                    <a:pt x="856085" y="408281"/>
                  </a:lnTo>
                  <a:lnTo>
                    <a:pt x="881775" y="403367"/>
                  </a:lnTo>
                  <a:lnTo>
                    <a:pt x="905610" y="392786"/>
                  </a:lnTo>
                  <a:lnTo>
                    <a:pt x="928267" y="380095"/>
                  </a:lnTo>
                  <a:lnTo>
                    <a:pt x="951283" y="370035"/>
                  </a:lnTo>
                  <a:lnTo>
                    <a:pt x="975560" y="364257"/>
                  </a:lnTo>
                  <a:lnTo>
                    <a:pt x="1000389" y="360102"/>
                  </a:lnTo>
                  <a:lnTo>
                    <a:pt x="1024002" y="353234"/>
                  </a:lnTo>
                  <a:lnTo>
                    <a:pt x="1045165" y="341498"/>
                  </a:lnTo>
                  <a:lnTo>
                    <a:pt x="1064339" y="326609"/>
                  </a:lnTo>
                  <a:lnTo>
                    <a:pt x="1083322" y="312479"/>
                  </a:lnTo>
                  <a:lnTo>
                    <a:pt x="1103713" y="301909"/>
                  </a:lnTo>
                  <a:lnTo>
                    <a:pt x="1125548" y="294495"/>
                  </a:lnTo>
                  <a:lnTo>
                    <a:pt x="1147268" y="287266"/>
                  </a:lnTo>
                  <a:lnTo>
                    <a:pt x="1166987" y="277202"/>
                  </a:lnTo>
                  <a:lnTo>
                    <a:pt x="1183957" y="263494"/>
                  </a:lnTo>
                  <a:lnTo>
                    <a:pt x="1199087" y="247912"/>
                  </a:lnTo>
                  <a:lnTo>
                    <a:pt x="1214195" y="233309"/>
                  </a:lnTo>
                  <a:lnTo>
                    <a:pt x="1226193" y="224781"/>
                  </a:lnTo>
                  <a:lnTo>
                    <a:pt x="1224108" y="235198"/>
                  </a:lnTo>
                  <a:lnTo>
                    <a:pt x="1216987" y="255205"/>
                  </a:lnTo>
                  <a:lnTo>
                    <a:pt x="1208911" y="281985"/>
                  </a:lnTo>
                  <a:lnTo>
                    <a:pt x="1205234" y="307024"/>
                  </a:lnTo>
                  <a:lnTo>
                    <a:pt x="1207560" y="332989"/>
                  </a:lnTo>
                  <a:lnTo>
                    <a:pt x="1211800" y="359425"/>
                  </a:lnTo>
                  <a:lnTo>
                    <a:pt x="1211581" y="385991"/>
                  </a:lnTo>
                  <a:lnTo>
                    <a:pt x="1205500" y="412744"/>
                  </a:lnTo>
                  <a:lnTo>
                    <a:pt x="1199433" y="439925"/>
                  </a:lnTo>
                  <a:lnTo>
                    <a:pt x="1199921" y="467572"/>
                  </a:lnTo>
                  <a:lnTo>
                    <a:pt x="1205871" y="495475"/>
                  </a:lnTo>
                  <a:lnTo>
                    <a:pt x="1209401" y="523469"/>
                  </a:lnTo>
                  <a:lnTo>
                    <a:pt x="1205745" y="551578"/>
                  </a:lnTo>
                  <a:lnTo>
                    <a:pt x="1199646" y="579825"/>
                  </a:lnTo>
                  <a:lnTo>
                    <a:pt x="1199351" y="608054"/>
                  </a:lnTo>
                  <a:lnTo>
                    <a:pt x="1205735" y="636100"/>
                  </a:lnTo>
                  <a:lnTo>
                    <a:pt x="1211100" y="664012"/>
                  </a:lnTo>
                  <a:lnTo>
                    <a:pt x="1209318" y="691924"/>
                  </a:lnTo>
                  <a:lnTo>
                    <a:pt x="1203723" y="719754"/>
                  </a:lnTo>
                  <a:lnTo>
                    <a:pt x="1202518" y="747182"/>
                  </a:lnTo>
                  <a:lnTo>
                    <a:pt x="1208244" y="774003"/>
                  </a:lnTo>
                  <a:lnTo>
                    <a:pt x="1214985" y="800344"/>
                  </a:lnTo>
                  <a:lnTo>
                    <a:pt x="1216032" y="826436"/>
                  </a:lnTo>
                  <a:lnTo>
                    <a:pt x="1211699" y="852245"/>
                  </a:lnTo>
                  <a:lnTo>
                    <a:pt x="1208250" y="877437"/>
                  </a:lnTo>
                  <a:lnTo>
                    <a:pt x="1210576" y="903402"/>
                  </a:lnTo>
                  <a:lnTo>
                    <a:pt x="1217137" y="923845"/>
                  </a:lnTo>
                  <a:lnTo>
                    <a:pt x="1222063" y="939633"/>
                  </a:lnTo>
                  <a:lnTo>
                    <a:pt x="1222556" y="955062"/>
                  </a:lnTo>
                  <a:lnTo>
                    <a:pt x="1218399" y="969558"/>
                  </a:lnTo>
                  <a:lnTo>
                    <a:pt x="1212095" y="982857"/>
                  </a:lnTo>
                  <a:lnTo>
                    <a:pt x="1206836" y="995352"/>
                  </a:lnTo>
                  <a:lnTo>
                    <a:pt x="1204393" y="1007788"/>
                  </a:lnTo>
                  <a:lnTo>
                    <a:pt x="1204241" y="1020621"/>
                  </a:lnTo>
                  <a:lnTo>
                    <a:pt x="1204200" y="1033580"/>
                  </a:lnTo>
                  <a:lnTo>
                    <a:pt x="1201927" y="1045775"/>
                  </a:lnTo>
                  <a:lnTo>
                    <a:pt x="1196261" y="1056281"/>
                  </a:lnTo>
                  <a:lnTo>
                    <a:pt x="1187729" y="1064795"/>
                  </a:lnTo>
                  <a:lnTo>
                    <a:pt x="1178067" y="1071939"/>
                  </a:lnTo>
                  <a:lnTo>
                    <a:pt x="1169168" y="1078988"/>
                  </a:lnTo>
                  <a:lnTo>
                    <a:pt x="1162071" y="1087171"/>
                  </a:lnTo>
                  <a:lnTo>
                    <a:pt x="1156516" y="1096928"/>
                  </a:lnTo>
                  <a:lnTo>
                    <a:pt x="1151211" y="1107566"/>
                  </a:lnTo>
                  <a:lnTo>
                    <a:pt x="1144617" y="1117542"/>
                  </a:lnTo>
                  <a:lnTo>
                    <a:pt x="1135772" y="1125278"/>
                  </a:lnTo>
                  <a:lnTo>
                    <a:pt x="1124739" y="1130069"/>
                  </a:lnTo>
                  <a:lnTo>
                    <a:pt x="1112464" y="1132595"/>
                  </a:lnTo>
                  <a:lnTo>
                    <a:pt x="1100167" y="1134661"/>
                  </a:lnTo>
                  <a:lnTo>
                    <a:pt x="1088631" y="1138251"/>
                  </a:lnTo>
                  <a:lnTo>
                    <a:pt x="1078597" y="1144063"/>
                  </a:lnTo>
                  <a:lnTo>
                    <a:pt x="1070214" y="1150865"/>
                  </a:lnTo>
                  <a:lnTo>
                    <a:pt x="1061794" y="1156708"/>
                  </a:lnTo>
                  <a:lnTo>
                    <a:pt x="1052111" y="1159802"/>
                  </a:lnTo>
                  <a:lnTo>
                    <a:pt x="1041517" y="1159184"/>
                  </a:lnTo>
                  <a:lnTo>
                    <a:pt x="1030517" y="1155529"/>
                  </a:lnTo>
                  <a:lnTo>
                    <a:pt x="1019275" y="1150782"/>
                  </a:lnTo>
                  <a:lnTo>
                    <a:pt x="1007481" y="1147121"/>
                  </a:lnTo>
                  <a:lnTo>
                    <a:pt x="994636" y="1145793"/>
                  </a:lnTo>
                  <a:lnTo>
                    <a:pt x="980499" y="1146431"/>
                  </a:lnTo>
                  <a:lnTo>
                    <a:pt x="965347" y="1147252"/>
                  </a:lnTo>
                  <a:lnTo>
                    <a:pt x="949844" y="1146061"/>
                  </a:lnTo>
                  <a:lnTo>
                    <a:pt x="934593" y="1141516"/>
                  </a:lnTo>
                  <a:lnTo>
                    <a:pt x="919707" y="1133909"/>
                  </a:lnTo>
                  <a:lnTo>
                    <a:pt x="904728" y="1125029"/>
                  </a:lnTo>
                  <a:lnTo>
                    <a:pt x="888947" y="1117183"/>
                  </a:lnTo>
                  <a:lnTo>
                    <a:pt x="871884" y="1111981"/>
                  </a:lnTo>
                  <a:lnTo>
                    <a:pt x="853585" y="1109581"/>
                  </a:lnTo>
                  <a:lnTo>
                    <a:pt x="834538" y="1108780"/>
                  </a:lnTo>
                  <a:lnTo>
                    <a:pt x="815292" y="1107806"/>
                  </a:lnTo>
                  <a:lnTo>
                    <a:pt x="796072" y="1105308"/>
                  </a:lnTo>
                  <a:lnTo>
                    <a:pt x="776647" y="1101035"/>
                  </a:lnTo>
                  <a:lnTo>
                    <a:pt x="756503" y="1095920"/>
                  </a:lnTo>
                  <a:lnTo>
                    <a:pt x="735194" y="1091662"/>
                  </a:lnTo>
                  <a:lnTo>
                    <a:pt x="713207" y="1090024"/>
                  </a:lnTo>
                  <a:lnTo>
                    <a:pt x="691863" y="1091902"/>
                  </a:lnTo>
                  <a:lnTo>
                    <a:pt x="671655" y="1097126"/>
                  </a:lnTo>
                  <a:lnTo>
                    <a:pt x="652509" y="1105041"/>
                  </a:lnTo>
                  <a:lnTo>
                    <a:pt x="634480" y="1114722"/>
                  </a:lnTo>
                  <a:lnTo>
                    <a:pt x="617403" y="1125361"/>
                  </a:lnTo>
                  <a:lnTo>
                    <a:pt x="601005" y="1136479"/>
                  </a:lnTo>
                  <a:lnTo>
                    <a:pt x="585047" y="1147971"/>
                  </a:lnTo>
                  <a:lnTo>
                    <a:pt x="569440" y="1160027"/>
                  </a:lnTo>
                  <a:lnTo>
                    <a:pt x="554321" y="1172999"/>
                  </a:lnTo>
                  <a:lnTo>
                    <a:pt x="540054" y="1187242"/>
                  </a:lnTo>
                  <a:lnTo>
                    <a:pt x="527179" y="1202984"/>
                  </a:lnTo>
                  <a:lnTo>
                    <a:pt x="516311" y="1220246"/>
                  </a:lnTo>
                  <a:lnTo>
                    <a:pt x="508010" y="1238818"/>
                  </a:lnTo>
                  <a:lnTo>
                    <a:pt x="506087" y="1259078"/>
                  </a:lnTo>
                  <a:lnTo>
                    <a:pt x="503057" y="1278562"/>
                  </a:lnTo>
                  <a:lnTo>
                    <a:pt x="502768" y="1298122"/>
                  </a:lnTo>
                  <a:lnTo>
                    <a:pt x="504593" y="1317415"/>
                  </a:lnTo>
                  <a:lnTo>
                    <a:pt x="507916" y="1336316"/>
                  </a:lnTo>
                  <a:lnTo>
                    <a:pt x="512351" y="1354845"/>
                  </a:lnTo>
                  <a:lnTo>
                    <a:pt x="517590" y="1373105"/>
                  </a:lnTo>
                  <a:lnTo>
                    <a:pt x="523489" y="1391220"/>
                  </a:lnTo>
                  <a:lnTo>
                    <a:pt x="530130" y="1409252"/>
                  </a:lnTo>
                  <a:lnTo>
                    <a:pt x="537804" y="1427134"/>
                  </a:lnTo>
                  <a:lnTo>
                    <a:pt x="543624" y="1437982"/>
                  </a:lnTo>
                  <a:lnTo>
                    <a:pt x="545953" y="1442580"/>
                  </a:lnTo>
                  <a:lnTo>
                    <a:pt x="549951" y="1450586"/>
                  </a:lnTo>
                  <a:lnTo>
                    <a:pt x="554270" y="1459120"/>
                  </a:lnTo>
                  <a:lnTo>
                    <a:pt x="558634" y="1468297"/>
                  </a:lnTo>
                  <a:lnTo>
                    <a:pt x="562656" y="1478188"/>
                  </a:lnTo>
                  <a:lnTo>
                    <a:pt x="565960" y="1488799"/>
                  </a:lnTo>
                  <a:lnTo>
                    <a:pt x="568322" y="1500080"/>
                  </a:lnTo>
                  <a:lnTo>
                    <a:pt x="569761" y="1511944"/>
                  </a:lnTo>
                  <a:lnTo>
                    <a:pt x="570564" y="1524300"/>
                  </a:lnTo>
                  <a:lnTo>
                    <a:pt x="571196" y="1537081"/>
                  </a:lnTo>
                  <a:lnTo>
                    <a:pt x="572143" y="1550253"/>
                  </a:lnTo>
                  <a:lnTo>
                    <a:pt x="573723" y="1563808"/>
                  </a:lnTo>
                  <a:lnTo>
                    <a:pt x="575958" y="1577742"/>
                  </a:lnTo>
                  <a:lnTo>
                    <a:pt x="578550" y="1592044"/>
                  </a:lnTo>
                  <a:lnTo>
                    <a:pt x="581000" y="1606683"/>
                  </a:lnTo>
                  <a:lnTo>
                    <a:pt x="582825" y="1621624"/>
                  </a:lnTo>
                  <a:lnTo>
                    <a:pt x="583781" y="1636835"/>
                  </a:lnTo>
                  <a:lnTo>
                    <a:pt x="583996" y="1652297"/>
                  </a:lnTo>
                  <a:lnTo>
                    <a:pt x="583947" y="1667997"/>
                  </a:lnTo>
                  <a:lnTo>
                    <a:pt x="584274" y="1683917"/>
                  </a:lnTo>
                  <a:lnTo>
                    <a:pt x="585516" y="1700022"/>
                  </a:lnTo>
                  <a:lnTo>
                    <a:pt x="587888" y="1716261"/>
                  </a:lnTo>
                  <a:lnTo>
                    <a:pt x="591188" y="1732587"/>
                  </a:lnTo>
                  <a:lnTo>
                    <a:pt x="594865" y="1748408"/>
                  </a:lnTo>
                  <a:lnTo>
                    <a:pt x="600962" y="1770965"/>
                  </a:lnTo>
                  <a:lnTo>
                    <a:pt x="615226" y="1789471"/>
                  </a:lnTo>
                  <a:lnTo>
                    <a:pt x="635486" y="1801110"/>
                  </a:lnTo>
                  <a:lnTo>
                    <a:pt x="658659" y="1804110"/>
                  </a:lnTo>
                  <a:lnTo>
                    <a:pt x="681215" y="1798013"/>
                  </a:lnTo>
                  <a:lnTo>
                    <a:pt x="699721" y="1783749"/>
                  </a:lnTo>
                  <a:lnTo>
                    <a:pt x="711360" y="1763489"/>
                  </a:lnTo>
                  <a:lnTo>
                    <a:pt x="714360" y="1740317"/>
                  </a:lnTo>
                  <a:lnTo>
                    <a:pt x="714360" y="1740317"/>
                  </a:lnTo>
                  <a:lnTo>
                    <a:pt x="715941" y="1725186"/>
                  </a:lnTo>
                  <a:lnTo>
                    <a:pt x="717666" y="1710584"/>
                  </a:lnTo>
                  <a:lnTo>
                    <a:pt x="718909" y="1695945"/>
                  </a:lnTo>
                  <a:lnTo>
                    <a:pt x="719395" y="1681247"/>
                  </a:lnTo>
                  <a:lnTo>
                    <a:pt x="719263" y="1666463"/>
                  </a:lnTo>
                  <a:lnTo>
                    <a:pt x="718978" y="1651584"/>
                  </a:lnTo>
                  <a:lnTo>
                    <a:pt x="719107" y="1636614"/>
                  </a:lnTo>
                  <a:lnTo>
                    <a:pt x="720051" y="1621568"/>
                  </a:lnTo>
                  <a:lnTo>
                    <a:pt x="721863" y="1606450"/>
                  </a:lnTo>
                  <a:lnTo>
                    <a:pt x="724226" y="1591253"/>
                  </a:lnTo>
                  <a:lnTo>
                    <a:pt x="726582" y="1575966"/>
                  </a:lnTo>
                  <a:lnTo>
                    <a:pt x="728358" y="1560586"/>
                  </a:lnTo>
                  <a:lnTo>
                    <a:pt x="729182" y="1545123"/>
                  </a:lnTo>
                  <a:lnTo>
                    <a:pt x="729000" y="1529601"/>
                  </a:lnTo>
                  <a:lnTo>
                    <a:pt x="728057" y="1514034"/>
                  </a:lnTo>
                  <a:lnTo>
                    <a:pt x="726764" y="1498414"/>
                  </a:lnTo>
                  <a:lnTo>
                    <a:pt x="725512" y="1482699"/>
                  </a:lnTo>
                  <a:lnTo>
                    <a:pt x="724513" y="1466823"/>
                  </a:lnTo>
                  <a:lnTo>
                    <a:pt x="723712" y="1450725"/>
                  </a:lnTo>
                  <a:lnTo>
                    <a:pt x="722810" y="1434376"/>
                  </a:lnTo>
                  <a:lnTo>
                    <a:pt x="721357" y="1417809"/>
                  </a:lnTo>
                  <a:lnTo>
                    <a:pt x="718892" y="1401121"/>
                  </a:lnTo>
                  <a:lnTo>
                    <a:pt x="715064" y="1384451"/>
                  </a:lnTo>
                  <a:lnTo>
                    <a:pt x="708451" y="1364943"/>
                  </a:lnTo>
                  <a:lnTo>
                    <a:pt x="700973" y="1349708"/>
                  </a:lnTo>
                  <a:lnTo>
                    <a:pt x="697317" y="1341770"/>
                  </a:lnTo>
                  <a:lnTo>
                    <a:pt x="694579" y="1334314"/>
                  </a:lnTo>
                  <a:lnTo>
                    <a:pt x="693034" y="1327338"/>
                  </a:lnTo>
                  <a:lnTo>
                    <a:pt x="692746" y="1320970"/>
                  </a:lnTo>
                  <a:lnTo>
                    <a:pt x="693558" y="1315400"/>
                  </a:lnTo>
                  <a:lnTo>
                    <a:pt x="695142" y="1310797"/>
                  </a:lnTo>
                  <a:lnTo>
                    <a:pt x="697096" y="1307247"/>
                  </a:lnTo>
                  <a:lnTo>
                    <a:pt x="698789" y="1304693"/>
                  </a:lnTo>
                  <a:lnTo>
                    <a:pt x="699576" y="1302856"/>
                  </a:lnTo>
                  <a:lnTo>
                    <a:pt x="703290" y="1302655"/>
                  </a:lnTo>
                  <a:lnTo>
                    <a:pt x="702427" y="1301692"/>
                  </a:lnTo>
                  <a:lnTo>
                    <a:pt x="700783" y="1300410"/>
                  </a:lnTo>
                  <a:lnTo>
                    <a:pt x="698902" y="1298668"/>
                  </a:lnTo>
                  <a:lnTo>
                    <a:pt x="697382" y="1296551"/>
                  </a:lnTo>
                  <a:lnTo>
                    <a:pt x="696746" y="1294354"/>
                  </a:lnTo>
                  <a:lnTo>
                    <a:pt x="697342" y="1292497"/>
                  </a:lnTo>
                  <a:lnTo>
                    <a:pt x="699290" y="1291399"/>
                  </a:lnTo>
                  <a:lnTo>
                    <a:pt x="702485" y="1291316"/>
                  </a:lnTo>
                  <a:lnTo>
                    <a:pt x="706671" y="1292210"/>
                  </a:lnTo>
                  <a:lnTo>
                    <a:pt x="711559" y="1293667"/>
                  </a:lnTo>
                  <a:lnTo>
                    <a:pt x="716967" y="1294945"/>
                  </a:lnTo>
                  <a:lnTo>
                    <a:pt x="722933" y="1295186"/>
                  </a:lnTo>
                  <a:lnTo>
                    <a:pt x="729368" y="1293800"/>
                  </a:lnTo>
                  <a:lnTo>
                    <a:pt x="736249" y="1290934"/>
                  </a:lnTo>
                  <a:lnTo>
                    <a:pt x="744369" y="1287597"/>
                  </a:lnTo>
                  <a:lnTo>
                    <a:pt x="754183" y="1285320"/>
                  </a:lnTo>
                  <a:lnTo>
                    <a:pt x="765213" y="1285572"/>
                  </a:lnTo>
                  <a:lnTo>
                    <a:pt x="776911" y="1289056"/>
                  </a:lnTo>
                  <a:lnTo>
                    <a:pt x="789012" y="1295286"/>
                  </a:lnTo>
                  <a:lnTo>
                    <a:pt x="801709" y="1302681"/>
                  </a:lnTo>
                  <a:lnTo>
                    <a:pt x="815519" y="1309238"/>
                  </a:lnTo>
                  <a:lnTo>
                    <a:pt x="830895" y="1313523"/>
                  </a:lnTo>
                  <a:lnTo>
                    <a:pt x="847851" y="1315461"/>
                  </a:lnTo>
                  <a:lnTo>
                    <a:pt x="865873" y="1316431"/>
                  </a:lnTo>
                  <a:lnTo>
                    <a:pt x="884220" y="1318509"/>
                  </a:lnTo>
                  <a:lnTo>
                    <a:pt x="902399" y="1323252"/>
                  </a:lnTo>
                  <a:lnTo>
                    <a:pt x="920494" y="1330721"/>
                  </a:lnTo>
                  <a:lnTo>
                    <a:pt x="939071" y="1339341"/>
                  </a:lnTo>
                  <a:lnTo>
                    <a:pt x="958761" y="1346687"/>
                  </a:lnTo>
                  <a:lnTo>
                    <a:pt x="979811" y="1350745"/>
                  </a:lnTo>
                  <a:lnTo>
                    <a:pt x="1001944" y="1350914"/>
                  </a:lnTo>
                  <a:lnTo>
                    <a:pt x="1024629" y="1348212"/>
                  </a:lnTo>
                  <a:lnTo>
                    <a:pt x="1047523" y="1344586"/>
                  </a:lnTo>
                  <a:lnTo>
                    <a:pt x="1070757" y="1341746"/>
                  </a:lnTo>
                  <a:lnTo>
                    <a:pt x="1094803" y="1340138"/>
                  </a:lnTo>
                  <a:lnTo>
                    <a:pt x="1119980" y="1338568"/>
                  </a:lnTo>
                  <a:lnTo>
                    <a:pt x="1145028" y="1335012"/>
                  </a:lnTo>
                  <a:lnTo>
                    <a:pt x="1167827" y="1328128"/>
                  </a:lnTo>
                  <a:lnTo>
                    <a:pt x="1188083" y="1317459"/>
                  </a:lnTo>
                  <a:lnTo>
                    <a:pt x="1206485" y="1303730"/>
                  </a:lnTo>
                  <a:lnTo>
                    <a:pt x="1223770" y="1288946"/>
                  </a:lnTo>
                  <a:lnTo>
                    <a:pt x="1241105" y="1274939"/>
                  </a:lnTo>
                  <a:lnTo>
                    <a:pt x="1259388" y="1262413"/>
                  </a:lnTo>
                  <a:lnTo>
                    <a:pt x="1278632" y="1250690"/>
                  </a:lnTo>
                  <a:lnTo>
                    <a:pt x="1297826" y="1238214"/>
                  </a:lnTo>
                  <a:lnTo>
                    <a:pt x="1315380" y="1223468"/>
                  </a:lnTo>
                  <a:lnTo>
                    <a:pt x="1329955" y="1205784"/>
                  </a:lnTo>
                  <a:lnTo>
                    <a:pt x="1341239" y="1185626"/>
                  </a:lnTo>
                  <a:lnTo>
                    <a:pt x="1350222" y="1164249"/>
                  </a:lnTo>
                  <a:lnTo>
                    <a:pt x="1358746" y="1142952"/>
                  </a:lnTo>
                  <a:lnTo>
                    <a:pt x="1368500" y="1122381"/>
                  </a:lnTo>
                  <a:lnTo>
                    <a:pt x="1379961" y="1102260"/>
                  </a:lnTo>
                  <a:lnTo>
                    <a:pt x="1391918" y="1081687"/>
                  </a:lnTo>
                  <a:lnTo>
                    <a:pt x="1401977" y="1059798"/>
                  </a:lnTo>
                  <a:lnTo>
                    <a:pt x="1407910" y="1036346"/>
                  </a:lnTo>
                  <a:lnTo>
                    <a:pt x="1409142" y="1011811"/>
                  </a:lnTo>
                  <a:lnTo>
                    <a:pt x="1407393" y="986965"/>
                  </a:lnTo>
                  <a:lnTo>
                    <a:pt x="1405807" y="962224"/>
                  </a:lnTo>
                  <a:lnTo>
                    <a:pt x="1406838" y="937350"/>
                  </a:lnTo>
                  <a:lnTo>
                    <a:pt x="1410218" y="911792"/>
                  </a:lnTo>
                  <a:lnTo>
                    <a:pt x="1413099" y="889873"/>
                  </a:lnTo>
                  <a:lnTo>
                    <a:pt x="1413048" y="867539"/>
                  </a:lnTo>
                  <a:lnTo>
                    <a:pt x="1407246" y="843167"/>
                  </a:lnTo>
                  <a:lnTo>
                    <a:pt x="1400611" y="818271"/>
                  </a:lnTo>
                  <a:lnTo>
                    <a:pt x="1399430" y="792641"/>
                  </a:lnTo>
                  <a:lnTo>
                    <a:pt x="1404042" y="766367"/>
                  </a:lnTo>
                  <a:lnTo>
                    <a:pt x="1407763" y="739804"/>
                  </a:lnTo>
                  <a:lnTo>
                    <a:pt x="1404702" y="713204"/>
                  </a:lnTo>
                  <a:lnTo>
                    <a:pt x="1397424" y="686484"/>
                  </a:lnTo>
                  <a:lnTo>
                    <a:pt x="1394158" y="659450"/>
                  </a:lnTo>
                  <a:lnTo>
                    <a:pt x="1398262" y="632142"/>
                  </a:lnTo>
                  <a:lnTo>
                    <a:pt x="1403633" y="604821"/>
                  </a:lnTo>
                  <a:lnTo>
                    <a:pt x="1402598" y="577657"/>
                  </a:lnTo>
                  <a:lnTo>
                    <a:pt x="1396057" y="550609"/>
                  </a:lnTo>
                  <a:lnTo>
                    <a:pt x="1392281" y="523648"/>
                  </a:lnTo>
                  <a:lnTo>
                    <a:pt x="1396038" y="496918"/>
                  </a:lnTo>
                  <a:lnTo>
                    <a:pt x="1402587" y="470569"/>
                  </a:lnTo>
                  <a:lnTo>
                    <a:pt x="1404071" y="444560"/>
                  </a:lnTo>
                  <a:lnTo>
                    <a:pt x="1399423" y="418804"/>
                  </a:lnTo>
                  <a:lnTo>
                    <a:pt x="1395207" y="393463"/>
                  </a:lnTo>
                  <a:lnTo>
                    <a:pt x="1397323" y="368902"/>
                  </a:lnTo>
                  <a:lnTo>
                    <a:pt x="1404395" y="345303"/>
                  </a:lnTo>
                  <a:lnTo>
                    <a:pt x="1410074" y="322448"/>
                  </a:lnTo>
                  <a:lnTo>
                    <a:pt x="1410295" y="300007"/>
                  </a:lnTo>
                  <a:lnTo>
                    <a:pt x="1406688" y="280770"/>
                  </a:lnTo>
                  <a:lnTo>
                    <a:pt x="1406018" y="265765"/>
                  </a:lnTo>
                  <a:lnTo>
                    <a:pt x="1408360" y="245845"/>
                  </a:lnTo>
                  <a:lnTo>
                    <a:pt x="1412717" y="226715"/>
                  </a:lnTo>
                  <a:lnTo>
                    <a:pt x="1417742" y="207942"/>
                  </a:lnTo>
                  <a:lnTo>
                    <a:pt x="1421727" y="189244"/>
                  </a:lnTo>
                  <a:lnTo>
                    <a:pt x="1423406" y="170576"/>
                  </a:lnTo>
                  <a:lnTo>
                    <a:pt x="1422289" y="152062"/>
                  </a:lnTo>
                  <a:lnTo>
                    <a:pt x="1418521" y="133846"/>
                  </a:lnTo>
                  <a:lnTo>
                    <a:pt x="1412546" y="115980"/>
                  </a:lnTo>
                  <a:lnTo>
                    <a:pt x="1404743" y="98399"/>
                  </a:lnTo>
                  <a:lnTo>
                    <a:pt x="1395193" y="80978"/>
                  </a:lnTo>
                  <a:lnTo>
                    <a:pt x="1383596" y="63677"/>
                  </a:lnTo>
                  <a:lnTo>
                    <a:pt x="1369364" y="46751"/>
                  </a:lnTo>
                  <a:lnTo>
                    <a:pt x="1351924" y="30944"/>
                  </a:lnTo>
                  <a:lnTo>
                    <a:pt x="1331210" y="17471"/>
                  </a:lnTo>
                  <a:lnTo>
                    <a:pt x="1308015" y="7564"/>
                  </a:lnTo>
                  <a:lnTo>
                    <a:pt x="1283774" y="1822"/>
                  </a:lnTo>
                  <a:lnTo>
                    <a:pt x="1259845" y="0"/>
                  </a:lnTo>
                  <a:lnTo>
                    <a:pt x="1237000" y="1408"/>
                  </a:lnTo>
                  <a:lnTo>
                    <a:pt x="1215481" y="5464"/>
                  </a:lnTo>
                  <a:lnTo>
                    <a:pt x="1195342" y="11956"/>
                  </a:lnTo>
                  <a:lnTo>
                    <a:pt x="1176720" y="21013"/>
                  </a:lnTo>
                  <a:lnTo>
                    <a:pt x="1159865" y="32858"/>
                  </a:lnTo>
                  <a:lnTo>
                    <a:pt x="1147580" y="45355"/>
                  </a:lnTo>
                  <a:lnTo>
                    <a:pt x="1136466" y="59089"/>
                  </a:lnTo>
                  <a:lnTo>
                    <a:pt x="1124337" y="71790"/>
                  </a:lnTo>
                  <a:lnTo>
                    <a:pt x="1109815" y="81768"/>
                  </a:lnTo>
                  <a:lnTo>
                    <a:pt x="1092977" y="88831"/>
                  </a:lnTo>
                  <a:lnTo>
                    <a:pt x="1075235" y="94818"/>
                  </a:lnTo>
                  <a:lnTo>
                    <a:pt x="1058425" y="102504"/>
                  </a:lnTo>
                  <a:lnTo>
                    <a:pt x="1043469" y="113585"/>
                  </a:lnTo>
                  <a:lnTo>
                    <a:pt x="1029638" y="127180"/>
                  </a:lnTo>
                  <a:lnTo>
                    <a:pt x="1015062" y="140193"/>
                  </a:lnTo>
                  <a:lnTo>
                    <a:pt x="998200" y="149578"/>
                  </a:lnTo>
                  <a:lnTo>
                    <a:pt x="979103" y="154858"/>
                  </a:lnTo>
                  <a:lnTo>
                    <a:pt x="959385" y="158759"/>
                  </a:lnTo>
                  <a:lnTo>
                    <a:pt x="940863" y="165117"/>
                  </a:lnTo>
                  <a:lnTo>
                    <a:pt x="924014" y="175575"/>
                  </a:lnTo>
                  <a:lnTo>
                    <a:pt x="907621" y="187903"/>
                  </a:lnTo>
                  <a:lnTo>
                    <a:pt x="889931" y="197690"/>
                  </a:lnTo>
                  <a:lnTo>
                    <a:pt x="870253" y="202203"/>
                  </a:lnTo>
                  <a:lnTo>
                    <a:pt x="849504" y="203018"/>
                  </a:lnTo>
                  <a:lnTo>
                    <a:pt x="829239" y="204802"/>
                  </a:lnTo>
                  <a:lnTo>
                    <a:pt x="810151" y="211038"/>
                  </a:lnTo>
                  <a:lnTo>
                    <a:pt x="791540" y="220559"/>
                  </a:lnTo>
                  <a:lnTo>
                    <a:pt x="772194" y="228370"/>
                  </a:lnTo>
                  <a:lnTo>
                    <a:pt x="751668" y="230332"/>
                  </a:lnTo>
                  <a:lnTo>
                    <a:pt x="729470" y="227471"/>
                  </a:lnTo>
                  <a:lnTo>
                    <a:pt x="712772" y="225390"/>
                  </a:lnTo>
                  <a:lnTo>
                    <a:pt x="697735" y="225826"/>
                  </a:lnTo>
                  <a:lnTo>
                    <a:pt x="682635" y="229313"/>
                  </a:lnTo>
                  <a:lnTo>
                    <a:pt x="667131" y="233734"/>
                  </a:lnTo>
                  <a:lnTo>
                    <a:pt x="651306" y="235895"/>
                  </a:lnTo>
                  <a:lnTo>
                    <a:pt x="635616" y="233710"/>
                  </a:lnTo>
                  <a:lnTo>
                    <a:pt x="620441" y="227649"/>
                  </a:lnTo>
                  <a:lnTo>
                    <a:pt x="605649" y="220445"/>
                  </a:lnTo>
                  <a:lnTo>
                    <a:pt x="590602" y="215212"/>
                  </a:lnTo>
                  <a:lnTo>
                    <a:pt x="574663" y="213272"/>
                  </a:lnTo>
                  <a:lnTo>
                    <a:pt x="557838" y="213208"/>
                  </a:lnTo>
                  <a:lnTo>
                    <a:pt x="540959" y="211851"/>
                  </a:lnTo>
                  <a:lnTo>
                    <a:pt x="525163" y="206541"/>
                  </a:lnTo>
                  <a:lnTo>
                    <a:pt x="510976" y="197045"/>
                  </a:lnTo>
                  <a:lnTo>
                    <a:pt x="497748" y="185740"/>
                  </a:lnTo>
                  <a:lnTo>
                    <a:pt x="483997" y="175878"/>
                  </a:lnTo>
                  <a:lnTo>
                    <a:pt x="468531" y="169188"/>
                  </a:lnTo>
                  <a:lnTo>
                    <a:pt x="451517" y="164606"/>
                  </a:lnTo>
                  <a:lnTo>
                    <a:pt x="434580" y="159091"/>
                  </a:lnTo>
                  <a:lnTo>
                    <a:pt x="419669" y="149942"/>
                  </a:lnTo>
                  <a:lnTo>
                    <a:pt x="407490" y="136857"/>
                  </a:lnTo>
                  <a:lnTo>
                    <a:pt x="396758" y="122136"/>
                  </a:lnTo>
                  <a:lnTo>
                    <a:pt x="385047" y="108865"/>
                  </a:lnTo>
                  <a:lnTo>
                    <a:pt x="370711" y="98486"/>
                  </a:lnTo>
                  <a:lnTo>
                    <a:pt x="360163" y="92264"/>
                  </a:lnTo>
                  <a:lnTo>
                    <a:pt x="346570" y="83993"/>
                  </a:lnTo>
                  <a:lnTo>
                    <a:pt x="333374" y="75818"/>
                  </a:lnTo>
                  <a:lnTo>
                    <a:pt x="320749" y="67322"/>
                  </a:lnTo>
                  <a:lnTo>
                    <a:pt x="308506" y="58381"/>
                  </a:lnTo>
                  <a:lnTo>
                    <a:pt x="296202" y="49131"/>
                  </a:lnTo>
                  <a:lnTo>
                    <a:pt x="283271" y="39900"/>
                  </a:lnTo>
                  <a:lnTo>
                    <a:pt x="269147" y="31148"/>
                  </a:lnTo>
                  <a:lnTo>
                    <a:pt x="253347" y="23427"/>
                  </a:lnTo>
                  <a:lnTo>
                    <a:pt x="235568" y="17392"/>
                  </a:lnTo>
                  <a:lnTo>
                    <a:pt x="215790" y="13784"/>
                  </a:lnTo>
                  <a:lnTo>
                    <a:pt x="194414" y="13366"/>
                  </a:lnTo>
                  <a:lnTo>
                    <a:pt x="172334" y="16727"/>
                  </a:lnTo>
                  <a:lnTo>
                    <a:pt x="150817" y="24024"/>
                  </a:lnTo>
                  <a:lnTo>
                    <a:pt x="131156" y="34847"/>
                  </a:lnTo>
                  <a:lnTo>
                    <a:pt x="114271" y="48345"/>
                  </a:lnTo>
                  <a:lnTo>
                    <a:pt x="100502" y="63541"/>
                  </a:lnTo>
                  <a:lnTo>
                    <a:pt x="89657" y="79609"/>
                  </a:lnTo>
                  <a:lnTo>
                    <a:pt x="81171" y="95980"/>
                  </a:lnTo>
                  <a:lnTo>
                    <a:pt x="74245" y="112334"/>
                  </a:lnTo>
                  <a:lnTo>
                    <a:pt x="67968" y="128552"/>
                  </a:lnTo>
                  <a:lnTo>
                    <a:pt x="61470" y="144693"/>
                  </a:lnTo>
                  <a:lnTo>
                    <a:pt x="54188" y="160986"/>
                  </a:lnTo>
                  <a:lnTo>
                    <a:pt x="46966" y="174883"/>
                  </a:lnTo>
                  <a:lnTo>
                    <a:pt x="38541" y="190082"/>
                  </a:lnTo>
                  <a:lnTo>
                    <a:pt x="31606" y="208414"/>
                  </a:lnTo>
                  <a:lnTo>
                    <a:pt x="28024" y="227909"/>
                  </a:lnTo>
                  <a:lnTo>
                    <a:pt x="27464" y="248276"/>
                  </a:lnTo>
                  <a:lnTo>
                    <a:pt x="27917" y="268977"/>
                  </a:lnTo>
                  <a:lnTo>
                    <a:pt x="26719" y="289549"/>
                  </a:lnTo>
                  <a:lnTo>
                    <a:pt x="22245" y="309882"/>
                  </a:lnTo>
                  <a:lnTo>
                    <a:pt x="15206" y="330254"/>
                  </a:lnTo>
                  <a:lnTo>
                    <a:pt x="8460" y="351099"/>
                  </a:lnTo>
                  <a:lnTo>
                    <a:pt x="5154" y="372669"/>
                  </a:lnTo>
                  <a:lnTo>
                    <a:pt x="6343" y="394867"/>
                  </a:lnTo>
                  <a:lnTo>
                    <a:pt x="9926" y="417361"/>
                  </a:lnTo>
                  <a:lnTo>
                    <a:pt x="12010" y="439880"/>
                  </a:lnTo>
                  <a:lnTo>
                    <a:pt x="9942" y="462418"/>
                  </a:lnTo>
                  <a:lnTo>
                    <a:pt x="4634" y="485159"/>
                  </a:lnTo>
                  <a:lnTo>
                    <a:pt x="54" y="508229"/>
                  </a:lnTo>
                  <a:lnTo>
                    <a:pt x="0" y="531536"/>
                  </a:lnTo>
                  <a:lnTo>
                    <a:pt x="4745" y="554881"/>
                  </a:lnTo>
                  <a:lnTo>
                    <a:pt x="10608" y="578213"/>
                  </a:lnTo>
                  <a:lnTo>
                    <a:pt x="13074" y="601722"/>
                  </a:lnTo>
                  <a:lnTo>
                    <a:pt x="10868" y="625617"/>
                  </a:lnTo>
                  <a:lnTo>
                    <a:pt x="7225" y="649814"/>
                  </a:lnTo>
                  <a:lnTo>
                    <a:pt x="7036" y="673910"/>
                  </a:lnTo>
                  <a:lnTo>
                    <a:pt x="12112" y="694805"/>
                  </a:lnTo>
                  <a:lnTo>
                    <a:pt x="17555" y="710294"/>
                  </a:lnTo>
                  <a:lnTo>
                    <a:pt x="21519" y="727752"/>
                  </a:lnTo>
                  <a:lnTo>
                    <a:pt x="21668" y="745628"/>
                  </a:lnTo>
                  <a:lnTo>
                    <a:pt x="18158" y="763726"/>
                  </a:lnTo>
                  <a:lnTo>
                    <a:pt x="13461" y="781933"/>
                  </a:lnTo>
                  <a:lnTo>
                    <a:pt x="10689" y="800266"/>
                  </a:lnTo>
                  <a:lnTo>
                    <a:pt x="11524" y="818778"/>
                  </a:lnTo>
                  <a:lnTo>
                    <a:pt x="15185" y="837454"/>
                  </a:lnTo>
                  <a:lnTo>
                    <a:pt x="19079" y="856194"/>
                  </a:lnTo>
                  <a:lnTo>
                    <a:pt x="20588" y="874892"/>
                  </a:lnTo>
                  <a:lnTo>
                    <a:pt x="18734" y="893526"/>
                  </a:lnTo>
                  <a:lnTo>
                    <a:pt x="14658" y="912161"/>
                  </a:lnTo>
                  <a:lnTo>
                    <a:pt x="10786" y="930858"/>
                  </a:lnTo>
                  <a:lnTo>
                    <a:pt x="9346" y="949584"/>
                  </a:lnTo>
                  <a:lnTo>
                    <a:pt x="11225" y="968209"/>
                  </a:lnTo>
                  <a:lnTo>
                    <a:pt x="15727" y="986597"/>
                  </a:lnTo>
                  <a:lnTo>
                    <a:pt x="21197" y="1004730"/>
                  </a:lnTo>
                  <a:lnTo>
                    <a:pt x="26003" y="1022762"/>
                  </a:lnTo>
                  <a:lnTo>
                    <a:pt x="29314" y="1040970"/>
                  </a:lnTo>
                  <a:lnTo>
                    <a:pt x="31363" y="1059621"/>
                  </a:lnTo>
                  <a:lnTo>
                    <a:pt x="33211" y="1078822"/>
                  </a:lnTo>
                  <a:lnTo>
                    <a:pt x="36251" y="1098433"/>
                  </a:lnTo>
                  <a:lnTo>
                    <a:pt x="41721" y="1118068"/>
                  </a:lnTo>
                  <a:lnTo>
                    <a:pt x="48291" y="1133218"/>
                  </a:lnTo>
                  <a:lnTo>
                    <a:pt x="72926" y="1164906"/>
                  </a:lnTo>
                  <a:lnTo>
                    <a:pt x="107812" y="1184755"/>
                  </a:lnTo>
                  <a:lnTo>
                    <a:pt x="147639" y="1189743"/>
                  </a:lnTo>
                  <a:lnTo>
                    <a:pt x="186343" y="1179110"/>
                  </a:lnTo>
                  <a:lnTo>
                    <a:pt x="218031" y="1154474"/>
                  </a:lnTo>
                  <a:lnTo>
                    <a:pt x="237880" y="1119588"/>
                  </a:lnTo>
                  <a:lnTo>
                    <a:pt x="242868" y="1079761"/>
                  </a:lnTo>
                  <a:lnTo>
                    <a:pt x="232235" y="1041057"/>
                  </a:lnTo>
                  <a:close/>
                </a:path>
              </a:pathLst>
            </a:custGeom>
            <a:gradFill rotWithShape="1">
              <a:gsLst>
                <a:gs pos="0">
                  <a:srgbClr val="FBD5C7"/>
                </a:gs>
                <a:gs pos="30000">
                  <a:srgbClr val="F9C6B6"/>
                </a:gs>
                <a:gs pos="64000">
                  <a:srgbClr val="F2AD9D"/>
                </a:gs>
                <a:gs pos="100000">
                  <a:srgbClr val="E79988"/>
                </a:gs>
              </a:gsLst>
              <a:lin ang="4200000" scaled="1"/>
            </a:gradFill>
            <a:ln w="4050" cap="rnd">
              <a:solidFill>
                <a:srgbClr val="BE7B6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Single continuous colon surface soft reflected light"/>
            <p:cNvSpPr/>
            <p:nvPr/>
          </p:nvSpPr>
          <p:spPr>
            <a:xfrm>
              <a:off x="161344" y="87758"/>
              <a:ext cx="543924" cy="713277"/>
            </a:xfrm>
            <a:custGeom>
              <a:avLst/>
              <a:gdLst/>
              <a:ahLst/>
              <a:cxnLst/>
              <a:rect l="0" t="0" r="r" b="b"/>
              <a:pathLst>
                <a:path w="1279228" h="1677521">
                  <a:moveTo>
                    <a:pt x="41291" y="1035823"/>
                  </a:moveTo>
                  <a:cubicBezTo>
                    <a:pt x="40277" y="1033791"/>
                    <a:pt x="37167" y="1027984"/>
                    <a:pt x="35210" y="1023633"/>
                  </a:cubicBezTo>
                  <a:cubicBezTo>
                    <a:pt x="33253" y="1019281"/>
                    <a:pt x="31282" y="1014438"/>
                    <a:pt x="29550" y="1009713"/>
                  </a:cubicBezTo>
                  <a:cubicBezTo>
                    <a:pt x="27817" y="1004988"/>
                    <a:pt x="26256" y="1000171"/>
                    <a:pt x="24815" y="995283"/>
                  </a:cubicBezTo>
                  <a:cubicBezTo>
                    <a:pt x="23373" y="990395"/>
                    <a:pt x="22085" y="985425"/>
                    <a:pt x="20902" y="980386"/>
                  </a:cubicBezTo>
                  <a:cubicBezTo>
                    <a:pt x="19720" y="975347"/>
                    <a:pt x="18673" y="970232"/>
                    <a:pt x="17719" y="965052"/>
                  </a:cubicBezTo>
                  <a:cubicBezTo>
                    <a:pt x="16765" y="959871"/>
                    <a:pt x="15931" y="954619"/>
                    <a:pt x="15179" y="949304"/>
                  </a:cubicBezTo>
                  <a:cubicBezTo>
                    <a:pt x="14427" y="943989"/>
                    <a:pt x="13781" y="938606"/>
                    <a:pt x="13205" y="933163"/>
                  </a:cubicBezTo>
                  <a:cubicBezTo>
                    <a:pt x="12630" y="927721"/>
                    <a:pt x="12148" y="922213"/>
                    <a:pt x="11727" y="916650"/>
                  </a:cubicBezTo>
                  <a:cubicBezTo>
                    <a:pt x="11306" y="911087"/>
                    <a:pt x="10967" y="905462"/>
                    <a:pt x="10680" y="899786"/>
                  </a:cubicBezTo>
                  <a:cubicBezTo>
                    <a:pt x="10392" y="894110"/>
                    <a:pt x="10176" y="888375"/>
                    <a:pt x="10002" y="882593"/>
                  </a:cubicBezTo>
                  <a:cubicBezTo>
                    <a:pt x="9828" y="876812"/>
                    <a:pt x="9715" y="870975"/>
                    <a:pt x="9635" y="865097"/>
                  </a:cubicBezTo>
                  <a:cubicBezTo>
                    <a:pt x="9556" y="859219"/>
                    <a:pt x="9528" y="853289"/>
                    <a:pt x="9525" y="847324"/>
                  </a:cubicBezTo>
                  <a:cubicBezTo>
                    <a:pt x="9522" y="841358"/>
                    <a:pt x="9561" y="835345"/>
                    <a:pt x="9617" y="829302"/>
                  </a:cubicBezTo>
                  <a:cubicBezTo>
                    <a:pt x="9673" y="823258"/>
                    <a:pt x="9762" y="817173"/>
                    <a:pt x="9860" y="811062"/>
                  </a:cubicBezTo>
                  <a:cubicBezTo>
                    <a:pt x="9957" y="804950"/>
                    <a:pt x="10079" y="798803"/>
                    <a:pt x="10201" y="792635"/>
                  </a:cubicBezTo>
                  <a:cubicBezTo>
                    <a:pt x="10322" y="786467"/>
                    <a:pt x="10460" y="780267"/>
                    <a:pt x="10590" y="774054"/>
                  </a:cubicBezTo>
                  <a:cubicBezTo>
                    <a:pt x="10719" y="767840"/>
                    <a:pt x="10857" y="761601"/>
                    <a:pt x="10978" y="755353"/>
                  </a:cubicBezTo>
                  <a:cubicBezTo>
                    <a:pt x="11098" y="749106"/>
                    <a:pt x="11219" y="742838"/>
                    <a:pt x="11314" y="736568"/>
                  </a:cubicBezTo>
                  <a:cubicBezTo>
                    <a:pt x="11410" y="730299"/>
                    <a:pt x="11497" y="724015"/>
                    <a:pt x="11552" y="717735"/>
                  </a:cubicBezTo>
                  <a:cubicBezTo>
                    <a:pt x="11606" y="711456"/>
                    <a:pt x="11644" y="705168"/>
                    <a:pt x="11642" y="698891"/>
                  </a:cubicBezTo>
                  <a:cubicBezTo>
                    <a:pt x="11639" y="692614"/>
                    <a:pt x="11612" y="686335"/>
                    <a:pt x="11536" y="680074"/>
                  </a:cubicBezTo>
                  <a:cubicBezTo>
                    <a:pt x="11461" y="673813"/>
                    <a:pt x="11353" y="667555"/>
                    <a:pt x="11189" y="661322"/>
                  </a:cubicBezTo>
                  <a:cubicBezTo>
                    <a:pt x="11025" y="655089"/>
                    <a:pt x="10816" y="648795"/>
                    <a:pt x="10554" y="642676"/>
                  </a:cubicBezTo>
                  <a:cubicBezTo>
                    <a:pt x="10291" y="636557"/>
                    <a:pt x="10137" y="631317"/>
                    <a:pt x="9615" y="624609"/>
                  </a:cubicBezTo>
                  <a:cubicBezTo>
                    <a:pt x="9093" y="617901"/>
                    <a:pt x="8114" y="609955"/>
                    <a:pt x="7420" y="602428"/>
                  </a:cubicBezTo>
                  <a:cubicBezTo>
                    <a:pt x="6726" y="594901"/>
                    <a:pt x="6057" y="587099"/>
                    <a:pt x="5452" y="579447"/>
                  </a:cubicBezTo>
                  <a:cubicBezTo>
                    <a:pt x="4846" y="571794"/>
                    <a:pt x="4291" y="564146"/>
                    <a:pt x="3786" y="556515"/>
                  </a:cubicBezTo>
                  <a:cubicBezTo>
                    <a:pt x="3282" y="548883"/>
                    <a:pt x="2827" y="541259"/>
                    <a:pt x="2424" y="533656"/>
                  </a:cubicBezTo>
                  <a:cubicBezTo>
                    <a:pt x="2020" y="526052"/>
                    <a:pt x="1666" y="518461"/>
                    <a:pt x="1364" y="510893"/>
                  </a:cubicBezTo>
                  <a:cubicBezTo>
                    <a:pt x="1061" y="503326"/>
                    <a:pt x="808" y="495775"/>
                    <a:pt x="606" y="488251"/>
                  </a:cubicBezTo>
                  <a:cubicBezTo>
                    <a:pt x="404" y="480728"/>
                    <a:pt x="253" y="473225"/>
                    <a:pt x="152" y="465753"/>
                  </a:cubicBezTo>
                  <a:cubicBezTo>
                    <a:pt x="51" y="458282"/>
                    <a:pt x="0" y="450835"/>
                    <a:pt x="0" y="443423"/>
                  </a:cubicBezTo>
                  <a:cubicBezTo>
                    <a:pt x="0" y="436011"/>
                    <a:pt x="51" y="428628"/>
                    <a:pt x="152" y="421283"/>
                  </a:cubicBezTo>
                  <a:cubicBezTo>
                    <a:pt x="253" y="413939"/>
                    <a:pt x="405" y="406627"/>
                    <a:pt x="607" y="399358"/>
                  </a:cubicBezTo>
                  <a:cubicBezTo>
                    <a:pt x="809" y="392089"/>
                    <a:pt x="1062" y="384856"/>
                    <a:pt x="1366" y="377671"/>
                  </a:cubicBezTo>
                  <a:cubicBezTo>
                    <a:pt x="1670" y="370485"/>
                    <a:pt x="2025" y="363339"/>
                    <a:pt x="2430" y="356244"/>
                  </a:cubicBezTo>
                  <a:cubicBezTo>
                    <a:pt x="2836" y="349149"/>
                    <a:pt x="3292" y="342098"/>
                    <a:pt x="3800" y="335101"/>
                  </a:cubicBezTo>
                  <a:cubicBezTo>
                    <a:pt x="4307" y="328105"/>
                    <a:pt x="4865" y="321155"/>
                    <a:pt x="5475" y="314265"/>
                  </a:cubicBezTo>
                  <a:cubicBezTo>
                    <a:pt x="6085" y="307374"/>
                    <a:pt x="6745" y="300535"/>
                    <a:pt x="7458" y="293758"/>
                  </a:cubicBezTo>
                  <a:cubicBezTo>
                    <a:pt x="8170" y="286981"/>
                    <a:pt x="8933" y="280259"/>
                    <a:pt x="9748" y="273603"/>
                  </a:cubicBezTo>
                  <a:cubicBezTo>
                    <a:pt x="10564" y="266947"/>
                    <a:pt x="11430" y="260350"/>
                    <a:pt x="12349" y="253823"/>
                  </a:cubicBezTo>
                  <a:cubicBezTo>
                    <a:pt x="13268" y="247295"/>
                    <a:pt x="14238" y="240830"/>
                    <a:pt x="15261" y="234438"/>
                  </a:cubicBezTo>
                  <a:cubicBezTo>
                    <a:pt x="16284" y="228047"/>
                    <a:pt x="17359" y="221721"/>
                    <a:pt x="18487" y="215472"/>
                  </a:cubicBezTo>
                  <a:cubicBezTo>
                    <a:pt x="19615" y="209223"/>
                    <a:pt x="20795" y="203044"/>
                    <a:pt x="22029" y="196945"/>
                  </a:cubicBezTo>
                  <a:cubicBezTo>
                    <a:pt x="23263" y="190846"/>
                    <a:pt x="24550" y="184820"/>
                    <a:pt x="25891" y="178878"/>
                  </a:cubicBezTo>
                  <a:cubicBezTo>
                    <a:pt x="27232" y="172937"/>
                    <a:pt x="28626" y="167071"/>
                    <a:pt x="30075" y="161293"/>
                  </a:cubicBezTo>
                  <a:cubicBezTo>
                    <a:pt x="31525" y="155515"/>
                    <a:pt x="33060" y="149709"/>
                    <a:pt x="34587" y="144209"/>
                  </a:cubicBezTo>
                  <a:cubicBezTo>
                    <a:pt x="36115" y="138710"/>
                    <a:pt x="37827" y="133285"/>
                    <a:pt x="39240" y="128297"/>
                  </a:cubicBezTo>
                  <a:cubicBezTo>
                    <a:pt x="40654" y="123309"/>
                    <a:pt x="41681" y="118925"/>
                    <a:pt x="43067" y="114282"/>
                  </a:cubicBezTo>
                  <a:cubicBezTo>
                    <a:pt x="44453" y="109638"/>
                    <a:pt x="45983" y="104881"/>
                    <a:pt x="47556" y="100439"/>
                  </a:cubicBezTo>
                  <a:cubicBezTo>
                    <a:pt x="49129" y="95996"/>
                    <a:pt x="50769" y="91733"/>
                    <a:pt x="52506" y="87626"/>
                  </a:cubicBezTo>
                  <a:cubicBezTo>
                    <a:pt x="54243" y="83519"/>
                    <a:pt x="56054" y="79581"/>
                    <a:pt x="57978" y="75795"/>
                  </a:cubicBezTo>
                  <a:cubicBezTo>
                    <a:pt x="59901" y="72010"/>
                    <a:pt x="61909" y="68383"/>
                    <a:pt x="64049" y="64911"/>
                  </a:cubicBezTo>
                  <a:cubicBezTo>
                    <a:pt x="66189" y="61439"/>
                    <a:pt x="68428" y="58117"/>
                    <a:pt x="70819" y="54961"/>
                  </a:cubicBezTo>
                  <a:cubicBezTo>
                    <a:pt x="73211" y="51806"/>
                    <a:pt x="75721" y="48795"/>
                    <a:pt x="78398" y="45979"/>
                  </a:cubicBezTo>
                  <a:cubicBezTo>
                    <a:pt x="81075" y="43163"/>
                    <a:pt x="83898" y="40495"/>
                    <a:pt x="86882" y="38064"/>
                  </a:cubicBezTo>
                  <a:cubicBezTo>
                    <a:pt x="89866" y="35632"/>
                    <a:pt x="93021" y="33371"/>
                    <a:pt x="96304" y="31389"/>
                  </a:cubicBezTo>
                  <a:cubicBezTo>
                    <a:pt x="99587" y="29407"/>
                    <a:pt x="103049" y="27637"/>
                    <a:pt x="106579" y="26175"/>
                  </a:cubicBezTo>
                  <a:cubicBezTo>
                    <a:pt x="110109" y="24712"/>
                    <a:pt x="113797" y="23511"/>
                    <a:pt x="117482" y="22612"/>
                  </a:cubicBezTo>
                  <a:cubicBezTo>
                    <a:pt x="121168" y="21712"/>
                    <a:pt x="124957" y="21113"/>
                    <a:pt x="128694" y="20778"/>
                  </a:cubicBezTo>
                  <a:cubicBezTo>
                    <a:pt x="132431" y="20443"/>
                    <a:pt x="136203" y="20414"/>
                    <a:pt x="139904" y="20603"/>
                  </a:cubicBezTo>
                  <a:cubicBezTo>
                    <a:pt x="143605" y="20792"/>
                    <a:pt x="147285" y="21263"/>
                    <a:pt x="150899" y="21911"/>
                  </a:cubicBezTo>
                  <a:cubicBezTo>
                    <a:pt x="154514" y="22560"/>
                    <a:pt x="158077" y="23452"/>
                    <a:pt x="161591" y="24495"/>
                  </a:cubicBezTo>
                  <a:cubicBezTo>
                    <a:pt x="165105" y="25538"/>
                    <a:pt x="168560" y="26786"/>
                    <a:pt x="171982" y="28170"/>
                  </a:cubicBezTo>
                  <a:cubicBezTo>
                    <a:pt x="175405" y="29554"/>
                    <a:pt x="178775" y="31113"/>
                    <a:pt x="182127" y="32798"/>
                  </a:cubicBezTo>
                  <a:cubicBezTo>
                    <a:pt x="185480" y="34484"/>
                    <a:pt x="188792" y="36323"/>
                    <a:pt x="192098" y="38283"/>
                  </a:cubicBezTo>
                  <a:cubicBezTo>
                    <a:pt x="195404" y="40244"/>
                    <a:pt x="198682" y="42343"/>
                    <a:pt x="201963" y="44560"/>
                  </a:cubicBezTo>
                  <a:cubicBezTo>
                    <a:pt x="205244" y="46777"/>
                    <a:pt x="208509" y="49125"/>
                    <a:pt x="211783" y="51586"/>
                  </a:cubicBezTo>
                  <a:cubicBezTo>
                    <a:pt x="215057" y="54047"/>
                    <a:pt x="218325" y="56632"/>
                    <a:pt x="221607" y="59329"/>
                  </a:cubicBezTo>
                  <a:cubicBezTo>
                    <a:pt x="224888" y="62025"/>
                    <a:pt x="228172" y="64840"/>
                    <a:pt x="231472" y="67764"/>
                  </a:cubicBezTo>
                  <a:cubicBezTo>
                    <a:pt x="234772" y="70688"/>
                    <a:pt x="238225" y="73865"/>
                    <a:pt x="241408" y="76871"/>
                  </a:cubicBezTo>
                  <a:cubicBezTo>
                    <a:pt x="244591" y="79877"/>
                    <a:pt x="246555" y="82090"/>
                    <a:pt x="250569" y="85798"/>
                  </a:cubicBezTo>
                  <a:cubicBezTo>
                    <a:pt x="254583" y="89506"/>
                    <a:pt x="260460" y="94775"/>
                    <a:pt x="265492" y="99117"/>
                  </a:cubicBezTo>
                  <a:cubicBezTo>
                    <a:pt x="270525" y="103460"/>
                    <a:pt x="275619" y="107707"/>
                    <a:pt x="280766" y="111855"/>
                  </a:cubicBezTo>
                  <a:cubicBezTo>
                    <a:pt x="285912" y="116003"/>
                    <a:pt x="291118" y="120055"/>
                    <a:pt x="296373" y="124007"/>
                  </a:cubicBezTo>
                  <a:cubicBezTo>
                    <a:pt x="301627" y="127958"/>
                    <a:pt x="306937" y="131812"/>
                    <a:pt x="312292" y="135564"/>
                  </a:cubicBezTo>
                  <a:cubicBezTo>
                    <a:pt x="317648" y="139317"/>
                    <a:pt x="323055" y="142970"/>
                    <a:pt x="328505" y="146520"/>
                  </a:cubicBezTo>
                  <a:cubicBezTo>
                    <a:pt x="333954" y="150070"/>
                    <a:pt x="339452" y="153520"/>
                    <a:pt x="344988" y="156866"/>
                  </a:cubicBezTo>
                  <a:cubicBezTo>
                    <a:pt x="350525" y="160212"/>
                    <a:pt x="356107" y="163456"/>
                    <a:pt x="361723" y="166594"/>
                  </a:cubicBezTo>
                  <a:cubicBezTo>
                    <a:pt x="367340" y="169733"/>
                    <a:pt x="372998" y="172768"/>
                    <a:pt x="378688" y="175697"/>
                  </a:cubicBezTo>
                  <a:cubicBezTo>
                    <a:pt x="384378" y="178626"/>
                    <a:pt x="390106" y="181450"/>
                    <a:pt x="395862" y="184167"/>
                  </a:cubicBezTo>
                  <a:cubicBezTo>
                    <a:pt x="401618" y="186883"/>
                    <a:pt x="407409" y="189494"/>
                    <a:pt x="413225" y="191996"/>
                  </a:cubicBezTo>
                  <a:cubicBezTo>
                    <a:pt x="419040" y="194498"/>
                    <a:pt x="424887" y="196893"/>
                    <a:pt x="430755" y="199177"/>
                  </a:cubicBezTo>
                  <a:cubicBezTo>
                    <a:pt x="436623" y="201462"/>
                    <a:pt x="442518" y="203638"/>
                    <a:pt x="448432" y="205703"/>
                  </a:cubicBezTo>
                  <a:cubicBezTo>
                    <a:pt x="454345" y="207768"/>
                    <a:pt x="460283" y="209724"/>
                    <a:pt x="466234" y="211567"/>
                  </a:cubicBezTo>
                  <a:cubicBezTo>
                    <a:pt x="472186" y="213410"/>
                    <a:pt x="478159" y="215143"/>
                    <a:pt x="484142" y="216761"/>
                  </a:cubicBezTo>
                  <a:cubicBezTo>
                    <a:pt x="490126" y="218380"/>
                    <a:pt x="496127" y="219887"/>
                    <a:pt x="502135" y="221280"/>
                  </a:cubicBezTo>
                  <a:cubicBezTo>
                    <a:pt x="508143" y="222672"/>
                    <a:pt x="514165" y="223951"/>
                    <a:pt x="520191" y="225115"/>
                  </a:cubicBezTo>
                  <a:cubicBezTo>
                    <a:pt x="526217" y="226278"/>
                    <a:pt x="532254" y="227328"/>
                    <a:pt x="538291" y="228261"/>
                  </a:cubicBezTo>
                  <a:cubicBezTo>
                    <a:pt x="544329" y="229193"/>
                    <a:pt x="550373" y="230011"/>
                    <a:pt x="556415" y="230711"/>
                  </a:cubicBezTo>
                  <a:cubicBezTo>
                    <a:pt x="562457" y="231410"/>
                    <a:pt x="568503" y="231994"/>
                    <a:pt x="574542" y="232459"/>
                  </a:cubicBezTo>
                  <a:cubicBezTo>
                    <a:pt x="580582" y="232923"/>
                    <a:pt x="586622" y="233270"/>
                    <a:pt x="592654" y="233498"/>
                  </a:cubicBezTo>
                  <a:cubicBezTo>
                    <a:pt x="598685" y="233725"/>
                    <a:pt x="604713" y="233834"/>
                    <a:pt x="610729" y="233822"/>
                  </a:cubicBezTo>
                  <a:cubicBezTo>
                    <a:pt x="616745" y="233810"/>
                    <a:pt x="622756" y="233679"/>
                    <a:pt x="628750" y="233426"/>
                  </a:cubicBezTo>
                  <a:cubicBezTo>
                    <a:pt x="634745" y="233173"/>
                    <a:pt x="640663" y="232808"/>
                    <a:pt x="646698" y="232303"/>
                  </a:cubicBezTo>
                  <a:cubicBezTo>
                    <a:pt x="652734" y="231798"/>
                    <a:pt x="658086" y="231164"/>
                    <a:pt x="664962" y="230398"/>
                  </a:cubicBezTo>
                  <a:cubicBezTo>
                    <a:pt x="671839" y="229632"/>
                    <a:pt x="680394" y="228720"/>
                    <a:pt x="687955" y="227708"/>
                  </a:cubicBezTo>
                  <a:cubicBezTo>
                    <a:pt x="695517" y="226696"/>
                    <a:pt x="702921" y="225570"/>
                    <a:pt x="710333" y="224327"/>
                  </a:cubicBezTo>
                  <a:cubicBezTo>
                    <a:pt x="717746" y="223085"/>
                    <a:pt x="725113" y="221721"/>
                    <a:pt x="732432" y="220253"/>
                  </a:cubicBezTo>
                  <a:cubicBezTo>
                    <a:pt x="739750" y="218785"/>
                    <a:pt x="747021" y="217202"/>
                    <a:pt x="754243" y="215520"/>
                  </a:cubicBezTo>
                  <a:cubicBezTo>
                    <a:pt x="761464" y="213838"/>
                    <a:pt x="768637" y="212047"/>
                    <a:pt x="775759" y="210162"/>
                  </a:cubicBezTo>
                  <a:cubicBezTo>
                    <a:pt x="782881" y="208278"/>
                    <a:pt x="789954" y="206289"/>
                    <a:pt x="796973" y="204214"/>
                  </a:cubicBezTo>
                  <a:cubicBezTo>
                    <a:pt x="803993" y="202138"/>
                    <a:pt x="810962" y="199964"/>
                    <a:pt x="817877" y="197709"/>
                  </a:cubicBezTo>
                  <a:cubicBezTo>
                    <a:pt x="824792" y="195454"/>
                    <a:pt x="831655" y="193106"/>
                    <a:pt x="838462" y="190682"/>
                  </a:cubicBezTo>
                  <a:cubicBezTo>
                    <a:pt x="845269" y="188259"/>
                    <a:pt x="852023" y="185749"/>
                    <a:pt x="858719" y="183169"/>
                  </a:cubicBezTo>
                  <a:cubicBezTo>
                    <a:pt x="865415" y="180589"/>
                    <a:pt x="872057" y="177928"/>
                    <a:pt x="878639" y="175204"/>
                  </a:cubicBezTo>
                  <a:cubicBezTo>
                    <a:pt x="885222" y="172479"/>
                    <a:pt x="891748" y="169679"/>
                    <a:pt x="898213" y="166822"/>
                  </a:cubicBezTo>
                  <a:cubicBezTo>
                    <a:pt x="904679" y="163964"/>
                    <a:pt x="911087" y="161037"/>
                    <a:pt x="917433" y="158058"/>
                  </a:cubicBezTo>
                  <a:cubicBezTo>
                    <a:pt x="923778" y="155079"/>
                    <a:pt x="930065" y="152037"/>
                    <a:pt x="936287" y="148949"/>
                  </a:cubicBezTo>
                  <a:cubicBezTo>
                    <a:pt x="942510" y="145860"/>
                    <a:pt x="948672" y="142715"/>
                    <a:pt x="954768" y="139529"/>
                  </a:cubicBezTo>
                  <a:cubicBezTo>
                    <a:pt x="960865" y="136343"/>
                    <a:pt x="966899" y="133106"/>
                    <a:pt x="972866" y="129835"/>
                  </a:cubicBezTo>
                  <a:cubicBezTo>
                    <a:pt x="978833" y="126563"/>
                    <a:pt x="984736" y="123246"/>
                    <a:pt x="990570" y="119902"/>
                  </a:cubicBezTo>
                  <a:cubicBezTo>
                    <a:pt x="996405" y="116557"/>
                    <a:pt x="1002174" y="113173"/>
                    <a:pt x="1007873" y="109767"/>
                  </a:cubicBezTo>
                  <a:cubicBezTo>
                    <a:pt x="1013572" y="106361"/>
                    <a:pt x="1019204" y="102921"/>
                    <a:pt x="1024764" y="99465"/>
                  </a:cubicBezTo>
                  <a:cubicBezTo>
                    <a:pt x="1030325" y="96010"/>
                    <a:pt x="1035816" y="92527"/>
                    <a:pt x="1041235" y="89034"/>
                  </a:cubicBezTo>
                  <a:cubicBezTo>
                    <a:pt x="1046653" y="85542"/>
                    <a:pt x="1052001" y="82028"/>
                    <a:pt x="1057275" y="78510"/>
                  </a:cubicBezTo>
                  <a:cubicBezTo>
                    <a:pt x="1062548" y="74992"/>
                    <a:pt x="1067750" y="71459"/>
                    <a:pt x="1072876" y="67929"/>
                  </a:cubicBezTo>
                  <a:cubicBezTo>
                    <a:pt x="1078001" y="64398"/>
                    <a:pt x="1083054" y="60858"/>
                    <a:pt x="1088028" y="57327"/>
                  </a:cubicBezTo>
                  <a:cubicBezTo>
                    <a:pt x="1093003" y="53796"/>
                    <a:pt x="1097893" y="50268"/>
                    <a:pt x="1102724" y="46741"/>
                  </a:cubicBezTo>
                  <a:cubicBezTo>
                    <a:pt x="1107554" y="43214"/>
                    <a:pt x="1112585" y="39463"/>
                    <a:pt x="1117012" y="36163"/>
                  </a:cubicBezTo>
                  <a:cubicBezTo>
                    <a:pt x="1121439" y="32863"/>
                    <a:pt x="1125101" y="29876"/>
                    <a:pt x="1129286" y="26943"/>
                  </a:cubicBezTo>
                  <a:cubicBezTo>
                    <a:pt x="1133472" y="24010"/>
                    <a:pt x="1137872" y="21112"/>
                    <a:pt x="1142127" y="18563"/>
                  </a:cubicBezTo>
                  <a:cubicBezTo>
                    <a:pt x="1146382" y="16014"/>
                    <a:pt x="1150592" y="13703"/>
                    <a:pt x="1154816" y="11648"/>
                  </a:cubicBezTo>
                  <a:cubicBezTo>
                    <a:pt x="1159040" y="9593"/>
                    <a:pt x="1163238" y="7771"/>
                    <a:pt x="1167472" y="6231"/>
                  </a:cubicBezTo>
                  <a:cubicBezTo>
                    <a:pt x="1171705" y="4692"/>
                    <a:pt x="1175940" y="3387"/>
                    <a:pt x="1180218" y="2411"/>
                  </a:cubicBezTo>
                  <a:cubicBezTo>
                    <a:pt x="1184495" y="1434"/>
                    <a:pt x="1188809" y="710"/>
                    <a:pt x="1193135" y="374"/>
                  </a:cubicBezTo>
                  <a:cubicBezTo>
                    <a:pt x="1197460" y="38"/>
                    <a:pt x="1201853" y="0"/>
                    <a:pt x="1206171" y="395"/>
                  </a:cubicBezTo>
                  <a:cubicBezTo>
                    <a:pt x="1210490" y="790"/>
                    <a:pt x="1214868" y="1558"/>
                    <a:pt x="1219044" y="2745"/>
                  </a:cubicBezTo>
                  <a:cubicBezTo>
                    <a:pt x="1223221" y="3932"/>
                    <a:pt x="1227378" y="5560"/>
                    <a:pt x="1231230" y="7516"/>
                  </a:cubicBezTo>
                  <a:cubicBezTo>
                    <a:pt x="1235082" y="9473"/>
                    <a:pt x="1238784" y="11874"/>
                    <a:pt x="1242154" y="14486"/>
                  </a:cubicBezTo>
                  <a:cubicBezTo>
                    <a:pt x="1245524" y="17097"/>
                    <a:pt x="1248632" y="20077"/>
                    <a:pt x="1251450" y="23185"/>
                  </a:cubicBezTo>
                  <a:cubicBezTo>
                    <a:pt x="1254268" y="26292"/>
                    <a:pt x="1256780" y="29663"/>
                    <a:pt x="1259061" y="33129"/>
                  </a:cubicBezTo>
                  <a:cubicBezTo>
                    <a:pt x="1261343" y="36596"/>
                    <a:pt x="1263333" y="40242"/>
                    <a:pt x="1265140" y="43981"/>
                  </a:cubicBezTo>
                  <a:cubicBezTo>
                    <a:pt x="1266947" y="47721"/>
                    <a:pt x="1268502" y="51593"/>
                    <a:pt x="1269902" y="55567"/>
                  </a:cubicBezTo>
                  <a:cubicBezTo>
                    <a:pt x="1271302" y="59542"/>
                    <a:pt x="1272491" y="63629"/>
                    <a:pt x="1273541" y="67827"/>
                  </a:cubicBezTo>
                  <a:cubicBezTo>
                    <a:pt x="1274592" y="72025"/>
                    <a:pt x="1275463" y="76332"/>
                    <a:pt x="1276204" y="80754"/>
                  </a:cubicBezTo>
                  <a:cubicBezTo>
                    <a:pt x="1276945" y="85176"/>
                    <a:pt x="1277530" y="89710"/>
                    <a:pt x="1277990" y="94361"/>
                  </a:cubicBezTo>
                  <a:cubicBezTo>
                    <a:pt x="1278450" y="99013"/>
                    <a:pt x="1278768" y="103779"/>
                    <a:pt x="1278966" y="108663"/>
                  </a:cubicBezTo>
                  <a:cubicBezTo>
                    <a:pt x="1279163" y="113548"/>
                    <a:pt x="1279228" y="118550"/>
                    <a:pt x="1279173" y="123669"/>
                  </a:cubicBezTo>
                  <a:cubicBezTo>
                    <a:pt x="1279119" y="128789"/>
                    <a:pt x="1278938" y="134027"/>
                    <a:pt x="1278639" y="139381"/>
                  </a:cubicBezTo>
                  <a:cubicBezTo>
                    <a:pt x="1278341" y="144735"/>
                    <a:pt x="1277919" y="150207"/>
                    <a:pt x="1277380" y="155793"/>
                  </a:cubicBezTo>
                  <a:cubicBezTo>
                    <a:pt x="1276841" y="161378"/>
                    <a:pt x="1276182" y="167081"/>
                    <a:pt x="1275406" y="172893"/>
                  </a:cubicBezTo>
                  <a:cubicBezTo>
                    <a:pt x="1274629" y="178706"/>
                    <a:pt x="1273681" y="184948"/>
                    <a:pt x="1272720" y="190666"/>
                  </a:cubicBezTo>
                  <a:cubicBezTo>
                    <a:pt x="1271759" y="196385"/>
                    <a:pt x="1270502" y="200836"/>
                    <a:pt x="1269641" y="207204"/>
                  </a:cubicBezTo>
                  <a:cubicBezTo>
                    <a:pt x="1268781" y="213572"/>
                    <a:pt x="1268223" y="221376"/>
                    <a:pt x="1267557" y="228874"/>
                  </a:cubicBezTo>
                  <a:cubicBezTo>
                    <a:pt x="1266890" y="236372"/>
                    <a:pt x="1266236" y="244300"/>
                    <a:pt x="1265642" y="252191"/>
                  </a:cubicBezTo>
                  <a:cubicBezTo>
                    <a:pt x="1265048" y="260082"/>
                    <a:pt x="1264500" y="268103"/>
                    <a:pt x="1263992" y="276220"/>
                  </a:cubicBezTo>
                  <a:cubicBezTo>
                    <a:pt x="1263484" y="284337"/>
                    <a:pt x="1263021" y="292573"/>
                    <a:pt x="1262596" y="300894"/>
                  </a:cubicBezTo>
                  <a:cubicBezTo>
                    <a:pt x="1262171" y="309215"/>
                    <a:pt x="1261788" y="317643"/>
                    <a:pt x="1261442" y="326145"/>
                  </a:cubicBezTo>
                  <a:cubicBezTo>
                    <a:pt x="1261096" y="334648"/>
                    <a:pt x="1260791" y="343246"/>
                    <a:pt x="1260520" y="351908"/>
                  </a:cubicBezTo>
                  <a:cubicBezTo>
                    <a:pt x="1260250" y="360571"/>
                    <a:pt x="1260018" y="369318"/>
                    <a:pt x="1259818" y="378118"/>
                  </a:cubicBezTo>
                  <a:cubicBezTo>
                    <a:pt x="1259619" y="386919"/>
                    <a:pt x="1259456" y="395793"/>
                    <a:pt x="1259324" y="404710"/>
                  </a:cubicBezTo>
                  <a:cubicBezTo>
                    <a:pt x="1259193" y="413627"/>
                    <a:pt x="1259096" y="422607"/>
                    <a:pt x="1259027" y="431619"/>
                  </a:cubicBezTo>
                  <a:cubicBezTo>
                    <a:pt x="1258959" y="440631"/>
                    <a:pt x="1258923" y="449696"/>
                    <a:pt x="1258914" y="458782"/>
                  </a:cubicBezTo>
                  <a:cubicBezTo>
                    <a:pt x="1258905" y="467868"/>
                    <a:pt x="1258927" y="476996"/>
                    <a:pt x="1258974" y="486134"/>
                  </a:cubicBezTo>
                  <a:cubicBezTo>
                    <a:pt x="1259020" y="495273"/>
                    <a:pt x="1259096" y="504443"/>
                    <a:pt x="1259194" y="513613"/>
                  </a:cubicBezTo>
                  <a:cubicBezTo>
                    <a:pt x="1259292" y="522783"/>
                    <a:pt x="1259416" y="531974"/>
                    <a:pt x="1259562" y="541154"/>
                  </a:cubicBezTo>
                  <a:cubicBezTo>
                    <a:pt x="1259707" y="550335"/>
                    <a:pt x="1259877" y="559526"/>
                    <a:pt x="1260066" y="568696"/>
                  </a:cubicBezTo>
                  <a:cubicBezTo>
                    <a:pt x="1260254" y="577866"/>
                    <a:pt x="1260465" y="587036"/>
                    <a:pt x="1260693" y="596174"/>
                  </a:cubicBezTo>
                  <a:cubicBezTo>
                    <a:pt x="1260921" y="605313"/>
                    <a:pt x="1261169" y="614441"/>
                    <a:pt x="1261432" y="623527"/>
                  </a:cubicBezTo>
                  <a:cubicBezTo>
                    <a:pt x="1261695" y="632613"/>
                    <a:pt x="1261976" y="641679"/>
                    <a:pt x="1262270" y="650692"/>
                  </a:cubicBezTo>
                  <a:cubicBezTo>
                    <a:pt x="1262564" y="659705"/>
                    <a:pt x="1262874" y="668686"/>
                    <a:pt x="1263194" y="677605"/>
                  </a:cubicBezTo>
                  <a:cubicBezTo>
                    <a:pt x="1263515" y="686524"/>
                    <a:pt x="1263850" y="695401"/>
                    <a:pt x="1264193" y="704205"/>
                  </a:cubicBezTo>
                  <a:cubicBezTo>
                    <a:pt x="1264537" y="713009"/>
                    <a:pt x="1264893" y="721761"/>
                    <a:pt x="1265255" y="730430"/>
                  </a:cubicBezTo>
                  <a:cubicBezTo>
                    <a:pt x="1265617" y="739098"/>
                    <a:pt x="1265989" y="747704"/>
                    <a:pt x="1266366" y="756216"/>
                  </a:cubicBezTo>
                  <a:cubicBezTo>
                    <a:pt x="1266742" y="764729"/>
                    <a:pt x="1267127" y="773168"/>
                    <a:pt x="1267514" y="781503"/>
                  </a:cubicBezTo>
                  <a:cubicBezTo>
                    <a:pt x="1267901" y="789838"/>
                    <a:pt x="1268299" y="798175"/>
                    <a:pt x="1268687" y="806228"/>
                  </a:cubicBezTo>
                  <a:cubicBezTo>
                    <a:pt x="1269076" y="814281"/>
                    <a:pt x="1269343" y="822339"/>
                    <a:pt x="1269844" y="829824"/>
                  </a:cubicBezTo>
                  <a:cubicBezTo>
                    <a:pt x="1270345" y="837308"/>
                    <a:pt x="1271246" y="843888"/>
                    <a:pt x="1271692" y="851136"/>
                  </a:cubicBezTo>
                  <a:cubicBezTo>
                    <a:pt x="1272139" y="858384"/>
                    <a:pt x="1272432" y="866000"/>
                    <a:pt x="1272522" y="873313"/>
                  </a:cubicBezTo>
                  <a:cubicBezTo>
                    <a:pt x="1272612" y="880626"/>
                    <a:pt x="1272512" y="887862"/>
                    <a:pt x="1272232" y="895013"/>
                  </a:cubicBezTo>
                  <a:cubicBezTo>
                    <a:pt x="1271952" y="902164"/>
                    <a:pt x="1271486" y="909235"/>
                    <a:pt x="1270843" y="916218"/>
                  </a:cubicBezTo>
                  <a:cubicBezTo>
                    <a:pt x="1270199" y="923200"/>
                    <a:pt x="1269372" y="930100"/>
                    <a:pt x="1268372" y="936907"/>
                  </a:cubicBezTo>
                  <a:cubicBezTo>
                    <a:pt x="1267371" y="943714"/>
                    <a:pt x="1266190" y="950435"/>
                    <a:pt x="1264839" y="957059"/>
                  </a:cubicBezTo>
                  <a:cubicBezTo>
                    <a:pt x="1263488" y="963684"/>
                    <a:pt x="1261960" y="970219"/>
                    <a:pt x="1260266" y="976654"/>
                  </a:cubicBezTo>
                  <a:cubicBezTo>
                    <a:pt x="1258572" y="983088"/>
                    <a:pt x="1256704" y="989430"/>
                    <a:pt x="1254675" y="995667"/>
                  </a:cubicBezTo>
                  <a:cubicBezTo>
                    <a:pt x="1252645" y="1001904"/>
                    <a:pt x="1250446" y="1008044"/>
                    <a:pt x="1248089" y="1014076"/>
                  </a:cubicBezTo>
                  <a:cubicBezTo>
                    <a:pt x="1245731" y="1020107"/>
                    <a:pt x="1243208" y="1026038"/>
                    <a:pt x="1240532" y="1031856"/>
                  </a:cubicBezTo>
                  <a:cubicBezTo>
                    <a:pt x="1237857" y="1037674"/>
                    <a:pt x="1235019" y="1043388"/>
                    <a:pt x="1232033" y="1048985"/>
                  </a:cubicBezTo>
                  <a:cubicBezTo>
                    <a:pt x="1229048" y="1054582"/>
                    <a:pt x="1225905" y="1060070"/>
                    <a:pt x="1222619" y="1065438"/>
                  </a:cubicBezTo>
                  <a:cubicBezTo>
                    <a:pt x="1219333" y="1070806"/>
                    <a:pt x="1215895" y="1076062"/>
                    <a:pt x="1212320" y="1081194"/>
                  </a:cubicBezTo>
                  <a:cubicBezTo>
                    <a:pt x="1208744" y="1086326"/>
                    <a:pt x="1205021" y="1091341"/>
                    <a:pt x="1201166" y="1096229"/>
                  </a:cubicBezTo>
                  <a:cubicBezTo>
                    <a:pt x="1197311" y="1101118"/>
                    <a:pt x="1193314" y="1105886"/>
                    <a:pt x="1189190" y="1110524"/>
                  </a:cubicBezTo>
                  <a:cubicBezTo>
                    <a:pt x="1185067" y="1115163"/>
                    <a:pt x="1180806" y="1119677"/>
                    <a:pt x="1176425" y="1124059"/>
                  </a:cubicBezTo>
                  <a:cubicBezTo>
                    <a:pt x="1172044" y="1128441"/>
                    <a:pt x="1167531" y="1132697"/>
                    <a:pt x="1162904" y="1136817"/>
                  </a:cubicBezTo>
                  <a:cubicBezTo>
                    <a:pt x="1158276" y="1140936"/>
                    <a:pt x="1153523" y="1144927"/>
                    <a:pt x="1148660" y="1148779"/>
                  </a:cubicBezTo>
                  <a:cubicBezTo>
                    <a:pt x="1143798" y="1152632"/>
                    <a:pt x="1138815" y="1156351"/>
                    <a:pt x="1133728" y="1159932"/>
                  </a:cubicBezTo>
                  <a:cubicBezTo>
                    <a:pt x="1128642" y="1163512"/>
                    <a:pt x="1123441" y="1166957"/>
                    <a:pt x="1118141" y="1170260"/>
                  </a:cubicBezTo>
                  <a:cubicBezTo>
                    <a:pt x="1112842" y="1173564"/>
                    <a:pt x="1107434" y="1176730"/>
                    <a:pt x="1101932" y="1179753"/>
                  </a:cubicBezTo>
                  <a:cubicBezTo>
                    <a:pt x="1096431" y="1182775"/>
                    <a:pt x="1090827" y="1185658"/>
                    <a:pt x="1085134" y="1188396"/>
                  </a:cubicBezTo>
                  <a:cubicBezTo>
                    <a:pt x="1079442" y="1191134"/>
                    <a:pt x="1073690" y="1193717"/>
                    <a:pt x="1067779" y="1196180"/>
                  </a:cubicBezTo>
                  <a:cubicBezTo>
                    <a:pt x="1061867" y="1198644"/>
                    <a:pt x="1055832" y="1201037"/>
                    <a:pt x="1049664" y="1203177"/>
                  </a:cubicBezTo>
                  <a:cubicBezTo>
                    <a:pt x="1043496" y="1205317"/>
                    <a:pt x="1037117" y="1207342"/>
                    <a:pt x="1030771" y="1209022"/>
                  </a:cubicBezTo>
                  <a:cubicBezTo>
                    <a:pt x="1024425" y="1210702"/>
                    <a:pt x="1017974" y="1212108"/>
                    <a:pt x="1011588" y="1213259"/>
                  </a:cubicBezTo>
                  <a:cubicBezTo>
                    <a:pt x="1005203" y="1214410"/>
                    <a:pt x="998816" y="1215275"/>
                    <a:pt x="992460" y="1215929"/>
                  </a:cubicBezTo>
                  <a:cubicBezTo>
                    <a:pt x="986104" y="1216583"/>
                    <a:pt x="979759" y="1216974"/>
                    <a:pt x="973451" y="1217181"/>
                  </a:cubicBezTo>
                  <a:cubicBezTo>
                    <a:pt x="967142" y="1217387"/>
                    <a:pt x="960856" y="1217358"/>
                    <a:pt x="954609" y="1217169"/>
                  </a:cubicBezTo>
                  <a:cubicBezTo>
                    <a:pt x="948361" y="1216980"/>
                    <a:pt x="942144" y="1216581"/>
                    <a:pt x="935967" y="1216048"/>
                  </a:cubicBezTo>
                  <a:cubicBezTo>
                    <a:pt x="929789" y="1215515"/>
                    <a:pt x="923647" y="1214798"/>
                    <a:pt x="917546" y="1213971"/>
                  </a:cubicBezTo>
                  <a:cubicBezTo>
                    <a:pt x="911445" y="1213143"/>
                    <a:pt x="905381" y="1212157"/>
                    <a:pt x="899360" y="1211083"/>
                  </a:cubicBezTo>
                  <a:cubicBezTo>
                    <a:pt x="893338" y="1210009"/>
                    <a:pt x="887356" y="1208801"/>
                    <a:pt x="881416" y="1207527"/>
                  </a:cubicBezTo>
                  <a:cubicBezTo>
                    <a:pt x="875477" y="1206252"/>
                    <a:pt x="869578" y="1204867"/>
                    <a:pt x="863723" y="1203437"/>
                  </a:cubicBezTo>
                  <a:cubicBezTo>
                    <a:pt x="857868" y="1202006"/>
                    <a:pt x="852055" y="1200487"/>
                    <a:pt x="846287" y="1198943"/>
                  </a:cubicBezTo>
                  <a:cubicBezTo>
                    <a:pt x="840520" y="1197400"/>
                    <a:pt x="834795" y="1195789"/>
                    <a:pt x="829117" y="1194174"/>
                  </a:cubicBezTo>
                  <a:cubicBezTo>
                    <a:pt x="823440" y="1192559"/>
                    <a:pt x="817807" y="1190898"/>
                    <a:pt x="812225" y="1189252"/>
                  </a:cubicBezTo>
                  <a:cubicBezTo>
                    <a:pt x="806643" y="1187606"/>
                    <a:pt x="801107" y="1185934"/>
                    <a:pt x="795626" y="1184297"/>
                  </a:cubicBezTo>
                  <a:cubicBezTo>
                    <a:pt x="790144" y="1182660"/>
                    <a:pt x="784711" y="1181018"/>
                    <a:pt x="779337" y="1179429"/>
                  </a:cubicBezTo>
                  <a:cubicBezTo>
                    <a:pt x="773963" y="1177840"/>
                    <a:pt x="768640" y="1176265"/>
                    <a:pt x="763382" y="1174763"/>
                  </a:cubicBezTo>
                  <a:cubicBezTo>
                    <a:pt x="758124" y="1173260"/>
                    <a:pt x="752921" y="1171791"/>
                    <a:pt x="747789" y="1170412"/>
                  </a:cubicBezTo>
                  <a:cubicBezTo>
                    <a:pt x="742656" y="1169032"/>
                    <a:pt x="737584" y="1167706"/>
                    <a:pt x="732588" y="1166486"/>
                  </a:cubicBezTo>
                  <a:cubicBezTo>
                    <a:pt x="727593" y="1165265"/>
                    <a:pt x="722663" y="1164117"/>
                    <a:pt x="717817" y="1163089"/>
                  </a:cubicBezTo>
                  <a:cubicBezTo>
                    <a:pt x="712972" y="1162062"/>
                    <a:pt x="708198" y="1161124"/>
                    <a:pt x="703516" y="1160320"/>
                  </a:cubicBezTo>
                  <a:cubicBezTo>
                    <a:pt x="698834" y="1159517"/>
                    <a:pt x="694231" y="1158820"/>
                    <a:pt x="689726" y="1158268"/>
                  </a:cubicBezTo>
                  <a:cubicBezTo>
                    <a:pt x="685222" y="1157716"/>
                    <a:pt x="680804" y="1157286"/>
                    <a:pt x="676489" y="1157010"/>
                  </a:cubicBezTo>
                  <a:cubicBezTo>
                    <a:pt x="672174" y="1156733"/>
                    <a:pt x="667980" y="1156589"/>
                    <a:pt x="663836" y="1156609"/>
                  </a:cubicBezTo>
                  <a:cubicBezTo>
                    <a:pt x="659692" y="1156629"/>
                    <a:pt x="655613" y="1156813"/>
                    <a:pt x="651624" y="1157130"/>
                  </a:cubicBezTo>
                  <a:cubicBezTo>
                    <a:pt x="647636" y="1157447"/>
                    <a:pt x="643676" y="1157934"/>
                    <a:pt x="639904" y="1158510"/>
                  </a:cubicBezTo>
                  <a:cubicBezTo>
                    <a:pt x="636132" y="1159086"/>
                    <a:pt x="632477" y="1159790"/>
                    <a:pt x="628991" y="1160587"/>
                  </a:cubicBezTo>
                  <a:cubicBezTo>
                    <a:pt x="625505" y="1161384"/>
                    <a:pt x="622173" y="1162295"/>
                    <a:pt x="618988" y="1163290"/>
                  </a:cubicBezTo>
                  <a:cubicBezTo>
                    <a:pt x="615802" y="1164285"/>
                    <a:pt x="612770" y="1165385"/>
                    <a:pt x="609879" y="1166558"/>
                  </a:cubicBezTo>
                  <a:cubicBezTo>
                    <a:pt x="606987" y="1167732"/>
                    <a:pt x="604247" y="1168999"/>
                    <a:pt x="601640" y="1170334"/>
                  </a:cubicBezTo>
                  <a:cubicBezTo>
                    <a:pt x="599033" y="1171668"/>
                    <a:pt x="596573" y="1173085"/>
                    <a:pt x="594238" y="1174565"/>
                  </a:cubicBezTo>
                  <a:cubicBezTo>
                    <a:pt x="591903" y="1176044"/>
                    <a:pt x="589708" y="1177597"/>
                    <a:pt x="587629" y="1179211"/>
                  </a:cubicBezTo>
                  <a:cubicBezTo>
                    <a:pt x="585551" y="1180824"/>
                    <a:pt x="583604" y="1182504"/>
                    <a:pt x="581766" y="1184244"/>
                  </a:cubicBezTo>
                  <a:cubicBezTo>
                    <a:pt x="579928" y="1185985"/>
                    <a:pt x="578214" y="1187788"/>
                    <a:pt x="576601" y="1189655"/>
                  </a:cubicBezTo>
                  <a:cubicBezTo>
                    <a:pt x="574988" y="1191521"/>
                    <a:pt x="573490" y="1193449"/>
                    <a:pt x="572090" y="1195445"/>
                  </a:cubicBezTo>
                  <a:cubicBezTo>
                    <a:pt x="570690" y="1197441"/>
                    <a:pt x="569397" y="1199499"/>
                    <a:pt x="568201" y="1201631"/>
                  </a:cubicBezTo>
                  <a:cubicBezTo>
                    <a:pt x="567006" y="1203763"/>
                    <a:pt x="565911" y="1205961"/>
                    <a:pt x="564916" y="1208237"/>
                  </a:cubicBezTo>
                  <a:cubicBezTo>
                    <a:pt x="563921" y="1210513"/>
                    <a:pt x="563025" y="1212860"/>
                    <a:pt x="562232" y="1215288"/>
                  </a:cubicBezTo>
                  <a:cubicBezTo>
                    <a:pt x="561440" y="1217717"/>
                    <a:pt x="560746" y="1220221"/>
                    <a:pt x="560162" y="1222807"/>
                  </a:cubicBezTo>
                  <a:cubicBezTo>
                    <a:pt x="559579" y="1225393"/>
                    <a:pt x="559097" y="1228059"/>
                    <a:pt x="558732" y="1230807"/>
                  </a:cubicBezTo>
                  <a:cubicBezTo>
                    <a:pt x="558367" y="1233554"/>
                    <a:pt x="558107" y="1236383"/>
                    <a:pt x="557972" y="1239291"/>
                  </a:cubicBezTo>
                  <a:cubicBezTo>
                    <a:pt x="557838" y="1242199"/>
                    <a:pt x="557815" y="1245190"/>
                    <a:pt x="557923" y="1248254"/>
                  </a:cubicBezTo>
                  <a:cubicBezTo>
                    <a:pt x="558031" y="1251319"/>
                    <a:pt x="558257" y="1254465"/>
                    <a:pt x="558621" y="1257680"/>
                  </a:cubicBezTo>
                  <a:cubicBezTo>
                    <a:pt x="558985" y="1260894"/>
                    <a:pt x="559474" y="1264187"/>
                    <a:pt x="560105" y="1267543"/>
                  </a:cubicBezTo>
                  <a:cubicBezTo>
                    <a:pt x="560737" y="1270898"/>
                    <a:pt x="561500" y="1274328"/>
                    <a:pt x="562410" y="1277813"/>
                  </a:cubicBezTo>
                  <a:cubicBezTo>
                    <a:pt x="563321" y="1281298"/>
                    <a:pt x="564369" y="1284852"/>
                    <a:pt x="565568" y="1288456"/>
                  </a:cubicBezTo>
                  <a:cubicBezTo>
                    <a:pt x="566768" y="1292059"/>
                    <a:pt x="568110" y="1295724"/>
                    <a:pt x="569608" y="1299432"/>
                  </a:cubicBezTo>
                  <a:cubicBezTo>
                    <a:pt x="571105" y="1303140"/>
                    <a:pt x="572567" y="1306533"/>
                    <a:pt x="574554" y="1310703"/>
                  </a:cubicBezTo>
                  <a:cubicBezTo>
                    <a:pt x="576541" y="1314873"/>
                    <a:pt x="579463" y="1319752"/>
                    <a:pt x="581529" y="1324455"/>
                  </a:cubicBezTo>
                  <a:cubicBezTo>
                    <a:pt x="583594" y="1329157"/>
                    <a:pt x="585321" y="1334231"/>
                    <a:pt x="586947" y="1338919"/>
                  </a:cubicBezTo>
                  <a:cubicBezTo>
                    <a:pt x="588572" y="1343607"/>
                    <a:pt x="589938" y="1347999"/>
                    <a:pt x="591282" y="1352585"/>
                  </a:cubicBezTo>
                  <a:cubicBezTo>
                    <a:pt x="592625" y="1357170"/>
                    <a:pt x="593858" y="1361788"/>
                    <a:pt x="595007" y="1366430"/>
                  </a:cubicBezTo>
                  <a:cubicBezTo>
                    <a:pt x="596155" y="1371072"/>
                    <a:pt x="597202" y="1375743"/>
                    <a:pt x="598172" y="1380436"/>
                  </a:cubicBezTo>
                  <a:cubicBezTo>
                    <a:pt x="599143" y="1385129"/>
                    <a:pt x="600020" y="1389848"/>
                    <a:pt x="600829" y="1394587"/>
                  </a:cubicBezTo>
                  <a:cubicBezTo>
                    <a:pt x="601638" y="1399326"/>
                    <a:pt x="602362" y="1404089"/>
                    <a:pt x="603025" y="1408870"/>
                  </a:cubicBezTo>
                  <a:cubicBezTo>
                    <a:pt x="603688" y="1413651"/>
                    <a:pt x="604275" y="1418454"/>
                    <a:pt x="604808" y="1423274"/>
                  </a:cubicBezTo>
                  <a:cubicBezTo>
                    <a:pt x="605341" y="1428093"/>
                    <a:pt x="605806" y="1432932"/>
                    <a:pt x="606225" y="1437787"/>
                  </a:cubicBezTo>
                  <a:cubicBezTo>
                    <a:pt x="606644" y="1442642"/>
                    <a:pt x="607002" y="1447515"/>
                    <a:pt x="607320" y="1452402"/>
                  </a:cubicBezTo>
                  <a:cubicBezTo>
                    <a:pt x="607639" y="1457289"/>
                    <a:pt x="607905" y="1462192"/>
                    <a:pt x="608138" y="1467109"/>
                  </a:cubicBezTo>
                  <a:cubicBezTo>
                    <a:pt x="608371" y="1472025"/>
                    <a:pt x="608558" y="1476956"/>
                    <a:pt x="608720" y="1481899"/>
                  </a:cubicBezTo>
                  <a:cubicBezTo>
                    <a:pt x="608882" y="1486841"/>
                    <a:pt x="609004" y="1491798"/>
                    <a:pt x="609108" y="1496763"/>
                  </a:cubicBezTo>
                  <a:cubicBezTo>
                    <a:pt x="609211" y="1501729"/>
                    <a:pt x="609283" y="1506707"/>
                    <a:pt x="609342" y="1511693"/>
                  </a:cubicBezTo>
                  <a:cubicBezTo>
                    <a:pt x="609400" y="1516679"/>
                    <a:pt x="609434" y="1521676"/>
                    <a:pt x="609461" y="1526679"/>
                  </a:cubicBezTo>
                  <a:cubicBezTo>
                    <a:pt x="609488" y="1531682"/>
                    <a:pt x="609497" y="1536694"/>
                    <a:pt x="609505" y="1541710"/>
                  </a:cubicBezTo>
                  <a:cubicBezTo>
                    <a:pt x="609513" y="1546727"/>
                    <a:pt x="609509" y="1551751"/>
                    <a:pt x="609511" y="1556777"/>
                  </a:cubicBezTo>
                  <a:cubicBezTo>
                    <a:pt x="609513" y="1561804"/>
                    <a:pt x="609509" y="1566836"/>
                    <a:pt x="609517" y="1571869"/>
                  </a:cubicBezTo>
                  <a:cubicBezTo>
                    <a:pt x="609525" y="1576902"/>
                    <a:pt x="609534" y="1581939"/>
                    <a:pt x="609560" y="1586975"/>
                  </a:cubicBezTo>
                  <a:cubicBezTo>
                    <a:pt x="609587" y="1592010"/>
                    <a:pt x="609620" y="1597048"/>
                    <a:pt x="609677" y="1602083"/>
                  </a:cubicBezTo>
                  <a:cubicBezTo>
                    <a:pt x="609734" y="1607117"/>
                    <a:pt x="609803" y="1612152"/>
                    <a:pt x="609902" y="1617181"/>
                  </a:cubicBezTo>
                  <a:cubicBezTo>
                    <a:pt x="610001" y="1622210"/>
                    <a:pt x="610119" y="1627238"/>
                    <a:pt x="610272" y="1632258"/>
                  </a:cubicBezTo>
                  <a:cubicBezTo>
                    <a:pt x="610425" y="1637278"/>
                    <a:pt x="610603" y="1642294"/>
                    <a:pt x="610822" y="1647300"/>
                  </a:cubicBezTo>
                  <a:cubicBezTo>
                    <a:pt x="611041" y="1652307"/>
                    <a:pt x="611286" y="1657260"/>
                    <a:pt x="611585" y="1662297"/>
                  </a:cubicBezTo>
                  <a:cubicBezTo>
                    <a:pt x="611885" y="1667333"/>
                    <a:pt x="612445" y="1674984"/>
                    <a:pt x="612617" y="1677521"/>
                  </a:cubicBezTo>
                </a:path>
              </a:pathLst>
            </a:custGeom>
            <a:noFill/>
            <a:ln w="10125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Integrated haustral crease 00 -1"/>
            <p:cNvSpPr/>
            <p:nvPr/>
          </p:nvSpPr>
          <p:spPr>
            <a:xfrm>
              <a:off x="141821" y="462640"/>
              <a:ext cx="25160" cy="8899"/>
            </a:xfrm>
            <a:custGeom>
              <a:avLst/>
              <a:gdLst/>
              <a:ahLst/>
              <a:cxnLst/>
              <a:rect l="0" t="0" r="r" b="b"/>
              <a:pathLst>
                <a:path w="59172" h="20928">
                  <a:moveTo>
                    <a:pt x="1059" y="20928"/>
                  </a:moveTo>
                  <a:cubicBezTo>
                    <a:pt x="0" y="0"/>
                    <a:pt x="34631" y="5878"/>
                    <a:pt x="59172" y="82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austral reflected rim 00 -1"/>
            <p:cNvSpPr/>
            <p:nvPr/>
          </p:nvSpPr>
          <p:spPr>
            <a:xfrm>
              <a:off x="139999" y="460817"/>
              <a:ext cx="25160" cy="8899"/>
            </a:xfrm>
            <a:custGeom>
              <a:avLst/>
              <a:gdLst/>
              <a:ahLst/>
              <a:cxnLst/>
              <a:rect l="0" t="0" r="r" b="b"/>
              <a:pathLst>
                <a:path w="59172" h="20928">
                  <a:moveTo>
                    <a:pt x="1059" y="20928"/>
                  </a:moveTo>
                  <a:cubicBezTo>
                    <a:pt x="0" y="0"/>
                    <a:pt x="34631" y="5878"/>
                    <a:pt x="59172" y="82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Integrated haustral crease 00 1"/>
            <p:cNvSpPr/>
            <p:nvPr/>
          </p:nvSpPr>
          <p:spPr>
            <a:xfrm>
              <a:off x="189632" y="458957"/>
              <a:ext cx="25446" cy="8899"/>
            </a:xfrm>
            <a:custGeom>
              <a:avLst/>
              <a:gdLst/>
              <a:ahLst/>
              <a:cxnLst/>
              <a:rect l="0" t="0" r="r" b="b"/>
              <a:pathLst>
                <a:path w="59846" h="20928">
                  <a:moveTo>
                    <a:pt x="59846" y="20928"/>
                  </a:moveTo>
                  <a:cubicBezTo>
                    <a:pt x="58787" y="0"/>
                    <a:pt x="24926" y="9343"/>
                    <a:pt x="0" y="678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austral reflected rim 00 1"/>
            <p:cNvSpPr/>
            <p:nvPr/>
          </p:nvSpPr>
          <p:spPr>
            <a:xfrm>
              <a:off x="187809" y="457135"/>
              <a:ext cx="25446" cy="8899"/>
            </a:xfrm>
            <a:custGeom>
              <a:avLst/>
              <a:gdLst/>
              <a:ahLst/>
              <a:cxnLst/>
              <a:rect l="0" t="0" r="r" b="b"/>
              <a:pathLst>
                <a:path w="59846" h="20928">
                  <a:moveTo>
                    <a:pt x="59846" y="20928"/>
                  </a:moveTo>
                  <a:cubicBezTo>
                    <a:pt x="58787" y="0"/>
                    <a:pt x="24926" y="9343"/>
                    <a:pt x="0" y="678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Integrated haustral crease 01 -1"/>
            <p:cNvSpPr/>
            <p:nvPr/>
          </p:nvSpPr>
          <p:spPr>
            <a:xfrm>
              <a:off x="142372" y="399567"/>
              <a:ext cx="25246" cy="8908"/>
            </a:xfrm>
            <a:custGeom>
              <a:avLst/>
              <a:gdLst/>
              <a:ahLst/>
              <a:cxnLst/>
              <a:rect l="0" t="0" r="r" b="b"/>
              <a:pathLst>
                <a:path w="59375" h="20951">
                  <a:moveTo>
                    <a:pt x="0" y="20951"/>
                  </a:moveTo>
                  <a:cubicBezTo>
                    <a:pt x="405" y="0"/>
                    <a:pt x="34541" y="8281"/>
                    <a:pt x="59375" y="495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austral reflected rim 01 -1"/>
            <p:cNvSpPr/>
            <p:nvPr/>
          </p:nvSpPr>
          <p:spPr>
            <a:xfrm>
              <a:off x="140550" y="397744"/>
              <a:ext cx="25246" cy="8908"/>
            </a:xfrm>
            <a:custGeom>
              <a:avLst/>
              <a:gdLst/>
              <a:ahLst/>
              <a:cxnLst/>
              <a:rect l="0" t="0" r="r" b="b"/>
              <a:pathLst>
                <a:path w="59375" h="20951">
                  <a:moveTo>
                    <a:pt x="0" y="20951"/>
                  </a:moveTo>
                  <a:cubicBezTo>
                    <a:pt x="405" y="0"/>
                    <a:pt x="34541" y="8281"/>
                    <a:pt x="59375" y="495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Integrated haustral crease 01 1"/>
            <p:cNvSpPr/>
            <p:nvPr/>
          </p:nvSpPr>
          <p:spPr>
            <a:xfrm>
              <a:off x="190294" y="400975"/>
              <a:ext cx="25137" cy="8908"/>
            </a:xfrm>
            <a:custGeom>
              <a:avLst/>
              <a:gdLst/>
              <a:ahLst/>
              <a:cxnLst/>
              <a:rect l="0" t="0" r="r" b="b"/>
              <a:pathLst>
                <a:path w="59118" h="20951">
                  <a:moveTo>
                    <a:pt x="58713" y="20951"/>
                  </a:moveTo>
                  <a:cubicBezTo>
                    <a:pt x="59118" y="0"/>
                    <a:pt x="24687" y="6956"/>
                    <a:pt x="0" y="266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austral reflected rim 01 1"/>
            <p:cNvSpPr/>
            <p:nvPr/>
          </p:nvSpPr>
          <p:spPr>
            <a:xfrm>
              <a:off x="188471" y="399153"/>
              <a:ext cx="25137" cy="8908"/>
            </a:xfrm>
            <a:custGeom>
              <a:avLst/>
              <a:gdLst/>
              <a:ahLst/>
              <a:cxnLst/>
              <a:rect l="0" t="0" r="r" b="b"/>
              <a:pathLst>
                <a:path w="59118" h="20951">
                  <a:moveTo>
                    <a:pt x="58713" y="20951"/>
                  </a:moveTo>
                  <a:cubicBezTo>
                    <a:pt x="59118" y="0"/>
                    <a:pt x="24687" y="6956"/>
                    <a:pt x="0" y="266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Integrated haustral crease 02 -1"/>
            <p:cNvSpPr/>
            <p:nvPr/>
          </p:nvSpPr>
          <p:spPr>
            <a:xfrm>
              <a:off x="140137" y="336514"/>
              <a:ext cx="25153" cy="9564"/>
            </a:xfrm>
            <a:custGeom>
              <a:avLst/>
              <a:gdLst/>
              <a:ahLst/>
              <a:cxnLst/>
              <a:rect l="0" t="0" r="r" b="b"/>
              <a:pathLst>
                <a:path w="59155" h="22493">
                  <a:moveTo>
                    <a:pt x="1923" y="22493"/>
                  </a:moveTo>
                  <a:cubicBezTo>
                    <a:pt x="0" y="1626"/>
                    <a:pt x="34845" y="6067"/>
                    <a:pt x="59155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austral reflected rim 02 -1"/>
            <p:cNvSpPr/>
            <p:nvPr/>
          </p:nvSpPr>
          <p:spPr>
            <a:xfrm>
              <a:off x="138314" y="334692"/>
              <a:ext cx="25153" cy="9564"/>
            </a:xfrm>
            <a:custGeom>
              <a:avLst/>
              <a:gdLst/>
              <a:ahLst/>
              <a:cxnLst/>
              <a:rect l="0" t="0" r="r" b="b"/>
              <a:pathLst>
                <a:path w="59155" h="22493">
                  <a:moveTo>
                    <a:pt x="1923" y="22493"/>
                  </a:moveTo>
                  <a:cubicBezTo>
                    <a:pt x="0" y="1626"/>
                    <a:pt x="34845" y="6067"/>
                    <a:pt x="59155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Integrated haustral crease 02 1"/>
            <p:cNvSpPr/>
            <p:nvPr/>
          </p:nvSpPr>
          <p:spPr>
            <a:xfrm>
              <a:off x="187874" y="330515"/>
              <a:ext cx="25673" cy="8873"/>
            </a:xfrm>
            <a:custGeom>
              <a:avLst/>
              <a:gdLst/>
              <a:ahLst/>
              <a:cxnLst/>
              <a:rect l="0" t="0" r="r" b="b"/>
              <a:pathLst>
                <a:path w="60379" h="20867">
                  <a:moveTo>
                    <a:pt x="60379" y="20867"/>
                  </a:moveTo>
                  <a:cubicBezTo>
                    <a:pt x="58456" y="0"/>
                    <a:pt x="25010" y="10735"/>
                    <a:pt x="0" y="9214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austral reflected rim 02 1"/>
            <p:cNvSpPr/>
            <p:nvPr/>
          </p:nvSpPr>
          <p:spPr>
            <a:xfrm>
              <a:off x="186051" y="328692"/>
              <a:ext cx="25673" cy="8873"/>
            </a:xfrm>
            <a:custGeom>
              <a:avLst/>
              <a:gdLst/>
              <a:ahLst/>
              <a:cxnLst/>
              <a:rect l="0" t="0" r="r" b="b"/>
              <a:pathLst>
                <a:path w="60379" h="20867">
                  <a:moveTo>
                    <a:pt x="60379" y="20867"/>
                  </a:moveTo>
                  <a:cubicBezTo>
                    <a:pt x="58456" y="0"/>
                    <a:pt x="25010" y="10735"/>
                    <a:pt x="0" y="9214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Integrated haustral crease 03 -1"/>
            <p:cNvSpPr/>
            <p:nvPr/>
          </p:nvSpPr>
          <p:spPr>
            <a:xfrm>
              <a:off x="137646" y="277205"/>
              <a:ext cx="25130" cy="8909"/>
            </a:xfrm>
            <a:custGeom>
              <a:avLst/>
              <a:gdLst/>
              <a:ahLst/>
              <a:cxnLst/>
              <a:rect l="0" t="0" r="r" b="b"/>
              <a:pathLst>
                <a:path w="59101" h="20953">
                  <a:moveTo>
                    <a:pt x="283" y="20953"/>
                  </a:moveTo>
                  <a:cubicBezTo>
                    <a:pt x="0" y="0"/>
                    <a:pt x="34390" y="7156"/>
                    <a:pt x="59101" y="301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austral reflected rim 03 -1"/>
            <p:cNvSpPr/>
            <p:nvPr/>
          </p:nvSpPr>
          <p:spPr>
            <a:xfrm>
              <a:off x="135824" y="275383"/>
              <a:ext cx="25130" cy="8909"/>
            </a:xfrm>
            <a:custGeom>
              <a:avLst/>
              <a:gdLst/>
              <a:ahLst/>
              <a:cxnLst/>
              <a:rect l="0" t="0" r="r" b="b"/>
              <a:pathLst>
                <a:path w="59101" h="20953">
                  <a:moveTo>
                    <a:pt x="283" y="20953"/>
                  </a:moveTo>
                  <a:cubicBezTo>
                    <a:pt x="0" y="0"/>
                    <a:pt x="34390" y="7156"/>
                    <a:pt x="59101" y="301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Integrated haustral crease 03 1"/>
            <p:cNvSpPr/>
            <p:nvPr/>
          </p:nvSpPr>
          <p:spPr>
            <a:xfrm>
              <a:off x="185454" y="276220"/>
              <a:ext cx="25206" cy="8909"/>
            </a:xfrm>
            <a:custGeom>
              <a:avLst/>
              <a:gdLst/>
              <a:ahLst/>
              <a:cxnLst/>
              <a:rect l="0" t="0" r="r" b="b"/>
              <a:pathLst>
                <a:path w="59281" h="20953">
                  <a:moveTo>
                    <a:pt x="59281" y="20953"/>
                  </a:moveTo>
                  <a:cubicBezTo>
                    <a:pt x="58998" y="0"/>
                    <a:pt x="24814" y="8083"/>
                    <a:pt x="0" y="460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austral reflected rim 03 1"/>
            <p:cNvSpPr/>
            <p:nvPr/>
          </p:nvSpPr>
          <p:spPr>
            <a:xfrm>
              <a:off x="183631" y="274397"/>
              <a:ext cx="25206" cy="8909"/>
            </a:xfrm>
            <a:custGeom>
              <a:avLst/>
              <a:gdLst/>
              <a:ahLst/>
              <a:cxnLst/>
              <a:rect l="0" t="0" r="r" b="b"/>
              <a:pathLst>
                <a:path w="59281" h="20953">
                  <a:moveTo>
                    <a:pt x="59281" y="20953"/>
                  </a:moveTo>
                  <a:cubicBezTo>
                    <a:pt x="58998" y="0"/>
                    <a:pt x="24814" y="8083"/>
                    <a:pt x="0" y="460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Integrated haustral crease 04 -1"/>
            <p:cNvSpPr/>
            <p:nvPr/>
          </p:nvSpPr>
          <p:spPr>
            <a:xfrm>
              <a:off x="140120" y="210424"/>
              <a:ext cx="25655" cy="8875"/>
            </a:xfrm>
            <a:custGeom>
              <a:avLst/>
              <a:gdLst/>
              <a:ahLst/>
              <a:cxnLst/>
              <a:rect l="0" t="0" r="r" b="b"/>
              <a:pathLst>
                <a:path w="60336" h="20873">
                  <a:moveTo>
                    <a:pt x="0" y="20873"/>
                  </a:moveTo>
                  <a:cubicBezTo>
                    <a:pt x="1847" y="0"/>
                    <a:pt x="35332" y="10612"/>
                    <a:pt x="60336" y="8999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austral reflected rim 04 -1"/>
            <p:cNvSpPr/>
            <p:nvPr/>
          </p:nvSpPr>
          <p:spPr>
            <a:xfrm>
              <a:off x="138297" y="208601"/>
              <a:ext cx="25655" cy="8875"/>
            </a:xfrm>
            <a:custGeom>
              <a:avLst/>
              <a:gdLst/>
              <a:ahLst/>
              <a:cxnLst/>
              <a:rect l="0" t="0" r="r" b="b"/>
              <a:pathLst>
                <a:path w="60336" h="20873">
                  <a:moveTo>
                    <a:pt x="0" y="20873"/>
                  </a:moveTo>
                  <a:cubicBezTo>
                    <a:pt x="1847" y="0"/>
                    <a:pt x="35332" y="10612"/>
                    <a:pt x="60336" y="8999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Integrated haustral crease 04 1"/>
            <p:cNvSpPr/>
            <p:nvPr/>
          </p:nvSpPr>
          <p:spPr>
            <a:xfrm>
              <a:off x="188366" y="216249"/>
              <a:ext cx="25155" cy="9475"/>
            </a:xfrm>
            <a:custGeom>
              <a:avLst/>
              <a:gdLst/>
              <a:ahLst/>
              <a:cxnLst/>
              <a:rect l="0" t="0" r="r" b="b"/>
              <a:pathLst>
                <a:path w="59161" h="22283">
                  <a:moveTo>
                    <a:pt x="57314" y="22283"/>
                  </a:moveTo>
                  <a:cubicBezTo>
                    <a:pt x="59161" y="1409"/>
                    <a:pt x="24333" y="5978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austral reflected rim 04 1"/>
            <p:cNvSpPr/>
            <p:nvPr/>
          </p:nvSpPr>
          <p:spPr>
            <a:xfrm>
              <a:off x="186544" y="214426"/>
              <a:ext cx="25155" cy="9475"/>
            </a:xfrm>
            <a:custGeom>
              <a:avLst/>
              <a:gdLst/>
              <a:ahLst/>
              <a:cxnLst/>
              <a:rect l="0" t="0" r="r" b="b"/>
              <a:pathLst>
                <a:path w="59161" h="22283">
                  <a:moveTo>
                    <a:pt x="57314" y="22283"/>
                  </a:moveTo>
                  <a:cubicBezTo>
                    <a:pt x="59161" y="1409"/>
                    <a:pt x="24333" y="5978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Integrated haustral crease 05 -1"/>
            <p:cNvSpPr/>
            <p:nvPr/>
          </p:nvSpPr>
          <p:spPr>
            <a:xfrm>
              <a:off x="149288" y="149921"/>
              <a:ext cx="26099" cy="8691"/>
            </a:xfrm>
            <a:custGeom>
              <a:avLst/>
              <a:gdLst/>
              <a:ahLst/>
              <a:cxnLst/>
              <a:rect l="0" t="0" r="r" b="b"/>
              <a:pathLst>
                <a:path w="61380" h="20441">
                  <a:moveTo>
                    <a:pt x="0" y="20441"/>
                  </a:moveTo>
                  <a:cubicBezTo>
                    <a:pt x="4613" y="0"/>
                    <a:pt x="36384" y="14981"/>
                    <a:pt x="61380" y="1671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austral reflected rim 05 -1"/>
            <p:cNvSpPr/>
            <p:nvPr/>
          </p:nvSpPr>
          <p:spPr>
            <a:xfrm>
              <a:off x="147466" y="148098"/>
              <a:ext cx="26099" cy="8691"/>
            </a:xfrm>
            <a:custGeom>
              <a:avLst/>
              <a:gdLst/>
              <a:ahLst/>
              <a:cxnLst/>
              <a:rect l="0" t="0" r="r" b="b"/>
              <a:pathLst>
                <a:path w="61380" h="20441">
                  <a:moveTo>
                    <a:pt x="0" y="20441"/>
                  </a:moveTo>
                  <a:cubicBezTo>
                    <a:pt x="4613" y="0"/>
                    <a:pt x="36384" y="14981"/>
                    <a:pt x="61380" y="1671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Integrated haustral crease 05 1"/>
            <p:cNvSpPr/>
            <p:nvPr/>
          </p:nvSpPr>
          <p:spPr>
            <a:xfrm>
              <a:off x="197511" y="162020"/>
              <a:ext cx="24851" cy="12638"/>
            </a:xfrm>
            <a:custGeom>
              <a:avLst/>
              <a:gdLst/>
              <a:ahLst/>
              <a:cxnLst/>
              <a:rect l="0" t="0" r="r" b="b"/>
              <a:pathLst>
                <a:path w="58445" h="29723">
                  <a:moveTo>
                    <a:pt x="53833" y="29723"/>
                  </a:moveTo>
                  <a:cubicBezTo>
                    <a:pt x="58445" y="9282"/>
                    <a:pt x="23319" y="9168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austral reflected rim 05 1"/>
            <p:cNvSpPr/>
            <p:nvPr/>
          </p:nvSpPr>
          <p:spPr>
            <a:xfrm>
              <a:off x="195688" y="160198"/>
              <a:ext cx="24851" cy="12638"/>
            </a:xfrm>
            <a:custGeom>
              <a:avLst/>
              <a:gdLst/>
              <a:ahLst/>
              <a:cxnLst/>
              <a:rect l="0" t="0" r="r" b="b"/>
              <a:pathLst>
                <a:path w="58445" h="29723">
                  <a:moveTo>
                    <a:pt x="53833" y="29723"/>
                  </a:moveTo>
                  <a:cubicBezTo>
                    <a:pt x="58445" y="9282"/>
                    <a:pt x="23319" y="9168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Integrated haustral crease 06 -1"/>
            <p:cNvSpPr/>
            <p:nvPr/>
          </p:nvSpPr>
          <p:spPr>
            <a:xfrm>
              <a:off x="197593" y="73634"/>
              <a:ext cx="16363" cy="23811"/>
            </a:xfrm>
            <a:custGeom>
              <a:avLst/>
              <a:gdLst/>
              <a:ahLst/>
              <a:cxnLst/>
              <a:rect l="0" t="0" r="r" b="b"/>
              <a:pathLst>
                <a:path w="38484" h="56000">
                  <a:moveTo>
                    <a:pt x="0" y="8037"/>
                  </a:moveTo>
                  <a:cubicBezTo>
                    <a:pt x="19352" y="0"/>
                    <a:pt x="25467" y="34590"/>
                    <a:pt x="38484" y="5600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Haustral reflected rim 06 -1"/>
            <p:cNvSpPr/>
            <p:nvPr/>
          </p:nvSpPr>
          <p:spPr>
            <a:xfrm>
              <a:off x="195770" y="71812"/>
              <a:ext cx="16363" cy="23811"/>
            </a:xfrm>
            <a:custGeom>
              <a:avLst/>
              <a:gdLst/>
              <a:ahLst/>
              <a:cxnLst/>
              <a:rect l="0" t="0" r="r" b="b"/>
              <a:pathLst>
                <a:path w="38484" h="56000">
                  <a:moveTo>
                    <a:pt x="0" y="8037"/>
                  </a:moveTo>
                  <a:cubicBezTo>
                    <a:pt x="19352" y="0"/>
                    <a:pt x="25467" y="34590"/>
                    <a:pt x="38484" y="5600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Integrated haustral crease 06 1"/>
            <p:cNvSpPr/>
            <p:nvPr/>
          </p:nvSpPr>
          <p:spPr>
            <a:xfrm>
              <a:off x="222654" y="118391"/>
              <a:ext cx="11127" cy="25986"/>
            </a:xfrm>
            <a:custGeom>
              <a:avLst/>
              <a:gdLst/>
              <a:ahLst/>
              <a:cxnLst/>
              <a:rect l="0" t="0" r="r" b="b"/>
              <a:pathLst>
                <a:path w="26169" h="61115">
                  <a:moveTo>
                    <a:pt x="6816" y="61115"/>
                  </a:moveTo>
                  <a:cubicBezTo>
                    <a:pt x="26169" y="53077"/>
                    <a:pt x="5980" y="24332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Haustral reflected rim 06 1"/>
            <p:cNvSpPr/>
            <p:nvPr/>
          </p:nvSpPr>
          <p:spPr>
            <a:xfrm>
              <a:off x="220832" y="116568"/>
              <a:ext cx="11127" cy="25986"/>
            </a:xfrm>
            <a:custGeom>
              <a:avLst/>
              <a:gdLst/>
              <a:ahLst/>
              <a:cxnLst/>
              <a:rect l="0" t="0" r="r" b="b"/>
              <a:pathLst>
                <a:path w="26169" h="61115">
                  <a:moveTo>
                    <a:pt x="6816" y="61115"/>
                  </a:moveTo>
                  <a:cubicBezTo>
                    <a:pt x="26169" y="53077"/>
                    <a:pt x="5980" y="24332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Integrated haustral crease 07 -1"/>
            <p:cNvSpPr/>
            <p:nvPr/>
          </p:nvSpPr>
          <p:spPr>
            <a:xfrm>
              <a:off x="272248" y="106863"/>
              <a:ext cx="18220" cy="23397"/>
            </a:xfrm>
            <a:custGeom>
              <a:avLst/>
              <a:gdLst/>
              <a:ahLst/>
              <a:cxnLst/>
              <a:rect l="0" t="0" r="r" b="b"/>
              <a:pathLst>
                <a:path w="42851" h="55026">
                  <a:moveTo>
                    <a:pt x="27451" y="0"/>
                  </a:moveTo>
                  <a:cubicBezTo>
                    <a:pt x="42851" y="14212"/>
                    <a:pt x="13996" y="34243"/>
                    <a:pt x="0" y="5502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Haustral reflected rim 07 -1"/>
            <p:cNvSpPr/>
            <p:nvPr/>
          </p:nvSpPr>
          <p:spPr>
            <a:xfrm>
              <a:off x="270426" y="105041"/>
              <a:ext cx="18220" cy="23397"/>
            </a:xfrm>
            <a:custGeom>
              <a:avLst/>
              <a:gdLst/>
              <a:ahLst/>
              <a:cxnLst/>
              <a:rect l="0" t="0" r="r" b="b"/>
              <a:pathLst>
                <a:path w="42851" h="55026">
                  <a:moveTo>
                    <a:pt x="27451" y="0"/>
                  </a:moveTo>
                  <a:cubicBezTo>
                    <a:pt x="42851" y="14212"/>
                    <a:pt x="13996" y="34243"/>
                    <a:pt x="0" y="5502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Integrated haustral crease 07 1"/>
            <p:cNvSpPr/>
            <p:nvPr/>
          </p:nvSpPr>
          <p:spPr>
            <a:xfrm>
              <a:off x="234480" y="146928"/>
              <a:ext cx="22387" cy="19551"/>
            </a:xfrm>
            <a:custGeom>
              <a:avLst/>
              <a:gdLst/>
              <a:ahLst/>
              <a:cxnLst/>
              <a:rect l="0" t="0" r="r" b="b"/>
              <a:pathLst>
                <a:path w="52650" h="45982">
                  <a:moveTo>
                    <a:pt x="0" y="31771"/>
                  </a:moveTo>
                  <a:cubicBezTo>
                    <a:pt x="15399" y="45982"/>
                    <a:pt x="33055" y="15615"/>
                    <a:pt x="5265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Haustral reflected rim 07 1"/>
            <p:cNvSpPr/>
            <p:nvPr/>
          </p:nvSpPr>
          <p:spPr>
            <a:xfrm>
              <a:off x="232658" y="145105"/>
              <a:ext cx="22387" cy="19551"/>
            </a:xfrm>
            <a:custGeom>
              <a:avLst/>
              <a:gdLst/>
              <a:ahLst/>
              <a:cxnLst/>
              <a:rect l="0" t="0" r="r" b="b"/>
              <a:pathLst>
                <a:path w="52650" h="45982">
                  <a:moveTo>
                    <a:pt x="0" y="31771"/>
                  </a:moveTo>
                  <a:cubicBezTo>
                    <a:pt x="15399" y="45982"/>
                    <a:pt x="33055" y="15615"/>
                    <a:pt x="5265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Integrated haustral crease 08 -1"/>
            <p:cNvSpPr/>
            <p:nvPr/>
          </p:nvSpPr>
          <p:spPr>
            <a:xfrm>
              <a:off x="320796" y="137953"/>
              <a:ext cx="13663" cy="25476"/>
            </a:xfrm>
            <a:custGeom>
              <a:avLst/>
              <a:gdLst/>
              <a:ahLst/>
              <a:cxnLst/>
              <a:rect l="0" t="0" r="r" b="b"/>
              <a:pathLst>
                <a:path w="32133" h="59916">
                  <a:moveTo>
                    <a:pt x="13840" y="0"/>
                  </a:moveTo>
                  <a:cubicBezTo>
                    <a:pt x="32133" y="10222"/>
                    <a:pt x="8754" y="36438"/>
                    <a:pt x="0" y="5991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Haustral reflected rim 08 -1"/>
            <p:cNvSpPr/>
            <p:nvPr/>
          </p:nvSpPr>
          <p:spPr>
            <a:xfrm>
              <a:off x="318974" y="136131"/>
              <a:ext cx="13663" cy="25476"/>
            </a:xfrm>
            <a:custGeom>
              <a:avLst/>
              <a:gdLst/>
              <a:ahLst/>
              <a:cxnLst/>
              <a:rect l="0" t="0" r="r" b="b"/>
              <a:pathLst>
                <a:path w="32133" h="59916">
                  <a:moveTo>
                    <a:pt x="13840" y="0"/>
                  </a:moveTo>
                  <a:cubicBezTo>
                    <a:pt x="32133" y="10222"/>
                    <a:pt x="8754" y="36438"/>
                    <a:pt x="0" y="5991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Integrated haustral crease 08 1"/>
            <p:cNvSpPr/>
            <p:nvPr/>
          </p:nvSpPr>
          <p:spPr>
            <a:xfrm>
              <a:off x="291121" y="183228"/>
              <a:ext cx="18613" cy="22710"/>
            </a:xfrm>
            <a:custGeom>
              <a:avLst/>
              <a:gdLst/>
              <a:ahLst/>
              <a:cxnLst/>
              <a:rect l="0" t="0" r="r" b="b"/>
              <a:pathLst>
                <a:path w="43774" h="53411">
                  <a:moveTo>
                    <a:pt x="0" y="43189"/>
                  </a:moveTo>
                  <a:cubicBezTo>
                    <a:pt x="18293" y="53411"/>
                    <a:pt x="28367" y="19760"/>
                    <a:pt x="43774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Haustral reflected rim 08 1"/>
            <p:cNvSpPr/>
            <p:nvPr/>
          </p:nvSpPr>
          <p:spPr>
            <a:xfrm>
              <a:off x="289298" y="181405"/>
              <a:ext cx="18613" cy="22710"/>
            </a:xfrm>
            <a:custGeom>
              <a:avLst/>
              <a:gdLst/>
              <a:ahLst/>
              <a:cxnLst/>
              <a:rect l="0" t="0" r="r" b="b"/>
              <a:pathLst>
                <a:path w="43774" h="53411">
                  <a:moveTo>
                    <a:pt x="0" y="43189"/>
                  </a:moveTo>
                  <a:cubicBezTo>
                    <a:pt x="18293" y="53411"/>
                    <a:pt x="28367" y="19760"/>
                    <a:pt x="43774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Integrated haustral crease 09 -1"/>
            <p:cNvSpPr/>
            <p:nvPr/>
          </p:nvSpPr>
          <p:spPr>
            <a:xfrm>
              <a:off x="380187" y="158812"/>
              <a:ext cx="8680" cy="26108"/>
            </a:xfrm>
            <a:custGeom>
              <a:avLst/>
              <a:gdLst/>
              <a:ahLst/>
              <a:cxnLst/>
              <a:rect l="0" t="0" r="r" b="b"/>
              <a:pathLst>
                <a:path w="20414" h="61401">
                  <a:moveTo>
                    <a:pt x="0" y="0"/>
                  </a:moveTo>
                  <a:cubicBezTo>
                    <a:pt x="20414" y="4730"/>
                    <a:pt x="5250" y="36415"/>
                    <a:pt x="3372" y="6140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Haustral reflected rim 09 -1"/>
            <p:cNvSpPr/>
            <p:nvPr/>
          </p:nvSpPr>
          <p:spPr>
            <a:xfrm>
              <a:off x="378365" y="156989"/>
              <a:ext cx="8680" cy="26108"/>
            </a:xfrm>
            <a:custGeom>
              <a:avLst/>
              <a:gdLst/>
              <a:ahLst/>
              <a:cxnLst/>
              <a:rect l="0" t="0" r="r" b="b"/>
              <a:pathLst>
                <a:path w="20414" h="61401">
                  <a:moveTo>
                    <a:pt x="0" y="0"/>
                  </a:moveTo>
                  <a:cubicBezTo>
                    <a:pt x="20414" y="4730"/>
                    <a:pt x="5250" y="36415"/>
                    <a:pt x="3372" y="6140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Integrated haustral crease 09 1"/>
            <p:cNvSpPr/>
            <p:nvPr/>
          </p:nvSpPr>
          <p:spPr>
            <a:xfrm>
              <a:off x="363731" y="207014"/>
              <a:ext cx="12770" cy="24828"/>
            </a:xfrm>
            <a:custGeom>
              <a:avLst/>
              <a:gdLst/>
              <a:ahLst/>
              <a:cxnLst/>
              <a:rect l="0" t="0" r="r" b="b"/>
              <a:pathLst>
                <a:path w="30033" h="58391">
                  <a:moveTo>
                    <a:pt x="0" y="53661"/>
                  </a:moveTo>
                  <a:cubicBezTo>
                    <a:pt x="20414" y="58391"/>
                    <a:pt x="20731" y="23266"/>
                    <a:pt x="30033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Haustral reflected rim 09 1"/>
            <p:cNvSpPr/>
            <p:nvPr/>
          </p:nvSpPr>
          <p:spPr>
            <a:xfrm>
              <a:off x="361909" y="205191"/>
              <a:ext cx="12770" cy="24828"/>
            </a:xfrm>
            <a:custGeom>
              <a:avLst/>
              <a:gdLst/>
              <a:ahLst/>
              <a:cxnLst/>
              <a:rect l="0" t="0" r="r" b="b"/>
              <a:pathLst>
                <a:path w="30033" h="58391">
                  <a:moveTo>
                    <a:pt x="0" y="53661"/>
                  </a:moveTo>
                  <a:cubicBezTo>
                    <a:pt x="20414" y="58391"/>
                    <a:pt x="20731" y="23266"/>
                    <a:pt x="30033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Integrated haustral crease 10 -1"/>
            <p:cNvSpPr/>
            <p:nvPr/>
          </p:nvSpPr>
          <p:spPr>
            <a:xfrm>
              <a:off x="427688" y="163011"/>
              <a:ext cx="8902" cy="25156"/>
            </a:xfrm>
            <a:custGeom>
              <a:avLst/>
              <a:gdLst/>
              <a:ahLst/>
              <a:cxnLst/>
              <a:rect l="0" t="0" r="r" b="b"/>
              <a:pathLst>
                <a:path w="20936" h="59163">
                  <a:moveTo>
                    <a:pt x="0" y="885"/>
                  </a:moveTo>
                  <a:cubicBezTo>
                    <a:pt x="20936" y="0"/>
                    <a:pt x="14771" y="34581"/>
                    <a:pt x="19624" y="5916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Haustral reflected rim 10 -1"/>
            <p:cNvSpPr/>
            <p:nvPr/>
          </p:nvSpPr>
          <p:spPr>
            <a:xfrm>
              <a:off x="425866" y="161188"/>
              <a:ext cx="8902" cy="25156"/>
            </a:xfrm>
            <a:custGeom>
              <a:avLst/>
              <a:gdLst/>
              <a:ahLst/>
              <a:cxnLst/>
              <a:rect l="0" t="0" r="r" b="b"/>
              <a:pathLst>
                <a:path w="20936" h="59163">
                  <a:moveTo>
                    <a:pt x="0" y="885"/>
                  </a:moveTo>
                  <a:cubicBezTo>
                    <a:pt x="20936" y="0"/>
                    <a:pt x="14771" y="34581"/>
                    <a:pt x="19624" y="5916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Integrated haustral crease 10 1"/>
            <p:cNvSpPr/>
            <p:nvPr/>
          </p:nvSpPr>
          <p:spPr>
            <a:xfrm>
              <a:off x="430767" y="210827"/>
              <a:ext cx="8902" cy="25395"/>
            </a:xfrm>
            <a:custGeom>
              <a:avLst/>
              <a:gdLst/>
              <a:ahLst/>
              <a:cxnLst/>
              <a:rect l="0" t="0" r="r" b="b"/>
              <a:pathLst>
                <a:path w="20936" h="59726">
                  <a:moveTo>
                    <a:pt x="0" y="59726"/>
                  </a:moveTo>
                  <a:cubicBezTo>
                    <a:pt x="20936" y="58841"/>
                    <a:pt x="11875" y="24904"/>
                    <a:pt x="14636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Haustral reflected rim 10 1"/>
            <p:cNvSpPr/>
            <p:nvPr/>
          </p:nvSpPr>
          <p:spPr>
            <a:xfrm>
              <a:off x="428944" y="209004"/>
              <a:ext cx="8902" cy="25395"/>
            </a:xfrm>
            <a:custGeom>
              <a:avLst/>
              <a:gdLst/>
              <a:ahLst/>
              <a:cxnLst/>
              <a:rect l="0" t="0" r="r" b="b"/>
              <a:pathLst>
                <a:path w="20936" h="59726">
                  <a:moveTo>
                    <a:pt x="0" y="59726"/>
                  </a:moveTo>
                  <a:cubicBezTo>
                    <a:pt x="20936" y="58841"/>
                    <a:pt x="11875" y="24904"/>
                    <a:pt x="14636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Integrated haustral crease 11 -1"/>
            <p:cNvSpPr/>
            <p:nvPr/>
          </p:nvSpPr>
          <p:spPr>
            <a:xfrm>
              <a:off x="476683" y="154348"/>
              <a:ext cx="12795" cy="24823"/>
            </a:xfrm>
            <a:custGeom>
              <a:avLst/>
              <a:gdLst/>
              <a:ahLst/>
              <a:cxnLst/>
              <a:rect l="0" t="0" r="r" b="b"/>
              <a:pathLst>
                <a:path w="30092" h="58380">
                  <a:moveTo>
                    <a:pt x="0" y="4753"/>
                  </a:moveTo>
                  <a:cubicBezTo>
                    <a:pt x="20409" y="0"/>
                    <a:pt x="20765" y="35125"/>
                    <a:pt x="30092" y="5838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Haustral reflected rim 11 -1"/>
            <p:cNvSpPr/>
            <p:nvPr/>
          </p:nvSpPr>
          <p:spPr>
            <a:xfrm>
              <a:off x="474860" y="152525"/>
              <a:ext cx="12795" cy="24823"/>
            </a:xfrm>
            <a:custGeom>
              <a:avLst/>
              <a:gdLst/>
              <a:ahLst/>
              <a:cxnLst/>
              <a:rect l="0" t="0" r="r" b="b"/>
              <a:pathLst>
                <a:path w="30092" h="58380">
                  <a:moveTo>
                    <a:pt x="0" y="4753"/>
                  </a:moveTo>
                  <a:cubicBezTo>
                    <a:pt x="20409" y="0"/>
                    <a:pt x="20765" y="35125"/>
                    <a:pt x="30092" y="5838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Integrated haustral crease 11 1"/>
            <p:cNvSpPr/>
            <p:nvPr/>
          </p:nvSpPr>
          <p:spPr>
            <a:xfrm>
              <a:off x="493217" y="201260"/>
              <a:ext cx="8678" cy="26109"/>
            </a:xfrm>
            <a:custGeom>
              <a:avLst/>
              <a:gdLst/>
              <a:ahLst/>
              <a:cxnLst/>
              <a:rect l="0" t="0" r="r" b="b"/>
              <a:pathLst>
                <a:path w="20409" h="61405">
                  <a:moveTo>
                    <a:pt x="0" y="61405"/>
                  </a:moveTo>
                  <a:cubicBezTo>
                    <a:pt x="20409" y="56652"/>
                    <a:pt x="5210" y="24984"/>
                    <a:pt x="3304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Haustral reflected rim 11 1"/>
            <p:cNvSpPr/>
            <p:nvPr/>
          </p:nvSpPr>
          <p:spPr>
            <a:xfrm>
              <a:off x="491394" y="199437"/>
              <a:ext cx="8678" cy="26109"/>
            </a:xfrm>
            <a:custGeom>
              <a:avLst/>
              <a:gdLst/>
              <a:ahLst/>
              <a:cxnLst/>
              <a:rect l="0" t="0" r="r" b="b"/>
              <a:pathLst>
                <a:path w="20409" h="61405">
                  <a:moveTo>
                    <a:pt x="0" y="61405"/>
                  </a:moveTo>
                  <a:cubicBezTo>
                    <a:pt x="20409" y="56652"/>
                    <a:pt x="5210" y="24984"/>
                    <a:pt x="3304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Integrated haustral crease 12 -1"/>
            <p:cNvSpPr/>
            <p:nvPr/>
          </p:nvSpPr>
          <p:spPr>
            <a:xfrm>
              <a:off x="533704" y="133462"/>
              <a:ext cx="16818" cy="23622"/>
            </a:xfrm>
            <a:custGeom>
              <a:avLst/>
              <a:gdLst/>
              <a:ahLst/>
              <a:cxnLst/>
              <a:rect l="0" t="0" r="r" b="b"/>
              <a:pathLst>
                <a:path w="39554" h="55555">
                  <a:moveTo>
                    <a:pt x="0" y="8471"/>
                  </a:moveTo>
                  <a:cubicBezTo>
                    <a:pt x="19167" y="0"/>
                    <a:pt x="26058" y="34444"/>
                    <a:pt x="39554" y="55555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Haustral reflected rim 12 -1"/>
            <p:cNvSpPr/>
            <p:nvPr/>
          </p:nvSpPr>
          <p:spPr>
            <a:xfrm>
              <a:off x="531881" y="131640"/>
              <a:ext cx="16818" cy="23622"/>
            </a:xfrm>
            <a:custGeom>
              <a:avLst/>
              <a:gdLst/>
              <a:ahLst/>
              <a:cxnLst/>
              <a:rect l="0" t="0" r="r" b="b"/>
              <a:pathLst>
                <a:path w="39554" h="55555">
                  <a:moveTo>
                    <a:pt x="0" y="8471"/>
                  </a:moveTo>
                  <a:cubicBezTo>
                    <a:pt x="19167" y="0"/>
                    <a:pt x="26058" y="34444"/>
                    <a:pt x="39554" y="55555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Integrated haustral crease 12 1"/>
            <p:cNvSpPr/>
            <p:nvPr/>
          </p:nvSpPr>
          <p:spPr>
            <a:xfrm>
              <a:off x="559690" y="177828"/>
              <a:ext cx="11632" cy="25914"/>
            </a:xfrm>
            <a:custGeom>
              <a:avLst/>
              <a:gdLst/>
              <a:ahLst/>
              <a:cxnLst/>
              <a:rect l="0" t="0" r="r" b="b"/>
              <a:pathLst>
                <a:path w="27357" h="60946">
                  <a:moveTo>
                    <a:pt x="8190" y="60946"/>
                  </a:moveTo>
                  <a:cubicBezTo>
                    <a:pt x="27357" y="52475"/>
                    <a:pt x="6526" y="24192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Haustral reflected rim 12 1"/>
            <p:cNvSpPr/>
            <p:nvPr/>
          </p:nvSpPr>
          <p:spPr>
            <a:xfrm>
              <a:off x="557868" y="176006"/>
              <a:ext cx="11632" cy="25914"/>
            </a:xfrm>
            <a:custGeom>
              <a:avLst/>
              <a:gdLst/>
              <a:ahLst/>
              <a:cxnLst/>
              <a:rect l="0" t="0" r="r" b="b"/>
              <a:pathLst>
                <a:path w="27357" h="60946">
                  <a:moveTo>
                    <a:pt x="8190" y="60946"/>
                  </a:moveTo>
                  <a:cubicBezTo>
                    <a:pt x="27357" y="52475"/>
                    <a:pt x="6526" y="24192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Integrated haustral crease 13 -1"/>
            <p:cNvSpPr/>
            <p:nvPr/>
          </p:nvSpPr>
          <p:spPr>
            <a:xfrm>
              <a:off x="577759" y="109564"/>
              <a:ext cx="19139" cy="22385"/>
            </a:xfrm>
            <a:custGeom>
              <a:avLst/>
              <a:gdLst/>
              <a:ahLst/>
              <a:cxnLst/>
              <a:rect l="0" t="0" r="r" b="b"/>
              <a:pathLst>
                <a:path w="45013" h="52646">
                  <a:moveTo>
                    <a:pt x="0" y="10750"/>
                  </a:moveTo>
                  <a:cubicBezTo>
                    <a:pt x="17987" y="0"/>
                    <a:pt x="29038" y="33343"/>
                    <a:pt x="45013" y="5264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Haustral reflected rim 13 -1"/>
            <p:cNvSpPr/>
            <p:nvPr/>
          </p:nvSpPr>
          <p:spPr>
            <a:xfrm>
              <a:off x="575936" y="107741"/>
              <a:ext cx="19139" cy="22385"/>
            </a:xfrm>
            <a:custGeom>
              <a:avLst/>
              <a:gdLst/>
              <a:ahLst/>
              <a:cxnLst/>
              <a:rect l="0" t="0" r="r" b="b"/>
              <a:pathLst>
                <a:path w="45013" h="52646">
                  <a:moveTo>
                    <a:pt x="0" y="10750"/>
                  </a:moveTo>
                  <a:cubicBezTo>
                    <a:pt x="17987" y="0"/>
                    <a:pt x="29038" y="33343"/>
                    <a:pt x="45013" y="5264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Integrated haustral crease 13 1"/>
            <p:cNvSpPr/>
            <p:nvPr/>
          </p:nvSpPr>
          <p:spPr>
            <a:xfrm>
              <a:off x="608533" y="151417"/>
              <a:ext cx="14272" cy="25294"/>
            </a:xfrm>
            <a:custGeom>
              <a:avLst/>
              <a:gdLst/>
              <a:ahLst/>
              <a:cxnLst/>
              <a:rect l="0" t="0" r="r" b="b"/>
              <a:pathLst>
                <a:path w="33566" h="59487">
                  <a:moveTo>
                    <a:pt x="15579" y="59487"/>
                  </a:moveTo>
                  <a:cubicBezTo>
                    <a:pt x="33566" y="48737"/>
                    <a:pt x="9434" y="23212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Haustral reflected rim 13 1"/>
            <p:cNvSpPr/>
            <p:nvPr/>
          </p:nvSpPr>
          <p:spPr>
            <a:xfrm>
              <a:off x="606711" y="149595"/>
              <a:ext cx="14272" cy="25294"/>
            </a:xfrm>
            <a:custGeom>
              <a:avLst/>
              <a:gdLst/>
              <a:ahLst/>
              <a:cxnLst/>
              <a:rect l="0" t="0" r="r" b="b"/>
              <a:pathLst>
                <a:path w="33566" h="59487">
                  <a:moveTo>
                    <a:pt x="15579" y="59487"/>
                  </a:moveTo>
                  <a:cubicBezTo>
                    <a:pt x="33566" y="48737"/>
                    <a:pt x="9434" y="23212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Integrated haustral crease 14 -1"/>
            <p:cNvSpPr/>
            <p:nvPr/>
          </p:nvSpPr>
          <p:spPr>
            <a:xfrm>
              <a:off x="627901" y="74752"/>
              <a:ext cx="20417" cy="21464"/>
            </a:xfrm>
            <a:custGeom>
              <a:avLst/>
              <a:gdLst/>
              <a:ahLst/>
              <a:cxnLst/>
              <a:rect l="0" t="0" r="r" b="b"/>
              <a:pathLst>
                <a:path w="48018" h="50480">
                  <a:moveTo>
                    <a:pt x="0" y="12064"/>
                  </a:moveTo>
                  <a:cubicBezTo>
                    <a:pt x="17134" y="0"/>
                    <a:pt x="30645" y="32424"/>
                    <a:pt x="48018" y="5048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Haustral reflected rim 14 -1"/>
            <p:cNvSpPr/>
            <p:nvPr/>
          </p:nvSpPr>
          <p:spPr>
            <a:xfrm>
              <a:off x="626078" y="72929"/>
              <a:ext cx="20417" cy="21464"/>
            </a:xfrm>
            <a:custGeom>
              <a:avLst/>
              <a:gdLst/>
              <a:ahLst/>
              <a:cxnLst/>
              <a:rect l="0" t="0" r="r" b="b"/>
              <a:pathLst>
                <a:path w="48018" h="50480">
                  <a:moveTo>
                    <a:pt x="0" y="12064"/>
                  </a:moveTo>
                  <a:cubicBezTo>
                    <a:pt x="17134" y="0"/>
                    <a:pt x="30645" y="32424"/>
                    <a:pt x="48018" y="5048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Integrated haustral crease 14 1"/>
            <p:cNvSpPr/>
            <p:nvPr/>
          </p:nvSpPr>
          <p:spPr>
            <a:xfrm>
              <a:off x="661375" y="114760"/>
              <a:ext cx="15781" cy="24728"/>
            </a:xfrm>
            <a:custGeom>
              <a:avLst/>
              <a:gdLst/>
              <a:ahLst/>
              <a:cxnLst/>
              <a:rect l="0" t="0" r="r" b="b"/>
              <a:pathLst>
                <a:path w="37114" h="58157">
                  <a:moveTo>
                    <a:pt x="19981" y="58157"/>
                  </a:moveTo>
                  <a:cubicBezTo>
                    <a:pt x="37114" y="46093"/>
                    <a:pt x="11142" y="22443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Haustral reflected rim 14 1"/>
            <p:cNvSpPr/>
            <p:nvPr/>
          </p:nvSpPr>
          <p:spPr>
            <a:xfrm>
              <a:off x="659553" y="112937"/>
              <a:ext cx="15781" cy="24728"/>
            </a:xfrm>
            <a:custGeom>
              <a:avLst/>
              <a:gdLst/>
              <a:ahLst/>
              <a:cxnLst/>
              <a:rect l="0" t="0" r="r" b="b"/>
              <a:pathLst>
                <a:path w="37114" h="58157">
                  <a:moveTo>
                    <a:pt x="19981" y="58157"/>
                  </a:moveTo>
                  <a:cubicBezTo>
                    <a:pt x="37114" y="46093"/>
                    <a:pt x="11142" y="22443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Integrated haustral crease 15 -1"/>
            <p:cNvSpPr/>
            <p:nvPr/>
          </p:nvSpPr>
          <p:spPr>
            <a:xfrm>
              <a:off x="703995" y="125566"/>
              <a:ext cx="25148" cy="9712"/>
            </a:xfrm>
            <a:custGeom>
              <a:avLst/>
              <a:gdLst/>
              <a:ahLst/>
              <a:cxnLst/>
              <a:rect l="0" t="0" r="r" b="b"/>
              <a:pathLst>
                <a:path w="59144" h="22842">
                  <a:moveTo>
                    <a:pt x="57094" y="0"/>
                  </a:moveTo>
                  <a:cubicBezTo>
                    <a:pt x="59144" y="20854"/>
                    <a:pt x="24273" y="16627"/>
                    <a:pt x="0" y="2284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Haustral reflected rim 15 -1"/>
            <p:cNvSpPr/>
            <p:nvPr/>
          </p:nvSpPr>
          <p:spPr>
            <a:xfrm>
              <a:off x="702173" y="123744"/>
              <a:ext cx="25148" cy="9712"/>
            </a:xfrm>
            <a:custGeom>
              <a:avLst/>
              <a:gdLst/>
              <a:ahLst/>
              <a:cxnLst/>
              <a:rect l="0" t="0" r="r" b="b"/>
              <a:pathLst>
                <a:path w="59144" h="22842">
                  <a:moveTo>
                    <a:pt x="57094" y="0"/>
                  </a:moveTo>
                  <a:cubicBezTo>
                    <a:pt x="59144" y="20854"/>
                    <a:pt x="24273" y="16627"/>
                    <a:pt x="0" y="2284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Integrated haustral crease 15 1"/>
            <p:cNvSpPr/>
            <p:nvPr/>
          </p:nvSpPr>
          <p:spPr>
            <a:xfrm>
              <a:off x="655722" y="132701"/>
              <a:ext cx="25703" cy="8867"/>
            </a:xfrm>
            <a:custGeom>
              <a:avLst/>
              <a:gdLst/>
              <a:ahLst/>
              <a:cxnLst/>
              <a:rect l="0" t="0" r="r" b="b"/>
              <a:pathLst>
                <a:path w="60449" h="20854">
                  <a:moveTo>
                    <a:pt x="0" y="0"/>
                  </a:moveTo>
                  <a:cubicBezTo>
                    <a:pt x="2051" y="20854"/>
                    <a:pt x="35430" y="9915"/>
                    <a:pt x="60449" y="1128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Haustral reflected rim 15 1"/>
            <p:cNvSpPr/>
            <p:nvPr/>
          </p:nvSpPr>
          <p:spPr>
            <a:xfrm>
              <a:off x="653899" y="130878"/>
              <a:ext cx="25703" cy="8867"/>
            </a:xfrm>
            <a:custGeom>
              <a:avLst/>
              <a:gdLst/>
              <a:ahLst/>
              <a:cxnLst/>
              <a:rect l="0" t="0" r="r" b="b"/>
              <a:pathLst>
                <a:path w="60449" h="20854">
                  <a:moveTo>
                    <a:pt x="0" y="0"/>
                  </a:moveTo>
                  <a:cubicBezTo>
                    <a:pt x="2051" y="20854"/>
                    <a:pt x="35430" y="9915"/>
                    <a:pt x="60449" y="1128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Integrated haustral crease 16 -1"/>
            <p:cNvSpPr/>
            <p:nvPr/>
          </p:nvSpPr>
          <p:spPr>
            <a:xfrm>
              <a:off x="698195" y="187182"/>
              <a:ext cx="25660" cy="8875"/>
            </a:xfrm>
            <a:custGeom>
              <a:avLst/>
              <a:gdLst/>
              <a:ahLst/>
              <a:cxnLst/>
              <a:rect l="0" t="0" r="r" b="b"/>
              <a:pathLst>
                <a:path w="60348" h="20872">
                  <a:moveTo>
                    <a:pt x="60348" y="0"/>
                  </a:moveTo>
                  <a:cubicBezTo>
                    <a:pt x="58480" y="20872"/>
                    <a:pt x="25006" y="10225"/>
                    <a:pt x="0" y="1181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Haustral reflected rim 16 -1"/>
            <p:cNvSpPr/>
            <p:nvPr/>
          </p:nvSpPr>
          <p:spPr>
            <a:xfrm>
              <a:off x="696373" y="185360"/>
              <a:ext cx="25660" cy="8875"/>
            </a:xfrm>
            <a:custGeom>
              <a:avLst/>
              <a:gdLst/>
              <a:ahLst/>
              <a:cxnLst/>
              <a:rect l="0" t="0" r="r" b="b"/>
              <a:pathLst>
                <a:path w="60348" h="20872">
                  <a:moveTo>
                    <a:pt x="60348" y="0"/>
                  </a:moveTo>
                  <a:cubicBezTo>
                    <a:pt x="58480" y="20872"/>
                    <a:pt x="25006" y="10225"/>
                    <a:pt x="0" y="1181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Integrated haustral crease 16 1"/>
            <p:cNvSpPr/>
            <p:nvPr/>
          </p:nvSpPr>
          <p:spPr>
            <a:xfrm>
              <a:off x="650451" y="180684"/>
              <a:ext cx="25155" cy="9499"/>
            </a:xfrm>
            <a:custGeom>
              <a:avLst/>
              <a:gdLst/>
              <a:ahLst/>
              <a:cxnLst/>
              <a:rect l="0" t="0" r="r" b="b"/>
              <a:pathLst>
                <a:path w="59160" h="22341">
                  <a:moveTo>
                    <a:pt x="1868" y="0"/>
                  </a:moveTo>
                  <a:cubicBezTo>
                    <a:pt x="0" y="20872"/>
                    <a:pt x="34833" y="16338"/>
                    <a:pt x="59160" y="2234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Haustral reflected rim 16 1"/>
            <p:cNvSpPr/>
            <p:nvPr/>
          </p:nvSpPr>
          <p:spPr>
            <a:xfrm>
              <a:off x="648628" y="178862"/>
              <a:ext cx="25155" cy="9499"/>
            </a:xfrm>
            <a:custGeom>
              <a:avLst/>
              <a:gdLst/>
              <a:ahLst/>
              <a:cxnLst/>
              <a:rect l="0" t="0" r="r" b="b"/>
              <a:pathLst>
                <a:path w="59160" h="22341">
                  <a:moveTo>
                    <a:pt x="1868" y="0"/>
                  </a:moveTo>
                  <a:cubicBezTo>
                    <a:pt x="0" y="20872"/>
                    <a:pt x="34833" y="16338"/>
                    <a:pt x="59160" y="2234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tegrated haustral crease 17 -1"/>
            <p:cNvSpPr/>
            <p:nvPr/>
          </p:nvSpPr>
          <p:spPr>
            <a:xfrm>
              <a:off x="695384" y="249068"/>
              <a:ext cx="25269" cy="8908"/>
            </a:xfrm>
            <a:custGeom>
              <a:avLst/>
              <a:gdLst/>
              <a:ahLst/>
              <a:cxnLst/>
              <a:rect l="0" t="0" r="r" b="b"/>
              <a:pathLst>
                <a:path w="59428" h="20950">
                  <a:moveTo>
                    <a:pt x="59428" y="0"/>
                  </a:moveTo>
                  <a:cubicBezTo>
                    <a:pt x="58954" y="20950"/>
                    <a:pt x="24845" y="12555"/>
                    <a:pt x="0" y="1580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Haustral reflected rim 17 -1"/>
            <p:cNvSpPr/>
            <p:nvPr/>
          </p:nvSpPr>
          <p:spPr>
            <a:xfrm>
              <a:off x="693562" y="247246"/>
              <a:ext cx="25269" cy="8908"/>
            </a:xfrm>
            <a:custGeom>
              <a:avLst/>
              <a:gdLst/>
              <a:ahLst/>
              <a:cxnLst/>
              <a:rect l="0" t="0" r="r" b="b"/>
              <a:pathLst>
                <a:path w="59428" h="20950">
                  <a:moveTo>
                    <a:pt x="59428" y="0"/>
                  </a:moveTo>
                  <a:cubicBezTo>
                    <a:pt x="58954" y="20950"/>
                    <a:pt x="24845" y="12555"/>
                    <a:pt x="0" y="1580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tegrated haustral crease 17 1"/>
            <p:cNvSpPr/>
            <p:nvPr/>
          </p:nvSpPr>
          <p:spPr>
            <a:xfrm>
              <a:off x="647569" y="247417"/>
              <a:ext cx="25140" cy="8908"/>
            </a:xfrm>
            <a:custGeom>
              <a:avLst/>
              <a:gdLst/>
              <a:ahLst/>
              <a:cxnLst/>
              <a:rect l="0" t="0" r="r" b="b"/>
              <a:pathLst>
                <a:path w="59126" h="20950">
                  <a:moveTo>
                    <a:pt x="475" y="0"/>
                  </a:moveTo>
                  <a:cubicBezTo>
                    <a:pt x="0" y="20950"/>
                    <a:pt x="34454" y="14108"/>
                    <a:pt x="59126" y="1847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Haustral reflected rim 17 1"/>
            <p:cNvSpPr/>
            <p:nvPr/>
          </p:nvSpPr>
          <p:spPr>
            <a:xfrm>
              <a:off x="645747" y="245595"/>
              <a:ext cx="25140" cy="8908"/>
            </a:xfrm>
            <a:custGeom>
              <a:avLst/>
              <a:gdLst/>
              <a:ahLst/>
              <a:cxnLst/>
              <a:rect l="0" t="0" r="r" b="b"/>
              <a:pathLst>
                <a:path w="59126" h="20950">
                  <a:moveTo>
                    <a:pt x="475" y="0"/>
                  </a:moveTo>
                  <a:cubicBezTo>
                    <a:pt x="0" y="20950"/>
                    <a:pt x="34454" y="14108"/>
                    <a:pt x="59126" y="1847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Integrated haustral crease 18 -1"/>
            <p:cNvSpPr/>
            <p:nvPr/>
          </p:nvSpPr>
          <p:spPr>
            <a:xfrm>
              <a:off x="695361" y="305892"/>
              <a:ext cx="25126" cy="8910"/>
            </a:xfrm>
            <a:custGeom>
              <a:avLst/>
              <a:gdLst/>
              <a:ahLst/>
              <a:cxnLst/>
              <a:rect l="0" t="0" r="r" b="b"/>
              <a:pathLst>
                <a:path w="59092" h="20954">
                  <a:moveTo>
                    <a:pt x="58868" y="0"/>
                  </a:moveTo>
                  <a:cubicBezTo>
                    <a:pt x="59092" y="20954"/>
                    <a:pt x="24723" y="13701"/>
                    <a:pt x="0" y="17775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Haustral reflected rim 18 -1"/>
            <p:cNvSpPr/>
            <p:nvPr/>
          </p:nvSpPr>
          <p:spPr>
            <a:xfrm>
              <a:off x="693539" y="304069"/>
              <a:ext cx="25126" cy="8910"/>
            </a:xfrm>
            <a:custGeom>
              <a:avLst/>
              <a:gdLst/>
              <a:ahLst/>
              <a:cxnLst/>
              <a:rect l="0" t="0" r="r" b="b"/>
              <a:pathLst>
                <a:path w="59092" h="20954">
                  <a:moveTo>
                    <a:pt x="58868" y="0"/>
                  </a:moveTo>
                  <a:cubicBezTo>
                    <a:pt x="59092" y="20954"/>
                    <a:pt x="24723" y="13701"/>
                    <a:pt x="0" y="17775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Integrated haustral crease 18 1"/>
            <p:cNvSpPr/>
            <p:nvPr/>
          </p:nvSpPr>
          <p:spPr>
            <a:xfrm>
              <a:off x="647496" y="306671"/>
              <a:ext cx="25187" cy="8910"/>
            </a:xfrm>
            <a:custGeom>
              <a:avLst/>
              <a:gdLst/>
              <a:ahLst/>
              <a:cxnLst/>
              <a:rect l="0" t="0" r="r" b="b"/>
              <a:pathLst>
                <a:path w="59235" h="20954">
                  <a:moveTo>
                    <a:pt x="0" y="0"/>
                  </a:moveTo>
                  <a:cubicBezTo>
                    <a:pt x="224" y="20954"/>
                    <a:pt x="34430" y="12968"/>
                    <a:pt x="59235" y="1651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Haustral reflected rim 18 1"/>
            <p:cNvSpPr/>
            <p:nvPr/>
          </p:nvSpPr>
          <p:spPr>
            <a:xfrm>
              <a:off x="645673" y="304848"/>
              <a:ext cx="25187" cy="8910"/>
            </a:xfrm>
            <a:custGeom>
              <a:avLst/>
              <a:gdLst/>
              <a:ahLst/>
              <a:cxnLst/>
              <a:rect l="0" t="0" r="r" b="b"/>
              <a:pathLst>
                <a:path w="59235" h="20954">
                  <a:moveTo>
                    <a:pt x="0" y="0"/>
                  </a:moveTo>
                  <a:cubicBezTo>
                    <a:pt x="224" y="20954"/>
                    <a:pt x="34430" y="12968"/>
                    <a:pt x="59235" y="1651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Integrated haustral crease 19 -1"/>
            <p:cNvSpPr/>
            <p:nvPr/>
          </p:nvSpPr>
          <p:spPr>
            <a:xfrm>
              <a:off x="696829" y="363660"/>
              <a:ext cx="25150" cy="8905"/>
            </a:xfrm>
            <a:custGeom>
              <a:avLst/>
              <a:gdLst/>
              <a:ahLst/>
              <a:cxnLst/>
              <a:rect l="0" t="0" r="r" b="b"/>
              <a:pathLst>
                <a:path w="59148" h="20944">
                  <a:moveTo>
                    <a:pt x="58465" y="0"/>
                  </a:moveTo>
                  <a:cubicBezTo>
                    <a:pt x="59148" y="20944"/>
                    <a:pt x="24628" y="14445"/>
                    <a:pt x="0" y="1906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Haustral reflected rim 19 -1"/>
            <p:cNvSpPr/>
            <p:nvPr/>
          </p:nvSpPr>
          <p:spPr>
            <a:xfrm>
              <a:off x="695007" y="361837"/>
              <a:ext cx="25150" cy="8905"/>
            </a:xfrm>
            <a:custGeom>
              <a:avLst/>
              <a:gdLst/>
              <a:ahLst/>
              <a:cxnLst/>
              <a:rect l="0" t="0" r="r" b="b"/>
              <a:pathLst>
                <a:path w="59148" h="20944">
                  <a:moveTo>
                    <a:pt x="58465" y="0"/>
                  </a:moveTo>
                  <a:cubicBezTo>
                    <a:pt x="59148" y="20944"/>
                    <a:pt x="24628" y="14445"/>
                    <a:pt x="0" y="1906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Integrated haustral crease 19 1"/>
            <p:cNvSpPr/>
            <p:nvPr/>
          </p:nvSpPr>
          <p:spPr>
            <a:xfrm>
              <a:off x="648827" y="366035"/>
              <a:ext cx="25334" cy="8905"/>
            </a:xfrm>
            <a:custGeom>
              <a:avLst/>
              <a:gdLst/>
              <a:ahLst/>
              <a:cxnLst/>
              <a:rect l="0" t="0" r="r" b="b"/>
              <a:pathLst>
                <a:path w="59582" h="20944">
                  <a:moveTo>
                    <a:pt x="0" y="0"/>
                  </a:moveTo>
                  <a:cubicBezTo>
                    <a:pt x="683" y="20944"/>
                    <a:pt x="34706" y="12211"/>
                    <a:pt x="59582" y="1521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ustral reflected rim 19 1"/>
            <p:cNvSpPr/>
            <p:nvPr/>
          </p:nvSpPr>
          <p:spPr>
            <a:xfrm>
              <a:off x="647005" y="364212"/>
              <a:ext cx="25334" cy="8905"/>
            </a:xfrm>
            <a:custGeom>
              <a:avLst/>
              <a:gdLst/>
              <a:ahLst/>
              <a:cxnLst/>
              <a:rect l="0" t="0" r="r" b="b"/>
              <a:pathLst>
                <a:path w="59582" h="20944">
                  <a:moveTo>
                    <a:pt x="0" y="0"/>
                  </a:moveTo>
                  <a:cubicBezTo>
                    <a:pt x="683" y="20944"/>
                    <a:pt x="34706" y="12211"/>
                    <a:pt x="59582" y="1521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Integrated haustral crease 20 -1"/>
            <p:cNvSpPr/>
            <p:nvPr/>
          </p:nvSpPr>
          <p:spPr>
            <a:xfrm>
              <a:off x="699673" y="429422"/>
              <a:ext cx="25159" cy="8900"/>
            </a:xfrm>
            <a:custGeom>
              <a:avLst/>
              <a:gdLst/>
              <a:ahLst/>
              <a:cxnLst/>
              <a:rect l="0" t="0" r="r" b="b"/>
              <a:pathLst>
                <a:path w="59170" h="20931">
                  <a:moveTo>
                    <a:pt x="58159" y="0"/>
                  </a:moveTo>
                  <a:cubicBezTo>
                    <a:pt x="59170" y="20931"/>
                    <a:pt x="24552" y="14975"/>
                    <a:pt x="0" y="1997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ustral reflected rim 20 -1"/>
            <p:cNvSpPr/>
            <p:nvPr/>
          </p:nvSpPr>
          <p:spPr>
            <a:xfrm>
              <a:off x="697851" y="427600"/>
              <a:ext cx="25159" cy="8900"/>
            </a:xfrm>
            <a:custGeom>
              <a:avLst/>
              <a:gdLst/>
              <a:ahLst/>
              <a:cxnLst/>
              <a:rect l="0" t="0" r="r" b="b"/>
              <a:pathLst>
                <a:path w="59170" h="20931">
                  <a:moveTo>
                    <a:pt x="58159" y="0"/>
                  </a:moveTo>
                  <a:cubicBezTo>
                    <a:pt x="59170" y="20931"/>
                    <a:pt x="24552" y="14975"/>
                    <a:pt x="0" y="1997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Integrated haustral crease 20 1"/>
            <p:cNvSpPr/>
            <p:nvPr/>
          </p:nvSpPr>
          <p:spPr>
            <a:xfrm>
              <a:off x="651587" y="432941"/>
              <a:ext cx="25433" cy="8900"/>
            </a:xfrm>
            <a:custGeom>
              <a:avLst/>
              <a:gdLst/>
              <a:ahLst/>
              <a:cxnLst/>
              <a:rect l="0" t="0" r="r" b="b"/>
              <a:pathLst>
                <a:path w="59814" h="20931">
                  <a:moveTo>
                    <a:pt x="0" y="0"/>
                  </a:moveTo>
                  <a:cubicBezTo>
                    <a:pt x="1012" y="20931"/>
                    <a:pt x="34894" y="11664"/>
                    <a:pt x="59814" y="14274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ustral reflected rim 20 1"/>
            <p:cNvSpPr/>
            <p:nvPr/>
          </p:nvSpPr>
          <p:spPr>
            <a:xfrm>
              <a:off x="649765" y="431119"/>
              <a:ext cx="25433" cy="8900"/>
            </a:xfrm>
            <a:custGeom>
              <a:avLst/>
              <a:gdLst/>
              <a:ahLst/>
              <a:cxnLst/>
              <a:rect l="0" t="0" r="r" b="b"/>
              <a:pathLst>
                <a:path w="59814" h="20931">
                  <a:moveTo>
                    <a:pt x="0" y="0"/>
                  </a:moveTo>
                  <a:cubicBezTo>
                    <a:pt x="1012" y="20931"/>
                    <a:pt x="34894" y="11664"/>
                    <a:pt x="59814" y="14274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Integrated haustral crease 21 -1"/>
            <p:cNvSpPr/>
            <p:nvPr/>
          </p:nvSpPr>
          <p:spPr>
            <a:xfrm>
              <a:off x="696257" y="499420"/>
              <a:ext cx="26060" cy="8731"/>
            </a:xfrm>
            <a:custGeom>
              <a:avLst/>
              <a:gdLst/>
              <a:ahLst/>
              <a:cxnLst/>
              <a:rect l="0" t="0" r="r" b="b"/>
              <a:pathLst>
                <a:path w="61290" h="20533">
                  <a:moveTo>
                    <a:pt x="61290" y="0"/>
                  </a:moveTo>
                  <a:cubicBezTo>
                    <a:pt x="57104" y="20533"/>
                    <a:pt x="25027" y="6216"/>
                    <a:pt x="0" y="500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Haustral reflected rim 21 -1"/>
            <p:cNvSpPr/>
            <p:nvPr/>
          </p:nvSpPr>
          <p:spPr>
            <a:xfrm>
              <a:off x="694434" y="497597"/>
              <a:ext cx="26060" cy="8731"/>
            </a:xfrm>
            <a:custGeom>
              <a:avLst/>
              <a:gdLst/>
              <a:ahLst/>
              <a:cxnLst/>
              <a:rect l="0" t="0" r="r" b="b"/>
              <a:pathLst>
                <a:path w="61290" h="20533">
                  <a:moveTo>
                    <a:pt x="61290" y="0"/>
                  </a:moveTo>
                  <a:cubicBezTo>
                    <a:pt x="57104" y="20533"/>
                    <a:pt x="25027" y="6216"/>
                    <a:pt x="0" y="500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Integrated haustral crease 21 1"/>
            <p:cNvSpPr/>
            <p:nvPr/>
          </p:nvSpPr>
          <p:spPr>
            <a:xfrm>
              <a:off x="649106" y="484857"/>
              <a:ext cx="24928" cy="12159"/>
            </a:xfrm>
            <a:custGeom>
              <a:avLst/>
              <a:gdLst/>
              <a:ahLst/>
              <a:cxnLst/>
              <a:rect l="0" t="0" r="r" b="b"/>
              <a:pathLst>
                <a:path w="58626" h="28597">
                  <a:moveTo>
                    <a:pt x="4186" y="0"/>
                  </a:moveTo>
                  <a:cubicBezTo>
                    <a:pt x="0" y="20533"/>
                    <a:pt x="35121" y="19916"/>
                    <a:pt x="58626" y="28597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Haustral reflected rim 21 1"/>
            <p:cNvSpPr/>
            <p:nvPr/>
          </p:nvSpPr>
          <p:spPr>
            <a:xfrm>
              <a:off x="647284" y="483034"/>
              <a:ext cx="24928" cy="12159"/>
            </a:xfrm>
            <a:custGeom>
              <a:avLst/>
              <a:gdLst/>
              <a:ahLst/>
              <a:cxnLst/>
              <a:rect l="0" t="0" r="r" b="b"/>
              <a:pathLst>
                <a:path w="58626" h="28597">
                  <a:moveTo>
                    <a:pt x="4186" y="0"/>
                  </a:moveTo>
                  <a:cubicBezTo>
                    <a:pt x="0" y="20533"/>
                    <a:pt x="35121" y="19916"/>
                    <a:pt x="58626" y="28597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Integrated haustral crease 22 -1"/>
            <p:cNvSpPr/>
            <p:nvPr/>
          </p:nvSpPr>
          <p:spPr>
            <a:xfrm>
              <a:off x="666411" y="558687"/>
              <a:ext cx="24231" cy="16821"/>
            </a:xfrm>
            <a:custGeom>
              <a:avLst/>
              <a:gdLst/>
              <a:ahLst/>
              <a:cxnLst/>
              <a:rect l="0" t="0" r="r" b="b"/>
              <a:pathLst>
                <a:path w="56988" h="39560">
                  <a:moveTo>
                    <a:pt x="56988" y="23105"/>
                  </a:moveTo>
                  <a:cubicBezTo>
                    <a:pt x="44012" y="39560"/>
                    <a:pt x="21805" y="12343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Haustral reflected rim 22 -1"/>
            <p:cNvSpPr/>
            <p:nvPr/>
          </p:nvSpPr>
          <p:spPr>
            <a:xfrm>
              <a:off x="664588" y="556865"/>
              <a:ext cx="24231" cy="16821"/>
            </a:xfrm>
            <a:custGeom>
              <a:avLst/>
              <a:gdLst/>
              <a:ahLst/>
              <a:cxnLst/>
              <a:rect l="0" t="0" r="r" b="b"/>
              <a:pathLst>
                <a:path w="56988" h="39560">
                  <a:moveTo>
                    <a:pt x="56988" y="23105"/>
                  </a:moveTo>
                  <a:cubicBezTo>
                    <a:pt x="44012" y="39560"/>
                    <a:pt x="21805" y="12343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Integrated haustral crease 22 1"/>
            <p:cNvSpPr/>
            <p:nvPr/>
          </p:nvSpPr>
          <p:spPr>
            <a:xfrm>
              <a:off x="627882" y="523371"/>
              <a:ext cx="20720" cy="21273"/>
            </a:xfrm>
            <a:custGeom>
              <a:avLst/>
              <a:gdLst/>
              <a:ahLst/>
              <a:cxnLst/>
              <a:rect l="0" t="0" r="r" b="b"/>
              <a:pathLst>
                <a:path w="48730" h="50031">
                  <a:moveTo>
                    <a:pt x="12976" y="0"/>
                  </a:moveTo>
                  <a:cubicBezTo>
                    <a:pt x="0" y="16454"/>
                    <a:pt x="31644" y="31704"/>
                    <a:pt x="48730" y="5003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Haustral reflected rim 22 1"/>
            <p:cNvSpPr/>
            <p:nvPr/>
          </p:nvSpPr>
          <p:spPr>
            <a:xfrm>
              <a:off x="626059" y="521548"/>
              <a:ext cx="20720" cy="21273"/>
            </a:xfrm>
            <a:custGeom>
              <a:avLst/>
              <a:gdLst/>
              <a:ahLst/>
              <a:cxnLst/>
              <a:rect l="0" t="0" r="r" b="b"/>
              <a:pathLst>
                <a:path w="48730" h="50031">
                  <a:moveTo>
                    <a:pt x="12976" y="0"/>
                  </a:moveTo>
                  <a:cubicBezTo>
                    <a:pt x="0" y="16454"/>
                    <a:pt x="31644" y="31704"/>
                    <a:pt x="48730" y="5003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Integrated haustral crease 23 -1"/>
            <p:cNvSpPr/>
            <p:nvPr/>
          </p:nvSpPr>
          <p:spPr>
            <a:xfrm>
              <a:off x="615535" y="594899"/>
              <a:ext cx="17453" cy="23331"/>
            </a:xfrm>
            <a:custGeom>
              <a:avLst/>
              <a:gdLst/>
              <a:ahLst/>
              <a:cxnLst/>
              <a:rect l="0" t="0" r="r" b="b"/>
              <a:pathLst>
                <a:path w="41047" h="54871">
                  <a:moveTo>
                    <a:pt x="41047" y="45789"/>
                  </a:moveTo>
                  <a:cubicBezTo>
                    <a:pt x="22162" y="54871"/>
                    <a:pt x="14167" y="20667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Haustral reflected rim 23 -1"/>
            <p:cNvSpPr/>
            <p:nvPr/>
          </p:nvSpPr>
          <p:spPr>
            <a:xfrm>
              <a:off x="613712" y="593076"/>
              <a:ext cx="17453" cy="23331"/>
            </a:xfrm>
            <a:custGeom>
              <a:avLst/>
              <a:gdLst/>
              <a:ahLst/>
              <a:cxnLst/>
              <a:rect l="0" t="0" r="r" b="b"/>
              <a:pathLst>
                <a:path w="41047" h="54871">
                  <a:moveTo>
                    <a:pt x="41047" y="45789"/>
                  </a:moveTo>
                  <a:cubicBezTo>
                    <a:pt x="22162" y="54871"/>
                    <a:pt x="14167" y="20667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Integrated haustral crease 23 1"/>
            <p:cNvSpPr/>
            <p:nvPr/>
          </p:nvSpPr>
          <p:spPr>
            <a:xfrm>
              <a:off x="593361" y="548671"/>
              <a:ext cx="12343" cy="25789"/>
            </a:xfrm>
            <a:custGeom>
              <a:avLst/>
              <a:gdLst/>
              <a:ahLst/>
              <a:cxnLst/>
              <a:rect l="0" t="0" r="r" b="b"/>
              <a:pathLst>
                <a:path w="29029" h="60651">
                  <a:moveTo>
                    <a:pt x="18884" y="0"/>
                  </a:moveTo>
                  <a:cubicBezTo>
                    <a:pt x="0" y="9082"/>
                    <a:pt x="21729" y="36682"/>
                    <a:pt x="29029" y="6065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Haustral reflected rim 23 1"/>
            <p:cNvSpPr/>
            <p:nvPr/>
          </p:nvSpPr>
          <p:spPr>
            <a:xfrm>
              <a:off x="591539" y="546849"/>
              <a:ext cx="12343" cy="25789"/>
            </a:xfrm>
            <a:custGeom>
              <a:avLst/>
              <a:gdLst/>
              <a:ahLst/>
              <a:cxnLst/>
              <a:rect l="0" t="0" r="r" b="b"/>
              <a:pathLst>
                <a:path w="29029" h="60651">
                  <a:moveTo>
                    <a:pt x="18884" y="0"/>
                  </a:moveTo>
                  <a:cubicBezTo>
                    <a:pt x="0" y="9082"/>
                    <a:pt x="21729" y="36682"/>
                    <a:pt x="29029" y="6065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Integrated haustral crease 24 -1"/>
            <p:cNvSpPr/>
            <p:nvPr/>
          </p:nvSpPr>
          <p:spPr>
            <a:xfrm>
              <a:off x="539469" y="601500"/>
              <a:ext cx="8829" cy="25863"/>
            </a:xfrm>
            <a:custGeom>
              <a:avLst/>
              <a:gdLst/>
              <a:ahLst/>
              <a:cxnLst/>
              <a:rect l="0" t="0" r="r" b="b"/>
              <a:pathLst>
                <a:path w="20764" h="60826">
                  <a:moveTo>
                    <a:pt x="20764" y="60826"/>
                  </a:moveTo>
                  <a:cubicBezTo>
                    <a:pt x="0" y="58004"/>
                    <a:pt x="12168" y="25052"/>
                    <a:pt x="11727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Haustral reflected rim 24 -1"/>
            <p:cNvSpPr/>
            <p:nvPr/>
          </p:nvSpPr>
          <p:spPr>
            <a:xfrm>
              <a:off x="537647" y="599678"/>
              <a:ext cx="8829" cy="25863"/>
            </a:xfrm>
            <a:custGeom>
              <a:avLst/>
              <a:gdLst/>
              <a:ahLst/>
              <a:cxnLst/>
              <a:rect l="0" t="0" r="r" b="b"/>
              <a:pathLst>
                <a:path w="20764" h="60826">
                  <a:moveTo>
                    <a:pt x="20764" y="60826"/>
                  </a:moveTo>
                  <a:cubicBezTo>
                    <a:pt x="0" y="58004"/>
                    <a:pt x="12168" y="25052"/>
                    <a:pt x="11727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Integrated haustral crease 24 1"/>
            <p:cNvSpPr/>
            <p:nvPr/>
          </p:nvSpPr>
          <p:spPr>
            <a:xfrm>
              <a:off x="547509" y="553927"/>
              <a:ext cx="10605" cy="25099"/>
            </a:xfrm>
            <a:custGeom>
              <a:avLst/>
              <a:gdLst/>
              <a:ahLst/>
              <a:cxnLst/>
              <a:rect l="0" t="0" r="r" b="b"/>
              <a:pathLst>
                <a:path w="24941" h="59030">
                  <a:moveTo>
                    <a:pt x="24941" y="2822"/>
                  </a:moveTo>
                  <a:cubicBezTo>
                    <a:pt x="4177" y="0"/>
                    <a:pt x="7110" y="35004"/>
                    <a:pt x="0" y="5903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Haustral reflected rim 24 1"/>
            <p:cNvSpPr/>
            <p:nvPr/>
          </p:nvSpPr>
          <p:spPr>
            <a:xfrm>
              <a:off x="545687" y="552105"/>
              <a:ext cx="10605" cy="25099"/>
            </a:xfrm>
            <a:custGeom>
              <a:avLst/>
              <a:gdLst/>
              <a:ahLst/>
              <a:cxnLst/>
              <a:rect l="0" t="0" r="r" b="b"/>
              <a:pathLst>
                <a:path w="24941" h="59030">
                  <a:moveTo>
                    <a:pt x="24941" y="2822"/>
                  </a:moveTo>
                  <a:cubicBezTo>
                    <a:pt x="4177" y="0"/>
                    <a:pt x="7110" y="35004"/>
                    <a:pt x="0" y="5903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Integrated haustral crease 25 -1"/>
            <p:cNvSpPr/>
            <p:nvPr/>
          </p:nvSpPr>
          <p:spPr>
            <a:xfrm>
              <a:off x="477467" y="585775"/>
              <a:ext cx="8673" cy="26147"/>
            </a:xfrm>
            <a:custGeom>
              <a:avLst/>
              <a:gdLst/>
              <a:ahLst/>
              <a:cxnLst/>
              <a:rect l="0" t="0" r="r" b="b"/>
              <a:pathLst>
                <a:path w="20398" h="61493">
                  <a:moveTo>
                    <a:pt x="20095" y="61493"/>
                  </a:moveTo>
                  <a:cubicBezTo>
                    <a:pt x="0" y="55551"/>
                    <a:pt x="17030" y="24829"/>
                    <a:pt x="20398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Haustral reflected rim 25 -1"/>
            <p:cNvSpPr/>
            <p:nvPr/>
          </p:nvSpPr>
          <p:spPr>
            <a:xfrm>
              <a:off x="475645" y="583952"/>
              <a:ext cx="8673" cy="26147"/>
            </a:xfrm>
            <a:custGeom>
              <a:avLst/>
              <a:gdLst/>
              <a:ahLst/>
              <a:cxnLst/>
              <a:rect l="0" t="0" r="r" b="b"/>
              <a:pathLst>
                <a:path w="20398" h="61493">
                  <a:moveTo>
                    <a:pt x="20095" y="61493"/>
                  </a:moveTo>
                  <a:cubicBezTo>
                    <a:pt x="0" y="55551"/>
                    <a:pt x="17030" y="24829"/>
                    <a:pt x="20398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Integrated haustral crease 25 1"/>
            <p:cNvSpPr/>
            <p:nvPr/>
          </p:nvSpPr>
          <p:spPr>
            <a:xfrm>
              <a:off x="492571" y="539486"/>
              <a:ext cx="14111" cy="24539"/>
            </a:xfrm>
            <a:custGeom>
              <a:avLst/>
              <a:gdLst/>
              <a:ahLst/>
              <a:cxnLst/>
              <a:rect l="0" t="0" r="r" b="b"/>
              <a:pathLst>
                <a:path w="33186" h="57712">
                  <a:moveTo>
                    <a:pt x="33186" y="5941"/>
                  </a:moveTo>
                  <a:cubicBezTo>
                    <a:pt x="13091" y="0"/>
                    <a:pt x="10675" y="35043"/>
                    <a:pt x="0" y="5771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Haustral reflected rim 25 1"/>
            <p:cNvSpPr/>
            <p:nvPr/>
          </p:nvSpPr>
          <p:spPr>
            <a:xfrm>
              <a:off x="490749" y="537664"/>
              <a:ext cx="14111" cy="24539"/>
            </a:xfrm>
            <a:custGeom>
              <a:avLst/>
              <a:gdLst/>
              <a:ahLst/>
              <a:cxnLst/>
              <a:rect l="0" t="0" r="r" b="b"/>
              <a:pathLst>
                <a:path w="33186" h="57712">
                  <a:moveTo>
                    <a:pt x="33186" y="5941"/>
                  </a:moveTo>
                  <a:cubicBezTo>
                    <a:pt x="13091" y="0"/>
                    <a:pt x="10675" y="35043"/>
                    <a:pt x="0" y="5771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Integrated haustral crease 26 -1"/>
            <p:cNvSpPr/>
            <p:nvPr/>
          </p:nvSpPr>
          <p:spPr>
            <a:xfrm>
              <a:off x="431029" y="578881"/>
              <a:ext cx="9252" cy="25159"/>
            </a:xfrm>
            <a:custGeom>
              <a:avLst/>
              <a:gdLst/>
              <a:ahLst/>
              <a:cxnLst/>
              <a:rect l="0" t="0" r="r" b="b"/>
              <a:pathLst>
                <a:path w="21760" h="59171">
                  <a:moveTo>
                    <a:pt x="21760" y="57515"/>
                  </a:moveTo>
                  <a:cubicBezTo>
                    <a:pt x="871" y="59171"/>
                    <a:pt x="5756" y="24386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Haustral reflected rim 26 -1"/>
            <p:cNvSpPr/>
            <p:nvPr/>
          </p:nvSpPr>
          <p:spPr>
            <a:xfrm>
              <a:off x="429207" y="577058"/>
              <a:ext cx="9252" cy="25159"/>
            </a:xfrm>
            <a:custGeom>
              <a:avLst/>
              <a:gdLst/>
              <a:ahLst/>
              <a:cxnLst/>
              <a:rect l="0" t="0" r="r" b="b"/>
              <a:pathLst>
                <a:path w="21760" h="59171">
                  <a:moveTo>
                    <a:pt x="21760" y="57515"/>
                  </a:moveTo>
                  <a:cubicBezTo>
                    <a:pt x="871" y="59171"/>
                    <a:pt x="5756" y="24386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Integrated haustral crease 26 1"/>
            <p:cNvSpPr/>
            <p:nvPr/>
          </p:nvSpPr>
          <p:spPr>
            <a:xfrm>
              <a:off x="425636" y="530664"/>
              <a:ext cx="8882" cy="25608"/>
            </a:xfrm>
            <a:custGeom>
              <a:avLst/>
              <a:gdLst/>
              <a:ahLst/>
              <a:cxnLst/>
              <a:rect l="0" t="0" r="r" b="b"/>
              <a:pathLst>
                <a:path w="20889" h="60226">
                  <a:moveTo>
                    <a:pt x="20889" y="0"/>
                  </a:moveTo>
                  <a:cubicBezTo>
                    <a:pt x="0" y="1657"/>
                    <a:pt x="10307" y="35237"/>
                    <a:pt x="8467" y="6022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Haustral reflected rim 26 1"/>
            <p:cNvSpPr/>
            <p:nvPr/>
          </p:nvSpPr>
          <p:spPr>
            <a:xfrm>
              <a:off x="423814" y="528842"/>
              <a:ext cx="8882" cy="25608"/>
            </a:xfrm>
            <a:custGeom>
              <a:avLst/>
              <a:gdLst/>
              <a:ahLst/>
              <a:cxnLst/>
              <a:rect l="0" t="0" r="r" b="b"/>
              <a:pathLst>
                <a:path w="20889" h="60226">
                  <a:moveTo>
                    <a:pt x="20889" y="0"/>
                  </a:moveTo>
                  <a:cubicBezTo>
                    <a:pt x="0" y="1657"/>
                    <a:pt x="10307" y="35237"/>
                    <a:pt x="8467" y="6022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Vermiform appendix continuous outline"/>
            <p:cNvSpPr/>
            <p:nvPr/>
          </p:nvSpPr>
          <p:spPr>
            <a:xfrm>
              <a:off x="206550" y="554850"/>
              <a:ext cx="48600" cy="93150"/>
            </a:xfrm>
            <a:custGeom>
              <a:avLst/>
              <a:gdLst/>
              <a:ahLst/>
              <a:cxnLst/>
              <a:rect l="0" t="0" r="r" b="b"/>
              <a:pathLst>
                <a:path w="114300" h="219075">
                  <a:moveTo>
                    <a:pt x="0" y="0"/>
                  </a:moveTo>
                  <a:cubicBezTo>
                    <a:pt x="66675" y="38100"/>
                    <a:pt x="57150" y="85725"/>
                    <a:pt x="85725" y="123825"/>
                  </a:cubicBezTo>
                  <a:cubicBezTo>
                    <a:pt x="114300" y="161925"/>
                    <a:pt x="114300" y="190500"/>
                    <a:pt x="95250" y="219075"/>
                  </a:cubicBezTo>
                </a:path>
              </a:pathLst>
            </a:custGeom>
            <a:noFill/>
            <a:ln w="13770" cap="rnd">
              <a:solidFill>
                <a:srgbClr val="BC8270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Vermiform appendix tissue"/>
            <p:cNvSpPr/>
            <p:nvPr/>
          </p:nvSpPr>
          <p:spPr>
            <a:xfrm>
              <a:off x="206550" y="554850"/>
              <a:ext cx="48600" cy="93150"/>
            </a:xfrm>
            <a:custGeom>
              <a:avLst/>
              <a:gdLst/>
              <a:ahLst/>
              <a:cxnLst/>
              <a:rect l="0" t="0" r="r" b="b"/>
              <a:pathLst>
                <a:path w="114300" h="219075">
                  <a:moveTo>
                    <a:pt x="0" y="0"/>
                  </a:moveTo>
                  <a:cubicBezTo>
                    <a:pt x="66675" y="38100"/>
                    <a:pt x="57150" y="85725"/>
                    <a:pt x="85725" y="123825"/>
                  </a:cubicBezTo>
                  <a:cubicBezTo>
                    <a:pt x="114300" y="161925"/>
                    <a:pt x="114300" y="190500"/>
                    <a:pt x="95250" y="219075"/>
                  </a:cubicBezTo>
                </a:path>
              </a:pathLst>
            </a:custGeom>
            <a:noFill/>
            <a:ln w="7695" cap="rnd">
              <a:solidFill>
                <a:srgbClr val="F0B79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Fine longitudinal rectal fold"/>
            <p:cNvSpPr/>
            <p:nvPr/>
          </p:nvSpPr>
          <p:spPr>
            <a:xfrm>
              <a:off x="392850" y="672300"/>
              <a:ext cx="16200" cy="129600"/>
            </a:xfrm>
            <a:custGeom>
              <a:avLst/>
              <a:gdLst/>
              <a:ahLst/>
              <a:cxnLst/>
              <a:rect l="0" t="0" r="r" b="b"/>
              <a:pathLst>
                <a:path w="38100" h="304800">
                  <a:moveTo>
                    <a:pt x="9525" y="0"/>
                  </a:moveTo>
                  <a:cubicBezTo>
                    <a:pt x="38100" y="95250"/>
                    <a:pt x="0" y="200025"/>
                    <a:pt x="28575" y="304800"/>
                  </a:cubicBezTo>
                </a:path>
              </a:pathLst>
            </a:custGeom>
            <a:noFill/>
            <a:ln w="3240" cap="rnd">
              <a:solidFill>
                <a:srgbClr val="CA8E78">
                  <a:alpha val="56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3" name="intestinal_schematic"/>
          <p:cNvSpPr txBox="1"/>
          <p:nvPr/>
        </p:nvSpPr>
        <p:spPr>
          <a:xfrm>
            <a:off x="125550" y="1510650"/>
            <a:ext cx="850500" cy="12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Intestine (schematic)</a:t>
            </a:r>
          </a:p>
        </p:txBody>
      </p:sp>
      <p:grpSp>
        <p:nvGrpSpPr>
          <p:cNvPr id="144" name="Editable colonic-lumen cutaway with intraluminal microbiota"/>
          <p:cNvGrpSpPr/>
          <p:nvPr/>
        </p:nvGrpSpPr>
        <p:grpSpPr>
          <a:xfrm>
            <a:off x="1101600" y="684450"/>
            <a:ext cx="704700" cy="481950"/>
            <a:chOff x="4050" y="4050"/>
            <a:chExt cx="724950" cy="490050"/>
          </a:xfrm>
        </p:grpSpPr>
        <p:sp>
          <p:nvSpPr>
            <p:cNvPr id="145" name="Continuous colonic outer wall"/>
            <p:cNvSpPr/>
            <p:nvPr/>
          </p:nvSpPr>
          <p:spPr>
            <a:xfrm>
              <a:off x="4050" y="4050"/>
              <a:ext cx="724950" cy="490050"/>
            </a:xfrm>
            <a:custGeom>
              <a:avLst/>
              <a:gdLst/>
              <a:ahLst/>
              <a:cxnLst/>
              <a:rect l="0" t="0" r="r" b="b"/>
              <a:pathLst>
                <a:path w="1704975" h="1152525">
                  <a:moveTo>
                    <a:pt x="266700" y="28575"/>
                  </a:moveTo>
                  <a:cubicBezTo>
                    <a:pt x="152400" y="28575"/>
                    <a:pt x="47625" y="133350"/>
                    <a:pt x="28575" y="276225"/>
                  </a:cubicBezTo>
                  <a:cubicBezTo>
                    <a:pt x="0" y="438150"/>
                    <a:pt x="9525" y="704850"/>
                    <a:pt x="38100" y="866775"/>
                  </a:cubicBezTo>
                  <a:cubicBezTo>
                    <a:pt x="57150" y="1019175"/>
                    <a:pt x="152400" y="1114425"/>
                    <a:pt x="285750" y="1123950"/>
                  </a:cubicBezTo>
                  <a:cubicBezTo>
                    <a:pt x="619125" y="1152525"/>
                    <a:pt x="1095375" y="1152525"/>
                    <a:pt x="1409700" y="1123950"/>
                  </a:cubicBezTo>
                  <a:cubicBezTo>
                    <a:pt x="1571625" y="1104900"/>
                    <a:pt x="1657350" y="1009650"/>
                    <a:pt x="1676400" y="857250"/>
                  </a:cubicBezTo>
                  <a:cubicBezTo>
                    <a:pt x="1704975" y="676275"/>
                    <a:pt x="1695450" y="447675"/>
                    <a:pt x="1666875" y="276225"/>
                  </a:cubicBezTo>
                  <a:cubicBezTo>
                    <a:pt x="1638300" y="123825"/>
                    <a:pt x="1543050" y="38100"/>
                    <a:pt x="1409700" y="28575"/>
                  </a:cubicBezTo>
                  <a:cubicBezTo>
                    <a:pt x="1047750" y="0"/>
                    <a:pt x="609600" y="0"/>
                    <a:pt x="266700" y="28575"/>
                  </a:cubicBezTo>
                  <a:close/>
                </a:path>
              </a:pathLst>
            </a:custGeom>
            <a:gradFill rotWithShape="1">
              <a:gsLst>
                <a:gs pos="0">
                  <a:srgbClr val="FBE0D1"/>
                </a:gs>
                <a:gs pos="43000">
                  <a:srgbClr val="F7D1BF"/>
                </a:gs>
                <a:gs pos="100000">
                  <a:srgbClr val="EFB9A7"/>
                </a:gs>
              </a:gsLst>
              <a:lin ang="5400000" scaled="1"/>
            </a:gradFill>
            <a:ln w="3442" cap="rnd">
              <a:solidFill>
                <a:srgbClr val="C48C7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Colonic muscular and connective-tissue layer"/>
            <p:cNvSpPr/>
            <p:nvPr/>
          </p:nvSpPr>
          <p:spPr>
            <a:xfrm>
              <a:off x="40500" y="36450"/>
              <a:ext cx="639900" cy="425250"/>
            </a:xfrm>
            <a:custGeom>
              <a:avLst/>
              <a:gdLst/>
              <a:ahLst/>
              <a:cxnLst/>
              <a:rect l="0" t="0" r="r" b="b"/>
              <a:pathLst>
                <a:path w="1504950" h="1000125">
                  <a:moveTo>
                    <a:pt x="200025" y="28575"/>
                  </a:moveTo>
                  <a:cubicBezTo>
                    <a:pt x="76200" y="38100"/>
                    <a:pt x="28575" y="133350"/>
                    <a:pt x="19050" y="257175"/>
                  </a:cubicBezTo>
                  <a:cubicBezTo>
                    <a:pt x="0" y="419100"/>
                    <a:pt x="0" y="628650"/>
                    <a:pt x="38100" y="781050"/>
                  </a:cubicBezTo>
                  <a:cubicBezTo>
                    <a:pt x="57150" y="895350"/>
                    <a:pt x="133350" y="952500"/>
                    <a:pt x="257175" y="971550"/>
                  </a:cubicBezTo>
                  <a:cubicBezTo>
                    <a:pt x="581025" y="1000125"/>
                    <a:pt x="962025" y="1000125"/>
                    <a:pt x="1276350" y="971550"/>
                  </a:cubicBezTo>
                  <a:cubicBezTo>
                    <a:pt x="1409700" y="942975"/>
                    <a:pt x="1476375" y="866775"/>
                    <a:pt x="1485900" y="742950"/>
                  </a:cubicBezTo>
                  <a:cubicBezTo>
                    <a:pt x="1504950" y="590550"/>
                    <a:pt x="1504950" y="390525"/>
                    <a:pt x="1476375" y="247650"/>
                  </a:cubicBezTo>
                  <a:cubicBezTo>
                    <a:pt x="1457325" y="123825"/>
                    <a:pt x="1390650" y="47625"/>
                    <a:pt x="1266825" y="28575"/>
                  </a:cubicBezTo>
                  <a:cubicBezTo>
                    <a:pt x="962025" y="0"/>
                    <a:pt x="533400" y="0"/>
                    <a:pt x="200025" y="28575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ADD"/>
                </a:gs>
                <a:gs pos="58000">
                  <a:srgbClr val="F8DCCD"/>
                </a:gs>
                <a:gs pos="100000">
                  <a:srgbClr val="F3CBBB"/>
                </a:gs>
              </a:gsLst>
              <a:lin ang="5400000" scaled="1"/>
            </a:gradFill>
            <a:ln w="2632" cap="rnd">
              <a:solidFill>
                <a:srgbClr val="D8A28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Clearly bounded pale colonic lumen"/>
            <p:cNvSpPr/>
            <p:nvPr/>
          </p:nvSpPr>
          <p:spPr>
            <a:xfrm>
              <a:off x="68850" y="97200"/>
              <a:ext cx="587250" cy="299700"/>
            </a:xfrm>
            <a:custGeom>
              <a:avLst/>
              <a:gdLst/>
              <a:ahLst/>
              <a:cxnLst/>
              <a:rect l="0" t="0" r="r" b="b"/>
              <a:pathLst>
                <a:path w="1381125" h="704850">
                  <a:moveTo>
                    <a:pt x="142875" y="47625"/>
                  </a:moveTo>
                  <a:cubicBezTo>
                    <a:pt x="419100" y="0"/>
                    <a:pt x="971550" y="0"/>
                    <a:pt x="1247775" y="57150"/>
                  </a:cubicBezTo>
                  <a:cubicBezTo>
                    <a:pt x="1343025" y="76200"/>
                    <a:pt x="1381125" y="180975"/>
                    <a:pt x="1381125" y="342900"/>
                  </a:cubicBezTo>
                  <a:cubicBezTo>
                    <a:pt x="1381125" y="504825"/>
                    <a:pt x="1352550" y="609600"/>
                    <a:pt x="1247775" y="647700"/>
                  </a:cubicBezTo>
                  <a:cubicBezTo>
                    <a:pt x="942975" y="704850"/>
                    <a:pt x="438150" y="695325"/>
                    <a:pt x="142875" y="638175"/>
                  </a:cubicBezTo>
                  <a:cubicBezTo>
                    <a:pt x="38100" y="609600"/>
                    <a:pt x="0" y="495300"/>
                    <a:pt x="0" y="342900"/>
                  </a:cubicBezTo>
                  <a:cubicBezTo>
                    <a:pt x="0" y="180975"/>
                    <a:pt x="38100" y="76200"/>
                    <a:pt x="142875" y="4762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DF6"/>
                </a:gs>
                <a:gs pos="50000">
                  <a:srgbClr val="FFFBF0"/>
                </a:gs>
                <a:gs pos="100000">
                  <a:srgbClr val="FFF7E9"/>
                </a:gs>
              </a:gsLst>
              <a:lin ang="5400000" scaled="1"/>
            </a:gradFill>
            <a:ln w="5062" cap="rnd">
              <a:solidFill>
                <a:srgbClr val="D69D8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Smooth colonic mucosal tissue edge"/>
            <p:cNvSpPr/>
            <p:nvPr/>
          </p:nvSpPr>
          <p:spPr>
            <a:xfrm>
              <a:off x="68850" y="97200"/>
              <a:ext cx="587250" cy="299700"/>
            </a:xfrm>
            <a:custGeom>
              <a:avLst/>
              <a:gdLst/>
              <a:ahLst/>
              <a:cxnLst/>
              <a:rect l="0" t="0" r="r" b="b"/>
              <a:pathLst>
                <a:path w="1381125" h="704850">
                  <a:moveTo>
                    <a:pt x="142875" y="47625"/>
                  </a:moveTo>
                  <a:cubicBezTo>
                    <a:pt x="419100" y="0"/>
                    <a:pt x="971550" y="0"/>
                    <a:pt x="1247775" y="57150"/>
                  </a:cubicBezTo>
                  <a:cubicBezTo>
                    <a:pt x="1343025" y="76200"/>
                    <a:pt x="1381125" y="180975"/>
                    <a:pt x="1381125" y="342900"/>
                  </a:cubicBezTo>
                  <a:cubicBezTo>
                    <a:pt x="1381125" y="504825"/>
                    <a:pt x="1352550" y="609600"/>
                    <a:pt x="1247775" y="647700"/>
                  </a:cubicBezTo>
                  <a:cubicBezTo>
                    <a:pt x="942975" y="704850"/>
                    <a:pt x="438150" y="695325"/>
                    <a:pt x="142875" y="638175"/>
                  </a:cubicBezTo>
                  <a:cubicBezTo>
                    <a:pt x="38100" y="609600"/>
                    <a:pt x="0" y="495300"/>
                    <a:pt x="0" y="342900"/>
                  </a:cubicBezTo>
                  <a:cubicBezTo>
                    <a:pt x="0" y="180975"/>
                    <a:pt x="38100" y="76200"/>
                    <a:pt x="142875" y="47625"/>
                  </a:cubicBezTo>
                  <a:close/>
                </a:path>
              </a:pathLst>
            </a:custGeom>
            <a:noFill/>
            <a:ln w="14580" cap="rnd">
              <a:solidFill>
                <a:srgbClr val="EFC4B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Fine luminal epithelial boundary"/>
            <p:cNvSpPr/>
            <p:nvPr/>
          </p:nvSpPr>
          <p:spPr>
            <a:xfrm>
              <a:off x="68850" y="97200"/>
              <a:ext cx="587250" cy="299700"/>
            </a:xfrm>
            <a:custGeom>
              <a:avLst/>
              <a:gdLst/>
              <a:ahLst/>
              <a:cxnLst/>
              <a:rect l="0" t="0" r="r" b="b"/>
              <a:pathLst>
                <a:path w="1381125" h="704850">
                  <a:moveTo>
                    <a:pt x="142875" y="47625"/>
                  </a:moveTo>
                  <a:cubicBezTo>
                    <a:pt x="419100" y="0"/>
                    <a:pt x="971550" y="0"/>
                    <a:pt x="1247775" y="57150"/>
                  </a:cubicBezTo>
                  <a:cubicBezTo>
                    <a:pt x="1343025" y="76200"/>
                    <a:pt x="1381125" y="180975"/>
                    <a:pt x="1381125" y="342900"/>
                  </a:cubicBezTo>
                  <a:cubicBezTo>
                    <a:pt x="1381125" y="504825"/>
                    <a:pt x="1352550" y="609600"/>
                    <a:pt x="1247775" y="647700"/>
                  </a:cubicBezTo>
                  <a:cubicBezTo>
                    <a:pt x="942975" y="704850"/>
                    <a:pt x="438150" y="695325"/>
                    <a:pt x="142875" y="638175"/>
                  </a:cubicBezTo>
                  <a:cubicBezTo>
                    <a:pt x="38100" y="609600"/>
                    <a:pt x="0" y="495300"/>
                    <a:pt x="0" y="342900"/>
                  </a:cubicBezTo>
                  <a:cubicBezTo>
                    <a:pt x="0" y="180975"/>
                    <a:pt x="38100" y="76200"/>
                    <a:pt x="142875" y="47625"/>
                  </a:cubicBezTo>
                  <a:close/>
                </a:path>
              </a:pathLst>
            </a:custGeom>
            <a:noFill/>
            <a:ln w="2430" cap="rnd">
              <a:solidFill>
                <a:srgbClr val="D69F8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Shallow upper colonic crypt 00"/>
            <p:cNvSpPr/>
            <p:nvPr/>
          </p:nvSpPr>
          <p:spPr>
            <a:xfrm>
              <a:off x="166860" y="7614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Shallow lower colonic crypt 00"/>
            <p:cNvSpPr/>
            <p:nvPr/>
          </p:nvSpPr>
          <p:spPr>
            <a:xfrm>
              <a:off x="167670" y="3807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3" y="76200"/>
                    <a:pt x="24765" y="76200"/>
                  </a:cubicBezTo>
                  <a:cubicBezTo>
                    <a:pt x="48578" y="76200"/>
                    <a:pt x="49530" y="28575"/>
                    <a:pt x="44768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Shallow upper colonic crypt 01"/>
            <p:cNvSpPr/>
            <p:nvPr/>
          </p:nvSpPr>
          <p:spPr>
            <a:xfrm>
              <a:off x="260010" y="7209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Shallow lower colonic crypt 01"/>
            <p:cNvSpPr/>
            <p:nvPr/>
          </p:nvSpPr>
          <p:spPr>
            <a:xfrm>
              <a:off x="260820" y="3888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Shallow upper colonic crypt 02"/>
            <p:cNvSpPr/>
            <p:nvPr/>
          </p:nvSpPr>
          <p:spPr>
            <a:xfrm>
              <a:off x="361260" y="7209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Shallow lower colonic crypt 02"/>
            <p:cNvSpPr/>
            <p:nvPr/>
          </p:nvSpPr>
          <p:spPr>
            <a:xfrm>
              <a:off x="362070" y="3888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Shallow upper colonic crypt 03"/>
            <p:cNvSpPr/>
            <p:nvPr/>
          </p:nvSpPr>
          <p:spPr>
            <a:xfrm>
              <a:off x="466560" y="7209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Shallow lower colonic crypt 03"/>
            <p:cNvSpPr/>
            <p:nvPr/>
          </p:nvSpPr>
          <p:spPr>
            <a:xfrm>
              <a:off x="467370" y="3888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Shallow upper colonic crypt 04"/>
            <p:cNvSpPr/>
            <p:nvPr/>
          </p:nvSpPr>
          <p:spPr>
            <a:xfrm>
              <a:off x="555660" y="7614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3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3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Shallow lower colonic crypt 04"/>
            <p:cNvSpPr/>
            <p:nvPr/>
          </p:nvSpPr>
          <p:spPr>
            <a:xfrm>
              <a:off x="556470" y="3807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Upper muscular-wall reflected edge"/>
            <p:cNvSpPr/>
            <p:nvPr/>
          </p:nvSpPr>
          <p:spPr>
            <a:xfrm>
              <a:off x="141750" y="20250"/>
              <a:ext cx="437400" cy="12150"/>
            </a:xfrm>
            <a:custGeom>
              <a:avLst/>
              <a:gdLst/>
              <a:ahLst/>
              <a:cxnLst/>
              <a:rect l="0" t="0" r="r" b="b"/>
              <a:pathLst>
                <a:path w="1028700" h="28575">
                  <a:moveTo>
                    <a:pt x="0" y="28575"/>
                  </a:moveTo>
                  <a:cubicBezTo>
                    <a:pt x="304800" y="0"/>
                    <a:pt x="733425" y="0"/>
                    <a:pt x="1028700" y="28575"/>
                  </a:cubicBezTo>
                </a:path>
              </a:pathLst>
            </a:custGeom>
            <a:noFill/>
            <a:ln w="2835" cap="rnd">
              <a:solidFill>
                <a:srgbClr val="FFEBD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Lower muscular-wall tissue fibre"/>
            <p:cNvSpPr/>
            <p:nvPr/>
          </p:nvSpPr>
          <p:spPr>
            <a:xfrm>
              <a:off x="141750" y="465750"/>
              <a:ext cx="437400" cy="16200"/>
            </a:xfrm>
            <a:custGeom>
              <a:avLst/>
              <a:gdLst/>
              <a:ahLst/>
              <a:cxnLst/>
              <a:rect l="0" t="0" r="r" b="b"/>
              <a:pathLst>
                <a:path w="1028700" h="38100">
                  <a:moveTo>
                    <a:pt x="0" y="0"/>
                  </a:moveTo>
                  <a:cubicBezTo>
                    <a:pt x="323850" y="38100"/>
                    <a:pt x="733425" y="38100"/>
                    <a:pt x="1028700" y="0"/>
                  </a:cubicBezTo>
                </a:path>
              </a:pathLst>
            </a:custGeom>
            <a:noFill/>
            <a:ln w="2632" cap="rnd">
              <a:solidFill>
                <a:srgbClr val="E1AA97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Intraluminal sage rod cell wall"/>
            <p:cNvSpPr/>
            <p:nvPr/>
          </p:nvSpPr>
          <p:spPr>
            <a:xfrm>
              <a:off x="130071" y="156945"/>
              <a:ext cx="104358" cy="66810"/>
            </a:xfrm>
            <a:custGeom>
              <a:avLst/>
              <a:gdLst/>
              <a:ahLst/>
              <a:cxnLst/>
              <a:rect l="0" t="0" r="r" b="b"/>
              <a:pathLst>
                <a:path w="245434" h="157128">
                  <a:moveTo>
                    <a:pt x="30182" y="73866"/>
                  </a:moveTo>
                  <a:lnTo>
                    <a:pt x="183618" y="8736"/>
                  </a:lnTo>
                  <a:cubicBezTo>
                    <a:pt x="204198" y="0"/>
                    <a:pt x="227963" y="9602"/>
                    <a:pt x="236699" y="30182"/>
                  </a:cubicBezTo>
                  <a:cubicBezTo>
                    <a:pt x="245434" y="50761"/>
                    <a:pt x="235833" y="74526"/>
                    <a:pt x="215253" y="83262"/>
                  </a:cubicBezTo>
                  <a:lnTo>
                    <a:pt x="61816" y="148392"/>
                  </a:lnTo>
                  <a:cubicBezTo>
                    <a:pt x="41236" y="157128"/>
                    <a:pt x="17471" y="147526"/>
                    <a:pt x="8736" y="126946"/>
                  </a:cubicBezTo>
                  <a:cubicBezTo>
                    <a:pt x="0" y="106366"/>
                    <a:pt x="9602" y="82601"/>
                    <a:pt x="30182" y="73866"/>
                  </a:cubicBezTo>
                  <a:close/>
                </a:path>
              </a:pathLst>
            </a:custGeom>
            <a:solidFill>
              <a:srgbClr val="AFC4AD"/>
            </a:solidFill>
            <a:ln w="3037" cap="rnd">
              <a:solidFill>
                <a:srgbClr val="7A967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Intraluminal sage rod reflected edge"/>
            <p:cNvSpPr/>
            <p:nvPr/>
          </p:nvSpPr>
          <p:spPr>
            <a:xfrm>
              <a:off x="156389" y="175012"/>
              <a:ext cx="44374" cy="17901"/>
            </a:xfrm>
            <a:custGeom>
              <a:avLst/>
              <a:gdLst/>
              <a:ahLst/>
              <a:cxnLst/>
              <a:rect l="0" t="0" r="r" b="b"/>
              <a:pathLst>
                <a:path w="104361" h="42100">
                  <a:moveTo>
                    <a:pt x="0" y="42100"/>
                  </a:moveTo>
                  <a:quadBezTo>
                    <a:pt x="50539" y="11851"/>
                    <a:pt x="104361" y="0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Intraluminal sage rod nucleoid"/>
            <p:cNvSpPr/>
            <p:nvPr/>
          </p:nvSpPr>
          <p:spPr>
            <a:xfrm>
              <a:off x="169202" y="182228"/>
              <a:ext cx="29358" cy="13660"/>
            </a:xfrm>
            <a:custGeom>
              <a:avLst/>
              <a:gdLst/>
              <a:ahLst/>
              <a:cxnLst/>
              <a:rect l="0" t="0" r="r" b="b"/>
              <a:pathLst>
                <a:path w="69046" h="32127">
                  <a:moveTo>
                    <a:pt x="0" y="32127"/>
                  </a:moveTo>
                  <a:cubicBezTo>
                    <a:pt x="13525" y="0"/>
                    <a:pt x="56194" y="25865"/>
                    <a:pt x="69046" y="2819"/>
                  </a:cubicBezTo>
                </a:path>
              </a:pathLst>
            </a:custGeom>
            <a:noFill/>
            <a:ln w="2632" cap="rnd">
              <a:solidFill>
                <a:srgbClr val="7A967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Intraluminal sage rod ribosomal dot 0"/>
            <p:cNvSpPr/>
            <p:nvPr/>
          </p:nvSpPr>
          <p:spPr>
            <a:xfrm>
              <a:off x="157926" y="200377"/>
              <a:ext cx="5670" cy="5670"/>
            </a:xfrm>
            <a:prstGeom prst="ellipse">
              <a:avLst/>
            </a:prstGeom>
            <a:solidFill>
              <a:srgbClr val="7A967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Intraluminal sage rod ribosomal dot 1"/>
            <p:cNvSpPr/>
            <p:nvPr/>
          </p:nvSpPr>
          <p:spPr>
            <a:xfrm>
              <a:off x="206857" y="179607"/>
              <a:ext cx="5670" cy="5670"/>
            </a:xfrm>
            <a:prstGeom prst="ellipse">
              <a:avLst/>
            </a:prstGeom>
            <a:solidFill>
              <a:srgbClr val="7A967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Intraluminal lavender rod cell wall"/>
            <p:cNvSpPr/>
            <p:nvPr/>
          </p:nvSpPr>
          <p:spPr>
            <a:xfrm>
              <a:off x="430865" y="148567"/>
              <a:ext cx="102170" cy="59265"/>
            </a:xfrm>
            <a:custGeom>
              <a:avLst/>
              <a:gdLst/>
              <a:ahLst/>
              <a:cxnLst/>
              <a:rect l="0" t="0" r="r" b="b"/>
              <a:pathLst>
                <a:path w="240288" h="139383">
                  <a:moveTo>
                    <a:pt x="57918" y="6909"/>
                  </a:moveTo>
                  <a:lnTo>
                    <a:pt x="207389" y="55475"/>
                  </a:lnTo>
                  <a:cubicBezTo>
                    <a:pt x="228651" y="62383"/>
                    <a:pt x="240288" y="85221"/>
                    <a:pt x="233379" y="106484"/>
                  </a:cubicBezTo>
                  <a:cubicBezTo>
                    <a:pt x="226470" y="127747"/>
                    <a:pt x="203633" y="139383"/>
                    <a:pt x="182370" y="132475"/>
                  </a:cubicBezTo>
                  <a:lnTo>
                    <a:pt x="32899" y="83909"/>
                  </a:lnTo>
                  <a:cubicBezTo>
                    <a:pt x="11636" y="77000"/>
                    <a:pt x="0" y="54162"/>
                    <a:pt x="6909" y="32899"/>
                  </a:cubicBezTo>
                  <a:cubicBezTo>
                    <a:pt x="13817" y="11636"/>
                    <a:pt x="36655" y="0"/>
                    <a:pt x="57918" y="6909"/>
                  </a:cubicBezTo>
                  <a:close/>
                </a:path>
              </a:pathLst>
            </a:custGeom>
            <a:solidFill>
              <a:srgbClr val="BBB0CC"/>
            </a:solidFill>
            <a:ln w="3037" cap="rnd">
              <a:solidFill>
                <a:srgbClr val="9583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Intraluminal lavender rod reflected edge"/>
            <p:cNvSpPr/>
            <p:nvPr/>
          </p:nvSpPr>
          <p:spPr>
            <a:xfrm>
              <a:off x="462100" y="163606"/>
              <a:ext cx="42633" cy="14757"/>
            </a:xfrm>
            <a:custGeom>
              <a:avLst/>
              <a:gdLst/>
              <a:ahLst/>
              <a:cxnLst/>
              <a:rect l="0" t="0" r="r" b="b"/>
              <a:pathLst>
                <a:path w="100267" h="34707">
                  <a:moveTo>
                    <a:pt x="0" y="0"/>
                  </a:moveTo>
                  <a:quadBezTo>
                    <a:pt x="54817" y="9298"/>
                    <a:pt x="100267" y="34707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Intraluminal lavender rod nucleoid"/>
            <p:cNvSpPr/>
            <p:nvPr/>
          </p:nvSpPr>
          <p:spPr>
            <a:xfrm>
              <a:off x="469239" y="167346"/>
              <a:ext cx="28600" cy="19984"/>
            </a:xfrm>
            <a:custGeom>
              <a:avLst/>
              <a:gdLst/>
              <a:ahLst/>
              <a:cxnLst/>
              <a:rect l="0" t="0" r="r" b="b"/>
              <a:pathLst>
                <a:path w="67262" h="46999">
                  <a:moveTo>
                    <a:pt x="0" y="15815"/>
                  </a:moveTo>
                  <a:cubicBezTo>
                    <a:pt x="29926" y="0"/>
                    <a:pt x="43574" y="46999"/>
                    <a:pt x="67262" y="37670"/>
                  </a:cubicBezTo>
                </a:path>
              </a:pathLst>
            </a:custGeom>
            <a:noFill/>
            <a:ln w="2632" cap="rnd">
              <a:solidFill>
                <a:srgbClr val="9583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Intraluminal lavender rod ribosomal dot 0"/>
            <p:cNvSpPr/>
            <p:nvPr/>
          </p:nvSpPr>
          <p:spPr>
            <a:xfrm>
              <a:off x="455807" y="171411"/>
              <a:ext cx="5670" cy="5670"/>
            </a:xfrm>
            <a:prstGeom prst="ellipse">
              <a:avLst/>
            </a:prstGeom>
            <a:solidFill>
              <a:srgbClr val="9583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Intraluminal lavender rod ribosomal dot 1"/>
            <p:cNvSpPr/>
            <p:nvPr/>
          </p:nvSpPr>
          <p:spPr>
            <a:xfrm>
              <a:off x="503473" y="186899"/>
              <a:ext cx="5670" cy="5670"/>
            </a:xfrm>
            <a:prstGeom prst="ellipse">
              <a:avLst/>
            </a:prstGeom>
            <a:solidFill>
              <a:srgbClr val="9583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Intraluminal blue rod cell wall"/>
            <p:cNvSpPr/>
            <p:nvPr/>
          </p:nvSpPr>
          <p:spPr>
            <a:xfrm>
              <a:off x="294968" y="258053"/>
              <a:ext cx="114764" cy="75194"/>
            </a:xfrm>
            <a:custGeom>
              <a:avLst/>
              <a:gdLst/>
              <a:ahLst/>
              <a:cxnLst/>
              <a:rect l="0" t="0" r="r" b="b"/>
              <a:pathLst>
                <a:path w="269909" h="176845">
                  <a:moveTo>
                    <a:pt x="65477" y="9782"/>
                  </a:moveTo>
                  <a:lnTo>
                    <a:pt x="239855" y="91096"/>
                  </a:lnTo>
                  <a:cubicBezTo>
                    <a:pt x="260833" y="100878"/>
                    <a:pt x="269909" y="125814"/>
                    <a:pt x="260127" y="146791"/>
                  </a:cubicBezTo>
                  <a:cubicBezTo>
                    <a:pt x="250345" y="167769"/>
                    <a:pt x="225409" y="176845"/>
                    <a:pt x="204432" y="167063"/>
                  </a:cubicBezTo>
                  <a:lnTo>
                    <a:pt x="30053" y="85749"/>
                  </a:lnTo>
                  <a:cubicBezTo>
                    <a:pt x="9076" y="75967"/>
                    <a:pt x="0" y="51031"/>
                    <a:pt x="9782" y="30053"/>
                  </a:cubicBezTo>
                  <a:cubicBezTo>
                    <a:pt x="19564" y="9076"/>
                    <a:pt x="44500" y="0"/>
                    <a:pt x="65477" y="9782"/>
                  </a:cubicBezTo>
                  <a:close/>
                </a:path>
              </a:pathLst>
            </a:custGeom>
            <a:solidFill>
              <a:srgbClr val="B5CBD4"/>
            </a:solidFill>
            <a:ln w="3037" cap="rnd">
              <a:solidFill>
                <a:srgbClr val="7E9F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Intraluminal blue rod reflected edge"/>
            <p:cNvSpPr/>
            <p:nvPr/>
          </p:nvSpPr>
          <p:spPr>
            <a:xfrm>
              <a:off x="329788" y="276281"/>
              <a:ext cx="49671" cy="24145"/>
            </a:xfrm>
            <a:custGeom>
              <a:avLst/>
              <a:gdLst/>
              <a:ahLst/>
              <a:cxnLst/>
              <a:rect l="0" t="0" r="r" b="b"/>
              <a:pathLst>
                <a:path w="116820" h="56786">
                  <a:moveTo>
                    <a:pt x="0" y="0"/>
                  </a:moveTo>
                  <a:quadBezTo>
                    <a:pt x="64575" y="20863"/>
                    <a:pt x="116820" y="56786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Intraluminal blue rod nucleoid"/>
            <p:cNvSpPr/>
            <p:nvPr/>
          </p:nvSpPr>
          <p:spPr>
            <a:xfrm>
              <a:off x="337521" y="284231"/>
              <a:ext cx="33365" cy="22201"/>
            </a:xfrm>
            <a:custGeom>
              <a:avLst/>
              <a:gdLst/>
              <a:ahLst/>
              <a:cxnLst/>
              <a:rect l="0" t="0" r="r" b="b"/>
              <a:pathLst>
                <a:path w="78470" h="52213">
                  <a:moveTo>
                    <a:pt x="0" y="10593"/>
                  </a:moveTo>
                  <a:cubicBezTo>
                    <a:pt x="36784" y="0"/>
                    <a:pt x="49588" y="52213"/>
                    <a:pt x="78470" y="47184"/>
                  </a:cubicBezTo>
                </a:path>
              </a:pathLst>
            </a:custGeom>
            <a:noFill/>
            <a:ln w="2632" cap="rnd">
              <a:solidFill>
                <a:srgbClr val="7E9F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Intraluminal blue rod ribosomal dot 0"/>
            <p:cNvSpPr/>
            <p:nvPr/>
          </p:nvSpPr>
          <p:spPr>
            <a:xfrm>
              <a:off x="322058" y="283944"/>
              <a:ext cx="5670" cy="5670"/>
            </a:xfrm>
            <a:prstGeom prst="ellipse">
              <a:avLst/>
            </a:prstGeom>
            <a:solidFill>
              <a:srgbClr val="7E9F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Intraluminal blue rod ribosomal dot 1"/>
            <p:cNvSpPr/>
            <p:nvPr/>
          </p:nvSpPr>
          <p:spPr>
            <a:xfrm>
              <a:off x="377667" y="309875"/>
              <a:ext cx="5670" cy="5670"/>
            </a:xfrm>
            <a:prstGeom prst="ellipse">
              <a:avLst/>
            </a:prstGeom>
            <a:solidFill>
              <a:srgbClr val="7E9F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Intraluminal ochre rod cell wall"/>
            <p:cNvSpPr/>
            <p:nvPr/>
          </p:nvSpPr>
          <p:spPr>
            <a:xfrm>
              <a:off x="497139" y="275514"/>
              <a:ext cx="91121" cy="64572"/>
            </a:xfrm>
            <a:custGeom>
              <a:avLst/>
              <a:gdLst/>
              <a:ahLst/>
              <a:cxnLst/>
              <a:rect l="0" t="0" r="r" b="b"/>
              <a:pathLst>
                <a:path w="214303" h="151864">
                  <a:moveTo>
                    <a:pt x="26203" y="74417"/>
                  </a:moveTo>
                  <a:lnTo>
                    <a:pt x="153506" y="9553"/>
                  </a:lnTo>
                  <a:cubicBezTo>
                    <a:pt x="172254" y="0"/>
                    <a:pt x="195197" y="7455"/>
                    <a:pt x="204750" y="26203"/>
                  </a:cubicBezTo>
                  <a:cubicBezTo>
                    <a:pt x="214303" y="44952"/>
                    <a:pt x="206848" y="67895"/>
                    <a:pt x="188100" y="77448"/>
                  </a:cubicBezTo>
                  <a:lnTo>
                    <a:pt x="60797" y="142311"/>
                  </a:lnTo>
                  <a:cubicBezTo>
                    <a:pt x="42049" y="151864"/>
                    <a:pt x="19106" y="144410"/>
                    <a:pt x="9553" y="125661"/>
                  </a:cubicBezTo>
                  <a:cubicBezTo>
                    <a:pt x="0" y="106913"/>
                    <a:pt x="7455" y="83970"/>
                    <a:pt x="26203" y="74417"/>
                  </a:cubicBezTo>
                  <a:close/>
                </a:path>
              </a:pathLst>
            </a:custGeom>
            <a:solidFill>
              <a:srgbClr val="E1C4A3"/>
            </a:solidFill>
            <a:ln w="3037" cap="rnd">
              <a:solidFill>
                <a:srgbClr val="B6987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Intraluminal ochre rod reflected edge"/>
            <p:cNvSpPr/>
            <p:nvPr/>
          </p:nvSpPr>
          <p:spPr>
            <a:xfrm>
              <a:off x="520445" y="293063"/>
              <a:ext cx="36905" cy="17895"/>
            </a:xfrm>
            <a:custGeom>
              <a:avLst/>
              <a:gdLst/>
              <a:ahLst/>
              <a:cxnLst/>
              <a:rect l="0" t="0" r="r" b="b"/>
              <a:pathLst>
                <a:path w="86794" h="42086">
                  <a:moveTo>
                    <a:pt x="0" y="42086"/>
                  </a:moveTo>
                  <a:quadBezTo>
                    <a:pt x="41096" y="12594"/>
                    <a:pt x="86794" y="0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Intraluminal ochre rod nucleoid"/>
            <p:cNvSpPr/>
            <p:nvPr/>
          </p:nvSpPr>
          <p:spPr>
            <a:xfrm>
              <a:off x="531874" y="300519"/>
              <a:ext cx="24358" cy="12798"/>
            </a:xfrm>
            <a:custGeom>
              <a:avLst/>
              <a:gdLst/>
              <a:ahLst/>
              <a:cxnLst/>
              <a:rect l="0" t="0" r="r" b="b"/>
              <a:pathLst>
                <a:path w="57286" h="30098">
                  <a:moveTo>
                    <a:pt x="0" y="30098"/>
                  </a:moveTo>
                  <a:cubicBezTo>
                    <a:pt x="8717" y="0"/>
                    <a:pt x="48292" y="22596"/>
                    <a:pt x="57286" y="909"/>
                  </a:cubicBezTo>
                </a:path>
              </a:pathLst>
            </a:custGeom>
            <a:noFill/>
            <a:ln w="2632" cap="rnd">
              <a:solidFill>
                <a:srgbClr val="B6987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Intraluminal ochre rod ribosomal dot 0"/>
            <p:cNvSpPr/>
            <p:nvPr/>
          </p:nvSpPr>
          <p:spPr>
            <a:xfrm>
              <a:off x="522391" y="317505"/>
              <a:ext cx="5670" cy="5670"/>
            </a:xfrm>
            <a:prstGeom prst="ellipse">
              <a:avLst/>
            </a:prstGeom>
            <a:solidFill>
              <a:srgbClr val="B6987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Intraluminal ochre rod ribosomal dot 1"/>
            <p:cNvSpPr/>
            <p:nvPr/>
          </p:nvSpPr>
          <p:spPr>
            <a:xfrm>
              <a:off x="562987" y="296820"/>
              <a:ext cx="5670" cy="5670"/>
            </a:xfrm>
            <a:prstGeom prst="ellipse">
              <a:avLst/>
            </a:prstGeom>
            <a:solidFill>
              <a:srgbClr val="B6987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Intraluminal violet rod cell wall"/>
            <p:cNvSpPr/>
            <p:nvPr/>
          </p:nvSpPr>
          <p:spPr>
            <a:xfrm>
              <a:off x="124056" y="264976"/>
              <a:ext cx="51587" cy="77547"/>
            </a:xfrm>
            <a:custGeom>
              <a:avLst/>
              <a:gdLst/>
              <a:ahLst/>
              <a:cxnLst/>
              <a:rect l="0" t="0" r="r" b="b"/>
              <a:pathLst>
                <a:path w="121325" h="182380">
                  <a:moveTo>
                    <a:pt x="7291" y="129210"/>
                  </a:moveTo>
                  <a:lnTo>
                    <a:pt x="48682" y="26766"/>
                  </a:lnTo>
                  <a:cubicBezTo>
                    <a:pt x="55973" y="8719"/>
                    <a:pt x="76513" y="0"/>
                    <a:pt x="94560" y="7291"/>
                  </a:cubicBezTo>
                  <a:cubicBezTo>
                    <a:pt x="112607" y="14583"/>
                    <a:pt x="121325" y="35123"/>
                    <a:pt x="114034" y="53170"/>
                  </a:cubicBezTo>
                  <a:lnTo>
                    <a:pt x="72644" y="155614"/>
                  </a:lnTo>
                  <a:cubicBezTo>
                    <a:pt x="65353" y="173661"/>
                    <a:pt x="44812" y="182380"/>
                    <a:pt x="26766" y="175088"/>
                  </a:cubicBezTo>
                  <a:cubicBezTo>
                    <a:pt x="8719" y="167797"/>
                    <a:pt x="0" y="147257"/>
                    <a:pt x="7291" y="129210"/>
                  </a:cubicBezTo>
                  <a:close/>
                </a:path>
              </a:pathLst>
            </a:custGeom>
            <a:solidFill>
              <a:srgbClr val="C8B8D0"/>
            </a:solidFill>
            <a:ln w="3037" cap="rnd">
              <a:solidFill>
                <a:srgbClr val="9B86A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Intraluminal violet rod reflected edge"/>
            <p:cNvSpPr/>
            <p:nvPr/>
          </p:nvSpPr>
          <p:spPr>
            <a:xfrm>
              <a:off x="137438" y="287348"/>
              <a:ext cx="12574" cy="29122"/>
            </a:xfrm>
            <a:custGeom>
              <a:avLst/>
              <a:gdLst/>
              <a:ahLst/>
              <a:cxnLst/>
              <a:rect l="0" t="0" r="r" b="b"/>
              <a:pathLst>
                <a:path w="29572" h="68490">
                  <a:moveTo>
                    <a:pt x="0" y="68490"/>
                  </a:moveTo>
                  <a:quadBezTo>
                    <a:pt x="7951" y="29994"/>
                    <a:pt x="29572" y="0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Intraluminal violet rod nucleoid"/>
            <p:cNvSpPr/>
            <p:nvPr/>
          </p:nvSpPr>
          <p:spPr>
            <a:xfrm>
              <a:off x="140634" y="292860"/>
              <a:ext cx="16974" cy="19602"/>
            </a:xfrm>
            <a:custGeom>
              <a:avLst/>
              <a:gdLst/>
              <a:ahLst/>
              <a:cxnLst/>
              <a:rect l="0" t="0" r="r" b="b"/>
              <a:pathLst>
                <a:path w="39920" h="46100">
                  <a:moveTo>
                    <a:pt x="13397" y="46100"/>
                  </a:moveTo>
                  <a:cubicBezTo>
                    <a:pt x="0" y="22812"/>
                    <a:pt x="39920" y="18086"/>
                    <a:pt x="32023" y="0"/>
                  </a:cubicBezTo>
                </a:path>
              </a:pathLst>
            </a:custGeom>
            <a:noFill/>
            <a:ln w="2632" cap="rnd">
              <a:solidFill>
                <a:srgbClr val="9B86A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Intraluminal violet rod ribosomal dot 0"/>
            <p:cNvSpPr/>
            <p:nvPr/>
          </p:nvSpPr>
          <p:spPr>
            <a:xfrm>
              <a:off x="143634" y="317284"/>
              <a:ext cx="5670" cy="5670"/>
            </a:xfrm>
            <a:prstGeom prst="ellipse">
              <a:avLst/>
            </a:prstGeom>
            <a:solidFill>
              <a:srgbClr val="9B86A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Intraluminal violet rod ribosomal dot 1"/>
            <p:cNvSpPr/>
            <p:nvPr/>
          </p:nvSpPr>
          <p:spPr>
            <a:xfrm>
              <a:off x="156833" y="284614"/>
              <a:ext cx="5670" cy="5670"/>
            </a:xfrm>
            <a:prstGeom prst="ellipse">
              <a:avLst/>
            </a:prstGeom>
            <a:solidFill>
              <a:srgbClr val="9B86A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Intraluminal coccus chain 00"/>
            <p:cNvSpPr/>
            <p:nvPr/>
          </p:nvSpPr>
          <p:spPr>
            <a:xfrm>
              <a:off x="279450" y="149850"/>
              <a:ext cx="24300" cy="24300"/>
            </a:xfrm>
            <a:prstGeom prst="ellipse">
              <a:avLst/>
            </a:prstGeom>
            <a:solidFill>
              <a:srgbClr val="C7D1AD"/>
            </a:solidFill>
            <a:ln w="2227">
              <a:solidFill>
                <a:srgbClr val="929F7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Intraluminal coccus nucleoid"/>
            <p:cNvSpPr/>
            <p:nvPr/>
          </p:nvSpPr>
          <p:spPr>
            <a:xfrm>
              <a:off x="288360" y="158355"/>
              <a:ext cx="5670" cy="6075"/>
            </a:xfrm>
            <a:prstGeom prst="ellipse">
              <a:avLst/>
            </a:prstGeom>
            <a:solidFill>
              <a:srgbClr val="9AA7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Intraluminal coccus chain 01"/>
            <p:cNvSpPr/>
            <p:nvPr/>
          </p:nvSpPr>
          <p:spPr>
            <a:xfrm>
              <a:off x="303750" y="166050"/>
              <a:ext cx="24300" cy="24300"/>
            </a:xfrm>
            <a:prstGeom prst="ellipse">
              <a:avLst/>
            </a:prstGeom>
            <a:solidFill>
              <a:srgbClr val="C7D1AD"/>
            </a:solidFill>
            <a:ln w="2227">
              <a:solidFill>
                <a:srgbClr val="929F7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Intraluminal coccus nucleoid"/>
            <p:cNvSpPr/>
            <p:nvPr/>
          </p:nvSpPr>
          <p:spPr>
            <a:xfrm>
              <a:off x="312660" y="174555"/>
              <a:ext cx="5670" cy="6075"/>
            </a:xfrm>
            <a:prstGeom prst="ellipse">
              <a:avLst/>
            </a:prstGeom>
            <a:solidFill>
              <a:srgbClr val="9AA7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Intraluminal coccus chain 02"/>
            <p:cNvSpPr/>
            <p:nvPr/>
          </p:nvSpPr>
          <p:spPr>
            <a:xfrm>
              <a:off x="328050" y="178200"/>
              <a:ext cx="24300" cy="24300"/>
            </a:xfrm>
            <a:prstGeom prst="ellipse">
              <a:avLst/>
            </a:prstGeom>
            <a:solidFill>
              <a:srgbClr val="C7D1AD"/>
            </a:solidFill>
            <a:ln w="2227">
              <a:solidFill>
                <a:srgbClr val="929F7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Intraluminal coccus nucleoid"/>
            <p:cNvSpPr/>
            <p:nvPr/>
          </p:nvSpPr>
          <p:spPr>
            <a:xfrm>
              <a:off x="336960" y="186705"/>
              <a:ext cx="5670" cy="6075"/>
            </a:xfrm>
            <a:prstGeom prst="ellipse">
              <a:avLst/>
            </a:prstGeom>
            <a:solidFill>
              <a:srgbClr val="9AA7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Intraluminal dividing coccus 00"/>
            <p:cNvSpPr/>
            <p:nvPr/>
          </p:nvSpPr>
          <p:spPr>
            <a:xfrm>
              <a:off x="433350" y="251100"/>
              <a:ext cx="24300" cy="24300"/>
            </a:xfrm>
            <a:prstGeom prst="ellipse">
              <a:avLst/>
            </a:prstGeom>
            <a:solidFill>
              <a:srgbClr val="BFCFD8"/>
            </a:solidFill>
            <a:ln w="2227">
              <a:solidFill>
                <a:srgbClr val="86A0A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Intraluminal coccus nucleoid"/>
            <p:cNvSpPr/>
            <p:nvPr/>
          </p:nvSpPr>
          <p:spPr>
            <a:xfrm>
              <a:off x="442665" y="260415"/>
              <a:ext cx="5265" cy="5670"/>
            </a:xfrm>
            <a:prstGeom prst="ellipse">
              <a:avLst/>
            </a:prstGeom>
            <a:solidFill>
              <a:srgbClr val="8FA4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Intraluminal dividing coccus 01"/>
            <p:cNvSpPr/>
            <p:nvPr/>
          </p:nvSpPr>
          <p:spPr>
            <a:xfrm>
              <a:off x="457650" y="263250"/>
              <a:ext cx="24300" cy="24300"/>
            </a:xfrm>
            <a:prstGeom prst="ellipse">
              <a:avLst/>
            </a:prstGeom>
            <a:solidFill>
              <a:srgbClr val="BFCFD8"/>
            </a:solidFill>
            <a:ln w="2227">
              <a:solidFill>
                <a:srgbClr val="86A0A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Intraluminal coccus nucleoid"/>
            <p:cNvSpPr/>
            <p:nvPr/>
          </p:nvSpPr>
          <p:spPr>
            <a:xfrm>
              <a:off x="466965" y="272565"/>
              <a:ext cx="5265" cy="5670"/>
            </a:xfrm>
            <a:prstGeom prst="ellipse">
              <a:avLst/>
            </a:prstGeom>
            <a:solidFill>
              <a:srgbClr val="8FA4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7" name="gut_microbiota"/>
          <p:cNvSpPr txBox="1"/>
          <p:nvPr/>
        </p:nvSpPr>
        <p:spPr>
          <a:xfrm>
            <a:off x="1101600" y="518400"/>
            <a:ext cx="704700" cy="12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1" i="0">
                <a:solidFill>
                  <a:srgbClr val="287A7D"/>
                </a:solidFill>
                <a:latin typeface="Times New Roman"/>
              </a:rPr>
              <a:t>Gut microbiota</a:t>
            </a:r>
          </a:p>
        </p:txBody>
      </p:sp>
      <p:sp>
        <p:nvSpPr>
          <p:cNvPr id="198" name="colonic_lumen"/>
          <p:cNvSpPr txBox="1"/>
          <p:nvPr/>
        </p:nvSpPr>
        <p:spPr>
          <a:xfrm>
            <a:off x="1101600" y="1251450"/>
            <a:ext cx="704700" cy="12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Colonic lumen</a:t>
            </a:r>
          </a:p>
        </p:txBody>
      </p:sp>
      <p:sp>
        <p:nvSpPr>
          <p:cNvPr id="199" name="Colonic segment locator ring"/>
          <p:cNvSpPr/>
          <p:nvPr/>
        </p:nvSpPr>
        <p:spPr>
          <a:xfrm>
            <a:off x="838350" y="866700"/>
            <a:ext cx="56700" cy="72900"/>
          </a:xfrm>
          <a:prstGeom prst="ellipse">
            <a:avLst/>
          </a:prstGeom>
          <a:noFill/>
          <a:ln w="3645">
            <a:solidFill>
              <a:srgbClr val="778C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Anatomic colon–lumen leader"/>
          <p:cNvSpPr/>
          <p:nvPr/>
        </p:nvSpPr>
        <p:spPr>
          <a:xfrm>
            <a:off x="895050" y="903150"/>
            <a:ext cx="206550" cy="22275"/>
          </a:xfrm>
          <a:custGeom>
            <a:avLst/>
            <a:gdLst/>
            <a:ahLst/>
            <a:cxnLst/>
            <a:rect l="0" t="0" r="r" b="b"/>
            <a:pathLst>
              <a:path w="485775" h="52388">
                <a:moveTo>
                  <a:pt x="0" y="0"/>
                </a:moveTo>
                <a:lnTo>
                  <a:pt x="485775" y="52388"/>
                </a:lnTo>
              </a:path>
            </a:pathLst>
          </a:custGeom>
          <a:noFill/>
          <a:ln w="3645" cap="rnd">
            <a:solidFill>
              <a:srgbClr val="778C9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barrier_impairment"/>
          <p:cNvSpPr txBox="1"/>
          <p:nvPr/>
        </p:nvSpPr>
        <p:spPr>
          <a:xfrm>
            <a:off x="1871100" y="737100"/>
            <a:ext cx="749250" cy="263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9" b="1" i="0">
                <a:solidFill>
                  <a:srgbClr val="287A7D"/>
                </a:solidFill>
                <a:latin typeface="Times New Roman"/>
              </a:rPr>
              <a:t>Barrier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29" b="1" i="0">
                <a:solidFill>
                  <a:srgbClr val="287A7D"/>
                </a:solidFill>
                <a:latin typeface="Times New Roman"/>
              </a:rPr>
              <a:t>impairment</a:t>
            </a:r>
          </a:p>
        </p:txBody>
      </p:sp>
      <p:sp>
        <p:nvSpPr>
          <p:cNvPr id="202" name="microbial_shifts"/>
          <p:cNvSpPr txBox="1"/>
          <p:nvPr/>
        </p:nvSpPr>
        <p:spPr>
          <a:xfrm>
            <a:off x="1871100" y="1312200"/>
            <a:ext cx="769500" cy="33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7A7D"/>
                </a:solidFill>
                <a:latin typeface="Times New Roman"/>
              </a:rPr>
              <a:t>Microbial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7A7D"/>
                </a:solidFill>
                <a:latin typeface="Times New Roman"/>
              </a:rPr>
              <a:t>compositional 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7A7D"/>
                </a:solidFill>
                <a:latin typeface="Times New Roman"/>
              </a:rPr>
              <a:t>functional shifts</a:t>
            </a:r>
          </a:p>
        </p:txBody>
      </p:sp>
      <p:sp>
        <p:nvSpPr>
          <p:cNvPr id="203" name="mamp_exposure"/>
          <p:cNvSpPr txBox="1"/>
          <p:nvPr/>
        </p:nvSpPr>
        <p:spPr>
          <a:xfrm>
            <a:off x="2628450" y="530550"/>
            <a:ext cx="664200" cy="328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7A7D"/>
                </a:solidFill>
                <a:latin typeface="Times New Roman"/>
              </a:rPr>
              <a:t>MAMP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7A7D"/>
                </a:solidFill>
                <a:latin typeface="Times New Roman"/>
              </a:rPr>
              <a:t>translocation 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7A7D"/>
                </a:solidFill>
                <a:latin typeface="Times New Roman"/>
              </a:rPr>
              <a:t>exposure</a:t>
            </a:r>
          </a:p>
        </p:txBody>
      </p:sp>
      <p:sp>
        <p:nvSpPr>
          <p:cNvPr id="204" name="metabolite_exposure"/>
          <p:cNvSpPr txBox="1"/>
          <p:nvPr/>
        </p:nvSpPr>
        <p:spPr>
          <a:xfrm>
            <a:off x="2632500" y="1251450"/>
            <a:ext cx="672300" cy="33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7A7D"/>
                </a:solidFill>
                <a:latin typeface="Times New Roman"/>
              </a:rPr>
              <a:t>Altered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7A7D"/>
                </a:solidFill>
                <a:latin typeface="Times New Roman"/>
              </a:rPr>
              <a:t>metabolite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7A7D"/>
                </a:solidFill>
                <a:latin typeface="Times New Roman"/>
              </a:rPr>
              <a:t>exposure</a:t>
            </a:r>
          </a:p>
        </p:txBody>
      </p:sp>
      <p:sp>
        <p:nvSpPr>
          <p:cNvPr id="205" name="host_processing"/>
          <p:cNvSpPr txBox="1"/>
          <p:nvPr/>
        </p:nvSpPr>
        <p:spPr>
          <a:xfrm>
            <a:off x="1875150" y="1769850"/>
            <a:ext cx="1093500" cy="22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Microbial function +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host processing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3" y="140"/>
                </a:moveTo>
                <a:cubicBezTo>
                  <a:pt x="337" y="40"/>
                  <a:pt x="276" y="87"/>
                  <a:pt x="220" y="161"/>
                </a:cubicBezTo>
                <a:cubicBezTo>
                  <a:pt x="120" y="284"/>
                  <a:pt x="70" y="474"/>
                  <a:pt x="58" y="647"/>
                </a:cubicBezTo>
                <a:cubicBezTo>
                  <a:pt x="48" y="792"/>
                  <a:pt x="67" y="918"/>
                  <a:pt x="110" y="965"/>
                </a:cubicBezTo>
                <a:cubicBezTo>
                  <a:pt x="144" y="1002"/>
                  <a:pt x="222" y="947"/>
                  <a:pt x="316" y="916"/>
                </a:cubicBezTo>
                <a:cubicBezTo>
                  <a:pt x="397" y="890"/>
                  <a:pt x="433" y="848"/>
                  <a:pt x="437" y="745"/>
                </a:cubicBezTo>
                <a:cubicBezTo>
                  <a:pt x="444" y="598"/>
                  <a:pt x="423" y="464"/>
                  <a:pt x="409" y="336"/>
                </a:cubicBezTo>
                <a:cubicBezTo>
                  <a:pt x="401" y="267"/>
                  <a:pt x="414" y="197"/>
                  <a:pt x="383" y="140"/>
                </a:cubicBezTo>
                <a:close/>
              </a:path>
            </a:pathLst>
          </a:custGeom>
          <a:gradFill rotWithShape="1">
            <a:gsLst>
              <a:gs pos="0">
                <a:srgbClr val="F7FAFC"/>
              </a:gs>
              <a:gs pos="45000">
                <a:srgbClr val="E9F0F5"/>
              </a:gs>
              <a:gs pos="100000">
                <a:srgbClr val="DCE7EF"/>
              </a:gs>
            </a:gsLst>
            <a:lin ang="5400000" scaled="1"/>
          </a:gradFill>
          <a:ln w="3037" cap="rnd">
            <a:solidFill>
              <a:srgbClr val="899BA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17" y="141"/>
                </a:moveTo>
                <a:cubicBezTo>
                  <a:pt x="659" y="48"/>
                  <a:pt x="722" y="83"/>
                  <a:pt x="782" y="153"/>
                </a:cubicBezTo>
                <a:cubicBezTo>
                  <a:pt x="890" y="277"/>
                  <a:pt x="938" y="462"/>
                  <a:pt x="946" y="643"/>
                </a:cubicBezTo>
                <a:cubicBezTo>
                  <a:pt x="958" y="791"/>
                  <a:pt x="943" y="922"/>
                  <a:pt x="906" y="964"/>
                </a:cubicBezTo>
                <a:cubicBezTo>
                  <a:pt x="874" y="1000"/>
                  <a:pt x="803" y="952"/>
                  <a:pt x="710" y="921"/>
                </a:cubicBezTo>
                <a:cubicBezTo>
                  <a:pt x="621" y="891"/>
                  <a:pt x="578" y="843"/>
                  <a:pt x="570" y="759"/>
                </a:cubicBezTo>
                <a:cubicBezTo>
                  <a:pt x="557" y="647"/>
                  <a:pt x="571" y="552"/>
                  <a:pt x="560" y="470"/>
                </a:cubicBezTo>
                <a:cubicBezTo>
                  <a:pt x="553" y="418"/>
                  <a:pt x="576" y="366"/>
                  <a:pt x="590" y="307"/>
                </a:cubicBezTo>
                <a:cubicBezTo>
                  <a:pt x="609" y="236"/>
                  <a:pt x="588" y="197"/>
                  <a:pt x="617" y="141"/>
                </a:cubicBezTo>
                <a:close/>
              </a:path>
            </a:pathLst>
          </a:custGeom>
          <a:gradFill rotWithShape="1">
            <a:gsLst>
              <a:gs pos="0">
                <a:srgbClr val="F7FAFC"/>
              </a:gs>
              <a:gs pos="45000">
                <a:srgbClr val="E9F0F5"/>
              </a:gs>
              <a:gs pos="100000">
                <a:srgbClr val="DCE7EF"/>
              </a:gs>
            </a:gsLst>
            <a:lin ang="5400000" scaled="1"/>
          </a:gradFill>
          <a:ln w="3037" cap="rnd">
            <a:solidFill>
              <a:srgbClr val="899BA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10" y="548"/>
                </a:moveTo>
                <a:cubicBezTo>
                  <a:pt x="207" y="532"/>
                  <a:pt x="306" y="611"/>
                  <a:pt x="419" y="662"/>
                </a:cubicBezTo>
              </a:path>
            </a:pathLst>
          </a:custGeom>
          <a:noFill/>
          <a:ln w="1905" cap="rnd">
            <a:solidFill>
              <a:srgbClr val="BECBD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587" y="567"/>
                </a:moveTo>
                <a:cubicBezTo>
                  <a:pt x="686" y="595"/>
                  <a:pt x="794" y="589"/>
                  <a:pt x="927" y="526"/>
                </a:cubicBezTo>
              </a:path>
            </a:pathLst>
          </a:custGeom>
          <a:noFill/>
          <a:ln w="1905" cap="rnd">
            <a:solidFill>
              <a:srgbClr val="BECBD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04" y="697"/>
                </a:moveTo>
                <a:cubicBezTo>
                  <a:pt x="706" y="735"/>
                  <a:pt x="818" y="732"/>
                  <a:pt x="943" y="670"/>
                </a:cubicBezTo>
              </a:path>
            </a:pathLst>
          </a:custGeom>
          <a:noFill/>
          <a:ln w="1905" cap="rnd">
            <a:solidFill>
              <a:srgbClr val="BECBD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76" y="15"/>
                </a:moveTo>
                <a:lnTo>
                  <a:pt x="523" y="15"/>
                </a:lnTo>
                <a:lnTo>
                  <a:pt x="523" y="264"/>
                </a:lnTo>
                <a:cubicBezTo>
                  <a:pt x="522" y="304"/>
                  <a:pt x="549" y="332"/>
                  <a:pt x="594" y="367"/>
                </a:cubicBezTo>
                <a:lnTo>
                  <a:pt x="576" y="406"/>
                </a:lnTo>
                <a:cubicBezTo>
                  <a:pt x="532" y="375"/>
                  <a:pt x="513" y="352"/>
                  <a:pt x="499" y="329"/>
                </a:cubicBezTo>
                <a:cubicBezTo>
                  <a:pt x="485" y="353"/>
                  <a:pt x="453" y="385"/>
                  <a:pt x="414" y="410"/>
                </a:cubicBezTo>
                <a:lnTo>
                  <a:pt x="391" y="375"/>
                </a:lnTo>
                <a:cubicBezTo>
                  <a:pt x="440" y="343"/>
                  <a:pt x="476" y="307"/>
                  <a:pt x="476" y="265"/>
                </a:cubicBezTo>
                <a:close/>
              </a:path>
            </a:pathLst>
          </a:custGeom>
          <a:gradFill rotWithShape="1">
            <a:gsLst>
              <a:gs pos="0">
                <a:srgbClr val="DCECF5"/>
              </a:gs>
              <a:gs pos="100000">
                <a:srgbClr val="B5D0E2"/>
              </a:gs>
            </a:gsLst>
            <a:lin ang="5400000" scaled="1"/>
          </a:gradFill>
          <a:ln w="2916" cap="rnd">
            <a:solidFill>
              <a:srgbClr val="779BB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40"/>
                </a:moveTo>
                <a:cubicBezTo>
                  <a:pt x="491" y="46"/>
                  <a:pt x="508" y="46"/>
                  <a:pt x="522" y="40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77"/>
                </a:moveTo>
                <a:cubicBezTo>
                  <a:pt x="491" y="83"/>
                  <a:pt x="508" y="83"/>
                  <a:pt x="522" y="77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114"/>
                </a:moveTo>
                <a:cubicBezTo>
                  <a:pt x="491" y="120"/>
                  <a:pt x="508" y="120"/>
                  <a:pt x="522" y="114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151"/>
                </a:moveTo>
                <a:cubicBezTo>
                  <a:pt x="491" y="157"/>
                  <a:pt x="508" y="157"/>
                  <a:pt x="522" y="151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188"/>
                </a:moveTo>
                <a:cubicBezTo>
                  <a:pt x="491" y="194"/>
                  <a:pt x="508" y="194"/>
                  <a:pt x="522" y="188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225"/>
                </a:moveTo>
                <a:cubicBezTo>
                  <a:pt x="491" y="231"/>
                  <a:pt x="508" y="231"/>
                  <a:pt x="522" y="225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49" y="359"/>
                </a:moveTo>
                <a:cubicBezTo>
                  <a:pt x="376" y="424"/>
                  <a:pt x="322" y="527"/>
                  <a:pt x="299" y="649"/>
                </a:cubicBezTo>
                <a:cubicBezTo>
                  <a:pt x="283" y="746"/>
                  <a:pt x="251" y="835"/>
                  <a:pt x="195" y="914"/>
                </a:cubicBezTo>
              </a:path>
            </a:pathLst>
          </a:custGeom>
          <a:noFill/>
          <a:ln w="12801" cap="rnd">
            <a:solidFill>
              <a:srgbClr val="C7647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550" y="359"/>
                </a:moveTo>
                <a:cubicBezTo>
                  <a:pt x="624" y="414"/>
                  <a:pt x="684" y="522"/>
                  <a:pt x="700" y="640"/>
                </a:cubicBezTo>
                <a:cubicBezTo>
                  <a:pt x="713" y="747"/>
                  <a:pt x="748" y="832"/>
                  <a:pt x="815" y="914"/>
                </a:cubicBezTo>
              </a:path>
            </a:pathLst>
          </a:custGeom>
          <a:noFill/>
          <a:ln w="12801" cap="rnd">
            <a:solidFill>
              <a:srgbClr val="C7647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86" y="433"/>
                </a:moveTo>
                <a:cubicBezTo>
                  <a:pt x="321" y="427"/>
                  <a:pt x="271" y="404"/>
                  <a:pt x="224" y="358"/>
                </a:cubicBezTo>
              </a:path>
            </a:pathLst>
          </a:custGeom>
          <a:noFill/>
          <a:ln w="810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51" y="489"/>
                </a:moveTo>
                <a:cubicBezTo>
                  <a:pt x="269" y="504"/>
                  <a:pt x="198" y="497"/>
                  <a:pt x="132" y="466"/>
                </a:cubicBezTo>
              </a:path>
            </a:pathLst>
          </a:custGeom>
          <a:noFill/>
          <a:ln w="7253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16" y="589"/>
                </a:moveTo>
                <a:cubicBezTo>
                  <a:pt x="232" y="605"/>
                  <a:pt x="177" y="643"/>
                  <a:pt x="123" y="684"/>
                </a:cubicBezTo>
              </a:path>
            </a:pathLst>
          </a:custGeom>
          <a:noFill/>
          <a:ln w="7040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88" y="700"/>
                </a:moveTo>
                <a:cubicBezTo>
                  <a:pt x="240" y="727"/>
                  <a:pt x="193" y="774"/>
                  <a:pt x="166" y="817"/>
                </a:cubicBezTo>
              </a:path>
            </a:pathLst>
          </a:custGeom>
          <a:noFill/>
          <a:ln w="5974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1" y="545"/>
                </a:moveTo>
                <a:cubicBezTo>
                  <a:pt x="369" y="594"/>
                  <a:pt x="385" y="660"/>
                  <a:pt x="389" y="722"/>
                </a:cubicBezTo>
              </a:path>
            </a:pathLst>
          </a:custGeom>
          <a:noFill/>
          <a:ln w="5334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68" y="762"/>
                </a:moveTo>
                <a:cubicBezTo>
                  <a:pt x="299" y="796"/>
                  <a:pt x="313" y="843"/>
                  <a:pt x="313" y="879"/>
                </a:cubicBezTo>
              </a:path>
            </a:pathLst>
          </a:custGeom>
          <a:noFill/>
          <a:ln w="426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16" y="429"/>
                </a:moveTo>
                <a:cubicBezTo>
                  <a:pt x="684" y="424"/>
                  <a:pt x="733" y="404"/>
                  <a:pt x="781" y="359"/>
                </a:cubicBezTo>
              </a:path>
            </a:pathLst>
          </a:custGeom>
          <a:noFill/>
          <a:ln w="810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51" y="488"/>
                </a:moveTo>
                <a:cubicBezTo>
                  <a:pt x="737" y="502"/>
                  <a:pt x="807" y="491"/>
                  <a:pt x="871" y="461"/>
                </a:cubicBezTo>
              </a:path>
            </a:pathLst>
          </a:custGeom>
          <a:noFill/>
          <a:ln w="7253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85" y="580"/>
                </a:moveTo>
                <a:cubicBezTo>
                  <a:pt x="763" y="600"/>
                  <a:pt x="821" y="640"/>
                  <a:pt x="879" y="684"/>
                </a:cubicBezTo>
              </a:path>
            </a:pathLst>
          </a:custGeom>
          <a:noFill/>
          <a:ln w="7040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11" y="701"/>
                </a:moveTo>
                <a:cubicBezTo>
                  <a:pt x="758" y="727"/>
                  <a:pt x="808" y="776"/>
                  <a:pt x="837" y="817"/>
                </a:cubicBezTo>
              </a:path>
            </a:pathLst>
          </a:custGeom>
          <a:noFill/>
          <a:ln w="5974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67" y="540"/>
                </a:moveTo>
                <a:cubicBezTo>
                  <a:pt x="626" y="587"/>
                  <a:pt x="609" y="646"/>
                  <a:pt x="606" y="709"/>
                </a:cubicBezTo>
              </a:path>
            </a:pathLst>
          </a:custGeom>
          <a:noFill/>
          <a:ln w="5120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33" y="769"/>
                </a:moveTo>
                <a:cubicBezTo>
                  <a:pt x="700" y="802"/>
                  <a:pt x="687" y="842"/>
                  <a:pt x="686" y="883"/>
                </a:cubicBezTo>
              </a:path>
            </a:pathLst>
          </a:custGeom>
          <a:noFill/>
          <a:ln w="426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55" y="388"/>
                </a:moveTo>
                <a:cubicBezTo>
                  <a:pt x="258" y="344"/>
                  <a:pt x="250" y="309"/>
                  <a:pt x="229" y="276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87" y="416"/>
                </a:moveTo>
                <a:cubicBezTo>
                  <a:pt x="318" y="384"/>
                  <a:pt x="329" y="344"/>
                  <a:pt x="331" y="311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07" y="493"/>
                </a:moveTo>
                <a:cubicBezTo>
                  <a:pt x="187" y="453"/>
                  <a:pt x="163" y="435"/>
                  <a:pt x="139" y="422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03" y="625"/>
                </a:moveTo>
                <a:cubicBezTo>
                  <a:pt x="204" y="583"/>
                  <a:pt x="195" y="556"/>
                  <a:pt x="177" y="533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65" y="651"/>
                </a:moveTo>
                <a:cubicBezTo>
                  <a:pt x="139" y="635"/>
                  <a:pt x="118" y="632"/>
                  <a:pt x="98" y="636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24" y="750"/>
                </a:moveTo>
                <a:cubicBezTo>
                  <a:pt x="206" y="718"/>
                  <a:pt x="182" y="706"/>
                  <a:pt x="159" y="704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69" y="636"/>
                </a:moveTo>
                <a:cubicBezTo>
                  <a:pt x="394" y="616"/>
                  <a:pt x="410" y="593"/>
                  <a:pt x="415" y="568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49" y="389"/>
                </a:moveTo>
                <a:cubicBezTo>
                  <a:pt x="746" y="344"/>
                  <a:pt x="756" y="309"/>
                  <a:pt x="777" y="277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13" y="414"/>
                </a:moveTo>
                <a:cubicBezTo>
                  <a:pt x="686" y="381"/>
                  <a:pt x="673" y="345"/>
                  <a:pt x="672" y="312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96" y="491"/>
                </a:moveTo>
                <a:cubicBezTo>
                  <a:pt x="816" y="451"/>
                  <a:pt x="838" y="432"/>
                  <a:pt x="861" y="420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99" y="626"/>
                </a:moveTo>
                <a:cubicBezTo>
                  <a:pt x="798" y="582"/>
                  <a:pt x="807" y="557"/>
                  <a:pt x="827" y="532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836" y="653"/>
                </a:moveTo>
                <a:cubicBezTo>
                  <a:pt x="859" y="635"/>
                  <a:pt x="880" y="633"/>
                  <a:pt x="899" y="638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76" y="749"/>
                </a:moveTo>
                <a:cubicBezTo>
                  <a:pt x="793" y="718"/>
                  <a:pt x="819" y="706"/>
                  <a:pt x="841" y="705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29" y="636"/>
                </a:moveTo>
                <a:cubicBezTo>
                  <a:pt x="604" y="618"/>
                  <a:pt x="589" y="595"/>
                  <a:pt x="584" y="570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Adventitia softly irregular native tissue outline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91" y="500"/>
                </a:moveTo>
                <a:cubicBezTo>
                  <a:pt x="992" y="516"/>
                  <a:pt x="992" y="532"/>
                  <a:pt x="991" y="548"/>
                </a:cubicBezTo>
                <a:cubicBezTo>
                  <a:pt x="990" y="564"/>
                  <a:pt x="989" y="581"/>
                  <a:pt x="986" y="597"/>
                </a:cubicBezTo>
                <a:cubicBezTo>
                  <a:pt x="984" y="613"/>
                  <a:pt x="981" y="629"/>
                  <a:pt x="977" y="645"/>
                </a:cubicBezTo>
                <a:cubicBezTo>
                  <a:pt x="972" y="660"/>
                  <a:pt x="967" y="676"/>
                  <a:pt x="961" y="691"/>
                </a:cubicBezTo>
                <a:cubicBezTo>
                  <a:pt x="955" y="706"/>
                  <a:pt x="948" y="721"/>
                  <a:pt x="941" y="736"/>
                </a:cubicBezTo>
                <a:cubicBezTo>
                  <a:pt x="933" y="750"/>
                  <a:pt x="924" y="764"/>
                  <a:pt x="915" y="777"/>
                </a:cubicBezTo>
                <a:cubicBezTo>
                  <a:pt x="905" y="790"/>
                  <a:pt x="895" y="803"/>
                  <a:pt x="884" y="815"/>
                </a:cubicBezTo>
                <a:cubicBezTo>
                  <a:pt x="873" y="827"/>
                  <a:pt x="861" y="838"/>
                  <a:pt x="849" y="849"/>
                </a:cubicBezTo>
                <a:cubicBezTo>
                  <a:pt x="837" y="860"/>
                  <a:pt x="824" y="870"/>
                  <a:pt x="811" y="879"/>
                </a:cubicBezTo>
                <a:cubicBezTo>
                  <a:pt x="798" y="888"/>
                  <a:pt x="784" y="897"/>
                  <a:pt x="770" y="905"/>
                </a:cubicBezTo>
                <a:cubicBezTo>
                  <a:pt x="757" y="913"/>
                  <a:pt x="743" y="920"/>
                  <a:pt x="728" y="927"/>
                </a:cubicBezTo>
                <a:cubicBezTo>
                  <a:pt x="714" y="934"/>
                  <a:pt x="699" y="940"/>
                  <a:pt x="685" y="946"/>
                </a:cubicBezTo>
                <a:cubicBezTo>
                  <a:pt x="670" y="952"/>
                  <a:pt x="655" y="957"/>
                  <a:pt x="640" y="962"/>
                </a:cubicBezTo>
                <a:cubicBezTo>
                  <a:pt x="625" y="966"/>
                  <a:pt x="610" y="971"/>
                  <a:pt x="594" y="974"/>
                </a:cubicBezTo>
                <a:cubicBezTo>
                  <a:pt x="579" y="978"/>
                  <a:pt x="563" y="981"/>
                  <a:pt x="548" y="983"/>
                </a:cubicBezTo>
                <a:cubicBezTo>
                  <a:pt x="532" y="985"/>
                  <a:pt x="516" y="987"/>
                  <a:pt x="500" y="988"/>
                </a:cubicBezTo>
                <a:cubicBezTo>
                  <a:pt x="484" y="988"/>
                  <a:pt x="468" y="988"/>
                  <a:pt x="452" y="988"/>
                </a:cubicBezTo>
                <a:cubicBezTo>
                  <a:pt x="436" y="987"/>
                  <a:pt x="420" y="985"/>
                  <a:pt x="404" y="982"/>
                </a:cubicBezTo>
                <a:cubicBezTo>
                  <a:pt x="388" y="980"/>
                  <a:pt x="372" y="976"/>
                  <a:pt x="357" y="972"/>
                </a:cubicBezTo>
                <a:cubicBezTo>
                  <a:pt x="341" y="968"/>
                  <a:pt x="326" y="963"/>
                  <a:pt x="311" y="957"/>
                </a:cubicBezTo>
                <a:cubicBezTo>
                  <a:pt x="296" y="951"/>
                  <a:pt x="281" y="944"/>
                  <a:pt x="267" y="936"/>
                </a:cubicBezTo>
                <a:cubicBezTo>
                  <a:pt x="253" y="928"/>
                  <a:pt x="239" y="920"/>
                  <a:pt x="226" y="911"/>
                </a:cubicBezTo>
                <a:cubicBezTo>
                  <a:pt x="212" y="902"/>
                  <a:pt x="199" y="892"/>
                  <a:pt x="187" y="882"/>
                </a:cubicBezTo>
                <a:cubicBezTo>
                  <a:pt x="174" y="871"/>
                  <a:pt x="162" y="860"/>
                  <a:pt x="151" y="849"/>
                </a:cubicBezTo>
                <a:cubicBezTo>
                  <a:pt x="140" y="838"/>
                  <a:pt x="129" y="826"/>
                  <a:pt x="119" y="813"/>
                </a:cubicBezTo>
                <a:cubicBezTo>
                  <a:pt x="108" y="801"/>
                  <a:pt x="98" y="788"/>
                  <a:pt x="89" y="774"/>
                </a:cubicBezTo>
                <a:cubicBezTo>
                  <a:pt x="80" y="761"/>
                  <a:pt x="72" y="747"/>
                  <a:pt x="64" y="733"/>
                </a:cubicBezTo>
                <a:cubicBezTo>
                  <a:pt x="56" y="719"/>
                  <a:pt x="49" y="704"/>
                  <a:pt x="43" y="689"/>
                </a:cubicBezTo>
                <a:cubicBezTo>
                  <a:pt x="37" y="674"/>
                  <a:pt x="31" y="659"/>
                  <a:pt x="27" y="644"/>
                </a:cubicBezTo>
                <a:cubicBezTo>
                  <a:pt x="22" y="628"/>
                  <a:pt x="18" y="612"/>
                  <a:pt x="15" y="596"/>
                </a:cubicBezTo>
                <a:cubicBezTo>
                  <a:pt x="12" y="581"/>
                  <a:pt x="10" y="564"/>
                  <a:pt x="9" y="548"/>
                </a:cubicBezTo>
                <a:cubicBezTo>
                  <a:pt x="8" y="532"/>
                  <a:pt x="8" y="516"/>
                  <a:pt x="9" y="500"/>
                </a:cubicBezTo>
                <a:cubicBezTo>
                  <a:pt x="10" y="484"/>
                  <a:pt x="11" y="468"/>
                  <a:pt x="14" y="452"/>
                </a:cubicBezTo>
                <a:cubicBezTo>
                  <a:pt x="16" y="436"/>
                  <a:pt x="19" y="421"/>
                  <a:pt x="23" y="405"/>
                </a:cubicBezTo>
                <a:cubicBezTo>
                  <a:pt x="27" y="390"/>
                  <a:pt x="32" y="375"/>
                  <a:pt x="37" y="360"/>
                </a:cubicBezTo>
                <a:cubicBezTo>
                  <a:pt x="42" y="345"/>
                  <a:pt x="48" y="330"/>
                  <a:pt x="54" y="315"/>
                </a:cubicBezTo>
                <a:cubicBezTo>
                  <a:pt x="60" y="301"/>
                  <a:pt x="67" y="287"/>
                  <a:pt x="75" y="273"/>
                </a:cubicBezTo>
                <a:cubicBezTo>
                  <a:pt x="82" y="259"/>
                  <a:pt x="90" y="245"/>
                  <a:pt x="98" y="231"/>
                </a:cubicBezTo>
                <a:cubicBezTo>
                  <a:pt x="106" y="218"/>
                  <a:pt x="115" y="205"/>
                  <a:pt x="125" y="192"/>
                </a:cubicBezTo>
                <a:cubicBezTo>
                  <a:pt x="134" y="179"/>
                  <a:pt x="144" y="167"/>
                  <a:pt x="155" y="155"/>
                </a:cubicBezTo>
                <a:cubicBezTo>
                  <a:pt x="165" y="142"/>
                  <a:pt x="176" y="131"/>
                  <a:pt x="188" y="120"/>
                </a:cubicBezTo>
                <a:cubicBezTo>
                  <a:pt x="200" y="109"/>
                  <a:pt x="212" y="98"/>
                  <a:pt x="225" y="88"/>
                </a:cubicBezTo>
                <a:cubicBezTo>
                  <a:pt x="238" y="79"/>
                  <a:pt x="251" y="69"/>
                  <a:pt x="265" y="61"/>
                </a:cubicBezTo>
                <a:cubicBezTo>
                  <a:pt x="279" y="53"/>
                  <a:pt x="294" y="45"/>
                  <a:pt x="309" y="39"/>
                </a:cubicBezTo>
                <a:cubicBezTo>
                  <a:pt x="324" y="32"/>
                  <a:pt x="339" y="27"/>
                  <a:pt x="355" y="22"/>
                </a:cubicBezTo>
                <a:cubicBezTo>
                  <a:pt x="371" y="17"/>
                  <a:pt x="387" y="14"/>
                  <a:pt x="403" y="11"/>
                </a:cubicBezTo>
                <a:cubicBezTo>
                  <a:pt x="419" y="8"/>
                  <a:pt x="435" y="7"/>
                  <a:pt x="451" y="6"/>
                </a:cubicBezTo>
                <a:cubicBezTo>
                  <a:pt x="468" y="5"/>
                  <a:pt x="484" y="5"/>
                  <a:pt x="500" y="6"/>
                </a:cubicBezTo>
                <a:cubicBezTo>
                  <a:pt x="516" y="6"/>
                  <a:pt x="532" y="8"/>
                  <a:pt x="548" y="10"/>
                </a:cubicBezTo>
                <a:cubicBezTo>
                  <a:pt x="564" y="13"/>
                  <a:pt x="580" y="16"/>
                  <a:pt x="596" y="19"/>
                </a:cubicBezTo>
                <a:cubicBezTo>
                  <a:pt x="611" y="23"/>
                  <a:pt x="627" y="27"/>
                  <a:pt x="642" y="32"/>
                </a:cubicBezTo>
                <a:cubicBezTo>
                  <a:pt x="657" y="37"/>
                  <a:pt x="672" y="43"/>
                  <a:pt x="687" y="49"/>
                </a:cubicBezTo>
                <a:cubicBezTo>
                  <a:pt x="701" y="56"/>
                  <a:pt x="716" y="62"/>
                  <a:pt x="730" y="70"/>
                </a:cubicBezTo>
                <a:cubicBezTo>
                  <a:pt x="744" y="77"/>
                  <a:pt x="758" y="86"/>
                  <a:pt x="771" y="94"/>
                </a:cubicBezTo>
                <a:cubicBezTo>
                  <a:pt x="784" y="103"/>
                  <a:pt x="797" y="112"/>
                  <a:pt x="810" y="123"/>
                </a:cubicBezTo>
                <a:cubicBezTo>
                  <a:pt x="822" y="133"/>
                  <a:pt x="834" y="143"/>
                  <a:pt x="845" y="155"/>
                </a:cubicBezTo>
                <a:cubicBezTo>
                  <a:pt x="857" y="166"/>
                  <a:pt x="868" y="178"/>
                  <a:pt x="878" y="190"/>
                </a:cubicBezTo>
                <a:cubicBezTo>
                  <a:pt x="888" y="202"/>
                  <a:pt x="897" y="215"/>
                  <a:pt x="906" y="229"/>
                </a:cubicBezTo>
                <a:cubicBezTo>
                  <a:pt x="915" y="242"/>
                  <a:pt x="923" y="256"/>
                  <a:pt x="930" y="270"/>
                </a:cubicBezTo>
                <a:cubicBezTo>
                  <a:pt x="937" y="284"/>
                  <a:pt x="944" y="299"/>
                  <a:pt x="950" y="314"/>
                </a:cubicBezTo>
                <a:cubicBezTo>
                  <a:pt x="956" y="328"/>
                  <a:pt x="962" y="343"/>
                  <a:pt x="966" y="359"/>
                </a:cubicBezTo>
                <a:cubicBezTo>
                  <a:pt x="971" y="374"/>
                  <a:pt x="975" y="389"/>
                  <a:pt x="978" y="405"/>
                </a:cubicBezTo>
                <a:cubicBezTo>
                  <a:pt x="982" y="420"/>
                  <a:pt x="985" y="436"/>
                  <a:pt x="987" y="452"/>
                </a:cubicBezTo>
                <a:cubicBezTo>
                  <a:pt x="989" y="468"/>
                  <a:pt x="990" y="484"/>
                  <a:pt x="991" y="500"/>
                </a:cubicBezTo>
                <a:close/>
              </a:path>
            </a:pathLst>
          </a:custGeom>
          <a:gradFill rotWithShape="1">
            <a:gsLst>
              <a:gs pos="0">
                <a:srgbClr val="F6F2F8"/>
              </a:gs>
              <a:gs pos="48000">
                <a:srgbClr val="ECE5F0"/>
              </a:gs>
              <a:gs pos="100000">
                <a:srgbClr val="E1D9E8"/>
              </a:gs>
            </a:gsLst>
            <a:lin ang="5400000" scaled="1"/>
          </a:gradFill>
          <a:ln w="3037" cap="rnd">
            <a:solidFill>
              <a:srgbClr val="A79CB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Adventitial collagen bundle 00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70" y="533"/>
                </a:moveTo>
                <a:cubicBezTo>
                  <a:pt x="971" y="537"/>
                  <a:pt x="972" y="550"/>
                  <a:pt x="972" y="558"/>
                </a:cubicBezTo>
                <a:cubicBezTo>
                  <a:pt x="972" y="566"/>
                  <a:pt x="970" y="575"/>
                  <a:pt x="968" y="583"/>
                </a:cubicBezTo>
                <a:cubicBezTo>
                  <a:pt x="967" y="591"/>
                  <a:pt x="963" y="598"/>
                  <a:pt x="961" y="606"/>
                </a:cubicBezTo>
                <a:cubicBezTo>
                  <a:pt x="958" y="614"/>
                  <a:pt x="955" y="622"/>
                  <a:pt x="953" y="630"/>
                </a:cubicBezTo>
                <a:cubicBezTo>
                  <a:pt x="950" y="638"/>
                  <a:pt x="949" y="646"/>
                  <a:pt x="947" y="654"/>
                </a:cubicBezTo>
                <a:cubicBezTo>
                  <a:pt x="946" y="662"/>
                  <a:pt x="945" y="671"/>
                  <a:pt x="943" y="679"/>
                </a:cubicBezTo>
                <a:cubicBezTo>
                  <a:pt x="940" y="687"/>
                  <a:pt x="938" y="695"/>
                  <a:pt x="934" y="702"/>
                </a:cubicBezTo>
                <a:cubicBezTo>
                  <a:pt x="930" y="710"/>
                  <a:pt x="925" y="717"/>
                  <a:pt x="921" y="724"/>
                </a:cubicBezTo>
                <a:cubicBezTo>
                  <a:pt x="916" y="730"/>
                  <a:pt x="908" y="740"/>
                  <a:pt x="905" y="743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Adventitial collagen bundle 01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855" y="798"/>
                </a:moveTo>
                <a:cubicBezTo>
                  <a:pt x="851" y="801"/>
                  <a:pt x="841" y="813"/>
                  <a:pt x="833" y="820"/>
                </a:cubicBezTo>
                <a:cubicBezTo>
                  <a:pt x="825" y="827"/>
                  <a:pt x="816" y="832"/>
                  <a:pt x="807" y="838"/>
                </a:cubicBezTo>
                <a:cubicBezTo>
                  <a:pt x="798" y="844"/>
                  <a:pt x="789" y="849"/>
                  <a:pt x="781" y="855"/>
                </a:cubicBezTo>
                <a:cubicBezTo>
                  <a:pt x="772" y="861"/>
                  <a:pt x="764" y="867"/>
                  <a:pt x="756" y="873"/>
                </a:cubicBezTo>
                <a:cubicBezTo>
                  <a:pt x="748" y="879"/>
                  <a:pt x="740" y="886"/>
                  <a:pt x="731" y="892"/>
                </a:cubicBezTo>
                <a:cubicBezTo>
                  <a:pt x="723" y="898"/>
                  <a:pt x="714" y="904"/>
                  <a:pt x="705" y="908"/>
                </a:cubicBezTo>
                <a:cubicBezTo>
                  <a:pt x="696" y="912"/>
                  <a:pt x="686" y="915"/>
                  <a:pt x="676" y="918"/>
                </a:cubicBezTo>
                <a:cubicBezTo>
                  <a:pt x="666" y="921"/>
                  <a:pt x="656" y="923"/>
                  <a:pt x="646" y="926"/>
                </a:cubicBezTo>
                <a:cubicBezTo>
                  <a:pt x="636" y="928"/>
                  <a:pt x="621" y="932"/>
                  <a:pt x="616" y="934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Collagen parallel fine strand 01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834" y="822"/>
                </a:moveTo>
                <a:cubicBezTo>
                  <a:pt x="830" y="825"/>
                  <a:pt x="817" y="835"/>
                  <a:pt x="808" y="841"/>
                </a:cubicBezTo>
                <a:cubicBezTo>
                  <a:pt x="800" y="846"/>
                  <a:pt x="791" y="852"/>
                  <a:pt x="782" y="857"/>
                </a:cubicBezTo>
                <a:cubicBezTo>
                  <a:pt x="774" y="863"/>
                  <a:pt x="766" y="869"/>
                  <a:pt x="757" y="876"/>
                </a:cubicBezTo>
                <a:cubicBezTo>
                  <a:pt x="749" y="882"/>
                  <a:pt x="741" y="889"/>
                  <a:pt x="733" y="894"/>
                </a:cubicBezTo>
                <a:cubicBezTo>
                  <a:pt x="724" y="900"/>
                  <a:pt x="715" y="906"/>
                  <a:pt x="706" y="910"/>
                </a:cubicBezTo>
                <a:cubicBezTo>
                  <a:pt x="697" y="914"/>
                  <a:pt x="687" y="918"/>
                  <a:pt x="677" y="921"/>
                </a:cubicBezTo>
                <a:cubicBezTo>
                  <a:pt x="667" y="923"/>
                  <a:pt x="652" y="927"/>
                  <a:pt x="647" y="928"/>
                </a:cubicBezTo>
              </a:path>
            </a:pathLst>
          </a:custGeom>
          <a:noFill/>
          <a:ln w="1905" cap="rnd">
            <a:solidFill>
              <a:srgbClr val="D3C5D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Adventitial collagen bundle 02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566" y="969"/>
                </a:moveTo>
                <a:cubicBezTo>
                  <a:pt x="562" y="969"/>
                  <a:pt x="552" y="969"/>
                  <a:pt x="545" y="969"/>
                </a:cubicBezTo>
                <a:cubicBezTo>
                  <a:pt x="538" y="968"/>
                  <a:pt x="531" y="967"/>
                  <a:pt x="524" y="968"/>
                </a:cubicBezTo>
                <a:cubicBezTo>
                  <a:pt x="517" y="968"/>
                  <a:pt x="510" y="968"/>
                  <a:pt x="503" y="969"/>
                </a:cubicBezTo>
                <a:cubicBezTo>
                  <a:pt x="496" y="970"/>
                  <a:pt x="489" y="972"/>
                  <a:pt x="482" y="973"/>
                </a:cubicBezTo>
                <a:cubicBezTo>
                  <a:pt x="475" y="974"/>
                  <a:pt x="467" y="975"/>
                  <a:pt x="460" y="975"/>
                </a:cubicBezTo>
                <a:cubicBezTo>
                  <a:pt x="453" y="975"/>
                  <a:pt x="446" y="973"/>
                  <a:pt x="439" y="972"/>
                </a:cubicBezTo>
                <a:cubicBezTo>
                  <a:pt x="432" y="970"/>
                  <a:pt x="426" y="967"/>
                  <a:pt x="419" y="965"/>
                </a:cubicBezTo>
                <a:cubicBezTo>
                  <a:pt x="412" y="963"/>
                  <a:pt x="405" y="961"/>
                  <a:pt x="398" y="960"/>
                </a:cubicBezTo>
                <a:cubicBezTo>
                  <a:pt x="391" y="959"/>
                  <a:pt x="381" y="959"/>
                  <a:pt x="377" y="958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Adventitial collagen bundle 03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5" y="919"/>
                </a:moveTo>
                <a:cubicBezTo>
                  <a:pt x="301" y="916"/>
                  <a:pt x="289" y="908"/>
                  <a:pt x="281" y="903"/>
                </a:cubicBezTo>
                <a:cubicBezTo>
                  <a:pt x="273" y="898"/>
                  <a:pt x="265" y="893"/>
                  <a:pt x="256" y="888"/>
                </a:cubicBezTo>
                <a:cubicBezTo>
                  <a:pt x="248" y="884"/>
                  <a:pt x="239" y="880"/>
                  <a:pt x="231" y="875"/>
                </a:cubicBezTo>
                <a:cubicBezTo>
                  <a:pt x="222" y="870"/>
                  <a:pt x="214" y="866"/>
                  <a:pt x="206" y="860"/>
                </a:cubicBezTo>
                <a:cubicBezTo>
                  <a:pt x="199" y="854"/>
                  <a:pt x="192" y="847"/>
                  <a:pt x="185" y="840"/>
                </a:cubicBezTo>
                <a:cubicBezTo>
                  <a:pt x="179" y="833"/>
                  <a:pt x="174" y="825"/>
                  <a:pt x="168" y="817"/>
                </a:cubicBezTo>
                <a:cubicBezTo>
                  <a:pt x="162" y="810"/>
                  <a:pt x="156" y="802"/>
                  <a:pt x="150" y="795"/>
                </a:cubicBezTo>
                <a:cubicBezTo>
                  <a:pt x="144" y="787"/>
                  <a:pt x="137" y="781"/>
                  <a:pt x="131" y="774"/>
                </a:cubicBezTo>
                <a:cubicBezTo>
                  <a:pt x="124" y="767"/>
                  <a:pt x="114" y="756"/>
                  <a:pt x="111" y="752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Adventitial collagen bundle 04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7" y="716"/>
                </a:moveTo>
                <a:cubicBezTo>
                  <a:pt x="75" y="712"/>
                  <a:pt x="71" y="701"/>
                  <a:pt x="67" y="694"/>
                </a:cubicBezTo>
                <a:cubicBezTo>
                  <a:pt x="63" y="687"/>
                  <a:pt x="59" y="680"/>
                  <a:pt x="55" y="673"/>
                </a:cubicBezTo>
                <a:cubicBezTo>
                  <a:pt x="51" y="666"/>
                  <a:pt x="46" y="659"/>
                  <a:pt x="43" y="651"/>
                </a:cubicBezTo>
                <a:cubicBezTo>
                  <a:pt x="41" y="644"/>
                  <a:pt x="39" y="636"/>
                  <a:pt x="37" y="628"/>
                </a:cubicBezTo>
                <a:cubicBezTo>
                  <a:pt x="36" y="620"/>
                  <a:pt x="36" y="612"/>
                  <a:pt x="35" y="604"/>
                </a:cubicBezTo>
                <a:cubicBezTo>
                  <a:pt x="34" y="595"/>
                  <a:pt x="34" y="587"/>
                  <a:pt x="33" y="580"/>
                </a:cubicBezTo>
                <a:cubicBezTo>
                  <a:pt x="32" y="572"/>
                  <a:pt x="30" y="564"/>
                  <a:pt x="28" y="556"/>
                </a:cubicBezTo>
                <a:cubicBezTo>
                  <a:pt x="27" y="548"/>
                  <a:pt x="24" y="540"/>
                  <a:pt x="23" y="532"/>
                </a:cubicBezTo>
                <a:cubicBezTo>
                  <a:pt x="21" y="524"/>
                  <a:pt x="21" y="512"/>
                  <a:pt x="21" y="508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Collagen parallel fine strand 04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8" y="696"/>
                </a:moveTo>
                <a:cubicBezTo>
                  <a:pt x="66" y="693"/>
                  <a:pt x="60" y="682"/>
                  <a:pt x="56" y="675"/>
                </a:cubicBezTo>
                <a:cubicBezTo>
                  <a:pt x="52" y="668"/>
                  <a:pt x="48" y="661"/>
                  <a:pt x="45" y="653"/>
                </a:cubicBezTo>
                <a:cubicBezTo>
                  <a:pt x="42" y="646"/>
                  <a:pt x="40" y="638"/>
                  <a:pt x="38" y="630"/>
                </a:cubicBezTo>
                <a:cubicBezTo>
                  <a:pt x="37" y="622"/>
                  <a:pt x="37" y="614"/>
                  <a:pt x="36" y="606"/>
                </a:cubicBezTo>
                <a:cubicBezTo>
                  <a:pt x="36" y="598"/>
                  <a:pt x="35" y="590"/>
                  <a:pt x="34" y="582"/>
                </a:cubicBezTo>
                <a:cubicBezTo>
                  <a:pt x="33" y="574"/>
                  <a:pt x="31" y="566"/>
                  <a:pt x="30" y="558"/>
                </a:cubicBezTo>
                <a:cubicBezTo>
                  <a:pt x="28" y="550"/>
                  <a:pt x="25" y="539"/>
                  <a:pt x="24" y="535"/>
                </a:cubicBezTo>
              </a:path>
            </a:pathLst>
          </a:custGeom>
          <a:noFill/>
          <a:ln w="1905" cap="rnd">
            <a:solidFill>
              <a:srgbClr val="D3C5D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Adventitial collagen bundle 05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5" y="452"/>
                </a:moveTo>
                <a:cubicBezTo>
                  <a:pt x="45" y="447"/>
                  <a:pt x="46" y="432"/>
                  <a:pt x="47" y="422"/>
                </a:cubicBezTo>
                <a:cubicBezTo>
                  <a:pt x="48" y="412"/>
                  <a:pt x="49" y="402"/>
                  <a:pt x="51" y="392"/>
                </a:cubicBezTo>
                <a:cubicBezTo>
                  <a:pt x="53" y="382"/>
                  <a:pt x="56" y="372"/>
                  <a:pt x="60" y="363"/>
                </a:cubicBezTo>
                <a:cubicBezTo>
                  <a:pt x="63" y="353"/>
                  <a:pt x="69" y="344"/>
                  <a:pt x="73" y="335"/>
                </a:cubicBezTo>
                <a:cubicBezTo>
                  <a:pt x="78" y="326"/>
                  <a:pt x="83" y="318"/>
                  <a:pt x="88" y="309"/>
                </a:cubicBezTo>
                <a:cubicBezTo>
                  <a:pt x="92" y="300"/>
                  <a:pt x="96" y="291"/>
                  <a:pt x="100" y="281"/>
                </a:cubicBezTo>
                <a:cubicBezTo>
                  <a:pt x="104" y="272"/>
                  <a:pt x="108" y="263"/>
                  <a:pt x="112" y="253"/>
                </a:cubicBezTo>
                <a:cubicBezTo>
                  <a:pt x="117" y="244"/>
                  <a:pt x="121" y="235"/>
                  <a:pt x="127" y="227"/>
                </a:cubicBezTo>
                <a:cubicBezTo>
                  <a:pt x="133" y="219"/>
                  <a:pt x="144" y="208"/>
                  <a:pt x="147" y="204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Adventitial collagen bundle 06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156"/>
                </a:moveTo>
                <a:cubicBezTo>
                  <a:pt x="182" y="153"/>
                  <a:pt x="188" y="144"/>
                  <a:pt x="193" y="138"/>
                </a:cubicBezTo>
                <a:cubicBezTo>
                  <a:pt x="198" y="133"/>
                  <a:pt x="203" y="128"/>
                  <a:pt x="209" y="123"/>
                </a:cubicBezTo>
                <a:cubicBezTo>
                  <a:pt x="215" y="119"/>
                  <a:pt x="222" y="116"/>
                  <a:pt x="228" y="112"/>
                </a:cubicBezTo>
                <a:cubicBezTo>
                  <a:pt x="235" y="109"/>
                  <a:pt x="242" y="106"/>
                  <a:pt x="248" y="102"/>
                </a:cubicBezTo>
                <a:cubicBezTo>
                  <a:pt x="254" y="98"/>
                  <a:pt x="260" y="94"/>
                  <a:pt x="266" y="89"/>
                </a:cubicBezTo>
                <a:cubicBezTo>
                  <a:pt x="272" y="85"/>
                  <a:pt x="278" y="80"/>
                  <a:pt x="284" y="75"/>
                </a:cubicBezTo>
                <a:cubicBezTo>
                  <a:pt x="290" y="71"/>
                  <a:pt x="296" y="66"/>
                  <a:pt x="302" y="63"/>
                </a:cubicBezTo>
                <a:cubicBezTo>
                  <a:pt x="309" y="60"/>
                  <a:pt x="316" y="58"/>
                  <a:pt x="324" y="56"/>
                </a:cubicBezTo>
                <a:cubicBezTo>
                  <a:pt x="331" y="54"/>
                  <a:pt x="342" y="52"/>
                  <a:pt x="346" y="52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Adventitial collagen bundle 07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7" y="42"/>
                </a:moveTo>
                <a:cubicBezTo>
                  <a:pt x="433" y="41"/>
                  <a:pt x="449" y="38"/>
                  <a:pt x="460" y="37"/>
                </a:cubicBezTo>
                <a:cubicBezTo>
                  <a:pt x="470" y="37"/>
                  <a:pt x="481" y="38"/>
                  <a:pt x="492" y="39"/>
                </a:cubicBezTo>
                <a:cubicBezTo>
                  <a:pt x="503" y="41"/>
                  <a:pt x="513" y="43"/>
                  <a:pt x="524" y="44"/>
                </a:cubicBezTo>
                <a:cubicBezTo>
                  <a:pt x="534" y="46"/>
                  <a:pt x="545" y="47"/>
                  <a:pt x="556" y="48"/>
                </a:cubicBezTo>
                <a:cubicBezTo>
                  <a:pt x="566" y="49"/>
                  <a:pt x="577" y="49"/>
                  <a:pt x="587" y="50"/>
                </a:cubicBezTo>
                <a:cubicBezTo>
                  <a:pt x="598" y="52"/>
                  <a:pt x="609" y="53"/>
                  <a:pt x="619" y="55"/>
                </a:cubicBezTo>
                <a:cubicBezTo>
                  <a:pt x="629" y="58"/>
                  <a:pt x="640" y="62"/>
                  <a:pt x="649" y="66"/>
                </a:cubicBezTo>
                <a:cubicBezTo>
                  <a:pt x="659" y="71"/>
                  <a:pt x="668" y="77"/>
                  <a:pt x="678" y="82"/>
                </a:cubicBezTo>
                <a:cubicBezTo>
                  <a:pt x="687" y="87"/>
                  <a:pt x="701" y="94"/>
                  <a:pt x="706" y="97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Collagen parallel fine strand 07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61" y="40"/>
                </a:moveTo>
                <a:cubicBezTo>
                  <a:pt x="466" y="40"/>
                  <a:pt x="483" y="40"/>
                  <a:pt x="493" y="42"/>
                </a:cubicBezTo>
                <a:cubicBezTo>
                  <a:pt x="504" y="43"/>
                  <a:pt x="515" y="45"/>
                  <a:pt x="525" y="47"/>
                </a:cubicBezTo>
                <a:cubicBezTo>
                  <a:pt x="536" y="48"/>
                  <a:pt x="546" y="49"/>
                  <a:pt x="557" y="50"/>
                </a:cubicBezTo>
                <a:cubicBezTo>
                  <a:pt x="567" y="51"/>
                  <a:pt x="578" y="51"/>
                  <a:pt x="589" y="52"/>
                </a:cubicBezTo>
                <a:cubicBezTo>
                  <a:pt x="599" y="54"/>
                  <a:pt x="610" y="55"/>
                  <a:pt x="620" y="58"/>
                </a:cubicBezTo>
                <a:cubicBezTo>
                  <a:pt x="631" y="60"/>
                  <a:pt x="641" y="64"/>
                  <a:pt x="651" y="69"/>
                </a:cubicBezTo>
                <a:cubicBezTo>
                  <a:pt x="660" y="73"/>
                  <a:pt x="674" y="81"/>
                  <a:pt x="679" y="84"/>
                </a:cubicBezTo>
              </a:path>
            </a:pathLst>
          </a:custGeom>
          <a:noFill/>
          <a:ln w="1905" cap="rnd">
            <a:solidFill>
              <a:srgbClr val="D3C5D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Adventitial collagen bundle 08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73" y="109"/>
                </a:moveTo>
                <a:cubicBezTo>
                  <a:pt x="777" y="112"/>
                  <a:pt x="787" y="121"/>
                  <a:pt x="793" y="127"/>
                </a:cubicBezTo>
                <a:cubicBezTo>
                  <a:pt x="800" y="134"/>
                  <a:pt x="805" y="141"/>
                  <a:pt x="812" y="147"/>
                </a:cubicBezTo>
                <a:cubicBezTo>
                  <a:pt x="818" y="153"/>
                  <a:pt x="824" y="160"/>
                  <a:pt x="831" y="165"/>
                </a:cubicBezTo>
                <a:cubicBezTo>
                  <a:pt x="837" y="171"/>
                  <a:pt x="845" y="176"/>
                  <a:pt x="851" y="182"/>
                </a:cubicBezTo>
                <a:cubicBezTo>
                  <a:pt x="858" y="188"/>
                  <a:pt x="865" y="194"/>
                  <a:pt x="871" y="201"/>
                </a:cubicBezTo>
                <a:cubicBezTo>
                  <a:pt x="877" y="207"/>
                  <a:pt x="882" y="215"/>
                  <a:pt x="887" y="222"/>
                </a:cubicBezTo>
                <a:cubicBezTo>
                  <a:pt x="891" y="230"/>
                  <a:pt x="895" y="239"/>
                  <a:pt x="898" y="247"/>
                </a:cubicBezTo>
                <a:cubicBezTo>
                  <a:pt x="902" y="255"/>
                  <a:pt x="906" y="263"/>
                  <a:pt x="910" y="271"/>
                </a:cubicBezTo>
                <a:cubicBezTo>
                  <a:pt x="914" y="278"/>
                  <a:pt x="921" y="290"/>
                  <a:pt x="924" y="293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Adventitial collagen bundle 09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22" y="321"/>
                </a:moveTo>
                <a:cubicBezTo>
                  <a:pt x="923" y="323"/>
                  <a:pt x="923" y="331"/>
                  <a:pt x="925" y="336"/>
                </a:cubicBezTo>
                <a:cubicBezTo>
                  <a:pt x="926" y="341"/>
                  <a:pt x="927" y="346"/>
                  <a:pt x="929" y="351"/>
                </a:cubicBezTo>
                <a:cubicBezTo>
                  <a:pt x="931" y="355"/>
                  <a:pt x="934" y="359"/>
                  <a:pt x="936" y="364"/>
                </a:cubicBezTo>
                <a:cubicBezTo>
                  <a:pt x="939" y="368"/>
                  <a:pt x="942" y="373"/>
                  <a:pt x="944" y="377"/>
                </a:cubicBezTo>
                <a:cubicBezTo>
                  <a:pt x="946" y="382"/>
                  <a:pt x="947" y="387"/>
                  <a:pt x="948" y="392"/>
                </a:cubicBezTo>
                <a:cubicBezTo>
                  <a:pt x="948" y="397"/>
                  <a:pt x="947" y="402"/>
                  <a:pt x="948" y="408"/>
                </a:cubicBezTo>
                <a:cubicBezTo>
                  <a:pt x="948" y="413"/>
                  <a:pt x="947" y="418"/>
                  <a:pt x="948" y="423"/>
                </a:cubicBezTo>
                <a:cubicBezTo>
                  <a:pt x="949" y="428"/>
                  <a:pt x="950" y="433"/>
                  <a:pt x="952" y="437"/>
                </a:cubicBezTo>
                <a:cubicBezTo>
                  <a:pt x="953" y="442"/>
                  <a:pt x="957" y="449"/>
                  <a:pt x="958" y="452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 rot="6540000">
            <a:off x="4034828" y="1207191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 rot="9120000">
            <a:off x="3841496" y="1424068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 rot="11820000">
            <a:off x="3541835" y="1453811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 rot="14160000">
            <a:off x="3329040" y="1298315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 rot="17460000">
            <a:off x="3290780" y="936516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 rot="20280000">
            <a:off x="3507800" y="707794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 rot="1020000">
            <a:off x="3771468" y="702718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 rot="3540000">
            <a:off x="3996102" y="873349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Muscular media gently asymmetric tissue boundary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499"/>
                </a:moveTo>
                <a:cubicBezTo>
                  <a:pt x="930" y="513"/>
                  <a:pt x="930" y="527"/>
                  <a:pt x="929" y="541"/>
                </a:cubicBezTo>
                <a:cubicBezTo>
                  <a:pt x="929" y="555"/>
                  <a:pt x="927" y="569"/>
                  <a:pt x="925" y="583"/>
                </a:cubicBezTo>
                <a:cubicBezTo>
                  <a:pt x="923" y="597"/>
                  <a:pt x="920" y="611"/>
                  <a:pt x="916" y="625"/>
                </a:cubicBezTo>
                <a:cubicBezTo>
                  <a:pt x="913" y="639"/>
                  <a:pt x="908" y="652"/>
                  <a:pt x="903" y="665"/>
                </a:cubicBezTo>
                <a:cubicBezTo>
                  <a:pt x="898" y="679"/>
                  <a:pt x="892" y="692"/>
                  <a:pt x="885" y="704"/>
                </a:cubicBezTo>
                <a:cubicBezTo>
                  <a:pt x="878" y="716"/>
                  <a:pt x="871" y="729"/>
                  <a:pt x="862" y="740"/>
                </a:cubicBezTo>
                <a:cubicBezTo>
                  <a:pt x="854" y="752"/>
                  <a:pt x="845" y="763"/>
                  <a:pt x="836" y="773"/>
                </a:cubicBezTo>
                <a:cubicBezTo>
                  <a:pt x="826" y="784"/>
                  <a:pt x="816" y="794"/>
                  <a:pt x="805" y="803"/>
                </a:cubicBezTo>
                <a:cubicBezTo>
                  <a:pt x="795" y="812"/>
                  <a:pt x="784" y="821"/>
                  <a:pt x="773" y="829"/>
                </a:cubicBezTo>
                <a:cubicBezTo>
                  <a:pt x="761" y="837"/>
                  <a:pt x="749" y="845"/>
                  <a:pt x="737" y="852"/>
                </a:cubicBezTo>
                <a:cubicBezTo>
                  <a:pt x="726" y="859"/>
                  <a:pt x="713" y="866"/>
                  <a:pt x="701" y="872"/>
                </a:cubicBezTo>
                <a:cubicBezTo>
                  <a:pt x="688" y="878"/>
                  <a:pt x="676" y="883"/>
                  <a:pt x="663" y="889"/>
                </a:cubicBezTo>
                <a:cubicBezTo>
                  <a:pt x="650" y="894"/>
                  <a:pt x="637" y="898"/>
                  <a:pt x="624" y="902"/>
                </a:cubicBezTo>
                <a:cubicBezTo>
                  <a:pt x="611" y="906"/>
                  <a:pt x="597" y="910"/>
                  <a:pt x="584" y="913"/>
                </a:cubicBezTo>
                <a:cubicBezTo>
                  <a:pt x="570" y="916"/>
                  <a:pt x="557" y="919"/>
                  <a:pt x="543" y="920"/>
                </a:cubicBezTo>
                <a:cubicBezTo>
                  <a:pt x="529" y="922"/>
                  <a:pt x="515" y="924"/>
                  <a:pt x="502" y="924"/>
                </a:cubicBezTo>
                <a:cubicBezTo>
                  <a:pt x="488" y="925"/>
                  <a:pt x="474" y="925"/>
                  <a:pt x="460" y="924"/>
                </a:cubicBezTo>
                <a:cubicBezTo>
                  <a:pt x="446" y="923"/>
                  <a:pt x="432" y="922"/>
                  <a:pt x="418" y="920"/>
                </a:cubicBezTo>
                <a:cubicBezTo>
                  <a:pt x="404" y="917"/>
                  <a:pt x="390" y="914"/>
                  <a:pt x="377" y="910"/>
                </a:cubicBezTo>
                <a:cubicBezTo>
                  <a:pt x="363" y="907"/>
                  <a:pt x="350" y="902"/>
                  <a:pt x="337" y="897"/>
                </a:cubicBezTo>
                <a:cubicBezTo>
                  <a:pt x="324" y="891"/>
                  <a:pt x="311" y="885"/>
                  <a:pt x="299" y="879"/>
                </a:cubicBezTo>
                <a:cubicBezTo>
                  <a:pt x="286" y="872"/>
                  <a:pt x="274" y="865"/>
                  <a:pt x="262" y="857"/>
                </a:cubicBezTo>
                <a:cubicBezTo>
                  <a:pt x="251" y="849"/>
                  <a:pt x="239" y="840"/>
                  <a:pt x="229" y="832"/>
                </a:cubicBezTo>
                <a:cubicBezTo>
                  <a:pt x="218" y="823"/>
                  <a:pt x="207" y="813"/>
                  <a:pt x="197" y="803"/>
                </a:cubicBezTo>
                <a:cubicBezTo>
                  <a:pt x="188" y="793"/>
                  <a:pt x="178" y="783"/>
                  <a:pt x="169" y="772"/>
                </a:cubicBezTo>
                <a:cubicBezTo>
                  <a:pt x="160" y="761"/>
                  <a:pt x="152" y="750"/>
                  <a:pt x="144" y="738"/>
                </a:cubicBezTo>
                <a:cubicBezTo>
                  <a:pt x="136" y="726"/>
                  <a:pt x="128" y="714"/>
                  <a:pt x="122" y="702"/>
                </a:cubicBezTo>
                <a:cubicBezTo>
                  <a:pt x="115" y="690"/>
                  <a:pt x="109" y="677"/>
                  <a:pt x="103" y="664"/>
                </a:cubicBezTo>
                <a:cubicBezTo>
                  <a:pt x="98" y="651"/>
                  <a:pt x="93" y="638"/>
                  <a:pt x="89" y="624"/>
                </a:cubicBezTo>
                <a:cubicBezTo>
                  <a:pt x="85" y="611"/>
                  <a:pt x="82" y="597"/>
                  <a:pt x="79" y="583"/>
                </a:cubicBezTo>
                <a:cubicBezTo>
                  <a:pt x="77" y="569"/>
                  <a:pt x="75" y="555"/>
                  <a:pt x="74" y="541"/>
                </a:cubicBezTo>
                <a:cubicBezTo>
                  <a:pt x="73" y="527"/>
                  <a:pt x="73" y="513"/>
                  <a:pt x="74" y="499"/>
                </a:cubicBezTo>
                <a:cubicBezTo>
                  <a:pt x="74" y="485"/>
                  <a:pt x="75" y="471"/>
                  <a:pt x="77" y="457"/>
                </a:cubicBezTo>
                <a:cubicBezTo>
                  <a:pt x="79" y="443"/>
                  <a:pt x="82" y="430"/>
                  <a:pt x="86" y="416"/>
                </a:cubicBezTo>
                <a:cubicBezTo>
                  <a:pt x="89" y="403"/>
                  <a:pt x="93" y="389"/>
                  <a:pt x="97" y="376"/>
                </a:cubicBezTo>
                <a:cubicBezTo>
                  <a:pt x="102" y="363"/>
                  <a:pt x="107" y="350"/>
                  <a:pt x="112" y="338"/>
                </a:cubicBezTo>
                <a:cubicBezTo>
                  <a:pt x="118" y="325"/>
                  <a:pt x="124" y="313"/>
                  <a:pt x="130" y="300"/>
                </a:cubicBezTo>
                <a:cubicBezTo>
                  <a:pt x="136" y="288"/>
                  <a:pt x="143" y="276"/>
                  <a:pt x="151" y="265"/>
                </a:cubicBezTo>
                <a:cubicBezTo>
                  <a:pt x="158" y="253"/>
                  <a:pt x="166" y="241"/>
                  <a:pt x="174" y="230"/>
                </a:cubicBezTo>
                <a:cubicBezTo>
                  <a:pt x="182" y="219"/>
                  <a:pt x="191" y="208"/>
                  <a:pt x="200" y="198"/>
                </a:cubicBezTo>
                <a:cubicBezTo>
                  <a:pt x="209" y="187"/>
                  <a:pt x="219" y="177"/>
                  <a:pt x="230" y="168"/>
                </a:cubicBezTo>
                <a:cubicBezTo>
                  <a:pt x="240" y="158"/>
                  <a:pt x="251" y="149"/>
                  <a:pt x="262" y="140"/>
                </a:cubicBezTo>
                <a:cubicBezTo>
                  <a:pt x="273" y="132"/>
                  <a:pt x="285" y="124"/>
                  <a:pt x="297" y="117"/>
                </a:cubicBezTo>
                <a:cubicBezTo>
                  <a:pt x="309" y="110"/>
                  <a:pt x="322" y="103"/>
                  <a:pt x="335" y="98"/>
                </a:cubicBezTo>
                <a:cubicBezTo>
                  <a:pt x="348" y="92"/>
                  <a:pt x="362" y="87"/>
                  <a:pt x="375" y="83"/>
                </a:cubicBezTo>
                <a:cubicBezTo>
                  <a:pt x="389" y="79"/>
                  <a:pt x="403" y="76"/>
                  <a:pt x="417" y="73"/>
                </a:cubicBezTo>
                <a:cubicBezTo>
                  <a:pt x="431" y="71"/>
                  <a:pt x="445" y="69"/>
                  <a:pt x="459" y="69"/>
                </a:cubicBezTo>
                <a:cubicBezTo>
                  <a:pt x="473" y="68"/>
                  <a:pt x="487" y="68"/>
                  <a:pt x="501" y="68"/>
                </a:cubicBezTo>
                <a:cubicBezTo>
                  <a:pt x="516" y="69"/>
                  <a:pt x="530" y="70"/>
                  <a:pt x="544" y="72"/>
                </a:cubicBezTo>
                <a:cubicBezTo>
                  <a:pt x="557" y="74"/>
                  <a:pt x="571" y="77"/>
                  <a:pt x="585" y="80"/>
                </a:cubicBezTo>
                <a:cubicBezTo>
                  <a:pt x="598" y="83"/>
                  <a:pt x="612" y="87"/>
                  <a:pt x="625" y="91"/>
                </a:cubicBezTo>
                <a:cubicBezTo>
                  <a:pt x="638" y="96"/>
                  <a:pt x="652" y="100"/>
                  <a:pt x="664" y="106"/>
                </a:cubicBezTo>
                <a:cubicBezTo>
                  <a:pt x="677" y="111"/>
                  <a:pt x="690" y="117"/>
                  <a:pt x="702" y="124"/>
                </a:cubicBezTo>
                <a:cubicBezTo>
                  <a:pt x="714" y="130"/>
                  <a:pt x="726" y="137"/>
                  <a:pt x="738" y="145"/>
                </a:cubicBezTo>
                <a:cubicBezTo>
                  <a:pt x="750" y="153"/>
                  <a:pt x="761" y="161"/>
                  <a:pt x="772" y="170"/>
                </a:cubicBezTo>
                <a:cubicBezTo>
                  <a:pt x="782" y="179"/>
                  <a:pt x="793" y="188"/>
                  <a:pt x="803" y="198"/>
                </a:cubicBezTo>
                <a:cubicBezTo>
                  <a:pt x="813" y="208"/>
                  <a:pt x="822" y="218"/>
                  <a:pt x="831" y="229"/>
                </a:cubicBezTo>
                <a:cubicBezTo>
                  <a:pt x="840" y="240"/>
                  <a:pt x="848" y="251"/>
                  <a:pt x="856" y="262"/>
                </a:cubicBezTo>
                <a:cubicBezTo>
                  <a:pt x="863" y="274"/>
                  <a:pt x="870" y="286"/>
                  <a:pt x="877" y="298"/>
                </a:cubicBezTo>
                <a:cubicBezTo>
                  <a:pt x="883" y="311"/>
                  <a:pt x="889" y="323"/>
                  <a:pt x="894" y="336"/>
                </a:cubicBezTo>
                <a:cubicBezTo>
                  <a:pt x="899" y="349"/>
                  <a:pt x="904" y="362"/>
                  <a:pt x="908" y="376"/>
                </a:cubicBezTo>
                <a:cubicBezTo>
                  <a:pt x="912" y="389"/>
                  <a:pt x="916" y="402"/>
                  <a:pt x="919" y="416"/>
                </a:cubicBezTo>
                <a:cubicBezTo>
                  <a:pt x="922" y="430"/>
                  <a:pt x="924" y="443"/>
                  <a:pt x="926" y="457"/>
                </a:cubicBezTo>
                <a:cubicBezTo>
                  <a:pt x="928" y="471"/>
                  <a:pt x="929" y="485"/>
                  <a:pt x="930" y="499"/>
                </a:cubicBezTo>
                <a:close/>
              </a:path>
            </a:pathLst>
          </a:custGeom>
          <a:gradFill rotWithShape="1">
            <a:gsLst>
              <a:gs pos="0">
                <a:srgbClr val="F0B6BB"/>
              </a:gs>
              <a:gs pos="46000">
                <a:srgbClr val="EAA8AF"/>
              </a:gs>
              <a:gs pos="100000">
                <a:srgbClr val="DA949E"/>
              </a:gs>
            </a:gsLst>
            <a:lin ang="5400000" scaled="1"/>
          </a:gradFill>
          <a:ln w="2551" cap="rnd">
            <a:solidFill>
              <a:srgbClr val="C38B9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External elastic lamina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21" y="499"/>
                </a:moveTo>
                <a:cubicBezTo>
                  <a:pt x="921" y="507"/>
                  <a:pt x="922" y="515"/>
                  <a:pt x="922" y="523"/>
                </a:cubicBezTo>
                <a:cubicBezTo>
                  <a:pt x="922" y="531"/>
                  <a:pt x="921" y="539"/>
                  <a:pt x="920" y="547"/>
                </a:cubicBezTo>
                <a:cubicBezTo>
                  <a:pt x="920" y="555"/>
                  <a:pt x="918" y="563"/>
                  <a:pt x="917" y="571"/>
                </a:cubicBezTo>
                <a:cubicBezTo>
                  <a:pt x="915" y="579"/>
                  <a:pt x="914" y="587"/>
                  <a:pt x="912" y="595"/>
                </a:cubicBezTo>
                <a:cubicBezTo>
                  <a:pt x="911" y="602"/>
                  <a:pt x="910" y="610"/>
                  <a:pt x="908" y="618"/>
                </a:cubicBezTo>
                <a:cubicBezTo>
                  <a:pt x="906" y="626"/>
                  <a:pt x="905" y="634"/>
                  <a:pt x="902" y="642"/>
                </a:cubicBezTo>
                <a:cubicBezTo>
                  <a:pt x="900" y="650"/>
                  <a:pt x="897" y="657"/>
                  <a:pt x="893" y="665"/>
                </a:cubicBezTo>
                <a:cubicBezTo>
                  <a:pt x="890" y="672"/>
                  <a:pt x="886" y="679"/>
                  <a:pt x="882" y="686"/>
                </a:cubicBezTo>
                <a:cubicBezTo>
                  <a:pt x="878" y="693"/>
                  <a:pt x="874" y="700"/>
                  <a:pt x="870" y="707"/>
                </a:cubicBezTo>
                <a:cubicBezTo>
                  <a:pt x="866" y="714"/>
                  <a:pt x="863" y="722"/>
                  <a:pt x="859" y="728"/>
                </a:cubicBezTo>
                <a:cubicBezTo>
                  <a:pt x="854" y="735"/>
                  <a:pt x="850" y="742"/>
                  <a:pt x="845" y="749"/>
                </a:cubicBezTo>
                <a:cubicBezTo>
                  <a:pt x="840" y="755"/>
                  <a:pt x="835" y="761"/>
                  <a:pt x="829" y="767"/>
                </a:cubicBezTo>
                <a:cubicBezTo>
                  <a:pt x="824" y="773"/>
                  <a:pt x="818" y="778"/>
                  <a:pt x="812" y="784"/>
                </a:cubicBezTo>
                <a:cubicBezTo>
                  <a:pt x="806" y="789"/>
                  <a:pt x="800" y="794"/>
                  <a:pt x="794" y="800"/>
                </a:cubicBezTo>
                <a:cubicBezTo>
                  <a:pt x="788" y="805"/>
                  <a:pt x="782" y="810"/>
                  <a:pt x="776" y="816"/>
                </a:cubicBezTo>
                <a:cubicBezTo>
                  <a:pt x="770" y="821"/>
                  <a:pt x="764" y="826"/>
                  <a:pt x="757" y="831"/>
                </a:cubicBezTo>
                <a:cubicBezTo>
                  <a:pt x="751" y="835"/>
                  <a:pt x="744" y="839"/>
                  <a:pt x="737" y="843"/>
                </a:cubicBezTo>
                <a:cubicBezTo>
                  <a:pt x="730" y="847"/>
                  <a:pt x="723" y="850"/>
                  <a:pt x="716" y="854"/>
                </a:cubicBezTo>
                <a:cubicBezTo>
                  <a:pt x="708" y="858"/>
                  <a:pt x="701" y="861"/>
                  <a:pt x="694" y="864"/>
                </a:cubicBezTo>
                <a:cubicBezTo>
                  <a:pt x="687" y="868"/>
                  <a:pt x="680" y="872"/>
                  <a:pt x="673" y="875"/>
                </a:cubicBezTo>
                <a:cubicBezTo>
                  <a:pt x="666" y="879"/>
                  <a:pt x="659" y="882"/>
                  <a:pt x="652" y="885"/>
                </a:cubicBezTo>
                <a:cubicBezTo>
                  <a:pt x="645" y="888"/>
                  <a:pt x="637" y="891"/>
                  <a:pt x="629" y="893"/>
                </a:cubicBezTo>
                <a:cubicBezTo>
                  <a:pt x="622" y="895"/>
                  <a:pt x="614" y="896"/>
                  <a:pt x="606" y="898"/>
                </a:cubicBezTo>
                <a:cubicBezTo>
                  <a:pt x="599" y="900"/>
                  <a:pt x="591" y="902"/>
                  <a:pt x="583" y="903"/>
                </a:cubicBezTo>
                <a:cubicBezTo>
                  <a:pt x="576" y="905"/>
                  <a:pt x="568" y="908"/>
                  <a:pt x="560" y="909"/>
                </a:cubicBezTo>
                <a:cubicBezTo>
                  <a:pt x="553" y="911"/>
                  <a:pt x="545" y="913"/>
                  <a:pt x="537" y="914"/>
                </a:cubicBezTo>
                <a:cubicBezTo>
                  <a:pt x="529" y="915"/>
                  <a:pt x="521" y="916"/>
                  <a:pt x="513" y="916"/>
                </a:cubicBezTo>
                <a:cubicBezTo>
                  <a:pt x="505" y="916"/>
                  <a:pt x="498" y="915"/>
                  <a:pt x="490" y="915"/>
                </a:cubicBezTo>
                <a:cubicBezTo>
                  <a:pt x="482" y="915"/>
                  <a:pt x="474" y="915"/>
                  <a:pt x="466" y="914"/>
                </a:cubicBezTo>
                <a:cubicBezTo>
                  <a:pt x="458" y="914"/>
                  <a:pt x="450" y="914"/>
                  <a:pt x="442" y="914"/>
                </a:cubicBezTo>
                <a:cubicBezTo>
                  <a:pt x="434" y="913"/>
                  <a:pt x="426" y="913"/>
                  <a:pt x="418" y="912"/>
                </a:cubicBezTo>
                <a:cubicBezTo>
                  <a:pt x="410" y="910"/>
                  <a:pt x="402" y="908"/>
                  <a:pt x="394" y="906"/>
                </a:cubicBezTo>
                <a:cubicBezTo>
                  <a:pt x="387" y="904"/>
                  <a:pt x="379" y="901"/>
                  <a:pt x="372" y="899"/>
                </a:cubicBezTo>
                <a:cubicBezTo>
                  <a:pt x="364" y="896"/>
                  <a:pt x="357" y="893"/>
                  <a:pt x="349" y="890"/>
                </a:cubicBezTo>
                <a:cubicBezTo>
                  <a:pt x="342" y="888"/>
                  <a:pt x="334" y="885"/>
                  <a:pt x="327" y="882"/>
                </a:cubicBezTo>
                <a:cubicBezTo>
                  <a:pt x="319" y="879"/>
                  <a:pt x="312" y="876"/>
                  <a:pt x="304" y="873"/>
                </a:cubicBezTo>
                <a:cubicBezTo>
                  <a:pt x="297" y="869"/>
                  <a:pt x="290" y="865"/>
                  <a:pt x="284" y="860"/>
                </a:cubicBezTo>
                <a:cubicBezTo>
                  <a:pt x="277" y="856"/>
                  <a:pt x="271" y="851"/>
                  <a:pt x="264" y="846"/>
                </a:cubicBezTo>
                <a:cubicBezTo>
                  <a:pt x="258" y="841"/>
                  <a:pt x="252" y="836"/>
                  <a:pt x="245" y="831"/>
                </a:cubicBezTo>
                <a:cubicBezTo>
                  <a:pt x="239" y="827"/>
                  <a:pt x="232" y="822"/>
                  <a:pt x="226" y="817"/>
                </a:cubicBezTo>
                <a:cubicBezTo>
                  <a:pt x="220" y="812"/>
                  <a:pt x="213" y="807"/>
                  <a:pt x="207" y="802"/>
                </a:cubicBezTo>
                <a:cubicBezTo>
                  <a:pt x="202" y="796"/>
                  <a:pt x="196" y="790"/>
                  <a:pt x="191" y="784"/>
                </a:cubicBezTo>
                <a:cubicBezTo>
                  <a:pt x="186" y="778"/>
                  <a:pt x="181" y="771"/>
                  <a:pt x="176" y="765"/>
                </a:cubicBezTo>
                <a:cubicBezTo>
                  <a:pt x="172" y="758"/>
                  <a:pt x="167" y="752"/>
                  <a:pt x="162" y="746"/>
                </a:cubicBezTo>
                <a:cubicBezTo>
                  <a:pt x="157" y="739"/>
                  <a:pt x="152" y="733"/>
                  <a:pt x="147" y="727"/>
                </a:cubicBezTo>
                <a:cubicBezTo>
                  <a:pt x="143" y="720"/>
                  <a:pt x="138" y="714"/>
                  <a:pt x="134" y="707"/>
                </a:cubicBezTo>
                <a:cubicBezTo>
                  <a:pt x="130" y="700"/>
                  <a:pt x="126" y="693"/>
                  <a:pt x="123" y="685"/>
                </a:cubicBezTo>
                <a:cubicBezTo>
                  <a:pt x="119" y="678"/>
                  <a:pt x="117" y="670"/>
                  <a:pt x="114" y="663"/>
                </a:cubicBezTo>
                <a:cubicBezTo>
                  <a:pt x="111" y="655"/>
                  <a:pt x="108" y="648"/>
                  <a:pt x="106" y="640"/>
                </a:cubicBezTo>
                <a:cubicBezTo>
                  <a:pt x="103" y="633"/>
                  <a:pt x="100" y="625"/>
                  <a:pt x="97" y="618"/>
                </a:cubicBezTo>
                <a:cubicBezTo>
                  <a:pt x="94" y="610"/>
                  <a:pt x="92" y="603"/>
                  <a:pt x="90" y="595"/>
                </a:cubicBezTo>
                <a:cubicBezTo>
                  <a:pt x="88" y="587"/>
                  <a:pt x="87" y="579"/>
                  <a:pt x="86" y="571"/>
                </a:cubicBezTo>
                <a:cubicBezTo>
                  <a:pt x="85" y="563"/>
                  <a:pt x="85" y="555"/>
                  <a:pt x="84" y="547"/>
                </a:cubicBezTo>
                <a:cubicBezTo>
                  <a:pt x="84" y="539"/>
                  <a:pt x="84" y="531"/>
                  <a:pt x="84" y="523"/>
                </a:cubicBezTo>
                <a:cubicBezTo>
                  <a:pt x="83" y="515"/>
                  <a:pt x="83" y="507"/>
                  <a:pt x="83" y="499"/>
                </a:cubicBezTo>
                <a:cubicBezTo>
                  <a:pt x="82" y="491"/>
                  <a:pt x="82" y="483"/>
                  <a:pt x="83" y="475"/>
                </a:cubicBezTo>
                <a:cubicBezTo>
                  <a:pt x="84" y="467"/>
                  <a:pt x="85" y="459"/>
                  <a:pt x="86" y="451"/>
                </a:cubicBezTo>
                <a:cubicBezTo>
                  <a:pt x="88" y="444"/>
                  <a:pt x="90" y="436"/>
                  <a:pt x="92" y="428"/>
                </a:cubicBezTo>
                <a:cubicBezTo>
                  <a:pt x="94" y="421"/>
                  <a:pt x="96" y="413"/>
                  <a:pt x="98" y="405"/>
                </a:cubicBezTo>
                <a:cubicBezTo>
                  <a:pt x="100" y="398"/>
                  <a:pt x="102" y="390"/>
                  <a:pt x="104" y="382"/>
                </a:cubicBezTo>
                <a:cubicBezTo>
                  <a:pt x="106" y="375"/>
                  <a:pt x="108" y="367"/>
                  <a:pt x="111" y="360"/>
                </a:cubicBezTo>
                <a:cubicBezTo>
                  <a:pt x="114" y="352"/>
                  <a:pt x="117" y="345"/>
                  <a:pt x="120" y="338"/>
                </a:cubicBezTo>
                <a:cubicBezTo>
                  <a:pt x="124" y="331"/>
                  <a:pt x="128" y="324"/>
                  <a:pt x="131" y="317"/>
                </a:cubicBezTo>
                <a:cubicBezTo>
                  <a:pt x="135" y="310"/>
                  <a:pt x="139" y="303"/>
                  <a:pt x="143" y="296"/>
                </a:cubicBezTo>
                <a:cubicBezTo>
                  <a:pt x="146" y="289"/>
                  <a:pt x="150" y="282"/>
                  <a:pt x="154" y="275"/>
                </a:cubicBezTo>
                <a:cubicBezTo>
                  <a:pt x="157" y="268"/>
                  <a:pt x="161" y="261"/>
                  <a:pt x="165" y="255"/>
                </a:cubicBezTo>
                <a:cubicBezTo>
                  <a:pt x="170" y="248"/>
                  <a:pt x="174" y="242"/>
                  <a:pt x="179" y="236"/>
                </a:cubicBezTo>
                <a:cubicBezTo>
                  <a:pt x="184" y="230"/>
                  <a:pt x="190" y="224"/>
                  <a:pt x="195" y="218"/>
                </a:cubicBezTo>
                <a:cubicBezTo>
                  <a:pt x="201" y="212"/>
                  <a:pt x="206" y="206"/>
                  <a:pt x="211" y="200"/>
                </a:cubicBezTo>
                <a:cubicBezTo>
                  <a:pt x="217" y="194"/>
                  <a:pt x="222" y="188"/>
                  <a:pt x="227" y="182"/>
                </a:cubicBezTo>
                <a:cubicBezTo>
                  <a:pt x="233" y="176"/>
                  <a:pt x="238" y="171"/>
                  <a:pt x="244" y="165"/>
                </a:cubicBezTo>
                <a:cubicBezTo>
                  <a:pt x="250" y="160"/>
                  <a:pt x="257" y="155"/>
                  <a:pt x="263" y="150"/>
                </a:cubicBezTo>
                <a:cubicBezTo>
                  <a:pt x="270" y="146"/>
                  <a:pt x="277" y="142"/>
                  <a:pt x="284" y="138"/>
                </a:cubicBezTo>
                <a:cubicBezTo>
                  <a:pt x="290" y="133"/>
                  <a:pt x="297" y="129"/>
                  <a:pt x="304" y="125"/>
                </a:cubicBezTo>
                <a:cubicBezTo>
                  <a:pt x="311" y="121"/>
                  <a:pt x="318" y="117"/>
                  <a:pt x="325" y="113"/>
                </a:cubicBezTo>
                <a:cubicBezTo>
                  <a:pt x="332" y="109"/>
                  <a:pt x="340" y="105"/>
                  <a:pt x="347" y="102"/>
                </a:cubicBezTo>
                <a:cubicBezTo>
                  <a:pt x="354" y="99"/>
                  <a:pt x="362" y="96"/>
                  <a:pt x="370" y="94"/>
                </a:cubicBezTo>
                <a:cubicBezTo>
                  <a:pt x="378" y="92"/>
                  <a:pt x="386" y="91"/>
                  <a:pt x="394" y="89"/>
                </a:cubicBezTo>
                <a:cubicBezTo>
                  <a:pt x="402" y="87"/>
                  <a:pt x="410" y="86"/>
                  <a:pt x="417" y="84"/>
                </a:cubicBezTo>
                <a:cubicBezTo>
                  <a:pt x="425" y="83"/>
                  <a:pt x="433" y="81"/>
                  <a:pt x="441" y="80"/>
                </a:cubicBezTo>
                <a:cubicBezTo>
                  <a:pt x="449" y="78"/>
                  <a:pt x="457" y="77"/>
                  <a:pt x="465" y="77"/>
                </a:cubicBezTo>
                <a:cubicBezTo>
                  <a:pt x="473" y="76"/>
                  <a:pt x="481" y="76"/>
                  <a:pt x="489" y="77"/>
                </a:cubicBezTo>
                <a:cubicBezTo>
                  <a:pt x="497" y="77"/>
                  <a:pt x="506" y="78"/>
                  <a:pt x="513" y="79"/>
                </a:cubicBezTo>
                <a:cubicBezTo>
                  <a:pt x="521" y="80"/>
                  <a:pt x="529" y="81"/>
                  <a:pt x="537" y="82"/>
                </a:cubicBezTo>
                <a:cubicBezTo>
                  <a:pt x="545" y="83"/>
                  <a:pt x="553" y="83"/>
                  <a:pt x="561" y="84"/>
                </a:cubicBezTo>
                <a:cubicBezTo>
                  <a:pt x="569" y="85"/>
                  <a:pt x="577" y="86"/>
                  <a:pt x="585" y="88"/>
                </a:cubicBezTo>
                <a:cubicBezTo>
                  <a:pt x="593" y="90"/>
                  <a:pt x="600" y="92"/>
                  <a:pt x="608" y="94"/>
                </a:cubicBezTo>
                <a:cubicBezTo>
                  <a:pt x="615" y="97"/>
                  <a:pt x="623" y="100"/>
                  <a:pt x="630" y="103"/>
                </a:cubicBezTo>
                <a:cubicBezTo>
                  <a:pt x="638" y="106"/>
                  <a:pt x="645" y="109"/>
                  <a:pt x="652" y="112"/>
                </a:cubicBezTo>
                <a:cubicBezTo>
                  <a:pt x="660" y="114"/>
                  <a:pt x="667" y="117"/>
                  <a:pt x="675" y="120"/>
                </a:cubicBezTo>
                <a:cubicBezTo>
                  <a:pt x="682" y="123"/>
                  <a:pt x="689" y="126"/>
                  <a:pt x="697" y="129"/>
                </a:cubicBezTo>
                <a:cubicBezTo>
                  <a:pt x="704" y="133"/>
                  <a:pt x="710" y="137"/>
                  <a:pt x="717" y="141"/>
                </a:cubicBezTo>
                <a:cubicBezTo>
                  <a:pt x="724" y="146"/>
                  <a:pt x="730" y="151"/>
                  <a:pt x="736" y="155"/>
                </a:cubicBezTo>
                <a:cubicBezTo>
                  <a:pt x="743" y="160"/>
                  <a:pt x="749" y="165"/>
                  <a:pt x="755" y="170"/>
                </a:cubicBezTo>
                <a:cubicBezTo>
                  <a:pt x="762" y="174"/>
                  <a:pt x="768" y="179"/>
                  <a:pt x="775" y="184"/>
                </a:cubicBezTo>
                <a:cubicBezTo>
                  <a:pt x="781" y="189"/>
                  <a:pt x="787" y="193"/>
                  <a:pt x="793" y="199"/>
                </a:cubicBezTo>
                <a:cubicBezTo>
                  <a:pt x="799" y="204"/>
                  <a:pt x="804" y="210"/>
                  <a:pt x="810" y="216"/>
                </a:cubicBezTo>
                <a:cubicBezTo>
                  <a:pt x="815" y="222"/>
                  <a:pt x="819" y="229"/>
                  <a:pt x="824" y="235"/>
                </a:cubicBezTo>
                <a:cubicBezTo>
                  <a:pt x="829" y="242"/>
                  <a:pt x="833" y="248"/>
                  <a:pt x="838" y="255"/>
                </a:cubicBezTo>
                <a:cubicBezTo>
                  <a:pt x="843" y="261"/>
                  <a:pt x="848" y="267"/>
                  <a:pt x="852" y="274"/>
                </a:cubicBezTo>
                <a:cubicBezTo>
                  <a:pt x="857" y="280"/>
                  <a:pt x="862" y="287"/>
                  <a:pt x="865" y="293"/>
                </a:cubicBezTo>
                <a:cubicBezTo>
                  <a:pt x="869" y="300"/>
                  <a:pt x="873" y="308"/>
                  <a:pt x="876" y="315"/>
                </a:cubicBezTo>
                <a:cubicBezTo>
                  <a:pt x="879" y="322"/>
                  <a:pt x="882" y="330"/>
                  <a:pt x="884" y="337"/>
                </a:cubicBezTo>
                <a:cubicBezTo>
                  <a:pt x="887" y="345"/>
                  <a:pt x="890" y="352"/>
                  <a:pt x="893" y="359"/>
                </a:cubicBezTo>
                <a:cubicBezTo>
                  <a:pt x="895" y="367"/>
                  <a:pt x="898" y="374"/>
                  <a:pt x="901" y="382"/>
                </a:cubicBezTo>
                <a:cubicBezTo>
                  <a:pt x="904" y="389"/>
                  <a:pt x="906" y="397"/>
                  <a:pt x="908" y="404"/>
                </a:cubicBezTo>
                <a:cubicBezTo>
                  <a:pt x="910" y="412"/>
                  <a:pt x="912" y="420"/>
                  <a:pt x="913" y="428"/>
                </a:cubicBezTo>
                <a:cubicBezTo>
                  <a:pt x="914" y="436"/>
                  <a:pt x="915" y="444"/>
                  <a:pt x="916" y="452"/>
                </a:cubicBezTo>
                <a:cubicBezTo>
                  <a:pt x="916" y="459"/>
                  <a:pt x="917" y="467"/>
                  <a:pt x="918" y="475"/>
                </a:cubicBezTo>
                <a:cubicBezTo>
                  <a:pt x="919" y="483"/>
                  <a:pt x="920" y="491"/>
                  <a:pt x="921" y="499"/>
                </a:cubicBezTo>
                <a:close/>
              </a:path>
            </a:pathLst>
          </a:custGeom>
          <a:noFill/>
          <a:ln w="1905" cap="rnd">
            <a:solidFill>
              <a:srgbClr val="D49BA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angential native smooth-muscle cell 00"/>
          <p:cNvSpPr/>
          <p:nvPr/>
        </p:nvSpPr>
        <p:spPr>
          <a:xfrm rot="5550000">
            <a:off x="3926062" y="1076244"/>
            <a:ext cx="124173" cy="3487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 rot="5550000">
            <a:off x="3961358" y="1088151"/>
            <a:ext cx="5358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angential native smooth-muscle cell 01"/>
          <p:cNvSpPr/>
          <p:nvPr/>
        </p:nvSpPr>
        <p:spPr>
          <a:xfrm rot="6552574">
            <a:off x="3943171" y="1166613"/>
            <a:ext cx="138511" cy="3350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 rot="6552574">
            <a:off x="3981948" y="1177836"/>
            <a:ext cx="6095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Tangential native smooth-muscle cell 02"/>
          <p:cNvSpPr/>
          <p:nvPr/>
        </p:nvSpPr>
        <p:spPr>
          <a:xfrm rot="7351284">
            <a:off x="3887156" y="1219955"/>
            <a:ext cx="120478" cy="3065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 rot="7351284">
            <a:off x="3918632" y="1229754"/>
            <a:ext cx="5752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Tangential native smooth-muscle cell 03"/>
          <p:cNvSpPr/>
          <p:nvPr/>
        </p:nvSpPr>
        <p:spPr>
          <a:xfrm rot="7948951">
            <a:off x="3882552" y="1293797"/>
            <a:ext cx="110787" cy="2894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 rot="7948951">
            <a:off x="3913788" y="1302742"/>
            <a:ext cx="4831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Tangential native smooth-muscle cell 04"/>
          <p:cNvSpPr/>
          <p:nvPr/>
        </p:nvSpPr>
        <p:spPr>
          <a:xfrm rot="8550701">
            <a:off x="3797354" y="1308341"/>
            <a:ext cx="131317" cy="2994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 rot="8550701">
            <a:off x="3839603" y="1317787"/>
            <a:ext cx="4681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Tangential native smooth-muscle cell 05"/>
          <p:cNvSpPr/>
          <p:nvPr/>
        </p:nvSpPr>
        <p:spPr>
          <a:xfrm rot="9354497">
            <a:off x="3742647" y="1367740"/>
            <a:ext cx="135718" cy="3273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 rot="9354497">
            <a:off x="3782892" y="1378580"/>
            <a:ext cx="55228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Tangential native smooth-muscle cell 06"/>
          <p:cNvSpPr/>
          <p:nvPr/>
        </p:nvSpPr>
        <p:spPr>
          <a:xfrm rot="10351986">
            <a:off x="3665833" y="1360980"/>
            <a:ext cx="114054" cy="3475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 rot="10351986">
            <a:off x="3692248" y="1372828"/>
            <a:ext cx="61225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angential native smooth-muscle cell 07"/>
          <p:cNvSpPr/>
          <p:nvPr/>
        </p:nvSpPr>
        <p:spPr>
          <a:xfrm rot="11341490">
            <a:off x="3584350" y="1394382"/>
            <a:ext cx="115236" cy="3413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 rot="11341490">
            <a:off x="3613956" y="1405923"/>
            <a:ext cx="56024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Tangential native smooth-muscle cell 08"/>
          <p:cNvSpPr/>
          <p:nvPr/>
        </p:nvSpPr>
        <p:spPr>
          <a:xfrm rot="12135404">
            <a:off x="3513957" y="1347681"/>
            <a:ext cx="136595" cy="3146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 rot="12135404">
            <a:off x="3558632" y="1357884"/>
            <a:ext cx="47245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angential native smooth-muscle cell 09"/>
          <p:cNvSpPr/>
          <p:nvPr/>
        </p:nvSpPr>
        <p:spPr>
          <a:xfrm rot="12747295">
            <a:off x="3443761" y="1355016"/>
            <a:ext cx="129909" cy="2918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 rot="12747295">
            <a:off x="3484841" y="1364078"/>
            <a:ext cx="4774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angential native smooth-muscle cell 10"/>
          <p:cNvSpPr/>
          <p:nvPr/>
        </p:nvSpPr>
        <p:spPr>
          <a:xfrm rot="13370719">
            <a:off x="3423298" y="1282070"/>
            <a:ext cx="110273" cy="293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 rot="13370719">
            <a:off x="3450035" y="1291239"/>
            <a:ext cx="56798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angential native smooth-muscle cell 11"/>
          <p:cNvSpPr/>
          <p:nvPr/>
        </p:nvSpPr>
        <p:spPr>
          <a:xfrm rot="14178741">
            <a:off x="3338693" y="1241782"/>
            <a:ext cx="122019" cy="3190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 rot="14178741">
            <a:off x="3369135" y="1252207"/>
            <a:ext cx="61135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Tangential native smooth-muscle cell 12"/>
          <p:cNvSpPr/>
          <p:nvPr/>
        </p:nvSpPr>
        <p:spPr>
          <a:xfrm rot="15153108">
            <a:off x="3325068" y="1149236"/>
            <a:ext cx="138629" cy="3440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 rot="15153108">
            <a:off x="3367179" y="1160910"/>
            <a:ext cx="54406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Tangential native smooth-muscle cell 13"/>
          <p:cNvSpPr/>
          <p:nvPr/>
        </p:nvSpPr>
        <p:spPr>
          <a:xfrm rot="16112912">
            <a:off x="3292670" y="1076542"/>
            <a:ext cx="122602" cy="3459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 rot="16112912">
            <a:off x="3330737" y="1088312"/>
            <a:ext cx="4646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Tangential native smooth-muscle cell 14"/>
          <p:cNvSpPr/>
          <p:nvPr/>
        </p:nvSpPr>
        <p:spPr>
          <a:xfrm rot="16903428">
            <a:off x="3335552" y="1013520"/>
            <a:ext cx="110122" cy="3230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 rot="16903428">
            <a:off x="3366137" y="1024142"/>
            <a:ext cx="4895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angential native smooth-muscle cell 15"/>
          <p:cNvSpPr/>
          <p:nvPr/>
        </p:nvSpPr>
        <p:spPr>
          <a:xfrm rot="17546891">
            <a:off x="3314128" y="946576"/>
            <a:ext cx="129364" cy="296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 rot="17546891">
            <a:off x="3349701" y="955864"/>
            <a:ext cx="5821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Tangential native smooth-muscle cell 16"/>
          <p:cNvSpPr/>
          <p:nvPr/>
        </p:nvSpPr>
        <p:spPr>
          <a:xfrm rot="18207283">
            <a:off x="3373904" y="900941"/>
            <a:ext cx="136886" cy="2904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 rot="18207283">
            <a:off x="3412002" y="909934"/>
            <a:ext cx="60691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Tangential native smooth-muscle cell 17"/>
          <p:cNvSpPr/>
          <p:nvPr/>
        </p:nvSpPr>
        <p:spPr>
          <a:xfrm rot="19017646">
            <a:off x="3406955" y="810684"/>
            <a:ext cx="115705" cy="3107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 rot="19017646">
            <a:off x="3438433" y="820693"/>
            <a:ext cx="52750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Tangential native smooth-muscle cell 18"/>
          <p:cNvSpPr/>
          <p:nvPr/>
        </p:nvSpPr>
        <p:spPr>
          <a:xfrm rot="19952640">
            <a:off x="3496997" y="790432"/>
            <a:ext cx="113642" cy="3385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 rot="19952640">
            <a:off x="3530804" y="801833"/>
            <a:ext cx="4602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Tangential native smooth-muscle cell 19"/>
          <p:cNvSpPr/>
          <p:nvPr/>
        </p:nvSpPr>
        <p:spPr>
          <a:xfrm rot="20869121">
            <a:off x="3545792" y="731919"/>
            <a:ext cx="135354" cy="3483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 rot="20869121">
            <a:off x="3588283" y="743809"/>
            <a:ext cx="50371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angential native smooth-muscle cell 20"/>
          <p:cNvSpPr/>
          <p:nvPr/>
        </p:nvSpPr>
        <p:spPr>
          <a:xfrm rot="58544">
            <a:off x="3616332" y="758494"/>
            <a:ext cx="131823" cy="331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 rot="58544">
            <a:off x="3652534" y="769520"/>
            <a:ext cx="5941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Tangential native smooth-muscle cell 21"/>
          <p:cNvSpPr/>
          <p:nvPr/>
        </p:nvSpPr>
        <p:spPr>
          <a:xfrm rot="748347">
            <a:off x="3693518" y="739021"/>
            <a:ext cx="111021" cy="3026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 rot="748347">
            <a:off x="3719071" y="748625"/>
            <a:ext cx="59914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Tangential native smooth-muscle cell 22"/>
          <p:cNvSpPr/>
          <p:nvPr/>
        </p:nvSpPr>
        <p:spPr>
          <a:xfrm rot="1457367">
            <a:off x="3750353" y="792558"/>
            <a:ext cx="119912" cy="2891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 rot="1457367">
            <a:off x="3784743" y="801488"/>
            <a:ext cx="5113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angential native smooth-muscle cell 23"/>
          <p:cNvSpPr/>
          <p:nvPr/>
        </p:nvSpPr>
        <p:spPr>
          <a:xfrm rot="2267432">
            <a:off x="3830366" y="807061"/>
            <a:ext cx="138423" cy="303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 rot="2267432">
            <a:off x="3876609" y="816687"/>
            <a:ext cx="4593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Tangential native smooth-muscle cell 24"/>
          <p:cNvSpPr/>
          <p:nvPr/>
        </p:nvSpPr>
        <p:spPr>
          <a:xfrm rot="3150119">
            <a:off x="3865719" y="890617"/>
            <a:ext cx="124761" cy="3315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 rot="3150119">
            <a:off x="3902129" y="901667"/>
            <a:ext cx="5194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Tangential native smooth-muscle cell 25"/>
          <p:cNvSpPr/>
          <p:nvPr/>
        </p:nvSpPr>
        <p:spPr>
          <a:xfrm rot="4013831">
            <a:off x="3940517" y="933122"/>
            <a:ext cx="109771" cy="348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 rot="4013831">
            <a:off x="3965229" y="945016"/>
            <a:ext cx="6034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Tangential native smooth-muscle cell 26"/>
          <p:cNvSpPr/>
          <p:nvPr/>
        </p:nvSpPr>
        <p:spPr>
          <a:xfrm rot="4805034">
            <a:off x="3916187" y="1004301"/>
            <a:ext cx="127296" cy="3381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 rot="4805034">
            <a:off x="3950415" y="1015682"/>
            <a:ext cx="58841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Inner elastic lamina tissue bed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92" y="496"/>
                </a:moveTo>
                <a:cubicBezTo>
                  <a:pt x="792" y="505"/>
                  <a:pt x="792" y="515"/>
                  <a:pt x="792" y="524"/>
                </a:cubicBezTo>
                <a:cubicBezTo>
                  <a:pt x="791" y="534"/>
                  <a:pt x="790" y="543"/>
                  <a:pt x="789" y="552"/>
                </a:cubicBezTo>
                <a:cubicBezTo>
                  <a:pt x="787" y="562"/>
                  <a:pt x="785" y="571"/>
                  <a:pt x="783" y="580"/>
                </a:cubicBezTo>
                <a:cubicBezTo>
                  <a:pt x="780" y="589"/>
                  <a:pt x="777" y="598"/>
                  <a:pt x="774" y="607"/>
                </a:cubicBezTo>
                <a:cubicBezTo>
                  <a:pt x="770" y="616"/>
                  <a:pt x="766" y="625"/>
                  <a:pt x="762" y="633"/>
                </a:cubicBezTo>
                <a:cubicBezTo>
                  <a:pt x="757" y="641"/>
                  <a:pt x="752" y="649"/>
                  <a:pt x="747" y="657"/>
                </a:cubicBezTo>
                <a:cubicBezTo>
                  <a:pt x="741" y="665"/>
                  <a:pt x="735" y="672"/>
                  <a:pt x="729" y="679"/>
                </a:cubicBezTo>
                <a:cubicBezTo>
                  <a:pt x="723" y="686"/>
                  <a:pt x="716" y="693"/>
                  <a:pt x="709" y="699"/>
                </a:cubicBezTo>
                <a:cubicBezTo>
                  <a:pt x="702" y="705"/>
                  <a:pt x="695" y="711"/>
                  <a:pt x="687" y="717"/>
                </a:cubicBezTo>
                <a:cubicBezTo>
                  <a:pt x="680" y="722"/>
                  <a:pt x="672" y="727"/>
                  <a:pt x="664" y="732"/>
                </a:cubicBezTo>
                <a:cubicBezTo>
                  <a:pt x="656" y="737"/>
                  <a:pt x="648" y="741"/>
                  <a:pt x="639" y="746"/>
                </a:cubicBezTo>
                <a:cubicBezTo>
                  <a:pt x="631" y="750"/>
                  <a:pt x="623" y="753"/>
                  <a:pt x="614" y="757"/>
                </a:cubicBezTo>
                <a:cubicBezTo>
                  <a:pt x="605" y="760"/>
                  <a:pt x="597" y="763"/>
                  <a:pt x="588" y="766"/>
                </a:cubicBezTo>
                <a:cubicBezTo>
                  <a:pt x="579" y="769"/>
                  <a:pt x="570" y="771"/>
                  <a:pt x="561" y="773"/>
                </a:cubicBezTo>
                <a:cubicBezTo>
                  <a:pt x="552" y="775"/>
                  <a:pt x="543" y="777"/>
                  <a:pt x="534" y="778"/>
                </a:cubicBezTo>
                <a:cubicBezTo>
                  <a:pt x="525" y="779"/>
                  <a:pt x="515" y="780"/>
                  <a:pt x="506" y="780"/>
                </a:cubicBezTo>
                <a:cubicBezTo>
                  <a:pt x="497" y="781"/>
                  <a:pt x="487" y="781"/>
                  <a:pt x="478" y="780"/>
                </a:cubicBezTo>
                <a:cubicBezTo>
                  <a:pt x="469" y="780"/>
                  <a:pt x="459" y="779"/>
                  <a:pt x="450" y="777"/>
                </a:cubicBezTo>
                <a:cubicBezTo>
                  <a:pt x="441" y="775"/>
                  <a:pt x="432" y="773"/>
                  <a:pt x="423" y="771"/>
                </a:cubicBezTo>
                <a:cubicBezTo>
                  <a:pt x="414" y="768"/>
                  <a:pt x="405" y="765"/>
                  <a:pt x="396" y="762"/>
                </a:cubicBezTo>
                <a:cubicBezTo>
                  <a:pt x="387" y="758"/>
                  <a:pt x="379" y="754"/>
                  <a:pt x="370" y="750"/>
                </a:cubicBezTo>
                <a:cubicBezTo>
                  <a:pt x="362" y="745"/>
                  <a:pt x="354" y="740"/>
                  <a:pt x="346" y="735"/>
                </a:cubicBezTo>
                <a:cubicBezTo>
                  <a:pt x="339" y="730"/>
                  <a:pt x="331" y="724"/>
                  <a:pt x="324" y="718"/>
                </a:cubicBezTo>
                <a:cubicBezTo>
                  <a:pt x="317" y="712"/>
                  <a:pt x="310" y="706"/>
                  <a:pt x="303" y="699"/>
                </a:cubicBezTo>
                <a:cubicBezTo>
                  <a:pt x="296" y="692"/>
                  <a:pt x="290" y="686"/>
                  <a:pt x="284" y="678"/>
                </a:cubicBezTo>
                <a:cubicBezTo>
                  <a:pt x="278" y="671"/>
                  <a:pt x="272" y="663"/>
                  <a:pt x="267" y="656"/>
                </a:cubicBezTo>
                <a:cubicBezTo>
                  <a:pt x="262" y="648"/>
                  <a:pt x="257" y="640"/>
                  <a:pt x="252" y="632"/>
                </a:cubicBezTo>
                <a:cubicBezTo>
                  <a:pt x="248" y="623"/>
                  <a:pt x="244" y="615"/>
                  <a:pt x="240" y="606"/>
                </a:cubicBezTo>
                <a:cubicBezTo>
                  <a:pt x="237" y="598"/>
                  <a:pt x="233" y="589"/>
                  <a:pt x="231" y="580"/>
                </a:cubicBezTo>
                <a:cubicBezTo>
                  <a:pt x="228" y="571"/>
                  <a:pt x="226" y="561"/>
                  <a:pt x="224" y="552"/>
                </a:cubicBezTo>
                <a:cubicBezTo>
                  <a:pt x="222" y="543"/>
                  <a:pt x="221" y="534"/>
                  <a:pt x="220" y="524"/>
                </a:cubicBezTo>
                <a:cubicBezTo>
                  <a:pt x="220" y="515"/>
                  <a:pt x="220" y="505"/>
                  <a:pt x="220" y="496"/>
                </a:cubicBezTo>
                <a:cubicBezTo>
                  <a:pt x="220" y="487"/>
                  <a:pt x="221" y="477"/>
                  <a:pt x="223" y="468"/>
                </a:cubicBezTo>
                <a:cubicBezTo>
                  <a:pt x="224" y="459"/>
                  <a:pt x="226" y="450"/>
                  <a:pt x="228" y="441"/>
                </a:cubicBezTo>
                <a:cubicBezTo>
                  <a:pt x="230" y="432"/>
                  <a:pt x="233" y="423"/>
                  <a:pt x="235" y="414"/>
                </a:cubicBezTo>
                <a:cubicBezTo>
                  <a:pt x="238" y="405"/>
                  <a:pt x="242" y="397"/>
                  <a:pt x="245" y="388"/>
                </a:cubicBezTo>
                <a:cubicBezTo>
                  <a:pt x="249" y="380"/>
                  <a:pt x="253" y="371"/>
                  <a:pt x="257" y="363"/>
                </a:cubicBezTo>
                <a:cubicBezTo>
                  <a:pt x="262" y="355"/>
                  <a:pt x="266" y="347"/>
                  <a:pt x="271" y="339"/>
                </a:cubicBezTo>
                <a:cubicBezTo>
                  <a:pt x="276" y="331"/>
                  <a:pt x="281" y="324"/>
                  <a:pt x="287" y="316"/>
                </a:cubicBezTo>
                <a:cubicBezTo>
                  <a:pt x="292" y="309"/>
                  <a:pt x="298" y="302"/>
                  <a:pt x="305" y="295"/>
                </a:cubicBezTo>
                <a:cubicBezTo>
                  <a:pt x="311" y="288"/>
                  <a:pt x="317" y="281"/>
                  <a:pt x="324" y="275"/>
                </a:cubicBezTo>
                <a:cubicBezTo>
                  <a:pt x="331" y="268"/>
                  <a:pt x="338" y="262"/>
                  <a:pt x="346" y="257"/>
                </a:cubicBezTo>
                <a:cubicBezTo>
                  <a:pt x="354" y="251"/>
                  <a:pt x="362" y="246"/>
                  <a:pt x="370" y="241"/>
                </a:cubicBezTo>
                <a:cubicBezTo>
                  <a:pt x="378" y="236"/>
                  <a:pt x="386" y="232"/>
                  <a:pt x="395" y="228"/>
                </a:cubicBezTo>
                <a:cubicBezTo>
                  <a:pt x="404" y="225"/>
                  <a:pt x="413" y="221"/>
                  <a:pt x="422" y="219"/>
                </a:cubicBezTo>
                <a:cubicBezTo>
                  <a:pt x="431" y="216"/>
                  <a:pt x="440" y="214"/>
                  <a:pt x="450" y="212"/>
                </a:cubicBezTo>
                <a:cubicBezTo>
                  <a:pt x="459" y="210"/>
                  <a:pt x="468" y="209"/>
                  <a:pt x="478" y="209"/>
                </a:cubicBezTo>
                <a:cubicBezTo>
                  <a:pt x="487" y="208"/>
                  <a:pt x="497" y="208"/>
                  <a:pt x="506" y="208"/>
                </a:cubicBezTo>
                <a:cubicBezTo>
                  <a:pt x="515" y="209"/>
                  <a:pt x="525" y="210"/>
                  <a:pt x="534" y="211"/>
                </a:cubicBezTo>
                <a:cubicBezTo>
                  <a:pt x="543" y="212"/>
                  <a:pt x="553" y="214"/>
                  <a:pt x="562" y="216"/>
                </a:cubicBezTo>
                <a:cubicBezTo>
                  <a:pt x="571" y="218"/>
                  <a:pt x="580" y="221"/>
                  <a:pt x="589" y="223"/>
                </a:cubicBezTo>
                <a:cubicBezTo>
                  <a:pt x="598" y="226"/>
                  <a:pt x="606" y="230"/>
                  <a:pt x="615" y="233"/>
                </a:cubicBezTo>
                <a:cubicBezTo>
                  <a:pt x="623" y="237"/>
                  <a:pt x="632" y="241"/>
                  <a:pt x="640" y="245"/>
                </a:cubicBezTo>
                <a:cubicBezTo>
                  <a:pt x="648" y="250"/>
                  <a:pt x="656" y="254"/>
                  <a:pt x="664" y="259"/>
                </a:cubicBezTo>
                <a:cubicBezTo>
                  <a:pt x="672" y="265"/>
                  <a:pt x="679" y="270"/>
                  <a:pt x="687" y="276"/>
                </a:cubicBezTo>
                <a:cubicBezTo>
                  <a:pt x="694" y="282"/>
                  <a:pt x="701" y="288"/>
                  <a:pt x="707" y="295"/>
                </a:cubicBezTo>
                <a:cubicBezTo>
                  <a:pt x="714" y="301"/>
                  <a:pt x="720" y="308"/>
                  <a:pt x="726" y="315"/>
                </a:cubicBezTo>
                <a:cubicBezTo>
                  <a:pt x="732" y="323"/>
                  <a:pt x="738" y="330"/>
                  <a:pt x="743" y="338"/>
                </a:cubicBezTo>
                <a:cubicBezTo>
                  <a:pt x="748" y="346"/>
                  <a:pt x="753" y="354"/>
                  <a:pt x="757" y="362"/>
                </a:cubicBezTo>
                <a:cubicBezTo>
                  <a:pt x="761" y="370"/>
                  <a:pt x="765" y="379"/>
                  <a:pt x="769" y="387"/>
                </a:cubicBezTo>
                <a:cubicBezTo>
                  <a:pt x="772" y="396"/>
                  <a:pt x="775" y="405"/>
                  <a:pt x="778" y="414"/>
                </a:cubicBezTo>
                <a:cubicBezTo>
                  <a:pt x="781" y="422"/>
                  <a:pt x="783" y="432"/>
                  <a:pt x="785" y="441"/>
                </a:cubicBezTo>
                <a:cubicBezTo>
                  <a:pt x="787" y="450"/>
                  <a:pt x="789" y="459"/>
                  <a:pt x="790" y="468"/>
                </a:cubicBezTo>
                <a:cubicBezTo>
                  <a:pt x="791" y="477"/>
                  <a:pt x="792" y="487"/>
                  <a:pt x="792" y="496"/>
                </a:cubicBezTo>
                <a:close/>
              </a:path>
            </a:pathLst>
          </a:custGeom>
          <a:solidFill>
            <a:srgbClr val="F4CFD0"/>
          </a:solidFill>
          <a:ln w="2632" cap="rnd">
            <a:solidFill>
              <a:srgbClr val="CB8A9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Fine waved internal elastic fibre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85" y="496"/>
                </a:moveTo>
                <a:cubicBezTo>
                  <a:pt x="786" y="500"/>
                  <a:pt x="787" y="504"/>
                  <a:pt x="787" y="508"/>
                </a:cubicBezTo>
                <a:cubicBezTo>
                  <a:pt x="787" y="512"/>
                  <a:pt x="786" y="517"/>
                  <a:pt x="786" y="521"/>
                </a:cubicBezTo>
                <a:cubicBezTo>
                  <a:pt x="785" y="525"/>
                  <a:pt x="784" y="529"/>
                  <a:pt x="783" y="533"/>
                </a:cubicBezTo>
                <a:cubicBezTo>
                  <a:pt x="782" y="536"/>
                  <a:pt x="780" y="540"/>
                  <a:pt x="780" y="544"/>
                </a:cubicBezTo>
                <a:cubicBezTo>
                  <a:pt x="779" y="548"/>
                  <a:pt x="779" y="552"/>
                  <a:pt x="779" y="557"/>
                </a:cubicBezTo>
                <a:cubicBezTo>
                  <a:pt x="778" y="561"/>
                  <a:pt x="779" y="565"/>
                  <a:pt x="778" y="569"/>
                </a:cubicBezTo>
                <a:cubicBezTo>
                  <a:pt x="778" y="573"/>
                  <a:pt x="778" y="577"/>
                  <a:pt x="777" y="581"/>
                </a:cubicBezTo>
                <a:cubicBezTo>
                  <a:pt x="775" y="585"/>
                  <a:pt x="774" y="589"/>
                  <a:pt x="772" y="593"/>
                </a:cubicBezTo>
                <a:cubicBezTo>
                  <a:pt x="770" y="597"/>
                  <a:pt x="768" y="600"/>
                  <a:pt x="766" y="604"/>
                </a:cubicBezTo>
                <a:cubicBezTo>
                  <a:pt x="763" y="607"/>
                  <a:pt x="761" y="611"/>
                  <a:pt x="759" y="614"/>
                </a:cubicBezTo>
                <a:cubicBezTo>
                  <a:pt x="758" y="618"/>
                  <a:pt x="756" y="622"/>
                  <a:pt x="755" y="626"/>
                </a:cubicBezTo>
                <a:cubicBezTo>
                  <a:pt x="753" y="630"/>
                  <a:pt x="752" y="634"/>
                  <a:pt x="751" y="637"/>
                </a:cubicBezTo>
                <a:cubicBezTo>
                  <a:pt x="749" y="641"/>
                  <a:pt x="748" y="645"/>
                  <a:pt x="745" y="649"/>
                </a:cubicBezTo>
                <a:cubicBezTo>
                  <a:pt x="743" y="652"/>
                  <a:pt x="740" y="655"/>
                  <a:pt x="738" y="658"/>
                </a:cubicBezTo>
                <a:cubicBezTo>
                  <a:pt x="735" y="661"/>
                  <a:pt x="731" y="664"/>
                  <a:pt x="728" y="667"/>
                </a:cubicBezTo>
                <a:cubicBezTo>
                  <a:pt x="725" y="669"/>
                  <a:pt x="722" y="672"/>
                  <a:pt x="719" y="675"/>
                </a:cubicBezTo>
                <a:cubicBezTo>
                  <a:pt x="716" y="678"/>
                  <a:pt x="714" y="681"/>
                  <a:pt x="711" y="684"/>
                </a:cubicBezTo>
                <a:cubicBezTo>
                  <a:pt x="709" y="688"/>
                  <a:pt x="707" y="691"/>
                  <a:pt x="704" y="694"/>
                </a:cubicBezTo>
                <a:cubicBezTo>
                  <a:pt x="702" y="698"/>
                  <a:pt x="699" y="701"/>
                  <a:pt x="696" y="703"/>
                </a:cubicBezTo>
                <a:cubicBezTo>
                  <a:pt x="693" y="706"/>
                  <a:pt x="689" y="708"/>
                  <a:pt x="686" y="710"/>
                </a:cubicBezTo>
                <a:cubicBezTo>
                  <a:pt x="682" y="712"/>
                  <a:pt x="678" y="714"/>
                  <a:pt x="675" y="716"/>
                </a:cubicBezTo>
                <a:cubicBezTo>
                  <a:pt x="671" y="718"/>
                  <a:pt x="667" y="719"/>
                  <a:pt x="664" y="721"/>
                </a:cubicBezTo>
                <a:cubicBezTo>
                  <a:pt x="660" y="723"/>
                  <a:pt x="657" y="726"/>
                  <a:pt x="654" y="728"/>
                </a:cubicBezTo>
                <a:cubicBezTo>
                  <a:pt x="651" y="731"/>
                  <a:pt x="648" y="734"/>
                  <a:pt x="645" y="736"/>
                </a:cubicBezTo>
                <a:cubicBezTo>
                  <a:pt x="641" y="738"/>
                  <a:pt x="638" y="741"/>
                  <a:pt x="634" y="743"/>
                </a:cubicBezTo>
                <a:cubicBezTo>
                  <a:pt x="631" y="744"/>
                  <a:pt x="627" y="746"/>
                  <a:pt x="623" y="747"/>
                </a:cubicBezTo>
                <a:cubicBezTo>
                  <a:pt x="619" y="748"/>
                  <a:pt x="615" y="749"/>
                  <a:pt x="611" y="750"/>
                </a:cubicBezTo>
                <a:cubicBezTo>
                  <a:pt x="607" y="751"/>
                  <a:pt x="603" y="751"/>
                  <a:pt x="599" y="753"/>
                </a:cubicBezTo>
                <a:cubicBezTo>
                  <a:pt x="596" y="754"/>
                  <a:pt x="592" y="756"/>
                  <a:pt x="588" y="757"/>
                </a:cubicBezTo>
                <a:cubicBezTo>
                  <a:pt x="585" y="759"/>
                  <a:pt x="581" y="761"/>
                  <a:pt x="577" y="763"/>
                </a:cubicBezTo>
                <a:cubicBezTo>
                  <a:pt x="574" y="764"/>
                  <a:pt x="570" y="766"/>
                  <a:pt x="566" y="767"/>
                </a:cubicBezTo>
                <a:cubicBezTo>
                  <a:pt x="562" y="768"/>
                  <a:pt x="558" y="769"/>
                  <a:pt x="554" y="769"/>
                </a:cubicBezTo>
                <a:cubicBezTo>
                  <a:pt x="550" y="769"/>
                  <a:pt x="546" y="769"/>
                  <a:pt x="542" y="769"/>
                </a:cubicBezTo>
                <a:cubicBezTo>
                  <a:pt x="538" y="769"/>
                  <a:pt x="534" y="769"/>
                  <a:pt x="530" y="769"/>
                </a:cubicBezTo>
                <a:cubicBezTo>
                  <a:pt x="526" y="770"/>
                  <a:pt x="522" y="770"/>
                  <a:pt x="518" y="771"/>
                </a:cubicBezTo>
                <a:cubicBezTo>
                  <a:pt x="514" y="772"/>
                  <a:pt x="510" y="773"/>
                  <a:pt x="506" y="774"/>
                </a:cubicBezTo>
                <a:cubicBezTo>
                  <a:pt x="502" y="775"/>
                  <a:pt x="498" y="776"/>
                  <a:pt x="494" y="776"/>
                </a:cubicBezTo>
                <a:cubicBezTo>
                  <a:pt x="490" y="776"/>
                  <a:pt x="486" y="775"/>
                  <a:pt x="482" y="774"/>
                </a:cubicBezTo>
                <a:cubicBezTo>
                  <a:pt x="478" y="774"/>
                  <a:pt x="474" y="772"/>
                  <a:pt x="470" y="771"/>
                </a:cubicBezTo>
                <a:cubicBezTo>
                  <a:pt x="466" y="770"/>
                  <a:pt x="462" y="769"/>
                  <a:pt x="458" y="768"/>
                </a:cubicBezTo>
                <a:cubicBezTo>
                  <a:pt x="454" y="768"/>
                  <a:pt x="450" y="767"/>
                  <a:pt x="446" y="767"/>
                </a:cubicBezTo>
                <a:cubicBezTo>
                  <a:pt x="442" y="767"/>
                  <a:pt x="438" y="767"/>
                  <a:pt x="433" y="767"/>
                </a:cubicBezTo>
                <a:cubicBezTo>
                  <a:pt x="429" y="766"/>
                  <a:pt x="425" y="766"/>
                  <a:pt x="421" y="765"/>
                </a:cubicBezTo>
                <a:cubicBezTo>
                  <a:pt x="417" y="764"/>
                  <a:pt x="414" y="762"/>
                  <a:pt x="410" y="760"/>
                </a:cubicBezTo>
                <a:cubicBezTo>
                  <a:pt x="406" y="758"/>
                  <a:pt x="403" y="756"/>
                  <a:pt x="399" y="754"/>
                </a:cubicBezTo>
                <a:cubicBezTo>
                  <a:pt x="396" y="752"/>
                  <a:pt x="392" y="749"/>
                  <a:pt x="389" y="748"/>
                </a:cubicBezTo>
                <a:cubicBezTo>
                  <a:pt x="385" y="746"/>
                  <a:pt x="381" y="745"/>
                  <a:pt x="377" y="743"/>
                </a:cubicBezTo>
                <a:cubicBezTo>
                  <a:pt x="374" y="742"/>
                  <a:pt x="369" y="741"/>
                  <a:pt x="366" y="739"/>
                </a:cubicBezTo>
                <a:cubicBezTo>
                  <a:pt x="362" y="738"/>
                  <a:pt x="358" y="736"/>
                  <a:pt x="354" y="734"/>
                </a:cubicBezTo>
                <a:cubicBezTo>
                  <a:pt x="351" y="732"/>
                  <a:pt x="348" y="729"/>
                  <a:pt x="345" y="726"/>
                </a:cubicBezTo>
                <a:cubicBezTo>
                  <a:pt x="342" y="724"/>
                  <a:pt x="339" y="720"/>
                  <a:pt x="336" y="717"/>
                </a:cubicBezTo>
                <a:cubicBezTo>
                  <a:pt x="333" y="714"/>
                  <a:pt x="331" y="711"/>
                  <a:pt x="328" y="709"/>
                </a:cubicBezTo>
                <a:cubicBezTo>
                  <a:pt x="325" y="706"/>
                  <a:pt x="321" y="704"/>
                  <a:pt x="318" y="701"/>
                </a:cubicBezTo>
                <a:cubicBezTo>
                  <a:pt x="315" y="699"/>
                  <a:pt x="311" y="697"/>
                  <a:pt x="308" y="694"/>
                </a:cubicBezTo>
                <a:cubicBezTo>
                  <a:pt x="304" y="692"/>
                  <a:pt x="301" y="689"/>
                  <a:pt x="298" y="686"/>
                </a:cubicBezTo>
                <a:cubicBezTo>
                  <a:pt x="295" y="683"/>
                  <a:pt x="293" y="680"/>
                  <a:pt x="291" y="677"/>
                </a:cubicBezTo>
                <a:cubicBezTo>
                  <a:pt x="289" y="673"/>
                  <a:pt x="287" y="669"/>
                  <a:pt x="285" y="666"/>
                </a:cubicBezTo>
                <a:cubicBezTo>
                  <a:pt x="283" y="662"/>
                  <a:pt x="281" y="659"/>
                  <a:pt x="279" y="655"/>
                </a:cubicBezTo>
                <a:cubicBezTo>
                  <a:pt x="277" y="652"/>
                  <a:pt x="274" y="649"/>
                  <a:pt x="271" y="646"/>
                </a:cubicBezTo>
                <a:cubicBezTo>
                  <a:pt x="269" y="643"/>
                  <a:pt x="266" y="640"/>
                  <a:pt x="263" y="636"/>
                </a:cubicBezTo>
                <a:cubicBezTo>
                  <a:pt x="260" y="633"/>
                  <a:pt x="258" y="630"/>
                  <a:pt x="256" y="626"/>
                </a:cubicBezTo>
                <a:cubicBezTo>
                  <a:pt x="254" y="623"/>
                  <a:pt x="252" y="619"/>
                  <a:pt x="251" y="615"/>
                </a:cubicBezTo>
                <a:cubicBezTo>
                  <a:pt x="250" y="611"/>
                  <a:pt x="249" y="607"/>
                  <a:pt x="248" y="603"/>
                </a:cubicBezTo>
                <a:cubicBezTo>
                  <a:pt x="247" y="599"/>
                  <a:pt x="246" y="595"/>
                  <a:pt x="245" y="591"/>
                </a:cubicBezTo>
                <a:cubicBezTo>
                  <a:pt x="244" y="587"/>
                  <a:pt x="242" y="584"/>
                  <a:pt x="240" y="580"/>
                </a:cubicBezTo>
                <a:cubicBezTo>
                  <a:pt x="239" y="576"/>
                  <a:pt x="236" y="573"/>
                  <a:pt x="235" y="569"/>
                </a:cubicBezTo>
                <a:cubicBezTo>
                  <a:pt x="233" y="565"/>
                  <a:pt x="232" y="561"/>
                  <a:pt x="231" y="557"/>
                </a:cubicBezTo>
                <a:cubicBezTo>
                  <a:pt x="230" y="553"/>
                  <a:pt x="229" y="549"/>
                  <a:pt x="229" y="545"/>
                </a:cubicBezTo>
                <a:cubicBezTo>
                  <a:pt x="229" y="541"/>
                  <a:pt x="230" y="537"/>
                  <a:pt x="230" y="532"/>
                </a:cubicBezTo>
                <a:cubicBezTo>
                  <a:pt x="230" y="528"/>
                  <a:pt x="230" y="524"/>
                  <a:pt x="230" y="520"/>
                </a:cubicBezTo>
                <a:cubicBezTo>
                  <a:pt x="230" y="516"/>
                  <a:pt x="229" y="512"/>
                  <a:pt x="229" y="508"/>
                </a:cubicBezTo>
                <a:cubicBezTo>
                  <a:pt x="228" y="504"/>
                  <a:pt x="227" y="500"/>
                  <a:pt x="227" y="496"/>
                </a:cubicBezTo>
                <a:cubicBezTo>
                  <a:pt x="226" y="492"/>
                  <a:pt x="226" y="488"/>
                  <a:pt x="226" y="484"/>
                </a:cubicBezTo>
                <a:cubicBezTo>
                  <a:pt x="226" y="480"/>
                  <a:pt x="227" y="476"/>
                  <a:pt x="228" y="472"/>
                </a:cubicBezTo>
                <a:cubicBezTo>
                  <a:pt x="229" y="468"/>
                  <a:pt x="231" y="464"/>
                  <a:pt x="232" y="460"/>
                </a:cubicBezTo>
                <a:cubicBezTo>
                  <a:pt x="233" y="456"/>
                  <a:pt x="235" y="452"/>
                  <a:pt x="236" y="448"/>
                </a:cubicBezTo>
                <a:cubicBezTo>
                  <a:pt x="237" y="445"/>
                  <a:pt x="237" y="441"/>
                  <a:pt x="238" y="437"/>
                </a:cubicBezTo>
                <a:cubicBezTo>
                  <a:pt x="238" y="433"/>
                  <a:pt x="238" y="428"/>
                  <a:pt x="239" y="424"/>
                </a:cubicBezTo>
                <a:cubicBezTo>
                  <a:pt x="239" y="420"/>
                  <a:pt x="240" y="416"/>
                  <a:pt x="241" y="413"/>
                </a:cubicBezTo>
                <a:cubicBezTo>
                  <a:pt x="242" y="409"/>
                  <a:pt x="244" y="405"/>
                  <a:pt x="246" y="401"/>
                </a:cubicBezTo>
                <a:cubicBezTo>
                  <a:pt x="248" y="398"/>
                  <a:pt x="250" y="395"/>
                  <a:pt x="253" y="391"/>
                </a:cubicBezTo>
                <a:cubicBezTo>
                  <a:pt x="255" y="388"/>
                  <a:pt x="257" y="384"/>
                  <a:pt x="259" y="381"/>
                </a:cubicBezTo>
                <a:cubicBezTo>
                  <a:pt x="260" y="377"/>
                  <a:pt x="262" y="373"/>
                  <a:pt x="263" y="370"/>
                </a:cubicBezTo>
                <a:cubicBezTo>
                  <a:pt x="265" y="366"/>
                  <a:pt x="266" y="362"/>
                  <a:pt x="267" y="358"/>
                </a:cubicBezTo>
                <a:cubicBezTo>
                  <a:pt x="268" y="354"/>
                  <a:pt x="270" y="350"/>
                  <a:pt x="272" y="347"/>
                </a:cubicBezTo>
                <a:cubicBezTo>
                  <a:pt x="274" y="343"/>
                  <a:pt x="276" y="340"/>
                  <a:pt x="279" y="337"/>
                </a:cubicBezTo>
                <a:cubicBezTo>
                  <a:pt x="282" y="334"/>
                  <a:pt x="285" y="332"/>
                  <a:pt x="288" y="329"/>
                </a:cubicBezTo>
                <a:cubicBezTo>
                  <a:pt x="291" y="326"/>
                  <a:pt x="293" y="323"/>
                  <a:pt x="296" y="320"/>
                </a:cubicBezTo>
                <a:cubicBezTo>
                  <a:pt x="298" y="317"/>
                  <a:pt x="301" y="313"/>
                  <a:pt x="303" y="310"/>
                </a:cubicBezTo>
                <a:cubicBezTo>
                  <a:pt x="305" y="306"/>
                  <a:pt x="307" y="303"/>
                  <a:pt x="309" y="299"/>
                </a:cubicBezTo>
                <a:cubicBezTo>
                  <a:pt x="311" y="296"/>
                  <a:pt x="314" y="292"/>
                  <a:pt x="317" y="289"/>
                </a:cubicBezTo>
                <a:cubicBezTo>
                  <a:pt x="319" y="286"/>
                  <a:pt x="323" y="284"/>
                  <a:pt x="326" y="282"/>
                </a:cubicBezTo>
                <a:cubicBezTo>
                  <a:pt x="329" y="279"/>
                  <a:pt x="333" y="277"/>
                  <a:pt x="336" y="275"/>
                </a:cubicBezTo>
                <a:cubicBezTo>
                  <a:pt x="340" y="273"/>
                  <a:pt x="343" y="271"/>
                  <a:pt x="347" y="269"/>
                </a:cubicBezTo>
                <a:cubicBezTo>
                  <a:pt x="350" y="266"/>
                  <a:pt x="353" y="264"/>
                  <a:pt x="356" y="261"/>
                </a:cubicBezTo>
                <a:cubicBezTo>
                  <a:pt x="359" y="258"/>
                  <a:pt x="362" y="255"/>
                  <a:pt x="365" y="252"/>
                </a:cubicBezTo>
                <a:cubicBezTo>
                  <a:pt x="368" y="249"/>
                  <a:pt x="372" y="247"/>
                  <a:pt x="375" y="245"/>
                </a:cubicBezTo>
                <a:cubicBezTo>
                  <a:pt x="379" y="243"/>
                  <a:pt x="383" y="241"/>
                  <a:pt x="386" y="240"/>
                </a:cubicBezTo>
                <a:cubicBezTo>
                  <a:pt x="390" y="238"/>
                  <a:pt x="395" y="238"/>
                  <a:pt x="399" y="237"/>
                </a:cubicBezTo>
                <a:cubicBezTo>
                  <a:pt x="403" y="236"/>
                  <a:pt x="407" y="235"/>
                  <a:pt x="410" y="233"/>
                </a:cubicBezTo>
                <a:cubicBezTo>
                  <a:pt x="414" y="232"/>
                  <a:pt x="418" y="230"/>
                  <a:pt x="422" y="229"/>
                </a:cubicBezTo>
                <a:cubicBezTo>
                  <a:pt x="425" y="227"/>
                  <a:pt x="429" y="225"/>
                  <a:pt x="433" y="223"/>
                </a:cubicBezTo>
                <a:cubicBezTo>
                  <a:pt x="437" y="221"/>
                  <a:pt x="441" y="220"/>
                  <a:pt x="445" y="219"/>
                </a:cubicBezTo>
                <a:cubicBezTo>
                  <a:pt x="449" y="218"/>
                  <a:pt x="453" y="218"/>
                  <a:pt x="457" y="218"/>
                </a:cubicBezTo>
                <a:cubicBezTo>
                  <a:pt x="461" y="218"/>
                  <a:pt x="465" y="218"/>
                  <a:pt x="469" y="218"/>
                </a:cubicBezTo>
                <a:cubicBezTo>
                  <a:pt x="474" y="218"/>
                  <a:pt x="478" y="219"/>
                  <a:pt x="482" y="219"/>
                </a:cubicBezTo>
                <a:cubicBezTo>
                  <a:pt x="486" y="219"/>
                  <a:pt x="490" y="218"/>
                  <a:pt x="494" y="217"/>
                </a:cubicBezTo>
                <a:cubicBezTo>
                  <a:pt x="498" y="217"/>
                  <a:pt x="502" y="216"/>
                  <a:pt x="506" y="215"/>
                </a:cubicBezTo>
                <a:cubicBezTo>
                  <a:pt x="510" y="215"/>
                  <a:pt x="514" y="214"/>
                  <a:pt x="518" y="215"/>
                </a:cubicBezTo>
                <a:cubicBezTo>
                  <a:pt x="522" y="215"/>
                  <a:pt x="526" y="216"/>
                  <a:pt x="530" y="217"/>
                </a:cubicBezTo>
                <a:cubicBezTo>
                  <a:pt x="534" y="218"/>
                  <a:pt x="538" y="219"/>
                  <a:pt x="542" y="221"/>
                </a:cubicBezTo>
                <a:cubicBezTo>
                  <a:pt x="546" y="222"/>
                  <a:pt x="550" y="223"/>
                  <a:pt x="554" y="224"/>
                </a:cubicBezTo>
                <a:cubicBezTo>
                  <a:pt x="558" y="225"/>
                  <a:pt x="562" y="226"/>
                  <a:pt x="566" y="226"/>
                </a:cubicBezTo>
                <a:cubicBezTo>
                  <a:pt x="570" y="226"/>
                  <a:pt x="574" y="226"/>
                  <a:pt x="578" y="227"/>
                </a:cubicBezTo>
                <a:cubicBezTo>
                  <a:pt x="582" y="228"/>
                  <a:pt x="586" y="228"/>
                  <a:pt x="590" y="229"/>
                </a:cubicBezTo>
                <a:cubicBezTo>
                  <a:pt x="594" y="231"/>
                  <a:pt x="598" y="232"/>
                  <a:pt x="601" y="234"/>
                </a:cubicBezTo>
                <a:cubicBezTo>
                  <a:pt x="605" y="236"/>
                  <a:pt x="608" y="239"/>
                  <a:pt x="612" y="241"/>
                </a:cubicBezTo>
                <a:cubicBezTo>
                  <a:pt x="615" y="243"/>
                  <a:pt x="619" y="245"/>
                  <a:pt x="622" y="247"/>
                </a:cubicBezTo>
                <a:cubicBezTo>
                  <a:pt x="626" y="249"/>
                  <a:pt x="630" y="250"/>
                  <a:pt x="633" y="251"/>
                </a:cubicBezTo>
                <a:cubicBezTo>
                  <a:pt x="637" y="253"/>
                  <a:pt x="641" y="254"/>
                  <a:pt x="645" y="255"/>
                </a:cubicBezTo>
                <a:cubicBezTo>
                  <a:pt x="649" y="257"/>
                  <a:pt x="653" y="258"/>
                  <a:pt x="656" y="260"/>
                </a:cubicBezTo>
                <a:cubicBezTo>
                  <a:pt x="660" y="262"/>
                  <a:pt x="663" y="265"/>
                  <a:pt x="666" y="268"/>
                </a:cubicBezTo>
                <a:cubicBezTo>
                  <a:pt x="669" y="271"/>
                  <a:pt x="671" y="274"/>
                  <a:pt x="674" y="277"/>
                </a:cubicBezTo>
                <a:cubicBezTo>
                  <a:pt x="677" y="280"/>
                  <a:pt x="680" y="283"/>
                  <a:pt x="683" y="285"/>
                </a:cubicBezTo>
                <a:cubicBezTo>
                  <a:pt x="686" y="288"/>
                  <a:pt x="689" y="290"/>
                  <a:pt x="693" y="293"/>
                </a:cubicBezTo>
                <a:cubicBezTo>
                  <a:pt x="696" y="295"/>
                  <a:pt x="700" y="297"/>
                  <a:pt x="703" y="299"/>
                </a:cubicBezTo>
                <a:cubicBezTo>
                  <a:pt x="706" y="302"/>
                  <a:pt x="709" y="304"/>
                  <a:pt x="712" y="307"/>
                </a:cubicBezTo>
                <a:cubicBezTo>
                  <a:pt x="715" y="310"/>
                  <a:pt x="717" y="313"/>
                  <a:pt x="720" y="317"/>
                </a:cubicBezTo>
                <a:cubicBezTo>
                  <a:pt x="722" y="320"/>
                  <a:pt x="723" y="324"/>
                  <a:pt x="725" y="328"/>
                </a:cubicBezTo>
                <a:cubicBezTo>
                  <a:pt x="727" y="331"/>
                  <a:pt x="729" y="335"/>
                  <a:pt x="731" y="338"/>
                </a:cubicBezTo>
                <a:cubicBezTo>
                  <a:pt x="734" y="342"/>
                  <a:pt x="736" y="345"/>
                  <a:pt x="739" y="348"/>
                </a:cubicBezTo>
                <a:cubicBezTo>
                  <a:pt x="741" y="351"/>
                  <a:pt x="744" y="354"/>
                  <a:pt x="747" y="357"/>
                </a:cubicBezTo>
                <a:cubicBezTo>
                  <a:pt x="749" y="360"/>
                  <a:pt x="752" y="364"/>
                  <a:pt x="754" y="367"/>
                </a:cubicBezTo>
                <a:cubicBezTo>
                  <a:pt x="756" y="371"/>
                  <a:pt x="757" y="375"/>
                  <a:pt x="758" y="378"/>
                </a:cubicBezTo>
                <a:cubicBezTo>
                  <a:pt x="760" y="382"/>
                  <a:pt x="760" y="386"/>
                  <a:pt x="761" y="390"/>
                </a:cubicBezTo>
                <a:cubicBezTo>
                  <a:pt x="762" y="394"/>
                  <a:pt x="763" y="398"/>
                  <a:pt x="764" y="402"/>
                </a:cubicBezTo>
                <a:cubicBezTo>
                  <a:pt x="765" y="406"/>
                  <a:pt x="767" y="410"/>
                  <a:pt x="769" y="413"/>
                </a:cubicBezTo>
                <a:cubicBezTo>
                  <a:pt x="771" y="417"/>
                  <a:pt x="773" y="420"/>
                  <a:pt x="774" y="424"/>
                </a:cubicBezTo>
                <a:cubicBezTo>
                  <a:pt x="776" y="428"/>
                  <a:pt x="778" y="432"/>
                  <a:pt x="779" y="436"/>
                </a:cubicBezTo>
                <a:cubicBezTo>
                  <a:pt x="780" y="440"/>
                  <a:pt x="780" y="444"/>
                  <a:pt x="780" y="448"/>
                </a:cubicBezTo>
                <a:cubicBezTo>
                  <a:pt x="781" y="452"/>
                  <a:pt x="780" y="456"/>
                  <a:pt x="780" y="460"/>
                </a:cubicBezTo>
                <a:cubicBezTo>
                  <a:pt x="780" y="464"/>
                  <a:pt x="780" y="468"/>
                  <a:pt x="781" y="472"/>
                </a:cubicBezTo>
                <a:cubicBezTo>
                  <a:pt x="781" y="476"/>
                  <a:pt x="782" y="480"/>
                  <a:pt x="783" y="484"/>
                </a:cubicBezTo>
                <a:cubicBezTo>
                  <a:pt x="783" y="488"/>
                  <a:pt x="785" y="492"/>
                  <a:pt x="785" y="496"/>
                </a:cubicBezTo>
                <a:close/>
              </a:path>
            </a:pathLst>
          </a:custGeom>
          <a:noFill/>
          <a:ln w="1905" cap="rnd">
            <a:solidFill>
              <a:srgbClr val="D19C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Endothelial tissue bed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66" y="496"/>
                </a:moveTo>
                <a:cubicBezTo>
                  <a:pt x="766" y="504"/>
                  <a:pt x="766" y="513"/>
                  <a:pt x="765" y="521"/>
                </a:cubicBezTo>
                <a:cubicBezTo>
                  <a:pt x="765" y="530"/>
                  <a:pt x="764" y="538"/>
                  <a:pt x="763" y="547"/>
                </a:cubicBezTo>
                <a:cubicBezTo>
                  <a:pt x="762" y="555"/>
                  <a:pt x="760" y="564"/>
                  <a:pt x="758" y="572"/>
                </a:cubicBezTo>
                <a:cubicBezTo>
                  <a:pt x="755" y="580"/>
                  <a:pt x="753" y="588"/>
                  <a:pt x="749" y="596"/>
                </a:cubicBezTo>
                <a:cubicBezTo>
                  <a:pt x="746" y="604"/>
                  <a:pt x="743" y="612"/>
                  <a:pt x="739" y="620"/>
                </a:cubicBezTo>
                <a:cubicBezTo>
                  <a:pt x="734" y="627"/>
                  <a:pt x="730" y="635"/>
                  <a:pt x="725" y="642"/>
                </a:cubicBezTo>
                <a:cubicBezTo>
                  <a:pt x="720" y="649"/>
                  <a:pt x="714" y="655"/>
                  <a:pt x="709" y="662"/>
                </a:cubicBezTo>
                <a:cubicBezTo>
                  <a:pt x="703" y="668"/>
                  <a:pt x="697" y="674"/>
                  <a:pt x="690" y="680"/>
                </a:cubicBezTo>
                <a:cubicBezTo>
                  <a:pt x="684" y="685"/>
                  <a:pt x="677" y="691"/>
                  <a:pt x="671" y="696"/>
                </a:cubicBezTo>
                <a:cubicBezTo>
                  <a:pt x="664" y="701"/>
                  <a:pt x="657" y="705"/>
                  <a:pt x="649" y="709"/>
                </a:cubicBezTo>
                <a:cubicBezTo>
                  <a:pt x="642" y="714"/>
                  <a:pt x="635" y="718"/>
                  <a:pt x="627" y="721"/>
                </a:cubicBezTo>
                <a:cubicBezTo>
                  <a:pt x="620" y="725"/>
                  <a:pt x="612" y="728"/>
                  <a:pt x="604" y="731"/>
                </a:cubicBezTo>
                <a:cubicBezTo>
                  <a:pt x="596" y="735"/>
                  <a:pt x="588" y="737"/>
                  <a:pt x="581" y="740"/>
                </a:cubicBezTo>
                <a:cubicBezTo>
                  <a:pt x="573" y="742"/>
                  <a:pt x="564" y="744"/>
                  <a:pt x="556" y="746"/>
                </a:cubicBezTo>
                <a:cubicBezTo>
                  <a:pt x="548" y="748"/>
                  <a:pt x="540" y="750"/>
                  <a:pt x="532" y="751"/>
                </a:cubicBezTo>
                <a:cubicBezTo>
                  <a:pt x="523" y="752"/>
                  <a:pt x="515" y="753"/>
                  <a:pt x="506" y="753"/>
                </a:cubicBezTo>
                <a:cubicBezTo>
                  <a:pt x="498" y="753"/>
                  <a:pt x="490" y="753"/>
                  <a:pt x="481" y="753"/>
                </a:cubicBezTo>
                <a:cubicBezTo>
                  <a:pt x="473" y="753"/>
                  <a:pt x="464" y="752"/>
                  <a:pt x="456" y="750"/>
                </a:cubicBezTo>
                <a:cubicBezTo>
                  <a:pt x="448" y="749"/>
                  <a:pt x="439" y="747"/>
                  <a:pt x="431" y="745"/>
                </a:cubicBezTo>
                <a:cubicBezTo>
                  <a:pt x="423" y="742"/>
                  <a:pt x="415" y="740"/>
                  <a:pt x="407" y="736"/>
                </a:cubicBezTo>
                <a:cubicBezTo>
                  <a:pt x="399" y="733"/>
                  <a:pt x="391" y="730"/>
                  <a:pt x="384" y="726"/>
                </a:cubicBezTo>
                <a:cubicBezTo>
                  <a:pt x="376" y="722"/>
                  <a:pt x="369" y="717"/>
                  <a:pt x="362" y="712"/>
                </a:cubicBezTo>
                <a:cubicBezTo>
                  <a:pt x="355" y="708"/>
                  <a:pt x="348" y="702"/>
                  <a:pt x="341" y="697"/>
                </a:cubicBezTo>
                <a:cubicBezTo>
                  <a:pt x="335" y="692"/>
                  <a:pt x="329" y="686"/>
                  <a:pt x="323" y="680"/>
                </a:cubicBezTo>
                <a:cubicBezTo>
                  <a:pt x="317" y="674"/>
                  <a:pt x="311" y="667"/>
                  <a:pt x="305" y="661"/>
                </a:cubicBezTo>
                <a:cubicBezTo>
                  <a:pt x="300" y="654"/>
                  <a:pt x="295" y="647"/>
                  <a:pt x="290" y="640"/>
                </a:cubicBezTo>
                <a:cubicBezTo>
                  <a:pt x="285" y="633"/>
                  <a:pt x="281" y="626"/>
                  <a:pt x="277" y="619"/>
                </a:cubicBezTo>
                <a:cubicBezTo>
                  <a:pt x="273" y="611"/>
                  <a:pt x="269" y="603"/>
                  <a:pt x="266" y="596"/>
                </a:cubicBezTo>
                <a:cubicBezTo>
                  <a:pt x="262" y="588"/>
                  <a:pt x="259" y="580"/>
                  <a:pt x="257" y="571"/>
                </a:cubicBezTo>
                <a:cubicBezTo>
                  <a:pt x="255" y="563"/>
                  <a:pt x="252" y="555"/>
                  <a:pt x="251" y="547"/>
                </a:cubicBezTo>
                <a:cubicBezTo>
                  <a:pt x="249" y="538"/>
                  <a:pt x="248" y="530"/>
                  <a:pt x="248" y="521"/>
                </a:cubicBezTo>
                <a:cubicBezTo>
                  <a:pt x="247" y="513"/>
                  <a:pt x="247" y="504"/>
                  <a:pt x="248" y="496"/>
                </a:cubicBezTo>
                <a:cubicBezTo>
                  <a:pt x="248" y="487"/>
                  <a:pt x="249" y="479"/>
                  <a:pt x="250" y="471"/>
                </a:cubicBezTo>
                <a:cubicBezTo>
                  <a:pt x="251" y="462"/>
                  <a:pt x="253" y="454"/>
                  <a:pt x="255" y="446"/>
                </a:cubicBezTo>
                <a:cubicBezTo>
                  <a:pt x="257" y="438"/>
                  <a:pt x="259" y="429"/>
                  <a:pt x="262" y="422"/>
                </a:cubicBezTo>
                <a:cubicBezTo>
                  <a:pt x="265" y="414"/>
                  <a:pt x="268" y="406"/>
                  <a:pt x="271" y="398"/>
                </a:cubicBezTo>
                <a:cubicBezTo>
                  <a:pt x="274" y="391"/>
                  <a:pt x="278" y="383"/>
                  <a:pt x="282" y="376"/>
                </a:cubicBezTo>
                <a:cubicBezTo>
                  <a:pt x="286" y="368"/>
                  <a:pt x="290" y="361"/>
                  <a:pt x="294" y="354"/>
                </a:cubicBezTo>
                <a:cubicBezTo>
                  <a:pt x="299" y="347"/>
                  <a:pt x="303" y="340"/>
                  <a:pt x="308" y="333"/>
                </a:cubicBezTo>
                <a:cubicBezTo>
                  <a:pt x="313" y="326"/>
                  <a:pt x="319" y="320"/>
                  <a:pt x="324" y="313"/>
                </a:cubicBezTo>
                <a:cubicBezTo>
                  <a:pt x="330" y="307"/>
                  <a:pt x="336" y="301"/>
                  <a:pt x="342" y="295"/>
                </a:cubicBezTo>
                <a:cubicBezTo>
                  <a:pt x="348" y="289"/>
                  <a:pt x="355" y="284"/>
                  <a:pt x="362" y="279"/>
                </a:cubicBezTo>
                <a:cubicBezTo>
                  <a:pt x="368" y="274"/>
                  <a:pt x="376" y="269"/>
                  <a:pt x="383" y="265"/>
                </a:cubicBezTo>
                <a:cubicBezTo>
                  <a:pt x="390" y="260"/>
                  <a:pt x="398" y="256"/>
                  <a:pt x="406" y="253"/>
                </a:cubicBezTo>
                <a:cubicBezTo>
                  <a:pt x="414" y="249"/>
                  <a:pt x="422" y="247"/>
                  <a:pt x="430" y="244"/>
                </a:cubicBezTo>
                <a:cubicBezTo>
                  <a:pt x="438" y="242"/>
                  <a:pt x="447" y="240"/>
                  <a:pt x="455" y="238"/>
                </a:cubicBezTo>
                <a:cubicBezTo>
                  <a:pt x="464" y="237"/>
                  <a:pt x="472" y="236"/>
                  <a:pt x="481" y="235"/>
                </a:cubicBezTo>
                <a:cubicBezTo>
                  <a:pt x="489" y="235"/>
                  <a:pt x="498" y="235"/>
                  <a:pt x="506" y="235"/>
                </a:cubicBezTo>
                <a:cubicBezTo>
                  <a:pt x="515" y="235"/>
                  <a:pt x="524" y="236"/>
                  <a:pt x="532" y="238"/>
                </a:cubicBezTo>
                <a:cubicBezTo>
                  <a:pt x="540" y="239"/>
                  <a:pt x="549" y="240"/>
                  <a:pt x="557" y="242"/>
                </a:cubicBezTo>
                <a:cubicBezTo>
                  <a:pt x="565" y="244"/>
                  <a:pt x="573" y="246"/>
                  <a:pt x="581" y="249"/>
                </a:cubicBezTo>
                <a:cubicBezTo>
                  <a:pt x="589" y="252"/>
                  <a:pt x="597" y="255"/>
                  <a:pt x="605" y="258"/>
                </a:cubicBezTo>
                <a:cubicBezTo>
                  <a:pt x="613" y="261"/>
                  <a:pt x="620" y="265"/>
                  <a:pt x="628" y="269"/>
                </a:cubicBezTo>
                <a:cubicBezTo>
                  <a:pt x="635" y="273"/>
                  <a:pt x="643" y="277"/>
                  <a:pt x="650" y="282"/>
                </a:cubicBezTo>
                <a:cubicBezTo>
                  <a:pt x="657" y="286"/>
                  <a:pt x="663" y="291"/>
                  <a:pt x="670" y="297"/>
                </a:cubicBezTo>
                <a:cubicBezTo>
                  <a:pt x="677" y="302"/>
                  <a:pt x="683" y="308"/>
                  <a:pt x="689" y="313"/>
                </a:cubicBezTo>
                <a:cubicBezTo>
                  <a:pt x="695" y="319"/>
                  <a:pt x="700" y="326"/>
                  <a:pt x="706" y="332"/>
                </a:cubicBezTo>
                <a:cubicBezTo>
                  <a:pt x="711" y="339"/>
                  <a:pt x="716" y="346"/>
                  <a:pt x="721" y="353"/>
                </a:cubicBezTo>
                <a:cubicBezTo>
                  <a:pt x="725" y="360"/>
                  <a:pt x="730" y="367"/>
                  <a:pt x="734" y="374"/>
                </a:cubicBezTo>
                <a:cubicBezTo>
                  <a:pt x="737" y="382"/>
                  <a:pt x="741" y="390"/>
                  <a:pt x="744" y="397"/>
                </a:cubicBezTo>
                <a:cubicBezTo>
                  <a:pt x="747" y="405"/>
                  <a:pt x="750" y="413"/>
                  <a:pt x="753" y="421"/>
                </a:cubicBezTo>
                <a:cubicBezTo>
                  <a:pt x="755" y="429"/>
                  <a:pt x="757" y="437"/>
                  <a:pt x="759" y="446"/>
                </a:cubicBezTo>
                <a:cubicBezTo>
                  <a:pt x="761" y="454"/>
                  <a:pt x="762" y="462"/>
                  <a:pt x="763" y="470"/>
                </a:cubicBezTo>
                <a:cubicBezTo>
                  <a:pt x="764" y="479"/>
                  <a:pt x="765" y="487"/>
                  <a:pt x="766" y="496"/>
                </a:cubicBezTo>
                <a:close/>
              </a:path>
            </a:pathLst>
          </a:custGeom>
          <a:gradFill rotWithShape="1">
            <a:gsLst>
              <a:gs pos="0">
                <a:srgbClr val="E1EFF5"/>
              </a:gs>
              <a:gs pos="100000">
                <a:srgbClr val="C5DDE9"/>
              </a:gs>
            </a:gsLst>
            <a:lin ang="5400000" scaled="1"/>
          </a:gradFill>
          <a:ln w="2430" cap="rnd">
            <a:solidFill>
              <a:srgbClr val="8BAFC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Open pulmonary arteriolar lumen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07" y="496"/>
                </a:moveTo>
                <a:cubicBezTo>
                  <a:pt x="707" y="502"/>
                  <a:pt x="707" y="509"/>
                  <a:pt x="707" y="516"/>
                </a:cubicBezTo>
                <a:cubicBezTo>
                  <a:pt x="706" y="522"/>
                  <a:pt x="706" y="529"/>
                  <a:pt x="705" y="535"/>
                </a:cubicBezTo>
                <a:cubicBezTo>
                  <a:pt x="704" y="542"/>
                  <a:pt x="702" y="548"/>
                  <a:pt x="700" y="555"/>
                </a:cubicBezTo>
                <a:cubicBezTo>
                  <a:pt x="699" y="561"/>
                  <a:pt x="697" y="567"/>
                  <a:pt x="694" y="573"/>
                </a:cubicBezTo>
                <a:cubicBezTo>
                  <a:pt x="692" y="580"/>
                  <a:pt x="689" y="586"/>
                  <a:pt x="686" y="592"/>
                </a:cubicBezTo>
                <a:cubicBezTo>
                  <a:pt x="683" y="597"/>
                  <a:pt x="679" y="603"/>
                  <a:pt x="675" y="608"/>
                </a:cubicBezTo>
                <a:cubicBezTo>
                  <a:pt x="671" y="614"/>
                  <a:pt x="667" y="619"/>
                  <a:pt x="663" y="624"/>
                </a:cubicBezTo>
                <a:cubicBezTo>
                  <a:pt x="658" y="629"/>
                  <a:pt x="654" y="634"/>
                  <a:pt x="649" y="638"/>
                </a:cubicBezTo>
                <a:cubicBezTo>
                  <a:pt x="644" y="642"/>
                  <a:pt x="639" y="647"/>
                  <a:pt x="634" y="651"/>
                </a:cubicBezTo>
                <a:cubicBezTo>
                  <a:pt x="628" y="654"/>
                  <a:pt x="623" y="658"/>
                  <a:pt x="617" y="661"/>
                </a:cubicBezTo>
                <a:cubicBezTo>
                  <a:pt x="612" y="665"/>
                  <a:pt x="606" y="668"/>
                  <a:pt x="600" y="671"/>
                </a:cubicBezTo>
                <a:cubicBezTo>
                  <a:pt x="594" y="674"/>
                  <a:pt x="588" y="676"/>
                  <a:pt x="582" y="679"/>
                </a:cubicBezTo>
                <a:cubicBezTo>
                  <a:pt x="576" y="681"/>
                  <a:pt x="570" y="683"/>
                  <a:pt x="564" y="685"/>
                </a:cubicBezTo>
                <a:cubicBezTo>
                  <a:pt x="558" y="687"/>
                  <a:pt x="551" y="689"/>
                  <a:pt x="545" y="690"/>
                </a:cubicBezTo>
                <a:cubicBezTo>
                  <a:pt x="539" y="692"/>
                  <a:pt x="532" y="693"/>
                  <a:pt x="526" y="694"/>
                </a:cubicBezTo>
                <a:cubicBezTo>
                  <a:pt x="520" y="694"/>
                  <a:pt x="513" y="695"/>
                  <a:pt x="506" y="695"/>
                </a:cubicBezTo>
                <a:cubicBezTo>
                  <a:pt x="500" y="695"/>
                  <a:pt x="493" y="695"/>
                  <a:pt x="487" y="695"/>
                </a:cubicBezTo>
                <a:cubicBezTo>
                  <a:pt x="480" y="695"/>
                  <a:pt x="474" y="694"/>
                  <a:pt x="467" y="693"/>
                </a:cubicBezTo>
                <a:cubicBezTo>
                  <a:pt x="461" y="692"/>
                  <a:pt x="454" y="690"/>
                  <a:pt x="448" y="688"/>
                </a:cubicBezTo>
                <a:cubicBezTo>
                  <a:pt x="442" y="687"/>
                  <a:pt x="435" y="684"/>
                  <a:pt x="429" y="682"/>
                </a:cubicBezTo>
                <a:cubicBezTo>
                  <a:pt x="423" y="679"/>
                  <a:pt x="417" y="677"/>
                  <a:pt x="412" y="673"/>
                </a:cubicBezTo>
                <a:cubicBezTo>
                  <a:pt x="406" y="670"/>
                  <a:pt x="400" y="667"/>
                  <a:pt x="395" y="663"/>
                </a:cubicBezTo>
                <a:cubicBezTo>
                  <a:pt x="389" y="660"/>
                  <a:pt x="384" y="656"/>
                  <a:pt x="379" y="651"/>
                </a:cubicBezTo>
                <a:cubicBezTo>
                  <a:pt x="374" y="647"/>
                  <a:pt x="369" y="643"/>
                  <a:pt x="364" y="638"/>
                </a:cubicBezTo>
                <a:cubicBezTo>
                  <a:pt x="360" y="633"/>
                  <a:pt x="355" y="629"/>
                  <a:pt x="351" y="623"/>
                </a:cubicBezTo>
                <a:cubicBezTo>
                  <a:pt x="347" y="618"/>
                  <a:pt x="343" y="613"/>
                  <a:pt x="339" y="608"/>
                </a:cubicBezTo>
                <a:cubicBezTo>
                  <a:pt x="335" y="602"/>
                  <a:pt x="332" y="597"/>
                  <a:pt x="329" y="591"/>
                </a:cubicBezTo>
                <a:cubicBezTo>
                  <a:pt x="326" y="585"/>
                  <a:pt x="323" y="579"/>
                  <a:pt x="320" y="573"/>
                </a:cubicBezTo>
                <a:cubicBezTo>
                  <a:pt x="318" y="567"/>
                  <a:pt x="315" y="561"/>
                  <a:pt x="314" y="554"/>
                </a:cubicBezTo>
                <a:cubicBezTo>
                  <a:pt x="312" y="548"/>
                  <a:pt x="310" y="542"/>
                  <a:pt x="309" y="535"/>
                </a:cubicBezTo>
                <a:cubicBezTo>
                  <a:pt x="308" y="529"/>
                  <a:pt x="307" y="522"/>
                  <a:pt x="306" y="515"/>
                </a:cubicBezTo>
                <a:cubicBezTo>
                  <a:pt x="306" y="509"/>
                  <a:pt x="306" y="502"/>
                  <a:pt x="306" y="496"/>
                </a:cubicBezTo>
                <a:cubicBezTo>
                  <a:pt x="306" y="489"/>
                  <a:pt x="307" y="483"/>
                  <a:pt x="308" y="476"/>
                </a:cubicBezTo>
                <a:cubicBezTo>
                  <a:pt x="309" y="470"/>
                  <a:pt x="310" y="463"/>
                  <a:pt x="311" y="457"/>
                </a:cubicBezTo>
                <a:cubicBezTo>
                  <a:pt x="313" y="451"/>
                  <a:pt x="315" y="444"/>
                  <a:pt x="317" y="438"/>
                </a:cubicBezTo>
                <a:cubicBezTo>
                  <a:pt x="319" y="432"/>
                  <a:pt x="321" y="426"/>
                  <a:pt x="324" y="420"/>
                </a:cubicBezTo>
                <a:cubicBezTo>
                  <a:pt x="326" y="414"/>
                  <a:pt x="329" y="408"/>
                  <a:pt x="332" y="403"/>
                </a:cubicBezTo>
                <a:cubicBezTo>
                  <a:pt x="335" y="397"/>
                  <a:pt x="338" y="391"/>
                  <a:pt x="342" y="386"/>
                </a:cubicBezTo>
                <a:cubicBezTo>
                  <a:pt x="345" y="380"/>
                  <a:pt x="349" y="375"/>
                  <a:pt x="353" y="370"/>
                </a:cubicBezTo>
                <a:cubicBezTo>
                  <a:pt x="357" y="364"/>
                  <a:pt x="361" y="359"/>
                  <a:pt x="365" y="355"/>
                </a:cubicBezTo>
                <a:cubicBezTo>
                  <a:pt x="370" y="350"/>
                  <a:pt x="374" y="345"/>
                  <a:pt x="379" y="341"/>
                </a:cubicBezTo>
                <a:cubicBezTo>
                  <a:pt x="384" y="336"/>
                  <a:pt x="389" y="332"/>
                  <a:pt x="394" y="328"/>
                </a:cubicBezTo>
                <a:cubicBezTo>
                  <a:pt x="400" y="324"/>
                  <a:pt x="405" y="320"/>
                  <a:pt x="411" y="317"/>
                </a:cubicBezTo>
                <a:cubicBezTo>
                  <a:pt x="417" y="314"/>
                  <a:pt x="423" y="311"/>
                  <a:pt x="429" y="308"/>
                </a:cubicBezTo>
                <a:cubicBezTo>
                  <a:pt x="435" y="306"/>
                  <a:pt x="441" y="303"/>
                  <a:pt x="448" y="301"/>
                </a:cubicBezTo>
                <a:cubicBezTo>
                  <a:pt x="454" y="300"/>
                  <a:pt x="460" y="298"/>
                  <a:pt x="467" y="297"/>
                </a:cubicBezTo>
                <a:cubicBezTo>
                  <a:pt x="473" y="296"/>
                  <a:pt x="480" y="295"/>
                  <a:pt x="487" y="294"/>
                </a:cubicBezTo>
                <a:cubicBezTo>
                  <a:pt x="493" y="294"/>
                  <a:pt x="500" y="294"/>
                  <a:pt x="506" y="294"/>
                </a:cubicBezTo>
                <a:cubicBezTo>
                  <a:pt x="513" y="294"/>
                  <a:pt x="520" y="295"/>
                  <a:pt x="526" y="296"/>
                </a:cubicBezTo>
                <a:cubicBezTo>
                  <a:pt x="533" y="297"/>
                  <a:pt x="539" y="298"/>
                  <a:pt x="546" y="299"/>
                </a:cubicBezTo>
                <a:cubicBezTo>
                  <a:pt x="552" y="301"/>
                  <a:pt x="558" y="303"/>
                  <a:pt x="564" y="305"/>
                </a:cubicBezTo>
                <a:cubicBezTo>
                  <a:pt x="571" y="307"/>
                  <a:pt x="577" y="309"/>
                  <a:pt x="583" y="311"/>
                </a:cubicBezTo>
                <a:cubicBezTo>
                  <a:pt x="589" y="314"/>
                  <a:pt x="595" y="317"/>
                  <a:pt x="601" y="320"/>
                </a:cubicBezTo>
                <a:cubicBezTo>
                  <a:pt x="606" y="323"/>
                  <a:pt x="612" y="326"/>
                  <a:pt x="617" y="330"/>
                </a:cubicBezTo>
                <a:cubicBezTo>
                  <a:pt x="623" y="333"/>
                  <a:pt x="628" y="337"/>
                  <a:pt x="633" y="341"/>
                </a:cubicBezTo>
                <a:cubicBezTo>
                  <a:pt x="638" y="346"/>
                  <a:pt x="643" y="350"/>
                  <a:pt x="648" y="355"/>
                </a:cubicBezTo>
                <a:cubicBezTo>
                  <a:pt x="652" y="359"/>
                  <a:pt x="657" y="364"/>
                  <a:pt x="661" y="369"/>
                </a:cubicBezTo>
                <a:cubicBezTo>
                  <a:pt x="665" y="374"/>
                  <a:pt x="669" y="379"/>
                  <a:pt x="672" y="385"/>
                </a:cubicBezTo>
                <a:cubicBezTo>
                  <a:pt x="676" y="390"/>
                  <a:pt x="679" y="396"/>
                  <a:pt x="682" y="402"/>
                </a:cubicBezTo>
                <a:cubicBezTo>
                  <a:pt x="685" y="408"/>
                  <a:pt x="688" y="413"/>
                  <a:pt x="691" y="419"/>
                </a:cubicBezTo>
                <a:cubicBezTo>
                  <a:pt x="693" y="426"/>
                  <a:pt x="695" y="432"/>
                  <a:pt x="697" y="438"/>
                </a:cubicBezTo>
                <a:cubicBezTo>
                  <a:pt x="699" y="444"/>
                  <a:pt x="701" y="450"/>
                  <a:pt x="702" y="457"/>
                </a:cubicBezTo>
                <a:cubicBezTo>
                  <a:pt x="704" y="463"/>
                  <a:pt x="705" y="470"/>
                  <a:pt x="705" y="476"/>
                </a:cubicBezTo>
                <a:cubicBezTo>
                  <a:pt x="706" y="483"/>
                  <a:pt x="707" y="489"/>
                  <a:pt x="707" y="496"/>
                </a:cubicBezTo>
                <a:close/>
              </a:path>
            </a:pathLst>
          </a:custGeom>
          <a:gradFill rotWithShape="1">
            <a:gsLst>
              <a:gs pos="0">
                <a:srgbClr val="FFF8F3"/>
              </a:gs>
              <a:gs pos="60000">
                <a:srgbClr val="FBE9E1"/>
              </a:gs>
              <a:gs pos="100000">
                <a:srgbClr val="F3D9D3"/>
              </a:gs>
            </a:gsLst>
            <a:lin ang="5400000" scaled="1"/>
          </a:gradFill>
          <a:ln w="2025" cap="rnd">
            <a:solidFill>
              <a:srgbClr val="91B4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Naturally staggered endothelial cell 00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6" y="477"/>
                </a:moveTo>
                <a:cubicBezTo>
                  <a:pt x="756" y="479"/>
                  <a:pt x="757" y="488"/>
                  <a:pt x="757" y="493"/>
                </a:cubicBezTo>
                <a:cubicBezTo>
                  <a:pt x="758" y="498"/>
                  <a:pt x="758" y="504"/>
                  <a:pt x="758" y="509"/>
                </a:cubicBezTo>
                <a:cubicBezTo>
                  <a:pt x="758" y="515"/>
                  <a:pt x="757" y="520"/>
                  <a:pt x="757" y="526"/>
                </a:cubicBezTo>
                <a:cubicBezTo>
                  <a:pt x="757" y="531"/>
                  <a:pt x="756" y="536"/>
                  <a:pt x="755" y="542"/>
                </a:cubicBezTo>
                <a:cubicBezTo>
                  <a:pt x="754" y="547"/>
                  <a:pt x="753" y="553"/>
                  <a:pt x="752" y="558"/>
                </a:cubicBezTo>
                <a:cubicBezTo>
                  <a:pt x="751" y="563"/>
                  <a:pt x="750" y="569"/>
                  <a:pt x="748" y="574"/>
                </a:cubicBezTo>
                <a:cubicBezTo>
                  <a:pt x="747" y="579"/>
                  <a:pt x="745" y="584"/>
                  <a:pt x="743" y="590"/>
                </a:cubicBezTo>
                <a:cubicBezTo>
                  <a:pt x="741" y="595"/>
                  <a:pt x="738" y="602"/>
                  <a:pt x="737" y="605"/>
                </a:cubicBezTo>
                <a:lnTo>
                  <a:pt x="696" y="586"/>
                </a:lnTo>
                <a:cubicBezTo>
                  <a:pt x="697" y="583"/>
                  <a:pt x="700" y="577"/>
                  <a:pt x="701" y="573"/>
                </a:cubicBezTo>
                <a:cubicBezTo>
                  <a:pt x="703" y="569"/>
                  <a:pt x="704" y="565"/>
                  <a:pt x="706" y="560"/>
                </a:cubicBezTo>
                <a:cubicBezTo>
                  <a:pt x="707" y="556"/>
                  <a:pt x="708" y="551"/>
                  <a:pt x="709" y="547"/>
                </a:cubicBezTo>
                <a:cubicBezTo>
                  <a:pt x="710" y="543"/>
                  <a:pt x="711" y="538"/>
                  <a:pt x="711" y="534"/>
                </a:cubicBezTo>
                <a:cubicBezTo>
                  <a:pt x="712" y="529"/>
                  <a:pt x="713" y="525"/>
                  <a:pt x="713" y="520"/>
                </a:cubicBezTo>
                <a:cubicBezTo>
                  <a:pt x="713" y="516"/>
                  <a:pt x="714" y="511"/>
                  <a:pt x="714" y="507"/>
                </a:cubicBezTo>
                <a:cubicBezTo>
                  <a:pt x="714" y="502"/>
                  <a:pt x="714" y="498"/>
                  <a:pt x="713" y="493"/>
                </a:cubicBezTo>
                <a:cubicBezTo>
                  <a:pt x="713" y="489"/>
                  <a:pt x="713" y="482"/>
                  <a:pt x="712" y="480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 rot="6030000">
            <a:off x="3863333" y="1108089"/>
            <a:ext cx="44651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Naturally staggered endothelial cell 01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36" y="611"/>
                </a:moveTo>
                <a:cubicBezTo>
                  <a:pt x="735" y="613"/>
                  <a:pt x="731" y="620"/>
                  <a:pt x="728" y="624"/>
                </a:cubicBezTo>
                <a:cubicBezTo>
                  <a:pt x="726" y="629"/>
                  <a:pt x="723" y="633"/>
                  <a:pt x="720" y="637"/>
                </a:cubicBezTo>
                <a:cubicBezTo>
                  <a:pt x="717" y="642"/>
                  <a:pt x="714" y="646"/>
                  <a:pt x="711" y="650"/>
                </a:cubicBezTo>
                <a:cubicBezTo>
                  <a:pt x="707" y="654"/>
                  <a:pt x="704" y="658"/>
                  <a:pt x="700" y="661"/>
                </a:cubicBezTo>
                <a:cubicBezTo>
                  <a:pt x="697" y="665"/>
                  <a:pt x="693" y="669"/>
                  <a:pt x="689" y="672"/>
                </a:cubicBezTo>
                <a:cubicBezTo>
                  <a:pt x="686" y="676"/>
                  <a:pt x="682" y="679"/>
                  <a:pt x="678" y="682"/>
                </a:cubicBezTo>
                <a:cubicBezTo>
                  <a:pt x="674" y="686"/>
                  <a:pt x="670" y="689"/>
                  <a:pt x="666" y="692"/>
                </a:cubicBezTo>
                <a:cubicBezTo>
                  <a:pt x="662" y="695"/>
                  <a:pt x="655" y="699"/>
                  <a:pt x="653" y="700"/>
                </a:cubicBezTo>
                <a:lnTo>
                  <a:pt x="628" y="665"/>
                </a:lnTo>
                <a:cubicBezTo>
                  <a:pt x="629" y="664"/>
                  <a:pt x="635" y="660"/>
                  <a:pt x="638" y="658"/>
                </a:cubicBezTo>
                <a:cubicBezTo>
                  <a:pt x="642" y="655"/>
                  <a:pt x="645" y="653"/>
                  <a:pt x="648" y="650"/>
                </a:cubicBezTo>
                <a:cubicBezTo>
                  <a:pt x="651" y="647"/>
                  <a:pt x="655" y="644"/>
                  <a:pt x="658" y="642"/>
                </a:cubicBezTo>
                <a:cubicBezTo>
                  <a:pt x="661" y="639"/>
                  <a:pt x="664" y="636"/>
                  <a:pt x="667" y="633"/>
                </a:cubicBezTo>
                <a:cubicBezTo>
                  <a:pt x="669" y="629"/>
                  <a:pt x="672" y="626"/>
                  <a:pt x="675" y="623"/>
                </a:cubicBezTo>
                <a:cubicBezTo>
                  <a:pt x="678" y="620"/>
                  <a:pt x="680" y="616"/>
                  <a:pt x="683" y="613"/>
                </a:cubicBezTo>
                <a:cubicBezTo>
                  <a:pt x="685" y="609"/>
                  <a:pt x="687" y="606"/>
                  <a:pt x="690" y="602"/>
                </a:cubicBezTo>
                <a:cubicBezTo>
                  <a:pt x="692" y="598"/>
                  <a:pt x="695" y="593"/>
                  <a:pt x="696" y="591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 rot="7830000">
            <a:off x="3818786" y="1201727"/>
            <a:ext cx="48230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Naturally staggered endothelial cell 02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48" y="702"/>
                </a:moveTo>
                <a:cubicBezTo>
                  <a:pt x="645" y="704"/>
                  <a:pt x="637" y="708"/>
                  <a:pt x="632" y="711"/>
                </a:cubicBezTo>
                <a:cubicBezTo>
                  <a:pt x="627" y="714"/>
                  <a:pt x="622" y="716"/>
                  <a:pt x="616" y="719"/>
                </a:cubicBezTo>
                <a:cubicBezTo>
                  <a:pt x="611" y="721"/>
                  <a:pt x="605" y="724"/>
                  <a:pt x="600" y="726"/>
                </a:cubicBezTo>
                <a:cubicBezTo>
                  <a:pt x="594" y="728"/>
                  <a:pt x="589" y="730"/>
                  <a:pt x="583" y="732"/>
                </a:cubicBezTo>
                <a:cubicBezTo>
                  <a:pt x="578" y="734"/>
                  <a:pt x="572" y="735"/>
                  <a:pt x="566" y="737"/>
                </a:cubicBezTo>
                <a:cubicBezTo>
                  <a:pt x="561" y="738"/>
                  <a:pt x="555" y="740"/>
                  <a:pt x="549" y="741"/>
                </a:cubicBezTo>
                <a:cubicBezTo>
                  <a:pt x="543" y="742"/>
                  <a:pt x="537" y="743"/>
                  <a:pt x="531" y="744"/>
                </a:cubicBezTo>
                <a:cubicBezTo>
                  <a:pt x="526" y="745"/>
                  <a:pt x="517" y="745"/>
                  <a:pt x="514" y="746"/>
                </a:cubicBezTo>
                <a:lnTo>
                  <a:pt x="512" y="702"/>
                </a:lnTo>
                <a:cubicBezTo>
                  <a:pt x="515" y="702"/>
                  <a:pt x="522" y="701"/>
                  <a:pt x="527" y="701"/>
                </a:cubicBezTo>
                <a:cubicBezTo>
                  <a:pt x="532" y="700"/>
                  <a:pt x="537" y="699"/>
                  <a:pt x="542" y="698"/>
                </a:cubicBezTo>
                <a:cubicBezTo>
                  <a:pt x="546" y="697"/>
                  <a:pt x="551" y="696"/>
                  <a:pt x="556" y="695"/>
                </a:cubicBezTo>
                <a:cubicBezTo>
                  <a:pt x="561" y="694"/>
                  <a:pt x="565" y="692"/>
                  <a:pt x="570" y="691"/>
                </a:cubicBezTo>
                <a:cubicBezTo>
                  <a:pt x="574" y="689"/>
                  <a:pt x="579" y="688"/>
                  <a:pt x="584" y="686"/>
                </a:cubicBezTo>
                <a:cubicBezTo>
                  <a:pt x="588" y="684"/>
                  <a:pt x="593" y="682"/>
                  <a:pt x="597" y="680"/>
                </a:cubicBezTo>
                <a:cubicBezTo>
                  <a:pt x="602" y="678"/>
                  <a:pt x="606" y="676"/>
                  <a:pt x="610" y="674"/>
                </a:cubicBezTo>
                <a:cubicBezTo>
                  <a:pt x="615" y="671"/>
                  <a:pt x="621" y="667"/>
                  <a:pt x="623" y="666"/>
                </a:cubicBezTo>
                <a:close/>
              </a:path>
            </a:pathLst>
          </a:custGeom>
          <a:solidFill>
            <a:srgbClr val="DCECF3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 rot="9720000">
            <a:off x="3726813" y="1256810"/>
            <a:ext cx="48518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Naturally staggered endothelial cell 03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8" y="744"/>
                </a:moveTo>
                <a:cubicBezTo>
                  <a:pt x="505" y="744"/>
                  <a:pt x="497" y="744"/>
                  <a:pt x="491" y="744"/>
                </a:cubicBezTo>
                <a:cubicBezTo>
                  <a:pt x="486" y="744"/>
                  <a:pt x="480" y="743"/>
                  <a:pt x="475" y="743"/>
                </a:cubicBezTo>
                <a:cubicBezTo>
                  <a:pt x="469" y="742"/>
                  <a:pt x="464" y="742"/>
                  <a:pt x="458" y="741"/>
                </a:cubicBezTo>
                <a:cubicBezTo>
                  <a:pt x="453" y="740"/>
                  <a:pt x="447" y="739"/>
                  <a:pt x="442" y="737"/>
                </a:cubicBezTo>
                <a:cubicBezTo>
                  <a:pt x="436" y="736"/>
                  <a:pt x="431" y="734"/>
                  <a:pt x="426" y="733"/>
                </a:cubicBezTo>
                <a:cubicBezTo>
                  <a:pt x="420" y="731"/>
                  <a:pt x="415" y="729"/>
                  <a:pt x="410" y="727"/>
                </a:cubicBezTo>
                <a:cubicBezTo>
                  <a:pt x="405" y="725"/>
                  <a:pt x="400" y="723"/>
                  <a:pt x="395" y="720"/>
                </a:cubicBezTo>
                <a:cubicBezTo>
                  <a:pt x="390" y="718"/>
                  <a:pt x="382" y="713"/>
                  <a:pt x="380" y="712"/>
                </a:cubicBezTo>
                <a:lnTo>
                  <a:pt x="402" y="674"/>
                </a:lnTo>
                <a:cubicBezTo>
                  <a:pt x="404" y="675"/>
                  <a:pt x="410" y="678"/>
                  <a:pt x="414" y="680"/>
                </a:cubicBezTo>
                <a:cubicBezTo>
                  <a:pt x="419" y="682"/>
                  <a:pt x="423" y="684"/>
                  <a:pt x="427" y="686"/>
                </a:cubicBezTo>
                <a:cubicBezTo>
                  <a:pt x="431" y="688"/>
                  <a:pt x="436" y="689"/>
                  <a:pt x="440" y="691"/>
                </a:cubicBezTo>
                <a:cubicBezTo>
                  <a:pt x="444" y="692"/>
                  <a:pt x="449" y="694"/>
                  <a:pt x="453" y="695"/>
                </a:cubicBezTo>
                <a:cubicBezTo>
                  <a:pt x="458" y="696"/>
                  <a:pt x="462" y="697"/>
                  <a:pt x="467" y="697"/>
                </a:cubicBezTo>
                <a:cubicBezTo>
                  <a:pt x="471" y="698"/>
                  <a:pt x="476" y="699"/>
                  <a:pt x="480" y="699"/>
                </a:cubicBezTo>
                <a:cubicBezTo>
                  <a:pt x="485" y="700"/>
                  <a:pt x="489" y="700"/>
                  <a:pt x="494" y="700"/>
                </a:cubicBezTo>
                <a:cubicBezTo>
                  <a:pt x="499" y="700"/>
                  <a:pt x="505" y="700"/>
                  <a:pt x="508" y="700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 rot="11700000">
            <a:off x="3617774" y="1260965"/>
            <a:ext cx="45252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Naturally staggered endothelial cell 04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75" y="709"/>
                </a:moveTo>
                <a:cubicBezTo>
                  <a:pt x="373" y="708"/>
                  <a:pt x="366" y="704"/>
                  <a:pt x="362" y="701"/>
                </a:cubicBezTo>
                <a:cubicBezTo>
                  <a:pt x="357" y="698"/>
                  <a:pt x="353" y="695"/>
                  <a:pt x="349" y="691"/>
                </a:cubicBezTo>
                <a:cubicBezTo>
                  <a:pt x="345" y="688"/>
                  <a:pt x="341" y="684"/>
                  <a:pt x="337" y="681"/>
                </a:cubicBezTo>
                <a:cubicBezTo>
                  <a:pt x="334" y="677"/>
                  <a:pt x="330" y="674"/>
                  <a:pt x="326" y="670"/>
                </a:cubicBezTo>
                <a:cubicBezTo>
                  <a:pt x="323" y="666"/>
                  <a:pt x="319" y="662"/>
                  <a:pt x="316" y="658"/>
                </a:cubicBezTo>
                <a:cubicBezTo>
                  <a:pt x="312" y="654"/>
                  <a:pt x="309" y="650"/>
                  <a:pt x="306" y="646"/>
                </a:cubicBezTo>
                <a:cubicBezTo>
                  <a:pt x="303" y="642"/>
                  <a:pt x="300" y="638"/>
                  <a:pt x="297" y="633"/>
                </a:cubicBezTo>
                <a:cubicBezTo>
                  <a:pt x="294" y="629"/>
                  <a:pt x="290" y="622"/>
                  <a:pt x="288" y="620"/>
                </a:cubicBezTo>
                <a:lnTo>
                  <a:pt x="327" y="598"/>
                </a:lnTo>
                <a:cubicBezTo>
                  <a:pt x="328" y="600"/>
                  <a:pt x="331" y="605"/>
                  <a:pt x="334" y="609"/>
                </a:cubicBezTo>
                <a:cubicBezTo>
                  <a:pt x="336" y="613"/>
                  <a:pt x="339" y="616"/>
                  <a:pt x="341" y="620"/>
                </a:cubicBezTo>
                <a:cubicBezTo>
                  <a:pt x="344" y="623"/>
                  <a:pt x="346" y="626"/>
                  <a:pt x="349" y="630"/>
                </a:cubicBezTo>
                <a:cubicBezTo>
                  <a:pt x="352" y="633"/>
                  <a:pt x="355" y="636"/>
                  <a:pt x="358" y="639"/>
                </a:cubicBezTo>
                <a:cubicBezTo>
                  <a:pt x="361" y="642"/>
                  <a:pt x="364" y="645"/>
                  <a:pt x="367" y="648"/>
                </a:cubicBezTo>
                <a:cubicBezTo>
                  <a:pt x="370" y="651"/>
                  <a:pt x="374" y="654"/>
                  <a:pt x="377" y="657"/>
                </a:cubicBezTo>
                <a:cubicBezTo>
                  <a:pt x="380" y="659"/>
                  <a:pt x="384" y="662"/>
                  <a:pt x="387" y="665"/>
                </a:cubicBezTo>
                <a:cubicBezTo>
                  <a:pt x="391" y="667"/>
                  <a:pt x="396" y="671"/>
                  <a:pt x="398" y="672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 rot="13560000">
            <a:off x="3529199" y="1208287"/>
            <a:ext cx="41433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Naturally staggered endothelial cell 05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83" y="616"/>
                </a:moveTo>
                <a:cubicBezTo>
                  <a:pt x="282" y="613"/>
                  <a:pt x="277" y="605"/>
                  <a:pt x="275" y="600"/>
                </a:cubicBezTo>
                <a:cubicBezTo>
                  <a:pt x="272" y="594"/>
                  <a:pt x="270" y="588"/>
                  <a:pt x="268" y="582"/>
                </a:cubicBezTo>
                <a:cubicBezTo>
                  <a:pt x="266" y="576"/>
                  <a:pt x="264" y="571"/>
                  <a:pt x="262" y="565"/>
                </a:cubicBezTo>
                <a:cubicBezTo>
                  <a:pt x="260" y="559"/>
                  <a:pt x="259" y="552"/>
                  <a:pt x="258" y="546"/>
                </a:cubicBezTo>
                <a:cubicBezTo>
                  <a:pt x="257" y="540"/>
                  <a:pt x="256" y="534"/>
                  <a:pt x="255" y="528"/>
                </a:cubicBezTo>
                <a:cubicBezTo>
                  <a:pt x="255" y="522"/>
                  <a:pt x="254" y="516"/>
                  <a:pt x="254" y="509"/>
                </a:cubicBezTo>
                <a:cubicBezTo>
                  <a:pt x="254" y="503"/>
                  <a:pt x="254" y="497"/>
                  <a:pt x="254" y="491"/>
                </a:cubicBezTo>
                <a:cubicBezTo>
                  <a:pt x="255" y="485"/>
                  <a:pt x="256" y="475"/>
                  <a:pt x="256" y="472"/>
                </a:cubicBezTo>
                <a:lnTo>
                  <a:pt x="300" y="476"/>
                </a:lnTo>
                <a:cubicBezTo>
                  <a:pt x="300" y="479"/>
                  <a:pt x="299" y="487"/>
                  <a:pt x="298" y="492"/>
                </a:cubicBezTo>
                <a:cubicBezTo>
                  <a:pt x="298" y="497"/>
                  <a:pt x="298" y="502"/>
                  <a:pt x="298" y="507"/>
                </a:cubicBezTo>
                <a:cubicBezTo>
                  <a:pt x="298" y="512"/>
                  <a:pt x="299" y="517"/>
                  <a:pt x="299" y="522"/>
                </a:cubicBezTo>
                <a:cubicBezTo>
                  <a:pt x="300" y="527"/>
                  <a:pt x="300" y="532"/>
                  <a:pt x="301" y="538"/>
                </a:cubicBezTo>
                <a:cubicBezTo>
                  <a:pt x="302" y="543"/>
                  <a:pt x="303" y="548"/>
                  <a:pt x="305" y="553"/>
                </a:cubicBezTo>
                <a:cubicBezTo>
                  <a:pt x="306" y="557"/>
                  <a:pt x="308" y="562"/>
                  <a:pt x="310" y="567"/>
                </a:cubicBezTo>
                <a:cubicBezTo>
                  <a:pt x="311" y="572"/>
                  <a:pt x="313" y="577"/>
                  <a:pt x="315" y="581"/>
                </a:cubicBezTo>
                <a:cubicBezTo>
                  <a:pt x="317" y="586"/>
                  <a:pt x="321" y="593"/>
                  <a:pt x="322" y="595"/>
                </a:cubicBezTo>
                <a:close/>
              </a:path>
            </a:pathLst>
          </a:custGeom>
          <a:solidFill>
            <a:srgbClr val="DCECF3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 rot="15510000">
            <a:off x="3476094" y="1111617"/>
            <a:ext cx="40574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Naturally staggered endothelial cell 06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7" y="467"/>
                </a:moveTo>
                <a:cubicBezTo>
                  <a:pt x="257" y="464"/>
                  <a:pt x="259" y="455"/>
                  <a:pt x="260" y="450"/>
                </a:cubicBezTo>
                <a:cubicBezTo>
                  <a:pt x="261" y="444"/>
                  <a:pt x="263" y="438"/>
                  <a:pt x="264" y="433"/>
                </a:cubicBezTo>
                <a:cubicBezTo>
                  <a:pt x="266" y="427"/>
                  <a:pt x="268" y="422"/>
                  <a:pt x="270" y="416"/>
                </a:cubicBezTo>
                <a:cubicBezTo>
                  <a:pt x="272" y="411"/>
                  <a:pt x="274" y="406"/>
                  <a:pt x="276" y="400"/>
                </a:cubicBezTo>
                <a:cubicBezTo>
                  <a:pt x="279" y="395"/>
                  <a:pt x="281" y="390"/>
                  <a:pt x="283" y="385"/>
                </a:cubicBezTo>
                <a:cubicBezTo>
                  <a:pt x="286" y="380"/>
                  <a:pt x="289" y="375"/>
                  <a:pt x="292" y="370"/>
                </a:cubicBezTo>
                <a:cubicBezTo>
                  <a:pt x="294" y="365"/>
                  <a:pt x="297" y="360"/>
                  <a:pt x="300" y="355"/>
                </a:cubicBezTo>
                <a:cubicBezTo>
                  <a:pt x="304" y="350"/>
                  <a:pt x="309" y="343"/>
                  <a:pt x="310" y="340"/>
                </a:cubicBezTo>
                <a:lnTo>
                  <a:pt x="344" y="367"/>
                </a:lnTo>
                <a:cubicBezTo>
                  <a:pt x="343" y="369"/>
                  <a:pt x="339" y="375"/>
                  <a:pt x="336" y="379"/>
                </a:cubicBezTo>
                <a:cubicBezTo>
                  <a:pt x="334" y="383"/>
                  <a:pt x="331" y="387"/>
                  <a:pt x="329" y="391"/>
                </a:cubicBezTo>
                <a:cubicBezTo>
                  <a:pt x="326" y="396"/>
                  <a:pt x="324" y="400"/>
                  <a:pt x="322" y="404"/>
                </a:cubicBezTo>
                <a:cubicBezTo>
                  <a:pt x="320" y="408"/>
                  <a:pt x="318" y="413"/>
                  <a:pt x="316" y="417"/>
                </a:cubicBezTo>
                <a:cubicBezTo>
                  <a:pt x="314" y="421"/>
                  <a:pt x="313" y="426"/>
                  <a:pt x="311" y="430"/>
                </a:cubicBezTo>
                <a:cubicBezTo>
                  <a:pt x="309" y="435"/>
                  <a:pt x="308" y="439"/>
                  <a:pt x="306" y="444"/>
                </a:cubicBezTo>
                <a:cubicBezTo>
                  <a:pt x="305" y="448"/>
                  <a:pt x="304" y="453"/>
                  <a:pt x="303" y="458"/>
                </a:cubicBezTo>
                <a:cubicBezTo>
                  <a:pt x="302" y="462"/>
                  <a:pt x="301" y="469"/>
                  <a:pt x="300" y="472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 rot="17550000">
            <a:off x="3488955" y="997316"/>
            <a:ext cx="43463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Naturally staggered endothelial cell 07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5" y="337"/>
                </a:moveTo>
                <a:cubicBezTo>
                  <a:pt x="317" y="335"/>
                  <a:pt x="322" y="329"/>
                  <a:pt x="326" y="325"/>
                </a:cubicBezTo>
                <a:cubicBezTo>
                  <a:pt x="329" y="321"/>
                  <a:pt x="333" y="317"/>
                  <a:pt x="336" y="313"/>
                </a:cubicBezTo>
                <a:cubicBezTo>
                  <a:pt x="340" y="309"/>
                  <a:pt x="344" y="305"/>
                  <a:pt x="348" y="302"/>
                </a:cubicBezTo>
                <a:cubicBezTo>
                  <a:pt x="352" y="298"/>
                  <a:pt x="356" y="294"/>
                  <a:pt x="360" y="291"/>
                </a:cubicBezTo>
                <a:cubicBezTo>
                  <a:pt x="365" y="288"/>
                  <a:pt x="369" y="284"/>
                  <a:pt x="374" y="281"/>
                </a:cubicBezTo>
                <a:cubicBezTo>
                  <a:pt x="378" y="278"/>
                  <a:pt x="383" y="275"/>
                  <a:pt x="387" y="273"/>
                </a:cubicBezTo>
                <a:cubicBezTo>
                  <a:pt x="392" y="270"/>
                  <a:pt x="397" y="267"/>
                  <a:pt x="402" y="265"/>
                </a:cubicBezTo>
                <a:cubicBezTo>
                  <a:pt x="407" y="263"/>
                  <a:pt x="415" y="259"/>
                  <a:pt x="417" y="258"/>
                </a:cubicBezTo>
                <a:lnTo>
                  <a:pt x="433" y="300"/>
                </a:lnTo>
                <a:cubicBezTo>
                  <a:pt x="431" y="301"/>
                  <a:pt x="424" y="304"/>
                  <a:pt x="420" y="306"/>
                </a:cubicBezTo>
                <a:cubicBezTo>
                  <a:pt x="416" y="308"/>
                  <a:pt x="412" y="310"/>
                  <a:pt x="408" y="312"/>
                </a:cubicBezTo>
                <a:cubicBezTo>
                  <a:pt x="405" y="314"/>
                  <a:pt x="401" y="317"/>
                  <a:pt x="397" y="319"/>
                </a:cubicBezTo>
                <a:cubicBezTo>
                  <a:pt x="393" y="322"/>
                  <a:pt x="390" y="324"/>
                  <a:pt x="386" y="327"/>
                </a:cubicBezTo>
                <a:cubicBezTo>
                  <a:pt x="383" y="330"/>
                  <a:pt x="379" y="333"/>
                  <a:pt x="376" y="336"/>
                </a:cubicBezTo>
                <a:cubicBezTo>
                  <a:pt x="373" y="339"/>
                  <a:pt x="369" y="342"/>
                  <a:pt x="366" y="345"/>
                </a:cubicBezTo>
                <a:cubicBezTo>
                  <a:pt x="363" y="348"/>
                  <a:pt x="360" y="352"/>
                  <a:pt x="357" y="355"/>
                </a:cubicBezTo>
                <a:cubicBezTo>
                  <a:pt x="354" y="358"/>
                  <a:pt x="350" y="364"/>
                  <a:pt x="349" y="365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 rot="19470000">
            <a:off x="3552984" y="911742"/>
            <a:ext cx="47445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Naturally staggered endothelial cell 08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23" y="258"/>
                </a:moveTo>
                <a:cubicBezTo>
                  <a:pt x="426" y="257"/>
                  <a:pt x="434" y="254"/>
                  <a:pt x="440" y="252"/>
                </a:cubicBezTo>
                <a:cubicBezTo>
                  <a:pt x="446" y="251"/>
                  <a:pt x="452" y="249"/>
                  <a:pt x="458" y="248"/>
                </a:cubicBezTo>
                <a:cubicBezTo>
                  <a:pt x="464" y="247"/>
                  <a:pt x="470" y="247"/>
                  <a:pt x="475" y="246"/>
                </a:cubicBezTo>
                <a:cubicBezTo>
                  <a:pt x="481" y="246"/>
                  <a:pt x="487" y="245"/>
                  <a:pt x="493" y="245"/>
                </a:cubicBezTo>
                <a:cubicBezTo>
                  <a:pt x="499" y="245"/>
                  <a:pt x="505" y="245"/>
                  <a:pt x="511" y="246"/>
                </a:cubicBezTo>
                <a:cubicBezTo>
                  <a:pt x="517" y="246"/>
                  <a:pt x="523" y="246"/>
                  <a:pt x="529" y="247"/>
                </a:cubicBezTo>
                <a:cubicBezTo>
                  <a:pt x="535" y="248"/>
                  <a:pt x="541" y="249"/>
                  <a:pt x="547" y="250"/>
                </a:cubicBezTo>
                <a:cubicBezTo>
                  <a:pt x="552" y="251"/>
                  <a:pt x="561" y="253"/>
                  <a:pt x="564" y="254"/>
                </a:cubicBezTo>
                <a:lnTo>
                  <a:pt x="554" y="297"/>
                </a:lnTo>
                <a:cubicBezTo>
                  <a:pt x="551" y="296"/>
                  <a:pt x="544" y="294"/>
                  <a:pt x="539" y="293"/>
                </a:cubicBezTo>
                <a:cubicBezTo>
                  <a:pt x="535" y="293"/>
                  <a:pt x="530" y="292"/>
                  <a:pt x="525" y="291"/>
                </a:cubicBezTo>
                <a:cubicBezTo>
                  <a:pt x="520" y="291"/>
                  <a:pt x="515" y="290"/>
                  <a:pt x="510" y="290"/>
                </a:cubicBezTo>
                <a:cubicBezTo>
                  <a:pt x="506" y="290"/>
                  <a:pt x="501" y="289"/>
                  <a:pt x="496" y="290"/>
                </a:cubicBezTo>
                <a:cubicBezTo>
                  <a:pt x="491" y="290"/>
                  <a:pt x="486" y="290"/>
                  <a:pt x="481" y="290"/>
                </a:cubicBezTo>
                <a:cubicBezTo>
                  <a:pt x="476" y="291"/>
                  <a:pt x="471" y="291"/>
                  <a:pt x="466" y="292"/>
                </a:cubicBezTo>
                <a:cubicBezTo>
                  <a:pt x="461" y="293"/>
                  <a:pt x="457" y="294"/>
                  <a:pt x="452" y="295"/>
                </a:cubicBezTo>
                <a:cubicBezTo>
                  <a:pt x="447" y="297"/>
                  <a:pt x="440" y="299"/>
                  <a:pt x="438" y="300"/>
                </a:cubicBezTo>
                <a:close/>
              </a:path>
            </a:pathLst>
          </a:custGeom>
          <a:solidFill>
            <a:srgbClr val="DCECF3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 rot="21420000">
            <a:off x="3656326" y="875984"/>
            <a:ext cx="48859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Naturally staggered endothelial cell 09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70" y="254"/>
                </a:moveTo>
                <a:cubicBezTo>
                  <a:pt x="573" y="255"/>
                  <a:pt x="582" y="257"/>
                  <a:pt x="587" y="259"/>
                </a:cubicBezTo>
                <a:cubicBezTo>
                  <a:pt x="593" y="261"/>
                  <a:pt x="599" y="264"/>
                  <a:pt x="604" y="266"/>
                </a:cubicBezTo>
                <a:cubicBezTo>
                  <a:pt x="610" y="268"/>
                  <a:pt x="616" y="271"/>
                  <a:pt x="621" y="274"/>
                </a:cubicBezTo>
                <a:cubicBezTo>
                  <a:pt x="626" y="277"/>
                  <a:pt x="632" y="280"/>
                  <a:pt x="637" y="283"/>
                </a:cubicBezTo>
                <a:cubicBezTo>
                  <a:pt x="642" y="286"/>
                  <a:pt x="647" y="289"/>
                  <a:pt x="652" y="293"/>
                </a:cubicBezTo>
                <a:cubicBezTo>
                  <a:pt x="657" y="296"/>
                  <a:pt x="662" y="300"/>
                  <a:pt x="667" y="304"/>
                </a:cubicBezTo>
                <a:cubicBezTo>
                  <a:pt x="672" y="308"/>
                  <a:pt x="676" y="312"/>
                  <a:pt x="681" y="316"/>
                </a:cubicBezTo>
                <a:cubicBezTo>
                  <a:pt x="685" y="321"/>
                  <a:pt x="691" y="327"/>
                  <a:pt x="693" y="330"/>
                </a:cubicBezTo>
                <a:lnTo>
                  <a:pt x="661" y="359"/>
                </a:lnTo>
                <a:cubicBezTo>
                  <a:pt x="659" y="357"/>
                  <a:pt x="654" y="351"/>
                  <a:pt x="650" y="348"/>
                </a:cubicBezTo>
                <a:cubicBezTo>
                  <a:pt x="647" y="344"/>
                  <a:pt x="643" y="341"/>
                  <a:pt x="639" y="338"/>
                </a:cubicBezTo>
                <a:cubicBezTo>
                  <a:pt x="635" y="334"/>
                  <a:pt x="631" y="331"/>
                  <a:pt x="627" y="328"/>
                </a:cubicBezTo>
                <a:cubicBezTo>
                  <a:pt x="623" y="325"/>
                  <a:pt x="618" y="323"/>
                  <a:pt x="614" y="320"/>
                </a:cubicBezTo>
                <a:cubicBezTo>
                  <a:pt x="610" y="317"/>
                  <a:pt x="605" y="315"/>
                  <a:pt x="601" y="313"/>
                </a:cubicBezTo>
                <a:cubicBezTo>
                  <a:pt x="596" y="310"/>
                  <a:pt x="592" y="308"/>
                  <a:pt x="587" y="306"/>
                </a:cubicBezTo>
                <a:cubicBezTo>
                  <a:pt x="583" y="304"/>
                  <a:pt x="578" y="302"/>
                  <a:pt x="573" y="301"/>
                </a:cubicBezTo>
                <a:cubicBezTo>
                  <a:pt x="568" y="299"/>
                  <a:pt x="561" y="297"/>
                  <a:pt x="559" y="296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 rot="1890000">
            <a:off x="3769974" y="905325"/>
            <a:ext cx="46404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Naturally staggered endothelial cell 10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99" y="333"/>
                </a:moveTo>
                <a:cubicBezTo>
                  <a:pt x="700" y="335"/>
                  <a:pt x="707" y="343"/>
                  <a:pt x="710" y="348"/>
                </a:cubicBezTo>
                <a:cubicBezTo>
                  <a:pt x="714" y="353"/>
                  <a:pt x="717" y="358"/>
                  <a:pt x="721" y="364"/>
                </a:cubicBezTo>
                <a:cubicBezTo>
                  <a:pt x="724" y="369"/>
                  <a:pt x="727" y="375"/>
                  <a:pt x="730" y="380"/>
                </a:cubicBezTo>
                <a:cubicBezTo>
                  <a:pt x="733" y="386"/>
                  <a:pt x="736" y="392"/>
                  <a:pt x="738" y="398"/>
                </a:cubicBezTo>
                <a:cubicBezTo>
                  <a:pt x="740" y="403"/>
                  <a:pt x="743" y="409"/>
                  <a:pt x="745" y="415"/>
                </a:cubicBezTo>
                <a:cubicBezTo>
                  <a:pt x="747" y="421"/>
                  <a:pt x="749" y="427"/>
                  <a:pt x="750" y="434"/>
                </a:cubicBezTo>
                <a:cubicBezTo>
                  <a:pt x="752" y="440"/>
                  <a:pt x="753" y="446"/>
                  <a:pt x="754" y="452"/>
                </a:cubicBezTo>
                <a:cubicBezTo>
                  <a:pt x="756" y="458"/>
                  <a:pt x="757" y="468"/>
                  <a:pt x="757" y="471"/>
                </a:cubicBezTo>
                <a:lnTo>
                  <a:pt x="714" y="475"/>
                </a:lnTo>
                <a:cubicBezTo>
                  <a:pt x="713" y="473"/>
                  <a:pt x="712" y="465"/>
                  <a:pt x="711" y="460"/>
                </a:cubicBezTo>
                <a:cubicBezTo>
                  <a:pt x="710" y="455"/>
                  <a:pt x="709" y="449"/>
                  <a:pt x="708" y="444"/>
                </a:cubicBezTo>
                <a:cubicBezTo>
                  <a:pt x="707" y="439"/>
                  <a:pt x="705" y="434"/>
                  <a:pt x="703" y="429"/>
                </a:cubicBezTo>
                <a:cubicBezTo>
                  <a:pt x="702" y="424"/>
                  <a:pt x="700" y="419"/>
                  <a:pt x="698" y="415"/>
                </a:cubicBezTo>
                <a:cubicBezTo>
                  <a:pt x="696" y="410"/>
                  <a:pt x="694" y="405"/>
                  <a:pt x="691" y="400"/>
                </a:cubicBezTo>
                <a:cubicBezTo>
                  <a:pt x="689" y="396"/>
                  <a:pt x="686" y="391"/>
                  <a:pt x="684" y="387"/>
                </a:cubicBezTo>
                <a:cubicBezTo>
                  <a:pt x="681" y="382"/>
                  <a:pt x="678" y="378"/>
                  <a:pt x="675" y="373"/>
                </a:cubicBezTo>
                <a:cubicBezTo>
                  <a:pt x="672" y="369"/>
                  <a:pt x="667" y="363"/>
                  <a:pt x="665" y="361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 rot="4020000">
            <a:off x="3851157" y="995059"/>
            <a:ext cx="42338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Anatomic lung–arteriole leader"/>
          <p:cNvSpPr/>
          <p:nvPr/>
        </p:nvSpPr>
        <p:spPr>
          <a:xfrm>
            <a:off x="4029750" y="749412"/>
            <a:ext cx="440235" cy="88938"/>
          </a:xfrm>
          <a:custGeom>
            <a:avLst/>
            <a:gdLst/>
            <a:ahLst/>
            <a:cxnLst/>
            <a:rect l="0" t="0" r="r" b="b"/>
            <a:pathLst>
              <a:path w="1035368" h="209169">
                <a:moveTo>
                  <a:pt x="1035368" y="0"/>
                </a:moveTo>
                <a:lnTo>
                  <a:pt x="0" y="209169"/>
                </a:lnTo>
              </a:path>
            </a:pathLst>
          </a:custGeom>
          <a:noFill/>
          <a:ln w="3645" cap="rnd">
            <a:solidFill>
              <a:srgbClr val="778C9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Pulmonary branch locator"/>
          <p:cNvSpPr/>
          <p:nvPr/>
        </p:nvSpPr>
        <p:spPr>
          <a:xfrm>
            <a:off x="4461885" y="741312"/>
            <a:ext cx="16200" cy="16200"/>
          </a:xfrm>
          <a:prstGeom prst="ellipse">
            <a:avLst/>
          </a:prstGeom>
          <a:solidFill>
            <a:srgbClr val="778C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vascular_remodeling"/>
          <p:cNvSpPr txBox="1"/>
          <p:nvPr/>
        </p:nvSpPr>
        <p:spPr>
          <a:xfrm>
            <a:off x="3041550" y="1636200"/>
            <a:ext cx="1433700" cy="1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50" b="1" i="0">
                <a:solidFill>
                  <a:srgbClr val="30485F"/>
                </a:solidFill>
                <a:latin typeface="Times New Roman"/>
              </a:rPr>
              <a:t>Vascular remodeling</a:t>
            </a:r>
          </a:p>
        </p:txBody>
      </p:sp>
      <p:sp>
        <p:nvSpPr>
          <p:cNvPr id="353" name="pvr_increase"/>
          <p:cNvSpPr txBox="1"/>
          <p:nvPr/>
        </p:nvSpPr>
        <p:spPr>
          <a:xfrm>
            <a:off x="3041550" y="1806300"/>
            <a:ext cx="1433700" cy="133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93" b="1" i="0">
                <a:solidFill>
                  <a:srgbClr val="30485F"/>
                </a:solidFill>
                <a:latin typeface="Times New Roman"/>
              </a:rPr>
              <a:t>PVR ↑</a:t>
            </a:r>
          </a:p>
        </p:txBody>
      </p:sp>
      <p:sp>
        <p:nvSpPr>
          <p:cNvPr id="354" name="proposed_barrier_mamp"/>
          <p:cNvSpPr/>
          <p:nvPr/>
        </p:nvSpPr>
        <p:spPr>
          <a:xfrm>
            <a:off x="2620350" y="996300"/>
            <a:ext cx="656100" cy="4050"/>
          </a:xfrm>
          <a:custGeom>
            <a:avLst/>
            <a:gdLst/>
            <a:ahLst/>
            <a:cxnLst/>
            <a:rect l="0" t="0" r="r" b="b"/>
            <a:pathLst>
              <a:path w="1543050" h="9525">
                <a:moveTo>
                  <a:pt x="0" y="9525"/>
                </a:moveTo>
                <a:cubicBezTo>
                  <a:pt x="552450" y="9525"/>
                  <a:pt x="1028700" y="0"/>
                  <a:pt x="1543050" y="0"/>
                </a:cubicBezTo>
              </a:path>
            </a:pathLst>
          </a:custGeom>
          <a:noFill/>
          <a:ln w="9112" cap="rnd">
            <a:solidFill>
              <a:srgbClr val="287A7D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proposed_barrier_mamp head"/>
          <p:cNvSpPr/>
          <p:nvPr/>
        </p:nvSpPr>
        <p:spPr>
          <a:xfrm>
            <a:off x="3235950" y="9796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95250" y="39052"/>
                </a:move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287A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proposed_metabolite"/>
          <p:cNvSpPr/>
          <p:nvPr/>
        </p:nvSpPr>
        <p:spPr>
          <a:xfrm>
            <a:off x="2640600" y="1340550"/>
            <a:ext cx="700650" cy="352350"/>
          </a:xfrm>
          <a:custGeom>
            <a:avLst/>
            <a:gdLst/>
            <a:ahLst/>
            <a:cxnLst/>
            <a:rect l="0" t="0" r="r" b="b"/>
            <a:pathLst>
              <a:path w="1647825" h="828675">
                <a:moveTo>
                  <a:pt x="0" y="828675"/>
                </a:moveTo>
                <a:cubicBezTo>
                  <a:pt x="742950" y="828675"/>
                  <a:pt x="1219200" y="819150"/>
                  <a:pt x="1409700" y="619125"/>
                </a:cubicBezTo>
                <a:cubicBezTo>
                  <a:pt x="1524000" y="476250"/>
                  <a:pt x="1581150" y="200025"/>
                  <a:pt x="1647825" y="0"/>
                </a:cubicBezTo>
              </a:path>
            </a:pathLst>
          </a:custGeom>
          <a:noFill/>
          <a:ln w="9112" cap="rnd">
            <a:solidFill>
              <a:srgbClr val="287A7D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proposed_metabolite head"/>
          <p:cNvSpPr/>
          <p:nvPr/>
        </p:nvSpPr>
        <p:spPr>
          <a:xfrm>
            <a:off x="3312690" y="1340550"/>
            <a:ext cx="31506" cy="43673"/>
          </a:xfrm>
          <a:custGeom>
            <a:avLst/>
            <a:gdLst/>
            <a:ahLst/>
            <a:cxnLst/>
            <a:rect l="0" t="0" r="r" b="b"/>
            <a:pathLst>
              <a:path w="74097" h="102712">
                <a:moveTo>
                  <a:pt x="67169" y="0"/>
                </a:moveTo>
                <a:lnTo>
                  <a:pt x="74097" y="102712"/>
                </a:lnTo>
                <a:lnTo>
                  <a:pt x="0" y="78013"/>
                </a:lnTo>
                <a:close/>
              </a:path>
            </a:pathLst>
          </a:custGeom>
          <a:solidFill>
            <a:srgbClr val="287A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aortic arch first branch"/>
          <p:cNvSpPr/>
          <p:nvPr/>
        </p:nvSpPr>
        <p:spPr>
          <a:xfrm>
            <a:off x="5435546" y="971214"/>
            <a:ext cx="80052" cy="119445"/>
          </a:xfrm>
          <a:custGeom>
            <a:avLst/>
            <a:gdLst/>
            <a:ahLst/>
            <a:cxnLst/>
            <a:rect l="0" t="0" r="r" b="b"/>
            <a:pathLst>
              <a:path w="188270" h="280916">
                <a:moveTo>
                  <a:pt x="48412" y="280916"/>
                </a:moveTo>
                <a:lnTo>
                  <a:pt x="0" y="27011"/>
                </a:lnTo>
                <a:lnTo>
                  <a:pt x="123720" y="0"/>
                </a:lnTo>
                <a:lnTo>
                  <a:pt x="188270" y="199883"/>
                </a:lnTo>
                <a:close/>
              </a:path>
            </a:pathLst>
          </a:custGeom>
          <a:gradFill rotWithShape="1">
            <a:gsLst>
              <a:gs pos="0">
                <a:srgbClr val="EEADB1"/>
              </a:gs>
              <a:gs pos="100000">
                <a:srgbClr val="D97E88"/>
              </a:gs>
            </a:gsLst>
            <a:lin ang="2100000" scaled="1"/>
          </a:gradFill>
          <a:ln w="2835" cap="rnd">
            <a:solidFill>
              <a:srgbClr val="B76B7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aortic arch second branch"/>
          <p:cNvSpPr/>
          <p:nvPr/>
        </p:nvSpPr>
        <p:spPr>
          <a:xfrm>
            <a:off x="5515598" y="964323"/>
            <a:ext cx="61754" cy="89583"/>
          </a:xfrm>
          <a:custGeom>
            <a:avLst/>
            <a:gdLst/>
            <a:ahLst/>
            <a:cxnLst/>
            <a:rect l="0" t="0" r="r" b="b"/>
            <a:pathLst>
              <a:path w="145237" h="210687">
                <a:moveTo>
                  <a:pt x="0" y="205285"/>
                </a:moveTo>
                <a:lnTo>
                  <a:pt x="26896" y="0"/>
                </a:lnTo>
                <a:lnTo>
                  <a:pt x="145237" y="5402"/>
                </a:lnTo>
                <a:lnTo>
                  <a:pt x="118341" y="210687"/>
                </a:lnTo>
                <a:close/>
              </a:path>
            </a:pathLst>
          </a:custGeom>
          <a:gradFill rotWithShape="1">
            <a:gsLst>
              <a:gs pos="0">
                <a:srgbClr val="F0B2B5"/>
              </a:gs>
              <a:gs pos="100000">
                <a:srgbClr val="DB818B"/>
              </a:gs>
            </a:gsLst>
            <a:lin ang="2100000" scaled="1"/>
          </a:gradFill>
          <a:ln w="2835" cap="rnd">
            <a:solidFill>
              <a:srgbClr val="B76B7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aortic arch third branch"/>
          <p:cNvSpPr/>
          <p:nvPr/>
        </p:nvSpPr>
        <p:spPr>
          <a:xfrm>
            <a:off x="5581926" y="973511"/>
            <a:ext cx="80052" cy="130930"/>
          </a:xfrm>
          <a:custGeom>
            <a:avLst/>
            <a:gdLst/>
            <a:ahLst/>
            <a:cxnLst/>
            <a:rect l="0" t="0" r="r" b="b"/>
            <a:pathLst>
              <a:path w="188270" h="307928">
                <a:moveTo>
                  <a:pt x="0" y="210687"/>
                </a:moveTo>
                <a:lnTo>
                  <a:pt x="69929" y="0"/>
                </a:lnTo>
                <a:lnTo>
                  <a:pt x="188270" y="21609"/>
                </a:lnTo>
                <a:lnTo>
                  <a:pt x="107583" y="307928"/>
                </a:lnTo>
                <a:close/>
              </a:path>
            </a:pathLst>
          </a:custGeom>
          <a:gradFill rotWithShape="1">
            <a:gsLst>
              <a:gs pos="0">
                <a:srgbClr val="F0B2B5"/>
              </a:gs>
              <a:gs pos="100000">
                <a:srgbClr val="DB818B"/>
              </a:gs>
            </a:gsLst>
            <a:lin ang="2100000" scaled="1"/>
          </a:gradFill>
          <a:ln w="2835" cap="rnd">
            <a:solidFill>
              <a:srgbClr val="B76B7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ascending aorta and arch"/>
          <p:cNvSpPr/>
          <p:nvPr/>
        </p:nvSpPr>
        <p:spPr>
          <a:xfrm>
            <a:off x="5360069" y="994184"/>
            <a:ext cx="327068" cy="337661"/>
          </a:xfrm>
          <a:custGeom>
            <a:avLst/>
            <a:gdLst/>
            <a:ahLst/>
            <a:cxnLst/>
            <a:rect l="0" t="0" r="r" b="b"/>
            <a:pathLst>
              <a:path w="769216" h="794129">
                <a:moveTo>
                  <a:pt x="53791" y="794129"/>
                </a:moveTo>
                <a:cubicBezTo>
                  <a:pt x="0" y="637464"/>
                  <a:pt x="5379" y="415972"/>
                  <a:pt x="102204" y="248503"/>
                </a:cubicBezTo>
                <a:cubicBezTo>
                  <a:pt x="209786" y="54022"/>
                  <a:pt x="414193" y="0"/>
                  <a:pt x="570188" y="91838"/>
                </a:cubicBezTo>
                <a:cubicBezTo>
                  <a:pt x="710045" y="162067"/>
                  <a:pt x="769216" y="307928"/>
                  <a:pt x="736941" y="464593"/>
                </a:cubicBezTo>
                <a:lnTo>
                  <a:pt x="580946" y="599649"/>
                </a:lnTo>
                <a:cubicBezTo>
                  <a:pt x="607842" y="480799"/>
                  <a:pt x="575567" y="356548"/>
                  <a:pt x="489501" y="318732"/>
                </a:cubicBezTo>
                <a:cubicBezTo>
                  <a:pt x="387298" y="275514"/>
                  <a:pt x="285094" y="351146"/>
                  <a:pt x="252819" y="448386"/>
                </a:cubicBezTo>
                <a:cubicBezTo>
                  <a:pt x="220544" y="567235"/>
                  <a:pt x="231303" y="696889"/>
                  <a:pt x="177511" y="794129"/>
                </a:cubicBezTo>
                <a:close/>
              </a:path>
            </a:pathLst>
          </a:custGeom>
          <a:gradFill rotWithShape="1">
            <a:gsLst>
              <a:gs pos="0">
                <a:srgbClr val="F5B0B1"/>
              </a:gs>
              <a:gs pos="48000">
                <a:srgbClr val="E7969C"/>
              </a:gs>
              <a:gs pos="100000">
                <a:srgbClr val="D77D88"/>
              </a:gs>
            </a:gsLst>
            <a:lin ang="2100000" scaled="1"/>
          </a:gradFill>
          <a:ln w="3442" cap="rnd">
            <a:solidFill>
              <a:srgbClr val="BB707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aortic arch highlight"/>
          <p:cNvSpPr/>
          <p:nvPr/>
        </p:nvSpPr>
        <p:spPr>
          <a:xfrm>
            <a:off x="5380654" y="1026343"/>
            <a:ext cx="267601" cy="231998"/>
          </a:xfrm>
          <a:custGeom>
            <a:avLst/>
            <a:gdLst/>
            <a:ahLst/>
            <a:cxnLst/>
            <a:rect l="0" t="0" r="r" b="b"/>
            <a:pathLst>
              <a:path w="629358" h="545626">
                <a:moveTo>
                  <a:pt x="26896" y="545626"/>
                </a:moveTo>
                <a:cubicBezTo>
                  <a:pt x="0" y="345743"/>
                  <a:pt x="86066" y="129654"/>
                  <a:pt x="274336" y="54022"/>
                </a:cubicBezTo>
                <a:cubicBezTo>
                  <a:pt x="419572" y="0"/>
                  <a:pt x="575567" y="81034"/>
                  <a:pt x="629358" y="216090"/>
                </a:cubicBezTo>
              </a:path>
            </a:pathLst>
          </a:custGeom>
          <a:noFill/>
          <a:ln w="6480" cap="rnd">
            <a:solidFill>
              <a:srgbClr val="F7C8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right pulmonary artery"/>
          <p:cNvSpPr/>
          <p:nvPr/>
        </p:nvSpPr>
        <p:spPr>
          <a:xfrm>
            <a:off x="5209114" y="1115926"/>
            <a:ext cx="98349" cy="71207"/>
          </a:xfrm>
          <a:custGeom>
            <a:avLst/>
            <a:gdLst/>
            <a:ahLst/>
            <a:cxnLst/>
            <a:rect l="0" t="0" r="r" b="b"/>
            <a:pathLst>
              <a:path w="231303" h="167469">
                <a:moveTo>
                  <a:pt x="64550" y="0"/>
                </a:moveTo>
                <a:lnTo>
                  <a:pt x="225924" y="16207"/>
                </a:lnTo>
                <a:lnTo>
                  <a:pt x="231303" y="167469"/>
                </a:lnTo>
                <a:lnTo>
                  <a:pt x="32275" y="156665"/>
                </a:lnTo>
                <a:cubicBezTo>
                  <a:pt x="0" y="129654"/>
                  <a:pt x="5379" y="32413"/>
                  <a:pt x="32275" y="0"/>
                </a:cubicBezTo>
                <a:close/>
              </a:path>
            </a:pathLst>
          </a:custGeom>
          <a:gradFill rotWithShape="1">
            <a:gsLst>
              <a:gs pos="0">
                <a:srgbClr val="B1BFDF"/>
              </a:gs>
              <a:gs pos="100000">
                <a:srgbClr val="778FBA"/>
              </a:gs>
            </a:gsLst>
            <a:lin ang="2100000" scaled="1"/>
          </a:gradFill>
          <a:ln w="3037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vessel opening"/>
          <p:cNvSpPr/>
          <p:nvPr/>
        </p:nvSpPr>
        <p:spPr>
          <a:xfrm>
            <a:off x="5209114" y="1115926"/>
            <a:ext cx="27446" cy="68910"/>
          </a:xfrm>
          <a:prstGeom prst="ellipse">
            <a:avLst/>
          </a:prstGeom>
          <a:solidFill>
            <a:srgbClr val="AFC0DD"/>
          </a:solidFill>
          <a:ln w="2632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right pulmonary vein"/>
          <p:cNvSpPr/>
          <p:nvPr/>
        </p:nvSpPr>
        <p:spPr>
          <a:xfrm>
            <a:off x="5209114" y="1230777"/>
            <a:ext cx="107498" cy="64317"/>
          </a:xfrm>
          <a:custGeom>
            <a:avLst/>
            <a:gdLst/>
            <a:ahLst/>
            <a:cxnLst/>
            <a:rect l="0" t="0" r="r" b="b"/>
            <a:pathLst>
              <a:path w="252819" h="151263">
                <a:moveTo>
                  <a:pt x="43033" y="0"/>
                </a:moveTo>
                <a:lnTo>
                  <a:pt x="252819" y="43218"/>
                </a:lnTo>
                <a:lnTo>
                  <a:pt x="225924" y="151263"/>
                </a:lnTo>
                <a:lnTo>
                  <a:pt x="21517" y="118849"/>
                </a:lnTo>
                <a:cubicBezTo>
                  <a:pt x="0" y="97240"/>
                  <a:pt x="5379" y="21609"/>
                  <a:pt x="43033" y="0"/>
                </a:cubicBezTo>
                <a:close/>
              </a:path>
            </a:pathLst>
          </a:custGeom>
          <a:gradFill rotWithShape="1">
            <a:gsLst>
              <a:gs pos="0">
                <a:srgbClr val="F1BDC0"/>
              </a:gs>
              <a:gs pos="100000">
                <a:srgbClr val="DF8D96"/>
              </a:gs>
            </a:gsLst>
            <a:lin ang="2100000" scaled="1"/>
          </a:gradFill>
          <a:ln w="2835" cap="rnd">
            <a:solidFill>
              <a:srgbClr val="BD74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left superior pulmonary vein"/>
          <p:cNvSpPr/>
          <p:nvPr/>
        </p:nvSpPr>
        <p:spPr>
          <a:xfrm>
            <a:off x="5753466" y="1219292"/>
            <a:ext cx="91487" cy="71207"/>
          </a:xfrm>
          <a:custGeom>
            <a:avLst/>
            <a:gdLst/>
            <a:ahLst/>
            <a:cxnLst/>
            <a:rect l="0" t="0" r="r" b="b"/>
            <a:pathLst>
              <a:path w="215165" h="167469">
                <a:moveTo>
                  <a:pt x="0" y="32413"/>
                </a:moveTo>
                <a:lnTo>
                  <a:pt x="161374" y="0"/>
                </a:lnTo>
                <a:cubicBezTo>
                  <a:pt x="204407" y="10804"/>
                  <a:pt x="215165" y="97240"/>
                  <a:pt x="182890" y="124251"/>
                </a:cubicBezTo>
                <a:lnTo>
                  <a:pt x="37654" y="167469"/>
                </a:lnTo>
                <a:close/>
              </a:path>
            </a:pathLst>
          </a:custGeom>
          <a:gradFill rotWithShape="1">
            <a:gsLst>
              <a:gs pos="0">
                <a:srgbClr val="F4BCC0"/>
              </a:gs>
              <a:gs pos="100000">
                <a:srgbClr val="DB858E"/>
              </a:gs>
            </a:gsLst>
            <a:lin ang="2100000" scaled="1"/>
          </a:gradFill>
          <a:ln w="2835" cap="rnd">
            <a:solidFill>
              <a:srgbClr val="BC727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left inferior pulmonary vein"/>
          <p:cNvSpPr/>
          <p:nvPr/>
        </p:nvSpPr>
        <p:spPr>
          <a:xfrm>
            <a:off x="5771763" y="1304281"/>
            <a:ext cx="93775" cy="55128"/>
          </a:xfrm>
          <a:custGeom>
            <a:avLst/>
            <a:gdLst/>
            <a:ahLst/>
            <a:cxnLst/>
            <a:rect l="0" t="0" r="r" b="b"/>
            <a:pathLst>
              <a:path w="220544" h="129654">
                <a:moveTo>
                  <a:pt x="0" y="5402"/>
                </a:moveTo>
                <a:lnTo>
                  <a:pt x="188270" y="0"/>
                </a:lnTo>
                <a:cubicBezTo>
                  <a:pt x="220544" y="27011"/>
                  <a:pt x="220544" y="102643"/>
                  <a:pt x="188270" y="124251"/>
                </a:cubicBezTo>
                <a:lnTo>
                  <a:pt x="16137" y="129654"/>
                </a:lnTo>
                <a:close/>
              </a:path>
            </a:pathLst>
          </a:custGeom>
          <a:gradFill rotWithShape="1">
            <a:gsLst>
              <a:gs pos="0">
                <a:srgbClr val="F4BCC0"/>
              </a:gs>
              <a:gs pos="100000">
                <a:srgbClr val="DB858E"/>
              </a:gs>
            </a:gsLst>
            <a:lin ang="2100000" scaled="1"/>
          </a:gradFill>
          <a:ln w="2835" cap="rnd">
            <a:solidFill>
              <a:srgbClr val="BC727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superior vena cava"/>
          <p:cNvSpPr/>
          <p:nvPr/>
        </p:nvSpPr>
        <p:spPr>
          <a:xfrm>
            <a:off x="5264007" y="1003372"/>
            <a:ext cx="155529" cy="372117"/>
          </a:xfrm>
          <a:custGeom>
            <a:avLst/>
            <a:gdLst/>
            <a:ahLst/>
            <a:cxnLst/>
            <a:rect l="0" t="0" r="r" b="b"/>
            <a:pathLst>
              <a:path w="365781" h="875163">
                <a:moveTo>
                  <a:pt x="91445" y="16207"/>
                </a:moveTo>
                <a:cubicBezTo>
                  <a:pt x="91445" y="0"/>
                  <a:pt x="263577" y="0"/>
                  <a:pt x="285094" y="16207"/>
                </a:cubicBezTo>
                <a:lnTo>
                  <a:pt x="285094" y="426777"/>
                </a:lnTo>
                <a:cubicBezTo>
                  <a:pt x="290473" y="578040"/>
                  <a:pt x="333506" y="659073"/>
                  <a:pt x="365781" y="756313"/>
                </a:cubicBezTo>
                <a:lnTo>
                  <a:pt x="182890" y="875163"/>
                </a:lnTo>
                <a:lnTo>
                  <a:pt x="0" y="718498"/>
                </a:lnTo>
                <a:cubicBezTo>
                  <a:pt x="59170" y="599649"/>
                  <a:pt x="80687" y="453788"/>
                  <a:pt x="86066" y="307928"/>
                </a:cubicBezTo>
                <a:close/>
              </a:path>
            </a:pathLst>
          </a:custGeom>
          <a:gradFill rotWithShape="1">
            <a:gsLst>
              <a:gs pos="0">
                <a:srgbClr val="B6C5E1"/>
              </a:gs>
              <a:gs pos="55000">
                <a:srgbClr val="94ABD1"/>
              </a:gs>
              <a:gs pos="100000">
                <a:srgbClr val="728EBB"/>
              </a:gs>
            </a:gsLst>
            <a:lin ang="2100000" scaled="1"/>
          </a:gradFill>
          <a:ln w="3240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vessel opening"/>
          <p:cNvSpPr/>
          <p:nvPr/>
        </p:nvSpPr>
        <p:spPr>
          <a:xfrm>
            <a:off x="5302889" y="996481"/>
            <a:ext cx="82339" cy="27564"/>
          </a:xfrm>
          <a:prstGeom prst="ellipse">
            <a:avLst/>
          </a:prstGeom>
          <a:solidFill>
            <a:srgbClr val="A5B9DA"/>
          </a:solidFill>
          <a:ln w="2835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vessel opening"/>
          <p:cNvSpPr/>
          <p:nvPr/>
        </p:nvSpPr>
        <p:spPr>
          <a:xfrm>
            <a:off x="5312038" y="1001075"/>
            <a:ext cx="66329" cy="16079"/>
          </a:xfrm>
          <a:prstGeom prst="ellipse">
            <a:avLst/>
          </a:prstGeom>
          <a:solidFill>
            <a:srgbClr val="6E8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vena cava highlight"/>
          <p:cNvSpPr/>
          <p:nvPr/>
        </p:nvSpPr>
        <p:spPr>
          <a:xfrm>
            <a:off x="5291453" y="1044719"/>
            <a:ext cx="29734" cy="238890"/>
          </a:xfrm>
          <a:custGeom>
            <a:avLst/>
            <a:gdLst/>
            <a:ahLst/>
            <a:cxnLst/>
            <a:rect l="0" t="0" r="r" b="b"/>
            <a:pathLst>
              <a:path w="69929" h="561833">
                <a:moveTo>
                  <a:pt x="69929" y="0"/>
                </a:moveTo>
                <a:lnTo>
                  <a:pt x="59170" y="243101"/>
                </a:lnTo>
                <a:cubicBezTo>
                  <a:pt x="53791" y="394363"/>
                  <a:pt x="32275" y="480799"/>
                  <a:pt x="0" y="561833"/>
                </a:cubicBezTo>
              </a:path>
            </a:pathLst>
          </a:custGeom>
          <a:noFill/>
          <a:ln w="6480" cap="rnd">
            <a:solidFill>
              <a:srgbClr val="CDD8E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inferior vena cava"/>
          <p:cNvSpPr/>
          <p:nvPr/>
        </p:nvSpPr>
        <p:spPr>
          <a:xfrm>
            <a:off x="5247997" y="1573032"/>
            <a:ext cx="98349" cy="312394"/>
          </a:xfrm>
          <a:custGeom>
            <a:avLst/>
            <a:gdLst/>
            <a:ahLst/>
            <a:cxnLst/>
            <a:rect l="0" t="0" r="r" b="b"/>
            <a:pathLst>
              <a:path w="231303" h="734704">
                <a:moveTo>
                  <a:pt x="26896" y="0"/>
                </a:moveTo>
                <a:cubicBezTo>
                  <a:pt x="10758" y="199883"/>
                  <a:pt x="0" y="448386"/>
                  <a:pt x="16137" y="718498"/>
                </a:cubicBezTo>
                <a:lnTo>
                  <a:pt x="215165" y="734704"/>
                </a:lnTo>
                <a:cubicBezTo>
                  <a:pt x="215165" y="502408"/>
                  <a:pt x="199028" y="302525"/>
                  <a:pt x="231303" y="97240"/>
                </a:cubicBezTo>
                <a:close/>
              </a:path>
            </a:pathLst>
          </a:custGeom>
          <a:gradFill rotWithShape="1">
            <a:gsLst>
              <a:gs pos="0">
                <a:srgbClr val="AEC0DF"/>
              </a:gs>
              <a:gs pos="60000">
                <a:srgbClr val="8BA2CB"/>
              </a:gs>
              <a:gs pos="100000">
                <a:srgbClr val="6C88B6"/>
              </a:gs>
            </a:gsLst>
            <a:lin ang="2100000" scaled="1"/>
          </a:gradFill>
          <a:ln w="3442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vessel opening"/>
          <p:cNvSpPr/>
          <p:nvPr/>
        </p:nvSpPr>
        <p:spPr>
          <a:xfrm>
            <a:off x="5254858" y="1867050"/>
            <a:ext cx="84626" cy="27564"/>
          </a:xfrm>
          <a:prstGeom prst="ellipse">
            <a:avLst/>
          </a:prstGeom>
          <a:solidFill>
            <a:srgbClr val="7D97C3"/>
          </a:solidFill>
          <a:ln w="2632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heart myocardium outline"/>
          <p:cNvSpPr/>
          <p:nvPr/>
        </p:nvSpPr>
        <p:spPr>
          <a:xfrm>
            <a:off x="5183955" y="1219292"/>
            <a:ext cx="745624" cy="758015"/>
          </a:xfrm>
          <a:custGeom>
            <a:avLst/>
            <a:gdLst/>
            <a:ahLst/>
            <a:cxnLst/>
            <a:rect l="0" t="0" r="r" b="b"/>
            <a:pathLst>
              <a:path w="1753597" h="1782739">
                <a:moveTo>
                  <a:pt x="527155" y="189078"/>
                </a:moveTo>
                <a:cubicBezTo>
                  <a:pt x="387298" y="113447"/>
                  <a:pt x="252819" y="162067"/>
                  <a:pt x="161374" y="270112"/>
                </a:cubicBezTo>
                <a:cubicBezTo>
                  <a:pt x="43033" y="399766"/>
                  <a:pt x="0" y="551028"/>
                  <a:pt x="32275" y="707693"/>
                </a:cubicBezTo>
                <a:cubicBezTo>
                  <a:pt x="53791" y="810336"/>
                  <a:pt x="86066" y="869760"/>
                  <a:pt x="107583" y="956196"/>
                </a:cubicBezTo>
                <a:cubicBezTo>
                  <a:pt x="155995" y="1172286"/>
                  <a:pt x="344264" y="1350560"/>
                  <a:pt x="580946" y="1496420"/>
                </a:cubicBezTo>
                <a:cubicBezTo>
                  <a:pt x="833765" y="1647683"/>
                  <a:pt x="1118860" y="1777337"/>
                  <a:pt x="1371679" y="1777337"/>
                </a:cubicBezTo>
                <a:cubicBezTo>
                  <a:pt x="1576086" y="1782739"/>
                  <a:pt x="1705185" y="1642281"/>
                  <a:pt x="1726701" y="1436996"/>
                </a:cubicBezTo>
                <a:cubicBezTo>
                  <a:pt x="1753597" y="1183090"/>
                  <a:pt x="1689048" y="880565"/>
                  <a:pt x="1565327" y="680682"/>
                </a:cubicBezTo>
                <a:cubicBezTo>
                  <a:pt x="1490020" y="561833"/>
                  <a:pt x="1446987" y="497006"/>
                  <a:pt x="1441607" y="372754"/>
                </a:cubicBezTo>
                <a:cubicBezTo>
                  <a:pt x="1436228" y="194481"/>
                  <a:pt x="1371679" y="64827"/>
                  <a:pt x="1231821" y="37816"/>
                </a:cubicBezTo>
                <a:cubicBezTo>
                  <a:pt x="1081206" y="0"/>
                  <a:pt x="968244" y="102643"/>
                  <a:pt x="898315" y="210687"/>
                </a:cubicBezTo>
                <a:cubicBezTo>
                  <a:pt x="790732" y="178274"/>
                  <a:pt x="650875" y="172872"/>
                  <a:pt x="527155" y="189078"/>
                </a:cubicBezTo>
                <a:close/>
              </a:path>
            </a:pathLst>
          </a:custGeom>
          <a:gradFill rotWithShape="1">
            <a:gsLst>
              <a:gs pos="0">
                <a:srgbClr val="F9D2D0"/>
              </a:gs>
              <a:gs pos="52000">
                <a:srgbClr val="EFA6AE"/>
              </a:gs>
              <a:gs pos="100000">
                <a:srgbClr val="DC8D98"/>
              </a:gs>
            </a:gsLst>
            <a:lin ang="2100000" scaled="1"/>
          </a:gradFill>
          <a:ln w="3847" cap="rnd">
            <a:solidFill>
              <a:srgbClr val="BE767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left ventricular muscle wall"/>
          <p:cNvSpPr/>
          <p:nvPr/>
        </p:nvSpPr>
        <p:spPr>
          <a:xfrm>
            <a:off x="5527034" y="1409944"/>
            <a:ext cx="361376" cy="516828"/>
          </a:xfrm>
          <a:custGeom>
            <a:avLst/>
            <a:gdLst/>
            <a:ahLst/>
            <a:cxnLst/>
            <a:rect l="0" t="0" r="r" b="b"/>
            <a:pathLst>
              <a:path w="849903" h="1215504">
                <a:moveTo>
                  <a:pt x="91445" y="0"/>
                </a:moveTo>
                <a:cubicBezTo>
                  <a:pt x="0" y="237699"/>
                  <a:pt x="64550" y="518615"/>
                  <a:pt x="199028" y="783325"/>
                </a:cubicBezTo>
                <a:cubicBezTo>
                  <a:pt x="311990" y="1004816"/>
                  <a:pt x="424951" y="1139872"/>
                  <a:pt x="564809" y="1215504"/>
                </a:cubicBezTo>
                <a:cubicBezTo>
                  <a:pt x="742320" y="1204699"/>
                  <a:pt x="844524" y="1064241"/>
                  <a:pt x="844524" y="880565"/>
                </a:cubicBezTo>
                <a:cubicBezTo>
                  <a:pt x="849903" y="626660"/>
                  <a:pt x="769216" y="345743"/>
                  <a:pt x="634738" y="156665"/>
                </a:cubicBezTo>
                <a:lnTo>
                  <a:pt x="586325" y="54022"/>
                </a:lnTo>
                <a:cubicBezTo>
                  <a:pt x="484122" y="75631"/>
                  <a:pt x="268957" y="32413"/>
                  <a:pt x="91445" y="0"/>
                </a:cubicBezTo>
                <a:close/>
              </a:path>
            </a:pathLst>
          </a:custGeom>
          <a:gradFill rotWithShape="1">
            <a:gsLst>
              <a:gs pos="0">
                <a:srgbClr val="FBE0D9"/>
              </a:gs>
              <a:gs pos="50000">
                <a:srgbClr val="F1B4B8"/>
              </a:gs>
              <a:gs pos="100000">
                <a:srgbClr val="E69BA6"/>
              </a:gs>
            </a:gsLst>
            <a:lin ang="21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right atrial cavity"/>
          <p:cNvSpPr/>
          <p:nvPr/>
        </p:nvSpPr>
        <p:spPr>
          <a:xfrm>
            <a:off x="5206827" y="1290499"/>
            <a:ext cx="226432" cy="257266"/>
          </a:xfrm>
          <a:custGeom>
            <a:avLst/>
            <a:gdLst/>
            <a:ahLst/>
            <a:cxnLst/>
            <a:rect l="0" t="0" r="r" b="b"/>
            <a:pathLst>
              <a:path w="532534" h="605051">
                <a:moveTo>
                  <a:pt x="424951" y="59425"/>
                </a:moveTo>
                <a:cubicBezTo>
                  <a:pt x="301231" y="0"/>
                  <a:pt x="188270" y="70229"/>
                  <a:pt x="102204" y="178274"/>
                </a:cubicBezTo>
                <a:cubicBezTo>
                  <a:pt x="16137" y="280916"/>
                  <a:pt x="0" y="426777"/>
                  <a:pt x="53791" y="529419"/>
                </a:cubicBezTo>
                <a:cubicBezTo>
                  <a:pt x="80687" y="578040"/>
                  <a:pt x="118341" y="605051"/>
                  <a:pt x="172132" y="605051"/>
                </a:cubicBezTo>
                <a:cubicBezTo>
                  <a:pt x="290473" y="561833"/>
                  <a:pt x="403435" y="480799"/>
                  <a:pt x="467985" y="361950"/>
                </a:cubicBezTo>
                <a:cubicBezTo>
                  <a:pt x="527155" y="259307"/>
                  <a:pt x="532534" y="151263"/>
                  <a:pt x="424951" y="59425"/>
                </a:cubicBezTo>
                <a:close/>
              </a:path>
            </a:pathLst>
          </a:custGeom>
          <a:gradFill rotWithShape="1">
            <a:gsLst>
              <a:gs pos="0">
                <a:srgbClr val="B2C1DD"/>
              </a:gs>
              <a:gs pos="50000">
                <a:srgbClr val="8BA3CD"/>
              </a:gs>
              <a:gs pos="100000">
                <a:srgbClr val="708BBA"/>
              </a:gs>
            </a:gsLst>
            <a:lin ang="2100000" scaled="1"/>
          </a:gradFill>
          <a:ln w="3037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right atrial rim highlight"/>
          <p:cNvSpPr/>
          <p:nvPr/>
        </p:nvSpPr>
        <p:spPr>
          <a:xfrm>
            <a:off x="5257145" y="1329548"/>
            <a:ext cx="91487" cy="62019"/>
          </a:xfrm>
          <a:custGeom>
            <a:avLst/>
            <a:gdLst/>
            <a:ahLst/>
            <a:cxnLst/>
            <a:rect l="0" t="0" r="r" b="b"/>
            <a:pathLst>
              <a:path w="215165" h="145860">
                <a:moveTo>
                  <a:pt x="0" y="145860"/>
                </a:moveTo>
                <a:cubicBezTo>
                  <a:pt x="37654" y="54022"/>
                  <a:pt x="129099" y="0"/>
                  <a:pt x="215165" y="0"/>
                </a:cubicBezTo>
              </a:path>
            </a:pathLst>
          </a:custGeom>
          <a:noFill/>
          <a:ln w="4455" cap="rnd">
            <a:solidFill>
              <a:srgbClr val="CAD6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left atrial cavity"/>
          <p:cNvSpPr/>
          <p:nvPr/>
        </p:nvSpPr>
        <p:spPr>
          <a:xfrm>
            <a:off x="5584214" y="1246856"/>
            <a:ext cx="189837" cy="183761"/>
          </a:xfrm>
          <a:custGeom>
            <a:avLst/>
            <a:gdLst/>
            <a:ahLst/>
            <a:cxnLst/>
            <a:rect l="0" t="0" r="r" b="b"/>
            <a:pathLst>
              <a:path w="446468" h="432179">
                <a:moveTo>
                  <a:pt x="32275" y="151263"/>
                </a:moveTo>
                <a:cubicBezTo>
                  <a:pt x="69929" y="43218"/>
                  <a:pt x="188270" y="0"/>
                  <a:pt x="290473" y="32413"/>
                </a:cubicBezTo>
                <a:cubicBezTo>
                  <a:pt x="403435" y="70229"/>
                  <a:pt x="446468" y="172872"/>
                  <a:pt x="441089" y="286319"/>
                </a:cubicBezTo>
                <a:cubicBezTo>
                  <a:pt x="430331" y="378157"/>
                  <a:pt x="344264" y="432179"/>
                  <a:pt x="242061" y="421375"/>
                </a:cubicBezTo>
                <a:cubicBezTo>
                  <a:pt x="129099" y="410570"/>
                  <a:pt x="32275" y="361950"/>
                  <a:pt x="10758" y="264710"/>
                </a:cubicBezTo>
                <a:cubicBezTo>
                  <a:pt x="0" y="226894"/>
                  <a:pt x="10758" y="189078"/>
                  <a:pt x="32275" y="151263"/>
                </a:cubicBezTo>
                <a:close/>
              </a:path>
            </a:pathLst>
          </a:custGeom>
          <a:gradFill rotWithShape="1">
            <a:gsLst>
              <a:gs pos="0">
                <a:srgbClr val="F2B8BA"/>
              </a:gs>
              <a:gs pos="50000">
                <a:srgbClr val="DF929B"/>
              </a:gs>
              <a:gs pos="100000">
                <a:srgbClr val="CE7885"/>
              </a:gs>
            </a:gsLst>
            <a:lin ang="2100000" scaled="1"/>
          </a:gradFill>
          <a:ln w="3037" cap="rnd">
            <a:solidFill>
              <a:srgbClr val="BD71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left atrial rim highlight"/>
          <p:cNvSpPr/>
          <p:nvPr/>
        </p:nvSpPr>
        <p:spPr>
          <a:xfrm>
            <a:off x="5616234" y="1269826"/>
            <a:ext cx="98349" cy="36752"/>
          </a:xfrm>
          <a:custGeom>
            <a:avLst/>
            <a:gdLst/>
            <a:ahLst/>
            <a:cxnLst/>
            <a:rect l="0" t="0" r="r" b="b"/>
            <a:pathLst>
              <a:path w="231303" h="86436">
                <a:moveTo>
                  <a:pt x="0" y="86436"/>
                </a:moveTo>
                <a:cubicBezTo>
                  <a:pt x="53791" y="16207"/>
                  <a:pt x="166753" y="0"/>
                  <a:pt x="231303" y="37816"/>
                </a:cubicBezTo>
              </a:path>
            </a:pathLst>
          </a:custGeom>
          <a:noFill/>
          <a:ln w="3847" cap="rnd">
            <a:solidFill>
              <a:srgbClr val="F7CA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interventricular septal myocardium"/>
          <p:cNvSpPr/>
          <p:nvPr/>
        </p:nvSpPr>
        <p:spPr>
          <a:xfrm>
            <a:off x="5501875" y="1375489"/>
            <a:ext cx="258453" cy="546690"/>
          </a:xfrm>
          <a:custGeom>
            <a:avLst/>
            <a:gdLst/>
            <a:ahLst/>
            <a:cxnLst/>
            <a:rect l="0" t="0" r="r" b="b"/>
            <a:pathLst>
              <a:path w="607842" h="1285733">
                <a:moveTo>
                  <a:pt x="75308" y="0"/>
                </a:moveTo>
                <a:cubicBezTo>
                  <a:pt x="5379" y="156665"/>
                  <a:pt x="0" y="329537"/>
                  <a:pt x="53791" y="497006"/>
                </a:cubicBezTo>
                <a:cubicBezTo>
                  <a:pt x="129099" y="734704"/>
                  <a:pt x="252819" y="967001"/>
                  <a:pt x="408814" y="1134470"/>
                </a:cubicBezTo>
                <a:cubicBezTo>
                  <a:pt x="467985" y="1199297"/>
                  <a:pt x="532534" y="1247917"/>
                  <a:pt x="607842" y="1285733"/>
                </a:cubicBezTo>
                <a:cubicBezTo>
                  <a:pt x="457226" y="1150677"/>
                  <a:pt x="365781" y="961599"/>
                  <a:pt x="279715" y="745509"/>
                </a:cubicBezTo>
                <a:cubicBezTo>
                  <a:pt x="204407" y="540224"/>
                  <a:pt x="172132" y="345743"/>
                  <a:pt x="209786" y="183676"/>
                </a:cubicBezTo>
                <a:lnTo>
                  <a:pt x="258198" y="64827"/>
                </a:lnTo>
                <a:close/>
              </a:path>
            </a:pathLst>
          </a:custGeom>
          <a:gradFill rotWithShape="1">
            <a:gsLst>
              <a:gs pos="0">
                <a:srgbClr val="FFEAE1"/>
              </a:gs>
              <a:gs pos="55000">
                <a:srgbClr val="F6C4C3"/>
              </a:gs>
              <a:gs pos="100000">
                <a:srgbClr val="EDA8AF"/>
              </a:gs>
            </a:gsLst>
            <a:lin ang="2100000" scaled="1"/>
          </a:gradFill>
          <a:ln w="2227" cap="rnd">
            <a:solidFill>
              <a:srgbClr val="DC9AA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right ventricular cavity"/>
          <p:cNvSpPr/>
          <p:nvPr/>
        </p:nvSpPr>
        <p:spPr>
          <a:xfrm>
            <a:off x="5254858" y="1393865"/>
            <a:ext cx="381961" cy="484670"/>
          </a:xfrm>
          <a:custGeom>
            <a:avLst/>
            <a:gdLst/>
            <a:ahLst/>
            <a:cxnLst/>
            <a:rect l="0" t="0" r="r" b="b"/>
            <a:pathLst>
              <a:path w="898315" h="1139872">
                <a:moveTo>
                  <a:pt x="311990" y="221492"/>
                </a:moveTo>
                <a:cubicBezTo>
                  <a:pt x="225924" y="270112"/>
                  <a:pt x="134478" y="302525"/>
                  <a:pt x="69929" y="383559"/>
                </a:cubicBezTo>
                <a:cubicBezTo>
                  <a:pt x="0" y="469995"/>
                  <a:pt x="37654" y="594246"/>
                  <a:pt x="123720" y="686084"/>
                </a:cubicBezTo>
                <a:cubicBezTo>
                  <a:pt x="263577" y="842749"/>
                  <a:pt x="467985" y="983207"/>
                  <a:pt x="683150" y="1075046"/>
                </a:cubicBezTo>
                <a:cubicBezTo>
                  <a:pt x="763837" y="1107459"/>
                  <a:pt x="839145" y="1139872"/>
                  <a:pt x="898315" y="1129068"/>
                </a:cubicBezTo>
                <a:cubicBezTo>
                  <a:pt x="871419" y="1053437"/>
                  <a:pt x="817628" y="961599"/>
                  <a:pt x="753079" y="858956"/>
                </a:cubicBezTo>
                <a:cubicBezTo>
                  <a:pt x="661633" y="702291"/>
                  <a:pt x="570188" y="507810"/>
                  <a:pt x="543292" y="378157"/>
                </a:cubicBezTo>
                <a:cubicBezTo>
                  <a:pt x="521776" y="264710"/>
                  <a:pt x="554051" y="183676"/>
                  <a:pt x="586325" y="97240"/>
                </a:cubicBezTo>
                <a:cubicBezTo>
                  <a:pt x="591705" y="43218"/>
                  <a:pt x="516397" y="0"/>
                  <a:pt x="462605" y="37816"/>
                </a:cubicBezTo>
                <a:cubicBezTo>
                  <a:pt x="414193" y="86436"/>
                  <a:pt x="414193" y="156665"/>
                  <a:pt x="371160" y="199883"/>
                </a:cubicBezTo>
                <a:close/>
              </a:path>
            </a:pathLst>
          </a:custGeom>
          <a:gradFill rotWithShape="1">
            <a:gsLst>
              <a:gs pos="0">
                <a:srgbClr val="BDCEE5"/>
              </a:gs>
              <a:gs pos="45000">
                <a:srgbClr val="92ABD2"/>
              </a:gs>
              <a:gs pos="100000">
                <a:srgbClr val="6E8BBA"/>
              </a:gs>
            </a:gsLst>
            <a:lin ang="2100000" scaled="1"/>
          </a:gradFill>
          <a:ln w="3037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left ventricular cavity"/>
          <p:cNvSpPr/>
          <p:nvPr/>
        </p:nvSpPr>
        <p:spPr>
          <a:xfrm>
            <a:off x="5600224" y="1437508"/>
            <a:ext cx="224145" cy="411166"/>
          </a:xfrm>
          <a:custGeom>
            <a:avLst/>
            <a:gdLst/>
            <a:ahLst/>
            <a:cxnLst/>
            <a:rect l="0" t="0" r="r" b="b"/>
            <a:pathLst>
              <a:path w="527155" h="967001">
                <a:moveTo>
                  <a:pt x="86066" y="37816"/>
                </a:moveTo>
                <a:cubicBezTo>
                  <a:pt x="0" y="167469"/>
                  <a:pt x="26896" y="351146"/>
                  <a:pt x="80687" y="513213"/>
                </a:cubicBezTo>
                <a:cubicBezTo>
                  <a:pt x="155995" y="729302"/>
                  <a:pt x="263577" y="902174"/>
                  <a:pt x="376539" y="967001"/>
                </a:cubicBezTo>
                <a:cubicBezTo>
                  <a:pt x="451847" y="956196"/>
                  <a:pt x="511018" y="853554"/>
                  <a:pt x="516397" y="745509"/>
                </a:cubicBezTo>
                <a:cubicBezTo>
                  <a:pt x="527155" y="545626"/>
                  <a:pt x="462605" y="286319"/>
                  <a:pt x="376539" y="129654"/>
                </a:cubicBezTo>
                <a:cubicBezTo>
                  <a:pt x="333506" y="48620"/>
                  <a:pt x="268957" y="0"/>
                  <a:pt x="193649" y="5402"/>
                </a:cubicBezTo>
                <a:cubicBezTo>
                  <a:pt x="155995" y="5402"/>
                  <a:pt x="123720" y="16207"/>
                  <a:pt x="86066" y="37816"/>
                </a:cubicBezTo>
                <a:close/>
              </a:path>
            </a:pathLst>
          </a:custGeom>
          <a:gradFill rotWithShape="1">
            <a:gsLst>
              <a:gs pos="0">
                <a:srgbClr val="F0AEB2"/>
              </a:gs>
              <a:gs pos="40000">
                <a:srgbClr val="DF939D"/>
              </a:gs>
              <a:gs pos="100000">
                <a:srgbClr val="C77181"/>
              </a:gs>
            </a:gsLst>
            <a:lin ang="2100000" scaled="1"/>
          </a:gradFill>
          <a:ln w="3037" cap="rnd">
            <a:solidFill>
              <a:srgbClr val="B566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pulmonary trunk"/>
          <p:cNvSpPr/>
          <p:nvPr/>
        </p:nvSpPr>
        <p:spPr>
          <a:xfrm>
            <a:off x="5412674" y="1122817"/>
            <a:ext cx="343079" cy="296315"/>
          </a:xfrm>
          <a:custGeom>
            <a:avLst/>
            <a:gdLst/>
            <a:ahLst/>
            <a:cxnLst/>
            <a:rect l="0" t="0" r="r" b="b"/>
            <a:pathLst>
              <a:path w="806870" h="696889">
                <a:moveTo>
                  <a:pt x="0" y="594246"/>
                </a:moveTo>
                <a:cubicBezTo>
                  <a:pt x="43033" y="453788"/>
                  <a:pt x="96824" y="318732"/>
                  <a:pt x="199028" y="210687"/>
                </a:cubicBezTo>
                <a:cubicBezTo>
                  <a:pt x="328127" y="70229"/>
                  <a:pt x="527155" y="21609"/>
                  <a:pt x="779974" y="0"/>
                </a:cubicBezTo>
                <a:lnTo>
                  <a:pt x="806870" y="145860"/>
                </a:lnTo>
                <a:cubicBezTo>
                  <a:pt x="613221" y="151263"/>
                  <a:pt x="467985" y="194481"/>
                  <a:pt x="371160" y="291721"/>
                </a:cubicBezTo>
                <a:cubicBezTo>
                  <a:pt x="274336" y="388961"/>
                  <a:pt x="231303" y="497006"/>
                  <a:pt x="220544" y="615855"/>
                </a:cubicBezTo>
                <a:lnTo>
                  <a:pt x="139857" y="696889"/>
                </a:lnTo>
                <a:lnTo>
                  <a:pt x="43033" y="696889"/>
                </a:lnTo>
                <a:close/>
              </a:path>
            </a:pathLst>
          </a:custGeom>
          <a:gradFill rotWithShape="1">
            <a:gsLst>
              <a:gs pos="0">
                <a:srgbClr val="BDCAE3"/>
              </a:gs>
              <a:gs pos="50000">
                <a:srgbClr val="9BAED2"/>
              </a:gs>
              <a:gs pos="100000">
                <a:srgbClr val="7D95C1"/>
              </a:gs>
            </a:gsLst>
            <a:lin ang="2100000" scaled="1"/>
          </a:gradFill>
          <a:ln w="3240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vessel opening"/>
          <p:cNvSpPr/>
          <p:nvPr/>
        </p:nvSpPr>
        <p:spPr>
          <a:xfrm>
            <a:off x="5732881" y="1120520"/>
            <a:ext cx="29734" cy="66613"/>
          </a:xfrm>
          <a:prstGeom prst="ellipse">
            <a:avLst/>
          </a:prstGeom>
          <a:solidFill>
            <a:srgbClr val="A8BCDC"/>
          </a:solidFill>
          <a:ln w="2835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vessel opening"/>
          <p:cNvSpPr/>
          <p:nvPr/>
        </p:nvSpPr>
        <p:spPr>
          <a:xfrm>
            <a:off x="5742030" y="1129708"/>
            <a:ext cx="13723" cy="48237"/>
          </a:xfrm>
          <a:prstGeom prst="ellipse">
            <a:avLst/>
          </a:prstGeom>
          <a:solidFill>
            <a:srgbClr val="7C97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pulmonary trunk highlight"/>
          <p:cNvSpPr/>
          <p:nvPr/>
        </p:nvSpPr>
        <p:spPr>
          <a:xfrm>
            <a:off x="5506449" y="1154975"/>
            <a:ext cx="210421" cy="87287"/>
          </a:xfrm>
          <a:custGeom>
            <a:avLst/>
            <a:gdLst/>
            <a:ahLst/>
            <a:cxnLst/>
            <a:rect l="0" t="0" r="r" b="b"/>
            <a:pathLst>
              <a:path w="494880" h="205285">
                <a:moveTo>
                  <a:pt x="0" y="205285"/>
                </a:moveTo>
                <a:cubicBezTo>
                  <a:pt x="123720" y="70229"/>
                  <a:pt x="317369" y="10804"/>
                  <a:pt x="494880" y="0"/>
                </a:cubicBezTo>
              </a:path>
            </a:pathLst>
          </a:custGeom>
          <a:noFill/>
          <a:ln w="4455" cap="rnd">
            <a:solidFill>
              <a:srgbClr val="CDD8E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pulmonary valve left leaflet"/>
          <p:cNvSpPr/>
          <p:nvPr/>
        </p:nvSpPr>
        <p:spPr>
          <a:xfrm>
            <a:off x="5417249" y="1336440"/>
            <a:ext cx="50318" cy="82693"/>
          </a:xfrm>
          <a:custGeom>
            <a:avLst/>
            <a:gdLst/>
            <a:ahLst/>
            <a:cxnLst/>
            <a:rect l="0" t="0" r="r" b="b"/>
            <a:pathLst>
              <a:path w="118341" h="194481">
                <a:moveTo>
                  <a:pt x="5379" y="86436"/>
                </a:moveTo>
                <a:cubicBezTo>
                  <a:pt x="0" y="37816"/>
                  <a:pt x="43033" y="0"/>
                  <a:pt x="80687" y="16207"/>
                </a:cubicBezTo>
                <a:cubicBezTo>
                  <a:pt x="118341" y="32413"/>
                  <a:pt x="118341" y="97240"/>
                  <a:pt x="107583" y="151263"/>
                </a:cubicBezTo>
                <a:cubicBezTo>
                  <a:pt x="64550" y="194481"/>
                  <a:pt x="16137" y="178274"/>
                  <a:pt x="5379" y="135056"/>
                </a:cubicBezTo>
                <a:close/>
              </a:path>
            </a:pathLst>
          </a:custGeom>
          <a:solidFill>
            <a:srgbClr val="94ABD0"/>
          </a:solidFill>
          <a:ln w="4657" cap="rnd">
            <a:solidFill>
              <a:srgbClr val="FAE5D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pulmonary valve right leaflet"/>
          <p:cNvSpPr/>
          <p:nvPr/>
        </p:nvSpPr>
        <p:spPr>
          <a:xfrm>
            <a:off x="5462992" y="1347925"/>
            <a:ext cx="54892" cy="78098"/>
          </a:xfrm>
          <a:custGeom>
            <a:avLst/>
            <a:gdLst/>
            <a:ahLst/>
            <a:cxnLst/>
            <a:rect l="0" t="0" r="r" b="b"/>
            <a:pathLst>
              <a:path w="129099" h="183676">
                <a:moveTo>
                  <a:pt x="0" y="118849"/>
                </a:moveTo>
                <a:cubicBezTo>
                  <a:pt x="5379" y="37816"/>
                  <a:pt x="32275" y="0"/>
                  <a:pt x="80687" y="0"/>
                </a:cubicBezTo>
                <a:cubicBezTo>
                  <a:pt x="129099" y="16207"/>
                  <a:pt x="129099" y="86436"/>
                  <a:pt x="91445" y="140458"/>
                </a:cubicBezTo>
                <a:cubicBezTo>
                  <a:pt x="53791" y="183676"/>
                  <a:pt x="16137" y="167469"/>
                  <a:pt x="0" y="118849"/>
                </a:cubicBezTo>
                <a:close/>
              </a:path>
            </a:pathLst>
          </a:custGeom>
          <a:solidFill>
            <a:srgbClr val="829EC8"/>
          </a:solidFill>
          <a:ln w="4657" cap="rnd">
            <a:solidFill>
              <a:srgbClr val="FAE5D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tricuspid valve septal leaflet"/>
          <p:cNvSpPr/>
          <p:nvPr/>
        </p:nvSpPr>
        <p:spPr>
          <a:xfrm>
            <a:off x="5277730" y="1481152"/>
            <a:ext cx="125795" cy="96475"/>
          </a:xfrm>
          <a:custGeom>
            <a:avLst/>
            <a:gdLst/>
            <a:ahLst/>
            <a:cxnLst/>
            <a:rect l="0" t="0" r="r" b="b"/>
            <a:pathLst>
              <a:path w="295852" h="226894">
                <a:moveTo>
                  <a:pt x="0" y="145860"/>
                </a:moveTo>
                <a:cubicBezTo>
                  <a:pt x="86066" y="91838"/>
                  <a:pt x="188270" y="37816"/>
                  <a:pt x="295852" y="0"/>
                </a:cubicBezTo>
                <a:cubicBezTo>
                  <a:pt x="242061" y="75631"/>
                  <a:pt x="209786" y="140458"/>
                  <a:pt x="199028" y="226894"/>
                </a:cubicBezTo>
                <a:cubicBezTo>
                  <a:pt x="161374" y="183676"/>
                  <a:pt x="129099" y="151263"/>
                  <a:pt x="96824" y="135056"/>
                </a:cubicBezTo>
                <a:lnTo>
                  <a:pt x="32275" y="199883"/>
                </a:ln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4D9D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tricuspid valve anterior leaflet"/>
          <p:cNvSpPr/>
          <p:nvPr/>
        </p:nvSpPr>
        <p:spPr>
          <a:xfrm>
            <a:off x="5403526" y="1481152"/>
            <a:ext cx="52605" cy="91881"/>
          </a:xfrm>
          <a:custGeom>
            <a:avLst/>
            <a:gdLst/>
            <a:ahLst/>
            <a:cxnLst/>
            <a:rect l="0" t="0" r="r" b="b"/>
            <a:pathLst>
              <a:path w="123720" h="216090">
                <a:moveTo>
                  <a:pt x="0" y="0"/>
                </a:moveTo>
                <a:cubicBezTo>
                  <a:pt x="37654" y="21609"/>
                  <a:pt x="86066" y="48620"/>
                  <a:pt x="123720" y="81034"/>
                </a:cubicBezTo>
                <a:lnTo>
                  <a:pt x="112962" y="216090"/>
                </a:lnTo>
                <a:cubicBezTo>
                  <a:pt x="80687" y="129654"/>
                  <a:pt x="37654" y="70229"/>
                  <a:pt x="0" y="0"/>
                </a:cubicBez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4D9D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mitral anterior leaflet"/>
          <p:cNvSpPr/>
          <p:nvPr/>
        </p:nvSpPr>
        <p:spPr>
          <a:xfrm>
            <a:off x="5625383" y="1432914"/>
            <a:ext cx="75477" cy="105663"/>
          </a:xfrm>
          <a:custGeom>
            <a:avLst/>
            <a:gdLst/>
            <a:ahLst/>
            <a:cxnLst/>
            <a:rect l="0" t="0" r="r" b="b"/>
            <a:pathLst>
              <a:path w="177511" h="248503">
                <a:moveTo>
                  <a:pt x="0" y="0"/>
                </a:moveTo>
                <a:cubicBezTo>
                  <a:pt x="53791" y="37816"/>
                  <a:pt x="118341" y="48620"/>
                  <a:pt x="177511" y="21609"/>
                </a:cubicBezTo>
                <a:cubicBezTo>
                  <a:pt x="134478" y="91838"/>
                  <a:pt x="118341" y="172872"/>
                  <a:pt x="123720" y="248503"/>
                </a:cubicBezTo>
                <a:cubicBezTo>
                  <a:pt x="80687" y="151263"/>
                  <a:pt x="48412" y="75631"/>
                  <a:pt x="0" y="0"/>
                </a:cubicBez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FB0B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mitral posterior leaflet"/>
          <p:cNvSpPr/>
          <p:nvPr/>
        </p:nvSpPr>
        <p:spPr>
          <a:xfrm>
            <a:off x="5700860" y="1421429"/>
            <a:ext cx="66329" cy="117148"/>
          </a:xfrm>
          <a:custGeom>
            <a:avLst/>
            <a:gdLst/>
            <a:ahLst/>
            <a:cxnLst/>
            <a:rect l="0" t="0" r="r" b="b"/>
            <a:pathLst>
              <a:path w="155995" h="275514">
                <a:moveTo>
                  <a:pt x="0" y="48620"/>
                </a:moveTo>
                <a:cubicBezTo>
                  <a:pt x="48412" y="16207"/>
                  <a:pt x="107583" y="0"/>
                  <a:pt x="155995" y="27011"/>
                </a:cubicBezTo>
                <a:cubicBezTo>
                  <a:pt x="107583" y="102643"/>
                  <a:pt x="91445" y="194481"/>
                  <a:pt x="102204" y="275514"/>
                </a:cubicBezTo>
                <a:cubicBezTo>
                  <a:pt x="59170" y="183676"/>
                  <a:pt x="37654" y="102643"/>
                  <a:pt x="0" y="48620"/>
                </a:cubicBez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FB0B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right papillary muscle"/>
          <p:cNvSpPr/>
          <p:nvPr/>
        </p:nvSpPr>
        <p:spPr>
          <a:xfrm>
            <a:off x="5355495" y="1568438"/>
            <a:ext cx="48031" cy="91881"/>
          </a:xfrm>
          <a:custGeom>
            <a:avLst/>
            <a:gdLst/>
            <a:ahLst/>
            <a:cxnLst/>
            <a:rect l="0" t="0" r="r" b="b"/>
            <a:pathLst>
              <a:path w="112962" h="216090">
                <a:moveTo>
                  <a:pt x="75308" y="216090"/>
                </a:moveTo>
                <a:cubicBezTo>
                  <a:pt x="21517" y="108045"/>
                  <a:pt x="0" y="48620"/>
                  <a:pt x="10758" y="0"/>
                </a:cubicBezTo>
                <a:cubicBezTo>
                  <a:pt x="59170" y="32413"/>
                  <a:pt x="91445" y="118849"/>
                  <a:pt x="112962" y="216090"/>
                </a:cubicBezTo>
                <a:close/>
              </a:path>
            </a:pathLst>
          </a:custGeom>
          <a:solidFill>
            <a:srgbClr val="90A9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right papillary muscle second"/>
          <p:cNvSpPr/>
          <p:nvPr/>
        </p:nvSpPr>
        <p:spPr>
          <a:xfrm>
            <a:off x="5440121" y="1591408"/>
            <a:ext cx="59467" cy="133227"/>
          </a:xfrm>
          <a:custGeom>
            <a:avLst/>
            <a:gdLst/>
            <a:ahLst/>
            <a:cxnLst/>
            <a:rect l="0" t="0" r="r" b="b"/>
            <a:pathLst>
              <a:path w="139857" h="313330">
                <a:moveTo>
                  <a:pt x="107583" y="313330"/>
                </a:moveTo>
                <a:cubicBezTo>
                  <a:pt x="43033" y="199883"/>
                  <a:pt x="0" y="64827"/>
                  <a:pt x="10758" y="0"/>
                </a:cubicBezTo>
                <a:cubicBezTo>
                  <a:pt x="59170" y="54022"/>
                  <a:pt x="107583" y="183676"/>
                  <a:pt x="139857" y="313330"/>
                </a:cubicBezTo>
                <a:close/>
              </a:path>
            </a:pathLst>
          </a:custGeom>
          <a:solidFill>
            <a:srgbClr val="89A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left papillary muscle"/>
          <p:cNvSpPr/>
          <p:nvPr/>
        </p:nvSpPr>
        <p:spPr>
          <a:xfrm>
            <a:off x="5673414" y="1559250"/>
            <a:ext cx="34308" cy="142415"/>
          </a:xfrm>
          <a:custGeom>
            <a:avLst/>
            <a:gdLst/>
            <a:ahLst/>
            <a:cxnLst/>
            <a:rect l="0" t="0" r="r" b="b"/>
            <a:pathLst>
              <a:path w="80687" h="334939">
                <a:moveTo>
                  <a:pt x="43033" y="313330"/>
                </a:moveTo>
                <a:cubicBezTo>
                  <a:pt x="10758" y="189078"/>
                  <a:pt x="0" y="59425"/>
                  <a:pt x="16137" y="0"/>
                </a:cubicBezTo>
                <a:cubicBezTo>
                  <a:pt x="53791" y="75631"/>
                  <a:pt x="75308" y="205285"/>
                  <a:pt x="80687" y="334939"/>
                </a:cubicBezTo>
                <a:close/>
              </a:path>
            </a:pathLst>
          </a:custGeom>
          <a:solidFill>
            <a:srgbClr val="D88A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left papillary muscle second"/>
          <p:cNvSpPr/>
          <p:nvPr/>
        </p:nvSpPr>
        <p:spPr>
          <a:xfrm>
            <a:off x="5742030" y="1561547"/>
            <a:ext cx="41169" cy="137821"/>
          </a:xfrm>
          <a:custGeom>
            <a:avLst/>
            <a:gdLst/>
            <a:ahLst/>
            <a:cxnLst/>
            <a:rect l="0" t="0" r="r" b="b"/>
            <a:pathLst>
              <a:path w="96824" h="324134">
                <a:moveTo>
                  <a:pt x="64550" y="324134"/>
                </a:moveTo>
                <a:cubicBezTo>
                  <a:pt x="32275" y="183676"/>
                  <a:pt x="0" y="64827"/>
                  <a:pt x="10758" y="0"/>
                </a:cubicBezTo>
                <a:cubicBezTo>
                  <a:pt x="59170" y="70229"/>
                  <a:pt x="96824" y="199883"/>
                  <a:pt x="96824" y="324134"/>
                </a:cubicBezTo>
                <a:close/>
              </a:path>
            </a:pathLst>
          </a:custGeom>
          <a:solidFill>
            <a:srgbClr val="D88A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chorda tendinea"/>
          <p:cNvSpPr/>
          <p:nvPr/>
        </p:nvSpPr>
        <p:spPr>
          <a:xfrm>
            <a:off x="5321187" y="1540874"/>
            <a:ext cx="68616" cy="103366"/>
          </a:xfrm>
          <a:custGeom>
            <a:avLst/>
            <a:gdLst/>
            <a:ahLst/>
            <a:cxnLst/>
            <a:rect l="0" t="0" r="r" b="b"/>
            <a:pathLst>
              <a:path w="161374" h="243101">
                <a:moveTo>
                  <a:pt x="0" y="0"/>
                </a:moveTo>
                <a:quadBezTo>
                  <a:pt x="86066" y="97240"/>
                  <a:pt x="161374" y="243101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chorda tendinea"/>
          <p:cNvSpPr/>
          <p:nvPr/>
        </p:nvSpPr>
        <p:spPr>
          <a:xfrm>
            <a:off x="5357782" y="1550062"/>
            <a:ext cx="38882" cy="101069"/>
          </a:xfrm>
          <a:custGeom>
            <a:avLst/>
            <a:gdLst/>
            <a:ahLst/>
            <a:cxnLst/>
            <a:rect l="0" t="0" r="r" b="b"/>
            <a:pathLst>
              <a:path w="91445" h="237699">
                <a:moveTo>
                  <a:pt x="0" y="0"/>
                </a:moveTo>
                <a:quadBezTo>
                  <a:pt x="53791" y="118849"/>
                  <a:pt x="91445" y="237699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chorda tendinea"/>
          <p:cNvSpPr/>
          <p:nvPr/>
        </p:nvSpPr>
        <p:spPr>
          <a:xfrm>
            <a:off x="5401239" y="1504122"/>
            <a:ext cx="75477" cy="199840"/>
          </a:xfrm>
          <a:custGeom>
            <a:avLst/>
            <a:gdLst/>
            <a:ahLst/>
            <a:cxnLst/>
            <a:rect l="0" t="0" r="r" b="b"/>
            <a:pathLst>
              <a:path w="177511" h="469995">
                <a:moveTo>
                  <a:pt x="0" y="0"/>
                </a:moveTo>
                <a:quadBezTo>
                  <a:pt x="53791" y="189078"/>
                  <a:pt x="177511" y="469995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chorda tendinea"/>
          <p:cNvSpPr/>
          <p:nvPr/>
        </p:nvSpPr>
        <p:spPr>
          <a:xfrm>
            <a:off x="5446982" y="1536280"/>
            <a:ext cx="34308" cy="174573"/>
          </a:xfrm>
          <a:custGeom>
            <a:avLst/>
            <a:gdLst/>
            <a:ahLst/>
            <a:cxnLst/>
            <a:rect l="0" t="0" r="r" b="b"/>
            <a:pathLst>
              <a:path w="80687" h="410570">
                <a:moveTo>
                  <a:pt x="0" y="0"/>
                </a:moveTo>
                <a:quadBezTo>
                  <a:pt x="5379" y="183676"/>
                  <a:pt x="80687" y="410570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chorda tendinea"/>
          <p:cNvSpPr/>
          <p:nvPr/>
        </p:nvSpPr>
        <p:spPr>
          <a:xfrm>
            <a:off x="5655116" y="1467369"/>
            <a:ext cx="41169" cy="213622"/>
          </a:xfrm>
          <a:custGeom>
            <a:avLst/>
            <a:gdLst/>
            <a:ahLst/>
            <a:cxnLst/>
            <a:rect l="0" t="0" r="r" b="b"/>
            <a:pathLst>
              <a:path w="96824" h="502408">
                <a:moveTo>
                  <a:pt x="0" y="0"/>
                </a:moveTo>
                <a:quadBezTo>
                  <a:pt x="37654" y="226894"/>
                  <a:pt x="96824" y="502408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chorda tendinea"/>
          <p:cNvSpPr/>
          <p:nvPr/>
        </p:nvSpPr>
        <p:spPr>
          <a:xfrm>
            <a:off x="5677989" y="1508716"/>
            <a:ext cx="22872" cy="172276"/>
          </a:xfrm>
          <a:custGeom>
            <a:avLst/>
            <a:gdLst/>
            <a:ahLst/>
            <a:cxnLst/>
            <a:rect l="0" t="0" r="r" b="b"/>
            <a:pathLst>
              <a:path w="53791" h="405168">
                <a:moveTo>
                  <a:pt x="0" y="0"/>
                </a:moveTo>
                <a:quadBezTo>
                  <a:pt x="21517" y="167469"/>
                  <a:pt x="53791" y="405168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chorda tendinea"/>
          <p:cNvSpPr/>
          <p:nvPr/>
        </p:nvSpPr>
        <p:spPr>
          <a:xfrm>
            <a:off x="5723732" y="1467369"/>
            <a:ext cx="48031" cy="215919"/>
          </a:xfrm>
          <a:custGeom>
            <a:avLst/>
            <a:gdLst/>
            <a:ahLst/>
            <a:cxnLst/>
            <a:rect l="0" t="0" r="r" b="b"/>
            <a:pathLst>
              <a:path w="112962" h="507810">
                <a:moveTo>
                  <a:pt x="0" y="0"/>
                </a:moveTo>
                <a:quadBezTo>
                  <a:pt x="26896" y="226894"/>
                  <a:pt x="112962" y="507810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chorda tendinea"/>
          <p:cNvSpPr/>
          <p:nvPr/>
        </p:nvSpPr>
        <p:spPr>
          <a:xfrm>
            <a:off x="5742030" y="1506419"/>
            <a:ext cx="34308" cy="176870"/>
          </a:xfrm>
          <a:custGeom>
            <a:avLst/>
            <a:gdLst/>
            <a:ahLst/>
            <a:cxnLst/>
            <a:rect l="0" t="0" r="r" b="b"/>
            <a:pathLst>
              <a:path w="80687" h="415972">
                <a:moveTo>
                  <a:pt x="0" y="0"/>
                </a:moveTo>
                <a:quadBezTo>
                  <a:pt x="37654" y="178274"/>
                  <a:pt x="80687" y="415972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myocardial fibre contour"/>
          <p:cNvSpPr/>
          <p:nvPr/>
        </p:nvSpPr>
        <p:spPr>
          <a:xfrm>
            <a:off x="5238848" y="1602893"/>
            <a:ext cx="164678" cy="197543"/>
          </a:xfrm>
          <a:custGeom>
            <a:avLst/>
            <a:gdLst/>
            <a:ahLst/>
            <a:cxnLst/>
            <a:rect l="0" t="0" r="r" b="b"/>
            <a:pathLst>
              <a:path w="387298" h="464593">
                <a:moveTo>
                  <a:pt x="0" y="0"/>
                </a:moveTo>
                <a:cubicBezTo>
                  <a:pt x="32275" y="189078"/>
                  <a:pt x="209786" y="356548"/>
                  <a:pt x="387298" y="464593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myocardial fibre contour"/>
          <p:cNvSpPr/>
          <p:nvPr/>
        </p:nvSpPr>
        <p:spPr>
          <a:xfrm>
            <a:off x="5270869" y="1664913"/>
            <a:ext cx="256165" cy="195246"/>
          </a:xfrm>
          <a:custGeom>
            <a:avLst/>
            <a:gdLst/>
            <a:ahLst/>
            <a:cxnLst/>
            <a:rect l="0" t="0" r="r" b="b"/>
            <a:pathLst>
              <a:path w="602463" h="459190">
                <a:moveTo>
                  <a:pt x="0" y="0"/>
                </a:moveTo>
                <a:cubicBezTo>
                  <a:pt x="166753" y="210687"/>
                  <a:pt x="398056" y="367352"/>
                  <a:pt x="602463" y="459190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myocardial fibre contour"/>
          <p:cNvSpPr/>
          <p:nvPr/>
        </p:nvSpPr>
        <p:spPr>
          <a:xfrm>
            <a:off x="5362356" y="1784357"/>
            <a:ext cx="329355" cy="158494"/>
          </a:xfrm>
          <a:custGeom>
            <a:avLst/>
            <a:gdLst/>
            <a:ahLst/>
            <a:cxnLst/>
            <a:rect l="0" t="0" r="r" b="b"/>
            <a:pathLst>
              <a:path w="774595" h="372754">
                <a:moveTo>
                  <a:pt x="0" y="0"/>
                </a:moveTo>
                <a:cubicBezTo>
                  <a:pt x="247440" y="205285"/>
                  <a:pt x="543292" y="334939"/>
                  <a:pt x="774595" y="372754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myocardial fibre contour"/>
          <p:cNvSpPr/>
          <p:nvPr/>
        </p:nvSpPr>
        <p:spPr>
          <a:xfrm>
            <a:off x="5554480" y="1579923"/>
            <a:ext cx="141806" cy="296315"/>
          </a:xfrm>
          <a:custGeom>
            <a:avLst/>
            <a:gdLst/>
            <a:ahLst/>
            <a:cxnLst/>
            <a:rect l="0" t="0" r="r" b="b"/>
            <a:pathLst>
              <a:path w="333506" h="696889">
                <a:moveTo>
                  <a:pt x="0" y="0"/>
                </a:moveTo>
                <a:cubicBezTo>
                  <a:pt x="48412" y="248503"/>
                  <a:pt x="177511" y="518615"/>
                  <a:pt x="333506" y="696889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myocardial fibre contour"/>
          <p:cNvSpPr/>
          <p:nvPr/>
        </p:nvSpPr>
        <p:spPr>
          <a:xfrm>
            <a:off x="5828943" y="1511013"/>
            <a:ext cx="68616" cy="300909"/>
          </a:xfrm>
          <a:custGeom>
            <a:avLst/>
            <a:gdLst/>
            <a:ahLst/>
            <a:cxnLst/>
            <a:rect l="0" t="0" r="r" b="b"/>
            <a:pathLst>
              <a:path w="161374" h="707693">
                <a:moveTo>
                  <a:pt x="0" y="0"/>
                </a:moveTo>
                <a:cubicBezTo>
                  <a:pt x="96824" y="221492"/>
                  <a:pt x="161374" y="497006"/>
                  <a:pt x="139857" y="707693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myocardial fibre contour"/>
          <p:cNvSpPr/>
          <p:nvPr/>
        </p:nvSpPr>
        <p:spPr>
          <a:xfrm>
            <a:off x="5799210" y="1660319"/>
            <a:ext cx="77764" cy="252672"/>
          </a:xfrm>
          <a:custGeom>
            <a:avLst/>
            <a:gdLst/>
            <a:ahLst/>
            <a:cxnLst/>
            <a:rect l="0" t="0" r="r" b="b"/>
            <a:pathLst>
              <a:path w="182890" h="594246">
                <a:moveTo>
                  <a:pt x="134478" y="0"/>
                </a:moveTo>
                <a:cubicBezTo>
                  <a:pt x="182890" y="264710"/>
                  <a:pt x="145237" y="469995"/>
                  <a:pt x="0" y="594246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myocardial fibre contour"/>
          <p:cNvSpPr/>
          <p:nvPr/>
        </p:nvSpPr>
        <p:spPr>
          <a:xfrm>
            <a:off x="5611660" y="1896911"/>
            <a:ext cx="235581" cy="62019"/>
          </a:xfrm>
          <a:custGeom>
            <a:avLst/>
            <a:gdLst/>
            <a:ahLst/>
            <a:cxnLst/>
            <a:rect l="0" t="0" r="r" b="b"/>
            <a:pathLst>
              <a:path w="554051" h="145860">
                <a:moveTo>
                  <a:pt x="0" y="0"/>
                </a:moveTo>
                <a:cubicBezTo>
                  <a:pt x="225924" y="118849"/>
                  <a:pt x="430331" y="145860"/>
                  <a:pt x="554051" y="16207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septal cut-face highlight"/>
          <p:cNvSpPr/>
          <p:nvPr/>
        </p:nvSpPr>
        <p:spPr>
          <a:xfrm>
            <a:off x="5538470" y="1407647"/>
            <a:ext cx="221858" cy="516828"/>
          </a:xfrm>
          <a:custGeom>
            <a:avLst/>
            <a:gdLst/>
            <a:ahLst/>
            <a:cxnLst/>
            <a:rect l="0" t="0" r="r" b="b"/>
            <a:pathLst>
              <a:path w="521776" h="1215504">
                <a:moveTo>
                  <a:pt x="64550" y="0"/>
                </a:moveTo>
                <a:cubicBezTo>
                  <a:pt x="0" y="167469"/>
                  <a:pt x="0" y="345743"/>
                  <a:pt x="75308" y="551028"/>
                </a:cubicBezTo>
                <a:cubicBezTo>
                  <a:pt x="177511" y="837347"/>
                  <a:pt x="328127" y="1096654"/>
                  <a:pt x="521776" y="1215504"/>
                </a:cubicBezTo>
              </a:path>
            </a:pathLst>
          </a:custGeom>
          <a:noFill/>
          <a:ln w="3645" cap="rnd">
            <a:solidFill>
              <a:srgbClr val="FCE3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rv_afterload"/>
          <p:cNvSpPr txBox="1"/>
          <p:nvPr/>
        </p:nvSpPr>
        <p:spPr>
          <a:xfrm>
            <a:off x="4297050" y="1077300"/>
            <a:ext cx="737100" cy="14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1" i="0">
                <a:solidFill>
                  <a:srgbClr val="30485F"/>
                </a:solidFill>
                <a:latin typeface="Times New Roman"/>
              </a:rPr>
              <a:t>RV afterload ↑</a:t>
            </a:r>
          </a:p>
        </p:txBody>
      </p:sp>
      <p:sp>
        <p:nvSpPr>
          <p:cNvPr id="414" name="established_afterload"/>
          <p:cNvSpPr/>
          <p:nvPr/>
        </p:nvSpPr>
        <p:spPr>
          <a:xfrm>
            <a:off x="4098600" y="1255500"/>
            <a:ext cx="1325510" cy="377255"/>
          </a:xfrm>
          <a:custGeom>
            <a:avLst/>
            <a:gdLst/>
            <a:ahLst/>
            <a:cxnLst/>
            <a:rect l="0" t="0" r="r" b="b"/>
            <a:pathLst>
              <a:path w="3117404" h="887247">
                <a:moveTo>
                  <a:pt x="0" y="0"/>
                </a:moveTo>
                <a:cubicBezTo>
                  <a:pt x="1123950" y="0"/>
                  <a:pt x="1981200" y="485775"/>
                  <a:pt x="3117404" y="887247"/>
                </a:cubicBezTo>
              </a:path>
            </a:pathLst>
          </a:custGeom>
          <a:noFill/>
          <a:ln w="9112" cap="rnd">
            <a:solidFill>
              <a:srgbClr val="3048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established_afterload head"/>
          <p:cNvSpPr/>
          <p:nvPr/>
        </p:nvSpPr>
        <p:spPr>
          <a:xfrm>
            <a:off x="5380392" y="1603605"/>
            <a:ext cx="43718" cy="31313"/>
          </a:xfrm>
          <a:custGeom>
            <a:avLst/>
            <a:gdLst/>
            <a:ahLst/>
            <a:cxnLst/>
            <a:rect l="0" t="0" r="r" b="b"/>
            <a:pathLst>
              <a:path w="102819" h="73643">
                <a:moveTo>
                  <a:pt x="102819" y="68555"/>
                </a:moveTo>
                <a:lnTo>
                  <a:pt x="0" y="73643"/>
                </a:lnTo>
                <a:lnTo>
                  <a:pt x="26021" y="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rv_cavity_label"/>
          <p:cNvSpPr txBox="1"/>
          <p:nvPr/>
        </p:nvSpPr>
        <p:spPr>
          <a:xfrm>
            <a:off x="5472710" y="1750205"/>
            <a:ext cx="198450" cy="12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1" i="0">
                <a:solidFill>
                  <a:srgbClr val="30485F"/>
                </a:solidFill>
                <a:latin typeface="Times New Roman"/>
              </a:rPr>
              <a:t>RV</a:t>
            </a:r>
          </a:p>
        </p:txBody>
      </p:sp>
      <p:sp>
        <p:nvSpPr>
          <p:cNvPr id="417" name="stage_dependent"/>
          <p:cNvSpPr txBox="1"/>
          <p:nvPr/>
        </p:nvSpPr>
        <p:spPr>
          <a:xfrm>
            <a:off x="4779000" y="534600"/>
            <a:ext cx="1522800" cy="12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Stage dependent</a:t>
            </a:r>
          </a:p>
        </p:txBody>
      </p:sp>
      <p:sp>
        <p:nvSpPr>
          <p:cNvPr id="418" name="rv_stage_responses"/>
          <p:cNvSpPr txBox="1"/>
          <p:nvPr/>
        </p:nvSpPr>
        <p:spPr>
          <a:xfrm>
            <a:off x="4779000" y="692550"/>
            <a:ext cx="1522800" cy="22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1" i="0">
                <a:solidFill>
                  <a:srgbClr val="30485F"/>
                </a:solidFill>
                <a:latin typeface="Times New Roman"/>
              </a:rPr>
              <a:t>Adaptation 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1" i="0">
                <a:solidFill>
                  <a:srgbClr val="30485F"/>
                </a:solidFill>
                <a:latin typeface="Times New Roman"/>
              </a:rPr>
              <a:t>maladaptive remodeling</a:t>
            </a:r>
          </a:p>
        </p:txBody>
      </p:sp>
      <p:sp>
        <p:nvSpPr>
          <p:cNvPr id="419" name="rv_dysfunction"/>
          <p:cNvSpPr txBox="1"/>
          <p:nvPr/>
        </p:nvSpPr>
        <p:spPr>
          <a:xfrm>
            <a:off x="4754700" y="2081700"/>
            <a:ext cx="1547100" cy="13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1" i="0">
                <a:solidFill>
                  <a:srgbClr val="30485F"/>
                </a:solidFill>
                <a:latin typeface="Times New Roman"/>
              </a:rPr>
              <a:t>With RV dysfunction</a:t>
            </a:r>
          </a:p>
        </p:txBody>
      </p:sp>
      <p:sp>
        <p:nvSpPr>
          <p:cNvPr id="420" name="hemodynamic_compromise"/>
          <p:cNvSpPr txBox="1"/>
          <p:nvPr/>
        </p:nvSpPr>
        <p:spPr>
          <a:xfrm>
            <a:off x="4754700" y="2255850"/>
            <a:ext cx="1547100" cy="14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30485F"/>
                </a:solidFill>
                <a:latin typeface="Times New Roman"/>
              </a:rPr>
              <a:t>Systemic hemodynamic compromise</a:t>
            </a:r>
          </a:p>
        </p:txBody>
      </p:sp>
      <p:sp>
        <p:nvSpPr>
          <p:cNvPr id="421" name="rv_compromise_to_shared_return"/>
          <p:cNvSpPr/>
          <p:nvPr/>
        </p:nvSpPr>
        <p:spPr>
          <a:xfrm>
            <a:off x="6042600" y="2462400"/>
            <a:ext cx="174150" cy="514350"/>
          </a:xfrm>
          <a:custGeom>
            <a:avLst/>
            <a:gdLst/>
            <a:ahLst/>
            <a:cxnLst/>
            <a:rect l="0" t="0" r="r" b="b"/>
            <a:pathLst>
              <a:path w="409575" h="1209675">
                <a:moveTo>
                  <a:pt x="0" y="0"/>
                </a:moveTo>
                <a:cubicBezTo>
                  <a:pt x="209550" y="0"/>
                  <a:pt x="409575" y="0"/>
                  <a:pt x="409575" y="171450"/>
                </a:cubicBezTo>
                <a:lnTo>
                  <a:pt x="409575" y="1209675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RV feedback source"/>
          <p:cNvSpPr/>
          <p:nvPr/>
        </p:nvSpPr>
        <p:spPr>
          <a:xfrm>
            <a:off x="6032475" y="245227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Shared feedback junction"/>
          <p:cNvSpPr/>
          <p:nvPr/>
        </p:nvSpPr>
        <p:spPr>
          <a:xfrm>
            <a:off x="6206625" y="252517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Shared feedback junction"/>
          <p:cNvSpPr/>
          <p:nvPr/>
        </p:nvSpPr>
        <p:spPr>
          <a:xfrm>
            <a:off x="6206625" y="296662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reverse_evidence"/>
          <p:cNvSpPr txBox="1"/>
          <p:nvPr/>
        </p:nvSpPr>
        <p:spPr>
          <a:xfrm>
            <a:off x="2677050" y="2077650"/>
            <a:ext cx="2025000" cy="14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30485F"/>
                </a:solidFill>
                <a:latin typeface="Times New Roman"/>
              </a:rPr>
              <a:t>Human heart failure evidence [68–70]</a:t>
            </a:r>
          </a:p>
        </p:txBody>
      </p:sp>
      <p:sp>
        <p:nvSpPr>
          <p:cNvPr id="426" name="feedback_limit"/>
          <p:cNvSpPr txBox="1"/>
          <p:nvPr/>
        </p:nvSpPr>
        <p:spPr>
          <a:xfrm>
            <a:off x="2677050" y="2259900"/>
            <a:ext cx="2025000" cy="14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Proposed feedback in PAH</a:t>
            </a:r>
          </a:p>
        </p:txBody>
      </p:sp>
      <p:sp>
        <p:nvSpPr>
          <p:cNvPr id="427" name="venous_congestion"/>
          <p:cNvSpPr txBox="1"/>
          <p:nvPr/>
        </p:nvSpPr>
        <p:spPr>
          <a:xfrm>
            <a:off x="4702050" y="2466450"/>
            <a:ext cx="1113750" cy="14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08" b="1" i="0">
                <a:solidFill>
                  <a:srgbClr val="30485F"/>
                </a:solidFill>
                <a:latin typeface="Times New Roman"/>
              </a:rPr>
              <a:t>Venous congestion</a:t>
            </a:r>
          </a:p>
        </p:txBody>
      </p:sp>
      <p:sp>
        <p:nvSpPr>
          <p:cNvPr id="428" name="right_atrial_pressure"/>
          <p:cNvSpPr txBox="1"/>
          <p:nvPr/>
        </p:nvSpPr>
        <p:spPr>
          <a:xfrm>
            <a:off x="4629150" y="2632500"/>
            <a:ext cx="1202850" cy="117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Right atrial pressure ↑</a:t>
            </a:r>
          </a:p>
        </p:txBody>
      </p:sp>
      <p:sp>
        <p:nvSpPr>
          <p:cNvPr id="429" name="gut_wall_edema"/>
          <p:cNvSpPr txBox="1"/>
          <p:nvPr/>
        </p:nvSpPr>
        <p:spPr>
          <a:xfrm>
            <a:off x="3073950" y="2466450"/>
            <a:ext cx="1186650" cy="14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08" b="1" i="0">
                <a:solidFill>
                  <a:srgbClr val="30485F"/>
                </a:solidFill>
                <a:latin typeface="Times New Roman"/>
              </a:rPr>
              <a:t>Gut wall edema</a:t>
            </a:r>
          </a:p>
        </p:txBody>
      </p:sp>
      <p:sp>
        <p:nvSpPr>
          <p:cNvPr id="430" name="mesenteric_hypoperfusion"/>
          <p:cNvSpPr txBox="1"/>
          <p:nvPr/>
        </p:nvSpPr>
        <p:spPr>
          <a:xfrm>
            <a:off x="4657500" y="2843100"/>
            <a:ext cx="1166400" cy="247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30485F"/>
                </a:solidFill>
                <a:latin typeface="Times New Roman"/>
              </a:rPr>
              <a:t>Mesenteric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30485F"/>
                </a:solidFill>
                <a:latin typeface="Times New Roman"/>
              </a:rPr>
              <a:t>hypoperfusion</a:t>
            </a:r>
          </a:p>
        </p:txBody>
      </p:sp>
      <p:sp>
        <p:nvSpPr>
          <p:cNvPr id="431" name="reduced_mucosal_perfusion"/>
          <p:cNvSpPr txBox="1"/>
          <p:nvPr/>
        </p:nvSpPr>
        <p:spPr>
          <a:xfrm>
            <a:off x="2960550" y="2843100"/>
            <a:ext cx="1300050" cy="247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30485F"/>
                </a:solidFill>
                <a:latin typeface="Times New Roman"/>
              </a:rPr>
              <a:t>Reduced mucosal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30485F"/>
                </a:solidFill>
                <a:latin typeface="Times New Roman"/>
              </a:rPr>
              <a:t>perfusion</a:t>
            </a:r>
          </a:p>
        </p:txBody>
      </p:sp>
      <p:sp>
        <p:nvSpPr>
          <p:cNvPr id="432" name="rv_to_congestion"/>
          <p:cNvSpPr/>
          <p:nvPr/>
        </p:nvSpPr>
        <p:spPr>
          <a:xfrm>
            <a:off x="5872500" y="2535300"/>
            <a:ext cx="344250" cy="40"/>
          </a:xfrm>
          <a:custGeom>
            <a:avLst/>
            <a:gdLst/>
            <a:ahLst/>
            <a:cxnLst/>
            <a:rect l="0" t="0" r="r" b="b"/>
            <a:pathLst>
              <a:path w="809625" h="95">
                <a:moveTo>
                  <a:pt x="809625" y="0"/>
                </a:moveTo>
                <a:lnTo>
                  <a:pt x="0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rv_to_congestion head"/>
          <p:cNvSpPr/>
          <p:nvPr/>
        </p:nvSpPr>
        <p:spPr>
          <a:xfrm>
            <a:off x="5872500" y="25186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rv_to_hypoperfusion"/>
          <p:cNvSpPr/>
          <p:nvPr/>
        </p:nvSpPr>
        <p:spPr>
          <a:xfrm>
            <a:off x="5872500" y="2976750"/>
            <a:ext cx="344250" cy="40"/>
          </a:xfrm>
          <a:custGeom>
            <a:avLst/>
            <a:gdLst/>
            <a:ahLst/>
            <a:cxnLst/>
            <a:rect l="0" t="0" r="r" b="b"/>
            <a:pathLst>
              <a:path w="809625" h="95">
                <a:moveTo>
                  <a:pt x="809625" y="0"/>
                </a:moveTo>
                <a:lnTo>
                  <a:pt x="0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rv_to_hypoperfusion head"/>
          <p:cNvSpPr/>
          <p:nvPr/>
        </p:nvSpPr>
        <p:spPr>
          <a:xfrm>
            <a:off x="5872500" y="296014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congestion_to_edema"/>
          <p:cNvSpPr/>
          <p:nvPr/>
        </p:nvSpPr>
        <p:spPr>
          <a:xfrm>
            <a:off x="4301100" y="2535300"/>
            <a:ext cx="324000" cy="40"/>
          </a:xfrm>
          <a:custGeom>
            <a:avLst/>
            <a:gdLst/>
            <a:ahLst/>
            <a:cxnLst/>
            <a:rect l="0" t="0" r="r" b="b"/>
            <a:pathLst>
              <a:path w="762000" h="95">
                <a:moveTo>
                  <a:pt x="762000" y="0"/>
                </a:moveTo>
                <a:lnTo>
                  <a:pt x="0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congestion_to_edema head"/>
          <p:cNvSpPr/>
          <p:nvPr/>
        </p:nvSpPr>
        <p:spPr>
          <a:xfrm>
            <a:off x="4301100" y="25186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hypoperfusion_to_mucosa"/>
          <p:cNvSpPr/>
          <p:nvPr/>
        </p:nvSpPr>
        <p:spPr>
          <a:xfrm>
            <a:off x="4313250" y="2976750"/>
            <a:ext cx="279450" cy="40"/>
          </a:xfrm>
          <a:custGeom>
            <a:avLst/>
            <a:gdLst/>
            <a:ahLst/>
            <a:cxnLst/>
            <a:rect l="0" t="0" r="r" b="b"/>
            <a:pathLst>
              <a:path w="657225" h="95">
                <a:moveTo>
                  <a:pt x="657225" y="0"/>
                </a:moveTo>
                <a:lnTo>
                  <a:pt x="0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hypoperfusion_to_mucosa head"/>
          <p:cNvSpPr/>
          <p:nvPr/>
        </p:nvSpPr>
        <p:spPr>
          <a:xfrm>
            <a:off x="4313250" y="296014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edema_to_join"/>
          <p:cNvSpPr/>
          <p:nvPr/>
        </p:nvSpPr>
        <p:spPr>
          <a:xfrm>
            <a:off x="2632500" y="2535300"/>
            <a:ext cx="392850" cy="210600"/>
          </a:xfrm>
          <a:custGeom>
            <a:avLst/>
            <a:gdLst/>
            <a:ahLst/>
            <a:cxnLst/>
            <a:rect l="0" t="0" r="r" b="b"/>
            <a:pathLst>
              <a:path w="923925" h="495300">
                <a:moveTo>
                  <a:pt x="923925" y="0"/>
                </a:moveTo>
                <a:cubicBezTo>
                  <a:pt x="466725" y="0"/>
                  <a:pt x="180975" y="238125"/>
                  <a:pt x="0" y="495300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mucosa_to_join"/>
          <p:cNvSpPr/>
          <p:nvPr/>
        </p:nvSpPr>
        <p:spPr>
          <a:xfrm>
            <a:off x="2632500" y="2745900"/>
            <a:ext cx="267300" cy="230850"/>
          </a:xfrm>
          <a:custGeom>
            <a:avLst/>
            <a:gdLst/>
            <a:ahLst/>
            <a:cxnLst/>
            <a:rect l="0" t="0" r="r" b="b"/>
            <a:pathLst>
              <a:path w="628650" h="542925">
                <a:moveTo>
                  <a:pt x="628650" y="542925"/>
                </a:moveTo>
                <a:cubicBezTo>
                  <a:pt x="285750" y="542925"/>
                  <a:pt x="19050" y="314325"/>
                  <a:pt x="0" y="0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Intestinal feedback convergence"/>
          <p:cNvSpPr/>
          <p:nvPr/>
        </p:nvSpPr>
        <p:spPr>
          <a:xfrm>
            <a:off x="2622375" y="273577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return_to_gut_alterations"/>
          <p:cNvSpPr/>
          <p:nvPr/>
        </p:nvSpPr>
        <p:spPr>
          <a:xfrm>
            <a:off x="1802250" y="2498850"/>
            <a:ext cx="830250" cy="247050"/>
          </a:xfrm>
          <a:custGeom>
            <a:avLst/>
            <a:gdLst/>
            <a:ahLst/>
            <a:cxnLst/>
            <a:rect l="0" t="0" r="r" b="b"/>
            <a:pathLst>
              <a:path w="1952625" h="581025">
                <a:moveTo>
                  <a:pt x="1952625" y="581025"/>
                </a:moveTo>
                <a:cubicBezTo>
                  <a:pt x="1000125" y="581025"/>
                  <a:pt x="47625" y="523875"/>
                  <a:pt x="0" y="0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return_to_gut_alterations head"/>
          <p:cNvSpPr/>
          <p:nvPr/>
        </p:nvSpPr>
        <p:spPr>
          <a:xfrm>
            <a:off x="1789380" y="2498850"/>
            <a:ext cx="33074" cy="41837"/>
          </a:xfrm>
          <a:custGeom>
            <a:avLst/>
            <a:gdLst/>
            <a:ahLst/>
            <a:cxnLst/>
            <a:rect l="0" t="0" r="r" b="b"/>
            <a:pathLst>
              <a:path w="77784" h="98394">
                <a:moveTo>
                  <a:pt x="30269" y="0"/>
                </a:moveTo>
                <a:lnTo>
                  <a:pt x="77784" y="91323"/>
                </a:lnTo>
                <a:lnTo>
                  <a:pt x="0" y="98394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gut_alterations"/>
          <p:cNvSpPr txBox="1"/>
          <p:nvPr/>
        </p:nvSpPr>
        <p:spPr>
          <a:xfrm>
            <a:off x="1158300" y="2308500"/>
            <a:ext cx="1287900" cy="14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50" b="1" i="0">
                <a:solidFill>
                  <a:srgbClr val="30485F"/>
                </a:solidFill>
                <a:latin typeface="Times New Roman"/>
              </a:rPr>
              <a:t>Gut alterations</a:t>
            </a:r>
          </a:p>
        </p:txBody>
      </p:sp>
      <p:sp>
        <p:nvSpPr>
          <p:cNvPr id="446" name="gut_alterations_to_fork"/>
          <p:cNvSpPr/>
          <p:nvPr/>
        </p:nvSpPr>
        <p:spPr>
          <a:xfrm>
            <a:off x="1028700" y="2385450"/>
            <a:ext cx="129600" cy="40"/>
          </a:xfrm>
          <a:custGeom>
            <a:avLst/>
            <a:gdLst/>
            <a:ahLst/>
            <a:cxnLst/>
            <a:rect l="0" t="0" r="r" b="b"/>
            <a:pathLst>
              <a:path w="304800" h="95">
                <a:moveTo>
                  <a:pt x="304800" y="0"/>
                </a:moveTo>
                <a:lnTo>
                  <a:pt x="0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reverse_to_barrier"/>
          <p:cNvSpPr/>
          <p:nvPr/>
        </p:nvSpPr>
        <p:spPr>
          <a:xfrm>
            <a:off x="996300" y="1012500"/>
            <a:ext cx="838350" cy="1372950"/>
          </a:xfrm>
          <a:custGeom>
            <a:avLst/>
            <a:gdLst/>
            <a:ahLst/>
            <a:cxnLst/>
            <a:rect l="0" t="0" r="r" b="b"/>
            <a:pathLst>
              <a:path w="1971675" h="3228975">
                <a:moveTo>
                  <a:pt x="76200" y="3228975"/>
                </a:moveTo>
                <a:cubicBezTo>
                  <a:pt x="0" y="3143250"/>
                  <a:pt x="0" y="2838450"/>
                  <a:pt x="0" y="2457450"/>
                </a:cubicBezTo>
                <a:lnTo>
                  <a:pt x="0" y="647700"/>
                </a:lnTo>
                <a:cubicBezTo>
                  <a:pt x="0" y="523875"/>
                  <a:pt x="514350" y="457200"/>
                  <a:pt x="1133475" y="457200"/>
                </a:cubicBezTo>
                <a:cubicBezTo>
                  <a:pt x="1704975" y="457200"/>
                  <a:pt x="1971675" y="438150"/>
                  <a:pt x="1971675" y="0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reverse_to_barrier head"/>
          <p:cNvSpPr/>
          <p:nvPr/>
        </p:nvSpPr>
        <p:spPr>
          <a:xfrm>
            <a:off x="1818045" y="1012500"/>
            <a:ext cx="33210" cy="40500"/>
          </a:xfrm>
          <a:custGeom>
            <a:avLst/>
            <a:gdLst/>
            <a:ahLst/>
            <a:cxnLst/>
            <a:rect l="0" t="0" r="r" b="b"/>
            <a:pathLst>
              <a:path w="78105" h="95250">
                <a:moveTo>
                  <a:pt x="39053" y="0"/>
                </a:moveTo>
                <a:lnTo>
                  <a:pt x="78105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candidate_ecological_response"/>
          <p:cNvSpPr/>
          <p:nvPr/>
        </p:nvSpPr>
        <p:spPr>
          <a:xfrm>
            <a:off x="1028700" y="1713150"/>
            <a:ext cx="814050" cy="672300"/>
          </a:xfrm>
          <a:custGeom>
            <a:avLst/>
            <a:gdLst/>
            <a:ahLst/>
            <a:cxnLst/>
            <a:rect l="0" t="0" r="r" b="b"/>
            <a:pathLst>
              <a:path w="1914525" h="1581150">
                <a:moveTo>
                  <a:pt x="0" y="1581150"/>
                </a:moveTo>
                <a:cubicBezTo>
                  <a:pt x="0" y="1314450"/>
                  <a:pt x="152400" y="1209675"/>
                  <a:pt x="438150" y="1209675"/>
                </a:cubicBezTo>
                <a:cubicBezTo>
                  <a:pt x="1390650" y="1209675"/>
                  <a:pt x="1914525" y="1114425"/>
                  <a:pt x="1914525" y="0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candidate_ecological_response head"/>
          <p:cNvSpPr/>
          <p:nvPr/>
        </p:nvSpPr>
        <p:spPr>
          <a:xfrm>
            <a:off x="1826145" y="1713150"/>
            <a:ext cx="33210" cy="40500"/>
          </a:xfrm>
          <a:custGeom>
            <a:avLst/>
            <a:gdLst/>
            <a:ahLst/>
            <a:cxnLst/>
            <a:rect l="0" t="0" r="r" b="b"/>
            <a:pathLst>
              <a:path w="78105" h="95250">
                <a:moveTo>
                  <a:pt x="39053" y="0"/>
                </a:moveTo>
                <a:lnTo>
                  <a:pt x="78105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candidate_ecology"/>
          <p:cNvSpPr txBox="1"/>
          <p:nvPr/>
        </p:nvSpPr>
        <p:spPr>
          <a:xfrm>
            <a:off x="1170450" y="1830600"/>
            <a:ext cx="611550" cy="319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Candidate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ecological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586B79"/>
                </a:solidFill>
                <a:latin typeface="Times New Roman"/>
              </a:rPr>
              <a:t>response</a:t>
            </a:r>
          </a:p>
        </p:txBody>
      </p:sp>
      <p:sp>
        <p:nvSpPr>
          <p:cNvPr id="452" name="Evidence strip separator"/>
          <p:cNvSpPr/>
          <p:nvPr/>
        </p:nvSpPr>
        <p:spPr>
          <a:xfrm>
            <a:off x="178200" y="3191400"/>
            <a:ext cx="6123600" cy="40"/>
          </a:xfrm>
          <a:custGeom>
            <a:avLst/>
            <a:gdLst/>
            <a:ahLst/>
            <a:cxnLst/>
            <a:rect l="0" t="0" r="r" b="b"/>
            <a:pathLst>
              <a:path w="14401800" h="95">
                <a:moveTo>
                  <a:pt x="0" y="0"/>
                </a:moveTo>
                <a:lnTo>
                  <a:pt x="14401800" y="0"/>
                </a:lnTo>
              </a:path>
            </a:pathLst>
          </a:custGeom>
          <a:noFill/>
          <a:ln w="486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Experimental evidence strip"/>
          <p:cNvSpPr/>
          <p:nvPr/>
        </p:nvSpPr>
        <p:spPr>
          <a:xfrm>
            <a:off x="178200" y="3248100"/>
            <a:ext cx="6123600" cy="518400"/>
          </a:xfrm>
          <a:prstGeom prst="rect">
            <a:avLst/>
          </a:prstGeom>
          <a:gradFill rotWithShape="1">
            <a:gsLst>
              <a:gs pos="0">
                <a:srgbClr val="F2F6EE"/>
              </a:gs>
              <a:gs pos="100000">
                <a:srgbClr val="EAF0F2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Experimental evidence marker"/>
          <p:cNvSpPr/>
          <p:nvPr/>
        </p:nvSpPr>
        <p:spPr>
          <a:xfrm>
            <a:off x="238950" y="3292650"/>
            <a:ext cx="40" cy="421200"/>
          </a:xfrm>
          <a:custGeom>
            <a:avLst/>
            <a:gdLst/>
            <a:ahLst/>
            <a:cxnLst/>
            <a:rect l="0" t="0" r="r" b="b"/>
            <a:pathLst>
              <a:path w="9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11340" cap="rnd">
            <a:solidFill>
              <a:srgbClr val="7C9F8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Evidence column divider"/>
          <p:cNvSpPr/>
          <p:nvPr/>
        </p:nvSpPr>
        <p:spPr>
          <a:xfrm>
            <a:off x="1782000" y="3308850"/>
            <a:ext cx="40" cy="396900"/>
          </a:xfrm>
          <a:custGeom>
            <a:avLst/>
            <a:gdLst/>
            <a:ahLst/>
            <a:cxnLst/>
            <a:rect l="0" t="0" r="r" b="b"/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3240" cap="rnd">
            <a:solidFill>
              <a:srgbClr val="CED9D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Evidence column divider"/>
          <p:cNvSpPr/>
          <p:nvPr/>
        </p:nvSpPr>
        <p:spPr>
          <a:xfrm>
            <a:off x="3564000" y="3308850"/>
            <a:ext cx="40" cy="396900"/>
          </a:xfrm>
          <a:custGeom>
            <a:avLst/>
            <a:gdLst/>
            <a:ahLst/>
            <a:cxnLst/>
            <a:rect l="0" t="0" r="r" b="b"/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3240" cap="rnd">
            <a:solidFill>
              <a:srgbClr val="CED9D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lgg_strain"/>
          <p:cNvSpPr txBox="1"/>
          <p:nvPr/>
        </p:nvSpPr>
        <p:spPr>
          <a:xfrm>
            <a:off x="311850" y="3272400"/>
            <a:ext cx="1356750" cy="1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08" b="1" i="1">
                <a:solidFill>
                  <a:srgbClr val="283B4E"/>
                </a:solidFill>
                <a:latin typeface="Times New Roman"/>
              </a:rPr>
              <a:t>L. rhamnosus</a:t>
            </a:r>
            <a:r>
              <a:rPr sz="808" b="1" i="0">
                <a:solidFill>
                  <a:srgbClr val="283B4E"/>
                </a:solidFill>
                <a:latin typeface="Times New Roman"/>
              </a:rPr>
              <a:t> GG</a:t>
            </a:r>
          </a:p>
        </p:txBody>
      </p:sp>
      <p:sp>
        <p:nvSpPr>
          <p:cNvPr id="458" name="lgg_model"/>
          <p:cNvSpPr txBox="1"/>
          <p:nvPr/>
        </p:nvSpPr>
        <p:spPr>
          <a:xfrm>
            <a:off x="311850" y="3454650"/>
            <a:ext cx="1356750" cy="2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0" i="0">
                <a:solidFill>
                  <a:srgbClr val="586B79"/>
                </a:solidFill>
                <a:latin typeface="Times New Roman"/>
              </a:rPr>
              <a:t>Experimental PH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0" i="0">
                <a:solidFill>
                  <a:srgbClr val="586B79"/>
                </a:solidFill>
                <a:latin typeface="Times New Roman"/>
              </a:rPr>
              <a:t>MCT rats [71]</a:t>
            </a:r>
          </a:p>
        </p:txBody>
      </p:sp>
      <p:sp>
        <p:nvSpPr>
          <p:cNvPr id="459" name="lgg_rv_function"/>
          <p:cNvSpPr txBox="1"/>
          <p:nvPr/>
        </p:nvSpPr>
        <p:spPr>
          <a:xfrm>
            <a:off x="1915650" y="3288600"/>
            <a:ext cx="1551150" cy="14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08" b="1" i="0">
                <a:solidFill>
                  <a:srgbClr val="3D7457"/>
                </a:solidFill>
                <a:latin typeface="Times New Roman"/>
              </a:rPr>
              <a:t>RV function improved</a:t>
            </a:r>
          </a:p>
        </p:txBody>
      </p:sp>
      <p:sp>
        <p:nvSpPr>
          <p:cNvPr id="460" name="lgg_rv_fibrosis"/>
          <p:cNvSpPr txBox="1"/>
          <p:nvPr/>
        </p:nvSpPr>
        <p:spPr>
          <a:xfrm>
            <a:off x="1915650" y="3495150"/>
            <a:ext cx="1551150" cy="14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0" i="0">
                <a:solidFill>
                  <a:srgbClr val="3D7457"/>
                </a:solidFill>
                <a:latin typeface="Times New Roman"/>
              </a:rPr>
              <a:t>RV fibrosis reduced</a:t>
            </a:r>
          </a:p>
        </p:txBody>
      </p:sp>
      <p:sp>
        <p:nvSpPr>
          <p:cNvPr id="461" name="lgg_pulmonary_endpoint"/>
          <p:cNvSpPr txBox="1"/>
          <p:nvPr/>
        </p:nvSpPr>
        <p:spPr>
          <a:xfrm>
            <a:off x="3701700" y="3268350"/>
            <a:ext cx="2494800" cy="263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3B4E"/>
                </a:solidFill>
                <a:latin typeface="Times New Roman"/>
              </a:rPr>
              <a:t>Pulmonary vascular load 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87" b="1" i="0">
                <a:solidFill>
                  <a:srgbClr val="283B4E"/>
                </a:solidFill>
                <a:latin typeface="Times New Roman"/>
              </a:rPr>
              <a:t>pulmonary arteriolar remodeling</a:t>
            </a:r>
          </a:p>
        </p:txBody>
      </p:sp>
      <p:sp>
        <p:nvSpPr>
          <p:cNvPr id="462" name="lgg_pulmonary_result"/>
          <p:cNvSpPr txBox="1"/>
          <p:nvPr/>
        </p:nvSpPr>
        <p:spPr>
          <a:xfrm>
            <a:off x="3701700" y="3564000"/>
            <a:ext cx="2494800" cy="13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0" i="0">
                <a:solidFill>
                  <a:srgbClr val="586B79"/>
                </a:solidFill>
                <a:latin typeface="Times New Roman"/>
              </a:rPr>
              <a:t>No significant differences detected</a:t>
            </a:r>
          </a:p>
        </p:txBody>
      </p:sp>
      <p:sp>
        <p:nvSpPr>
          <p:cNvPr id="463" name="Microbiota color key"/>
          <p:cNvSpPr/>
          <p:nvPr/>
        </p:nvSpPr>
        <p:spPr>
          <a:xfrm>
            <a:off x="186300" y="38799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9720" cap="rnd">
            <a:solidFill>
              <a:srgbClr val="287A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legend_microbiota"/>
          <p:cNvSpPr txBox="1"/>
          <p:nvPr/>
        </p:nvSpPr>
        <p:spPr>
          <a:xfrm>
            <a:off x="433350" y="3807000"/>
            <a:ext cx="2442150" cy="14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0" i="0">
                <a:solidFill>
                  <a:srgbClr val="287A7D"/>
                </a:solidFill>
                <a:latin typeface="Times New Roman"/>
              </a:rPr>
              <a:t>Microbiota-related signals</a:t>
            </a:r>
          </a:p>
        </p:txBody>
      </p:sp>
      <p:sp>
        <p:nvSpPr>
          <p:cNvPr id="465" name="Hemodynamics color key"/>
          <p:cNvSpPr/>
          <p:nvPr/>
        </p:nvSpPr>
        <p:spPr>
          <a:xfrm>
            <a:off x="3361500" y="38799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9720" cap="rnd">
            <a:solidFill>
              <a:srgbClr val="3048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legend_hemodynamics"/>
          <p:cNvSpPr txBox="1"/>
          <p:nvPr/>
        </p:nvSpPr>
        <p:spPr>
          <a:xfrm>
            <a:off x="3608550" y="3807000"/>
            <a:ext cx="2693250" cy="14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65" b="0" i="0">
                <a:solidFill>
                  <a:srgbClr val="30485F"/>
                </a:solidFill>
                <a:latin typeface="Times New Roman"/>
              </a:rPr>
              <a:t>Hemodynamic effects</a:t>
            </a:r>
          </a:p>
        </p:txBody>
      </p:sp>
      <p:sp>
        <p:nvSpPr>
          <p:cNvPr id="467" name="legend_established"/>
          <p:cNvSpPr/>
          <p:nvPr/>
        </p:nvSpPr>
        <p:spPr>
          <a:xfrm>
            <a:off x="186300" y="40662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8910" cap="rnd">
            <a:solidFill>
              <a:srgbClr val="3048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legend_established head"/>
          <p:cNvSpPr/>
          <p:nvPr/>
        </p:nvSpPr>
        <p:spPr>
          <a:xfrm>
            <a:off x="328050" y="40495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95250" y="39053"/>
                </a:move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legend_solid"/>
          <p:cNvSpPr txBox="1"/>
          <p:nvPr/>
        </p:nvSpPr>
        <p:spPr>
          <a:xfrm>
            <a:off x="433350" y="3985200"/>
            <a:ext cx="2442150" cy="174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283B4E"/>
                </a:solidFill>
                <a:latin typeface="Times New Roman"/>
              </a:rPr>
              <a:t>Established afterload relation</a:t>
            </a:r>
          </a:p>
        </p:txBody>
      </p:sp>
      <p:sp>
        <p:nvSpPr>
          <p:cNvPr id="470" name="legend_proposed"/>
          <p:cNvSpPr/>
          <p:nvPr/>
        </p:nvSpPr>
        <p:spPr>
          <a:xfrm>
            <a:off x="3361500" y="40662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8910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legend_proposed head"/>
          <p:cNvSpPr/>
          <p:nvPr/>
        </p:nvSpPr>
        <p:spPr>
          <a:xfrm>
            <a:off x="3503250" y="40495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95250" y="39053"/>
                </a:move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legend_dashed"/>
          <p:cNvSpPr txBox="1"/>
          <p:nvPr/>
        </p:nvSpPr>
        <p:spPr>
          <a:xfrm>
            <a:off x="3608550" y="3973050"/>
            <a:ext cx="2693250" cy="20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744" b="0" i="0">
                <a:solidFill>
                  <a:srgbClr val="283B4E"/>
                </a:solidFill>
                <a:latin typeface="Times New Roman"/>
              </a:rPr>
              <a:t>Proposed PAH link / incomplete pathway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/>
  <PresentationFormat>Custom (180 × 117 mm)</PresentationFormat>
  <Slides>1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Gut–pulmonary vascular–right ventricular interactions in PAH</dc:title>
  <dc:subject/>
  <dc:creator/>
  <cp:keywords/>
  <dc:description/>
  <cp:lastModifiedBy/>
  <cp:revision>3</cp:revision>
  <dcterms:created xsi:type="dcterms:W3CDTF">2026-10-17T17:34:56Z</dcterms:created>
  <dcterms:modified xsi:type="dcterms:W3CDTF">2026-10-17T17:34:56Z</dcterms:modified>
  <cp:category/>
  <dc:identifier/>
  <cp:contentStatus/>
  <cp:version/>
</cp:coreProperties>
</file>