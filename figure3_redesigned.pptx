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480000" cy="4212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oft three-color paper"/>
          <p:cNvSpPr/>
          <p:nvPr/>
        </p:nvSpPr>
        <p:spPr>
          <a:xfrm>
            <a:off x="0" y="0"/>
            <a:ext cx="6480000" cy="4212000"/>
          </a:xfrm>
          <a:prstGeom prst="rect">
            <a:avLst/>
          </a:prstGeom>
          <a:gradFill rotWithShape="1">
            <a:gsLst>
              <a:gs pos="0">
                <a:srgbClr val="FFF1DF"/>
              </a:gs>
              <a:gs pos="46000">
                <a:srgbClr val="F4F4E9"/>
              </a:gs>
              <a:gs pos="100000">
                <a:srgbClr val="DFEAF8"/>
              </a:gs>
            </a:gsLst>
            <a:lin ang="12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igure_title"/>
          <p:cNvSpPr txBox="1"/>
          <p:nvPr/>
        </p:nvSpPr>
        <p:spPr>
          <a:xfrm>
            <a:off x="178200" y="68850"/>
            <a:ext cx="6123600" cy="14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978" b="1" i="0">
                <a:solidFill>
                  <a:srgbClr val="283B4E"/>
                </a:solidFill>
                <a:latin typeface="Times New Roman"/>
              </a:rPr>
              <a:t>Gut–pulmonary vascular–right ventricular interactions in PAH</a:t>
            </a:r>
          </a:p>
        </p:txBody>
      </p:sp>
      <p:sp>
        <p:nvSpPr>
          <p:cNvPr id="4" name="panel_gut"/>
          <p:cNvSpPr txBox="1"/>
          <p:nvPr/>
        </p:nvSpPr>
        <p:spPr>
          <a:xfrm>
            <a:off x="194400" y="275400"/>
            <a:ext cx="2389500" cy="12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50" b="1" i="0">
                <a:solidFill>
                  <a:srgbClr val="283B4E"/>
                </a:solidFill>
                <a:latin typeface="Times New Roman"/>
              </a:rPr>
              <a:t>A   Intestinal changes</a:t>
            </a:r>
          </a:p>
        </p:txBody>
      </p:sp>
      <p:sp>
        <p:nvSpPr>
          <p:cNvPr id="5" name="panel_lung"/>
          <p:cNvSpPr txBox="1"/>
          <p:nvPr/>
        </p:nvSpPr>
        <p:spPr>
          <a:xfrm>
            <a:off x="2907900" y="275400"/>
            <a:ext cx="1599750" cy="12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50" b="1" i="0">
                <a:solidFill>
                  <a:srgbClr val="283B4E"/>
                </a:solidFill>
                <a:latin typeface="Times New Roman"/>
              </a:rPr>
              <a:t>B   Pulmonary vasculature</a:t>
            </a:r>
          </a:p>
        </p:txBody>
      </p:sp>
      <p:sp>
        <p:nvSpPr>
          <p:cNvPr id="6" name="panel_rv"/>
          <p:cNvSpPr txBox="1"/>
          <p:nvPr/>
        </p:nvSpPr>
        <p:spPr>
          <a:xfrm>
            <a:off x="4779000" y="275400"/>
            <a:ext cx="1522800" cy="12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50" b="1" i="0">
                <a:solidFill>
                  <a:srgbClr val="283B4E"/>
                </a:solidFill>
                <a:latin typeface="Times New Roman"/>
              </a:rPr>
              <a:t>C   Right ventricle</a:t>
            </a:r>
          </a:p>
        </p:txBody>
      </p:sp>
      <p:sp>
        <p:nvSpPr>
          <p:cNvPr id="7" name="Compartment rule"/>
          <p:cNvSpPr/>
          <p:nvPr/>
        </p:nvSpPr>
        <p:spPr>
          <a:xfrm>
            <a:off x="194400" y="437400"/>
            <a:ext cx="2462400" cy="40"/>
          </a:xfrm>
          <a:custGeom>
            <a:avLst/>
            <a:gdLst/>
            <a:ahLst/>
            <a:cxnLst/>
            <a:rect l="0" t="0" r="r" b="b"/>
            <a:pathLst>
              <a:path w="5791200" h="95">
                <a:moveTo>
                  <a:pt x="0" y="0"/>
                </a:moveTo>
                <a:lnTo>
                  <a:pt x="5791200" y="0"/>
                </a:lnTo>
              </a:path>
            </a:pathLst>
          </a:custGeom>
          <a:noFill/>
          <a:ln w="4050" cap="rnd">
            <a:solidFill>
              <a:srgbClr val="C6D2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ompartment rule"/>
          <p:cNvSpPr/>
          <p:nvPr/>
        </p:nvSpPr>
        <p:spPr>
          <a:xfrm>
            <a:off x="2907900" y="437400"/>
            <a:ext cx="1599750" cy="40"/>
          </a:xfrm>
          <a:custGeom>
            <a:avLst/>
            <a:gdLst/>
            <a:ahLst/>
            <a:cxnLst/>
            <a:rect l="0" t="0" r="r" b="b"/>
            <a:pathLst>
              <a:path w="3762375" h="95">
                <a:moveTo>
                  <a:pt x="0" y="0"/>
                </a:moveTo>
                <a:lnTo>
                  <a:pt x="3762375" y="0"/>
                </a:lnTo>
              </a:path>
            </a:pathLst>
          </a:custGeom>
          <a:noFill/>
          <a:ln w="4050" cap="rnd">
            <a:solidFill>
              <a:srgbClr val="C6D2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ompartment rule"/>
          <p:cNvSpPr/>
          <p:nvPr/>
        </p:nvSpPr>
        <p:spPr>
          <a:xfrm>
            <a:off x="4779000" y="437400"/>
            <a:ext cx="1522800" cy="40"/>
          </a:xfrm>
          <a:custGeom>
            <a:avLst/>
            <a:gdLst/>
            <a:ahLst/>
            <a:cxnLst/>
            <a:rect l="0" t="0" r="r" b="b"/>
            <a:pathLst>
              <a:path w="3581400" h="95">
                <a:moveTo>
                  <a:pt x="0" y="0"/>
                </a:moveTo>
                <a:lnTo>
                  <a:pt x="3581400" y="0"/>
                </a:lnTo>
              </a:path>
            </a:pathLst>
          </a:custGeom>
          <a:noFill/>
          <a:ln w="4050" cap="rnd">
            <a:solidFill>
              <a:srgbClr val="C6D2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0" name="Editable intestine with anatomical haustra and naturally folded bowel"/>
          <p:cNvGrpSpPr/>
          <p:nvPr/>
        </p:nvGrpSpPr>
        <p:grpSpPr>
          <a:xfrm>
            <a:off x="198450" y="546750"/>
            <a:ext cx="696600" cy="886950"/>
            <a:chOff x="85050" y="93150"/>
            <a:chExt cx="708750" cy="915300"/>
          </a:xfrm>
        </p:grpSpPr>
        <p:sp>
          <p:nvSpPr>
            <p:cNvPr id="11" name="Quiet small-bowel mesenteric field"/>
            <p:cNvSpPr/>
            <p:nvPr/>
          </p:nvSpPr>
          <p:spPr>
            <a:xfrm>
              <a:off x="218700" y="307800"/>
              <a:ext cx="445500" cy="421200"/>
            </a:xfrm>
            <a:custGeom>
              <a:avLst/>
              <a:gdLst/>
              <a:ahLst/>
              <a:cxnLst/>
              <a:rect l="0" t="0" r="r" b="b"/>
              <a:pathLst>
                <a:path w="1047750" h="990600">
                  <a:moveTo>
                    <a:pt x="85725" y="95250"/>
                  </a:moveTo>
                  <a:cubicBezTo>
                    <a:pt x="276225" y="0"/>
                    <a:pt x="685800" y="66675"/>
                    <a:pt x="914400" y="161925"/>
                  </a:cubicBezTo>
                  <a:cubicBezTo>
                    <a:pt x="1047750" y="333375"/>
                    <a:pt x="1009650" y="704850"/>
                    <a:pt x="866775" y="847725"/>
                  </a:cubicBezTo>
                  <a:cubicBezTo>
                    <a:pt x="676275" y="990600"/>
                    <a:pt x="266700" y="914400"/>
                    <a:pt x="95250" y="781050"/>
                  </a:cubicBezTo>
                  <a:cubicBezTo>
                    <a:pt x="0" y="609600"/>
                    <a:pt x="19050" y="257175"/>
                    <a:pt x="85725" y="95250"/>
                  </a:cubicBezTo>
                  <a:close/>
                </a:path>
              </a:pathLst>
            </a:custGeom>
            <a:gradFill rotWithShape="1">
              <a:gsLst>
                <a:gs pos="0">
                  <a:srgbClr val="FDE9D8"/>
                </a:gs>
                <a:gs pos="55000">
                  <a:srgbClr val="F7DBCA"/>
                </a:gs>
                <a:gs pos="100000">
                  <a:srgbClr val="F0C4B2"/>
                </a:gs>
              </a:gsLst>
              <a:lin ang="4800000" scaled="1"/>
            </a:gra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Natural small-bowel coil 01"/>
            <p:cNvSpPr/>
            <p:nvPr/>
          </p:nvSpPr>
          <p:spPr>
            <a:xfrm>
              <a:off x="245638" y="330175"/>
              <a:ext cx="376390" cy="149345"/>
            </a:xfrm>
            <a:custGeom>
              <a:avLst/>
              <a:gdLst/>
              <a:ahLst/>
              <a:cxnLst/>
              <a:rect l="0" t="0" r="r" b="b"/>
              <a:pathLst>
                <a:path w="885213" h="351238">
                  <a:moveTo>
                    <a:pt x="77241" y="159633"/>
                  </a:moveTo>
                  <a:lnTo>
                    <a:pt x="87842" y="142066"/>
                  </a:lnTo>
                  <a:lnTo>
                    <a:pt x="98085" y="128704"/>
                  </a:lnTo>
                  <a:lnTo>
                    <a:pt x="108947" y="117410"/>
                  </a:lnTo>
                  <a:lnTo>
                    <a:pt x="120342" y="107991"/>
                  </a:lnTo>
                  <a:lnTo>
                    <a:pt x="132210" y="100278"/>
                  </a:lnTo>
                  <a:lnTo>
                    <a:pt x="144504" y="94139"/>
                  </a:lnTo>
                  <a:lnTo>
                    <a:pt x="157177" y="89481"/>
                  </a:lnTo>
                  <a:lnTo>
                    <a:pt x="170160" y="86237"/>
                  </a:lnTo>
                  <a:lnTo>
                    <a:pt x="183363" y="84362"/>
                  </a:lnTo>
                  <a:lnTo>
                    <a:pt x="196669" y="83818"/>
                  </a:lnTo>
                  <a:lnTo>
                    <a:pt x="209938" y="84564"/>
                  </a:lnTo>
                  <a:lnTo>
                    <a:pt x="223014" y="86550"/>
                  </a:lnTo>
                  <a:lnTo>
                    <a:pt x="235728" y="89713"/>
                  </a:lnTo>
                  <a:lnTo>
                    <a:pt x="247909" y="93976"/>
                  </a:lnTo>
                  <a:lnTo>
                    <a:pt x="259383" y="99242"/>
                  </a:lnTo>
                  <a:lnTo>
                    <a:pt x="269986" y="105401"/>
                  </a:lnTo>
                  <a:lnTo>
                    <a:pt x="279565" y="112323"/>
                  </a:lnTo>
                  <a:lnTo>
                    <a:pt x="289502" y="121308"/>
                  </a:lnTo>
                  <a:lnTo>
                    <a:pt x="302160" y="132853"/>
                  </a:lnTo>
                  <a:lnTo>
                    <a:pt x="317193" y="144372"/>
                  </a:lnTo>
                  <a:lnTo>
                    <a:pt x="332991" y="154404"/>
                  </a:lnTo>
                  <a:lnTo>
                    <a:pt x="349447" y="162935"/>
                  </a:lnTo>
                  <a:lnTo>
                    <a:pt x="366454" y="169963"/>
                  </a:lnTo>
                  <a:lnTo>
                    <a:pt x="383907" y="175497"/>
                  </a:lnTo>
                  <a:lnTo>
                    <a:pt x="401706" y="179555"/>
                  </a:lnTo>
                  <a:lnTo>
                    <a:pt x="419759" y="182162"/>
                  </a:lnTo>
                  <a:lnTo>
                    <a:pt x="437981" y="183345"/>
                  </a:lnTo>
                  <a:lnTo>
                    <a:pt x="456292" y="183135"/>
                  </a:lnTo>
                  <a:lnTo>
                    <a:pt x="474621" y="181562"/>
                  </a:lnTo>
                  <a:lnTo>
                    <a:pt x="492900" y="178657"/>
                  </a:lnTo>
                  <a:lnTo>
                    <a:pt x="511064" y="174446"/>
                  </a:lnTo>
                  <a:lnTo>
                    <a:pt x="529053" y="168956"/>
                  </a:lnTo>
                  <a:lnTo>
                    <a:pt x="546807" y="162210"/>
                  </a:lnTo>
                  <a:lnTo>
                    <a:pt x="564268" y="154229"/>
                  </a:lnTo>
                  <a:lnTo>
                    <a:pt x="581377" y="145034"/>
                  </a:lnTo>
                  <a:lnTo>
                    <a:pt x="595362" y="136308"/>
                  </a:lnTo>
                  <a:lnTo>
                    <a:pt x="611486" y="127935"/>
                  </a:lnTo>
                  <a:lnTo>
                    <a:pt x="627215" y="121724"/>
                  </a:lnTo>
                  <a:lnTo>
                    <a:pt x="643057" y="117236"/>
                  </a:lnTo>
                  <a:lnTo>
                    <a:pt x="658891" y="114395"/>
                  </a:lnTo>
                  <a:lnTo>
                    <a:pt x="674583" y="113133"/>
                  </a:lnTo>
                  <a:lnTo>
                    <a:pt x="689986" y="113381"/>
                  </a:lnTo>
                  <a:lnTo>
                    <a:pt x="704942" y="115064"/>
                  </a:lnTo>
                  <a:lnTo>
                    <a:pt x="719286" y="118099"/>
                  </a:lnTo>
                  <a:lnTo>
                    <a:pt x="732851" y="122390"/>
                  </a:lnTo>
                  <a:lnTo>
                    <a:pt x="745472" y="127825"/>
                  </a:lnTo>
                  <a:lnTo>
                    <a:pt x="756998" y="134281"/>
                  </a:lnTo>
                  <a:lnTo>
                    <a:pt x="767295" y="141623"/>
                  </a:lnTo>
                  <a:lnTo>
                    <a:pt x="776260" y="149714"/>
                  </a:lnTo>
                  <a:lnTo>
                    <a:pt x="783825" y="158430"/>
                  </a:lnTo>
                  <a:lnTo>
                    <a:pt x="789964" y="167680"/>
                  </a:lnTo>
                  <a:lnTo>
                    <a:pt x="794676" y="177436"/>
                  </a:lnTo>
                  <a:lnTo>
                    <a:pt x="797961" y="187751"/>
                  </a:lnTo>
                  <a:lnTo>
                    <a:pt x="799961" y="200442"/>
                  </a:lnTo>
                  <a:lnTo>
                    <a:pt x="801427" y="214475"/>
                  </a:lnTo>
                  <a:lnTo>
                    <a:pt x="800932" y="224708"/>
                  </a:lnTo>
                  <a:lnTo>
                    <a:pt x="799172" y="232993"/>
                  </a:lnTo>
                  <a:lnTo>
                    <a:pt x="796460" y="239777"/>
                  </a:lnTo>
                  <a:lnTo>
                    <a:pt x="792893" y="245539"/>
                  </a:lnTo>
                  <a:lnTo>
                    <a:pt x="788385" y="250637"/>
                  </a:lnTo>
                  <a:lnTo>
                    <a:pt x="782782" y="255227"/>
                  </a:lnTo>
                  <a:lnTo>
                    <a:pt x="775985" y="259282"/>
                  </a:lnTo>
                  <a:lnTo>
                    <a:pt x="768007" y="262675"/>
                  </a:lnTo>
                  <a:lnTo>
                    <a:pt x="758964" y="265248"/>
                  </a:lnTo>
                  <a:lnTo>
                    <a:pt x="749052" y="266863"/>
                  </a:lnTo>
                  <a:lnTo>
                    <a:pt x="738509" y="267418"/>
                  </a:lnTo>
                  <a:lnTo>
                    <a:pt x="727594" y="266849"/>
                  </a:lnTo>
                  <a:lnTo>
                    <a:pt x="716571" y="265131"/>
                  </a:lnTo>
                  <a:lnTo>
                    <a:pt x="705696" y="262271"/>
                  </a:lnTo>
                  <a:lnTo>
                    <a:pt x="695209" y="258302"/>
                  </a:lnTo>
                  <a:lnTo>
                    <a:pt x="685322" y="253278"/>
                  </a:lnTo>
                  <a:lnTo>
                    <a:pt x="674149" y="245803"/>
                  </a:lnTo>
                  <a:lnTo>
                    <a:pt x="659014" y="239612"/>
                  </a:lnTo>
                  <a:lnTo>
                    <a:pt x="642662" y="239684"/>
                  </a:lnTo>
                  <a:lnTo>
                    <a:pt x="627582" y="246009"/>
                  </a:lnTo>
                  <a:lnTo>
                    <a:pt x="616070" y="257623"/>
                  </a:lnTo>
                  <a:lnTo>
                    <a:pt x="609879" y="272758"/>
                  </a:lnTo>
                  <a:lnTo>
                    <a:pt x="609952" y="289111"/>
                  </a:lnTo>
                  <a:lnTo>
                    <a:pt x="616276" y="304190"/>
                  </a:lnTo>
                  <a:lnTo>
                    <a:pt x="627890" y="315702"/>
                  </a:lnTo>
                  <a:lnTo>
                    <a:pt x="627890" y="315702"/>
                  </a:lnTo>
                  <a:lnTo>
                    <a:pt x="643104" y="325690"/>
                  </a:lnTo>
                  <a:lnTo>
                    <a:pt x="661289" y="334953"/>
                  </a:lnTo>
                  <a:lnTo>
                    <a:pt x="680128" y="342096"/>
                  </a:lnTo>
                  <a:lnTo>
                    <a:pt x="699403" y="347174"/>
                  </a:lnTo>
                  <a:lnTo>
                    <a:pt x="718921" y="350219"/>
                  </a:lnTo>
                  <a:lnTo>
                    <a:pt x="738509" y="351238"/>
                  </a:lnTo>
                  <a:lnTo>
                    <a:pt x="757997" y="350204"/>
                  </a:lnTo>
                  <a:lnTo>
                    <a:pt x="777215" y="347057"/>
                  </a:lnTo>
                  <a:lnTo>
                    <a:pt x="795970" y="341693"/>
                  </a:lnTo>
                  <a:lnTo>
                    <a:pt x="814025" y="333973"/>
                  </a:lnTo>
                  <a:lnTo>
                    <a:pt x="831068" y="323741"/>
                  </a:lnTo>
                  <a:lnTo>
                    <a:pt x="846677" y="310868"/>
                  </a:lnTo>
                  <a:lnTo>
                    <a:pt x="860323" y="295329"/>
                  </a:lnTo>
                  <a:lnTo>
                    <a:pt x="871423" y="277278"/>
                  </a:lnTo>
                  <a:lnTo>
                    <a:pt x="879458" y="257075"/>
                  </a:lnTo>
                  <a:lnTo>
                    <a:pt x="884093" y="235197"/>
                  </a:lnTo>
                  <a:lnTo>
                    <a:pt x="885213" y="212093"/>
                  </a:lnTo>
                  <a:lnTo>
                    <a:pt x="883079" y="189613"/>
                  </a:lnTo>
                  <a:lnTo>
                    <a:pt x="879490" y="168287"/>
                  </a:lnTo>
                  <a:lnTo>
                    <a:pt x="872580" y="146506"/>
                  </a:lnTo>
                  <a:lnTo>
                    <a:pt x="862825" y="126243"/>
                  </a:lnTo>
                  <a:lnTo>
                    <a:pt x="850557" y="107709"/>
                  </a:lnTo>
                  <a:lnTo>
                    <a:pt x="836110" y="91031"/>
                  </a:lnTo>
                  <a:lnTo>
                    <a:pt x="819789" y="76277"/>
                  </a:lnTo>
                  <a:lnTo>
                    <a:pt x="801861" y="63478"/>
                  </a:lnTo>
                  <a:lnTo>
                    <a:pt x="782554" y="52654"/>
                  </a:lnTo>
                  <a:lnTo>
                    <a:pt x="762070" y="43828"/>
                  </a:lnTo>
                  <a:lnTo>
                    <a:pt x="740589" y="37032"/>
                  </a:lnTo>
                  <a:lnTo>
                    <a:pt x="718280" y="32312"/>
                  </a:lnTo>
                  <a:lnTo>
                    <a:pt x="695309" y="29730"/>
                  </a:lnTo>
                  <a:lnTo>
                    <a:pt x="671845" y="29357"/>
                  </a:lnTo>
                  <a:lnTo>
                    <a:pt x="648062" y="31277"/>
                  </a:lnTo>
                  <a:lnTo>
                    <a:pt x="624146" y="35577"/>
                  </a:lnTo>
                  <a:lnTo>
                    <a:pt x="600297" y="42344"/>
                  </a:lnTo>
                  <a:lnTo>
                    <a:pt x="576728" y="51662"/>
                  </a:lnTo>
                  <a:lnTo>
                    <a:pt x="554278" y="63247"/>
                  </a:lnTo>
                  <a:lnTo>
                    <a:pt x="539354" y="72509"/>
                  </a:lnTo>
                  <a:lnTo>
                    <a:pt x="526967" y="79166"/>
                  </a:lnTo>
                  <a:lnTo>
                    <a:pt x="514462" y="84882"/>
                  </a:lnTo>
                  <a:lnTo>
                    <a:pt x="501897" y="89657"/>
                  </a:lnTo>
                  <a:lnTo>
                    <a:pt x="489331" y="93492"/>
                  </a:lnTo>
                  <a:lnTo>
                    <a:pt x="476823" y="96393"/>
                  </a:lnTo>
                  <a:lnTo>
                    <a:pt x="464430" y="98364"/>
                  </a:lnTo>
                  <a:lnTo>
                    <a:pt x="452204" y="99415"/>
                  </a:lnTo>
                  <a:lnTo>
                    <a:pt x="440196" y="99554"/>
                  </a:lnTo>
                  <a:lnTo>
                    <a:pt x="428451" y="98794"/>
                  </a:lnTo>
                  <a:lnTo>
                    <a:pt x="417008" y="97144"/>
                  </a:lnTo>
                  <a:lnTo>
                    <a:pt x="405899" y="94614"/>
                  </a:lnTo>
                  <a:lnTo>
                    <a:pt x="395150" y="91208"/>
                  </a:lnTo>
                  <a:lnTo>
                    <a:pt x="384777" y="86924"/>
                  </a:lnTo>
                  <a:lnTo>
                    <a:pt x="374794" y="81752"/>
                  </a:lnTo>
                  <a:lnTo>
                    <a:pt x="365212" y="75670"/>
                  </a:lnTo>
                  <a:lnTo>
                    <a:pt x="356041" y="68645"/>
                  </a:lnTo>
                  <a:lnTo>
                    <a:pt x="345788" y="59197"/>
                  </a:lnTo>
                  <a:lnTo>
                    <a:pt x="332141" y="47042"/>
                  </a:lnTo>
                  <a:lnTo>
                    <a:pt x="315628" y="35097"/>
                  </a:lnTo>
                  <a:lnTo>
                    <a:pt x="297943" y="24818"/>
                  </a:lnTo>
                  <a:lnTo>
                    <a:pt x="279248" y="16235"/>
                  </a:lnTo>
                  <a:lnTo>
                    <a:pt x="259692" y="9392"/>
                  </a:lnTo>
                  <a:lnTo>
                    <a:pt x="239415" y="4350"/>
                  </a:lnTo>
                  <a:lnTo>
                    <a:pt x="218559" y="1188"/>
                  </a:lnTo>
                  <a:lnTo>
                    <a:pt x="197268" y="0"/>
                  </a:lnTo>
                  <a:lnTo>
                    <a:pt x="175701" y="893"/>
                  </a:lnTo>
                  <a:lnTo>
                    <a:pt x="154032" y="3983"/>
                  </a:lnTo>
                  <a:lnTo>
                    <a:pt x="132456" y="9389"/>
                  </a:lnTo>
                  <a:lnTo>
                    <a:pt x="111196" y="17221"/>
                  </a:lnTo>
                  <a:lnTo>
                    <a:pt x="90500" y="27572"/>
                  </a:lnTo>
                  <a:lnTo>
                    <a:pt x="70631" y="40503"/>
                  </a:lnTo>
                  <a:lnTo>
                    <a:pt x="51856" y="56039"/>
                  </a:lnTo>
                  <a:lnTo>
                    <a:pt x="34431" y="74170"/>
                  </a:lnTo>
                  <a:lnTo>
                    <a:pt x="18581" y="94857"/>
                  </a:lnTo>
                  <a:lnTo>
                    <a:pt x="5599" y="116122"/>
                  </a:lnTo>
                  <a:lnTo>
                    <a:pt x="0" y="131486"/>
                  </a:lnTo>
                  <a:lnTo>
                    <a:pt x="707" y="147823"/>
                  </a:lnTo>
                  <a:lnTo>
                    <a:pt x="7612" y="162646"/>
                  </a:lnTo>
                  <a:lnTo>
                    <a:pt x="19664" y="173699"/>
                  </a:lnTo>
                  <a:lnTo>
                    <a:pt x="35029" y="179297"/>
                  </a:lnTo>
                  <a:lnTo>
                    <a:pt x="51366" y="178590"/>
                  </a:lnTo>
                  <a:lnTo>
                    <a:pt x="66189" y="171685"/>
                  </a:lnTo>
                  <a:lnTo>
                    <a:pt x="77241" y="159633"/>
                  </a:lnTo>
                  <a:close/>
                </a:path>
              </a:pathLst>
            </a:custGeom>
            <a:gradFill rotWithShape="1">
              <a:gsLst>
                <a:gs pos="0">
                  <a:srgbClr val="FFE0CB"/>
                </a:gs>
                <a:gs pos="33000">
                  <a:srgbClr val="FAD0BC"/>
                </a:gs>
                <a:gs pos="69000">
                  <a:srgbClr val="F5BAA6"/>
                </a:gs>
                <a:gs pos="100000">
                  <a:srgbClr val="E9A38E"/>
                </a:gs>
              </a:gsLst>
              <a:lin ang="4200000" scaled="1"/>
            </a:gradFill>
            <a:ln w="3442" cap="rnd">
              <a:solidFill>
                <a:srgbClr val="CB8B7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Natural small-bowel coil 01 soft reflected light"/>
            <p:cNvSpPr/>
            <p:nvPr/>
          </p:nvSpPr>
          <p:spPr>
            <a:xfrm>
              <a:off x="258528" y="342452"/>
              <a:ext cx="351280" cy="124773"/>
            </a:xfrm>
            <a:custGeom>
              <a:avLst/>
              <a:gdLst/>
              <a:ahLst/>
              <a:cxnLst/>
              <a:rect l="0" t="0" r="r" b="b"/>
              <a:pathLst>
                <a:path w="826158" h="293447">
                  <a:moveTo>
                    <a:pt x="0" y="102260"/>
                  </a:moveTo>
                  <a:cubicBezTo>
                    <a:pt x="2027" y="98928"/>
                    <a:pt x="7815" y="88629"/>
                    <a:pt x="12161" y="82271"/>
                  </a:cubicBezTo>
                  <a:cubicBezTo>
                    <a:pt x="16507" y="75913"/>
                    <a:pt x="21230" y="69766"/>
                    <a:pt x="26076" y="64111"/>
                  </a:cubicBezTo>
                  <a:cubicBezTo>
                    <a:pt x="30922" y="58455"/>
                    <a:pt x="36006" y="53205"/>
                    <a:pt x="41237" y="48339"/>
                  </a:cubicBezTo>
                  <a:cubicBezTo>
                    <a:pt x="46469" y="43473"/>
                    <a:pt x="51910" y="39006"/>
                    <a:pt x="57466" y="34913"/>
                  </a:cubicBezTo>
                  <a:cubicBezTo>
                    <a:pt x="63022" y="30820"/>
                    <a:pt x="68757" y="27120"/>
                    <a:pt x="74574" y="23782"/>
                  </a:cubicBezTo>
                  <a:cubicBezTo>
                    <a:pt x="80392" y="20444"/>
                    <a:pt x="86357" y="17490"/>
                    <a:pt x="92372" y="14885"/>
                  </a:cubicBezTo>
                  <a:cubicBezTo>
                    <a:pt x="98388" y="12279"/>
                    <a:pt x="104518" y="10047"/>
                    <a:pt x="110669" y="8147"/>
                  </a:cubicBezTo>
                  <a:cubicBezTo>
                    <a:pt x="116821" y="6248"/>
                    <a:pt x="123054" y="4709"/>
                    <a:pt x="129281" y="3487"/>
                  </a:cubicBezTo>
                  <a:cubicBezTo>
                    <a:pt x="135507" y="2266"/>
                    <a:pt x="141785" y="1390"/>
                    <a:pt x="148029" y="816"/>
                  </a:cubicBezTo>
                  <a:cubicBezTo>
                    <a:pt x="154274" y="243"/>
                    <a:pt x="160540" y="0"/>
                    <a:pt x="166746" y="44"/>
                  </a:cubicBezTo>
                  <a:cubicBezTo>
                    <a:pt x="172953" y="88"/>
                    <a:pt x="179153" y="447"/>
                    <a:pt x="185269" y="1079"/>
                  </a:cubicBezTo>
                  <a:cubicBezTo>
                    <a:pt x="191385" y="1711"/>
                    <a:pt x="197468" y="2644"/>
                    <a:pt x="203441" y="3835"/>
                  </a:cubicBezTo>
                  <a:cubicBezTo>
                    <a:pt x="209414" y="5027"/>
                    <a:pt x="215329" y="6505"/>
                    <a:pt x="221109" y="8229"/>
                  </a:cubicBezTo>
                  <a:cubicBezTo>
                    <a:pt x="226889" y="9954"/>
                    <a:pt x="232585" y="11950"/>
                    <a:pt x="238121" y="14182"/>
                  </a:cubicBezTo>
                  <a:cubicBezTo>
                    <a:pt x="243657" y="16414"/>
                    <a:pt x="249083" y="18905"/>
                    <a:pt x="254324" y="21621"/>
                  </a:cubicBezTo>
                  <a:cubicBezTo>
                    <a:pt x="259565" y="24337"/>
                    <a:pt x="264672" y="27300"/>
                    <a:pt x="269566" y="30478"/>
                  </a:cubicBezTo>
                  <a:cubicBezTo>
                    <a:pt x="274460" y="33656"/>
                    <a:pt x="279272" y="37145"/>
                    <a:pt x="283687" y="40690"/>
                  </a:cubicBezTo>
                  <a:cubicBezTo>
                    <a:pt x="288101" y="44236"/>
                    <a:pt x="292145" y="48213"/>
                    <a:pt x="296054" y="51752"/>
                  </a:cubicBezTo>
                  <a:cubicBezTo>
                    <a:pt x="299962" y="55291"/>
                    <a:pt x="303424" y="58799"/>
                    <a:pt x="307137" y="61924"/>
                  </a:cubicBezTo>
                  <a:cubicBezTo>
                    <a:pt x="310849" y="65048"/>
                    <a:pt x="314510" y="67829"/>
                    <a:pt x="318330" y="70499"/>
                  </a:cubicBezTo>
                  <a:cubicBezTo>
                    <a:pt x="322150" y="73169"/>
                    <a:pt x="326066" y="75648"/>
                    <a:pt x="330057" y="77943"/>
                  </a:cubicBezTo>
                  <a:cubicBezTo>
                    <a:pt x="334047" y="80239"/>
                    <a:pt x="338127" y="82347"/>
                    <a:pt x="342273" y="84274"/>
                  </a:cubicBezTo>
                  <a:cubicBezTo>
                    <a:pt x="346419" y="86201"/>
                    <a:pt x="350647" y="87943"/>
                    <a:pt x="354934" y="89505"/>
                  </a:cubicBezTo>
                  <a:cubicBezTo>
                    <a:pt x="359222" y="91067"/>
                    <a:pt x="363583" y="92445"/>
                    <a:pt x="367997" y="93645"/>
                  </a:cubicBezTo>
                  <a:cubicBezTo>
                    <a:pt x="372410" y="94845"/>
                    <a:pt x="376890" y="95863"/>
                    <a:pt x="381414" y="96702"/>
                  </a:cubicBezTo>
                  <a:cubicBezTo>
                    <a:pt x="385937" y="97542"/>
                    <a:pt x="390520" y="98201"/>
                    <a:pt x="395137" y="98682"/>
                  </a:cubicBezTo>
                  <a:cubicBezTo>
                    <a:pt x="399754" y="99163"/>
                    <a:pt x="404423" y="99465"/>
                    <a:pt x="409117" y="99588"/>
                  </a:cubicBezTo>
                  <a:cubicBezTo>
                    <a:pt x="413810" y="99712"/>
                    <a:pt x="418547" y="99657"/>
                    <a:pt x="423299" y="99425"/>
                  </a:cubicBezTo>
                  <a:cubicBezTo>
                    <a:pt x="428052" y="99192"/>
                    <a:pt x="432838" y="98781"/>
                    <a:pt x="437631" y="98194"/>
                  </a:cubicBezTo>
                  <a:cubicBezTo>
                    <a:pt x="442423" y="97607"/>
                    <a:pt x="447241" y="96842"/>
                    <a:pt x="452054" y="95900"/>
                  </a:cubicBezTo>
                  <a:cubicBezTo>
                    <a:pt x="456868" y="94959"/>
                    <a:pt x="461698" y="93841"/>
                    <a:pt x="466514" y="92548"/>
                  </a:cubicBezTo>
                  <a:cubicBezTo>
                    <a:pt x="471330" y="91255"/>
                    <a:pt x="476152" y="89785"/>
                    <a:pt x="480950" y="88142"/>
                  </a:cubicBezTo>
                  <a:cubicBezTo>
                    <a:pt x="485749" y="86498"/>
                    <a:pt x="490544" y="84679"/>
                    <a:pt x="495306" y="82687"/>
                  </a:cubicBezTo>
                  <a:cubicBezTo>
                    <a:pt x="500067" y="80695"/>
                    <a:pt x="504816" y="78528"/>
                    <a:pt x="509521" y="76190"/>
                  </a:cubicBezTo>
                  <a:cubicBezTo>
                    <a:pt x="514226" y="73851"/>
                    <a:pt x="518768" y="71425"/>
                    <a:pt x="523537" y="68657"/>
                  </a:cubicBezTo>
                  <a:cubicBezTo>
                    <a:pt x="528306" y="65889"/>
                    <a:pt x="532325" y="62839"/>
                    <a:pt x="538137" y="59580"/>
                  </a:cubicBezTo>
                  <a:cubicBezTo>
                    <a:pt x="543948" y="56321"/>
                    <a:pt x="551548" y="52223"/>
                    <a:pt x="558404" y="49103"/>
                  </a:cubicBezTo>
                  <a:cubicBezTo>
                    <a:pt x="565259" y="45982"/>
                    <a:pt x="572277" y="43228"/>
                    <a:pt x="579269" y="40857"/>
                  </a:cubicBezTo>
                  <a:cubicBezTo>
                    <a:pt x="586260" y="38486"/>
                    <a:pt x="593319" y="36505"/>
                    <a:pt x="600355" y="34876"/>
                  </a:cubicBezTo>
                  <a:cubicBezTo>
                    <a:pt x="607391" y="33246"/>
                    <a:pt x="614463" y="31994"/>
                    <a:pt x="621482" y="31079"/>
                  </a:cubicBezTo>
                  <a:cubicBezTo>
                    <a:pt x="628502" y="30164"/>
                    <a:pt x="635528" y="29614"/>
                    <a:pt x="642474" y="29386"/>
                  </a:cubicBezTo>
                  <a:cubicBezTo>
                    <a:pt x="649420" y="29159"/>
                    <a:pt x="656343" y="29282"/>
                    <a:pt x="663157" y="29716"/>
                  </a:cubicBezTo>
                  <a:cubicBezTo>
                    <a:pt x="669972" y="30150"/>
                    <a:pt x="676735" y="30920"/>
                    <a:pt x="683363" y="31988"/>
                  </a:cubicBezTo>
                  <a:cubicBezTo>
                    <a:pt x="689991" y="33057"/>
                    <a:pt x="696539" y="34448"/>
                    <a:pt x="702924" y="36127"/>
                  </a:cubicBezTo>
                  <a:cubicBezTo>
                    <a:pt x="709309" y="37805"/>
                    <a:pt x="715587" y="39794"/>
                    <a:pt x="721674" y="42058"/>
                  </a:cubicBezTo>
                  <a:cubicBezTo>
                    <a:pt x="727761" y="44323"/>
                    <a:pt x="733713" y="46886"/>
                    <a:pt x="739446" y="49715"/>
                  </a:cubicBezTo>
                  <a:cubicBezTo>
                    <a:pt x="745178" y="52543"/>
                    <a:pt x="750748" y="55659"/>
                    <a:pt x="756068" y="59031"/>
                  </a:cubicBezTo>
                  <a:cubicBezTo>
                    <a:pt x="761387" y="62404"/>
                    <a:pt x="766517" y="66052"/>
                    <a:pt x="771363" y="69948"/>
                  </a:cubicBezTo>
                  <a:cubicBezTo>
                    <a:pt x="776210" y="73843"/>
                    <a:pt x="780837" y="78006"/>
                    <a:pt x="785146" y="82403"/>
                  </a:cubicBezTo>
                  <a:cubicBezTo>
                    <a:pt x="789456" y="86801"/>
                    <a:pt x="793515" y="91457"/>
                    <a:pt x="797219" y="96334"/>
                  </a:cubicBezTo>
                  <a:cubicBezTo>
                    <a:pt x="800924" y="101211"/>
                    <a:pt x="804345" y="106337"/>
                    <a:pt x="807373" y="111665"/>
                  </a:cubicBezTo>
                  <a:cubicBezTo>
                    <a:pt x="810401" y="116994"/>
                    <a:pt x="813109" y="122559"/>
                    <a:pt x="815388" y="128303"/>
                  </a:cubicBezTo>
                  <a:cubicBezTo>
                    <a:pt x="817667" y="134047"/>
                    <a:pt x="819597" y="140100"/>
                    <a:pt x="821047" y="146129"/>
                  </a:cubicBezTo>
                  <a:cubicBezTo>
                    <a:pt x="822497" y="152158"/>
                    <a:pt x="823264" y="158157"/>
                    <a:pt x="824088" y="164476"/>
                  </a:cubicBezTo>
                  <a:cubicBezTo>
                    <a:pt x="824912" y="170794"/>
                    <a:pt x="825825" y="177670"/>
                    <a:pt x="825991" y="184041"/>
                  </a:cubicBezTo>
                  <a:cubicBezTo>
                    <a:pt x="826158" y="190413"/>
                    <a:pt x="825845" y="196730"/>
                    <a:pt x="825088" y="202705"/>
                  </a:cubicBezTo>
                  <a:cubicBezTo>
                    <a:pt x="824330" y="208680"/>
                    <a:pt x="823084" y="214433"/>
                    <a:pt x="821444" y="219893"/>
                  </a:cubicBezTo>
                  <a:cubicBezTo>
                    <a:pt x="819804" y="225353"/>
                    <a:pt x="817696" y="230569"/>
                    <a:pt x="815246" y="235467"/>
                  </a:cubicBezTo>
                  <a:cubicBezTo>
                    <a:pt x="812796" y="240364"/>
                    <a:pt x="809911" y="244986"/>
                    <a:pt x="806745" y="249278"/>
                  </a:cubicBezTo>
                  <a:cubicBezTo>
                    <a:pt x="803579" y="253569"/>
                    <a:pt x="800026" y="257556"/>
                    <a:pt x="796251" y="261215"/>
                  </a:cubicBezTo>
                  <a:cubicBezTo>
                    <a:pt x="792476" y="264874"/>
                    <a:pt x="788371" y="268211"/>
                    <a:pt x="784094" y="271230"/>
                  </a:cubicBezTo>
                  <a:cubicBezTo>
                    <a:pt x="779816" y="274250"/>
                    <a:pt x="775267" y="276943"/>
                    <a:pt x="770586" y="279331"/>
                  </a:cubicBezTo>
                  <a:cubicBezTo>
                    <a:pt x="765905" y="281719"/>
                    <a:pt x="761005" y="283787"/>
                    <a:pt x="756008" y="285558"/>
                  </a:cubicBezTo>
                  <a:cubicBezTo>
                    <a:pt x="751010" y="287330"/>
                    <a:pt x="745839" y="288790"/>
                    <a:pt x="740603" y="289960"/>
                  </a:cubicBezTo>
                  <a:cubicBezTo>
                    <a:pt x="735368" y="291130"/>
                    <a:pt x="729998" y="291997"/>
                    <a:pt x="724596" y="292578"/>
                  </a:cubicBezTo>
                  <a:cubicBezTo>
                    <a:pt x="719194" y="293159"/>
                    <a:pt x="713693" y="293446"/>
                    <a:pt x="708193" y="293446"/>
                  </a:cubicBezTo>
                  <a:cubicBezTo>
                    <a:pt x="702694" y="293447"/>
                    <a:pt x="697129" y="293158"/>
                    <a:pt x="691598" y="292583"/>
                  </a:cubicBezTo>
                  <a:cubicBezTo>
                    <a:pt x="686068" y="292008"/>
                    <a:pt x="680505" y="291146"/>
                    <a:pt x="675011" y="289996"/>
                  </a:cubicBezTo>
                  <a:cubicBezTo>
                    <a:pt x="669517" y="288846"/>
                    <a:pt x="664023" y="287410"/>
                    <a:pt x="658634" y="285683"/>
                  </a:cubicBezTo>
                  <a:cubicBezTo>
                    <a:pt x="653245" y="283957"/>
                    <a:pt x="647890" y="281943"/>
                    <a:pt x="642676" y="279635"/>
                  </a:cubicBezTo>
                  <a:cubicBezTo>
                    <a:pt x="637463" y="277327"/>
                    <a:pt x="632211" y="274655"/>
                    <a:pt x="627354" y="271834"/>
                  </a:cubicBezTo>
                  <a:cubicBezTo>
                    <a:pt x="622497" y="269014"/>
                    <a:pt x="615838" y="264234"/>
                    <a:pt x="613534" y="262714"/>
                  </a:cubicBezTo>
                </a:path>
              </a:pathLst>
            </a:custGeom>
            <a:noFill/>
            <a:ln w="9112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Natural small-bowel coil 02"/>
            <p:cNvSpPr/>
            <p:nvPr/>
          </p:nvSpPr>
          <p:spPr>
            <a:xfrm>
              <a:off x="241023" y="428882"/>
              <a:ext cx="384266" cy="157214"/>
            </a:xfrm>
            <a:custGeom>
              <a:avLst/>
              <a:gdLst/>
              <a:ahLst/>
              <a:cxnLst/>
              <a:rect l="0" t="0" r="r" b="b"/>
              <a:pathLst>
                <a:path w="903736" h="369744">
                  <a:moveTo>
                    <a:pt x="11523" y="38826"/>
                  </a:moveTo>
                  <a:lnTo>
                    <a:pt x="7014" y="57694"/>
                  </a:lnTo>
                  <a:lnTo>
                    <a:pt x="3418" y="78075"/>
                  </a:lnTo>
                  <a:lnTo>
                    <a:pt x="1072" y="98631"/>
                  </a:lnTo>
                  <a:lnTo>
                    <a:pt x="0" y="119272"/>
                  </a:lnTo>
                  <a:lnTo>
                    <a:pt x="230" y="139908"/>
                  </a:lnTo>
                  <a:lnTo>
                    <a:pt x="1799" y="160448"/>
                  </a:lnTo>
                  <a:lnTo>
                    <a:pt x="4749" y="180799"/>
                  </a:lnTo>
                  <a:lnTo>
                    <a:pt x="9131" y="200860"/>
                  </a:lnTo>
                  <a:lnTo>
                    <a:pt x="15002" y="220526"/>
                  </a:lnTo>
                  <a:lnTo>
                    <a:pt x="22425" y="239678"/>
                  </a:lnTo>
                  <a:lnTo>
                    <a:pt x="31465" y="258184"/>
                  </a:lnTo>
                  <a:lnTo>
                    <a:pt x="42184" y="275890"/>
                  </a:lnTo>
                  <a:lnTo>
                    <a:pt x="54633" y="292624"/>
                  </a:lnTo>
                  <a:lnTo>
                    <a:pt x="68843" y="308190"/>
                  </a:lnTo>
                  <a:lnTo>
                    <a:pt x="84814" y="322383"/>
                  </a:lnTo>
                  <a:lnTo>
                    <a:pt x="102511" y="334993"/>
                  </a:lnTo>
                  <a:lnTo>
                    <a:pt x="121860" y="345824"/>
                  </a:lnTo>
                  <a:lnTo>
                    <a:pt x="141269" y="354134"/>
                  </a:lnTo>
                  <a:lnTo>
                    <a:pt x="161303" y="361840"/>
                  </a:lnTo>
                  <a:lnTo>
                    <a:pt x="182862" y="367294"/>
                  </a:lnTo>
                  <a:lnTo>
                    <a:pt x="204193" y="369744"/>
                  </a:lnTo>
                  <a:lnTo>
                    <a:pt x="225047" y="369159"/>
                  </a:lnTo>
                  <a:lnTo>
                    <a:pt x="245091" y="365594"/>
                  </a:lnTo>
                  <a:lnTo>
                    <a:pt x="263969" y="359230"/>
                  </a:lnTo>
                  <a:lnTo>
                    <a:pt x="281377" y="350357"/>
                  </a:lnTo>
                  <a:lnTo>
                    <a:pt x="297113" y="339329"/>
                  </a:lnTo>
                  <a:lnTo>
                    <a:pt x="311083" y="326501"/>
                  </a:lnTo>
                  <a:lnTo>
                    <a:pt x="323277" y="312191"/>
                  </a:lnTo>
                  <a:lnTo>
                    <a:pt x="333728" y="296662"/>
                  </a:lnTo>
                  <a:lnTo>
                    <a:pt x="342484" y="280127"/>
                  </a:lnTo>
                  <a:lnTo>
                    <a:pt x="349589" y="262760"/>
                  </a:lnTo>
                  <a:lnTo>
                    <a:pt x="355069" y="244708"/>
                  </a:lnTo>
                  <a:lnTo>
                    <a:pt x="358934" y="226106"/>
                  </a:lnTo>
                  <a:lnTo>
                    <a:pt x="361176" y="207077"/>
                  </a:lnTo>
                  <a:lnTo>
                    <a:pt x="361770" y="187747"/>
                  </a:lnTo>
                  <a:lnTo>
                    <a:pt x="360804" y="169829"/>
                  </a:lnTo>
                  <a:lnTo>
                    <a:pt x="359893" y="157193"/>
                  </a:lnTo>
                  <a:lnTo>
                    <a:pt x="360054" y="147155"/>
                  </a:lnTo>
                  <a:lnTo>
                    <a:pt x="361037" y="137742"/>
                  </a:lnTo>
                  <a:lnTo>
                    <a:pt x="362765" y="129020"/>
                  </a:lnTo>
                  <a:lnTo>
                    <a:pt x="365155" y="121049"/>
                  </a:lnTo>
                  <a:lnTo>
                    <a:pt x="368115" y="113875"/>
                  </a:lnTo>
                  <a:lnTo>
                    <a:pt x="371556" y="107527"/>
                  </a:lnTo>
                  <a:lnTo>
                    <a:pt x="375392" y="102011"/>
                  </a:lnTo>
                  <a:lnTo>
                    <a:pt x="379554" y="97306"/>
                  </a:lnTo>
                  <a:lnTo>
                    <a:pt x="384005" y="93368"/>
                  </a:lnTo>
                  <a:lnTo>
                    <a:pt x="388751" y="90139"/>
                  </a:lnTo>
                  <a:lnTo>
                    <a:pt x="393855" y="87564"/>
                  </a:lnTo>
                  <a:lnTo>
                    <a:pt x="399429" y="85623"/>
                  </a:lnTo>
                  <a:lnTo>
                    <a:pt x="405616" y="84342"/>
                  </a:lnTo>
                  <a:lnTo>
                    <a:pt x="412567" y="83813"/>
                  </a:lnTo>
                  <a:lnTo>
                    <a:pt x="420408" y="84180"/>
                  </a:lnTo>
                  <a:lnTo>
                    <a:pt x="429220" y="85628"/>
                  </a:lnTo>
                  <a:lnTo>
                    <a:pt x="438463" y="88160"/>
                  </a:lnTo>
                  <a:lnTo>
                    <a:pt x="446174" y="91403"/>
                  </a:lnTo>
                  <a:lnTo>
                    <a:pt x="452082" y="95212"/>
                  </a:lnTo>
                  <a:lnTo>
                    <a:pt x="457605" y="100148"/>
                  </a:lnTo>
                  <a:lnTo>
                    <a:pt x="463087" y="106576"/>
                  </a:lnTo>
                  <a:lnTo>
                    <a:pt x="468602" y="114703"/>
                  </a:lnTo>
                  <a:lnTo>
                    <a:pt x="474129" y="124529"/>
                  </a:lnTo>
                  <a:lnTo>
                    <a:pt x="479665" y="135911"/>
                  </a:lnTo>
                  <a:lnTo>
                    <a:pt x="485272" y="148638"/>
                  </a:lnTo>
                  <a:lnTo>
                    <a:pt x="491079" y="162478"/>
                  </a:lnTo>
                  <a:lnTo>
                    <a:pt x="497277" y="177203"/>
                  </a:lnTo>
                  <a:lnTo>
                    <a:pt x="504105" y="192595"/>
                  </a:lnTo>
                  <a:lnTo>
                    <a:pt x="511848" y="208435"/>
                  </a:lnTo>
                  <a:lnTo>
                    <a:pt x="520832" y="224491"/>
                  </a:lnTo>
                  <a:lnTo>
                    <a:pt x="531414" y="240489"/>
                  </a:lnTo>
                  <a:lnTo>
                    <a:pt x="543945" y="256077"/>
                  </a:lnTo>
                  <a:lnTo>
                    <a:pt x="558727" y="270816"/>
                  </a:lnTo>
                  <a:lnTo>
                    <a:pt x="575938" y="284191"/>
                  </a:lnTo>
                  <a:lnTo>
                    <a:pt x="594194" y="294958"/>
                  </a:lnTo>
                  <a:lnTo>
                    <a:pt x="616145" y="306168"/>
                  </a:lnTo>
                  <a:lnTo>
                    <a:pt x="639425" y="314944"/>
                  </a:lnTo>
                  <a:lnTo>
                    <a:pt x="662751" y="320683"/>
                  </a:lnTo>
                  <a:lnTo>
                    <a:pt x="685898" y="323440"/>
                  </a:lnTo>
                  <a:lnTo>
                    <a:pt x="708615" y="323326"/>
                  </a:lnTo>
                  <a:lnTo>
                    <a:pt x="730655" y="320513"/>
                  </a:lnTo>
                  <a:lnTo>
                    <a:pt x="751810" y="315222"/>
                  </a:lnTo>
                  <a:lnTo>
                    <a:pt x="771920" y="307701"/>
                  </a:lnTo>
                  <a:lnTo>
                    <a:pt x="790875" y="298199"/>
                  </a:lnTo>
                  <a:lnTo>
                    <a:pt x="808606" y="286954"/>
                  </a:lnTo>
                  <a:lnTo>
                    <a:pt x="825067" y="274182"/>
                  </a:lnTo>
                  <a:lnTo>
                    <a:pt x="840230" y="260076"/>
                  </a:lnTo>
                  <a:lnTo>
                    <a:pt x="854066" y="244807"/>
                  </a:lnTo>
                  <a:lnTo>
                    <a:pt x="866548" y="228527"/>
                  </a:lnTo>
                  <a:lnTo>
                    <a:pt x="877639" y="211374"/>
                  </a:lnTo>
                  <a:lnTo>
                    <a:pt x="887293" y="193474"/>
                  </a:lnTo>
                  <a:lnTo>
                    <a:pt x="895452" y="174944"/>
                  </a:lnTo>
                  <a:lnTo>
                    <a:pt x="901504" y="157569"/>
                  </a:lnTo>
                  <a:lnTo>
                    <a:pt x="903736" y="141370"/>
                  </a:lnTo>
                  <a:lnTo>
                    <a:pt x="899599" y="125550"/>
                  </a:lnTo>
                  <a:lnTo>
                    <a:pt x="889723" y="112517"/>
                  </a:lnTo>
                  <a:lnTo>
                    <a:pt x="875611" y="104255"/>
                  </a:lnTo>
                  <a:lnTo>
                    <a:pt x="859411" y="102023"/>
                  </a:lnTo>
                  <a:lnTo>
                    <a:pt x="843591" y="106160"/>
                  </a:lnTo>
                  <a:lnTo>
                    <a:pt x="830558" y="116037"/>
                  </a:lnTo>
                  <a:lnTo>
                    <a:pt x="822296" y="130149"/>
                  </a:lnTo>
                  <a:lnTo>
                    <a:pt x="822296" y="130149"/>
                  </a:lnTo>
                  <a:lnTo>
                    <a:pt x="817435" y="144299"/>
                  </a:lnTo>
                  <a:lnTo>
                    <a:pt x="811997" y="156647"/>
                  </a:lnTo>
                  <a:lnTo>
                    <a:pt x="805504" y="168684"/>
                  </a:lnTo>
                  <a:lnTo>
                    <a:pt x="798038" y="180234"/>
                  </a:lnTo>
                  <a:lnTo>
                    <a:pt x="789690" y="191127"/>
                  </a:lnTo>
                  <a:lnTo>
                    <a:pt x="780560" y="201209"/>
                  </a:lnTo>
                  <a:lnTo>
                    <a:pt x="770757" y="210337"/>
                  </a:lnTo>
                  <a:lnTo>
                    <a:pt x="760391" y="218389"/>
                  </a:lnTo>
                  <a:lnTo>
                    <a:pt x="749569" y="225263"/>
                  </a:lnTo>
                  <a:lnTo>
                    <a:pt x="738385" y="230882"/>
                  </a:lnTo>
                  <a:lnTo>
                    <a:pt x="726905" y="235188"/>
                  </a:lnTo>
                  <a:lnTo>
                    <a:pt x="715157" y="238138"/>
                  </a:lnTo>
                  <a:lnTo>
                    <a:pt x="703119" y="239686"/>
                  </a:lnTo>
                  <a:lnTo>
                    <a:pt x="690717" y="239759"/>
                  </a:lnTo>
                  <a:lnTo>
                    <a:pt x="677845" y="238233"/>
                  </a:lnTo>
                  <a:lnTo>
                    <a:pt x="664387" y="234927"/>
                  </a:lnTo>
                  <a:lnTo>
                    <a:pt x="650257" y="229603"/>
                  </a:lnTo>
                  <a:lnTo>
                    <a:pt x="634307" y="221360"/>
                  </a:lnTo>
                  <a:lnTo>
                    <a:pt x="622854" y="214731"/>
                  </a:lnTo>
                  <a:lnTo>
                    <a:pt x="614140" y="207925"/>
                  </a:lnTo>
                  <a:lnTo>
                    <a:pt x="606327" y="200093"/>
                  </a:lnTo>
                  <a:lnTo>
                    <a:pt x="599146" y="191111"/>
                  </a:lnTo>
                  <a:lnTo>
                    <a:pt x="592444" y="180931"/>
                  </a:lnTo>
                  <a:lnTo>
                    <a:pt x="586126" y="169594"/>
                  </a:lnTo>
                  <a:lnTo>
                    <a:pt x="580094" y="157219"/>
                  </a:lnTo>
                  <a:lnTo>
                    <a:pt x="574225" y="143964"/>
                  </a:lnTo>
                  <a:lnTo>
                    <a:pt x="568353" y="130003"/>
                  </a:lnTo>
                  <a:lnTo>
                    <a:pt x="562267" y="115510"/>
                  </a:lnTo>
                  <a:lnTo>
                    <a:pt x="555706" y="100648"/>
                  </a:lnTo>
                  <a:lnTo>
                    <a:pt x="548349" y="85578"/>
                  </a:lnTo>
                  <a:lnTo>
                    <a:pt x="539808" y="70481"/>
                  </a:lnTo>
                  <a:lnTo>
                    <a:pt x="529628" y="55606"/>
                  </a:lnTo>
                  <a:lnTo>
                    <a:pt x="517337" y="41344"/>
                  </a:lnTo>
                  <a:lnTo>
                    <a:pt x="502559" y="28295"/>
                  </a:lnTo>
                  <a:lnTo>
                    <a:pt x="485187" y="17216"/>
                  </a:lnTo>
                  <a:lnTo>
                    <a:pt x="466188" y="9058"/>
                  </a:lnTo>
                  <a:lnTo>
                    <a:pt x="447399" y="3803"/>
                  </a:lnTo>
                  <a:lnTo>
                    <a:pt x="429314" y="835"/>
                  </a:lnTo>
                  <a:lnTo>
                    <a:pt x="411474" y="0"/>
                  </a:lnTo>
                  <a:lnTo>
                    <a:pt x="394038" y="1326"/>
                  </a:lnTo>
                  <a:lnTo>
                    <a:pt x="377210" y="4801"/>
                  </a:lnTo>
                  <a:lnTo>
                    <a:pt x="361218" y="10360"/>
                  </a:lnTo>
                  <a:lnTo>
                    <a:pt x="346285" y="17872"/>
                  </a:lnTo>
                  <a:lnTo>
                    <a:pt x="332602" y="27160"/>
                  </a:lnTo>
                  <a:lnTo>
                    <a:pt x="320309" y="38012"/>
                  </a:lnTo>
                  <a:lnTo>
                    <a:pt x="309491" y="50215"/>
                  </a:lnTo>
                  <a:lnTo>
                    <a:pt x="300190" y="63566"/>
                  </a:lnTo>
                  <a:lnTo>
                    <a:pt x="292414" y="77888"/>
                  </a:lnTo>
                  <a:lnTo>
                    <a:pt x="286156" y="93030"/>
                  </a:lnTo>
                  <a:lnTo>
                    <a:pt x="281405" y="108865"/>
                  </a:lnTo>
                  <a:lnTo>
                    <a:pt x="278149" y="125282"/>
                  </a:lnTo>
                  <a:lnTo>
                    <a:pt x="276381" y="142183"/>
                  </a:lnTo>
                  <a:lnTo>
                    <a:pt x="276104" y="159480"/>
                  </a:lnTo>
                  <a:lnTo>
                    <a:pt x="277147" y="175039"/>
                  </a:lnTo>
                  <a:lnTo>
                    <a:pt x="277957" y="188823"/>
                  </a:lnTo>
                  <a:lnTo>
                    <a:pt x="277585" y="200899"/>
                  </a:lnTo>
                  <a:lnTo>
                    <a:pt x="276195" y="212690"/>
                  </a:lnTo>
                  <a:lnTo>
                    <a:pt x="273841" y="224024"/>
                  </a:lnTo>
                  <a:lnTo>
                    <a:pt x="270593" y="234734"/>
                  </a:lnTo>
                  <a:lnTo>
                    <a:pt x="266539" y="244658"/>
                  </a:lnTo>
                  <a:lnTo>
                    <a:pt x="261785" y="253650"/>
                  </a:lnTo>
                  <a:lnTo>
                    <a:pt x="256453" y="261591"/>
                  </a:lnTo>
                  <a:lnTo>
                    <a:pt x="250668" y="268399"/>
                  </a:lnTo>
                  <a:lnTo>
                    <a:pt x="244543" y="274043"/>
                  </a:lnTo>
                  <a:lnTo>
                    <a:pt x="238145" y="278547"/>
                  </a:lnTo>
                  <a:lnTo>
                    <a:pt x="231459" y="281972"/>
                  </a:lnTo>
                  <a:lnTo>
                    <a:pt x="224363" y="284378"/>
                  </a:lnTo>
                  <a:lnTo>
                    <a:pt x="216629" y="285762"/>
                  </a:lnTo>
                  <a:lnTo>
                    <a:pt x="207981" y="286010"/>
                  </a:lnTo>
                  <a:lnTo>
                    <a:pt x="198162" y="284883"/>
                  </a:lnTo>
                  <a:lnTo>
                    <a:pt x="187004" y="282057"/>
                  </a:lnTo>
                  <a:lnTo>
                    <a:pt x="172832" y="276484"/>
                  </a:lnTo>
                  <a:lnTo>
                    <a:pt x="158720" y="270543"/>
                  </a:lnTo>
                  <a:lnTo>
                    <a:pt x="147332" y="264163"/>
                  </a:lnTo>
                  <a:lnTo>
                    <a:pt x="137035" y="256818"/>
                  </a:lnTo>
                  <a:lnTo>
                    <a:pt x="127717" y="248528"/>
                  </a:lnTo>
                  <a:lnTo>
                    <a:pt x="119304" y="239299"/>
                  </a:lnTo>
                  <a:lnTo>
                    <a:pt x="111755" y="229139"/>
                  </a:lnTo>
                  <a:lnTo>
                    <a:pt x="105064" y="218071"/>
                  </a:lnTo>
                  <a:lnTo>
                    <a:pt x="99242" y="206137"/>
                  </a:lnTo>
                  <a:lnTo>
                    <a:pt x="94311" y="193399"/>
                  </a:lnTo>
                  <a:lnTo>
                    <a:pt x="90298" y="179940"/>
                  </a:lnTo>
                  <a:lnTo>
                    <a:pt x="87226" y="165857"/>
                  </a:lnTo>
                  <a:lnTo>
                    <a:pt x="85113" y="151259"/>
                  </a:lnTo>
                  <a:lnTo>
                    <a:pt x="83971" y="136263"/>
                  </a:lnTo>
                  <a:lnTo>
                    <a:pt x="83802" y="120991"/>
                  </a:lnTo>
                  <a:lnTo>
                    <a:pt x="84605" y="105567"/>
                  </a:lnTo>
                  <a:lnTo>
                    <a:pt x="86369" y="90117"/>
                  </a:lnTo>
                  <a:lnTo>
                    <a:pt x="89077" y="74766"/>
                  </a:lnTo>
                  <a:lnTo>
                    <a:pt x="93028" y="58392"/>
                  </a:lnTo>
                  <a:lnTo>
                    <a:pt x="93669" y="42052"/>
                  </a:lnTo>
                  <a:lnTo>
                    <a:pt x="88009" y="26711"/>
                  </a:lnTo>
                  <a:lnTo>
                    <a:pt x="76909" y="14703"/>
                  </a:lnTo>
                  <a:lnTo>
                    <a:pt x="62058" y="7857"/>
                  </a:lnTo>
                  <a:lnTo>
                    <a:pt x="45719" y="7215"/>
                  </a:lnTo>
                  <a:lnTo>
                    <a:pt x="30377" y="12875"/>
                  </a:lnTo>
                  <a:lnTo>
                    <a:pt x="18369" y="23976"/>
                  </a:lnTo>
                  <a:lnTo>
                    <a:pt x="11523" y="38826"/>
                  </a:lnTo>
                  <a:close/>
                </a:path>
              </a:pathLst>
            </a:custGeom>
            <a:gradFill rotWithShape="1">
              <a:gsLst>
                <a:gs pos="0">
                  <a:srgbClr val="FFE0CB"/>
                </a:gs>
                <a:gs pos="33000">
                  <a:srgbClr val="FAD0BC"/>
                </a:gs>
                <a:gs pos="69000">
                  <a:srgbClr val="F5BAA6"/>
                </a:gs>
                <a:gs pos="100000">
                  <a:srgbClr val="E9A38E"/>
                </a:gs>
              </a:gsLst>
              <a:lin ang="4200000" scaled="1"/>
            </a:gradFill>
            <a:ln w="3442" cap="rnd">
              <a:solidFill>
                <a:srgbClr val="CB8B7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Natural small-bowel coil 02 soft reflected light"/>
            <p:cNvSpPr/>
            <p:nvPr/>
          </p:nvSpPr>
          <p:spPr>
            <a:xfrm>
              <a:off x="264312" y="441149"/>
              <a:ext cx="337968" cy="121712"/>
            </a:xfrm>
            <a:custGeom>
              <a:avLst/>
              <a:gdLst/>
              <a:ahLst/>
              <a:cxnLst/>
              <a:rect l="0" t="0" r="r" b="b"/>
              <a:pathLst>
                <a:path w="794850" h="286249">
                  <a:moveTo>
                    <a:pt x="10136" y="22789"/>
                  </a:moveTo>
                  <a:cubicBezTo>
                    <a:pt x="9445" y="25662"/>
                    <a:pt x="7185" y="34304"/>
                    <a:pt x="5992" y="40024"/>
                  </a:cubicBezTo>
                  <a:cubicBezTo>
                    <a:pt x="4799" y="45744"/>
                    <a:pt x="3808" y="51394"/>
                    <a:pt x="2978" y="57110"/>
                  </a:cubicBezTo>
                  <a:cubicBezTo>
                    <a:pt x="2148" y="62826"/>
                    <a:pt x="1490" y="68582"/>
                    <a:pt x="1013" y="74322"/>
                  </a:cubicBezTo>
                  <a:cubicBezTo>
                    <a:pt x="537" y="80061"/>
                    <a:pt x="235" y="85821"/>
                    <a:pt x="118" y="91546"/>
                  </a:cubicBezTo>
                  <a:cubicBezTo>
                    <a:pt x="0" y="97270"/>
                    <a:pt x="61" y="102996"/>
                    <a:pt x="307" y="108668"/>
                  </a:cubicBezTo>
                  <a:cubicBezTo>
                    <a:pt x="554" y="114340"/>
                    <a:pt x="982" y="119995"/>
                    <a:pt x="1597" y="125577"/>
                  </a:cubicBezTo>
                  <a:cubicBezTo>
                    <a:pt x="2212" y="131159"/>
                    <a:pt x="3011" y="136704"/>
                    <a:pt x="3999" y="142159"/>
                  </a:cubicBezTo>
                  <a:cubicBezTo>
                    <a:pt x="4986" y="147614"/>
                    <a:pt x="6160" y="153014"/>
                    <a:pt x="7523" y="158305"/>
                  </a:cubicBezTo>
                  <a:cubicBezTo>
                    <a:pt x="8886" y="163596"/>
                    <a:pt x="10436" y="168813"/>
                    <a:pt x="12177" y="173905"/>
                  </a:cubicBezTo>
                  <a:cubicBezTo>
                    <a:pt x="13917" y="178997"/>
                    <a:pt x="15847" y="183997"/>
                    <a:pt x="17967" y="188856"/>
                  </a:cubicBezTo>
                  <a:cubicBezTo>
                    <a:pt x="20088" y="193715"/>
                    <a:pt x="22398" y="198464"/>
                    <a:pt x="24900" y="203058"/>
                  </a:cubicBezTo>
                  <a:cubicBezTo>
                    <a:pt x="27402" y="207651"/>
                    <a:pt x="30094" y="212118"/>
                    <a:pt x="32981" y="216416"/>
                  </a:cubicBezTo>
                  <a:cubicBezTo>
                    <a:pt x="35867" y="220713"/>
                    <a:pt x="38944" y="224869"/>
                    <a:pt x="42220" y="228843"/>
                  </a:cubicBezTo>
                  <a:cubicBezTo>
                    <a:pt x="45495" y="232817"/>
                    <a:pt x="48962" y="236635"/>
                    <a:pt x="52633" y="240259"/>
                  </a:cubicBezTo>
                  <a:cubicBezTo>
                    <a:pt x="56304" y="243882"/>
                    <a:pt x="60169" y="247337"/>
                    <a:pt x="64246" y="250585"/>
                  </a:cubicBezTo>
                  <a:cubicBezTo>
                    <a:pt x="68323" y="253833"/>
                    <a:pt x="72599" y="256901"/>
                    <a:pt x="77096" y="259747"/>
                  </a:cubicBezTo>
                  <a:cubicBezTo>
                    <a:pt x="81593" y="262593"/>
                    <a:pt x="86218" y="265217"/>
                    <a:pt x="91231" y="267662"/>
                  </a:cubicBezTo>
                  <a:cubicBezTo>
                    <a:pt x="96243" y="270108"/>
                    <a:pt x="101814" y="272243"/>
                    <a:pt x="107170" y="274421"/>
                  </a:cubicBezTo>
                  <a:cubicBezTo>
                    <a:pt x="112526" y="276599"/>
                    <a:pt x="118208" y="279056"/>
                    <a:pt x="123364" y="280730"/>
                  </a:cubicBezTo>
                  <a:cubicBezTo>
                    <a:pt x="128521" y="282403"/>
                    <a:pt x="133355" y="283576"/>
                    <a:pt x="138111" y="284462"/>
                  </a:cubicBezTo>
                  <a:cubicBezTo>
                    <a:pt x="142867" y="285348"/>
                    <a:pt x="147459" y="285842"/>
                    <a:pt x="151901" y="286046"/>
                  </a:cubicBezTo>
                  <a:cubicBezTo>
                    <a:pt x="156342" y="286249"/>
                    <a:pt x="160620" y="286098"/>
                    <a:pt x="164760" y="285682"/>
                  </a:cubicBezTo>
                  <a:cubicBezTo>
                    <a:pt x="168900" y="285265"/>
                    <a:pt x="172884" y="284530"/>
                    <a:pt x="176741" y="283545"/>
                  </a:cubicBezTo>
                  <a:cubicBezTo>
                    <a:pt x="180598" y="282560"/>
                    <a:pt x="184311" y="281286"/>
                    <a:pt x="187902" y="279773"/>
                  </a:cubicBezTo>
                  <a:cubicBezTo>
                    <a:pt x="191493" y="278261"/>
                    <a:pt x="194953" y="276479"/>
                    <a:pt x="198287" y="274469"/>
                  </a:cubicBezTo>
                  <a:cubicBezTo>
                    <a:pt x="201621" y="272459"/>
                    <a:pt x="204831" y="270194"/>
                    <a:pt x="207907" y="267714"/>
                  </a:cubicBezTo>
                  <a:cubicBezTo>
                    <a:pt x="210982" y="265234"/>
                    <a:pt x="213934" y="262511"/>
                    <a:pt x="216738" y="259592"/>
                  </a:cubicBezTo>
                  <a:cubicBezTo>
                    <a:pt x="219543" y="256672"/>
                    <a:pt x="222218" y="253521"/>
                    <a:pt x="224734" y="250195"/>
                  </a:cubicBezTo>
                  <a:cubicBezTo>
                    <a:pt x="227250" y="246870"/>
                    <a:pt x="229627" y="243329"/>
                    <a:pt x="231833" y="239637"/>
                  </a:cubicBezTo>
                  <a:cubicBezTo>
                    <a:pt x="234038" y="235945"/>
                    <a:pt x="236094" y="232057"/>
                    <a:pt x="237967" y="228042"/>
                  </a:cubicBezTo>
                  <a:cubicBezTo>
                    <a:pt x="239841" y="224028"/>
                    <a:pt x="241553" y="219839"/>
                    <a:pt x="243073" y="215550"/>
                  </a:cubicBezTo>
                  <a:cubicBezTo>
                    <a:pt x="244594" y="211261"/>
                    <a:pt x="245943" y="206822"/>
                    <a:pt x="247091" y="202308"/>
                  </a:cubicBezTo>
                  <a:cubicBezTo>
                    <a:pt x="248240" y="197794"/>
                    <a:pt x="249207" y="193154"/>
                    <a:pt x="249967" y="188466"/>
                  </a:cubicBezTo>
                  <a:cubicBezTo>
                    <a:pt x="250727" y="183777"/>
                    <a:pt x="251295" y="178989"/>
                    <a:pt x="251651" y="174178"/>
                  </a:cubicBezTo>
                  <a:cubicBezTo>
                    <a:pt x="252006" y="169367"/>
                    <a:pt x="252169" y="164564"/>
                    <a:pt x="252100" y="159599"/>
                  </a:cubicBezTo>
                  <a:cubicBezTo>
                    <a:pt x="252031" y="154634"/>
                    <a:pt x="251546" y="149349"/>
                    <a:pt x="251236" y="144389"/>
                  </a:cubicBezTo>
                  <a:cubicBezTo>
                    <a:pt x="250925" y="139429"/>
                    <a:pt x="250365" y="134729"/>
                    <a:pt x="250239" y="129838"/>
                  </a:cubicBezTo>
                  <a:cubicBezTo>
                    <a:pt x="250112" y="124948"/>
                    <a:pt x="250187" y="119898"/>
                    <a:pt x="250476" y="115046"/>
                  </a:cubicBezTo>
                  <a:cubicBezTo>
                    <a:pt x="250764" y="110194"/>
                    <a:pt x="251268" y="105408"/>
                    <a:pt x="251972" y="100728"/>
                  </a:cubicBezTo>
                  <a:cubicBezTo>
                    <a:pt x="252676" y="96048"/>
                    <a:pt x="253590" y="91447"/>
                    <a:pt x="254701" y="86966"/>
                  </a:cubicBezTo>
                  <a:cubicBezTo>
                    <a:pt x="255812" y="82485"/>
                    <a:pt x="257128" y="78097"/>
                    <a:pt x="258638" y="73844"/>
                  </a:cubicBezTo>
                  <a:cubicBezTo>
                    <a:pt x="260147" y="69592"/>
                    <a:pt x="261858" y="65445"/>
                    <a:pt x="263758" y="61451"/>
                  </a:cubicBezTo>
                  <a:cubicBezTo>
                    <a:pt x="265658" y="57457"/>
                    <a:pt x="267755" y="53583"/>
                    <a:pt x="270038" y="49880"/>
                  </a:cubicBezTo>
                  <a:cubicBezTo>
                    <a:pt x="272321" y="46177"/>
                    <a:pt x="274798" y="42609"/>
                    <a:pt x="277454" y="39232"/>
                  </a:cubicBezTo>
                  <a:cubicBezTo>
                    <a:pt x="280110" y="35855"/>
                    <a:pt x="282958" y="32630"/>
                    <a:pt x="285976" y="29616"/>
                  </a:cubicBezTo>
                  <a:cubicBezTo>
                    <a:pt x="288994" y="26602"/>
                    <a:pt x="292199" y="23760"/>
                    <a:pt x="295563" y="21149"/>
                  </a:cubicBezTo>
                  <a:cubicBezTo>
                    <a:pt x="298928" y="18538"/>
                    <a:pt x="302473" y="16119"/>
                    <a:pt x="306163" y="13952"/>
                  </a:cubicBezTo>
                  <a:cubicBezTo>
                    <a:pt x="309853" y="11784"/>
                    <a:pt x="313715" y="9829"/>
                    <a:pt x="317705" y="8143"/>
                  </a:cubicBezTo>
                  <a:cubicBezTo>
                    <a:pt x="321695" y="6456"/>
                    <a:pt x="325843" y="5004"/>
                    <a:pt x="330102" y="3832"/>
                  </a:cubicBezTo>
                  <a:cubicBezTo>
                    <a:pt x="334361" y="2661"/>
                    <a:pt x="338763" y="1742"/>
                    <a:pt x="343259" y="1114"/>
                  </a:cubicBezTo>
                  <a:cubicBezTo>
                    <a:pt x="347755" y="486"/>
                    <a:pt x="352377" y="126"/>
                    <a:pt x="357078" y="63"/>
                  </a:cubicBezTo>
                  <a:cubicBezTo>
                    <a:pt x="361780" y="0"/>
                    <a:pt x="366589" y="217"/>
                    <a:pt x="371469" y="736"/>
                  </a:cubicBezTo>
                  <a:cubicBezTo>
                    <a:pt x="376348" y="1256"/>
                    <a:pt x="381290" y="2054"/>
                    <a:pt x="386354" y="3180"/>
                  </a:cubicBezTo>
                  <a:cubicBezTo>
                    <a:pt x="391417" y="4307"/>
                    <a:pt x="396750" y="5700"/>
                    <a:pt x="401850" y="7496"/>
                  </a:cubicBezTo>
                  <a:cubicBezTo>
                    <a:pt x="406950" y="9292"/>
                    <a:pt x="412201" y="11452"/>
                    <a:pt x="416955" y="13958"/>
                  </a:cubicBezTo>
                  <a:cubicBezTo>
                    <a:pt x="421708" y="16463"/>
                    <a:pt x="426204" y="19392"/>
                    <a:pt x="430371" y="22529"/>
                  </a:cubicBezTo>
                  <a:cubicBezTo>
                    <a:pt x="434538" y="25666"/>
                    <a:pt x="438369" y="29144"/>
                    <a:pt x="441957" y="32779"/>
                  </a:cubicBezTo>
                  <a:cubicBezTo>
                    <a:pt x="445544" y="36414"/>
                    <a:pt x="448813" y="40320"/>
                    <a:pt x="451898" y="44338"/>
                  </a:cubicBezTo>
                  <a:cubicBezTo>
                    <a:pt x="454984" y="48356"/>
                    <a:pt x="457790" y="52581"/>
                    <a:pt x="460469" y="56885"/>
                  </a:cubicBezTo>
                  <a:cubicBezTo>
                    <a:pt x="463148" y="61190"/>
                    <a:pt x="465599" y="65651"/>
                    <a:pt x="467971" y="70164"/>
                  </a:cubicBezTo>
                  <a:cubicBezTo>
                    <a:pt x="470342" y="74677"/>
                    <a:pt x="472539" y="79308"/>
                    <a:pt x="474699" y="83961"/>
                  </a:cubicBezTo>
                  <a:cubicBezTo>
                    <a:pt x="476859" y="88615"/>
                    <a:pt x="478894" y="93354"/>
                    <a:pt x="480931" y="98086"/>
                  </a:cubicBezTo>
                  <a:cubicBezTo>
                    <a:pt x="482968" y="102819"/>
                    <a:pt x="484925" y="107606"/>
                    <a:pt x="486921" y="112354"/>
                  </a:cubicBezTo>
                  <a:cubicBezTo>
                    <a:pt x="488916" y="117103"/>
                    <a:pt x="490874" y="121876"/>
                    <a:pt x="492905" y="126579"/>
                  </a:cubicBezTo>
                  <a:cubicBezTo>
                    <a:pt x="494936" y="131282"/>
                    <a:pt x="496968" y="135977"/>
                    <a:pt x="499105" y="140571"/>
                  </a:cubicBezTo>
                  <a:cubicBezTo>
                    <a:pt x="501242" y="145165"/>
                    <a:pt x="503417" y="149719"/>
                    <a:pt x="505727" y="154142"/>
                  </a:cubicBezTo>
                  <a:cubicBezTo>
                    <a:pt x="508037" y="158565"/>
                    <a:pt x="510419" y="162915"/>
                    <a:pt x="512965" y="167107"/>
                  </a:cubicBezTo>
                  <a:cubicBezTo>
                    <a:pt x="515512" y="171299"/>
                    <a:pt x="518161" y="175386"/>
                    <a:pt x="521005" y="179294"/>
                  </a:cubicBezTo>
                  <a:cubicBezTo>
                    <a:pt x="523850" y="183202"/>
                    <a:pt x="526825" y="186975"/>
                    <a:pt x="530033" y="190555"/>
                  </a:cubicBezTo>
                  <a:cubicBezTo>
                    <a:pt x="533240" y="194134"/>
                    <a:pt x="536606" y="197556"/>
                    <a:pt x="540249" y="200770"/>
                  </a:cubicBezTo>
                  <a:cubicBezTo>
                    <a:pt x="543893" y="203985"/>
                    <a:pt x="547654" y="206987"/>
                    <a:pt x="551895" y="209842"/>
                  </a:cubicBezTo>
                  <a:cubicBezTo>
                    <a:pt x="556136" y="212697"/>
                    <a:pt x="560392" y="215012"/>
                    <a:pt x="565695" y="217899"/>
                  </a:cubicBezTo>
                  <a:cubicBezTo>
                    <a:pt x="570998" y="220786"/>
                    <a:pt x="577831" y="224535"/>
                    <a:pt x="583715" y="227165"/>
                  </a:cubicBezTo>
                  <a:cubicBezTo>
                    <a:pt x="589600" y="229795"/>
                    <a:pt x="595311" y="231904"/>
                    <a:pt x="601003" y="233681"/>
                  </a:cubicBezTo>
                  <a:cubicBezTo>
                    <a:pt x="606694" y="235457"/>
                    <a:pt x="612318" y="236810"/>
                    <a:pt x="617865" y="237826"/>
                  </a:cubicBezTo>
                  <a:cubicBezTo>
                    <a:pt x="623411" y="238842"/>
                    <a:pt x="628885" y="239466"/>
                    <a:pt x="634282" y="239776"/>
                  </a:cubicBezTo>
                  <a:cubicBezTo>
                    <a:pt x="639678" y="240087"/>
                    <a:pt x="645000" y="240035"/>
                    <a:pt x="650242" y="239690"/>
                  </a:cubicBezTo>
                  <a:cubicBezTo>
                    <a:pt x="655483" y="239344"/>
                    <a:pt x="660651" y="238662"/>
                    <a:pt x="665731" y="237705"/>
                  </a:cubicBezTo>
                  <a:cubicBezTo>
                    <a:pt x="670811" y="236748"/>
                    <a:pt x="675816" y="235476"/>
                    <a:pt x="680724" y="233947"/>
                  </a:cubicBezTo>
                  <a:cubicBezTo>
                    <a:pt x="685633" y="232418"/>
                    <a:pt x="690461" y="230594"/>
                    <a:pt x="695182" y="228532"/>
                  </a:cubicBezTo>
                  <a:cubicBezTo>
                    <a:pt x="699902" y="226470"/>
                    <a:pt x="704535" y="224130"/>
                    <a:pt x="709047" y="221574"/>
                  </a:cubicBezTo>
                  <a:cubicBezTo>
                    <a:pt x="713559" y="219017"/>
                    <a:pt x="717973" y="216202"/>
                    <a:pt x="722252" y="213192"/>
                  </a:cubicBezTo>
                  <a:cubicBezTo>
                    <a:pt x="726531" y="210181"/>
                    <a:pt x="730701" y="206932"/>
                    <a:pt x="734721" y="203511"/>
                  </a:cubicBezTo>
                  <a:cubicBezTo>
                    <a:pt x="738741" y="200090"/>
                    <a:pt x="742639" y="196452"/>
                    <a:pt x="746373" y="192666"/>
                  </a:cubicBezTo>
                  <a:cubicBezTo>
                    <a:pt x="750108" y="188879"/>
                    <a:pt x="753706" y="184898"/>
                    <a:pt x="757127" y="180794"/>
                  </a:cubicBezTo>
                  <a:cubicBezTo>
                    <a:pt x="760548" y="176690"/>
                    <a:pt x="763819" y="172415"/>
                    <a:pt x="766901" y="168042"/>
                  </a:cubicBezTo>
                  <a:cubicBezTo>
                    <a:pt x="769983" y="163670"/>
                    <a:pt x="772901" y="159150"/>
                    <a:pt x="775618" y="154560"/>
                  </a:cubicBezTo>
                  <a:cubicBezTo>
                    <a:pt x="778334" y="149969"/>
                    <a:pt x="780874" y="145256"/>
                    <a:pt x="783201" y="140500"/>
                  </a:cubicBezTo>
                  <a:cubicBezTo>
                    <a:pt x="785528" y="135743"/>
                    <a:pt x="787637" y="130976"/>
                    <a:pt x="789578" y="126019"/>
                  </a:cubicBezTo>
                  <a:cubicBezTo>
                    <a:pt x="791520" y="121062"/>
                    <a:pt x="793972" y="113300"/>
                    <a:pt x="794850" y="110757"/>
                  </a:cubicBezTo>
                </a:path>
              </a:pathLst>
            </a:custGeom>
            <a:noFill/>
            <a:ln w="9112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Natural small-bowel coil 03"/>
            <p:cNvSpPr/>
            <p:nvPr/>
          </p:nvSpPr>
          <p:spPr>
            <a:xfrm>
              <a:off x="277841" y="383141"/>
              <a:ext cx="189750" cy="236779"/>
            </a:xfrm>
            <a:custGeom>
              <a:avLst/>
              <a:gdLst/>
              <a:ahLst/>
              <a:cxnLst/>
              <a:rect l="0" t="0" r="r" b="b"/>
              <a:pathLst>
                <a:path w="446264" h="556870">
                  <a:moveTo>
                    <a:pt x="40430" y="83769"/>
                  </a:moveTo>
                  <a:lnTo>
                    <a:pt x="51574" y="84131"/>
                  </a:lnTo>
                  <a:lnTo>
                    <a:pt x="60984" y="85121"/>
                  </a:lnTo>
                  <a:lnTo>
                    <a:pt x="70052" y="86734"/>
                  </a:lnTo>
                  <a:lnTo>
                    <a:pt x="78701" y="88934"/>
                  </a:lnTo>
                  <a:lnTo>
                    <a:pt x="86861" y="91677"/>
                  </a:lnTo>
                  <a:lnTo>
                    <a:pt x="94465" y="94914"/>
                  </a:lnTo>
                  <a:lnTo>
                    <a:pt x="101455" y="98591"/>
                  </a:lnTo>
                  <a:lnTo>
                    <a:pt x="107783" y="102649"/>
                  </a:lnTo>
                  <a:lnTo>
                    <a:pt x="113418" y="107030"/>
                  </a:lnTo>
                  <a:lnTo>
                    <a:pt x="118346" y="111683"/>
                  </a:lnTo>
                  <a:lnTo>
                    <a:pt x="122572" y="116570"/>
                  </a:lnTo>
                  <a:lnTo>
                    <a:pt x="126120" y="121679"/>
                  </a:lnTo>
                  <a:lnTo>
                    <a:pt x="129019" y="127029"/>
                  </a:lnTo>
                  <a:lnTo>
                    <a:pt x="131294" y="132682"/>
                  </a:lnTo>
                  <a:lnTo>
                    <a:pt x="132949" y="138733"/>
                  </a:lnTo>
                  <a:lnTo>
                    <a:pt x="133952" y="145301"/>
                  </a:lnTo>
                  <a:lnTo>
                    <a:pt x="134225" y="152512"/>
                  </a:lnTo>
                  <a:lnTo>
                    <a:pt x="133634" y="160628"/>
                  </a:lnTo>
                  <a:lnTo>
                    <a:pt x="132114" y="169798"/>
                  </a:lnTo>
                  <a:lnTo>
                    <a:pt x="130072" y="176649"/>
                  </a:lnTo>
                  <a:lnTo>
                    <a:pt x="127582" y="182258"/>
                  </a:lnTo>
                  <a:lnTo>
                    <a:pt x="124611" y="187169"/>
                  </a:lnTo>
                  <a:lnTo>
                    <a:pt x="121001" y="191824"/>
                  </a:lnTo>
                  <a:lnTo>
                    <a:pt x="116568" y="196506"/>
                  </a:lnTo>
                  <a:lnTo>
                    <a:pt x="111189" y="201373"/>
                  </a:lnTo>
                  <a:lnTo>
                    <a:pt x="104837" y="206521"/>
                  </a:lnTo>
                  <a:lnTo>
                    <a:pt x="97565" y="212057"/>
                  </a:lnTo>
                  <a:lnTo>
                    <a:pt x="89480" y="218128"/>
                  </a:lnTo>
                  <a:lnTo>
                    <a:pt x="80735" y="224947"/>
                  </a:lnTo>
                  <a:lnTo>
                    <a:pt x="71533" y="232785"/>
                  </a:lnTo>
                  <a:lnTo>
                    <a:pt x="62154" y="241954"/>
                  </a:lnTo>
                  <a:lnTo>
                    <a:pt x="52998" y="252746"/>
                  </a:lnTo>
                  <a:lnTo>
                    <a:pt x="44580" y="265346"/>
                  </a:lnTo>
                  <a:lnTo>
                    <a:pt x="37470" y="279740"/>
                  </a:lnTo>
                  <a:lnTo>
                    <a:pt x="32141" y="295719"/>
                  </a:lnTo>
                  <a:lnTo>
                    <a:pt x="28648" y="315248"/>
                  </a:lnTo>
                  <a:lnTo>
                    <a:pt x="29355" y="334566"/>
                  </a:lnTo>
                  <a:lnTo>
                    <a:pt x="31746" y="350456"/>
                  </a:lnTo>
                  <a:lnTo>
                    <a:pt x="35633" y="365623"/>
                  </a:lnTo>
                  <a:lnTo>
                    <a:pt x="40882" y="379962"/>
                  </a:lnTo>
                  <a:lnTo>
                    <a:pt x="47319" y="393400"/>
                  </a:lnTo>
                  <a:lnTo>
                    <a:pt x="54755" y="405910"/>
                  </a:lnTo>
                  <a:lnTo>
                    <a:pt x="63002" y="417507"/>
                  </a:lnTo>
                  <a:lnTo>
                    <a:pt x="71889" y="428244"/>
                  </a:lnTo>
                  <a:lnTo>
                    <a:pt x="81270" y="438195"/>
                  </a:lnTo>
                  <a:lnTo>
                    <a:pt x="91016" y="447447"/>
                  </a:lnTo>
                  <a:lnTo>
                    <a:pt x="101022" y="456084"/>
                  </a:lnTo>
                  <a:lnTo>
                    <a:pt x="111191" y="464188"/>
                  </a:lnTo>
                  <a:lnTo>
                    <a:pt x="121438" y="471837"/>
                  </a:lnTo>
                  <a:lnTo>
                    <a:pt x="131680" y="479098"/>
                  </a:lnTo>
                  <a:lnTo>
                    <a:pt x="141838" y="486032"/>
                  </a:lnTo>
                  <a:lnTo>
                    <a:pt x="151831" y="492690"/>
                  </a:lnTo>
                  <a:lnTo>
                    <a:pt x="161579" y="499119"/>
                  </a:lnTo>
                  <a:lnTo>
                    <a:pt x="169701" y="504452"/>
                  </a:lnTo>
                  <a:lnTo>
                    <a:pt x="189621" y="519455"/>
                  </a:lnTo>
                  <a:lnTo>
                    <a:pt x="212073" y="533074"/>
                  </a:lnTo>
                  <a:lnTo>
                    <a:pt x="234654" y="543579"/>
                  </a:lnTo>
                  <a:lnTo>
                    <a:pt x="257215" y="551010"/>
                  </a:lnTo>
                  <a:lnTo>
                    <a:pt x="279560" y="555416"/>
                  </a:lnTo>
                  <a:lnTo>
                    <a:pt x="301452" y="556870"/>
                  </a:lnTo>
                  <a:lnTo>
                    <a:pt x="322631" y="555481"/>
                  </a:lnTo>
                  <a:lnTo>
                    <a:pt x="342833" y="551405"/>
                  </a:lnTo>
                  <a:lnTo>
                    <a:pt x="361808" y="544833"/>
                  </a:lnTo>
                  <a:lnTo>
                    <a:pt x="379336" y="535980"/>
                  </a:lnTo>
                  <a:lnTo>
                    <a:pt x="395228" y="525064"/>
                  </a:lnTo>
                  <a:lnTo>
                    <a:pt x="409312" y="512297"/>
                  </a:lnTo>
                  <a:lnTo>
                    <a:pt x="421424" y="497875"/>
                  </a:lnTo>
                  <a:lnTo>
                    <a:pt x="431389" y="481985"/>
                  </a:lnTo>
                  <a:lnTo>
                    <a:pt x="439007" y="464814"/>
                  </a:lnTo>
                  <a:lnTo>
                    <a:pt x="444049" y="446579"/>
                  </a:lnTo>
                  <a:lnTo>
                    <a:pt x="446264" y="427553"/>
                  </a:lnTo>
                  <a:lnTo>
                    <a:pt x="445706" y="411552"/>
                  </a:lnTo>
                  <a:lnTo>
                    <a:pt x="441827" y="395666"/>
                  </a:lnTo>
                  <a:lnTo>
                    <a:pt x="432164" y="382474"/>
                  </a:lnTo>
                  <a:lnTo>
                    <a:pt x="418188" y="373984"/>
                  </a:lnTo>
                  <a:lnTo>
                    <a:pt x="402027" y="371489"/>
                  </a:lnTo>
                  <a:lnTo>
                    <a:pt x="386141" y="375368"/>
                  </a:lnTo>
                  <a:lnTo>
                    <a:pt x="372949" y="385031"/>
                  </a:lnTo>
                  <a:lnTo>
                    <a:pt x="364459" y="399007"/>
                  </a:lnTo>
                  <a:lnTo>
                    <a:pt x="361964" y="415168"/>
                  </a:lnTo>
                  <a:lnTo>
                    <a:pt x="361964" y="415168"/>
                  </a:lnTo>
                  <a:lnTo>
                    <a:pt x="362500" y="424508"/>
                  </a:lnTo>
                  <a:lnTo>
                    <a:pt x="361791" y="430470"/>
                  </a:lnTo>
                  <a:lnTo>
                    <a:pt x="360108" y="436518"/>
                  </a:lnTo>
                  <a:lnTo>
                    <a:pt x="357413" y="442572"/>
                  </a:lnTo>
                  <a:lnTo>
                    <a:pt x="353695" y="448494"/>
                  </a:lnTo>
                  <a:lnTo>
                    <a:pt x="348968" y="454122"/>
                  </a:lnTo>
                  <a:lnTo>
                    <a:pt x="343274" y="459288"/>
                  </a:lnTo>
                  <a:lnTo>
                    <a:pt x="336663" y="463836"/>
                  </a:lnTo>
                  <a:lnTo>
                    <a:pt x="329181" y="467624"/>
                  </a:lnTo>
                  <a:lnTo>
                    <a:pt x="320851" y="470518"/>
                  </a:lnTo>
                  <a:lnTo>
                    <a:pt x="311671" y="472381"/>
                  </a:lnTo>
                  <a:lnTo>
                    <a:pt x="301606" y="473050"/>
                  </a:lnTo>
                  <a:lnTo>
                    <a:pt x="290608" y="472328"/>
                  </a:lnTo>
                  <a:lnTo>
                    <a:pt x="278632" y="469972"/>
                  </a:lnTo>
                  <a:lnTo>
                    <a:pt x="265658" y="465703"/>
                  </a:lnTo>
                  <a:lnTo>
                    <a:pt x="251704" y="459215"/>
                  </a:lnTo>
                  <a:lnTo>
                    <a:pt x="236836" y="450198"/>
                  </a:lnTo>
                  <a:lnTo>
                    <a:pt x="218868" y="436567"/>
                  </a:lnTo>
                  <a:lnTo>
                    <a:pt x="207790" y="429188"/>
                  </a:lnTo>
                  <a:lnTo>
                    <a:pt x="198142" y="422825"/>
                  </a:lnTo>
                  <a:lnTo>
                    <a:pt x="188700" y="416535"/>
                  </a:lnTo>
                  <a:lnTo>
                    <a:pt x="179540" y="410285"/>
                  </a:lnTo>
                  <a:lnTo>
                    <a:pt x="170738" y="404049"/>
                  </a:lnTo>
                  <a:lnTo>
                    <a:pt x="162373" y="397809"/>
                  </a:lnTo>
                  <a:lnTo>
                    <a:pt x="154518" y="391554"/>
                  </a:lnTo>
                  <a:lnTo>
                    <a:pt x="147244" y="385283"/>
                  </a:lnTo>
                  <a:lnTo>
                    <a:pt x="140612" y="378999"/>
                  </a:lnTo>
                  <a:lnTo>
                    <a:pt x="134673" y="372710"/>
                  </a:lnTo>
                  <a:lnTo>
                    <a:pt x="129456" y="366422"/>
                  </a:lnTo>
                  <a:lnTo>
                    <a:pt x="124970" y="360132"/>
                  </a:lnTo>
                  <a:lnTo>
                    <a:pt x="121202" y="353813"/>
                  </a:lnTo>
                  <a:lnTo>
                    <a:pt x="118121" y="347404"/>
                  </a:lnTo>
                  <a:lnTo>
                    <a:pt x="115693" y="340799"/>
                  </a:lnTo>
                  <a:lnTo>
                    <a:pt x="113903" y="333845"/>
                  </a:lnTo>
                  <a:lnTo>
                    <a:pt x="112773" y="326361"/>
                  </a:lnTo>
                  <a:lnTo>
                    <a:pt x="112272" y="320972"/>
                  </a:lnTo>
                  <a:lnTo>
                    <a:pt x="113312" y="316626"/>
                  </a:lnTo>
                  <a:lnTo>
                    <a:pt x="115026" y="311533"/>
                  </a:lnTo>
                  <a:lnTo>
                    <a:pt x="117153" y="307285"/>
                  </a:lnTo>
                  <a:lnTo>
                    <a:pt x="119855" y="303302"/>
                  </a:lnTo>
                  <a:lnTo>
                    <a:pt x="123385" y="299196"/>
                  </a:lnTo>
                  <a:lnTo>
                    <a:pt x="127948" y="294779"/>
                  </a:lnTo>
                  <a:lnTo>
                    <a:pt x="133627" y="289972"/>
                  </a:lnTo>
                  <a:lnTo>
                    <a:pt x="140392" y="284715"/>
                  </a:lnTo>
                  <a:lnTo>
                    <a:pt x="148130" y="278907"/>
                  </a:lnTo>
                  <a:lnTo>
                    <a:pt x="156680" y="272386"/>
                  </a:lnTo>
                  <a:lnTo>
                    <a:pt x="165837" y="264929"/>
                  </a:lnTo>
                  <a:lnTo>
                    <a:pt x="175341" y="256269"/>
                  </a:lnTo>
                  <a:lnTo>
                    <a:pt x="184848" y="246131"/>
                  </a:lnTo>
                  <a:lnTo>
                    <a:pt x="193925" y="234301"/>
                  </a:lnTo>
                  <a:lnTo>
                    <a:pt x="202073" y="220687"/>
                  </a:lnTo>
                  <a:lnTo>
                    <a:pt x="208821" y="205361"/>
                  </a:lnTo>
                  <a:lnTo>
                    <a:pt x="213822" y="188495"/>
                  </a:lnTo>
                  <a:lnTo>
                    <a:pt x="216835" y="170792"/>
                  </a:lnTo>
                  <a:lnTo>
                    <a:pt x="218031" y="154043"/>
                  </a:lnTo>
                  <a:lnTo>
                    <a:pt x="217406" y="137487"/>
                  </a:lnTo>
                  <a:lnTo>
                    <a:pt x="214963" y="121426"/>
                  </a:lnTo>
                  <a:lnTo>
                    <a:pt x="210761" y="106022"/>
                  </a:lnTo>
                  <a:lnTo>
                    <a:pt x="204906" y="91436"/>
                  </a:lnTo>
                  <a:lnTo>
                    <a:pt x="197539" y="77802"/>
                  </a:lnTo>
                  <a:lnTo>
                    <a:pt x="188821" y="65219"/>
                  </a:lnTo>
                  <a:lnTo>
                    <a:pt x="178920" y="53748"/>
                  </a:lnTo>
                  <a:lnTo>
                    <a:pt x="167996" y="43414"/>
                  </a:lnTo>
                  <a:lnTo>
                    <a:pt x="156191" y="34220"/>
                  </a:lnTo>
                  <a:lnTo>
                    <a:pt x="143629" y="26153"/>
                  </a:lnTo>
                  <a:lnTo>
                    <a:pt x="130415" y="19195"/>
                  </a:lnTo>
                  <a:lnTo>
                    <a:pt x="116640" y="13325"/>
                  </a:lnTo>
                  <a:lnTo>
                    <a:pt x="102383" y="8529"/>
                  </a:lnTo>
                  <a:lnTo>
                    <a:pt x="87713" y="4796"/>
                  </a:lnTo>
                  <a:lnTo>
                    <a:pt x="72697" y="2124"/>
                  </a:lnTo>
                  <a:lnTo>
                    <a:pt x="57396" y="514"/>
                  </a:lnTo>
                  <a:lnTo>
                    <a:pt x="43340" y="0"/>
                  </a:lnTo>
                  <a:lnTo>
                    <a:pt x="27200" y="2631"/>
                  </a:lnTo>
                  <a:lnTo>
                    <a:pt x="13297" y="11239"/>
                  </a:lnTo>
                  <a:lnTo>
                    <a:pt x="3745" y="24512"/>
                  </a:lnTo>
                  <a:lnTo>
                    <a:pt x="0" y="40430"/>
                  </a:lnTo>
                  <a:lnTo>
                    <a:pt x="2631" y="56569"/>
                  </a:lnTo>
                  <a:lnTo>
                    <a:pt x="11239" y="70473"/>
                  </a:lnTo>
                  <a:lnTo>
                    <a:pt x="24512" y="80024"/>
                  </a:lnTo>
                  <a:lnTo>
                    <a:pt x="40430" y="83769"/>
                  </a:lnTo>
                  <a:close/>
                </a:path>
              </a:pathLst>
            </a:custGeom>
            <a:gradFill rotWithShape="1">
              <a:gsLst>
                <a:gs pos="0">
                  <a:srgbClr val="FFE0CB"/>
                </a:gs>
                <a:gs pos="33000">
                  <a:srgbClr val="FAD0BC"/>
                </a:gs>
                <a:gs pos="69000">
                  <a:srgbClr val="F5BAA6"/>
                </a:gs>
                <a:gs pos="100000">
                  <a:srgbClr val="E9A38E"/>
                </a:gs>
              </a:gsLst>
              <a:lin ang="4200000" scaled="1"/>
            </a:gradFill>
            <a:ln w="3442" cap="rnd">
              <a:solidFill>
                <a:srgbClr val="CB8B7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Natural small-bowel coil 03 soft reflected light"/>
            <p:cNvSpPr/>
            <p:nvPr/>
          </p:nvSpPr>
          <p:spPr>
            <a:xfrm>
              <a:off x="295842" y="395429"/>
              <a:ext cx="148469" cy="201151"/>
            </a:xfrm>
            <a:custGeom>
              <a:avLst/>
              <a:gdLst/>
              <a:ahLst/>
              <a:cxnLst/>
              <a:rect l="0" t="0" r="r" b="b"/>
              <a:pathLst>
                <a:path w="349177" h="473077">
                  <a:moveTo>
                    <a:pt x="0" y="0"/>
                  </a:moveTo>
                  <a:cubicBezTo>
                    <a:pt x="2175" y="77"/>
                    <a:pt x="8665" y="152"/>
                    <a:pt x="13052" y="461"/>
                  </a:cubicBezTo>
                  <a:cubicBezTo>
                    <a:pt x="17439" y="771"/>
                    <a:pt x="21948" y="1240"/>
                    <a:pt x="26320" y="1857"/>
                  </a:cubicBezTo>
                  <a:cubicBezTo>
                    <a:pt x="30692" y="2475"/>
                    <a:pt x="35025" y="3246"/>
                    <a:pt x="39284" y="4164"/>
                  </a:cubicBezTo>
                  <a:cubicBezTo>
                    <a:pt x="43543" y="5083"/>
                    <a:pt x="47752" y="6153"/>
                    <a:pt x="51877" y="7368"/>
                  </a:cubicBezTo>
                  <a:cubicBezTo>
                    <a:pt x="56001" y="8583"/>
                    <a:pt x="60064" y="9948"/>
                    <a:pt x="64031" y="11456"/>
                  </a:cubicBezTo>
                  <a:cubicBezTo>
                    <a:pt x="67997" y="12964"/>
                    <a:pt x="71891" y="14619"/>
                    <a:pt x="75677" y="16417"/>
                  </a:cubicBezTo>
                  <a:cubicBezTo>
                    <a:pt x="79462" y="18215"/>
                    <a:pt x="83163" y="20159"/>
                    <a:pt x="86743" y="22244"/>
                  </a:cubicBezTo>
                  <a:cubicBezTo>
                    <a:pt x="90323" y="24329"/>
                    <a:pt x="93806" y="26558"/>
                    <a:pt x="97154" y="28928"/>
                  </a:cubicBezTo>
                  <a:cubicBezTo>
                    <a:pt x="100502" y="31297"/>
                    <a:pt x="103742" y="33810"/>
                    <a:pt x="106830" y="36461"/>
                  </a:cubicBezTo>
                  <a:cubicBezTo>
                    <a:pt x="109919" y="39112"/>
                    <a:pt x="112886" y="41906"/>
                    <a:pt x="115686" y="44835"/>
                  </a:cubicBezTo>
                  <a:cubicBezTo>
                    <a:pt x="118486" y="47764"/>
                    <a:pt x="121150" y="50834"/>
                    <a:pt x="123629" y="54035"/>
                  </a:cubicBezTo>
                  <a:cubicBezTo>
                    <a:pt x="126109" y="57235"/>
                    <a:pt x="128437" y="60576"/>
                    <a:pt x="130563" y="64039"/>
                  </a:cubicBezTo>
                  <a:cubicBezTo>
                    <a:pt x="132690" y="67502"/>
                    <a:pt x="134648" y="71102"/>
                    <a:pt x="136389" y="74815"/>
                  </a:cubicBezTo>
                  <a:cubicBezTo>
                    <a:pt x="138130" y="78529"/>
                    <a:pt x="139685" y="82373"/>
                    <a:pt x="141009" y="86319"/>
                  </a:cubicBezTo>
                  <a:cubicBezTo>
                    <a:pt x="142333" y="90266"/>
                    <a:pt x="143454" y="94336"/>
                    <a:pt x="144332" y="98496"/>
                  </a:cubicBezTo>
                  <a:cubicBezTo>
                    <a:pt x="145211" y="102657"/>
                    <a:pt x="145870" y="106929"/>
                    <a:pt x="146279" y="111283"/>
                  </a:cubicBezTo>
                  <a:cubicBezTo>
                    <a:pt x="146687" y="115636"/>
                    <a:pt x="146863" y="120097"/>
                    <a:pt x="146782" y="124614"/>
                  </a:cubicBezTo>
                  <a:cubicBezTo>
                    <a:pt x="146702" y="129131"/>
                    <a:pt x="146376" y="133630"/>
                    <a:pt x="145795" y="138385"/>
                  </a:cubicBezTo>
                  <a:cubicBezTo>
                    <a:pt x="145214" y="143140"/>
                    <a:pt x="144377" y="148449"/>
                    <a:pt x="143297" y="153144"/>
                  </a:cubicBezTo>
                  <a:cubicBezTo>
                    <a:pt x="142217" y="157839"/>
                    <a:pt x="140860" y="162324"/>
                    <a:pt x="139317" y="166555"/>
                  </a:cubicBezTo>
                  <a:cubicBezTo>
                    <a:pt x="137774" y="170786"/>
                    <a:pt x="135978" y="174765"/>
                    <a:pt x="134038" y="178529"/>
                  </a:cubicBezTo>
                  <a:cubicBezTo>
                    <a:pt x="132098" y="182293"/>
                    <a:pt x="129935" y="185812"/>
                    <a:pt x="127676" y="189140"/>
                  </a:cubicBezTo>
                  <a:cubicBezTo>
                    <a:pt x="125417" y="192467"/>
                    <a:pt x="122977" y="195560"/>
                    <a:pt x="120485" y="198495"/>
                  </a:cubicBezTo>
                  <a:cubicBezTo>
                    <a:pt x="117994" y="201430"/>
                    <a:pt x="115368" y="204149"/>
                    <a:pt x="112728" y="206750"/>
                  </a:cubicBezTo>
                  <a:cubicBezTo>
                    <a:pt x="110089" y="209351"/>
                    <a:pt x="107360" y="211766"/>
                    <a:pt x="104648" y="214101"/>
                  </a:cubicBezTo>
                  <a:cubicBezTo>
                    <a:pt x="101936" y="216437"/>
                    <a:pt x="99175" y="218622"/>
                    <a:pt x="96458" y="220762"/>
                  </a:cubicBezTo>
                  <a:cubicBezTo>
                    <a:pt x="93742" y="222902"/>
                    <a:pt x="91010" y="224930"/>
                    <a:pt x="88349" y="226943"/>
                  </a:cubicBezTo>
                  <a:cubicBezTo>
                    <a:pt x="85688" y="228956"/>
                    <a:pt x="83042" y="230893"/>
                    <a:pt x="80491" y="232842"/>
                  </a:cubicBezTo>
                  <a:cubicBezTo>
                    <a:pt x="77941" y="234791"/>
                    <a:pt x="75434" y="236697"/>
                    <a:pt x="73044" y="238638"/>
                  </a:cubicBezTo>
                  <a:cubicBezTo>
                    <a:pt x="70653" y="240579"/>
                    <a:pt x="68335" y="242506"/>
                    <a:pt x="66149" y="244490"/>
                  </a:cubicBezTo>
                  <a:cubicBezTo>
                    <a:pt x="63962" y="246475"/>
                    <a:pt x="61874" y="248468"/>
                    <a:pt x="59925" y="250547"/>
                  </a:cubicBezTo>
                  <a:cubicBezTo>
                    <a:pt x="57975" y="252625"/>
                    <a:pt x="56144" y="254731"/>
                    <a:pt x="54453" y="256959"/>
                  </a:cubicBezTo>
                  <a:cubicBezTo>
                    <a:pt x="52763" y="259188"/>
                    <a:pt x="51200" y="261465"/>
                    <a:pt x="49780" y="263916"/>
                  </a:cubicBezTo>
                  <a:cubicBezTo>
                    <a:pt x="48360" y="266367"/>
                    <a:pt x="47068" y="268898"/>
                    <a:pt x="45933" y="271664"/>
                  </a:cubicBezTo>
                  <a:cubicBezTo>
                    <a:pt x="44799" y="274430"/>
                    <a:pt x="43780" y="277440"/>
                    <a:pt x="42972" y="280512"/>
                  </a:cubicBezTo>
                  <a:cubicBezTo>
                    <a:pt x="42164" y="283585"/>
                    <a:pt x="41305" y="286800"/>
                    <a:pt x="41086" y="290096"/>
                  </a:cubicBezTo>
                  <a:cubicBezTo>
                    <a:pt x="40867" y="293393"/>
                    <a:pt x="41302" y="296861"/>
                    <a:pt x="41658" y="300291"/>
                  </a:cubicBezTo>
                  <a:cubicBezTo>
                    <a:pt x="42014" y="303721"/>
                    <a:pt x="42544" y="307314"/>
                    <a:pt x="43223" y="310676"/>
                  </a:cubicBezTo>
                  <a:cubicBezTo>
                    <a:pt x="43903" y="314038"/>
                    <a:pt x="44751" y="317286"/>
                    <a:pt x="45737" y="320463"/>
                  </a:cubicBezTo>
                  <a:cubicBezTo>
                    <a:pt x="46722" y="323640"/>
                    <a:pt x="47864" y="326719"/>
                    <a:pt x="49137" y="329736"/>
                  </a:cubicBezTo>
                  <a:cubicBezTo>
                    <a:pt x="50411" y="332754"/>
                    <a:pt x="51831" y="335689"/>
                    <a:pt x="53377" y="338570"/>
                  </a:cubicBezTo>
                  <a:cubicBezTo>
                    <a:pt x="54922" y="341452"/>
                    <a:pt x="56607" y="344262"/>
                    <a:pt x="58410" y="347025"/>
                  </a:cubicBezTo>
                  <a:cubicBezTo>
                    <a:pt x="60213" y="349787"/>
                    <a:pt x="62149" y="352489"/>
                    <a:pt x="64193" y="355146"/>
                  </a:cubicBezTo>
                  <a:cubicBezTo>
                    <a:pt x="66238" y="357803"/>
                    <a:pt x="68409" y="360406"/>
                    <a:pt x="70677" y="362969"/>
                  </a:cubicBezTo>
                  <a:cubicBezTo>
                    <a:pt x="72945" y="365531"/>
                    <a:pt x="75331" y="368045"/>
                    <a:pt x="77803" y="370521"/>
                  </a:cubicBezTo>
                  <a:cubicBezTo>
                    <a:pt x="80275" y="372998"/>
                    <a:pt x="82856" y="375430"/>
                    <a:pt x="85509" y="377829"/>
                  </a:cubicBezTo>
                  <a:cubicBezTo>
                    <a:pt x="88163" y="380228"/>
                    <a:pt x="90914" y="382586"/>
                    <a:pt x="93726" y="384916"/>
                  </a:cubicBezTo>
                  <a:cubicBezTo>
                    <a:pt x="96537" y="387247"/>
                    <a:pt x="99435" y="389539"/>
                    <a:pt x="102379" y="391809"/>
                  </a:cubicBezTo>
                  <a:cubicBezTo>
                    <a:pt x="105324" y="394079"/>
                    <a:pt x="108342" y="396316"/>
                    <a:pt x="111394" y="398535"/>
                  </a:cubicBezTo>
                  <a:cubicBezTo>
                    <a:pt x="114446" y="400755"/>
                    <a:pt x="117559" y="402946"/>
                    <a:pt x="120692" y="405125"/>
                  </a:cubicBezTo>
                  <a:cubicBezTo>
                    <a:pt x="123826" y="407304"/>
                    <a:pt x="127007" y="409460"/>
                    <a:pt x="130197" y="411611"/>
                  </a:cubicBezTo>
                  <a:cubicBezTo>
                    <a:pt x="133386" y="413761"/>
                    <a:pt x="136610" y="415894"/>
                    <a:pt x="139829" y="418028"/>
                  </a:cubicBezTo>
                  <a:cubicBezTo>
                    <a:pt x="143048" y="420162"/>
                    <a:pt x="146221" y="422237"/>
                    <a:pt x="149511" y="424413"/>
                  </a:cubicBezTo>
                  <a:cubicBezTo>
                    <a:pt x="152802" y="426590"/>
                    <a:pt x="154787" y="427624"/>
                    <a:pt x="159570" y="431087"/>
                  </a:cubicBezTo>
                  <a:cubicBezTo>
                    <a:pt x="164353" y="434550"/>
                    <a:pt x="172190" y="441073"/>
                    <a:pt x="178211" y="445191"/>
                  </a:cubicBezTo>
                  <a:cubicBezTo>
                    <a:pt x="184232" y="449309"/>
                    <a:pt x="189960" y="452717"/>
                    <a:pt x="195695" y="455796"/>
                  </a:cubicBezTo>
                  <a:cubicBezTo>
                    <a:pt x="201431" y="458876"/>
                    <a:pt x="207090" y="461464"/>
                    <a:pt x="212626" y="463670"/>
                  </a:cubicBezTo>
                  <a:cubicBezTo>
                    <a:pt x="218161" y="465875"/>
                    <a:pt x="223602" y="467626"/>
                    <a:pt x="228908" y="469030"/>
                  </a:cubicBezTo>
                  <a:cubicBezTo>
                    <a:pt x="234214" y="470434"/>
                    <a:pt x="239409" y="471420"/>
                    <a:pt x="244461" y="472093"/>
                  </a:cubicBezTo>
                  <a:cubicBezTo>
                    <a:pt x="249512" y="472766"/>
                    <a:pt x="254441" y="473058"/>
                    <a:pt x="259217" y="473067"/>
                  </a:cubicBezTo>
                  <a:cubicBezTo>
                    <a:pt x="263993" y="473077"/>
                    <a:pt x="268636" y="472740"/>
                    <a:pt x="273116" y="472150"/>
                  </a:cubicBezTo>
                  <a:cubicBezTo>
                    <a:pt x="277597" y="471559"/>
                    <a:pt x="281935" y="470655"/>
                    <a:pt x="286099" y="469524"/>
                  </a:cubicBezTo>
                  <a:cubicBezTo>
                    <a:pt x="290263" y="468392"/>
                    <a:pt x="294276" y="466977"/>
                    <a:pt x="298101" y="465361"/>
                  </a:cubicBezTo>
                  <a:cubicBezTo>
                    <a:pt x="301926" y="463744"/>
                    <a:pt x="305589" y="461872"/>
                    <a:pt x="309050" y="459825"/>
                  </a:cubicBezTo>
                  <a:cubicBezTo>
                    <a:pt x="312510" y="457778"/>
                    <a:pt x="315795" y="455503"/>
                    <a:pt x="318862" y="453080"/>
                  </a:cubicBezTo>
                  <a:cubicBezTo>
                    <a:pt x="321929" y="450658"/>
                    <a:pt x="324807" y="448034"/>
                    <a:pt x="327451" y="445292"/>
                  </a:cubicBezTo>
                  <a:cubicBezTo>
                    <a:pt x="330095" y="442550"/>
                    <a:pt x="332534" y="439634"/>
                    <a:pt x="334726" y="436630"/>
                  </a:cubicBezTo>
                  <a:cubicBezTo>
                    <a:pt x="336917" y="433627"/>
                    <a:pt x="338888" y="430477"/>
                    <a:pt x="340599" y="427269"/>
                  </a:cubicBezTo>
                  <a:cubicBezTo>
                    <a:pt x="342310" y="424060"/>
                    <a:pt x="343786" y="420737"/>
                    <a:pt x="344992" y="417380"/>
                  </a:cubicBezTo>
                  <a:cubicBezTo>
                    <a:pt x="346198" y="414023"/>
                    <a:pt x="347156" y="410581"/>
                    <a:pt x="347834" y="407127"/>
                  </a:cubicBezTo>
                  <a:cubicBezTo>
                    <a:pt x="348513" y="403674"/>
                    <a:pt x="348948" y="400343"/>
                    <a:pt x="349063" y="396658"/>
                  </a:cubicBezTo>
                  <a:cubicBezTo>
                    <a:pt x="349177" y="392973"/>
                    <a:pt x="348610" y="386959"/>
                    <a:pt x="348519" y="385020"/>
                  </a:cubicBezTo>
                </a:path>
              </a:pathLst>
            </a:custGeom>
            <a:noFill/>
            <a:ln w="9112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Natural small-bowel coil 04"/>
            <p:cNvSpPr/>
            <p:nvPr/>
          </p:nvSpPr>
          <p:spPr>
            <a:xfrm>
              <a:off x="391275" y="400731"/>
              <a:ext cx="224159" cy="279556"/>
            </a:xfrm>
            <a:custGeom>
              <a:avLst/>
              <a:gdLst/>
              <a:ahLst/>
              <a:cxnLst/>
              <a:rect l="0" t="0" r="r" b="b"/>
              <a:pathLst>
                <a:path w="527188" h="657474">
                  <a:moveTo>
                    <a:pt x="55050" y="97427"/>
                  </a:moveTo>
                  <a:lnTo>
                    <a:pt x="73955" y="91085"/>
                  </a:lnTo>
                  <a:lnTo>
                    <a:pt x="90975" y="87086"/>
                  </a:lnTo>
                  <a:lnTo>
                    <a:pt x="107780" y="84689"/>
                  </a:lnTo>
                  <a:lnTo>
                    <a:pt x="124183" y="83816"/>
                  </a:lnTo>
                  <a:lnTo>
                    <a:pt x="139984" y="84376"/>
                  </a:lnTo>
                  <a:lnTo>
                    <a:pt x="154974" y="86265"/>
                  </a:lnTo>
                  <a:lnTo>
                    <a:pt x="168936" y="89358"/>
                  </a:lnTo>
                  <a:lnTo>
                    <a:pt x="181653" y="93504"/>
                  </a:lnTo>
                  <a:lnTo>
                    <a:pt x="192916" y="98518"/>
                  </a:lnTo>
                  <a:lnTo>
                    <a:pt x="202540" y="104176"/>
                  </a:lnTo>
                  <a:lnTo>
                    <a:pt x="210394" y="110217"/>
                  </a:lnTo>
                  <a:lnTo>
                    <a:pt x="216435" y="116364"/>
                  </a:lnTo>
                  <a:lnTo>
                    <a:pt x="220751" y="122384"/>
                  </a:lnTo>
                  <a:lnTo>
                    <a:pt x="223564" y="128197"/>
                  </a:lnTo>
                  <a:lnTo>
                    <a:pt x="225136" y="133990"/>
                  </a:lnTo>
                  <a:lnTo>
                    <a:pt x="225583" y="140236"/>
                  </a:lnTo>
                  <a:lnTo>
                    <a:pt x="224706" y="147529"/>
                  </a:lnTo>
                  <a:lnTo>
                    <a:pt x="220901" y="159386"/>
                  </a:lnTo>
                  <a:lnTo>
                    <a:pt x="215124" y="177671"/>
                  </a:lnTo>
                  <a:lnTo>
                    <a:pt x="211529" y="199145"/>
                  </a:lnTo>
                  <a:lnTo>
                    <a:pt x="211190" y="220383"/>
                  </a:lnTo>
                  <a:lnTo>
                    <a:pt x="213919" y="240967"/>
                  </a:lnTo>
                  <a:lnTo>
                    <a:pt x="219376" y="260566"/>
                  </a:lnTo>
                  <a:lnTo>
                    <a:pt x="227149" y="279003"/>
                  </a:lnTo>
                  <a:lnTo>
                    <a:pt x="236841" y="296246"/>
                  </a:lnTo>
                  <a:lnTo>
                    <a:pt x="248116" y="312353"/>
                  </a:lnTo>
                  <a:lnTo>
                    <a:pt x="260703" y="327420"/>
                  </a:lnTo>
                  <a:lnTo>
                    <a:pt x="274384" y="341550"/>
                  </a:lnTo>
                  <a:lnTo>
                    <a:pt x="288978" y="354835"/>
                  </a:lnTo>
                  <a:lnTo>
                    <a:pt x="304323" y="367348"/>
                  </a:lnTo>
                  <a:lnTo>
                    <a:pt x="320271" y="379146"/>
                  </a:lnTo>
                  <a:lnTo>
                    <a:pt x="336678" y="390270"/>
                  </a:lnTo>
                  <a:lnTo>
                    <a:pt x="353401" y="400752"/>
                  </a:lnTo>
                  <a:lnTo>
                    <a:pt x="370298" y="410611"/>
                  </a:lnTo>
                  <a:lnTo>
                    <a:pt x="387226" y="419863"/>
                  </a:lnTo>
                  <a:lnTo>
                    <a:pt x="402102" y="427480"/>
                  </a:lnTo>
                  <a:lnTo>
                    <a:pt x="414802" y="435320"/>
                  </a:lnTo>
                  <a:lnTo>
                    <a:pt x="424218" y="442903"/>
                  </a:lnTo>
                  <a:lnTo>
                    <a:pt x="431337" y="450411"/>
                  </a:lnTo>
                  <a:lnTo>
                    <a:pt x="436511" y="457741"/>
                  </a:lnTo>
                  <a:lnTo>
                    <a:pt x="440091" y="464905"/>
                  </a:lnTo>
                  <a:lnTo>
                    <a:pt x="442361" y="472018"/>
                  </a:lnTo>
                  <a:lnTo>
                    <a:pt x="443492" y="479246"/>
                  </a:lnTo>
                  <a:lnTo>
                    <a:pt x="443538" y="486729"/>
                  </a:lnTo>
                  <a:lnTo>
                    <a:pt x="442471" y="494537"/>
                  </a:lnTo>
                  <a:lnTo>
                    <a:pt x="440226" y="502651"/>
                  </a:lnTo>
                  <a:lnTo>
                    <a:pt x="436746" y="510975"/>
                  </a:lnTo>
                  <a:lnTo>
                    <a:pt x="432000" y="519366"/>
                  </a:lnTo>
                  <a:lnTo>
                    <a:pt x="425992" y="527655"/>
                  </a:lnTo>
                  <a:lnTo>
                    <a:pt x="418751" y="535666"/>
                  </a:lnTo>
                  <a:lnTo>
                    <a:pt x="410332" y="543227"/>
                  </a:lnTo>
                  <a:lnTo>
                    <a:pt x="400802" y="550179"/>
                  </a:lnTo>
                  <a:lnTo>
                    <a:pt x="390234" y="556370"/>
                  </a:lnTo>
                  <a:lnTo>
                    <a:pt x="378429" y="561773"/>
                  </a:lnTo>
                  <a:lnTo>
                    <a:pt x="363002" y="567415"/>
                  </a:lnTo>
                  <a:lnTo>
                    <a:pt x="349016" y="571052"/>
                  </a:lnTo>
                  <a:lnTo>
                    <a:pt x="336090" y="573061"/>
                  </a:lnTo>
                  <a:lnTo>
                    <a:pt x="324182" y="573654"/>
                  </a:lnTo>
                  <a:lnTo>
                    <a:pt x="313233" y="573022"/>
                  </a:lnTo>
                  <a:lnTo>
                    <a:pt x="303176" y="571330"/>
                  </a:lnTo>
                  <a:lnTo>
                    <a:pt x="293948" y="568714"/>
                  </a:lnTo>
                  <a:lnTo>
                    <a:pt x="285504" y="565291"/>
                  </a:lnTo>
                  <a:lnTo>
                    <a:pt x="277818" y="561165"/>
                  </a:lnTo>
                  <a:lnTo>
                    <a:pt x="270894" y="556440"/>
                  </a:lnTo>
                  <a:lnTo>
                    <a:pt x="264751" y="551231"/>
                  </a:lnTo>
                  <a:lnTo>
                    <a:pt x="259425" y="545667"/>
                  </a:lnTo>
                  <a:lnTo>
                    <a:pt x="254953" y="539902"/>
                  </a:lnTo>
                  <a:lnTo>
                    <a:pt x="251370" y="534110"/>
                  </a:lnTo>
                  <a:lnTo>
                    <a:pt x="248690" y="528493"/>
                  </a:lnTo>
                  <a:lnTo>
                    <a:pt x="246897" y="523269"/>
                  </a:lnTo>
                  <a:lnTo>
                    <a:pt x="245924" y="518666"/>
                  </a:lnTo>
                  <a:lnTo>
                    <a:pt x="245530" y="511846"/>
                  </a:lnTo>
                  <a:lnTo>
                    <a:pt x="241193" y="496079"/>
                  </a:lnTo>
                  <a:lnTo>
                    <a:pt x="231152" y="483172"/>
                  </a:lnTo>
                  <a:lnTo>
                    <a:pt x="216936" y="475091"/>
                  </a:lnTo>
                  <a:lnTo>
                    <a:pt x="200709" y="473064"/>
                  </a:lnTo>
                  <a:lnTo>
                    <a:pt x="184943" y="477402"/>
                  </a:lnTo>
                  <a:lnTo>
                    <a:pt x="172036" y="487443"/>
                  </a:lnTo>
                  <a:lnTo>
                    <a:pt x="163954" y="501659"/>
                  </a:lnTo>
                  <a:lnTo>
                    <a:pt x="161928" y="517885"/>
                  </a:lnTo>
                  <a:lnTo>
                    <a:pt x="161928" y="517885"/>
                  </a:lnTo>
                  <a:lnTo>
                    <a:pt x="162932" y="530419"/>
                  </a:lnTo>
                  <a:lnTo>
                    <a:pt x="166101" y="545581"/>
                  </a:lnTo>
                  <a:lnTo>
                    <a:pt x="171115" y="560240"/>
                  </a:lnTo>
                  <a:lnTo>
                    <a:pt x="177829" y="574329"/>
                  </a:lnTo>
                  <a:lnTo>
                    <a:pt x="186149" y="587774"/>
                  </a:lnTo>
                  <a:lnTo>
                    <a:pt x="196011" y="600480"/>
                  </a:lnTo>
                  <a:lnTo>
                    <a:pt x="207370" y="612330"/>
                  </a:lnTo>
                  <a:lnTo>
                    <a:pt x="220185" y="623182"/>
                  </a:lnTo>
                  <a:lnTo>
                    <a:pt x="234415" y="632872"/>
                  </a:lnTo>
                  <a:lnTo>
                    <a:pt x="250000" y="641221"/>
                  </a:lnTo>
                  <a:lnTo>
                    <a:pt x="266863" y="648038"/>
                  </a:lnTo>
                  <a:lnTo>
                    <a:pt x="284904" y="653134"/>
                  </a:lnTo>
                  <a:lnTo>
                    <a:pt x="303997" y="656332"/>
                  </a:lnTo>
                  <a:lnTo>
                    <a:pt x="324001" y="657474"/>
                  </a:lnTo>
                  <a:lnTo>
                    <a:pt x="344771" y="656430"/>
                  </a:lnTo>
                  <a:lnTo>
                    <a:pt x="366169" y="653098"/>
                  </a:lnTo>
                  <a:lnTo>
                    <a:pt x="388075" y="647397"/>
                  </a:lnTo>
                  <a:lnTo>
                    <a:pt x="410029" y="639408"/>
                  </a:lnTo>
                  <a:lnTo>
                    <a:pt x="428887" y="630746"/>
                  </a:lnTo>
                  <a:lnTo>
                    <a:pt x="446687" y="620324"/>
                  </a:lnTo>
                  <a:lnTo>
                    <a:pt x="463057" y="608388"/>
                  </a:lnTo>
                  <a:lnTo>
                    <a:pt x="477892" y="595064"/>
                  </a:lnTo>
                  <a:lnTo>
                    <a:pt x="491083" y="580465"/>
                  </a:lnTo>
                  <a:lnTo>
                    <a:pt x="502508" y="564692"/>
                  </a:lnTo>
                  <a:lnTo>
                    <a:pt x="512020" y="547847"/>
                  </a:lnTo>
                  <a:lnTo>
                    <a:pt x="519447" y="530033"/>
                  </a:lnTo>
                  <a:lnTo>
                    <a:pt x="524581" y="511381"/>
                  </a:lnTo>
                  <a:lnTo>
                    <a:pt x="527188" y="492071"/>
                  </a:lnTo>
                  <a:lnTo>
                    <a:pt x="527029" y="472358"/>
                  </a:lnTo>
                  <a:lnTo>
                    <a:pt x="523897" y="452585"/>
                  </a:lnTo>
                  <a:lnTo>
                    <a:pt x="517671" y="433168"/>
                  </a:lnTo>
                  <a:lnTo>
                    <a:pt x="508345" y="414546"/>
                  </a:lnTo>
                  <a:lnTo>
                    <a:pt x="496027" y="397110"/>
                  </a:lnTo>
                  <a:lnTo>
                    <a:pt x="480892" y="381146"/>
                  </a:lnTo>
                  <a:lnTo>
                    <a:pt x="463114" y="366823"/>
                  </a:lnTo>
                  <a:lnTo>
                    <a:pt x="443506" y="354601"/>
                  </a:lnTo>
                  <a:lnTo>
                    <a:pt x="426508" y="345817"/>
                  </a:lnTo>
                  <a:lnTo>
                    <a:pt x="411523" y="337629"/>
                  </a:lnTo>
                  <a:lnTo>
                    <a:pt x="396781" y="329030"/>
                  </a:lnTo>
                  <a:lnTo>
                    <a:pt x="382453" y="320053"/>
                  </a:lnTo>
                  <a:lnTo>
                    <a:pt x="368710" y="310739"/>
                  </a:lnTo>
                  <a:lnTo>
                    <a:pt x="355724" y="301138"/>
                  </a:lnTo>
                  <a:lnTo>
                    <a:pt x="343664" y="291312"/>
                  </a:lnTo>
                  <a:lnTo>
                    <a:pt x="332694" y="281336"/>
                  </a:lnTo>
                  <a:lnTo>
                    <a:pt x="322968" y="271305"/>
                  </a:lnTo>
                  <a:lnTo>
                    <a:pt x="314616" y="261328"/>
                  </a:lnTo>
                  <a:lnTo>
                    <a:pt x="307736" y="251528"/>
                  </a:lnTo>
                  <a:lnTo>
                    <a:pt x="302370" y="242022"/>
                  </a:lnTo>
                  <a:lnTo>
                    <a:pt x="298495" y="232887"/>
                  </a:lnTo>
                  <a:lnTo>
                    <a:pt x="296027" y="224111"/>
                  </a:lnTo>
                  <a:lnTo>
                    <a:pt x="294870" y="215535"/>
                  </a:lnTo>
                  <a:lnTo>
                    <a:pt x="294994" y="206848"/>
                  </a:lnTo>
                  <a:lnTo>
                    <a:pt x="296527" y="197654"/>
                  </a:lnTo>
                  <a:lnTo>
                    <a:pt x="300857" y="184545"/>
                  </a:lnTo>
                  <a:lnTo>
                    <a:pt x="306639" y="165211"/>
                  </a:lnTo>
                  <a:lnTo>
                    <a:pt x="309371" y="142547"/>
                  </a:lnTo>
                  <a:lnTo>
                    <a:pt x="307822" y="120248"/>
                  </a:lnTo>
                  <a:lnTo>
                    <a:pt x="302166" y="99082"/>
                  </a:lnTo>
                  <a:lnTo>
                    <a:pt x="292889" y="79701"/>
                  </a:lnTo>
                  <a:lnTo>
                    <a:pt x="280629" y="62467"/>
                  </a:lnTo>
                  <a:lnTo>
                    <a:pt x="265977" y="47477"/>
                  </a:lnTo>
                  <a:lnTo>
                    <a:pt x="249394" y="34674"/>
                  </a:lnTo>
                  <a:lnTo>
                    <a:pt x="231211" y="23957"/>
                  </a:lnTo>
                  <a:lnTo>
                    <a:pt x="211667" y="15242"/>
                  </a:lnTo>
                  <a:lnTo>
                    <a:pt x="190952" y="8481"/>
                  </a:lnTo>
                  <a:lnTo>
                    <a:pt x="169228" y="3666"/>
                  </a:lnTo>
                  <a:lnTo>
                    <a:pt x="146651" y="822"/>
                  </a:lnTo>
                  <a:lnTo>
                    <a:pt x="123375" y="0"/>
                  </a:lnTo>
                  <a:lnTo>
                    <a:pt x="99565" y="1273"/>
                  </a:lnTo>
                  <a:lnTo>
                    <a:pt x="75392" y="4727"/>
                  </a:lnTo>
                  <a:lnTo>
                    <a:pt x="51042" y="10458"/>
                  </a:lnTo>
                  <a:lnTo>
                    <a:pt x="28558" y="17904"/>
                  </a:lnTo>
                  <a:lnTo>
                    <a:pt x="14350" y="25999"/>
                  </a:lnTo>
                  <a:lnTo>
                    <a:pt x="4322" y="38916"/>
                  </a:lnTo>
                  <a:lnTo>
                    <a:pt x="0" y="54687"/>
                  </a:lnTo>
                  <a:lnTo>
                    <a:pt x="2042" y="70911"/>
                  </a:lnTo>
                  <a:lnTo>
                    <a:pt x="10138" y="85119"/>
                  </a:lnTo>
                  <a:lnTo>
                    <a:pt x="23054" y="95147"/>
                  </a:lnTo>
                  <a:lnTo>
                    <a:pt x="38825" y="99469"/>
                  </a:lnTo>
                  <a:lnTo>
                    <a:pt x="55050" y="97427"/>
                  </a:lnTo>
                  <a:close/>
                </a:path>
              </a:pathLst>
            </a:custGeom>
            <a:gradFill rotWithShape="1">
              <a:gsLst>
                <a:gs pos="0">
                  <a:srgbClr val="FFE0CB"/>
                </a:gs>
                <a:gs pos="33000">
                  <a:srgbClr val="FAD0BC"/>
                </a:gs>
                <a:gs pos="69000">
                  <a:srgbClr val="F5BAA6"/>
                </a:gs>
                <a:gs pos="100000">
                  <a:srgbClr val="E9A38E"/>
                </a:gs>
              </a:gsLst>
              <a:lin ang="4200000" scaled="1"/>
            </a:gradFill>
            <a:ln w="3442" cap="rnd">
              <a:solidFill>
                <a:srgbClr val="CB8B7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Natural small-bowel coil 04 soft reflected light"/>
            <p:cNvSpPr/>
            <p:nvPr/>
          </p:nvSpPr>
          <p:spPr>
            <a:xfrm>
              <a:off x="407304" y="412998"/>
              <a:ext cx="195997" cy="254999"/>
            </a:xfrm>
            <a:custGeom>
              <a:avLst/>
              <a:gdLst/>
              <a:ahLst/>
              <a:cxnLst/>
              <a:rect l="0" t="0" r="r" b="b"/>
              <a:pathLst>
                <a:path w="460957" h="599720">
                  <a:moveTo>
                    <a:pt x="0" y="16490"/>
                  </a:moveTo>
                  <a:cubicBezTo>
                    <a:pt x="3542" y="15313"/>
                    <a:pt x="14071" y="11458"/>
                    <a:pt x="21249" y="9425"/>
                  </a:cubicBezTo>
                  <a:cubicBezTo>
                    <a:pt x="28428" y="7392"/>
                    <a:pt x="35828" y="5662"/>
                    <a:pt x="43070" y="4291"/>
                  </a:cubicBezTo>
                  <a:cubicBezTo>
                    <a:pt x="50312" y="2921"/>
                    <a:pt x="57554" y="1906"/>
                    <a:pt x="64701" y="1202"/>
                  </a:cubicBezTo>
                  <a:cubicBezTo>
                    <a:pt x="71849" y="498"/>
                    <a:pt x="78964" y="135"/>
                    <a:pt x="85956" y="67"/>
                  </a:cubicBezTo>
                  <a:cubicBezTo>
                    <a:pt x="92948" y="0"/>
                    <a:pt x="99877" y="258"/>
                    <a:pt x="106653" y="799"/>
                  </a:cubicBezTo>
                  <a:cubicBezTo>
                    <a:pt x="113429" y="1340"/>
                    <a:pt x="120112" y="2191"/>
                    <a:pt x="126613" y="3313"/>
                  </a:cubicBezTo>
                  <a:cubicBezTo>
                    <a:pt x="133114" y="4436"/>
                    <a:pt x="139492" y="5854"/>
                    <a:pt x="145659" y="7534"/>
                  </a:cubicBezTo>
                  <a:cubicBezTo>
                    <a:pt x="151826" y="9214"/>
                    <a:pt x="157841" y="11177"/>
                    <a:pt x="163615" y="13393"/>
                  </a:cubicBezTo>
                  <a:cubicBezTo>
                    <a:pt x="169388" y="15609"/>
                    <a:pt x="174982" y="18096"/>
                    <a:pt x="180301" y="20831"/>
                  </a:cubicBezTo>
                  <a:cubicBezTo>
                    <a:pt x="185621" y="23566"/>
                    <a:pt x="190731" y="26562"/>
                    <a:pt x="195531" y="29803"/>
                  </a:cubicBezTo>
                  <a:cubicBezTo>
                    <a:pt x="200332" y="33043"/>
                    <a:pt x="204894" y="36538"/>
                    <a:pt x="209103" y="40273"/>
                  </a:cubicBezTo>
                  <a:cubicBezTo>
                    <a:pt x="213312" y="44008"/>
                    <a:pt x="217251" y="47995"/>
                    <a:pt x="220784" y="52212"/>
                  </a:cubicBezTo>
                  <a:cubicBezTo>
                    <a:pt x="224318" y="56430"/>
                    <a:pt x="227543" y="60900"/>
                    <a:pt x="230304" y="65577"/>
                  </a:cubicBezTo>
                  <a:cubicBezTo>
                    <a:pt x="233065" y="70255"/>
                    <a:pt x="235468" y="75184"/>
                    <a:pt x="237350" y="80277"/>
                  </a:cubicBezTo>
                  <a:cubicBezTo>
                    <a:pt x="239233" y="85371"/>
                    <a:pt x="240695" y="90702"/>
                    <a:pt x="241598" y="96139"/>
                  </a:cubicBezTo>
                  <a:cubicBezTo>
                    <a:pt x="242500" y="101576"/>
                    <a:pt x="242920" y="107213"/>
                    <a:pt x="242767" y="112900"/>
                  </a:cubicBezTo>
                  <a:cubicBezTo>
                    <a:pt x="242613" y="118587"/>
                    <a:pt x="241873" y="124575"/>
                    <a:pt x="240674" y="130261"/>
                  </a:cubicBezTo>
                  <a:cubicBezTo>
                    <a:pt x="239476" y="135947"/>
                    <a:pt x="237229" y="141741"/>
                    <a:pt x="235574" y="147016"/>
                  </a:cubicBezTo>
                  <a:cubicBezTo>
                    <a:pt x="233919" y="152291"/>
                    <a:pt x="231924" y="157189"/>
                    <a:pt x="230745" y="161910"/>
                  </a:cubicBezTo>
                  <a:cubicBezTo>
                    <a:pt x="229567" y="166631"/>
                    <a:pt x="228908" y="170934"/>
                    <a:pt x="228501" y="175342"/>
                  </a:cubicBezTo>
                  <a:cubicBezTo>
                    <a:pt x="228094" y="179749"/>
                    <a:pt x="228052" y="184069"/>
                    <a:pt x="228302" y="188358"/>
                  </a:cubicBezTo>
                  <a:cubicBezTo>
                    <a:pt x="228552" y="192647"/>
                    <a:pt x="229136" y="196872"/>
                    <a:pt x="230002" y="201077"/>
                  </a:cubicBezTo>
                  <a:cubicBezTo>
                    <a:pt x="230869" y="205282"/>
                    <a:pt x="232048" y="209445"/>
                    <a:pt x="233501" y="213587"/>
                  </a:cubicBezTo>
                  <a:cubicBezTo>
                    <a:pt x="234954" y="217730"/>
                    <a:pt x="236708" y="221845"/>
                    <a:pt x="238721" y="225931"/>
                  </a:cubicBezTo>
                  <a:cubicBezTo>
                    <a:pt x="240734" y="230018"/>
                    <a:pt x="243037" y="234081"/>
                    <a:pt x="245580" y="238107"/>
                  </a:cubicBezTo>
                  <a:cubicBezTo>
                    <a:pt x="248122" y="242132"/>
                    <a:pt x="250941" y="246131"/>
                    <a:pt x="253976" y="250082"/>
                  </a:cubicBezTo>
                  <a:cubicBezTo>
                    <a:pt x="257011" y="254034"/>
                    <a:pt x="260305" y="257952"/>
                    <a:pt x="263788" y="261815"/>
                  </a:cubicBezTo>
                  <a:cubicBezTo>
                    <a:pt x="267272" y="265678"/>
                    <a:pt x="270994" y="269500"/>
                    <a:pt x="274879" y="273261"/>
                  </a:cubicBezTo>
                  <a:cubicBezTo>
                    <a:pt x="278764" y="277021"/>
                    <a:pt x="282864" y="280733"/>
                    <a:pt x="287099" y="284378"/>
                  </a:cubicBezTo>
                  <a:cubicBezTo>
                    <a:pt x="291335" y="288023"/>
                    <a:pt x="295759" y="291613"/>
                    <a:pt x="300293" y="295131"/>
                  </a:cubicBezTo>
                  <a:cubicBezTo>
                    <a:pt x="304826" y="298650"/>
                    <a:pt x="309522" y="302107"/>
                    <a:pt x="314301" y="305490"/>
                  </a:cubicBezTo>
                  <a:cubicBezTo>
                    <a:pt x="319079" y="308873"/>
                    <a:pt x="323993" y="312190"/>
                    <a:pt x="328963" y="315429"/>
                  </a:cubicBezTo>
                  <a:cubicBezTo>
                    <a:pt x="333932" y="318668"/>
                    <a:pt x="339010" y="321836"/>
                    <a:pt x="344117" y="324925"/>
                  </a:cubicBezTo>
                  <a:cubicBezTo>
                    <a:pt x="349223" y="328013"/>
                    <a:pt x="354412" y="331027"/>
                    <a:pt x="359602" y="333959"/>
                  </a:cubicBezTo>
                  <a:cubicBezTo>
                    <a:pt x="364792" y="336890"/>
                    <a:pt x="369938" y="339691"/>
                    <a:pt x="375258" y="342514"/>
                  </a:cubicBezTo>
                  <a:cubicBezTo>
                    <a:pt x="380578" y="345336"/>
                    <a:pt x="385942" y="347713"/>
                    <a:pt x="391524" y="350895"/>
                  </a:cubicBezTo>
                  <a:cubicBezTo>
                    <a:pt x="397106" y="354077"/>
                    <a:pt x="403396" y="357821"/>
                    <a:pt x="408749" y="361605"/>
                  </a:cubicBezTo>
                  <a:cubicBezTo>
                    <a:pt x="414102" y="365390"/>
                    <a:pt x="419098" y="369429"/>
                    <a:pt x="423641" y="373603"/>
                  </a:cubicBezTo>
                  <a:cubicBezTo>
                    <a:pt x="428185" y="377777"/>
                    <a:pt x="432307" y="382150"/>
                    <a:pt x="436011" y="386650"/>
                  </a:cubicBezTo>
                  <a:cubicBezTo>
                    <a:pt x="439715" y="391149"/>
                    <a:pt x="442998" y="395830"/>
                    <a:pt x="445864" y="400599"/>
                  </a:cubicBezTo>
                  <a:cubicBezTo>
                    <a:pt x="448730" y="405369"/>
                    <a:pt x="451174" y="410294"/>
                    <a:pt x="453208" y="415268"/>
                  </a:cubicBezTo>
                  <a:cubicBezTo>
                    <a:pt x="455242" y="420241"/>
                    <a:pt x="456852" y="425337"/>
                    <a:pt x="458069" y="430440"/>
                  </a:cubicBezTo>
                  <a:cubicBezTo>
                    <a:pt x="459286" y="435543"/>
                    <a:pt x="460084" y="440729"/>
                    <a:pt x="460511" y="445885"/>
                  </a:cubicBezTo>
                  <a:cubicBezTo>
                    <a:pt x="460938" y="451041"/>
                    <a:pt x="460957" y="456240"/>
                    <a:pt x="460631" y="461379"/>
                  </a:cubicBezTo>
                  <a:cubicBezTo>
                    <a:pt x="460305" y="466518"/>
                    <a:pt x="459591" y="471661"/>
                    <a:pt x="458555" y="476721"/>
                  </a:cubicBezTo>
                  <a:cubicBezTo>
                    <a:pt x="457520" y="481780"/>
                    <a:pt x="456118" y="486811"/>
                    <a:pt x="454418" y="491737"/>
                  </a:cubicBezTo>
                  <a:cubicBezTo>
                    <a:pt x="452717" y="496663"/>
                    <a:pt x="450675" y="501532"/>
                    <a:pt x="448353" y="506277"/>
                  </a:cubicBezTo>
                  <a:cubicBezTo>
                    <a:pt x="446031" y="511022"/>
                    <a:pt x="443389" y="515686"/>
                    <a:pt x="440485" y="520206"/>
                  </a:cubicBezTo>
                  <a:cubicBezTo>
                    <a:pt x="437581" y="524725"/>
                    <a:pt x="434378" y="529143"/>
                    <a:pt x="430929" y="533396"/>
                  </a:cubicBezTo>
                  <a:cubicBezTo>
                    <a:pt x="427480" y="537649"/>
                    <a:pt x="423750" y="541779"/>
                    <a:pt x="419791" y="545722"/>
                  </a:cubicBezTo>
                  <a:cubicBezTo>
                    <a:pt x="415831" y="549666"/>
                    <a:pt x="411608" y="553466"/>
                    <a:pt x="407169" y="557058"/>
                  </a:cubicBezTo>
                  <a:cubicBezTo>
                    <a:pt x="402730" y="560650"/>
                    <a:pt x="398045" y="564078"/>
                    <a:pt x="393159" y="567274"/>
                  </a:cubicBezTo>
                  <a:cubicBezTo>
                    <a:pt x="388273" y="570471"/>
                    <a:pt x="383142" y="573487"/>
                    <a:pt x="377853" y="576237"/>
                  </a:cubicBezTo>
                  <a:cubicBezTo>
                    <a:pt x="372565" y="578987"/>
                    <a:pt x="367450" y="581322"/>
                    <a:pt x="361429" y="583775"/>
                  </a:cubicBezTo>
                  <a:cubicBezTo>
                    <a:pt x="355408" y="586227"/>
                    <a:pt x="348206" y="588926"/>
                    <a:pt x="341727" y="590954"/>
                  </a:cubicBezTo>
                  <a:cubicBezTo>
                    <a:pt x="335247" y="592982"/>
                    <a:pt x="328828" y="594632"/>
                    <a:pt x="322553" y="595943"/>
                  </a:cubicBezTo>
                  <a:cubicBezTo>
                    <a:pt x="316278" y="597254"/>
                    <a:pt x="310109" y="598191"/>
                    <a:pt x="304078" y="598819"/>
                  </a:cubicBezTo>
                  <a:cubicBezTo>
                    <a:pt x="298047" y="599446"/>
                    <a:pt x="292131" y="599720"/>
                    <a:pt x="286366" y="599707"/>
                  </a:cubicBezTo>
                  <a:cubicBezTo>
                    <a:pt x="280600" y="599694"/>
                    <a:pt x="274961" y="599348"/>
                    <a:pt x="269486" y="598741"/>
                  </a:cubicBezTo>
                  <a:cubicBezTo>
                    <a:pt x="264010" y="598133"/>
                    <a:pt x="258673" y="597216"/>
                    <a:pt x="253510" y="596062"/>
                  </a:cubicBezTo>
                  <a:cubicBezTo>
                    <a:pt x="248347" y="594909"/>
                    <a:pt x="243336" y="593470"/>
                    <a:pt x="238510" y="591822"/>
                  </a:cubicBezTo>
                  <a:cubicBezTo>
                    <a:pt x="233683" y="590174"/>
                    <a:pt x="229020" y="588265"/>
                    <a:pt x="224551" y="586176"/>
                  </a:cubicBezTo>
                  <a:cubicBezTo>
                    <a:pt x="220081" y="584086"/>
                    <a:pt x="215786" y="581762"/>
                    <a:pt x="211691" y="579284"/>
                  </a:cubicBezTo>
                  <a:cubicBezTo>
                    <a:pt x="207596" y="576806"/>
                    <a:pt x="203686" y="574121"/>
                    <a:pt x="199982" y="571307"/>
                  </a:cubicBezTo>
                  <a:cubicBezTo>
                    <a:pt x="196278" y="568493"/>
                    <a:pt x="192767" y="565499"/>
                    <a:pt x="189468" y="562402"/>
                  </a:cubicBezTo>
                  <a:cubicBezTo>
                    <a:pt x="186170" y="559304"/>
                    <a:pt x="183071" y="556053"/>
                    <a:pt x="180191" y="552721"/>
                  </a:cubicBezTo>
                  <a:cubicBezTo>
                    <a:pt x="177311" y="549388"/>
                    <a:pt x="174637" y="545928"/>
                    <a:pt x="172189" y="542409"/>
                  </a:cubicBezTo>
                  <a:cubicBezTo>
                    <a:pt x="169741" y="538889"/>
                    <a:pt x="167504" y="535266"/>
                    <a:pt x="165503" y="531604"/>
                  </a:cubicBezTo>
                  <a:cubicBezTo>
                    <a:pt x="163502" y="527943"/>
                    <a:pt x="161718" y="524200"/>
                    <a:pt x="160181" y="520438"/>
                  </a:cubicBezTo>
                  <a:cubicBezTo>
                    <a:pt x="158643" y="516676"/>
                    <a:pt x="157330" y="512855"/>
                    <a:pt x="156278" y="509034"/>
                  </a:cubicBezTo>
                  <a:cubicBezTo>
                    <a:pt x="155225" y="505214"/>
                    <a:pt x="154401" y="501195"/>
                    <a:pt x="153866" y="497515"/>
                  </a:cubicBezTo>
                  <a:cubicBezTo>
                    <a:pt x="153332" y="493834"/>
                    <a:pt x="153205" y="488713"/>
                    <a:pt x="153073" y="486952"/>
                  </a:cubicBezTo>
                </a:path>
              </a:pathLst>
            </a:custGeom>
            <a:noFill/>
            <a:ln w="9112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Natural small-bowel coil 05"/>
            <p:cNvSpPr/>
            <p:nvPr/>
          </p:nvSpPr>
          <p:spPr>
            <a:xfrm>
              <a:off x="253636" y="585736"/>
              <a:ext cx="306851" cy="134759"/>
            </a:xfrm>
            <a:custGeom>
              <a:avLst/>
              <a:gdLst/>
              <a:ahLst/>
              <a:cxnLst/>
              <a:rect l="0" t="0" r="r" b="b"/>
              <a:pathLst>
                <a:path w="721669" h="316933">
                  <a:moveTo>
                    <a:pt x="1423" y="53381"/>
                  </a:moveTo>
                  <a:lnTo>
                    <a:pt x="7281" y="73378"/>
                  </a:lnTo>
                  <a:lnTo>
                    <a:pt x="15038" y="93765"/>
                  </a:lnTo>
                  <a:lnTo>
                    <a:pt x="24227" y="112909"/>
                  </a:lnTo>
                  <a:lnTo>
                    <a:pt x="34801" y="130743"/>
                  </a:lnTo>
                  <a:lnTo>
                    <a:pt x="46707" y="147193"/>
                  </a:lnTo>
                  <a:lnTo>
                    <a:pt x="59878" y="162179"/>
                  </a:lnTo>
                  <a:lnTo>
                    <a:pt x="74236" y="175616"/>
                  </a:lnTo>
                  <a:lnTo>
                    <a:pt x="89687" y="187421"/>
                  </a:lnTo>
                  <a:lnTo>
                    <a:pt x="106119" y="197512"/>
                  </a:lnTo>
                  <a:lnTo>
                    <a:pt x="123411" y="205819"/>
                  </a:lnTo>
                  <a:lnTo>
                    <a:pt x="141426" y="212285"/>
                  </a:lnTo>
                  <a:lnTo>
                    <a:pt x="160025" y="216869"/>
                  </a:lnTo>
                  <a:lnTo>
                    <a:pt x="179064" y="219544"/>
                  </a:lnTo>
                  <a:lnTo>
                    <a:pt x="198405" y="220302"/>
                  </a:lnTo>
                  <a:lnTo>
                    <a:pt x="217916" y="219148"/>
                  </a:lnTo>
                  <a:lnTo>
                    <a:pt x="237477" y="216096"/>
                  </a:lnTo>
                  <a:lnTo>
                    <a:pt x="256977" y="211168"/>
                  </a:lnTo>
                  <a:lnTo>
                    <a:pt x="276450" y="204337"/>
                  </a:lnTo>
                  <a:lnTo>
                    <a:pt x="292291" y="197069"/>
                  </a:lnTo>
                  <a:lnTo>
                    <a:pt x="303613" y="192821"/>
                  </a:lnTo>
                  <a:lnTo>
                    <a:pt x="313512" y="190028"/>
                  </a:lnTo>
                  <a:lnTo>
                    <a:pt x="322096" y="188468"/>
                  </a:lnTo>
                  <a:lnTo>
                    <a:pt x="329561" y="187910"/>
                  </a:lnTo>
                  <a:lnTo>
                    <a:pt x="336197" y="188162"/>
                  </a:lnTo>
                  <a:lnTo>
                    <a:pt x="342362" y="189112"/>
                  </a:lnTo>
                  <a:lnTo>
                    <a:pt x="348416" y="190754"/>
                  </a:lnTo>
                  <a:lnTo>
                    <a:pt x="354653" y="193160"/>
                  </a:lnTo>
                  <a:lnTo>
                    <a:pt x="361265" y="196434"/>
                  </a:lnTo>
                  <a:lnTo>
                    <a:pt x="368353" y="200655"/>
                  </a:lnTo>
                  <a:lnTo>
                    <a:pt x="375957" y="205854"/>
                  </a:lnTo>
                  <a:lnTo>
                    <a:pt x="384091" y="212014"/>
                  </a:lnTo>
                  <a:lnTo>
                    <a:pt x="392768" y="219079"/>
                  </a:lnTo>
                  <a:lnTo>
                    <a:pt x="402009" y="226965"/>
                  </a:lnTo>
                  <a:lnTo>
                    <a:pt x="411849" y="235571"/>
                  </a:lnTo>
                  <a:lnTo>
                    <a:pt x="422337" y="244786"/>
                  </a:lnTo>
                  <a:lnTo>
                    <a:pt x="432852" y="253902"/>
                  </a:lnTo>
                  <a:lnTo>
                    <a:pt x="446852" y="266640"/>
                  </a:lnTo>
                  <a:lnTo>
                    <a:pt x="463294" y="279113"/>
                  </a:lnTo>
                  <a:lnTo>
                    <a:pt x="480264" y="289684"/>
                  </a:lnTo>
                  <a:lnTo>
                    <a:pt x="497601" y="298402"/>
                  </a:lnTo>
                  <a:lnTo>
                    <a:pt x="515146" y="305332"/>
                  </a:lnTo>
                  <a:lnTo>
                    <a:pt x="532746" y="310554"/>
                  </a:lnTo>
                  <a:lnTo>
                    <a:pt x="550261" y="314162"/>
                  </a:lnTo>
                  <a:lnTo>
                    <a:pt x="567565" y="316255"/>
                  </a:lnTo>
                  <a:lnTo>
                    <a:pt x="584545" y="316933"/>
                  </a:lnTo>
                  <a:lnTo>
                    <a:pt x="601101" y="316293"/>
                  </a:lnTo>
                  <a:lnTo>
                    <a:pt x="617148" y="314427"/>
                  </a:lnTo>
                  <a:lnTo>
                    <a:pt x="632607" y="311416"/>
                  </a:lnTo>
                  <a:lnTo>
                    <a:pt x="647410" y="307326"/>
                  </a:lnTo>
                  <a:lnTo>
                    <a:pt x="661496" y="302206"/>
                  </a:lnTo>
                  <a:lnTo>
                    <a:pt x="674808" y="296080"/>
                  </a:lnTo>
                  <a:lnTo>
                    <a:pt x="687289" y="288938"/>
                  </a:lnTo>
                  <a:lnTo>
                    <a:pt x="698877" y="280722"/>
                  </a:lnTo>
                  <a:lnTo>
                    <a:pt x="707633" y="273050"/>
                  </a:lnTo>
                  <a:lnTo>
                    <a:pt x="717520" y="260025"/>
                  </a:lnTo>
                  <a:lnTo>
                    <a:pt x="721669" y="244207"/>
                  </a:lnTo>
                  <a:lnTo>
                    <a:pt x="719450" y="228006"/>
                  </a:lnTo>
                  <a:lnTo>
                    <a:pt x="711200" y="213887"/>
                  </a:lnTo>
                  <a:lnTo>
                    <a:pt x="698175" y="204001"/>
                  </a:lnTo>
                  <a:lnTo>
                    <a:pt x="682357" y="199851"/>
                  </a:lnTo>
                  <a:lnTo>
                    <a:pt x="666156" y="202070"/>
                  </a:lnTo>
                  <a:lnTo>
                    <a:pt x="652037" y="210321"/>
                  </a:lnTo>
                  <a:lnTo>
                    <a:pt x="652037" y="210321"/>
                  </a:lnTo>
                  <a:lnTo>
                    <a:pt x="646892" y="214970"/>
                  </a:lnTo>
                  <a:lnTo>
                    <a:pt x="642304" y="218212"/>
                  </a:lnTo>
                  <a:lnTo>
                    <a:pt x="636532" y="221510"/>
                  </a:lnTo>
                  <a:lnTo>
                    <a:pt x="629709" y="224647"/>
                  </a:lnTo>
                  <a:lnTo>
                    <a:pt x="621975" y="227458"/>
                  </a:lnTo>
                  <a:lnTo>
                    <a:pt x="613469" y="229810"/>
                  </a:lnTo>
                  <a:lnTo>
                    <a:pt x="604325" y="231594"/>
                  </a:lnTo>
                  <a:lnTo>
                    <a:pt x="594671" y="232720"/>
                  </a:lnTo>
                  <a:lnTo>
                    <a:pt x="584626" y="233113"/>
                  </a:lnTo>
                  <a:lnTo>
                    <a:pt x="574298" y="232706"/>
                  </a:lnTo>
                  <a:lnTo>
                    <a:pt x="563784" y="231440"/>
                  </a:lnTo>
                  <a:lnTo>
                    <a:pt x="553169" y="229260"/>
                  </a:lnTo>
                  <a:lnTo>
                    <a:pt x="542520" y="226108"/>
                  </a:lnTo>
                  <a:lnTo>
                    <a:pt x="531895" y="221918"/>
                  </a:lnTo>
                  <a:lnTo>
                    <a:pt x="521337" y="216617"/>
                  </a:lnTo>
                  <a:lnTo>
                    <a:pt x="510882" y="210111"/>
                  </a:lnTo>
                  <a:lnTo>
                    <a:pt x="500565" y="202292"/>
                  </a:lnTo>
                  <a:lnTo>
                    <a:pt x="488668" y="191369"/>
                  </a:lnTo>
                  <a:lnTo>
                    <a:pt x="477458" y="181640"/>
                  </a:lnTo>
                  <a:lnTo>
                    <a:pt x="467103" y="172540"/>
                  </a:lnTo>
                  <a:lnTo>
                    <a:pt x="456805" y="163537"/>
                  </a:lnTo>
                  <a:lnTo>
                    <a:pt x="446438" y="154695"/>
                  </a:lnTo>
                  <a:lnTo>
                    <a:pt x="435859" y="146091"/>
                  </a:lnTo>
                  <a:lnTo>
                    <a:pt x="424914" y="137817"/>
                  </a:lnTo>
                  <a:lnTo>
                    <a:pt x="413438" y="129992"/>
                  </a:lnTo>
                  <a:lnTo>
                    <a:pt x="401270" y="122777"/>
                  </a:lnTo>
                  <a:lnTo>
                    <a:pt x="388274" y="116379"/>
                  </a:lnTo>
                  <a:lnTo>
                    <a:pt x="374373" y="111054"/>
                  </a:lnTo>
                  <a:lnTo>
                    <a:pt x="359584" y="107080"/>
                  </a:lnTo>
                  <a:lnTo>
                    <a:pt x="344024" y="104708"/>
                  </a:lnTo>
                  <a:lnTo>
                    <a:pt x="327876" y="104107"/>
                  </a:lnTo>
                  <a:lnTo>
                    <a:pt x="311322" y="105343"/>
                  </a:lnTo>
                  <a:lnTo>
                    <a:pt x="294477" y="108398"/>
                  </a:lnTo>
                  <a:lnTo>
                    <a:pt x="277359" y="113219"/>
                  </a:lnTo>
                  <a:lnTo>
                    <a:pt x="259901" y="119760"/>
                  </a:lnTo>
                  <a:lnTo>
                    <a:pt x="245020" y="126633"/>
                  </a:lnTo>
                  <a:lnTo>
                    <a:pt x="232767" y="130921"/>
                  </a:lnTo>
                  <a:lnTo>
                    <a:pt x="220676" y="133977"/>
                  </a:lnTo>
                  <a:lnTo>
                    <a:pt x="208921" y="135812"/>
                  </a:lnTo>
                  <a:lnTo>
                    <a:pt x="197529" y="136487"/>
                  </a:lnTo>
                  <a:lnTo>
                    <a:pt x="186515" y="136056"/>
                  </a:lnTo>
                  <a:lnTo>
                    <a:pt x="175885" y="134563"/>
                  </a:lnTo>
                  <a:lnTo>
                    <a:pt x="165637" y="132038"/>
                  </a:lnTo>
                  <a:lnTo>
                    <a:pt x="155767" y="128496"/>
                  </a:lnTo>
                  <a:lnTo>
                    <a:pt x="146270" y="123934"/>
                  </a:lnTo>
                  <a:lnTo>
                    <a:pt x="137149" y="118333"/>
                  </a:lnTo>
                  <a:lnTo>
                    <a:pt x="128418" y="111662"/>
                  </a:lnTo>
                  <a:lnTo>
                    <a:pt x="120103" y="103880"/>
                  </a:lnTo>
                  <a:lnTo>
                    <a:pt x="112248" y="94943"/>
                  </a:lnTo>
                  <a:lnTo>
                    <a:pt x="104911" y="84804"/>
                  </a:lnTo>
                  <a:lnTo>
                    <a:pt x="98164" y="73423"/>
                  </a:lnTo>
                  <a:lnTo>
                    <a:pt x="92088" y="60764"/>
                  </a:lnTo>
                  <a:lnTo>
                    <a:pt x="86776" y="46801"/>
                  </a:lnTo>
                  <a:lnTo>
                    <a:pt x="81898" y="29939"/>
                  </a:lnTo>
                  <a:lnTo>
                    <a:pt x="74349" y="15433"/>
                  </a:lnTo>
                  <a:lnTo>
                    <a:pt x="61824" y="4920"/>
                  </a:lnTo>
                  <a:lnTo>
                    <a:pt x="46230" y="0"/>
                  </a:lnTo>
                  <a:lnTo>
                    <a:pt x="29939" y="1423"/>
                  </a:lnTo>
                  <a:lnTo>
                    <a:pt x="15433" y="8971"/>
                  </a:lnTo>
                  <a:lnTo>
                    <a:pt x="4920" y="21496"/>
                  </a:lnTo>
                  <a:lnTo>
                    <a:pt x="0" y="37091"/>
                  </a:lnTo>
                  <a:lnTo>
                    <a:pt x="1423" y="53381"/>
                  </a:lnTo>
                  <a:close/>
                </a:path>
              </a:pathLst>
            </a:custGeom>
            <a:gradFill rotWithShape="1">
              <a:gsLst>
                <a:gs pos="0">
                  <a:srgbClr val="FFE0CB"/>
                </a:gs>
                <a:gs pos="33000">
                  <a:srgbClr val="FAD0BC"/>
                </a:gs>
                <a:gs pos="69000">
                  <a:srgbClr val="F5BAA6"/>
                </a:gs>
                <a:gs pos="100000">
                  <a:srgbClr val="E9A38E"/>
                </a:gs>
              </a:gsLst>
              <a:lin ang="4200000" scaled="1"/>
            </a:gradFill>
            <a:ln w="3442" cap="rnd">
              <a:solidFill>
                <a:srgbClr val="CB8B7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Natural small-bowel coil 05 soft reflected light"/>
            <p:cNvSpPr/>
            <p:nvPr/>
          </p:nvSpPr>
          <p:spPr>
            <a:xfrm>
              <a:off x="276654" y="601905"/>
              <a:ext cx="262382" cy="95247"/>
            </a:xfrm>
            <a:custGeom>
              <a:avLst/>
              <a:gdLst/>
              <a:ahLst/>
              <a:cxnLst/>
              <a:rect l="0" t="0" r="r" b="b"/>
              <a:pathLst>
                <a:path w="617084" h="224008">
                  <a:moveTo>
                    <a:pt x="0" y="0"/>
                  </a:moveTo>
                  <a:cubicBezTo>
                    <a:pt x="869" y="2991"/>
                    <a:pt x="3321" y="12256"/>
                    <a:pt x="5217" y="17944"/>
                  </a:cubicBezTo>
                  <a:cubicBezTo>
                    <a:pt x="7112" y="23631"/>
                    <a:pt x="9155" y="28944"/>
                    <a:pt x="11372" y="34123"/>
                  </a:cubicBezTo>
                  <a:cubicBezTo>
                    <a:pt x="13590" y="39302"/>
                    <a:pt x="15985" y="44268"/>
                    <a:pt x="18522" y="49019"/>
                  </a:cubicBezTo>
                  <a:cubicBezTo>
                    <a:pt x="21058" y="53769"/>
                    <a:pt x="23759" y="58306"/>
                    <a:pt x="26590" y="62626"/>
                  </a:cubicBezTo>
                  <a:cubicBezTo>
                    <a:pt x="29420" y="66947"/>
                    <a:pt x="32402" y="71052"/>
                    <a:pt x="35503" y="74942"/>
                  </a:cubicBezTo>
                  <a:cubicBezTo>
                    <a:pt x="38603" y="78832"/>
                    <a:pt x="41844" y="82507"/>
                    <a:pt x="45192" y="85967"/>
                  </a:cubicBezTo>
                  <a:cubicBezTo>
                    <a:pt x="48540" y="89426"/>
                    <a:pt x="52016" y="92670"/>
                    <a:pt x="55591" y="95699"/>
                  </a:cubicBezTo>
                  <a:cubicBezTo>
                    <a:pt x="59166" y="98729"/>
                    <a:pt x="62858" y="101543"/>
                    <a:pt x="66641" y="104141"/>
                  </a:cubicBezTo>
                  <a:cubicBezTo>
                    <a:pt x="70423" y="106740"/>
                    <a:pt x="74312" y="109124"/>
                    <a:pt x="78284" y="111291"/>
                  </a:cubicBezTo>
                  <a:cubicBezTo>
                    <a:pt x="82256" y="113459"/>
                    <a:pt x="86326" y="115412"/>
                    <a:pt x="90470" y="117146"/>
                  </a:cubicBezTo>
                  <a:cubicBezTo>
                    <a:pt x="94614" y="118880"/>
                    <a:pt x="98849" y="120399"/>
                    <a:pt x="103150" y="121697"/>
                  </a:cubicBezTo>
                  <a:cubicBezTo>
                    <a:pt x="107452" y="122995"/>
                    <a:pt x="111836" y="124076"/>
                    <a:pt x="116279" y="124932"/>
                  </a:cubicBezTo>
                  <a:cubicBezTo>
                    <a:pt x="120722" y="125788"/>
                    <a:pt x="125241" y="126425"/>
                    <a:pt x="129810" y="126832"/>
                  </a:cubicBezTo>
                  <a:cubicBezTo>
                    <a:pt x="134380" y="127240"/>
                    <a:pt x="139017" y="127426"/>
                    <a:pt x="143697" y="127376"/>
                  </a:cubicBezTo>
                  <a:cubicBezTo>
                    <a:pt x="148377" y="127327"/>
                    <a:pt x="153117" y="127052"/>
                    <a:pt x="157891" y="126536"/>
                  </a:cubicBezTo>
                  <a:cubicBezTo>
                    <a:pt x="162664" y="126020"/>
                    <a:pt x="167490" y="125274"/>
                    <a:pt x="172339" y="124281"/>
                  </a:cubicBezTo>
                  <a:cubicBezTo>
                    <a:pt x="177188" y="123289"/>
                    <a:pt x="182087" y="122057"/>
                    <a:pt x="186985" y="120580"/>
                  </a:cubicBezTo>
                  <a:cubicBezTo>
                    <a:pt x="191884" y="119102"/>
                    <a:pt x="196737" y="117443"/>
                    <a:pt x="201730" y="115414"/>
                  </a:cubicBezTo>
                  <a:cubicBezTo>
                    <a:pt x="206722" y="113385"/>
                    <a:pt x="211849" y="110532"/>
                    <a:pt x="216941" y="108405"/>
                  </a:cubicBezTo>
                  <a:cubicBezTo>
                    <a:pt x="222034" y="106279"/>
                    <a:pt x="227288" y="104301"/>
                    <a:pt x="232283" y="102655"/>
                  </a:cubicBezTo>
                  <a:cubicBezTo>
                    <a:pt x="237278" y="101010"/>
                    <a:pt x="242140" y="99644"/>
                    <a:pt x="246910" y="98534"/>
                  </a:cubicBezTo>
                  <a:cubicBezTo>
                    <a:pt x="251681" y="97424"/>
                    <a:pt x="256337" y="96585"/>
                    <a:pt x="260906" y="95995"/>
                  </a:cubicBezTo>
                  <a:cubicBezTo>
                    <a:pt x="265474" y="95404"/>
                    <a:pt x="269943" y="95080"/>
                    <a:pt x="274323" y="94993"/>
                  </a:cubicBezTo>
                  <a:cubicBezTo>
                    <a:pt x="278704" y="94906"/>
                    <a:pt x="282992" y="95080"/>
                    <a:pt x="287190" y="95473"/>
                  </a:cubicBezTo>
                  <a:cubicBezTo>
                    <a:pt x="291387" y="95867"/>
                    <a:pt x="295493" y="96513"/>
                    <a:pt x="299508" y="97355"/>
                  </a:cubicBezTo>
                  <a:cubicBezTo>
                    <a:pt x="303524" y="98196"/>
                    <a:pt x="307445" y="99276"/>
                    <a:pt x="311284" y="100524"/>
                  </a:cubicBezTo>
                  <a:cubicBezTo>
                    <a:pt x="315123" y="101771"/>
                    <a:pt x="318866" y="103235"/>
                    <a:pt x="322541" y="104842"/>
                  </a:cubicBezTo>
                  <a:cubicBezTo>
                    <a:pt x="326216" y="106448"/>
                    <a:pt x="329800" y="108245"/>
                    <a:pt x="333334" y="110162"/>
                  </a:cubicBezTo>
                  <a:cubicBezTo>
                    <a:pt x="336869" y="112079"/>
                    <a:pt x="340324" y="114161"/>
                    <a:pt x="343750" y="116344"/>
                  </a:cubicBezTo>
                  <a:cubicBezTo>
                    <a:pt x="347176" y="118528"/>
                    <a:pt x="350537" y="120852"/>
                    <a:pt x="353890" y="123263"/>
                  </a:cubicBezTo>
                  <a:cubicBezTo>
                    <a:pt x="357242" y="125673"/>
                    <a:pt x="360549" y="128205"/>
                    <a:pt x="363865" y="130808"/>
                  </a:cubicBezTo>
                  <a:cubicBezTo>
                    <a:pt x="367181" y="133411"/>
                    <a:pt x="370471" y="136117"/>
                    <a:pt x="373788" y="138881"/>
                  </a:cubicBezTo>
                  <a:cubicBezTo>
                    <a:pt x="377105" y="141645"/>
                    <a:pt x="380414" y="144496"/>
                    <a:pt x="383767" y="147393"/>
                  </a:cubicBezTo>
                  <a:cubicBezTo>
                    <a:pt x="387120" y="150289"/>
                    <a:pt x="390483" y="153258"/>
                    <a:pt x="393906" y="156259"/>
                  </a:cubicBezTo>
                  <a:cubicBezTo>
                    <a:pt x="397330" y="159260"/>
                    <a:pt x="400746" y="162289"/>
                    <a:pt x="404308" y="165399"/>
                  </a:cubicBezTo>
                  <a:cubicBezTo>
                    <a:pt x="407870" y="168508"/>
                    <a:pt x="411346" y="171405"/>
                    <a:pt x="415278" y="174916"/>
                  </a:cubicBezTo>
                  <a:cubicBezTo>
                    <a:pt x="419210" y="178427"/>
                    <a:pt x="423725" y="182970"/>
                    <a:pt x="427900" y="186466"/>
                  </a:cubicBezTo>
                  <a:cubicBezTo>
                    <a:pt x="432076" y="189961"/>
                    <a:pt x="436141" y="193001"/>
                    <a:pt x="440330" y="195890"/>
                  </a:cubicBezTo>
                  <a:cubicBezTo>
                    <a:pt x="444519" y="198779"/>
                    <a:pt x="448766" y="201400"/>
                    <a:pt x="453033" y="203798"/>
                  </a:cubicBezTo>
                  <a:cubicBezTo>
                    <a:pt x="457299" y="206196"/>
                    <a:pt x="461612" y="208343"/>
                    <a:pt x="465930" y="210279"/>
                  </a:cubicBezTo>
                  <a:cubicBezTo>
                    <a:pt x="470248" y="212215"/>
                    <a:pt x="474599" y="213913"/>
                    <a:pt x="478942" y="215413"/>
                  </a:cubicBezTo>
                  <a:cubicBezTo>
                    <a:pt x="483286" y="216914"/>
                    <a:pt x="487649" y="218190"/>
                    <a:pt x="491989" y="219280"/>
                  </a:cubicBezTo>
                  <a:cubicBezTo>
                    <a:pt x="496329" y="220370"/>
                    <a:pt x="500676" y="221249"/>
                    <a:pt x="504985" y="221953"/>
                  </a:cubicBezTo>
                  <a:cubicBezTo>
                    <a:pt x="509294" y="222657"/>
                    <a:pt x="513595" y="223162"/>
                    <a:pt x="517841" y="223504"/>
                  </a:cubicBezTo>
                  <a:cubicBezTo>
                    <a:pt x="522088" y="223846"/>
                    <a:pt x="526312" y="224000"/>
                    <a:pt x="530464" y="224004"/>
                  </a:cubicBezTo>
                  <a:cubicBezTo>
                    <a:pt x="534616" y="224008"/>
                    <a:pt x="538730" y="223836"/>
                    <a:pt x="542756" y="223526"/>
                  </a:cubicBezTo>
                  <a:cubicBezTo>
                    <a:pt x="546781" y="223216"/>
                    <a:pt x="550751" y="222743"/>
                    <a:pt x="554615" y="222145"/>
                  </a:cubicBezTo>
                  <a:cubicBezTo>
                    <a:pt x="558479" y="221547"/>
                    <a:pt x="562271" y="220797"/>
                    <a:pt x="565938" y="219937"/>
                  </a:cubicBezTo>
                  <a:cubicBezTo>
                    <a:pt x="569605" y="219078"/>
                    <a:pt x="573182" y="218079"/>
                    <a:pt x="576616" y="216986"/>
                  </a:cubicBezTo>
                  <a:cubicBezTo>
                    <a:pt x="580050" y="215893"/>
                    <a:pt x="583377" y="214675"/>
                    <a:pt x="586542" y="213378"/>
                  </a:cubicBezTo>
                  <a:cubicBezTo>
                    <a:pt x="589706" y="212082"/>
                    <a:pt x="592745" y="210675"/>
                    <a:pt x="595603" y="209210"/>
                  </a:cubicBezTo>
                  <a:cubicBezTo>
                    <a:pt x="598461" y="207744"/>
                    <a:pt x="601175" y="206183"/>
                    <a:pt x="603690" y="204586"/>
                  </a:cubicBezTo>
                  <a:cubicBezTo>
                    <a:pt x="606205" y="202989"/>
                    <a:pt x="608460" y="201403"/>
                    <a:pt x="610693" y="199627"/>
                  </a:cubicBezTo>
                  <a:cubicBezTo>
                    <a:pt x="612925" y="197852"/>
                    <a:pt x="616019" y="194884"/>
                    <a:pt x="617084" y="193936"/>
                  </a:cubicBezTo>
                </a:path>
              </a:pathLst>
            </a:custGeom>
            <a:noFill/>
            <a:ln w="9112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Natural small-bowel coil 06"/>
            <p:cNvSpPr/>
            <p:nvPr/>
          </p:nvSpPr>
          <p:spPr>
            <a:xfrm>
              <a:off x="199415" y="620639"/>
              <a:ext cx="83096" cy="66896"/>
            </a:xfrm>
            <a:custGeom>
              <a:avLst/>
              <a:gdLst/>
              <a:ahLst/>
              <a:cxnLst/>
              <a:rect l="0" t="0" r="r" b="b"/>
              <a:pathLst>
                <a:path w="195430" h="157330">
                  <a:moveTo>
                    <a:pt x="140883" y="4828"/>
                  </a:moveTo>
                  <a:lnTo>
                    <a:pt x="132886" y="9680"/>
                  </a:lnTo>
                  <a:lnTo>
                    <a:pt x="124912" y="14622"/>
                  </a:lnTo>
                  <a:lnTo>
                    <a:pt x="117105" y="19561"/>
                  </a:lnTo>
                  <a:lnTo>
                    <a:pt x="109458" y="24496"/>
                  </a:lnTo>
                  <a:lnTo>
                    <a:pt x="101961" y="29425"/>
                  </a:lnTo>
                  <a:lnTo>
                    <a:pt x="94606" y="34347"/>
                  </a:lnTo>
                  <a:lnTo>
                    <a:pt x="87383" y="39262"/>
                  </a:lnTo>
                  <a:lnTo>
                    <a:pt x="80285" y="44168"/>
                  </a:lnTo>
                  <a:lnTo>
                    <a:pt x="73302" y="49065"/>
                  </a:lnTo>
                  <a:lnTo>
                    <a:pt x="66424" y="53950"/>
                  </a:lnTo>
                  <a:lnTo>
                    <a:pt x="59644" y="58823"/>
                  </a:lnTo>
                  <a:lnTo>
                    <a:pt x="52951" y="63684"/>
                  </a:lnTo>
                  <a:lnTo>
                    <a:pt x="46337" y="68531"/>
                  </a:lnTo>
                  <a:lnTo>
                    <a:pt x="39792" y="73364"/>
                  </a:lnTo>
                  <a:lnTo>
                    <a:pt x="33307" y="78181"/>
                  </a:lnTo>
                  <a:lnTo>
                    <a:pt x="26873" y="82984"/>
                  </a:lnTo>
                  <a:lnTo>
                    <a:pt x="20480" y="87770"/>
                  </a:lnTo>
                  <a:lnTo>
                    <a:pt x="14117" y="92541"/>
                  </a:lnTo>
                  <a:lnTo>
                    <a:pt x="4688" y="103055"/>
                  </a:lnTo>
                  <a:lnTo>
                    <a:pt x="0" y="116376"/>
                  </a:lnTo>
                  <a:lnTo>
                    <a:pt x="767" y="130478"/>
                  </a:lnTo>
                  <a:lnTo>
                    <a:pt x="6872" y="143213"/>
                  </a:lnTo>
                  <a:lnTo>
                    <a:pt x="17386" y="152642"/>
                  </a:lnTo>
                  <a:lnTo>
                    <a:pt x="30707" y="157330"/>
                  </a:lnTo>
                  <a:lnTo>
                    <a:pt x="44809" y="156563"/>
                  </a:lnTo>
                  <a:lnTo>
                    <a:pt x="57544" y="150458"/>
                  </a:lnTo>
                  <a:lnTo>
                    <a:pt x="57544" y="150458"/>
                  </a:lnTo>
                  <a:lnTo>
                    <a:pt x="63885" y="145704"/>
                  </a:lnTo>
                  <a:lnTo>
                    <a:pt x="70214" y="140965"/>
                  </a:lnTo>
                  <a:lnTo>
                    <a:pt x="76542" y="136243"/>
                  </a:lnTo>
                  <a:lnTo>
                    <a:pt x="82878" y="131535"/>
                  </a:lnTo>
                  <a:lnTo>
                    <a:pt x="89232" y="126843"/>
                  </a:lnTo>
                  <a:lnTo>
                    <a:pt x="95616" y="122165"/>
                  </a:lnTo>
                  <a:lnTo>
                    <a:pt x="102038" y="117501"/>
                  </a:lnTo>
                  <a:lnTo>
                    <a:pt x="108509" y="112849"/>
                  </a:lnTo>
                  <a:lnTo>
                    <a:pt x="115041" y="108210"/>
                  </a:lnTo>
                  <a:lnTo>
                    <a:pt x="121643" y="103581"/>
                  </a:lnTo>
                  <a:lnTo>
                    <a:pt x="128325" y="98962"/>
                  </a:lnTo>
                  <a:lnTo>
                    <a:pt x="135100" y="94352"/>
                  </a:lnTo>
                  <a:lnTo>
                    <a:pt x="141976" y="89749"/>
                  </a:lnTo>
                  <a:lnTo>
                    <a:pt x="148966" y="85154"/>
                  </a:lnTo>
                  <a:lnTo>
                    <a:pt x="156080" y="80563"/>
                  </a:lnTo>
                  <a:lnTo>
                    <a:pt x="163329" y="75977"/>
                  </a:lnTo>
                  <a:lnTo>
                    <a:pt x="170724" y="71394"/>
                  </a:lnTo>
                  <a:lnTo>
                    <a:pt x="178428" y="66721"/>
                  </a:lnTo>
                  <a:lnTo>
                    <a:pt x="188842" y="57181"/>
                  </a:lnTo>
                  <a:lnTo>
                    <a:pt x="194812" y="44383"/>
                  </a:lnTo>
                  <a:lnTo>
                    <a:pt x="195430" y="30274"/>
                  </a:lnTo>
                  <a:lnTo>
                    <a:pt x="190602" y="17002"/>
                  </a:lnTo>
                  <a:lnTo>
                    <a:pt x="181062" y="6588"/>
                  </a:lnTo>
                  <a:lnTo>
                    <a:pt x="168264" y="618"/>
                  </a:lnTo>
                  <a:lnTo>
                    <a:pt x="154155" y="0"/>
                  </a:lnTo>
                  <a:lnTo>
                    <a:pt x="140883" y="4828"/>
                  </a:lnTo>
                  <a:close/>
                </a:path>
              </a:pathLst>
            </a:custGeom>
            <a:gradFill rotWithShape="1">
              <a:gsLst>
                <a:gs pos="0">
                  <a:srgbClr val="FFE0CB"/>
                </a:gs>
                <a:gs pos="33000">
                  <a:srgbClr val="FAD0BC"/>
                </a:gs>
                <a:gs pos="69000">
                  <a:srgbClr val="F5BAA6"/>
                </a:gs>
                <a:gs pos="100000">
                  <a:srgbClr val="E9A38E"/>
                </a:gs>
              </a:gsLst>
              <a:lin ang="4200000" scaled="1"/>
            </a:gradFill>
            <a:ln w="3442" cap="rnd">
              <a:solidFill>
                <a:srgbClr val="CB8B7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Natural small-bowel coil 06 soft reflected light"/>
            <p:cNvSpPr/>
            <p:nvPr/>
          </p:nvSpPr>
          <p:spPr>
            <a:xfrm>
              <a:off x="217512" y="639929"/>
              <a:ext cx="52262" cy="36188"/>
            </a:xfrm>
            <a:custGeom>
              <a:avLst/>
              <a:gdLst/>
              <a:ahLst/>
              <a:cxnLst/>
              <a:rect l="0" t="0" r="r" b="b"/>
              <a:pathLst>
                <a:path w="122913" h="85109">
                  <a:moveTo>
                    <a:pt x="122913" y="0"/>
                  </a:moveTo>
                  <a:cubicBezTo>
                    <a:pt x="121612" y="789"/>
                    <a:pt x="117674" y="3161"/>
                    <a:pt x="115108" y="4735"/>
                  </a:cubicBezTo>
                  <a:cubicBezTo>
                    <a:pt x="112541" y="6308"/>
                    <a:pt x="110019" y="7873"/>
                    <a:pt x="107513" y="9442"/>
                  </a:cubicBezTo>
                  <a:cubicBezTo>
                    <a:pt x="105007" y="11011"/>
                    <a:pt x="102529" y="12580"/>
                    <a:pt x="100072" y="14149"/>
                  </a:cubicBezTo>
                  <a:cubicBezTo>
                    <a:pt x="97616" y="15719"/>
                    <a:pt x="95185" y="17289"/>
                    <a:pt x="92774" y="18859"/>
                  </a:cubicBezTo>
                  <a:cubicBezTo>
                    <a:pt x="90364" y="20429"/>
                    <a:pt x="87977" y="21999"/>
                    <a:pt x="85609" y="23570"/>
                  </a:cubicBezTo>
                  <a:cubicBezTo>
                    <a:pt x="83242" y="25140"/>
                    <a:pt x="80896" y="26711"/>
                    <a:pt x="78568" y="28282"/>
                  </a:cubicBezTo>
                  <a:cubicBezTo>
                    <a:pt x="76239" y="29854"/>
                    <a:pt x="73931" y="31425"/>
                    <a:pt x="71639" y="32998"/>
                  </a:cubicBezTo>
                  <a:cubicBezTo>
                    <a:pt x="69346" y="34570"/>
                    <a:pt x="67072" y="36142"/>
                    <a:pt x="64813" y="37716"/>
                  </a:cubicBezTo>
                  <a:cubicBezTo>
                    <a:pt x="62553" y="39289"/>
                    <a:pt x="60310" y="40862"/>
                    <a:pt x="58079" y="42437"/>
                  </a:cubicBezTo>
                  <a:cubicBezTo>
                    <a:pt x="55848" y="44011"/>
                    <a:pt x="53633" y="45586"/>
                    <a:pt x="51428" y="47161"/>
                  </a:cubicBezTo>
                  <a:cubicBezTo>
                    <a:pt x="49223" y="48736"/>
                    <a:pt x="47032" y="50312"/>
                    <a:pt x="44850" y="51889"/>
                  </a:cubicBezTo>
                  <a:cubicBezTo>
                    <a:pt x="42668" y="53466"/>
                    <a:pt x="40498" y="55043"/>
                    <a:pt x="38335" y="56621"/>
                  </a:cubicBezTo>
                  <a:cubicBezTo>
                    <a:pt x="36172" y="58199"/>
                    <a:pt x="34019" y="59778"/>
                    <a:pt x="31872" y="61358"/>
                  </a:cubicBezTo>
                  <a:cubicBezTo>
                    <a:pt x="29725" y="62937"/>
                    <a:pt x="27586" y="64517"/>
                    <a:pt x="25452" y="66098"/>
                  </a:cubicBezTo>
                  <a:cubicBezTo>
                    <a:pt x="23317" y="67679"/>
                    <a:pt x="21190" y="69261"/>
                    <a:pt x="19064" y="70844"/>
                  </a:cubicBezTo>
                  <a:cubicBezTo>
                    <a:pt x="16939" y="72426"/>
                    <a:pt x="14819" y="74010"/>
                    <a:pt x="12700" y="75594"/>
                  </a:cubicBezTo>
                  <a:cubicBezTo>
                    <a:pt x="10580" y="77178"/>
                    <a:pt x="8465" y="78763"/>
                    <a:pt x="6348" y="80349"/>
                  </a:cubicBezTo>
                  <a:cubicBezTo>
                    <a:pt x="4232" y="81935"/>
                    <a:pt x="1058" y="84316"/>
                    <a:pt x="0" y="85109"/>
                  </a:cubicBezTo>
                </a:path>
              </a:pathLst>
            </a:custGeom>
            <a:noFill/>
            <a:ln w="9112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mall bowel restrained surface fold 00"/>
            <p:cNvSpPr/>
            <p:nvPr/>
          </p:nvSpPr>
          <p:spPr>
            <a:xfrm>
              <a:off x="315900" y="352350"/>
              <a:ext cx="16200" cy="32400"/>
            </a:xfrm>
            <a:custGeom>
              <a:avLst/>
              <a:gdLst/>
              <a:ahLst/>
              <a:cxnLst/>
              <a:rect l="0" t="0" r="r" b="b"/>
              <a:pathLst>
                <a:path w="38100" h="76200">
                  <a:moveTo>
                    <a:pt x="19050" y="0"/>
                  </a:moveTo>
                  <a:cubicBezTo>
                    <a:pt x="0" y="28575"/>
                    <a:pt x="9525" y="57150"/>
                    <a:pt x="38100" y="76200"/>
                  </a:cubicBezTo>
                </a:path>
              </a:pathLst>
            </a:custGeom>
            <a:noFill/>
            <a:ln w="2227" cap="rnd">
              <a:solidFill>
                <a:srgbClr val="D2A08A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mall bowel restrained surface fold 01"/>
            <p:cNvSpPr/>
            <p:nvPr/>
          </p:nvSpPr>
          <p:spPr>
            <a:xfrm>
              <a:off x="558900" y="380700"/>
              <a:ext cx="16200" cy="32400"/>
            </a:xfrm>
            <a:custGeom>
              <a:avLst/>
              <a:gdLst/>
              <a:ahLst/>
              <a:cxnLst/>
              <a:rect l="0" t="0" r="r" b="b"/>
              <a:pathLst>
                <a:path w="38100" h="76200">
                  <a:moveTo>
                    <a:pt x="28575" y="0"/>
                  </a:moveTo>
                  <a:cubicBezTo>
                    <a:pt x="0" y="28575"/>
                    <a:pt x="9525" y="57150"/>
                    <a:pt x="38100" y="76200"/>
                  </a:cubicBezTo>
                </a:path>
              </a:pathLst>
            </a:custGeom>
            <a:noFill/>
            <a:ln w="2227" cap="rnd">
              <a:solidFill>
                <a:srgbClr val="D2A08A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mall bowel restrained surface fold 02"/>
            <p:cNvSpPr/>
            <p:nvPr/>
          </p:nvSpPr>
          <p:spPr>
            <a:xfrm>
              <a:off x="271350" y="502200"/>
              <a:ext cx="32400" cy="16200"/>
            </a:xfrm>
            <a:custGeom>
              <a:avLst/>
              <a:gdLst/>
              <a:ahLst/>
              <a:cxnLst/>
              <a:rect l="0" t="0" r="r" b="b"/>
              <a:pathLst>
                <a:path w="76200" h="38100">
                  <a:moveTo>
                    <a:pt x="0" y="28575"/>
                  </a:moveTo>
                  <a:cubicBezTo>
                    <a:pt x="28575" y="0"/>
                    <a:pt x="57150" y="9525"/>
                    <a:pt x="76200" y="38100"/>
                  </a:cubicBezTo>
                </a:path>
              </a:pathLst>
            </a:custGeom>
            <a:noFill/>
            <a:ln w="2227" cap="rnd">
              <a:solidFill>
                <a:srgbClr val="D2A08A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mall bowel restrained surface fold 03"/>
            <p:cNvSpPr/>
            <p:nvPr/>
          </p:nvSpPr>
          <p:spPr>
            <a:xfrm>
              <a:off x="413100" y="449550"/>
              <a:ext cx="20250" cy="40500"/>
            </a:xfrm>
            <a:custGeom>
              <a:avLst/>
              <a:gdLst/>
              <a:ahLst/>
              <a:cxnLst/>
              <a:rect l="0" t="0" r="r" b="b"/>
              <a:pathLst>
                <a:path w="47625" h="95250">
                  <a:moveTo>
                    <a:pt x="19050" y="0"/>
                  </a:moveTo>
                  <a:cubicBezTo>
                    <a:pt x="0" y="38100"/>
                    <a:pt x="19050" y="76200"/>
                    <a:pt x="47625" y="95250"/>
                  </a:cubicBezTo>
                </a:path>
              </a:pathLst>
            </a:custGeom>
            <a:noFill/>
            <a:ln w="2227" cap="rnd">
              <a:solidFill>
                <a:srgbClr val="D2A08A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mall bowel restrained surface fold 04"/>
            <p:cNvSpPr/>
            <p:nvPr/>
          </p:nvSpPr>
          <p:spPr>
            <a:xfrm>
              <a:off x="562950" y="587250"/>
              <a:ext cx="16200" cy="32400"/>
            </a:xfrm>
            <a:custGeom>
              <a:avLst/>
              <a:gdLst/>
              <a:ahLst/>
              <a:cxnLst/>
              <a:rect l="0" t="0" r="r" b="b"/>
              <a:pathLst>
                <a:path w="38100" h="76200">
                  <a:moveTo>
                    <a:pt x="19050" y="0"/>
                  </a:moveTo>
                  <a:cubicBezTo>
                    <a:pt x="0" y="28575"/>
                    <a:pt x="9525" y="57150"/>
                    <a:pt x="38100" y="76200"/>
                  </a:cubicBezTo>
                </a:path>
              </a:pathLst>
            </a:custGeom>
            <a:noFill/>
            <a:ln w="2227" cap="rnd">
              <a:solidFill>
                <a:srgbClr val="D2A08A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mall bowel restrained surface fold 05"/>
            <p:cNvSpPr/>
            <p:nvPr/>
          </p:nvSpPr>
          <p:spPr>
            <a:xfrm>
              <a:off x="360450" y="611550"/>
              <a:ext cx="12150" cy="28350"/>
            </a:xfrm>
            <a:custGeom>
              <a:avLst/>
              <a:gdLst/>
              <a:ahLst/>
              <a:cxnLst/>
              <a:rect l="0" t="0" r="r" b="b"/>
              <a:pathLst>
                <a:path w="28575" h="66675">
                  <a:moveTo>
                    <a:pt x="19050" y="66675"/>
                  </a:moveTo>
                  <a:cubicBezTo>
                    <a:pt x="0" y="47625"/>
                    <a:pt x="0" y="19050"/>
                    <a:pt x="28575" y="0"/>
                  </a:cubicBezTo>
                </a:path>
              </a:pathLst>
            </a:custGeom>
            <a:noFill/>
            <a:ln w="2227" cap="rnd">
              <a:solidFill>
                <a:srgbClr val="D2A08A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Vermiform appendix outline"/>
            <p:cNvSpPr/>
            <p:nvPr/>
          </p:nvSpPr>
          <p:spPr>
            <a:xfrm>
              <a:off x="145800" y="724950"/>
              <a:ext cx="32400" cy="129600"/>
            </a:xfrm>
            <a:custGeom>
              <a:avLst/>
              <a:gdLst/>
              <a:ahLst/>
              <a:cxnLst/>
              <a:rect l="0" t="0" r="r" b="b"/>
              <a:pathLst>
                <a:path w="76200" h="304800">
                  <a:moveTo>
                    <a:pt x="28575" y="0"/>
                  </a:moveTo>
                  <a:cubicBezTo>
                    <a:pt x="0" y="76200"/>
                    <a:pt x="0" y="152400"/>
                    <a:pt x="47625" y="209550"/>
                  </a:cubicBezTo>
                  <a:cubicBezTo>
                    <a:pt x="76200" y="247650"/>
                    <a:pt x="66675" y="285750"/>
                    <a:pt x="38100" y="304800"/>
                  </a:cubicBezTo>
                </a:path>
              </a:pathLst>
            </a:custGeom>
            <a:noFill/>
            <a:ln w="15390" cap="rnd">
              <a:solidFill>
                <a:srgbClr val="B98170">
                  <a:alpha val="10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Vermiform appendix tissue"/>
            <p:cNvSpPr/>
            <p:nvPr/>
          </p:nvSpPr>
          <p:spPr>
            <a:xfrm>
              <a:off x="145800" y="724950"/>
              <a:ext cx="32400" cy="129600"/>
            </a:xfrm>
            <a:custGeom>
              <a:avLst/>
              <a:gdLst/>
              <a:ahLst/>
              <a:cxnLst/>
              <a:rect l="0" t="0" r="r" b="b"/>
              <a:pathLst>
                <a:path w="76200" h="304800">
                  <a:moveTo>
                    <a:pt x="28575" y="0"/>
                  </a:moveTo>
                  <a:cubicBezTo>
                    <a:pt x="0" y="76200"/>
                    <a:pt x="0" y="152400"/>
                    <a:pt x="47625" y="209550"/>
                  </a:cubicBezTo>
                  <a:cubicBezTo>
                    <a:pt x="76200" y="247650"/>
                    <a:pt x="66675" y="285750"/>
                    <a:pt x="38100" y="304800"/>
                  </a:cubicBezTo>
                </a:path>
              </a:pathLst>
            </a:custGeom>
            <a:noFill/>
            <a:ln w="8707" cap="rnd">
              <a:solidFill>
                <a:srgbClr val="E8B19A">
                  <a:alpha val="10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Appendix restrained reflected light"/>
            <p:cNvSpPr/>
            <p:nvPr/>
          </p:nvSpPr>
          <p:spPr>
            <a:xfrm>
              <a:off x="153900" y="745200"/>
              <a:ext cx="16200" cy="64800"/>
            </a:xfrm>
            <a:custGeom>
              <a:avLst/>
              <a:gdLst/>
              <a:ahLst/>
              <a:cxnLst/>
              <a:rect l="0" t="0" r="r" b="b"/>
              <a:pathLst>
                <a:path w="38100" h="152400">
                  <a:moveTo>
                    <a:pt x="9525" y="0"/>
                  </a:moveTo>
                  <a:cubicBezTo>
                    <a:pt x="0" y="57150"/>
                    <a:pt x="9525" y="114300"/>
                    <a:pt x="38100" y="152400"/>
                  </a:cubicBezTo>
                </a:path>
              </a:pathLst>
            </a:custGeom>
            <a:noFill/>
            <a:ln w="2430" cap="rnd">
              <a:solidFill>
                <a:srgbClr val="FFE8D5">
                  <a:alpha val="75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and-shaped continuous haustrated colon and rectum"/>
            <p:cNvSpPr/>
            <p:nvPr/>
          </p:nvSpPr>
          <p:spPr>
            <a:xfrm>
              <a:off x="85050" y="93150"/>
              <a:ext cx="708750" cy="915300"/>
            </a:xfrm>
            <a:custGeom>
              <a:avLst/>
              <a:gdLst/>
              <a:ahLst/>
              <a:cxnLst/>
              <a:rect l="0" t="0" r="r" b="b"/>
              <a:pathLst>
                <a:path w="1666875" h="2152650">
                  <a:moveTo>
                    <a:pt x="209550" y="1533525"/>
                  </a:moveTo>
                  <a:cubicBezTo>
                    <a:pt x="85725" y="1543050"/>
                    <a:pt x="9525" y="1457325"/>
                    <a:pt x="19050" y="1333500"/>
                  </a:cubicBezTo>
                  <a:cubicBezTo>
                    <a:pt x="0" y="1276350"/>
                    <a:pt x="19050" y="1219200"/>
                    <a:pt x="47625" y="1181100"/>
                  </a:cubicBezTo>
                  <a:cubicBezTo>
                    <a:pt x="19050" y="1123950"/>
                    <a:pt x="28575" y="1047750"/>
                    <a:pt x="66675" y="1009650"/>
                  </a:cubicBezTo>
                  <a:cubicBezTo>
                    <a:pt x="38100" y="952500"/>
                    <a:pt x="47625" y="876300"/>
                    <a:pt x="85725" y="838200"/>
                  </a:cubicBezTo>
                  <a:cubicBezTo>
                    <a:pt x="57150" y="781050"/>
                    <a:pt x="76200" y="704850"/>
                    <a:pt x="114300" y="666750"/>
                  </a:cubicBezTo>
                  <a:cubicBezTo>
                    <a:pt x="85725" y="600075"/>
                    <a:pt x="95250" y="533400"/>
                    <a:pt x="133350" y="485775"/>
                  </a:cubicBezTo>
                  <a:cubicBezTo>
                    <a:pt x="104775" y="419100"/>
                    <a:pt x="123825" y="352425"/>
                    <a:pt x="161925" y="314325"/>
                  </a:cubicBezTo>
                  <a:cubicBezTo>
                    <a:pt x="142875" y="219075"/>
                    <a:pt x="180975" y="142875"/>
                    <a:pt x="257175" y="123825"/>
                  </a:cubicBezTo>
                  <a:cubicBezTo>
                    <a:pt x="323850" y="85725"/>
                    <a:pt x="409575" y="133350"/>
                    <a:pt x="457200" y="190500"/>
                  </a:cubicBezTo>
                  <a:cubicBezTo>
                    <a:pt x="504825" y="200025"/>
                    <a:pt x="552450" y="238125"/>
                    <a:pt x="571500" y="276225"/>
                  </a:cubicBezTo>
                  <a:cubicBezTo>
                    <a:pt x="647700" y="266700"/>
                    <a:pt x="714375" y="295275"/>
                    <a:pt x="742950" y="333375"/>
                  </a:cubicBezTo>
                  <a:cubicBezTo>
                    <a:pt x="819150" y="304800"/>
                    <a:pt x="895350" y="314325"/>
                    <a:pt x="933450" y="352425"/>
                  </a:cubicBezTo>
                  <a:cubicBezTo>
                    <a:pt x="1009650" y="304800"/>
                    <a:pt x="1076325" y="304800"/>
                    <a:pt x="1123950" y="314325"/>
                  </a:cubicBezTo>
                  <a:cubicBezTo>
                    <a:pt x="1162050" y="257175"/>
                    <a:pt x="1219200" y="228600"/>
                    <a:pt x="1276350" y="219075"/>
                  </a:cubicBezTo>
                  <a:cubicBezTo>
                    <a:pt x="1295400" y="142875"/>
                    <a:pt x="1352550" y="85725"/>
                    <a:pt x="1419225" y="76200"/>
                  </a:cubicBezTo>
                  <a:cubicBezTo>
                    <a:pt x="1485900" y="0"/>
                    <a:pt x="1609725" y="38100"/>
                    <a:pt x="1638300" y="142875"/>
                  </a:cubicBezTo>
                  <a:cubicBezTo>
                    <a:pt x="1666875" y="200025"/>
                    <a:pt x="1647825" y="266700"/>
                    <a:pt x="1619250" y="314325"/>
                  </a:cubicBezTo>
                  <a:cubicBezTo>
                    <a:pt x="1657350" y="381000"/>
                    <a:pt x="1647825" y="447675"/>
                    <a:pt x="1619250" y="495300"/>
                  </a:cubicBezTo>
                  <a:cubicBezTo>
                    <a:pt x="1657350" y="561975"/>
                    <a:pt x="1647825" y="628650"/>
                    <a:pt x="1619250" y="676275"/>
                  </a:cubicBezTo>
                  <a:cubicBezTo>
                    <a:pt x="1647825" y="752475"/>
                    <a:pt x="1628775" y="819150"/>
                    <a:pt x="1600200" y="866775"/>
                  </a:cubicBezTo>
                  <a:cubicBezTo>
                    <a:pt x="1619250" y="933450"/>
                    <a:pt x="1600200" y="1000125"/>
                    <a:pt x="1571625" y="1038225"/>
                  </a:cubicBezTo>
                  <a:cubicBezTo>
                    <a:pt x="1590675" y="1114425"/>
                    <a:pt x="1552575" y="1181100"/>
                    <a:pt x="1524000" y="1219200"/>
                  </a:cubicBezTo>
                  <a:cubicBezTo>
                    <a:pt x="1524000" y="1295400"/>
                    <a:pt x="1476375" y="1352550"/>
                    <a:pt x="1419225" y="1381125"/>
                  </a:cubicBezTo>
                  <a:cubicBezTo>
                    <a:pt x="1390650" y="1447800"/>
                    <a:pt x="1333500" y="1476375"/>
                    <a:pt x="1266825" y="1485900"/>
                  </a:cubicBezTo>
                  <a:cubicBezTo>
                    <a:pt x="1228725" y="1543050"/>
                    <a:pt x="1162050" y="1571625"/>
                    <a:pt x="1104900" y="1571625"/>
                  </a:cubicBezTo>
                  <a:cubicBezTo>
                    <a:pt x="1047750" y="1590675"/>
                    <a:pt x="1019175" y="1628775"/>
                    <a:pt x="1028700" y="1695450"/>
                  </a:cubicBezTo>
                  <a:cubicBezTo>
                    <a:pt x="1057275" y="1762125"/>
                    <a:pt x="1038225" y="1828800"/>
                    <a:pt x="1009650" y="1885950"/>
                  </a:cubicBezTo>
                  <a:cubicBezTo>
                    <a:pt x="1000125" y="1952625"/>
                    <a:pt x="1009650" y="2028825"/>
                    <a:pt x="990600" y="2114550"/>
                  </a:cubicBezTo>
                  <a:cubicBezTo>
                    <a:pt x="952500" y="2152650"/>
                    <a:pt x="876300" y="2143125"/>
                    <a:pt x="838200" y="2114550"/>
                  </a:cubicBezTo>
                  <a:cubicBezTo>
                    <a:pt x="838200" y="2009775"/>
                    <a:pt x="847725" y="1914525"/>
                    <a:pt x="847725" y="1838325"/>
                  </a:cubicBezTo>
                  <a:cubicBezTo>
                    <a:pt x="838200" y="1762125"/>
                    <a:pt x="781050" y="1733550"/>
                    <a:pt x="742950" y="1676400"/>
                  </a:cubicBezTo>
                  <a:cubicBezTo>
                    <a:pt x="685800" y="1609725"/>
                    <a:pt x="695325" y="1514475"/>
                    <a:pt x="752475" y="1457325"/>
                  </a:cubicBezTo>
                  <a:cubicBezTo>
                    <a:pt x="800100" y="1390650"/>
                    <a:pt x="866775" y="1381125"/>
                    <a:pt x="942975" y="1390650"/>
                  </a:cubicBezTo>
                  <a:cubicBezTo>
                    <a:pt x="1000125" y="1352550"/>
                    <a:pt x="1076325" y="1352550"/>
                    <a:pt x="1133475" y="1343025"/>
                  </a:cubicBezTo>
                  <a:cubicBezTo>
                    <a:pt x="1171575" y="1295400"/>
                    <a:pt x="1228725" y="1285875"/>
                    <a:pt x="1276350" y="1257300"/>
                  </a:cubicBezTo>
                  <a:cubicBezTo>
                    <a:pt x="1304925" y="1209675"/>
                    <a:pt x="1333500" y="1162050"/>
                    <a:pt x="1352550" y="1095375"/>
                  </a:cubicBezTo>
                  <a:cubicBezTo>
                    <a:pt x="1333500" y="1038225"/>
                    <a:pt x="1362075" y="971550"/>
                    <a:pt x="1381125" y="933450"/>
                  </a:cubicBezTo>
                  <a:cubicBezTo>
                    <a:pt x="1362075" y="876300"/>
                    <a:pt x="1381125" y="809625"/>
                    <a:pt x="1400175" y="762000"/>
                  </a:cubicBezTo>
                  <a:cubicBezTo>
                    <a:pt x="1381125" y="704850"/>
                    <a:pt x="1390650" y="638175"/>
                    <a:pt x="1409700" y="590550"/>
                  </a:cubicBezTo>
                  <a:cubicBezTo>
                    <a:pt x="1381125" y="533400"/>
                    <a:pt x="1390650" y="466725"/>
                    <a:pt x="1409700" y="419100"/>
                  </a:cubicBezTo>
                  <a:cubicBezTo>
                    <a:pt x="1390650" y="361950"/>
                    <a:pt x="1400175" y="314325"/>
                    <a:pt x="1409700" y="266700"/>
                  </a:cubicBezTo>
                  <a:cubicBezTo>
                    <a:pt x="1381125" y="295275"/>
                    <a:pt x="1343025" y="342900"/>
                    <a:pt x="1314450" y="381000"/>
                  </a:cubicBezTo>
                  <a:cubicBezTo>
                    <a:pt x="1276350" y="428625"/>
                    <a:pt x="1219200" y="438150"/>
                    <a:pt x="1181100" y="447675"/>
                  </a:cubicBezTo>
                  <a:cubicBezTo>
                    <a:pt x="1133475" y="504825"/>
                    <a:pt x="1066800" y="514350"/>
                    <a:pt x="1019175" y="504825"/>
                  </a:cubicBezTo>
                  <a:cubicBezTo>
                    <a:pt x="952500" y="561975"/>
                    <a:pt x="885825" y="571500"/>
                    <a:pt x="828675" y="542925"/>
                  </a:cubicBezTo>
                  <a:cubicBezTo>
                    <a:pt x="752475" y="571500"/>
                    <a:pt x="676275" y="542925"/>
                    <a:pt x="628650" y="504825"/>
                  </a:cubicBezTo>
                  <a:cubicBezTo>
                    <a:pt x="552450" y="514350"/>
                    <a:pt x="476250" y="476250"/>
                    <a:pt x="447675" y="438150"/>
                  </a:cubicBezTo>
                  <a:cubicBezTo>
                    <a:pt x="381000" y="438150"/>
                    <a:pt x="342900" y="400050"/>
                    <a:pt x="323850" y="361950"/>
                  </a:cubicBezTo>
                  <a:cubicBezTo>
                    <a:pt x="342900" y="428625"/>
                    <a:pt x="323850" y="485775"/>
                    <a:pt x="304800" y="523875"/>
                  </a:cubicBezTo>
                  <a:cubicBezTo>
                    <a:pt x="342900" y="581025"/>
                    <a:pt x="333375" y="657225"/>
                    <a:pt x="304800" y="704850"/>
                  </a:cubicBezTo>
                  <a:cubicBezTo>
                    <a:pt x="352425" y="752475"/>
                    <a:pt x="342900" y="819150"/>
                    <a:pt x="314325" y="866775"/>
                  </a:cubicBezTo>
                  <a:cubicBezTo>
                    <a:pt x="361950" y="923925"/>
                    <a:pt x="361950" y="990600"/>
                    <a:pt x="323850" y="1038225"/>
                  </a:cubicBezTo>
                  <a:cubicBezTo>
                    <a:pt x="371475" y="1085850"/>
                    <a:pt x="381000" y="1162050"/>
                    <a:pt x="352425" y="1219200"/>
                  </a:cubicBezTo>
                  <a:cubicBezTo>
                    <a:pt x="428625" y="1276350"/>
                    <a:pt x="428625" y="1381125"/>
                    <a:pt x="381000" y="1457325"/>
                  </a:cubicBezTo>
                  <a:cubicBezTo>
                    <a:pt x="342900" y="1514475"/>
                    <a:pt x="266700" y="1533525"/>
                    <a:pt x="209550" y="1533525"/>
                  </a:cubicBezTo>
                  <a:close/>
                </a:path>
              </a:pathLst>
            </a:custGeom>
            <a:gradFill rotWithShape="1">
              <a:gsLst>
                <a:gs pos="0">
                  <a:srgbClr val="FDE0CC"/>
                </a:gs>
                <a:gs pos="50000">
                  <a:srgbClr val="F4BFA8"/>
                </a:gs>
                <a:gs pos="100000">
                  <a:srgbClr val="DDA18A"/>
                </a:gs>
              </a:gsLst>
              <a:lin ang="2280000" scaled="1"/>
            </a:gradFill>
            <a:ln w="3240" cap="rnd">
              <a:solidFill>
                <a:srgbClr val="BA847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Ascending colon inner-plane shading"/>
            <p:cNvSpPr/>
            <p:nvPr/>
          </p:nvSpPr>
          <p:spPr>
            <a:xfrm>
              <a:off x="186300" y="271350"/>
              <a:ext cx="68850" cy="453600"/>
            </a:xfrm>
            <a:custGeom>
              <a:avLst/>
              <a:gdLst/>
              <a:ahLst/>
              <a:cxnLst/>
              <a:rect l="0" t="0" r="r" b="b"/>
              <a:pathLst>
                <a:path w="161925" h="1066800">
                  <a:moveTo>
                    <a:pt x="47625" y="0"/>
                  </a:moveTo>
                  <a:cubicBezTo>
                    <a:pt x="28575" y="257175"/>
                    <a:pt x="38100" y="552450"/>
                    <a:pt x="57150" y="800100"/>
                  </a:cubicBezTo>
                  <a:cubicBezTo>
                    <a:pt x="161925" y="885825"/>
                    <a:pt x="152400" y="1009650"/>
                    <a:pt x="28575" y="1066800"/>
                  </a:cubicBezTo>
                  <a:cubicBezTo>
                    <a:pt x="114300" y="981075"/>
                    <a:pt x="57150" y="885825"/>
                    <a:pt x="19050" y="828675"/>
                  </a:cubicBezTo>
                  <a:cubicBezTo>
                    <a:pt x="0" y="542925"/>
                    <a:pt x="0" y="247650"/>
                    <a:pt x="19050" y="9525"/>
                  </a:cubicBezTo>
                  <a:close/>
                </a:path>
              </a:pathLst>
            </a:custGeom>
            <a:solidFill>
              <a:srgbClr val="CA8F79">
                <a:alpha val="1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escending colon inner-plane shading"/>
            <p:cNvSpPr/>
            <p:nvPr/>
          </p:nvSpPr>
          <p:spPr>
            <a:xfrm>
              <a:off x="599400" y="194400"/>
              <a:ext cx="125550" cy="486000"/>
            </a:xfrm>
            <a:custGeom>
              <a:avLst/>
              <a:gdLst/>
              <a:ahLst/>
              <a:cxnLst/>
              <a:rect l="0" t="0" r="r" b="b"/>
              <a:pathLst>
                <a:path w="295275" h="1143000">
                  <a:moveTo>
                    <a:pt x="247650" y="9525"/>
                  </a:moveTo>
                  <a:cubicBezTo>
                    <a:pt x="238125" y="295275"/>
                    <a:pt x="228600" y="581025"/>
                    <a:pt x="190500" y="847725"/>
                  </a:cubicBezTo>
                  <a:cubicBezTo>
                    <a:pt x="152400" y="1000125"/>
                    <a:pt x="104775" y="1076325"/>
                    <a:pt x="0" y="1143000"/>
                  </a:cubicBezTo>
                  <a:cubicBezTo>
                    <a:pt x="152400" y="1104900"/>
                    <a:pt x="257175" y="971550"/>
                    <a:pt x="266700" y="838200"/>
                  </a:cubicBezTo>
                  <a:cubicBezTo>
                    <a:pt x="295275" y="523875"/>
                    <a:pt x="295275" y="276225"/>
                    <a:pt x="285750" y="0"/>
                  </a:cubicBezTo>
                  <a:close/>
                </a:path>
              </a:pathLst>
            </a:custGeom>
            <a:solidFill>
              <a:srgbClr val="CA8F79">
                <a:alpha val="1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Ascending colon broad soft reflected light"/>
            <p:cNvSpPr/>
            <p:nvPr/>
          </p:nvSpPr>
          <p:spPr>
            <a:xfrm>
              <a:off x="125550" y="178200"/>
              <a:ext cx="93150" cy="481950"/>
            </a:xfrm>
            <a:custGeom>
              <a:avLst/>
              <a:gdLst/>
              <a:ahLst/>
              <a:cxnLst/>
              <a:rect l="0" t="0" r="r" b="b"/>
              <a:pathLst>
                <a:path w="219075" h="1133475">
                  <a:moveTo>
                    <a:pt x="0" y="1133475"/>
                  </a:moveTo>
                  <a:cubicBezTo>
                    <a:pt x="0" y="981075"/>
                    <a:pt x="28575" y="742950"/>
                    <a:pt x="38100" y="581025"/>
                  </a:cubicBezTo>
                  <a:cubicBezTo>
                    <a:pt x="47625" y="409575"/>
                    <a:pt x="57150" y="238125"/>
                    <a:pt x="104775" y="104775"/>
                  </a:cubicBezTo>
                  <a:cubicBezTo>
                    <a:pt x="123825" y="38100"/>
                    <a:pt x="171450" y="0"/>
                    <a:pt x="219075" y="0"/>
                  </a:cubicBezTo>
                </a:path>
              </a:pathLst>
            </a:custGeom>
            <a:noFill/>
            <a:ln w="10530" cap="rnd">
              <a:solidFill>
                <a:srgbClr val="FFEAD8">
                  <a:alpha val="65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ransverse colon restrained reflected light"/>
            <p:cNvSpPr/>
            <p:nvPr/>
          </p:nvSpPr>
          <p:spPr>
            <a:xfrm>
              <a:off x="267300" y="145800"/>
              <a:ext cx="453600" cy="149850"/>
            </a:xfrm>
            <a:custGeom>
              <a:avLst/>
              <a:gdLst/>
              <a:ahLst/>
              <a:cxnLst/>
              <a:rect l="0" t="0" r="r" b="b"/>
              <a:pathLst>
                <a:path w="1066800" h="352425">
                  <a:moveTo>
                    <a:pt x="0" y="142875"/>
                  </a:moveTo>
                  <a:cubicBezTo>
                    <a:pt x="209550" y="295275"/>
                    <a:pt x="438150" y="352425"/>
                    <a:pt x="638175" y="276225"/>
                  </a:cubicBezTo>
                  <a:cubicBezTo>
                    <a:pt x="828675" y="228600"/>
                    <a:pt x="933450" y="57150"/>
                    <a:pt x="1066800" y="0"/>
                  </a:cubicBezTo>
                </a:path>
              </a:pathLst>
            </a:custGeom>
            <a:noFill/>
            <a:ln w="10125" cap="rnd">
              <a:solidFill>
                <a:srgbClr val="FFE9D5">
                  <a:alpha val="62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escending colon reflected light"/>
            <p:cNvSpPr/>
            <p:nvPr/>
          </p:nvSpPr>
          <p:spPr>
            <a:xfrm>
              <a:off x="619650" y="182250"/>
              <a:ext cx="137700" cy="510300"/>
            </a:xfrm>
            <a:custGeom>
              <a:avLst/>
              <a:gdLst/>
              <a:ahLst/>
              <a:cxnLst/>
              <a:rect l="0" t="0" r="r" b="b"/>
              <a:pathLst>
                <a:path w="323850" h="1200150">
                  <a:moveTo>
                    <a:pt x="323850" y="0"/>
                  </a:moveTo>
                  <a:cubicBezTo>
                    <a:pt x="304800" y="266700"/>
                    <a:pt x="314325" y="571500"/>
                    <a:pt x="238125" y="876300"/>
                  </a:cubicBezTo>
                  <a:cubicBezTo>
                    <a:pt x="200025" y="1019175"/>
                    <a:pt x="104775" y="1123950"/>
                    <a:pt x="0" y="1200150"/>
                  </a:cubicBezTo>
                </a:path>
              </a:pathLst>
            </a:custGeom>
            <a:noFill/>
            <a:ln w="8707" cap="rnd">
              <a:solidFill>
                <a:srgbClr val="FFE9D5">
                  <a:alpha val="62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igmoid and rectum reflected light"/>
            <p:cNvSpPr/>
            <p:nvPr/>
          </p:nvSpPr>
          <p:spPr>
            <a:xfrm>
              <a:off x="409050" y="716850"/>
              <a:ext cx="72900" cy="251100"/>
            </a:xfrm>
            <a:custGeom>
              <a:avLst/>
              <a:gdLst/>
              <a:ahLst/>
              <a:cxnLst/>
              <a:rect l="0" t="0" r="r" b="b"/>
              <a:pathLst>
                <a:path w="171450" h="590550">
                  <a:moveTo>
                    <a:pt x="152400" y="0"/>
                  </a:moveTo>
                  <a:cubicBezTo>
                    <a:pt x="28575" y="19050"/>
                    <a:pt x="0" y="104775"/>
                    <a:pt x="66675" y="190500"/>
                  </a:cubicBezTo>
                  <a:cubicBezTo>
                    <a:pt x="171450" y="285750"/>
                    <a:pt x="161925" y="428625"/>
                    <a:pt x="152400" y="590550"/>
                  </a:cubicBezTo>
                </a:path>
              </a:pathLst>
            </a:custGeom>
            <a:noFill/>
            <a:ln w="8505" cap="rnd">
              <a:solidFill>
                <a:srgbClr val="FFE7D0">
                  <a:alpha val="57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Integrated semilunar colon fold 00"/>
            <p:cNvSpPr/>
            <p:nvPr/>
          </p:nvSpPr>
          <p:spPr>
            <a:xfrm>
              <a:off x="149850" y="226800"/>
              <a:ext cx="56700" cy="24300"/>
            </a:xfrm>
            <a:custGeom>
              <a:avLst/>
              <a:gdLst/>
              <a:ahLst/>
              <a:cxnLst/>
              <a:rect l="0" t="0" r="r" b="b"/>
              <a:pathLst>
                <a:path w="133350" h="57150">
                  <a:moveTo>
                    <a:pt x="0" y="0"/>
                  </a:moveTo>
                  <a:cubicBezTo>
                    <a:pt x="38100" y="47625"/>
                    <a:pt x="85725" y="57150"/>
                    <a:pt x="133350" y="47625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ine semilunar fold reflected rim 00"/>
            <p:cNvSpPr/>
            <p:nvPr/>
          </p:nvSpPr>
          <p:spPr>
            <a:xfrm>
              <a:off x="147622" y="225180"/>
              <a:ext cx="56700" cy="24300"/>
            </a:xfrm>
            <a:custGeom>
              <a:avLst/>
              <a:gdLst/>
              <a:ahLst/>
              <a:cxnLst/>
              <a:rect l="0" t="0" r="r" b="b"/>
              <a:pathLst>
                <a:path w="133350" h="57150">
                  <a:moveTo>
                    <a:pt x="0" y="0"/>
                  </a:moveTo>
                  <a:cubicBezTo>
                    <a:pt x="38100" y="47625"/>
                    <a:pt x="85725" y="57150"/>
                    <a:pt x="133350" y="47625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Integrated semilunar colon fold 01"/>
            <p:cNvSpPr/>
            <p:nvPr/>
          </p:nvSpPr>
          <p:spPr>
            <a:xfrm>
              <a:off x="141750" y="303750"/>
              <a:ext cx="52650" cy="16200"/>
            </a:xfrm>
            <a:custGeom>
              <a:avLst/>
              <a:gdLst/>
              <a:ahLst/>
              <a:cxnLst/>
              <a:rect l="0" t="0" r="r" b="b"/>
              <a:pathLst>
                <a:path w="123825" h="38100">
                  <a:moveTo>
                    <a:pt x="0" y="0"/>
                  </a:moveTo>
                  <a:cubicBezTo>
                    <a:pt x="38100" y="38100"/>
                    <a:pt x="85725" y="38100"/>
                    <a:pt x="123825" y="1905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Fine semilunar fold reflected rim 01"/>
            <p:cNvSpPr/>
            <p:nvPr/>
          </p:nvSpPr>
          <p:spPr>
            <a:xfrm>
              <a:off x="139522" y="302130"/>
              <a:ext cx="52650" cy="16200"/>
            </a:xfrm>
            <a:custGeom>
              <a:avLst/>
              <a:gdLst/>
              <a:ahLst/>
              <a:cxnLst/>
              <a:rect l="0" t="0" r="r" b="b"/>
              <a:pathLst>
                <a:path w="123825" h="38100">
                  <a:moveTo>
                    <a:pt x="0" y="0"/>
                  </a:moveTo>
                  <a:cubicBezTo>
                    <a:pt x="38100" y="38100"/>
                    <a:pt x="85725" y="38100"/>
                    <a:pt x="123825" y="1905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Integrated semilunar colon fold 02"/>
            <p:cNvSpPr/>
            <p:nvPr/>
          </p:nvSpPr>
          <p:spPr>
            <a:xfrm>
              <a:off x="133650" y="380700"/>
              <a:ext cx="60750" cy="20250"/>
            </a:xfrm>
            <a:custGeom>
              <a:avLst/>
              <a:gdLst/>
              <a:ahLst/>
              <a:cxnLst/>
              <a:rect l="0" t="0" r="r" b="b"/>
              <a:pathLst>
                <a:path w="142875" h="47625">
                  <a:moveTo>
                    <a:pt x="0" y="0"/>
                  </a:moveTo>
                  <a:cubicBezTo>
                    <a:pt x="47625" y="38100"/>
                    <a:pt x="95250" y="47625"/>
                    <a:pt x="142875" y="1905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Fine semilunar fold reflected rim 02"/>
            <p:cNvSpPr/>
            <p:nvPr/>
          </p:nvSpPr>
          <p:spPr>
            <a:xfrm>
              <a:off x="131422" y="379080"/>
              <a:ext cx="60750" cy="20250"/>
            </a:xfrm>
            <a:custGeom>
              <a:avLst/>
              <a:gdLst/>
              <a:ahLst/>
              <a:cxnLst/>
              <a:rect l="0" t="0" r="r" b="b"/>
              <a:pathLst>
                <a:path w="142875" h="47625">
                  <a:moveTo>
                    <a:pt x="0" y="0"/>
                  </a:moveTo>
                  <a:cubicBezTo>
                    <a:pt x="47625" y="38100"/>
                    <a:pt x="95250" y="47625"/>
                    <a:pt x="142875" y="1905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Integrated semilunar colon fold 03"/>
            <p:cNvSpPr/>
            <p:nvPr/>
          </p:nvSpPr>
          <p:spPr>
            <a:xfrm>
              <a:off x="121500" y="453600"/>
              <a:ext cx="72900" cy="20250"/>
            </a:xfrm>
            <a:custGeom>
              <a:avLst/>
              <a:gdLst/>
              <a:ahLst/>
              <a:cxnLst/>
              <a:rect l="0" t="0" r="r" b="b"/>
              <a:pathLst>
                <a:path w="171450" h="47625">
                  <a:moveTo>
                    <a:pt x="0" y="0"/>
                  </a:moveTo>
                  <a:cubicBezTo>
                    <a:pt x="47625" y="47625"/>
                    <a:pt x="114300" y="47625"/>
                    <a:pt x="171450" y="1905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Fine semilunar fold reflected rim 03"/>
            <p:cNvSpPr/>
            <p:nvPr/>
          </p:nvSpPr>
          <p:spPr>
            <a:xfrm>
              <a:off x="119272" y="451980"/>
              <a:ext cx="72900" cy="20250"/>
            </a:xfrm>
            <a:custGeom>
              <a:avLst/>
              <a:gdLst/>
              <a:ahLst/>
              <a:cxnLst/>
              <a:rect l="0" t="0" r="r" b="b"/>
              <a:pathLst>
                <a:path w="171450" h="47625">
                  <a:moveTo>
                    <a:pt x="0" y="0"/>
                  </a:moveTo>
                  <a:cubicBezTo>
                    <a:pt x="47625" y="47625"/>
                    <a:pt x="114300" y="47625"/>
                    <a:pt x="171450" y="1905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Integrated semilunar colon fold 04"/>
            <p:cNvSpPr/>
            <p:nvPr/>
          </p:nvSpPr>
          <p:spPr>
            <a:xfrm>
              <a:off x="113400" y="526500"/>
              <a:ext cx="85050" cy="24300"/>
            </a:xfrm>
            <a:custGeom>
              <a:avLst/>
              <a:gdLst/>
              <a:ahLst/>
              <a:cxnLst/>
              <a:rect l="0" t="0" r="r" b="b"/>
              <a:pathLst>
                <a:path w="200025" h="57150">
                  <a:moveTo>
                    <a:pt x="0" y="0"/>
                  </a:moveTo>
                  <a:cubicBezTo>
                    <a:pt x="47625" y="47625"/>
                    <a:pt x="133350" y="57150"/>
                    <a:pt x="200025" y="28575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Fine semilunar fold reflected rim 04"/>
            <p:cNvSpPr/>
            <p:nvPr/>
          </p:nvSpPr>
          <p:spPr>
            <a:xfrm>
              <a:off x="111172" y="524880"/>
              <a:ext cx="85050" cy="24300"/>
            </a:xfrm>
            <a:custGeom>
              <a:avLst/>
              <a:gdLst/>
              <a:ahLst/>
              <a:cxnLst/>
              <a:rect l="0" t="0" r="r" b="b"/>
              <a:pathLst>
                <a:path w="200025" h="57150">
                  <a:moveTo>
                    <a:pt x="0" y="0"/>
                  </a:moveTo>
                  <a:cubicBezTo>
                    <a:pt x="47625" y="47625"/>
                    <a:pt x="133350" y="57150"/>
                    <a:pt x="200025" y="28575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Integrated semilunar colon fold 05"/>
            <p:cNvSpPr/>
            <p:nvPr/>
          </p:nvSpPr>
          <p:spPr>
            <a:xfrm>
              <a:off x="105300" y="599400"/>
              <a:ext cx="93150" cy="24300"/>
            </a:xfrm>
            <a:custGeom>
              <a:avLst/>
              <a:gdLst/>
              <a:ahLst/>
              <a:cxnLst/>
              <a:rect l="0" t="0" r="r" b="b"/>
              <a:pathLst>
                <a:path w="219075" h="57150">
                  <a:moveTo>
                    <a:pt x="0" y="0"/>
                  </a:moveTo>
                  <a:cubicBezTo>
                    <a:pt x="57150" y="38100"/>
                    <a:pt x="133350" y="57150"/>
                    <a:pt x="219075" y="28575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Fine semilunar fold reflected rim 05"/>
            <p:cNvSpPr/>
            <p:nvPr/>
          </p:nvSpPr>
          <p:spPr>
            <a:xfrm>
              <a:off x="103072" y="597780"/>
              <a:ext cx="93150" cy="24300"/>
            </a:xfrm>
            <a:custGeom>
              <a:avLst/>
              <a:gdLst/>
              <a:ahLst/>
              <a:cxnLst/>
              <a:rect l="0" t="0" r="r" b="b"/>
              <a:pathLst>
                <a:path w="219075" h="57150">
                  <a:moveTo>
                    <a:pt x="0" y="0"/>
                  </a:moveTo>
                  <a:cubicBezTo>
                    <a:pt x="57150" y="38100"/>
                    <a:pt x="133350" y="57150"/>
                    <a:pt x="219075" y="28575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Integrated semilunar colon fold 06"/>
            <p:cNvSpPr/>
            <p:nvPr/>
          </p:nvSpPr>
          <p:spPr>
            <a:xfrm>
              <a:off x="105300" y="664200"/>
              <a:ext cx="101250" cy="28350"/>
            </a:xfrm>
            <a:custGeom>
              <a:avLst/>
              <a:gdLst/>
              <a:ahLst/>
              <a:cxnLst/>
              <a:rect l="0" t="0" r="r" b="b"/>
              <a:pathLst>
                <a:path w="238125" h="66675">
                  <a:moveTo>
                    <a:pt x="0" y="0"/>
                  </a:moveTo>
                  <a:cubicBezTo>
                    <a:pt x="76200" y="47625"/>
                    <a:pt x="161925" y="66675"/>
                    <a:pt x="238125" y="28575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Fine semilunar fold reflected rim 06"/>
            <p:cNvSpPr/>
            <p:nvPr/>
          </p:nvSpPr>
          <p:spPr>
            <a:xfrm>
              <a:off x="103072" y="662580"/>
              <a:ext cx="101250" cy="28350"/>
            </a:xfrm>
            <a:custGeom>
              <a:avLst/>
              <a:gdLst/>
              <a:ahLst/>
              <a:cxnLst/>
              <a:rect l="0" t="0" r="r" b="b"/>
              <a:pathLst>
                <a:path w="238125" h="66675">
                  <a:moveTo>
                    <a:pt x="0" y="0"/>
                  </a:moveTo>
                  <a:cubicBezTo>
                    <a:pt x="76200" y="47625"/>
                    <a:pt x="161925" y="66675"/>
                    <a:pt x="238125" y="28575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Integrated semilunar colon fold 07"/>
            <p:cNvSpPr/>
            <p:nvPr/>
          </p:nvSpPr>
          <p:spPr>
            <a:xfrm>
              <a:off x="275400" y="178200"/>
              <a:ext cx="20250" cy="68850"/>
            </a:xfrm>
            <a:custGeom>
              <a:avLst/>
              <a:gdLst/>
              <a:ahLst/>
              <a:cxnLst/>
              <a:rect l="0" t="0" r="r" b="b"/>
              <a:pathLst>
                <a:path w="47625" h="161925">
                  <a:moveTo>
                    <a:pt x="19050" y="0"/>
                  </a:moveTo>
                  <a:cubicBezTo>
                    <a:pt x="0" y="57150"/>
                    <a:pt x="9525" y="114300"/>
                    <a:pt x="47625" y="161925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Fine semilunar fold reflected rim 07"/>
            <p:cNvSpPr/>
            <p:nvPr/>
          </p:nvSpPr>
          <p:spPr>
            <a:xfrm>
              <a:off x="273172" y="176580"/>
              <a:ext cx="20250" cy="68850"/>
            </a:xfrm>
            <a:custGeom>
              <a:avLst/>
              <a:gdLst/>
              <a:ahLst/>
              <a:cxnLst/>
              <a:rect l="0" t="0" r="r" b="b"/>
              <a:pathLst>
                <a:path w="47625" h="161925">
                  <a:moveTo>
                    <a:pt x="19050" y="0"/>
                  </a:moveTo>
                  <a:cubicBezTo>
                    <a:pt x="0" y="57150"/>
                    <a:pt x="9525" y="114300"/>
                    <a:pt x="47625" y="161925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Integrated semilunar colon fold 08"/>
            <p:cNvSpPr/>
            <p:nvPr/>
          </p:nvSpPr>
          <p:spPr>
            <a:xfrm>
              <a:off x="328050" y="214650"/>
              <a:ext cx="28350" cy="64800"/>
            </a:xfrm>
            <a:custGeom>
              <a:avLst/>
              <a:gdLst/>
              <a:ahLst/>
              <a:cxnLst/>
              <a:rect l="0" t="0" r="r" b="b"/>
              <a:pathLst>
                <a:path w="66675" h="152400">
                  <a:moveTo>
                    <a:pt x="9525" y="0"/>
                  </a:moveTo>
                  <a:cubicBezTo>
                    <a:pt x="0" y="66675"/>
                    <a:pt x="28575" y="114300"/>
                    <a:pt x="66675" y="15240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Fine semilunar fold reflected rim 08"/>
            <p:cNvSpPr/>
            <p:nvPr/>
          </p:nvSpPr>
          <p:spPr>
            <a:xfrm>
              <a:off x="325822" y="213030"/>
              <a:ext cx="28350" cy="64800"/>
            </a:xfrm>
            <a:custGeom>
              <a:avLst/>
              <a:gdLst/>
              <a:ahLst/>
              <a:cxnLst/>
              <a:rect l="0" t="0" r="r" b="b"/>
              <a:pathLst>
                <a:path w="66675" h="152400">
                  <a:moveTo>
                    <a:pt x="9525" y="0"/>
                  </a:moveTo>
                  <a:cubicBezTo>
                    <a:pt x="0" y="66675"/>
                    <a:pt x="28575" y="114300"/>
                    <a:pt x="66675" y="15240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Integrated semilunar colon fold 09"/>
            <p:cNvSpPr/>
            <p:nvPr/>
          </p:nvSpPr>
          <p:spPr>
            <a:xfrm>
              <a:off x="396900" y="238950"/>
              <a:ext cx="24300" cy="64800"/>
            </a:xfrm>
            <a:custGeom>
              <a:avLst/>
              <a:gdLst/>
              <a:ahLst/>
              <a:cxnLst/>
              <a:rect l="0" t="0" r="r" b="b"/>
              <a:pathLst>
                <a:path w="57150" h="152400">
                  <a:moveTo>
                    <a:pt x="19050" y="0"/>
                  </a:moveTo>
                  <a:cubicBezTo>
                    <a:pt x="0" y="66675"/>
                    <a:pt x="19050" y="123825"/>
                    <a:pt x="57150" y="15240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Fine semilunar fold reflected rim 09"/>
            <p:cNvSpPr/>
            <p:nvPr/>
          </p:nvSpPr>
          <p:spPr>
            <a:xfrm>
              <a:off x="394672" y="237330"/>
              <a:ext cx="24300" cy="64800"/>
            </a:xfrm>
            <a:custGeom>
              <a:avLst/>
              <a:gdLst/>
              <a:ahLst/>
              <a:cxnLst/>
              <a:rect l="0" t="0" r="r" b="b"/>
              <a:pathLst>
                <a:path w="57150" h="152400">
                  <a:moveTo>
                    <a:pt x="19050" y="0"/>
                  </a:moveTo>
                  <a:cubicBezTo>
                    <a:pt x="0" y="66675"/>
                    <a:pt x="19050" y="123825"/>
                    <a:pt x="57150" y="15240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Integrated semilunar colon fold 10"/>
            <p:cNvSpPr/>
            <p:nvPr/>
          </p:nvSpPr>
          <p:spPr>
            <a:xfrm>
              <a:off x="477900" y="247050"/>
              <a:ext cx="16200" cy="60750"/>
            </a:xfrm>
            <a:custGeom>
              <a:avLst/>
              <a:gdLst/>
              <a:ahLst/>
              <a:cxnLst/>
              <a:rect l="0" t="0" r="r" b="b"/>
              <a:pathLst>
                <a:path w="38100" h="142875">
                  <a:moveTo>
                    <a:pt x="9525" y="0"/>
                  </a:moveTo>
                  <a:cubicBezTo>
                    <a:pt x="0" y="66675"/>
                    <a:pt x="0" y="114300"/>
                    <a:pt x="38100" y="142875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Fine semilunar fold reflected rim 10"/>
            <p:cNvSpPr/>
            <p:nvPr/>
          </p:nvSpPr>
          <p:spPr>
            <a:xfrm>
              <a:off x="475672" y="245430"/>
              <a:ext cx="16200" cy="60750"/>
            </a:xfrm>
            <a:custGeom>
              <a:avLst/>
              <a:gdLst/>
              <a:ahLst/>
              <a:cxnLst/>
              <a:rect l="0" t="0" r="r" b="b"/>
              <a:pathLst>
                <a:path w="38100" h="142875">
                  <a:moveTo>
                    <a:pt x="9525" y="0"/>
                  </a:moveTo>
                  <a:cubicBezTo>
                    <a:pt x="0" y="66675"/>
                    <a:pt x="0" y="114300"/>
                    <a:pt x="38100" y="142875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Integrated semilunar colon fold 11"/>
            <p:cNvSpPr/>
            <p:nvPr/>
          </p:nvSpPr>
          <p:spPr>
            <a:xfrm>
              <a:off x="558900" y="230850"/>
              <a:ext cx="16200" cy="56700"/>
            </a:xfrm>
            <a:custGeom>
              <a:avLst/>
              <a:gdLst/>
              <a:ahLst/>
              <a:cxnLst/>
              <a:rect l="0" t="0" r="r" b="b"/>
              <a:pathLst>
                <a:path w="38100" h="133350">
                  <a:moveTo>
                    <a:pt x="19050" y="0"/>
                  </a:moveTo>
                  <a:cubicBezTo>
                    <a:pt x="0" y="57150"/>
                    <a:pt x="0" y="104775"/>
                    <a:pt x="38100" y="13335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Fine semilunar fold reflected rim 11"/>
            <p:cNvSpPr/>
            <p:nvPr/>
          </p:nvSpPr>
          <p:spPr>
            <a:xfrm>
              <a:off x="556672" y="229230"/>
              <a:ext cx="16200" cy="56700"/>
            </a:xfrm>
            <a:custGeom>
              <a:avLst/>
              <a:gdLst/>
              <a:ahLst/>
              <a:cxnLst/>
              <a:rect l="0" t="0" r="r" b="b"/>
              <a:pathLst>
                <a:path w="38100" h="133350">
                  <a:moveTo>
                    <a:pt x="19050" y="0"/>
                  </a:moveTo>
                  <a:cubicBezTo>
                    <a:pt x="0" y="57150"/>
                    <a:pt x="0" y="104775"/>
                    <a:pt x="38100" y="13335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Integrated semilunar colon fold 12"/>
            <p:cNvSpPr/>
            <p:nvPr/>
          </p:nvSpPr>
          <p:spPr>
            <a:xfrm>
              <a:off x="623700" y="190350"/>
              <a:ext cx="24300" cy="56700"/>
            </a:xfrm>
            <a:custGeom>
              <a:avLst/>
              <a:gdLst/>
              <a:ahLst/>
              <a:cxnLst/>
              <a:rect l="0" t="0" r="r" b="b"/>
              <a:pathLst>
                <a:path w="57150" h="133350">
                  <a:moveTo>
                    <a:pt x="9525" y="0"/>
                  </a:moveTo>
                  <a:cubicBezTo>
                    <a:pt x="0" y="66675"/>
                    <a:pt x="19050" y="104775"/>
                    <a:pt x="57150" y="13335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ine semilunar fold reflected rim 12"/>
            <p:cNvSpPr/>
            <p:nvPr/>
          </p:nvSpPr>
          <p:spPr>
            <a:xfrm>
              <a:off x="621472" y="188730"/>
              <a:ext cx="24300" cy="56700"/>
            </a:xfrm>
            <a:custGeom>
              <a:avLst/>
              <a:gdLst/>
              <a:ahLst/>
              <a:cxnLst/>
              <a:rect l="0" t="0" r="r" b="b"/>
              <a:pathLst>
                <a:path w="57150" h="133350">
                  <a:moveTo>
                    <a:pt x="9525" y="0"/>
                  </a:moveTo>
                  <a:cubicBezTo>
                    <a:pt x="0" y="66675"/>
                    <a:pt x="19050" y="104775"/>
                    <a:pt x="57150" y="13335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Integrated semilunar colon fold 13"/>
            <p:cNvSpPr/>
            <p:nvPr/>
          </p:nvSpPr>
          <p:spPr>
            <a:xfrm>
              <a:off x="688500" y="129600"/>
              <a:ext cx="36450" cy="60750"/>
            </a:xfrm>
            <a:custGeom>
              <a:avLst/>
              <a:gdLst/>
              <a:ahLst/>
              <a:cxnLst/>
              <a:rect l="0" t="0" r="r" b="b"/>
              <a:pathLst>
                <a:path w="85725" h="142875">
                  <a:moveTo>
                    <a:pt x="0" y="0"/>
                  </a:moveTo>
                  <a:cubicBezTo>
                    <a:pt x="9525" y="76200"/>
                    <a:pt x="38100" y="114300"/>
                    <a:pt x="85725" y="142875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Fine semilunar fold reflected rim 13"/>
            <p:cNvSpPr/>
            <p:nvPr/>
          </p:nvSpPr>
          <p:spPr>
            <a:xfrm>
              <a:off x="686272" y="127980"/>
              <a:ext cx="36450" cy="60750"/>
            </a:xfrm>
            <a:custGeom>
              <a:avLst/>
              <a:gdLst/>
              <a:ahLst/>
              <a:cxnLst/>
              <a:rect l="0" t="0" r="r" b="b"/>
              <a:pathLst>
                <a:path w="85725" h="142875">
                  <a:moveTo>
                    <a:pt x="0" y="0"/>
                  </a:moveTo>
                  <a:cubicBezTo>
                    <a:pt x="9525" y="76200"/>
                    <a:pt x="38100" y="114300"/>
                    <a:pt x="85725" y="142875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Integrated semilunar colon fold 14"/>
            <p:cNvSpPr/>
            <p:nvPr/>
          </p:nvSpPr>
          <p:spPr>
            <a:xfrm>
              <a:off x="708750" y="230850"/>
              <a:ext cx="64800" cy="16200"/>
            </a:xfrm>
            <a:custGeom>
              <a:avLst/>
              <a:gdLst/>
              <a:ahLst/>
              <a:cxnLst/>
              <a:rect l="0" t="0" r="r" b="b"/>
              <a:pathLst>
                <a:path w="152400" h="38100">
                  <a:moveTo>
                    <a:pt x="152400" y="0"/>
                  </a:moveTo>
                  <a:cubicBezTo>
                    <a:pt x="104775" y="38100"/>
                    <a:pt x="47625" y="38100"/>
                    <a:pt x="0" y="9525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Fine semilunar fold reflected rim 14"/>
            <p:cNvSpPr/>
            <p:nvPr/>
          </p:nvSpPr>
          <p:spPr>
            <a:xfrm>
              <a:off x="706522" y="229230"/>
              <a:ext cx="64800" cy="16200"/>
            </a:xfrm>
            <a:custGeom>
              <a:avLst/>
              <a:gdLst/>
              <a:ahLst/>
              <a:cxnLst/>
              <a:rect l="0" t="0" r="r" b="b"/>
              <a:pathLst>
                <a:path w="152400" h="38100">
                  <a:moveTo>
                    <a:pt x="152400" y="0"/>
                  </a:moveTo>
                  <a:cubicBezTo>
                    <a:pt x="104775" y="38100"/>
                    <a:pt x="47625" y="38100"/>
                    <a:pt x="0" y="9525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Integrated semilunar colon fold 15"/>
            <p:cNvSpPr/>
            <p:nvPr/>
          </p:nvSpPr>
          <p:spPr>
            <a:xfrm>
              <a:off x="708750" y="307800"/>
              <a:ext cx="64800" cy="20250"/>
            </a:xfrm>
            <a:custGeom>
              <a:avLst/>
              <a:gdLst/>
              <a:ahLst/>
              <a:cxnLst/>
              <a:rect l="0" t="0" r="r" b="b"/>
              <a:pathLst>
                <a:path w="152400" h="47625">
                  <a:moveTo>
                    <a:pt x="152400" y="0"/>
                  </a:moveTo>
                  <a:cubicBezTo>
                    <a:pt x="114300" y="38100"/>
                    <a:pt x="47625" y="47625"/>
                    <a:pt x="0" y="9525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Fine semilunar fold reflected rim 15"/>
            <p:cNvSpPr/>
            <p:nvPr/>
          </p:nvSpPr>
          <p:spPr>
            <a:xfrm>
              <a:off x="706522" y="306180"/>
              <a:ext cx="64800" cy="20250"/>
            </a:xfrm>
            <a:custGeom>
              <a:avLst/>
              <a:gdLst/>
              <a:ahLst/>
              <a:cxnLst/>
              <a:rect l="0" t="0" r="r" b="b"/>
              <a:pathLst>
                <a:path w="152400" h="47625">
                  <a:moveTo>
                    <a:pt x="152400" y="0"/>
                  </a:moveTo>
                  <a:cubicBezTo>
                    <a:pt x="114300" y="38100"/>
                    <a:pt x="47625" y="47625"/>
                    <a:pt x="0" y="9525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Integrated semilunar colon fold 16"/>
            <p:cNvSpPr/>
            <p:nvPr/>
          </p:nvSpPr>
          <p:spPr>
            <a:xfrm>
              <a:off x="708750" y="384750"/>
              <a:ext cx="64800" cy="20250"/>
            </a:xfrm>
            <a:custGeom>
              <a:avLst/>
              <a:gdLst/>
              <a:ahLst/>
              <a:cxnLst/>
              <a:rect l="0" t="0" r="r" b="b"/>
              <a:pathLst>
                <a:path w="152400" h="47625">
                  <a:moveTo>
                    <a:pt x="152400" y="0"/>
                  </a:moveTo>
                  <a:cubicBezTo>
                    <a:pt x="104775" y="38100"/>
                    <a:pt x="57150" y="47625"/>
                    <a:pt x="0" y="1905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Fine semilunar fold reflected rim 16"/>
            <p:cNvSpPr/>
            <p:nvPr/>
          </p:nvSpPr>
          <p:spPr>
            <a:xfrm>
              <a:off x="706522" y="383130"/>
              <a:ext cx="64800" cy="20250"/>
            </a:xfrm>
            <a:custGeom>
              <a:avLst/>
              <a:gdLst/>
              <a:ahLst/>
              <a:cxnLst/>
              <a:rect l="0" t="0" r="r" b="b"/>
              <a:pathLst>
                <a:path w="152400" h="47625">
                  <a:moveTo>
                    <a:pt x="152400" y="0"/>
                  </a:moveTo>
                  <a:cubicBezTo>
                    <a:pt x="104775" y="38100"/>
                    <a:pt x="57150" y="47625"/>
                    <a:pt x="0" y="1905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Integrated semilunar colon fold 17"/>
            <p:cNvSpPr/>
            <p:nvPr/>
          </p:nvSpPr>
          <p:spPr>
            <a:xfrm>
              <a:off x="700650" y="465750"/>
              <a:ext cx="60750" cy="16200"/>
            </a:xfrm>
            <a:custGeom>
              <a:avLst/>
              <a:gdLst/>
              <a:ahLst/>
              <a:cxnLst/>
              <a:rect l="0" t="0" r="r" b="b"/>
              <a:pathLst>
                <a:path w="142875" h="38100">
                  <a:moveTo>
                    <a:pt x="142875" y="0"/>
                  </a:moveTo>
                  <a:cubicBezTo>
                    <a:pt x="95250" y="38100"/>
                    <a:pt x="47625" y="38100"/>
                    <a:pt x="0" y="9525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Fine semilunar fold reflected rim 17"/>
            <p:cNvSpPr/>
            <p:nvPr/>
          </p:nvSpPr>
          <p:spPr>
            <a:xfrm>
              <a:off x="698422" y="464130"/>
              <a:ext cx="60750" cy="16200"/>
            </a:xfrm>
            <a:custGeom>
              <a:avLst/>
              <a:gdLst/>
              <a:ahLst/>
              <a:cxnLst/>
              <a:rect l="0" t="0" r="r" b="b"/>
              <a:pathLst>
                <a:path w="142875" h="38100">
                  <a:moveTo>
                    <a:pt x="142875" y="0"/>
                  </a:moveTo>
                  <a:cubicBezTo>
                    <a:pt x="95250" y="38100"/>
                    <a:pt x="47625" y="38100"/>
                    <a:pt x="0" y="9525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Integrated semilunar colon fold 18"/>
            <p:cNvSpPr/>
            <p:nvPr/>
          </p:nvSpPr>
          <p:spPr>
            <a:xfrm>
              <a:off x="688500" y="538650"/>
              <a:ext cx="60750" cy="16200"/>
            </a:xfrm>
            <a:custGeom>
              <a:avLst/>
              <a:gdLst/>
              <a:ahLst/>
              <a:cxnLst/>
              <a:rect l="0" t="0" r="r" b="b"/>
              <a:pathLst>
                <a:path w="142875" h="38100">
                  <a:moveTo>
                    <a:pt x="142875" y="0"/>
                  </a:moveTo>
                  <a:cubicBezTo>
                    <a:pt x="95250" y="38100"/>
                    <a:pt x="47625" y="38100"/>
                    <a:pt x="0" y="1905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Fine semilunar fold reflected rim 18"/>
            <p:cNvSpPr/>
            <p:nvPr/>
          </p:nvSpPr>
          <p:spPr>
            <a:xfrm>
              <a:off x="686272" y="537030"/>
              <a:ext cx="60750" cy="16200"/>
            </a:xfrm>
            <a:custGeom>
              <a:avLst/>
              <a:gdLst/>
              <a:ahLst/>
              <a:cxnLst/>
              <a:rect l="0" t="0" r="r" b="b"/>
              <a:pathLst>
                <a:path w="142875" h="38100">
                  <a:moveTo>
                    <a:pt x="142875" y="0"/>
                  </a:moveTo>
                  <a:cubicBezTo>
                    <a:pt x="95250" y="38100"/>
                    <a:pt x="47625" y="38100"/>
                    <a:pt x="0" y="1905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Integrated semilunar colon fold 19"/>
            <p:cNvSpPr/>
            <p:nvPr/>
          </p:nvSpPr>
          <p:spPr>
            <a:xfrm>
              <a:off x="668250" y="607500"/>
              <a:ext cx="56700" cy="16200"/>
            </a:xfrm>
            <a:custGeom>
              <a:avLst/>
              <a:gdLst/>
              <a:ahLst/>
              <a:cxnLst/>
              <a:rect l="0" t="0" r="r" b="b"/>
              <a:pathLst>
                <a:path w="133350" h="38100">
                  <a:moveTo>
                    <a:pt x="133350" y="19050"/>
                  </a:moveTo>
                  <a:cubicBezTo>
                    <a:pt x="76200" y="38100"/>
                    <a:pt x="38100" y="28575"/>
                    <a:pt x="0" y="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Fine semilunar fold reflected rim 19"/>
            <p:cNvSpPr/>
            <p:nvPr/>
          </p:nvSpPr>
          <p:spPr>
            <a:xfrm>
              <a:off x="666022" y="605880"/>
              <a:ext cx="56700" cy="16200"/>
            </a:xfrm>
            <a:custGeom>
              <a:avLst/>
              <a:gdLst/>
              <a:ahLst/>
              <a:cxnLst/>
              <a:rect l="0" t="0" r="r" b="b"/>
              <a:pathLst>
                <a:path w="133350" h="38100">
                  <a:moveTo>
                    <a:pt x="133350" y="19050"/>
                  </a:moveTo>
                  <a:cubicBezTo>
                    <a:pt x="76200" y="38100"/>
                    <a:pt x="38100" y="28575"/>
                    <a:pt x="0" y="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Integrated semilunar colon fold 20"/>
            <p:cNvSpPr/>
            <p:nvPr/>
          </p:nvSpPr>
          <p:spPr>
            <a:xfrm>
              <a:off x="639900" y="656100"/>
              <a:ext cx="44550" cy="28350"/>
            </a:xfrm>
            <a:custGeom>
              <a:avLst/>
              <a:gdLst/>
              <a:ahLst/>
              <a:cxnLst/>
              <a:rect l="0" t="0" r="r" b="b"/>
              <a:pathLst>
                <a:path w="104775" h="66675">
                  <a:moveTo>
                    <a:pt x="104775" y="66675"/>
                  </a:moveTo>
                  <a:cubicBezTo>
                    <a:pt x="57150" y="66675"/>
                    <a:pt x="19050" y="28575"/>
                    <a:pt x="0" y="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Fine semilunar fold reflected rim 20"/>
            <p:cNvSpPr/>
            <p:nvPr/>
          </p:nvSpPr>
          <p:spPr>
            <a:xfrm>
              <a:off x="637672" y="654480"/>
              <a:ext cx="44550" cy="28350"/>
            </a:xfrm>
            <a:custGeom>
              <a:avLst/>
              <a:gdLst/>
              <a:ahLst/>
              <a:cxnLst/>
              <a:rect l="0" t="0" r="r" b="b"/>
              <a:pathLst>
                <a:path w="104775" h="66675">
                  <a:moveTo>
                    <a:pt x="104775" y="66675"/>
                  </a:moveTo>
                  <a:cubicBezTo>
                    <a:pt x="57150" y="66675"/>
                    <a:pt x="19050" y="28575"/>
                    <a:pt x="0" y="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Integrated semilunar colon fold 21"/>
            <p:cNvSpPr/>
            <p:nvPr/>
          </p:nvSpPr>
          <p:spPr>
            <a:xfrm>
              <a:off x="583200" y="684450"/>
              <a:ext cx="32400" cy="44550"/>
            </a:xfrm>
            <a:custGeom>
              <a:avLst/>
              <a:gdLst/>
              <a:ahLst/>
              <a:cxnLst/>
              <a:rect l="0" t="0" r="r" b="b"/>
              <a:pathLst>
                <a:path w="76200" h="104775">
                  <a:moveTo>
                    <a:pt x="76200" y="104775"/>
                  </a:moveTo>
                  <a:cubicBezTo>
                    <a:pt x="28575" y="76200"/>
                    <a:pt x="9525" y="38100"/>
                    <a:pt x="0" y="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Fine semilunar fold reflected rim 21"/>
            <p:cNvSpPr/>
            <p:nvPr/>
          </p:nvSpPr>
          <p:spPr>
            <a:xfrm>
              <a:off x="580972" y="682830"/>
              <a:ext cx="32400" cy="44550"/>
            </a:xfrm>
            <a:custGeom>
              <a:avLst/>
              <a:gdLst/>
              <a:ahLst/>
              <a:cxnLst/>
              <a:rect l="0" t="0" r="r" b="b"/>
              <a:pathLst>
                <a:path w="76200" h="104775">
                  <a:moveTo>
                    <a:pt x="76200" y="104775"/>
                  </a:moveTo>
                  <a:cubicBezTo>
                    <a:pt x="28575" y="76200"/>
                    <a:pt x="9525" y="38100"/>
                    <a:pt x="0" y="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Integrated semilunar colon fold 22"/>
            <p:cNvSpPr/>
            <p:nvPr/>
          </p:nvSpPr>
          <p:spPr>
            <a:xfrm>
              <a:off x="502200" y="708750"/>
              <a:ext cx="36450" cy="56700"/>
            </a:xfrm>
            <a:custGeom>
              <a:avLst/>
              <a:gdLst/>
              <a:ahLst/>
              <a:cxnLst/>
              <a:rect l="0" t="0" r="r" b="b"/>
              <a:pathLst>
                <a:path w="85725" h="133350">
                  <a:moveTo>
                    <a:pt x="85725" y="133350"/>
                  </a:moveTo>
                  <a:cubicBezTo>
                    <a:pt x="28575" y="95250"/>
                    <a:pt x="0" y="47625"/>
                    <a:pt x="0" y="0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Fine semilunar fold reflected rim 22"/>
            <p:cNvSpPr/>
            <p:nvPr/>
          </p:nvSpPr>
          <p:spPr>
            <a:xfrm>
              <a:off x="499972" y="707130"/>
              <a:ext cx="36450" cy="56700"/>
            </a:xfrm>
            <a:custGeom>
              <a:avLst/>
              <a:gdLst/>
              <a:ahLst/>
              <a:cxnLst/>
              <a:rect l="0" t="0" r="r" b="b"/>
              <a:pathLst>
                <a:path w="85725" h="133350">
                  <a:moveTo>
                    <a:pt x="85725" y="133350"/>
                  </a:moveTo>
                  <a:cubicBezTo>
                    <a:pt x="28575" y="95250"/>
                    <a:pt x="0" y="47625"/>
                    <a:pt x="0" y="0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Integrated semilunar colon fold 23"/>
            <p:cNvSpPr/>
            <p:nvPr/>
          </p:nvSpPr>
          <p:spPr>
            <a:xfrm>
              <a:off x="405000" y="729000"/>
              <a:ext cx="44550" cy="52650"/>
            </a:xfrm>
            <a:custGeom>
              <a:avLst/>
              <a:gdLst/>
              <a:ahLst/>
              <a:cxnLst/>
              <a:rect l="0" t="0" r="r" b="b"/>
              <a:pathLst>
                <a:path w="104775" h="123825">
                  <a:moveTo>
                    <a:pt x="0" y="0"/>
                  </a:moveTo>
                  <a:cubicBezTo>
                    <a:pt x="57150" y="38100"/>
                    <a:pt x="95250" y="76200"/>
                    <a:pt x="104775" y="123825"/>
                  </a:cubicBezTo>
                </a:path>
              </a:pathLst>
            </a:custGeom>
            <a:noFill/>
            <a:ln w="2673" cap="rnd">
              <a:solidFill>
                <a:srgbClr val="BB8371">
                  <a:alpha val="6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Fine semilunar fold reflected rim 23"/>
            <p:cNvSpPr/>
            <p:nvPr/>
          </p:nvSpPr>
          <p:spPr>
            <a:xfrm>
              <a:off x="402772" y="727380"/>
              <a:ext cx="44550" cy="52650"/>
            </a:xfrm>
            <a:custGeom>
              <a:avLst/>
              <a:gdLst/>
              <a:ahLst/>
              <a:cxnLst/>
              <a:rect l="0" t="0" r="r" b="b"/>
              <a:pathLst>
                <a:path w="104775" h="123825">
                  <a:moveTo>
                    <a:pt x="0" y="0"/>
                  </a:moveTo>
                  <a:cubicBezTo>
                    <a:pt x="57150" y="38100"/>
                    <a:pt x="95250" y="76200"/>
                    <a:pt x="104775" y="123825"/>
                  </a:cubicBezTo>
                </a:path>
              </a:pathLst>
            </a:custGeom>
            <a:noFill/>
            <a:ln w="1905" cap="rnd">
              <a:solidFill>
                <a:srgbClr val="FFE8D3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Subtle continuous taenia coli"/>
            <p:cNvSpPr/>
            <p:nvPr/>
          </p:nvSpPr>
          <p:spPr>
            <a:xfrm>
              <a:off x="170100" y="149850"/>
              <a:ext cx="562950" cy="611550"/>
            </a:xfrm>
            <a:custGeom>
              <a:avLst/>
              <a:gdLst/>
              <a:ahLst/>
              <a:cxnLst/>
              <a:rect l="0" t="0" r="r" b="b"/>
              <a:pathLst>
                <a:path w="1323975" h="1438275">
                  <a:moveTo>
                    <a:pt x="19050" y="1276350"/>
                  </a:moveTo>
                  <a:cubicBezTo>
                    <a:pt x="0" y="1028700"/>
                    <a:pt x="9525" y="790575"/>
                    <a:pt x="19050" y="561975"/>
                  </a:cubicBezTo>
                  <a:cubicBezTo>
                    <a:pt x="38100" y="352425"/>
                    <a:pt x="19050" y="152400"/>
                    <a:pt x="114300" y="114300"/>
                  </a:cubicBezTo>
                  <a:cubicBezTo>
                    <a:pt x="219075" y="133350"/>
                    <a:pt x="371475" y="276225"/>
                    <a:pt x="542925" y="304800"/>
                  </a:cubicBezTo>
                  <a:cubicBezTo>
                    <a:pt x="762000" y="361950"/>
                    <a:pt x="952500" y="285750"/>
                    <a:pt x="1095375" y="142875"/>
                  </a:cubicBezTo>
                  <a:cubicBezTo>
                    <a:pt x="1209675" y="19050"/>
                    <a:pt x="1295400" y="0"/>
                    <a:pt x="1314450" y="123825"/>
                  </a:cubicBezTo>
                  <a:cubicBezTo>
                    <a:pt x="1323975" y="381000"/>
                    <a:pt x="1304925" y="676275"/>
                    <a:pt x="1266825" y="904875"/>
                  </a:cubicBezTo>
                  <a:cubicBezTo>
                    <a:pt x="1228725" y="1114425"/>
                    <a:pt x="1114425" y="1238250"/>
                    <a:pt x="933450" y="1304925"/>
                  </a:cubicBezTo>
                  <a:cubicBezTo>
                    <a:pt x="771525" y="1352550"/>
                    <a:pt x="676275" y="1352550"/>
                    <a:pt x="657225" y="1438275"/>
                  </a:cubicBezTo>
                </a:path>
              </a:pathLst>
            </a:custGeom>
            <a:noFill/>
            <a:ln w="2632" cap="rnd">
              <a:solidFill>
                <a:srgbClr val="B98572">
                  <a:alpha val="55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l longitudinal tissue fold"/>
            <p:cNvSpPr/>
            <p:nvPr/>
          </p:nvSpPr>
          <p:spPr>
            <a:xfrm>
              <a:off x="465750" y="870750"/>
              <a:ext cx="12150" cy="113400"/>
            </a:xfrm>
            <a:custGeom>
              <a:avLst/>
              <a:gdLst/>
              <a:ahLst/>
              <a:cxnLst/>
              <a:rect l="0" t="0" r="r" b="b"/>
              <a:pathLst>
                <a:path w="28575" h="266700">
                  <a:moveTo>
                    <a:pt x="9525" y="0"/>
                  </a:moveTo>
                  <a:cubicBezTo>
                    <a:pt x="28575" y="85725"/>
                    <a:pt x="0" y="180975"/>
                    <a:pt x="19050" y="266700"/>
                  </a:cubicBezTo>
                </a:path>
              </a:pathLst>
            </a:custGeom>
            <a:noFill/>
            <a:ln w="2632" cap="rnd">
              <a:solidFill>
                <a:srgbClr val="BD8A74">
                  <a:alpha val="45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" name="intestinal_schematic"/>
          <p:cNvSpPr txBox="1"/>
          <p:nvPr/>
        </p:nvSpPr>
        <p:spPr>
          <a:xfrm>
            <a:off x="125550" y="1510650"/>
            <a:ext cx="850500" cy="12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Intestine (schematic)</a:t>
            </a:r>
          </a:p>
        </p:txBody>
      </p:sp>
      <p:grpSp>
        <p:nvGrpSpPr>
          <p:cNvPr id="91" name="Editable colonic-lumen cutaway, organic longitudinal wall and microbiota"/>
          <p:cNvGrpSpPr/>
          <p:nvPr/>
        </p:nvGrpSpPr>
        <p:grpSpPr>
          <a:xfrm>
            <a:off x="1101600" y="684450"/>
            <a:ext cx="704700" cy="481950"/>
            <a:chOff x="20250" y="16200"/>
            <a:chExt cx="696600" cy="457650"/>
          </a:xfrm>
        </p:grpSpPr>
        <p:sp>
          <p:nvSpPr>
            <p:cNvPr id="92" name="Upper colonic wall with naturally variable thickness"/>
            <p:cNvSpPr/>
            <p:nvPr/>
          </p:nvSpPr>
          <p:spPr>
            <a:xfrm>
              <a:off x="20250" y="16200"/>
              <a:ext cx="684450" cy="186300"/>
            </a:xfrm>
            <a:custGeom>
              <a:avLst/>
              <a:gdLst/>
              <a:ahLst/>
              <a:cxnLst/>
              <a:rect l="0" t="0" r="r" b="b"/>
              <a:pathLst>
                <a:path w="1609725" h="438150">
                  <a:moveTo>
                    <a:pt x="0" y="171450"/>
                  </a:moveTo>
                  <a:cubicBezTo>
                    <a:pt x="114300" y="57150"/>
                    <a:pt x="295275" y="38100"/>
                    <a:pt x="438150" y="95250"/>
                  </a:cubicBezTo>
                  <a:cubicBezTo>
                    <a:pt x="581025" y="0"/>
                    <a:pt x="790575" y="19050"/>
                    <a:pt x="914400" y="76200"/>
                  </a:cubicBezTo>
                  <a:cubicBezTo>
                    <a:pt x="1076325" y="0"/>
                    <a:pt x="1285875" y="38100"/>
                    <a:pt x="1390650" y="123825"/>
                  </a:cubicBezTo>
                  <a:cubicBezTo>
                    <a:pt x="1476375" y="104775"/>
                    <a:pt x="1543050" y="152400"/>
                    <a:pt x="1609725" y="219075"/>
                  </a:cubicBezTo>
                  <a:lnTo>
                    <a:pt x="1552575" y="438150"/>
                  </a:lnTo>
                  <a:cubicBezTo>
                    <a:pt x="1400175" y="342900"/>
                    <a:pt x="1266825" y="333375"/>
                    <a:pt x="1123950" y="342900"/>
                  </a:cubicBezTo>
                  <a:cubicBezTo>
                    <a:pt x="923925" y="295275"/>
                    <a:pt x="714375" y="323850"/>
                    <a:pt x="533400" y="323850"/>
                  </a:cubicBezTo>
                  <a:cubicBezTo>
                    <a:pt x="371475" y="295275"/>
                    <a:pt x="219075" y="323850"/>
                    <a:pt x="76200" y="409575"/>
                  </a:cubicBezTo>
                  <a:close/>
                </a:path>
              </a:pathLst>
            </a:custGeom>
            <a:gradFill rotWithShape="1">
              <a:gsLst>
                <a:gs pos="0">
                  <a:srgbClr val="FAD9C6"/>
                </a:gs>
                <a:gs pos="47000">
                  <a:srgbClr val="F2C5AE"/>
                </a:gs>
                <a:gs pos="100000">
                  <a:srgbClr val="E4A78F"/>
                </a:gs>
              </a:gsLst>
              <a:lin ang="5400000" scaled="1"/>
            </a:gradFill>
            <a:ln w="3037" cap="rnd">
              <a:solidFill>
                <a:srgbClr val="B9827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Curved exposed foreground muscularis"/>
            <p:cNvSpPr/>
            <p:nvPr/>
          </p:nvSpPr>
          <p:spPr>
            <a:xfrm>
              <a:off x="20250" y="259200"/>
              <a:ext cx="696600" cy="214650"/>
            </a:xfrm>
            <a:custGeom>
              <a:avLst/>
              <a:gdLst/>
              <a:ahLst/>
              <a:cxnLst/>
              <a:rect l="0" t="0" r="r" b="b"/>
              <a:pathLst>
                <a:path w="1638300" h="504825">
                  <a:moveTo>
                    <a:pt x="57150" y="19050"/>
                  </a:moveTo>
                  <a:cubicBezTo>
                    <a:pt x="180975" y="123825"/>
                    <a:pt x="295275" y="228600"/>
                    <a:pt x="447675" y="257175"/>
                  </a:cubicBezTo>
                  <a:cubicBezTo>
                    <a:pt x="590550" y="295275"/>
                    <a:pt x="714375" y="238125"/>
                    <a:pt x="857250" y="257175"/>
                  </a:cubicBezTo>
                  <a:cubicBezTo>
                    <a:pt x="1019175" y="285750"/>
                    <a:pt x="1143000" y="276225"/>
                    <a:pt x="1285875" y="219075"/>
                  </a:cubicBezTo>
                  <a:cubicBezTo>
                    <a:pt x="1409700" y="161925"/>
                    <a:pt x="1533525" y="57150"/>
                    <a:pt x="1600200" y="0"/>
                  </a:cubicBezTo>
                  <a:lnTo>
                    <a:pt x="1638300" y="219075"/>
                  </a:lnTo>
                  <a:cubicBezTo>
                    <a:pt x="1524000" y="342900"/>
                    <a:pt x="1381125" y="409575"/>
                    <a:pt x="1219200" y="409575"/>
                  </a:cubicBezTo>
                  <a:cubicBezTo>
                    <a:pt x="1095375" y="476250"/>
                    <a:pt x="942975" y="495300"/>
                    <a:pt x="828675" y="428625"/>
                  </a:cubicBezTo>
                  <a:cubicBezTo>
                    <a:pt x="666750" y="504825"/>
                    <a:pt x="495300" y="466725"/>
                    <a:pt x="381000" y="409575"/>
                  </a:cubicBezTo>
                  <a:cubicBezTo>
                    <a:pt x="219075" y="419100"/>
                    <a:pt x="85725" y="333375"/>
                    <a:pt x="0" y="228600"/>
                  </a:cubicBezTo>
                  <a:close/>
                </a:path>
              </a:pathLst>
            </a:custGeom>
            <a:gradFill rotWithShape="1">
              <a:gsLst>
                <a:gs pos="0">
                  <a:srgbClr val="F5D0B9"/>
                </a:gs>
                <a:gs pos="60000">
                  <a:srgbClr val="EFC1A9"/>
                </a:gs>
                <a:gs pos="100000">
                  <a:srgbClr val="DDA18B"/>
                </a:gs>
              </a:gsLst>
              <a:lin ang="5400000" scaled="1"/>
            </a:gradFill>
            <a:ln w="3037" cap="rnd">
              <a:solidFill>
                <a:srgbClr val="B9827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Continuous narrow back-wall mucosal layer"/>
            <p:cNvSpPr/>
            <p:nvPr/>
          </p:nvSpPr>
          <p:spPr>
            <a:xfrm>
              <a:off x="40500" y="113400"/>
              <a:ext cx="652050" cy="89100"/>
            </a:xfrm>
            <a:custGeom>
              <a:avLst/>
              <a:gdLst/>
              <a:ahLst/>
              <a:cxnLst/>
              <a:rect l="0" t="0" r="r" b="b"/>
              <a:pathLst>
                <a:path w="1533525" h="209550">
                  <a:moveTo>
                    <a:pt x="0" y="76200"/>
                  </a:moveTo>
                  <a:cubicBezTo>
                    <a:pt x="104775" y="19050"/>
                    <a:pt x="228600" y="9525"/>
                    <a:pt x="314325" y="19050"/>
                  </a:cubicBezTo>
                  <a:cubicBezTo>
                    <a:pt x="371475" y="19050"/>
                    <a:pt x="419100" y="57150"/>
                    <a:pt x="466725" y="47625"/>
                  </a:cubicBezTo>
                  <a:cubicBezTo>
                    <a:pt x="571500" y="0"/>
                    <a:pt x="695325" y="9525"/>
                    <a:pt x="800100" y="28575"/>
                  </a:cubicBezTo>
                  <a:cubicBezTo>
                    <a:pt x="904875" y="28575"/>
                    <a:pt x="962025" y="0"/>
                    <a:pt x="1057275" y="19050"/>
                  </a:cubicBezTo>
                  <a:cubicBezTo>
                    <a:pt x="1200150" y="47625"/>
                    <a:pt x="1323975" y="19050"/>
                    <a:pt x="1400175" y="76200"/>
                  </a:cubicBezTo>
                  <a:cubicBezTo>
                    <a:pt x="1457325" y="104775"/>
                    <a:pt x="1514475" y="123825"/>
                    <a:pt x="1533525" y="114300"/>
                  </a:cubicBezTo>
                  <a:lnTo>
                    <a:pt x="1504950" y="209550"/>
                  </a:lnTo>
                  <a:cubicBezTo>
                    <a:pt x="1438275" y="171450"/>
                    <a:pt x="1390650" y="142875"/>
                    <a:pt x="1362075" y="142875"/>
                  </a:cubicBezTo>
                  <a:cubicBezTo>
                    <a:pt x="1266825" y="85725"/>
                    <a:pt x="1162050" y="114300"/>
                    <a:pt x="1038225" y="85725"/>
                  </a:cubicBezTo>
                  <a:cubicBezTo>
                    <a:pt x="942975" y="66675"/>
                    <a:pt x="895350" y="95250"/>
                    <a:pt x="800100" y="95250"/>
                  </a:cubicBezTo>
                  <a:cubicBezTo>
                    <a:pt x="685800" y="76200"/>
                    <a:pt x="561975" y="66675"/>
                    <a:pt x="457200" y="123825"/>
                  </a:cubicBezTo>
                  <a:cubicBezTo>
                    <a:pt x="400050" y="133350"/>
                    <a:pt x="361950" y="95250"/>
                    <a:pt x="304800" y="95250"/>
                  </a:cubicBezTo>
                  <a:cubicBezTo>
                    <a:pt x="190500" y="95250"/>
                    <a:pt x="104775" y="133350"/>
                    <a:pt x="28575" y="180975"/>
                  </a:cubicBezTo>
                  <a:close/>
                </a:path>
              </a:pathLst>
            </a:custGeom>
            <a:gradFill rotWithShape="1">
              <a:gsLst>
                <a:gs pos="0">
                  <a:srgbClr val="F5D3BC"/>
                </a:gs>
                <a:gs pos="100000">
                  <a:srgbClr val="F9E0CB"/>
                </a:gs>
              </a:gsLst>
              <a:lin ang="5400000" scaled="1"/>
            </a:gra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Clearly open organic pale colonic lumen"/>
            <p:cNvSpPr/>
            <p:nvPr/>
          </p:nvSpPr>
          <p:spPr>
            <a:xfrm>
              <a:off x="44550" y="141750"/>
              <a:ext cx="656100" cy="206550"/>
            </a:xfrm>
            <a:custGeom>
              <a:avLst/>
              <a:gdLst/>
              <a:ahLst/>
              <a:cxnLst/>
              <a:rect l="0" t="0" r="r" b="b"/>
              <a:pathLst>
                <a:path w="1543050" h="485775">
                  <a:moveTo>
                    <a:pt x="19050" y="114300"/>
                  </a:moveTo>
                  <a:cubicBezTo>
                    <a:pt x="95250" y="66675"/>
                    <a:pt x="180975" y="28575"/>
                    <a:pt x="295275" y="28575"/>
                  </a:cubicBezTo>
                  <a:cubicBezTo>
                    <a:pt x="352425" y="28575"/>
                    <a:pt x="390525" y="66675"/>
                    <a:pt x="447675" y="57150"/>
                  </a:cubicBezTo>
                  <a:cubicBezTo>
                    <a:pt x="552450" y="0"/>
                    <a:pt x="676275" y="9525"/>
                    <a:pt x="790575" y="28575"/>
                  </a:cubicBezTo>
                  <a:cubicBezTo>
                    <a:pt x="885825" y="28575"/>
                    <a:pt x="933450" y="0"/>
                    <a:pt x="1028700" y="19050"/>
                  </a:cubicBezTo>
                  <a:cubicBezTo>
                    <a:pt x="1152525" y="47625"/>
                    <a:pt x="1257300" y="19050"/>
                    <a:pt x="1352550" y="76200"/>
                  </a:cubicBezTo>
                  <a:cubicBezTo>
                    <a:pt x="1428750" y="104775"/>
                    <a:pt x="1476375" y="123825"/>
                    <a:pt x="1495425" y="142875"/>
                  </a:cubicBezTo>
                  <a:lnTo>
                    <a:pt x="1543050" y="276225"/>
                  </a:lnTo>
                  <a:cubicBezTo>
                    <a:pt x="1495425" y="323850"/>
                    <a:pt x="1447800" y="361950"/>
                    <a:pt x="1390650" y="390525"/>
                  </a:cubicBezTo>
                  <a:cubicBezTo>
                    <a:pt x="1352550" y="419100"/>
                    <a:pt x="1228725" y="447675"/>
                    <a:pt x="1095375" y="457200"/>
                  </a:cubicBezTo>
                  <a:cubicBezTo>
                    <a:pt x="1009650" y="476250"/>
                    <a:pt x="962025" y="438150"/>
                    <a:pt x="885825" y="438150"/>
                  </a:cubicBezTo>
                  <a:cubicBezTo>
                    <a:pt x="752475" y="485775"/>
                    <a:pt x="638175" y="485775"/>
                    <a:pt x="523875" y="457200"/>
                  </a:cubicBezTo>
                  <a:cubicBezTo>
                    <a:pt x="447675" y="447675"/>
                    <a:pt x="390525" y="485775"/>
                    <a:pt x="314325" y="447675"/>
                  </a:cubicBezTo>
                  <a:cubicBezTo>
                    <a:pt x="171450" y="419100"/>
                    <a:pt x="95250" y="352425"/>
                    <a:pt x="0" y="295275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DF4"/>
                </a:gs>
                <a:gs pos="48000">
                  <a:srgbClr val="FFFDF5"/>
                </a:gs>
                <a:gs pos="100000">
                  <a:srgbClr val="FFF6E6"/>
                </a:gs>
              </a:gsLst>
              <a:lin ang="5400000" scaled="1"/>
            </a:gra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Exposed colonic lamina propria at near wall"/>
            <p:cNvSpPr/>
            <p:nvPr/>
          </p:nvSpPr>
          <p:spPr>
            <a:xfrm>
              <a:off x="36450" y="259200"/>
              <a:ext cx="668250" cy="145800"/>
            </a:xfrm>
            <a:custGeom>
              <a:avLst/>
              <a:gdLst/>
              <a:ahLst/>
              <a:cxnLst/>
              <a:rect l="0" t="0" r="r" b="b"/>
              <a:pathLst>
                <a:path w="1571625" h="342900">
                  <a:moveTo>
                    <a:pt x="19050" y="19050"/>
                  </a:moveTo>
                  <a:cubicBezTo>
                    <a:pt x="171450" y="133350"/>
                    <a:pt x="295275" y="161925"/>
                    <a:pt x="371475" y="180975"/>
                  </a:cubicBezTo>
                  <a:cubicBezTo>
                    <a:pt x="428625" y="190500"/>
                    <a:pt x="476250" y="152400"/>
                    <a:pt x="542925" y="171450"/>
                  </a:cubicBezTo>
                  <a:cubicBezTo>
                    <a:pt x="666750" y="209550"/>
                    <a:pt x="771525" y="200025"/>
                    <a:pt x="904875" y="161925"/>
                  </a:cubicBezTo>
                  <a:cubicBezTo>
                    <a:pt x="981075" y="152400"/>
                    <a:pt x="1028700" y="200025"/>
                    <a:pt x="1114425" y="180975"/>
                  </a:cubicBezTo>
                  <a:cubicBezTo>
                    <a:pt x="1247775" y="171450"/>
                    <a:pt x="1400175" y="123825"/>
                    <a:pt x="1562100" y="0"/>
                  </a:cubicBezTo>
                  <a:lnTo>
                    <a:pt x="1571625" y="123825"/>
                  </a:lnTo>
                  <a:cubicBezTo>
                    <a:pt x="1495425" y="228600"/>
                    <a:pt x="1352550" y="266700"/>
                    <a:pt x="1238250" y="285750"/>
                  </a:cubicBezTo>
                  <a:cubicBezTo>
                    <a:pt x="1095375" y="333375"/>
                    <a:pt x="952500" y="304800"/>
                    <a:pt x="828675" y="314325"/>
                  </a:cubicBezTo>
                  <a:cubicBezTo>
                    <a:pt x="676275" y="342900"/>
                    <a:pt x="533400" y="333375"/>
                    <a:pt x="400050" y="304800"/>
                  </a:cubicBezTo>
                  <a:cubicBezTo>
                    <a:pt x="228600" y="285750"/>
                    <a:pt x="123825" y="219075"/>
                    <a:pt x="0" y="123825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0DE"/>
                </a:gs>
                <a:gs pos="100000">
                  <a:srgbClr val="F0C6AF"/>
                </a:gs>
              </a:gsLst>
              <a:lin ang="5400000" scaled="1"/>
            </a:gra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Fine variable-thickness mucosal basal boundary"/>
            <p:cNvSpPr/>
            <p:nvPr/>
          </p:nvSpPr>
          <p:spPr>
            <a:xfrm>
              <a:off x="97200" y="291600"/>
              <a:ext cx="583200" cy="137700"/>
            </a:xfrm>
            <a:custGeom>
              <a:avLst/>
              <a:gdLst/>
              <a:ahLst/>
              <a:cxnLst/>
              <a:rect l="0" t="0" r="r" b="b"/>
              <a:pathLst>
                <a:path w="1371600" h="323850">
                  <a:moveTo>
                    <a:pt x="0" y="95250"/>
                  </a:moveTo>
                  <a:cubicBezTo>
                    <a:pt x="123825" y="228600"/>
                    <a:pt x="247650" y="276225"/>
                    <a:pt x="390525" y="295275"/>
                  </a:cubicBezTo>
                  <a:cubicBezTo>
                    <a:pt x="514350" y="314325"/>
                    <a:pt x="600075" y="276225"/>
                    <a:pt x="695325" y="285750"/>
                  </a:cubicBezTo>
                  <a:cubicBezTo>
                    <a:pt x="847725" y="323850"/>
                    <a:pt x="1047750" y="295275"/>
                    <a:pt x="1162050" y="228600"/>
                  </a:cubicBezTo>
                  <a:cubicBezTo>
                    <a:pt x="1266825" y="180975"/>
                    <a:pt x="1333500" y="95250"/>
                    <a:pt x="1371600" y="0"/>
                  </a:cubicBezTo>
                </a:path>
              </a:pathLst>
            </a:custGeom>
            <a:noFill/>
            <a:ln w="2835" cap="rnd">
              <a:solidFill>
                <a:srgbClr val="CC958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Sparse longitudinal muscle reflected fibres"/>
            <p:cNvSpPr/>
            <p:nvPr/>
          </p:nvSpPr>
          <p:spPr>
            <a:xfrm>
              <a:off x="105300" y="368550"/>
              <a:ext cx="473850" cy="81000"/>
            </a:xfrm>
            <a:custGeom>
              <a:avLst/>
              <a:gdLst/>
              <a:ahLst/>
              <a:cxnLst/>
              <a:rect l="0" t="0" r="r" b="b"/>
              <a:pathLst>
                <a:path w="1114425" h="190500">
                  <a:moveTo>
                    <a:pt x="0" y="0"/>
                  </a:moveTo>
                  <a:cubicBezTo>
                    <a:pt x="85725" y="85725"/>
                    <a:pt x="161925" y="123825"/>
                    <a:pt x="257175" y="152400"/>
                  </a:cubicBezTo>
                  <a:moveTo>
                    <a:pt x="361950" y="161925"/>
                  </a:moveTo>
                  <a:cubicBezTo>
                    <a:pt x="457200" y="190500"/>
                    <a:pt x="542925" y="152400"/>
                    <a:pt x="619125" y="152400"/>
                  </a:cubicBezTo>
                  <a:moveTo>
                    <a:pt x="781050" y="180975"/>
                  </a:moveTo>
                  <a:cubicBezTo>
                    <a:pt x="923925" y="190500"/>
                    <a:pt x="1028700" y="142875"/>
                    <a:pt x="1114425" y="104775"/>
                  </a:cubicBezTo>
                </a:path>
              </a:pathLst>
            </a:custGeom>
            <a:noFill/>
            <a:ln w="3037" cap="rnd">
              <a:solidFill>
                <a:srgbClr val="F7D7B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Smooth back colonic epithelial ribbon"/>
            <p:cNvSpPr/>
            <p:nvPr/>
          </p:nvSpPr>
          <p:spPr>
            <a:xfrm>
              <a:off x="52650" y="141750"/>
              <a:ext cx="627750" cy="60750"/>
            </a:xfrm>
            <a:custGeom>
              <a:avLst/>
              <a:gdLst/>
              <a:ahLst/>
              <a:cxnLst/>
              <a:rect l="0" t="0" r="r" b="b"/>
              <a:pathLst>
                <a:path w="1476375" h="142875">
                  <a:moveTo>
                    <a:pt x="0" y="114300"/>
                  </a:moveTo>
                  <a:cubicBezTo>
                    <a:pt x="76200" y="66675"/>
                    <a:pt x="161925" y="28575"/>
                    <a:pt x="276225" y="28575"/>
                  </a:cubicBezTo>
                  <a:cubicBezTo>
                    <a:pt x="333375" y="28575"/>
                    <a:pt x="371475" y="66675"/>
                    <a:pt x="428625" y="57150"/>
                  </a:cubicBezTo>
                  <a:cubicBezTo>
                    <a:pt x="533400" y="0"/>
                    <a:pt x="657225" y="9525"/>
                    <a:pt x="771525" y="28575"/>
                  </a:cubicBezTo>
                  <a:cubicBezTo>
                    <a:pt x="866775" y="28575"/>
                    <a:pt x="914400" y="0"/>
                    <a:pt x="1009650" y="19050"/>
                  </a:cubicBezTo>
                  <a:cubicBezTo>
                    <a:pt x="1133475" y="47625"/>
                    <a:pt x="1238250" y="19050"/>
                    <a:pt x="1333500" y="76200"/>
                  </a:cubicBezTo>
                  <a:cubicBezTo>
                    <a:pt x="1409700" y="104775"/>
                    <a:pt x="1457325" y="123825"/>
                    <a:pt x="1476375" y="142875"/>
                  </a:cubicBezTo>
                </a:path>
              </a:pathLst>
            </a:custGeom>
            <a:noFill/>
            <a:ln w="11340" cap="rnd">
              <a:solidFill>
                <a:srgbClr val="E1A997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Fine back luminal mucous surface"/>
            <p:cNvSpPr/>
            <p:nvPr/>
          </p:nvSpPr>
          <p:spPr>
            <a:xfrm>
              <a:off x="52650" y="141750"/>
              <a:ext cx="627750" cy="60750"/>
            </a:xfrm>
            <a:custGeom>
              <a:avLst/>
              <a:gdLst/>
              <a:ahLst/>
              <a:cxnLst/>
              <a:rect l="0" t="0" r="r" b="b"/>
              <a:pathLst>
                <a:path w="1476375" h="142875">
                  <a:moveTo>
                    <a:pt x="0" y="114300"/>
                  </a:moveTo>
                  <a:cubicBezTo>
                    <a:pt x="76200" y="66675"/>
                    <a:pt x="161925" y="28575"/>
                    <a:pt x="276225" y="28575"/>
                  </a:cubicBezTo>
                  <a:cubicBezTo>
                    <a:pt x="333375" y="28575"/>
                    <a:pt x="371475" y="66675"/>
                    <a:pt x="428625" y="57150"/>
                  </a:cubicBezTo>
                  <a:cubicBezTo>
                    <a:pt x="533400" y="0"/>
                    <a:pt x="657225" y="9525"/>
                    <a:pt x="771525" y="28575"/>
                  </a:cubicBezTo>
                  <a:cubicBezTo>
                    <a:pt x="866775" y="28575"/>
                    <a:pt x="914400" y="0"/>
                    <a:pt x="1009650" y="19050"/>
                  </a:cubicBezTo>
                  <a:cubicBezTo>
                    <a:pt x="1133475" y="47625"/>
                    <a:pt x="1238250" y="19050"/>
                    <a:pt x="1333500" y="76200"/>
                  </a:cubicBezTo>
                  <a:cubicBezTo>
                    <a:pt x="1409700" y="104775"/>
                    <a:pt x="1457325" y="123825"/>
                    <a:pt x="1476375" y="142875"/>
                  </a:cubicBezTo>
                </a:path>
              </a:pathLst>
            </a:custGeom>
            <a:noFill/>
            <a:ln w="4455" cap="rnd">
              <a:solidFill>
                <a:srgbClr val="FFF0D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Smooth near colonic epithelial ribbon"/>
            <p:cNvSpPr/>
            <p:nvPr/>
          </p:nvSpPr>
          <p:spPr>
            <a:xfrm>
              <a:off x="44550" y="259200"/>
              <a:ext cx="656100" cy="89100"/>
            </a:xfrm>
            <a:custGeom>
              <a:avLst/>
              <a:gdLst/>
              <a:ahLst/>
              <a:cxnLst/>
              <a:rect l="0" t="0" r="r" b="b"/>
              <a:pathLst>
                <a:path w="1543050" h="209550">
                  <a:moveTo>
                    <a:pt x="0" y="19050"/>
                  </a:moveTo>
                  <a:cubicBezTo>
                    <a:pt x="152400" y="133350"/>
                    <a:pt x="276225" y="161925"/>
                    <a:pt x="352425" y="180975"/>
                  </a:cubicBezTo>
                  <a:cubicBezTo>
                    <a:pt x="409575" y="190500"/>
                    <a:pt x="457200" y="152400"/>
                    <a:pt x="523875" y="171450"/>
                  </a:cubicBezTo>
                  <a:cubicBezTo>
                    <a:pt x="647700" y="209550"/>
                    <a:pt x="752475" y="200025"/>
                    <a:pt x="885825" y="161925"/>
                  </a:cubicBezTo>
                  <a:cubicBezTo>
                    <a:pt x="962025" y="152400"/>
                    <a:pt x="1009650" y="200025"/>
                    <a:pt x="1095375" y="180975"/>
                  </a:cubicBezTo>
                  <a:cubicBezTo>
                    <a:pt x="1228725" y="171450"/>
                    <a:pt x="1381125" y="123825"/>
                    <a:pt x="1543050" y="0"/>
                  </a:cubicBezTo>
                </a:path>
              </a:pathLst>
            </a:custGeom>
            <a:noFill/>
            <a:ln w="11340" cap="rnd">
              <a:solidFill>
                <a:srgbClr val="E1A997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Fine near luminal mucous surface"/>
            <p:cNvSpPr/>
            <p:nvPr/>
          </p:nvSpPr>
          <p:spPr>
            <a:xfrm>
              <a:off x="44550" y="259200"/>
              <a:ext cx="656100" cy="89100"/>
            </a:xfrm>
            <a:custGeom>
              <a:avLst/>
              <a:gdLst/>
              <a:ahLst/>
              <a:cxnLst/>
              <a:rect l="0" t="0" r="r" b="b"/>
              <a:pathLst>
                <a:path w="1543050" h="209550">
                  <a:moveTo>
                    <a:pt x="0" y="19050"/>
                  </a:moveTo>
                  <a:cubicBezTo>
                    <a:pt x="152400" y="133350"/>
                    <a:pt x="276225" y="161925"/>
                    <a:pt x="352425" y="180975"/>
                  </a:cubicBezTo>
                  <a:cubicBezTo>
                    <a:pt x="409575" y="190500"/>
                    <a:pt x="457200" y="152400"/>
                    <a:pt x="523875" y="171450"/>
                  </a:cubicBezTo>
                  <a:cubicBezTo>
                    <a:pt x="647700" y="209550"/>
                    <a:pt x="752475" y="200025"/>
                    <a:pt x="885825" y="161925"/>
                  </a:cubicBezTo>
                  <a:cubicBezTo>
                    <a:pt x="962025" y="152400"/>
                    <a:pt x="1009650" y="200025"/>
                    <a:pt x="1095375" y="180975"/>
                  </a:cubicBezTo>
                  <a:cubicBezTo>
                    <a:pt x="1228725" y="171450"/>
                    <a:pt x="1381125" y="123825"/>
                    <a:pt x="1543050" y="0"/>
                  </a:cubicBezTo>
                </a:path>
              </a:pathLst>
            </a:custGeom>
            <a:noFill/>
            <a:ln w="4455" cap="rnd">
              <a:solidFill>
                <a:srgbClr val="FFF0D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Low semilunar fold 00"/>
            <p:cNvSpPr/>
            <p:nvPr/>
          </p:nvSpPr>
          <p:spPr>
            <a:xfrm>
              <a:off x="162000" y="137700"/>
              <a:ext cx="72900" cy="28350"/>
            </a:xfrm>
            <a:custGeom>
              <a:avLst/>
              <a:gdLst/>
              <a:ahLst/>
              <a:cxnLst/>
              <a:rect l="0" t="0" r="r" b="b"/>
              <a:pathLst>
                <a:path w="171450" h="66675">
                  <a:moveTo>
                    <a:pt x="0" y="38100"/>
                  </a:moveTo>
                  <a:cubicBezTo>
                    <a:pt x="57150" y="0"/>
                    <a:pt x="114300" y="0"/>
                    <a:pt x="171450" y="66675"/>
                  </a:cubicBezTo>
                </a:path>
              </a:pathLst>
            </a:custGeom>
            <a:noFill/>
            <a:ln w="2430" cap="rnd">
              <a:solidFill>
                <a:srgbClr val="CD9887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Low semilunar fold 01"/>
            <p:cNvSpPr/>
            <p:nvPr/>
          </p:nvSpPr>
          <p:spPr>
            <a:xfrm>
              <a:off x="409050" y="133650"/>
              <a:ext cx="81000" cy="20250"/>
            </a:xfrm>
            <a:custGeom>
              <a:avLst/>
              <a:gdLst/>
              <a:ahLst/>
              <a:cxnLst/>
              <a:rect l="0" t="0" r="r" b="b"/>
              <a:pathLst>
                <a:path w="190500" h="47625">
                  <a:moveTo>
                    <a:pt x="0" y="47625"/>
                  </a:moveTo>
                  <a:cubicBezTo>
                    <a:pt x="47625" y="0"/>
                    <a:pt x="123825" y="0"/>
                    <a:pt x="190500" y="38100"/>
                  </a:cubicBezTo>
                </a:path>
              </a:pathLst>
            </a:custGeom>
            <a:noFill/>
            <a:ln w="2430" cap="rnd">
              <a:solidFill>
                <a:srgbClr val="CD9887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Low semilunar fold 02"/>
            <p:cNvSpPr/>
            <p:nvPr/>
          </p:nvSpPr>
          <p:spPr>
            <a:xfrm>
              <a:off x="198450" y="315900"/>
              <a:ext cx="68850" cy="20250"/>
            </a:xfrm>
            <a:custGeom>
              <a:avLst/>
              <a:gdLst/>
              <a:ahLst/>
              <a:cxnLst/>
              <a:rect l="0" t="0" r="r" b="b"/>
              <a:pathLst>
                <a:path w="161925" h="47625">
                  <a:moveTo>
                    <a:pt x="0" y="47625"/>
                  </a:moveTo>
                  <a:cubicBezTo>
                    <a:pt x="57150" y="0"/>
                    <a:pt x="95250" y="0"/>
                    <a:pt x="161925" y="38100"/>
                  </a:cubicBezTo>
                </a:path>
              </a:pathLst>
            </a:custGeom>
            <a:noFill/>
            <a:ln w="2430" cap="rnd">
              <a:solidFill>
                <a:srgbClr val="CD9887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Low semilunar fold 03"/>
            <p:cNvSpPr/>
            <p:nvPr/>
          </p:nvSpPr>
          <p:spPr>
            <a:xfrm>
              <a:off x="421200" y="311850"/>
              <a:ext cx="89100" cy="24300"/>
            </a:xfrm>
            <a:custGeom>
              <a:avLst/>
              <a:gdLst/>
              <a:ahLst/>
              <a:cxnLst/>
              <a:rect l="0" t="0" r="r" b="b"/>
              <a:pathLst>
                <a:path w="209550" h="57150">
                  <a:moveTo>
                    <a:pt x="0" y="38100"/>
                  </a:moveTo>
                  <a:cubicBezTo>
                    <a:pt x="66675" y="0"/>
                    <a:pt x="114300" y="28575"/>
                    <a:pt x="209550" y="57150"/>
                  </a:cubicBezTo>
                </a:path>
              </a:pathLst>
            </a:custGeom>
            <a:noFill/>
            <a:ln w="2430" cap="rnd">
              <a:solidFill>
                <a:srgbClr val="CD9887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Shallow colonic crypt profile 00"/>
            <p:cNvSpPr/>
            <p:nvPr/>
          </p:nvSpPr>
          <p:spPr>
            <a:xfrm>
              <a:off x="151875" y="332100"/>
              <a:ext cx="19845" cy="28350"/>
            </a:xfrm>
            <a:custGeom>
              <a:avLst/>
              <a:gdLst/>
              <a:ahLst/>
              <a:cxnLst/>
              <a:rect l="0" t="0" r="r" b="b"/>
              <a:pathLst>
                <a:path w="46672" h="66675">
                  <a:moveTo>
                    <a:pt x="3810" y="0"/>
                  </a:moveTo>
                  <a:cubicBezTo>
                    <a:pt x="0" y="28575"/>
                    <a:pt x="4762" y="66675"/>
                    <a:pt x="23812" y="66675"/>
                  </a:cubicBezTo>
                  <a:cubicBezTo>
                    <a:pt x="43815" y="66675"/>
                    <a:pt x="46672" y="28575"/>
                    <a:pt x="42862" y="0"/>
                  </a:cubicBezTo>
                </a:path>
              </a:pathLst>
            </a:custGeom>
            <a:noFill/>
            <a:ln w="2227" cap="rnd">
              <a:solidFill>
                <a:srgbClr val="D4A18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Colonic crypt basal nucleus 00"/>
            <p:cNvSpPr/>
            <p:nvPr/>
          </p:nvSpPr>
          <p:spPr>
            <a:xfrm>
              <a:off x="159570" y="352350"/>
              <a:ext cx="4860" cy="7290"/>
            </a:xfrm>
            <a:prstGeom prst="ellipse">
              <a:avLst/>
            </a:prstGeom>
            <a:solidFill>
              <a:srgbClr val="C1928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Shallow colonic crypt profile 01"/>
            <p:cNvSpPr/>
            <p:nvPr/>
          </p:nvSpPr>
          <p:spPr>
            <a:xfrm>
              <a:off x="236925" y="348300"/>
              <a:ext cx="19845" cy="32400"/>
            </a:xfrm>
            <a:custGeom>
              <a:avLst/>
              <a:gdLst/>
              <a:ahLst/>
              <a:cxnLst/>
              <a:rect l="0" t="0" r="r" b="b"/>
              <a:pathLst>
                <a:path w="46672" h="76200">
                  <a:moveTo>
                    <a:pt x="3810" y="0"/>
                  </a:moveTo>
                  <a:cubicBezTo>
                    <a:pt x="0" y="28575"/>
                    <a:pt x="4762" y="76200"/>
                    <a:pt x="23812" y="76200"/>
                  </a:cubicBezTo>
                  <a:cubicBezTo>
                    <a:pt x="43815" y="76200"/>
                    <a:pt x="46672" y="28575"/>
                    <a:pt x="42862" y="0"/>
                  </a:cubicBezTo>
                </a:path>
              </a:pathLst>
            </a:custGeom>
            <a:noFill/>
            <a:ln w="2227" cap="rnd">
              <a:solidFill>
                <a:srgbClr val="D4A18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Colonic crypt basal nucleus 01"/>
            <p:cNvSpPr/>
            <p:nvPr/>
          </p:nvSpPr>
          <p:spPr>
            <a:xfrm>
              <a:off x="244620" y="372600"/>
              <a:ext cx="4860" cy="7290"/>
            </a:xfrm>
            <a:prstGeom prst="ellipse">
              <a:avLst/>
            </a:prstGeom>
            <a:solidFill>
              <a:srgbClr val="C1928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Shallow colonic crypt profile 02"/>
            <p:cNvSpPr/>
            <p:nvPr/>
          </p:nvSpPr>
          <p:spPr>
            <a:xfrm>
              <a:off x="321975" y="356400"/>
              <a:ext cx="19845" cy="28350"/>
            </a:xfrm>
            <a:custGeom>
              <a:avLst/>
              <a:gdLst/>
              <a:ahLst/>
              <a:cxnLst/>
              <a:rect l="0" t="0" r="r" b="b"/>
              <a:pathLst>
                <a:path w="46673" h="66675">
                  <a:moveTo>
                    <a:pt x="3810" y="0"/>
                  </a:moveTo>
                  <a:cubicBezTo>
                    <a:pt x="0" y="28575"/>
                    <a:pt x="4762" y="66675"/>
                    <a:pt x="23812" y="66675"/>
                  </a:cubicBezTo>
                  <a:cubicBezTo>
                    <a:pt x="43815" y="66675"/>
                    <a:pt x="46673" y="28575"/>
                    <a:pt x="42862" y="0"/>
                  </a:cubicBezTo>
                </a:path>
              </a:pathLst>
            </a:custGeom>
            <a:noFill/>
            <a:ln w="2227" cap="rnd">
              <a:solidFill>
                <a:srgbClr val="D4A18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Colonic crypt basal nucleus 02"/>
            <p:cNvSpPr/>
            <p:nvPr/>
          </p:nvSpPr>
          <p:spPr>
            <a:xfrm>
              <a:off x="329670" y="376650"/>
              <a:ext cx="4860" cy="7290"/>
            </a:xfrm>
            <a:prstGeom prst="ellipse">
              <a:avLst/>
            </a:prstGeom>
            <a:solidFill>
              <a:srgbClr val="C1928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Shallow colonic crypt profile 03"/>
            <p:cNvSpPr/>
            <p:nvPr/>
          </p:nvSpPr>
          <p:spPr>
            <a:xfrm>
              <a:off x="415125" y="348300"/>
              <a:ext cx="19845" cy="28350"/>
            </a:xfrm>
            <a:custGeom>
              <a:avLst/>
              <a:gdLst/>
              <a:ahLst/>
              <a:cxnLst/>
              <a:rect l="0" t="0" r="r" b="b"/>
              <a:pathLst>
                <a:path w="46673" h="66675">
                  <a:moveTo>
                    <a:pt x="3810" y="0"/>
                  </a:moveTo>
                  <a:cubicBezTo>
                    <a:pt x="0" y="28575"/>
                    <a:pt x="4762" y="66675"/>
                    <a:pt x="23812" y="66675"/>
                  </a:cubicBezTo>
                  <a:cubicBezTo>
                    <a:pt x="43815" y="66675"/>
                    <a:pt x="46673" y="28575"/>
                    <a:pt x="42862" y="0"/>
                  </a:cubicBezTo>
                </a:path>
              </a:pathLst>
            </a:custGeom>
            <a:noFill/>
            <a:ln w="2227" cap="rnd">
              <a:solidFill>
                <a:srgbClr val="D4A18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Colonic crypt basal nucleus 03"/>
            <p:cNvSpPr/>
            <p:nvPr/>
          </p:nvSpPr>
          <p:spPr>
            <a:xfrm>
              <a:off x="422820" y="368550"/>
              <a:ext cx="4860" cy="7290"/>
            </a:xfrm>
            <a:prstGeom prst="ellipse">
              <a:avLst/>
            </a:prstGeom>
            <a:solidFill>
              <a:srgbClr val="C1928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Shallow colonic crypt profile 04"/>
            <p:cNvSpPr/>
            <p:nvPr/>
          </p:nvSpPr>
          <p:spPr>
            <a:xfrm>
              <a:off x="512325" y="348300"/>
              <a:ext cx="19845" cy="26325"/>
            </a:xfrm>
            <a:custGeom>
              <a:avLst/>
              <a:gdLst/>
              <a:ahLst/>
              <a:cxnLst/>
              <a:rect l="0" t="0" r="r" b="b"/>
              <a:pathLst>
                <a:path w="46673" h="61912">
                  <a:moveTo>
                    <a:pt x="3810" y="0"/>
                  </a:moveTo>
                  <a:cubicBezTo>
                    <a:pt x="0" y="28575"/>
                    <a:pt x="4762" y="61912"/>
                    <a:pt x="23812" y="61912"/>
                  </a:cubicBezTo>
                  <a:cubicBezTo>
                    <a:pt x="43815" y="61912"/>
                    <a:pt x="46673" y="28575"/>
                    <a:pt x="42862" y="0"/>
                  </a:cubicBezTo>
                </a:path>
              </a:pathLst>
            </a:custGeom>
            <a:noFill/>
            <a:ln w="2227" cap="rnd">
              <a:solidFill>
                <a:srgbClr val="D4A18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Colonic crypt basal nucleus 04"/>
            <p:cNvSpPr/>
            <p:nvPr/>
          </p:nvSpPr>
          <p:spPr>
            <a:xfrm>
              <a:off x="520020" y="366525"/>
              <a:ext cx="4860" cy="7290"/>
            </a:xfrm>
            <a:prstGeom prst="ellipse">
              <a:avLst/>
            </a:prstGeom>
            <a:solidFill>
              <a:srgbClr val="C1928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Colonic epithelial nucleus 00"/>
            <p:cNvSpPr/>
            <p:nvPr/>
          </p:nvSpPr>
          <p:spPr>
            <a:xfrm rot="19500000">
              <a:off x="113400" y="311850"/>
              <a:ext cx="8100" cy="11340"/>
            </a:xfrm>
            <a:prstGeom prst="ellipse">
              <a:avLst/>
            </a:prstGeom>
            <a:solidFill>
              <a:srgbClr val="B98D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Colonic epithelial nucleus 01"/>
            <p:cNvSpPr/>
            <p:nvPr/>
          </p:nvSpPr>
          <p:spPr>
            <a:xfrm>
              <a:off x="202500" y="340200"/>
              <a:ext cx="8100" cy="11340"/>
            </a:xfrm>
            <a:prstGeom prst="ellipse">
              <a:avLst/>
            </a:prstGeom>
            <a:solidFill>
              <a:srgbClr val="B98D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Colonic epithelial nucleus 02"/>
            <p:cNvSpPr/>
            <p:nvPr/>
          </p:nvSpPr>
          <p:spPr>
            <a:xfrm>
              <a:off x="291600" y="344250"/>
              <a:ext cx="8100" cy="11340"/>
            </a:xfrm>
            <a:prstGeom prst="ellipse">
              <a:avLst/>
            </a:prstGeom>
            <a:solidFill>
              <a:srgbClr val="B98D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Colonic epithelial nucleus 03"/>
            <p:cNvSpPr/>
            <p:nvPr/>
          </p:nvSpPr>
          <p:spPr>
            <a:xfrm rot="21300000">
              <a:off x="376650" y="340200"/>
              <a:ext cx="8100" cy="11340"/>
            </a:xfrm>
            <a:prstGeom prst="ellipse">
              <a:avLst/>
            </a:prstGeom>
            <a:solidFill>
              <a:srgbClr val="B98D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Colonic epithelial nucleus 04"/>
            <p:cNvSpPr/>
            <p:nvPr/>
          </p:nvSpPr>
          <p:spPr>
            <a:xfrm rot="600000">
              <a:off x="473850" y="340200"/>
              <a:ext cx="8100" cy="11340"/>
            </a:xfrm>
            <a:prstGeom prst="ellipse">
              <a:avLst/>
            </a:prstGeom>
            <a:solidFill>
              <a:srgbClr val="B98D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Colonic epithelial nucleus 05"/>
            <p:cNvSpPr/>
            <p:nvPr/>
          </p:nvSpPr>
          <p:spPr>
            <a:xfrm rot="1800000">
              <a:off x="575100" y="319950"/>
              <a:ext cx="8100" cy="11340"/>
            </a:xfrm>
            <a:prstGeom prst="ellipse">
              <a:avLst/>
            </a:prstGeom>
            <a:solidFill>
              <a:srgbClr val="B98D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Pale colonic goblet-cell profile 00"/>
            <p:cNvSpPr/>
            <p:nvPr/>
          </p:nvSpPr>
          <p:spPr>
            <a:xfrm>
              <a:off x="287550" y="364500"/>
              <a:ext cx="10935" cy="16605"/>
            </a:xfrm>
            <a:prstGeom prst="ellipse">
              <a:avLst/>
            </a:prstGeom>
            <a:solidFill>
              <a:srgbClr val="FFF2DF"/>
            </a:solidFill>
            <a:ln w="1905">
              <a:solidFill>
                <a:srgbClr val="D4AD9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Pale colonic goblet-cell profile 01"/>
            <p:cNvSpPr/>
            <p:nvPr/>
          </p:nvSpPr>
          <p:spPr>
            <a:xfrm>
              <a:off x="469800" y="360450"/>
              <a:ext cx="10935" cy="16605"/>
            </a:xfrm>
            <a:prstGeom prst="ellipse">
              <a:avLst/>
            </a:prstGeom>
            <a:solidFill>
              <a:srgbClr val="FFF2DF"/>
            </a:solidFill>
            <a:ln w="1905">
              <a:solidFill>
                <a:srgbClr val="D4AD9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Intraluminal sage rod cell wall"/>
            <p:cNvSpPr/>
            <p:nvPr/>
          </p:nvSpPr>
          <p:spPr>
            <a:xfrm>
              <a:off x="125095" y="198287"/>
              <a:ext cx="98110" cy="57027"/>
            </a:xfrm>
            <a:custGeom>
              <a:avLst/>
              <a:gdLst/>
              <a:ahLst/>
              <a:cxnLst/>
              <a:rect l="0" t="0" r="r" b="b"/>
              <a:pathLst>
                <a:path w="230741" h="134118">
                  <a:moveTo>
                    <a:pt x="31738" y="53170"/>
                  </a:moveTo>
                  <a:lnTo>
                    <a:pt x="174867" y="6665"/>
                  </a:lnTo>
                  <a:cubicBezTo>
                    <a:pt x="195380" y="0"/>
                    <a:pt x="217412" y="11226"/>
                    <a:pt x="224076" y="31738"/>
                  </a:cubicBezTo>
                  <a:cubicBezTo>
                    <a:pt x="230741" y="52251"/>
                    <a:pt x="219516" y="74282"/>
                    <a:pt x="199003" y="80947"/>
                  </a:cubicBezTo>
                  <a:lnTo>
                    <a:pt x="55874" y="127453"/>
                  </a:lnTo>
                  <a:cubicBezTo>
                    <a:pt x="35361" y="134118"/>
                    <a:pt x="13330" y="122892"/>
                    <a:pt x="6665" y="102379"/>
                  </a:cubicBezTo>
                  <a:cubicBezTo>
                    <a:pt x="0" y="81867"/>
                    <a:pt x="11226" y="59835"/>
                    <a:pt x="31738" y="53170"/>
                  </a:cubicBezTo>
                  <a:close/>
                </a:path>
              </a:pathLst>
            </a:custGeom>
            <a:solidFill>
              <a:srgbClr val="ACC2AB"/>
            </a:solidFill>
            <a:ln w="3037" cap="rnd">
              <a:solidFill>
                <a:srgbClr val="78927A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Intraluminal sage rod reflected edge"/>
            <p:cNvSpPr/>
            <p:nvPr/>
          </p:nvSpPr>
          <p:spPr>
            <a:xfrm>
              <a:off x="150541" y="214056"/>
              <a:ext cx="41336" cy="12558"/>
            </a:xfrm>
            <a:custGeom>
              <a:avLst/>
              <a:gdLst/>
              <a:ahLst/>
              <a:cxnLst/>
              <a:rect l="0" t="0" r="r" b="b"/>
              <a:pathLst>
                <a:path w="97216" h="29534">
                  <a:moveTo>
                    <a:pt x="0" y="29534"/>
                  </a:moveTo>
                  <a:quadBezTo>
                    <a:pt x="47682" y="5829"/>
                    <a:pt x="97216" y="0"/>
                  </a:quadBezTo>
                </a:path>
              </a:pathLst>
            </a:custGeom>
            <a:noFill/>
            <a:ln w="2430" cap="rnd">
              <a:solidFill>
                <a:srgbClr val="F7F4E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Intraluminal sage rod nucleoid"/>
            <p:cNvSpPr/>
            <p:nvPr/>
          </p:nvSpPr>
          <p:spPr>
            <a:xfrm>
              <a:off x="161978" y="218313"/>
              <a:ext cx="27386" cy="12442"/>
            </a:xfrm>
            <a:custGeom>
              <a:avLst/>
              <a:gdLst/>
              <a:ahLst/>
              <a:cxnLst/>
              <a:rect l="0" t="0" r="r" b="b"/>
              <a:pathLst>
                <a:path w="64408" h="29261">
                  <a:moveTo>
                    <a:pt x="0" y="29261"/>
                  </a:moveTo>
                  <a:cubicBezTo>
                    <a:pt x="14229" y="0"/>
                    <a:pt x="51344" y="29003"/>
                    <a:pt x="64408" y="8333"/>
                  </a:cubicBezTo>
                </a:path>
              </a:pathLst>
            </a:custGeom>
            <a:noFill/>
            <a:ln w="2632" cap="rnd">
              <a:solidFill>
                <a:srgbClr val="78927A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Intraluminal sage rod ribosomal dot 0"/>
            <p:cNvSpPr/>
            <p:nvPr/>
          </p:nvSpPr>
          <p:spPr>
            <a:xfrm>
              <a:off x="151041" y="234045"/>
              <a:ext cx="5670" cy="5670"/>
            </a:xfrm>
            <a:prstGeom prst="ellipse">
              <a:avLst/>
            </a:prstGeom>
            <a:solidFill>
              <a:srgbClr val="7892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Intraluminal sage rod ribosomal dot 1"/>
            <p:cNvSpPr/>
            <p:nvPr/>
          </p:nvSpPr>
          <p:spPr>
            <a:xfrm>
              <a:off x="196685" y="219214"/>
              <a:ext cx="5670" cy="5670"/>
            </a:xfrm>
            <a:prstGeom prst="ellipse">
              <a:avLst/>
            </a:prstGeom>
            <a:solidFill>
              <a:srgbClr val="78927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Intraluminal lavender rod cell wall"/>
            <p:cNvSpPr/>
            <p:nvPr/>
          </p:nvSpPr>
          <p:spPr>
            <a:xfrm>
              <a:off x="422644" y="179561"/>
              <a:ext cx="94312" cy="53977"/>
            </a:xfrm>
            <a:custGeom>
              <a:avLst/>
              <a:gdLst/>
              <a:ahLst/>
              <a:cxnLst/>
              <a:rect l="0" t="0" r="r" b="b"/>
              <a:pathLst>
                <a:path w="221807" h="126947">
                  <a:moveTo>
                    <a:pt x="53727" y="6152"/>
                  </a:moveTo>
                  <a:lnTo>
                    <a:pt x="190359" y="47925"/>
                  </a:lnTo>
                  <a:cubicBezTo>
                    <a:pt x="210481" y="54077"/>
                    <a:pt x="221807" y="75377"/>
                    <a:pt x="215655" y="95499"/>
                  </a:cubicBezTo>
                  <a:cubicBezTo>
                    <a:pt x="209502" y="115622"/>
                    <a:pt x="188203" y="126947"/>
                    <a:pt x="168080" y="120795"/>
                  </a:cubicBezTo>
                  <a:lnTo>
                    <a:pt x="31448" y="79023"/>
                  </a:lnTo>
                  <a:cubicBezTo>
                    <a:pt x="11325" y="72870"/>
                    <a:pt x="0" y="51571"/>
                    <a:pt x="6152" y="31448"/>
                  </a:cubicBezTo>
                  <a:cubicBezTo>
                    <a:pt x="12304" y="11325"/>
                    <a:pt x="33604" y="0"/>
                    <a:pt x="53727" y="6152"/>
                  </a:cubicBezTo>
                  <a:close/>
                </a:path>
              </a:pathLst>
            </a:custGeom>
            <a:solidFill>
              <a:srgbClr val="B7ACC9"/>
            </a:solidFill>
            <a:ln w="3037" cap="rnd">
              <a:solidFill>
                <a:srgbClr val="9280A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Intraluminal lavender rod reflected edge"/>
            <p:cNvSpPr/>
            <p:nvPr/>
          </p:nvSpPr>
          <p:spPr>
            <a:xfrm>
              <a:off x="451598" y="193362"/>
              <a:ext cx="38978" cy="12764"/>
            </a:xfrm>
            <a:custGeom>
              <a:avLst/>
              <a:gdLst/>
              <a:ahLst/>
              <a:cxnLst/>
              <a:rect l="0" t="0" r="r" b="b"/>
              <a:pathLst>
                <a:path w="91670" h="30018">
                  <a:moveTo>
                    <a:pt x="0" y="0"/>
                  </a:moveTo>
                  <a:quadBezTo>
                    <a:pt x="50049" y="7333"/>
                    <a:pt x="91670" y="30018"/>
                  </a:quadBezTo>
                </a:path>
              </a:pathLst>
            </a:custGeom>
            <a:noFill/>
            <a:ln w="2430" cap="rnd">
              <a:solidFill>
                <a:srgbClr val="F7F4E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Intraluminal lavender rod nucleoid"/>
            <p:cNvSpPr/>
            <p:nvPr/>
          </p:nvSpPr>
          <p:spPr>
            <a:xfrm>
              <a:off x="458181" y="196367"/>
              <a:ext cx="26143" cy="18600"/>
            </a:xfrm>
            <a:custGeom>
              <a:avLst/>
              <a:gdLst/>
              <a:ahLst/>
              <a:cxnLst/>
              <a:rect l="0" t="0" r="r" b="b"/>
              <a:pathLst>
                <a:path w="61484" h="43745">
                  <a:moveTo>
                    <a:pt x="0" y="15595"/>
                  </a:moveTo>
                  <a:cubicBezTo>
                    <a:pt x="27178" y="0"/>
                    <a:pt x="39950" y="43745"/>
                    <a:pt x="61484" y="34393"/>
                  </a:cubicBezTo>
                </a:path>
              </a:pathLst>
            </a:custGeom>
            <a:noFill/>
            <a:ln w="2632" cap="rnd">
              <a:solidFill>
                <a:srgbClr val="9280A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Intraluminal lavender rod ribosomal dot 0"/>
            <p:cNvSpPr/>
            <p:nvPr/>
          </p:nvSpPr>
          <p:spPr>
            <a:xfrm>
              <a:off x="445684" y="200597"/>
              <a:ext cx="5670" cy="5670"/>
            </a:xfrm>
            <a:prstGeom prst="ellipse">
              <a:avLst/>
            </a:prstGeom>
            <a:solidFill>
              <a:srgbClr val="9280A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Intraluminal lavender rod ribosomal dot 1"/>
            <p:cNvSpPr/>
            <p:nvPr/>
          </p:nvSpPr>
          <p:spPr>
            <a:xfrm>
              <a:off x="489256" y="213918"/>
              <a:ext cx="5670" cy="5670"/>
            </a:xfrm>
            <a:prstGeom prst="ellipse">
              <a:avLst/>
            </a:prstGeom>
            <a:solidFill>
              <a:srgbClr val="9280A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Intraluminal blue rod cell wall"/>
            <p:cNvSpPr/>
            <p:nvPr/>
          </p:nvSpPr>
          <p:spPr>
            <a:xfrm>
              <a:off x="301157" y="250840"/>
              <a:ext cx="110487" cy="57220"/>
            </a:xfrm>
            <a:custGeom>
              <a:avLst/>
              <a:gdLst/>
              <a:ahLst/>
              <a:cxnLst/>
              <a:rect l="0" t="0" r="r" b="b"/>
              <a:pathLst>
                <a:path w="259849" h="134574">
                  <a:moveTo>
                    <a:pt x="54714" y="5718"/>
                  </a:moveTo>
                  <a:lnTo>
                    <a:pt x="225843" y="51572"/>
                  </a:lnTo>
                  <a:cubicBezTo>
                    <a:pt x="247184" y="57290"/>
                    <a:pt x="259849" y="79227"/>
                    <a:pt x="254130" y="100568"/>
                  </a:cubicBezTo>
                  <a:cubicBezTo>
                    <a:pt x="248412" y="121909"/>
                    <a:pt x="226476" y="134574"/>
                    <a:pt x="205134" y="128856"/>
                  </a:cubicBezTo>
                  <a:lnTo>
                    <a:pt x="34006" y="83002"/>
                  </a:lnTo>
                  <a:cubicBezTo>
                    <a:pt x="12665" y="77284"/>
                    <a:pt x="0" y="55348"/>
                    <a:pt x="5718" y="34006"/>
                  </a:cubicBezTo>
                  <a:cubicBezTo>
                    <a:pt x="11437" y="12665"/>
                    <a:pt x="33373" y="0"/>
                    <a:pt x="54714" y="5718"/>
                  </a:cubicBezTo>
                  <a:close/>
                </a:path>
              </a:pathLst>
            </a:custGeom>
            <a:solidFill>
              <a:srgbClr val="B1C8D3"/>
            </a:solidFill>
            <a:ln w="3037" cap="rnd">
              <a:solidFill>
                <a:srgbClr val="7D9EA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" name="Intraluminal blue rod reflected edge"/>
            <p:cNvSpPr/>
            <p:nvPr/>
          </p:nvSpPr>
          <p:spPr>
            <a:xfrm>
              <a:off x="332914" y="265232"/>
              <a:ext cx="48895" cy="13982"/>
            </a:xfrm>
            <a:custGeom>
              <a:avLst/>
              <a:gdLst/>
              <a:ahLst/>
              <a:cxnLst/>
              <a:rect l="0" t="0" r="r" b="b"/>
              <a:pathLst>
                <a:path w="114994" h="32883">
                  <a:moveTo>
                    <a:pt x="0" y="0"/>
                  </a:moveTo>
                  <a:quadBezTo>
                    <a:pt x="61966" y="8320"/>
                    <a:pt x="114994" y="32883"/>
                  </a:quadBezTo>
                </a:path>
              </a:pathLst>
            </a:custGeom>
            <a:noFill/>
            <a:ln w="2430" cap="rnd">
              <a:solidFill>
                <a:srgbClr val="F7F4E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Intraluminal blue rod nucleoid"/>
            <p:cNvSpPr/>
            <p:nvPr/>
          </p:nvSpPr>
          <p:spPr>
            <a:xfrm>
              <a:off x="341847" y="268617"/>
              <a:ext cx="32744" cy="19842"/>
            </a:xfrm>
            <a:custGeom>
              <a:avLst/>
              <a:gdLst/>
              <a:ahLst/>
              <a:cxnLst/>
              <a:rect l="0" t="0" r="r" b="b"/>
              <a:pathLst>
                <a:path w="77008" h="46666">
                  <a:moveTo>
                    <a:pt x="0" y="16307"/>
                  </a:moveTo>
                  <a:cubicBezTo>
                    <a:pt x="31882" y="0"/>
                    <a:pt x="51475" y="46666"/>
                    <a:pt x="77008" y="36941"/>
                  </a:cubicBezTo>
                </a:path>
              </a:pathLst>
            </a:custGeom>
            <a:noFill/>
            <a:ln w="2632" cap="rnd">
              <a:solidFill>
                <a:srgbClr val="7D9EA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Intraluminal blue rod ribosomal dot 0"/>
            <p:cNvSpPr/>
            <p:nvPr/>
          </p:nvSpPr>
          <p:spPr>
            <a:xfrm>
              <a:off x="327217" y="273077"/>
              <a:ext cx="5670" cy="5670"/>
            </a:xfrm>
            <a:prstGeom prst="ellipse">
              <a:avLst/>
            </a:prstGeom>
            <a:solidFill>
              <a:srgbClr val="7D9EA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Intraluminal blue rod ribosomal dot 1"/>
            <p:cNvSpPr/>
            <p:nvPr/>
          </p:nvSpPr>
          <p:spPr>
            <a:xfrm>
              <a:off x="381790" y="287700"/>
              <a:ext cx="5670" cy="5670"/>
            </a:xfrm>
            <a:prstGeom prst="ellipse">
              <a:avLst/>
            </a:prstGeom>
            <a:solidFill>
              <a:srgbClr val="7D9EA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0" name="Intraluminal ochre rod cell wall"/>
            <p:cNvSpPr/>
            <p:nvPr/>
          </p:nvSpPr>
          <p:spPr>
            <a:xfrm>
              <a:off x="508853" y="245946"/>
              <a:ext cx="83894" cy="58907"/>
            </a:xfrm>
            <a:custGeom>
              <a:avLst/>
              <a:gdLst/>
              <a:ahLst/>
              <a:cxnLst/>
              <a:rect l="0" t="0" r="r" b="b"/>
              <a:pathLst>
                <a:path w="197307" h="138541">
                  <a:moveTo>
                    <a:pt x="25428" y="64715"/>
                  </a:moveTo>
                  <a:lnTo>
                    <a:pt x="140146" y="8763"/>
                  </a:lnTo>
                  <a:cubicBezTo>
                    <a:pt x="158112" y="0"/>
                    <a:pt x="179781" y="7461"/>
                    <a:pt x="188544" y="25428"/>
                  </a:cubicBezTo>
                  <a:cubicBezTo>
                    <a:pt x="197307" y="43395"/>
                    <a:pt x="189846" y="65064"/>
                    <a:pt x="171879" y="73827"/>
                  </a:cubicBezTo>
                  <a:lnTo>
                    <a:pt x="57162" y="129778"/>
                  </a:lnTo>
                  <a:cubicBezTo>
                    <a:pt x="39195" y="138541"/>
                    <a:pt x="17526" y="131080"/>
                    <a:pt x="8763" y="113113"/>
                  </a:cubicBezTo>
                  <a:cubicBezTo>
                    <a:pt x="0" y="95146"/>
                    <a:pt x="7461" y="73478"/>
                    <a:pt x="25428" y="64715"/>
                  </a:cubicBezTo>
                  <a:close/>
                </a:path>
              </a:pathLst>
            </a:custGeom>
            <a:solidFill>
              <a:srgbClr val="DEC19F"/>
            </a:solidFill>
            <a:ln w="3037" cap="rnd">
              <a:solidFill>
                <a:srgbClr val="B49673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1" name="Intraluminal ochre rod reflected edge"/>
            <p:cNvSpPr/>
            <p:nvPr/>
          </p:nvSpPr>
          <p:spPr>
            <a:xfrm>
              <a:off x="530692" y="262135"/>
              <a:ext cx="33262" cy="15367"/>
            </a:xfrm>
            <a:custGeom>
              <a:avLst/>
              <a:gdLst/>
              <a:ahLst/>
              <a:cxnLst/>
              <a:rect l="0" t="0" r="r" b="b"/>
              <a:pathLst>
                <a:path w="78228" h="36141">
                  <a:moveTo>
                    <a:pt x="0" y="36141"/>
                  </a:moveTo>
                  <a:quadBezTo>
                    <a:pt x="36978" y="10051"/>
                    <a:pt x="78228" y="0"/>
                  </a:quadBezTo>
                </a:path>
              </a:pathLst>
            </a:custGeom>
            <a:noFill/>
            <a:ln w="2430" cap="rnd">
              <a:solidFill>
                <a:srgbClr val="F7F4E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Intraluminal ochre rod nucleoid"/>
            <p:cNvSpPr/>
            <p:nvPr/>
          </p:nvSpPr>
          <p:spPr>
            <a:xfrm>
              <a:off x="541044" y="268290"/>
              <a:ext cx="21950" cy="11868"/>
            </a:xfrm>
            <a:custGeom>
              <a:avLst/>
              <a:gdLst/>
              <a:ahLst/>
              <a:cxnLst/>
              <a:rect l="0" t="0" r="r" b="b"/>
              <a:pathLst>
                <a:path w="51623" h="27912">
                  <a:moveTo>
                    <a:pt x="0" y="27912"/>
                  </a:moveTo>
                  <a:cubicBezTo>
                    <a:pt x="7688" y="0"/>
                    <a:pt x="43630" y="22740"/>
                    <a:pt x="51623" y="2734"/>
                  </a:cubicBezTo>
                </a:path>
              </a:pathLst>
            </a:custGeom>
            <a:noFill/>
            <a:ln w="2632" cap="rnd">
              <a:solidFill>
                <a:srgbClr val="B49673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Intraluminal ochre rod ribosomal dot 0"/>
            <p:cNvSpPr/>
            <p:nvPr/>
          </p:nvSpPr>
          <p:spPr>
            <a:xfrm>
              <a:off x="532242" y="283658"/>
              <a:ext cx="5670" cy="5670"/>
            </a:xfrm>
            <a:prstGeom prst="ellipse">
              <a:avLst/>
            </a:prstGeom>
            <a:solidFill>
              <a:srgbClr val="B4967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Intraluminal ochre rod ribosomal dot 1"/>
            <p:cNvSpPr/>
            <p:nvPr/>
          </p:nvSpPr>
          <p:spPr>
            <a:xfrm>
              <a:off x="568825" y="265815"/>
              <a:ext cx="5670" cy="5670"/>
            </a:xfrm>
            <a:prstGeom prst="ellipse">
              <a:avLst/>
            </a:prstGeom>
            <a:solidFill>
              <a:srgbClr val="B4967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Intraluminal sage coccus 00"/>
            <p:cNvSpPr/>
            <p:nvPr/>
          </p:nvSpPr>
          <p:spPr>
            <a:xfrm>
              <a:off x="284310" y="187110"/>
              <a:ext cx="22680" cy="22680"/>
            </a:xfrm>
            <a:prstGeom prst="ellipse">
              <a:avLst/>
            </a:prstGeom>
            <a:solidFill>
              <a:srgbClr val="C6CFA9"/>
            </a:solidFill>
            <a:ln w="2025">
              <a:solidFill>
                <a:srgbClr val="929E79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6" name="Intraluminal coccus nucleoid 00"/>
            <p:cNvSpPr/>
            <p:nvPr/>
          </p:nvSpPr>
          <p:spPr>
            <a:xfrm>
              <a:off x="293018" y="195615"/>
              <a:ext cx="4860" cy="5670"/>
            </a:xfrm>
            <a:prstGeom prst="ellipse">
              <a:avLst/>
            </a:prstGeom>
            <a:solidFill>
              <a:srgbClr val="96A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Intraluminal sage coccus 01"/>
            <p:cNvSpPr/>
            <p:nvPr/>
          </p:nvSpPr>
          <p:spPr>
            <a:xfrm>
              <a:off x="306585" y="200880"/>
              <a:ext cx="22680" cy="22680"/>
            </a:xfrm>
            <a:prstGeom prst="ellipse">
              <a:avLst/>
            </a:prstGeom>
            <a:solidFill>
              <a:srgbClr val="C6CFA9"/>
            </a:solidFill>
            <a:ln w="2025">
              <a:solidFill>
                <a:srgbClr val="929E79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Intraluminal coccus nucleoid 01"/>
            <p:cNvSpPr/>
            <p:nvPr/>
          </p:nvSpPr>
          <p:spPr>
            <a:xfrm>
              <a:off x="315292" y="209385"/>
              <a:ext cx="4860" cy="5670"/>
            </a:xfrm>
            <a:prstGeom prst="ellipse">
              <a:avLst/>
            </a:prstGeom>
            <a:solidFill>
              <a:srgbClr val="96A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Intraluminal sage coccus 02"/>
            <p:cNvSpPr/>
            <p:nvPr/>
          </p:nvSpPr>
          <p:spPr>
            <a:xfrm>
              <a:off x="329670" y="210600"/>
              <a:ext cx="22680" cy="22680"/>
            </a:xfrm>
            <a:prstGeom prst="ellipse">
              <a:avLst/>
            </a:prstGeom>
            <a:solidFill>
              <a:srgbClr val="C6CFA9"/>
            </a:solidFill>
            <a:ln w="2025">
              <a:solidFill>
                <a:srgbClr val="929E79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0" name="Intraluminal coccus nucleoid 02"/>
            <p:cNvSpPr/>
            <p:nvPr/>
          </p:nvSpPr>
          <p:spPr>
            <a:xfrm>
              <a:off x="338378" y="219105"/>
              <a:ext cx="4860" cy="5670"/>
            </a:xfrm>
            <a:prstGeom prst="ellipse">
              <a:avLst/>
            </a:prstGeom>
            <a:solidFill>
              <a:srgbClr val="96A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1" name="Intraluminal dividing blue coccus 00"/>
            <p:cNvSpPr/>
            <p:nvPr/>
          </p:nvSpPr>
          <p:spPr>
            <a:xfrm>
              <a:off x="203715" y="268515"/>
              <a:ext cx="21870" cy="21870"/>
            </a:xfrm>
            <a:prstGeom prst="ellipse">
              <a:avLst/>
            </a:prstGeom>
            <a:solidFill>
              <a:srgbClr val="C0CED7"/>
            </a:solidFill>
            <a:ln w="2025">
              <a:solidFill>
                <a:srgbClr val="879EAD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Intraluminal blue coccus nucleoid 00"/>
            <p:cNvSpPr/>
            <p:nvPr/>
          </p:nvSpPr>
          <p:spPr>
            <a:xfrm>
              <a:off x="212220" y="276615"/>
              <a:ext cx="4860" cy="5265"/>
            </a:xfrm>
            <a:prstGeom prst="ellipse">
              <a:avLst/>
            </a:prstGeom>
            <a:solidFill>
              <a:srgbClr val="8FA4A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Intraluminal dividing blue coccus 01"/>
            <p:cNvSpPr/>
            <p:nvPr/>
          </p:nvSpPr>
          <p:spPr>
            <a:xfrm>
              <a:off x="224775" y="280665"/>
              <a:ext cx="21870" cy="21870"/>
            </a:xfrm>
            <a:prstGeom prst="ellipse">
              <a:avLst/>
            </a:prstGeom>
            <a:solidFill>
              <a:srgbClr val="C0CED7"/>
            </a:solidFill>
            <a:ln w="2025">
              <a:solidFill>
                <a:srgbClr val="879EAD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Intraluminal blue coccus nucleoid 01"/>
            <p:cNvSpPr/>
            <p:nvPr/>
          </p:nvSpPr>
          <p:spPr>
            <a:xfrm>
              <a:off x="233280" y="288765"/>
              <a:ext cx="4860" cy="5265"/>
            </a:xfrm>
            <a:prstGeom prst="ellipse">
              <a:avLst/>
            </a:prstGeom>
            <a:solidFill>
              <a:srgbClr val="8FA4A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55" name="gut_microbiota"/>
          <p:cNvSpPr txBox="1"/>
          <p:nvPr/>
        </p:nvSpPr>
        <p:spPr>
          <a:xfrm>
            <a:off x="1101600" y="518400"/>
            <a:ext cx="704700" cy="12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1" i="0">
                <a:solidFill>
                  <a:srgbClr val="287A7D"/>
                </a:solidFill>
                <a:latin typeface="Times New Roman"/>
              </a:rPr>
              <a:t>Gut microbiota</a:t>
            </a:r>
          </a:p>
        </p:txBody>
      </p:sp>
      <p:sp>
        <p:nvSpPr>
          <p:cNvPr id="156" name="colonic_lumen"/>
          <p:cNvSpPr txBox="1"/>
          <p:nvPr/>
        </p:nvSpPr>
        <p:spPr>
          <a:xfrm>
            <a:off x="1101600" y="1251450"/>
            <a:ext cx="704700" cy="12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Colonic lumen</a:t>
            </a:r>
          </a:p>
        </p:txBody>
      </p:sp>
      <p:sp>
        <p:nvSpPr>
          <p:cNvPr id="157" name="Colonic segment locator ring"/>
          <p:cNvSpPr/>
          <p:nvPr/>
        </p:nvSpPr>
        <p:spPr>
          <a:xfrm>
            <a:off x="803011" y="828189"/>
            <a:ext cx="56700" cy="72900"/>
          </a:xfrm>
          <a:prstGeom prst="ellipse">
            <a:avLst/>
          </a:prstGeom>
          <a:noFill/>
          <a:ln w="3645">
            <a:solidFill>
              <a:srgbClr val="778C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Anatomic colon–lumen leader"/>
          <p:cNvSpPr/>
          <p:nvPr/>
        </p:nvSpPr>
        <p:spPr>
          <a:xfrm>
            <a:off x="859267" y="799606"/>
            <a:ext cx="254624" cy="58610"/>
          </a:xfrm>
          <a:custGeom>
            <a:avLst/>
            <a:gdLst/>
            <a:ahLst/>
            <a:cxnLst/>
            <a:rect l="0" t="0" r="r" b="b"/>
            <a:pathLst>
              <a:path w="598838" h="137841">
                <a:moveTo>
                  <a:pt x="0" y="137841"/>
                </a:moveTo>
                <a:lnTo>
                  <a:pt x="598838" y="0"/>
                </a:lnTo>
              </a:path>
            </a:pathLst>
          </a:custGeom>
          <a:noFill/>
          <a:ln w="3645" cap="rnd">
            <a:solidFill>
              <a:srgbClr val="778C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barrier_impairment"/>
          <p:cNvSpPr txBox="1"/>
          <p:nvPr/>
        </p:nvSpPr>
        <p:spPr>
          <a:xfrm>
            <a:off x="1871100" y="737100"/>
            <a:ext cx="749250" cy="263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29" b="1" i="0">
                <a:solidFill>
                  <a:srgbClr val="287A7D"/>
                </a:solidFill>
                <a:latin typeface="Times New Roman"/>
              </a:rPr>
              <a:t>Barrier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29" b="1" i="0">
                <a:solidFill>
                  <a:srgbClr val="287A7D"/>
                </a:solidFill>
                <a:latin typeface="Times New Roman"/>
              </a:rPr>
              <a:t>impairment</a:t>
            </a:r>
          </a:p>
        </p:txBody>
      </p:sp>
      <p:sp>
        <p:nvSpPr>
          <p:cNvPr id="160" name="microbial_shifts"/>
          <p:cNvSpPr txBox="1"/>
          <p:nvPr/>
        </p:nvSpPr>
        <p:spPr>
          <a:xfrm>
            <a:off x="1871100" y="1312200"/>
            <a:ext cx="769500" cy="33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Microbial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compositional /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functional shifts</a:t>
            </a:r>
          </a:p>
        </p:txBody>
      </p:sp>
      <p:sp>
        <p:nvSpPr>
          <p:cNvPr id="161" name="mamp_exposure"/>
          <p:cNvSpPr txBox="1"/>
          <p:nvPr/>
        </p:nvSpPr>
        <p:spPr>
          <a:xfrm>
            <a:off x="2628450" y="530550"/>
            <a:ext cx="664200" cy="32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MAMP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translocation /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exposure</a:t>
            </a:r>
          </a:p>
        </p:txBody>
      </p:sp>
      <p:sp>
        <p:nvSpPr>
          <p:cNvPr id="162" name="metabolite_exposure"/>
          <p:cNvSpPr txBox="1"/>
          <p:nvPr/>
        </p:nvSpPr>
        <p:spPr>
          <a:xfrm>
            <a:off x="2632500" y="1251450"/>
            <a:ext cx="672300" cy="33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Altered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metabolite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exposure</a:t>
            </a:r>
          </a:p>
        </p:txBody>
      </p:sp>
      <p:sp>
        <p:nvSpPr>
          <p:cNvPr id="163" name="host_processing"/>
          <p:cNvSpPr txBox="1"/>
          <p:nvPr/>
        </p:nvSpPr>
        <p:spPr>
          <a:xfrm>
            <a:off x="1875150" y="1769850"/>
            <a:ext cx="1093500" cy="226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Microbial function +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host processing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83" y="140"/>
                </a:moveTo>
                <a:cubicBezTo>
                  <a:pt x="337" y="40"/>
                  <a:pt x="276" y="87"/>
                  <a:pt x="220" y="161"/>
                </a:cubicBezTo>
                <a:cubicBezTo>
                  <a:pt x="120" y="284"/>
                  <a:pt x="70" y="474"/>
                  <a:pt x="58" y="647"/>
                </a:cubicBezTo>
                <a:cubicBezTo>
                  <a:pt x="48" y="792"/>
                  <a:pt x="67" y="918"/>
                  <a:pt x="110" y="965"/>
                </a:cubicBezTo>
                <a:cubicBezTo>
                  <a:pt x="144" y="1002"/>
                  <a:pt x="222" y="947"/>
                  <a:pt x="316" y="916"/>
                </a:cubicBezTo>
                <a:cubicBezTo>
                  <a:pt x="397" y="890"/>
                  <a:pt x="433" y="848"/>
                  <a:pt x="437" y="745"/>
                </a:cubicBezTo>
                <a:cubicBezTo>
                  <a:pt x="444" y="598"/>
                  <a:pt x="423" y="464"/>
                  <a:pt x="409" y="336"/>
                </a:cubicBezTo>
                <a:cubicBezTo>
                  <a:pt x="401" y="267"/>
                  <a:pt x="414" y="197"/>
                  <a:pt x="383" y="140"/>
                </a:cubicBezTo>
                <a:close/>
              </a:path>
            </a:pathLst>
          </a:custGeom>
          <a:gradFill rotWithShape="1">
            <a:gsLst>
              <a:gs pos="0">
                <a:srgbClr val="F7FAFC"/>
              </a:gs>
              <a:gs pos="45000">
                <a:srgbClr val="E9F0F5"/>
              </a:gs>
              <a:gs pos="100000">
                <a:srgbClr val="DCE7EF"/>
              </a:gs>
            </a:gsLst>
            <a:lin ang="5400000" scaled="1"/>
          </a:gradFill>
          <a:ln w="3037" cap="rnd">
            <a:solidFill>
              <a:srgbClr val="899BA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617" y="141"/>
                </a:moveTo>
                <a:cubicBezTo>
                  <a:pt x="659" y="48"/>
                  <a:pt x="722" y="83"/>
                  <a:pt x="782" y="153"/>
                </a:cubicBezTo>
                <a:cubicBezTo>
                  <a:pt x="890" y="277"/>
                  <a:pt x="938" y="462"/>
                  <a:pt x="946" y="643"/>
                </a:cubicBezTo>
                <a:cubicBezTo>
                  <a:pt x="958" y="791"/>
                  <a:pt x="943" y="922"/>
                  <a:pt x="906" y="964"/>
                </a:cubicBezTo>
                <a:cubicBezTo>
                  <a:pt x="874" y="1000"/>
                  <a:pt x="803" y="952"/>
                  <a:pt x="710" y="921"/>
                </a:cubicBezTo>
                <a:cubicBezTo>
                  <a:pt x="621" y="891"/>
                  <a:pt x="578" y="843"/>
                  <a:pt x="570" y="759"/>
                </a:cubicBezTo>
                <a:cubicBezTo>
                  <a:pt x="557" y="647"/>
                  <a:pt x="571" y="552"/>
                  <a:pt x="560" y="470"/>
                </a:cubicBezTo>
                <a:cubicBezTo>
                  <a:pt x="553" y="418"/>
                  <a:pt x="576" y="366"/>
                  <a:pt x="590" y="307"/>
                </a:cubicBezTo>
                <a:cubicBezTo>
                  <a:pt x="609" y="236"/>
                  <a:pt x="588" y="197"/>
                  <a:pt x="617" y="141"/>
                </a:cubicBezTo>
                <a:close/>
              </a:path>
            </a:pathLst>
          </a:custGeom>
          <a:gradFill rotWithShape="1">
            <a:gsLst>
              <a:gs pos="0">
                <a:srgbClr val="F7FAFC"/>
              </a:gs>
              <a:gs pos="45000">
                <a:srgbClr val="E9F0F5"/>
              </a:gs>
              <a:gs pos="100000">
                <a:srgbClr val="DCE7EF"/>
              </a:gs>
            </a:gsLst>
            <a:lin ang="5400000" scaled="1"/>
          </a:gradFill>
          <a:ln w="3037" cap="rnd">
            <a:solidFill>
              <a:srgbClr val="899BA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10" y="548"/>
                </a:moveTo>
                <a:cubicBezTo>
                  <a:pt x="207" y="532"/>
                  <a:pt x="306" y="611"/>
                  <a:pt x="419" y="662"/>
                </a:cubicBezTo>
              </a:path>
            </a:pathLst>
          </a:custGeom>
          <a:noFill/>
          <a:ln w="1905" cap="rnd">
            <a:solidFill>
              <a:srgbClr val="BECBD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587" y="567"/>
                </a:moveTo>
                <a:cubicBezTo>
                  <a:pt x="686" y="595"/>
                  <a:pt x="794" y="589"/>
                  <a:pt x="927" y="526"/>
                </a:cubicBezTo>
              </a:path>
            </a:pathLst>
          </a:custGeom>
          <a:noFill/>
          <a:ln w="1905" cap="rnd">
            <a:solidFill>
              <a:srgbClr val="BECBD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04" y="697"/>
                </a:moveTo>
                <a:cubicBezTo>
                  <a:pt x="706" y="735"/>
                  <a:pt x="818" y="732"/>
                  <a:pt x="943" y="670"/>
                </a:cubicBezTo>
              </a:path>
            </a:pathLst>
          </a:custGeom>
          <a:noFill/>
          <a:ln w="1905" cap="rnd">
            <a:solidFill>
              <a:srgbClr val="BECBD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76" y="15"/>
                </a:moveTo>
                <a:lnTo>
                  <a:pt x="523" y="15"/>
                </a:lnTo>
                <a:lnTo>
                  <a:pt x="523" y="264"/>
                </a:lnTo>
                <a:cubicBezTo>
                  <a:pt x="522" y="304"/>
                  <a:pt x="549" y="332"/>
                  <a:pt x="594" y="367"/>
                </a:cubicBezTo>
                <a:lnTo>
                  <a:pt x="576" y="406"/>
                </a:lnTo>
                <a:cubicBezTo>
                  <a:pt x="532" y="375"/>
                  <a:pt x="513" y="352"/>
                  <a:pt x="499" y="329"/>
                </a:cubicBezTo>
                <a:cubicBezTo>
                  <a:pt x="485" y="353"/>
                  <a:pt x="453" y="385"/>
                  <a:pt x="414" y="410"/>
                </a:cubicBezTo>
                <a:lnTo>
                  <a:pt x="391" y="375"/>
                </a:lnTo>
                <a:cubicBezTo>
                  <a:pt x="440" y="343"/>
                  <a:pt x="476" y="307"/>
                  <a:pt x="476" y="265"/>
                </a:cubicBezTo>
                <a:close/>
              </a:path>
            </a:pathLst>
          </a:custGeom>
          <a:gradFill rotWithShape="1">
            <a:gsLst>
              <a:gs pos="0">
                <a:srgbClr val="DCECF5"/>
              </a:gs>
              <a:gs pos="100000">
                <a:srgbClr val="B5D0E2"/>
              </a:gs>
            </a:gsLst>
            <a:lin ang="5400000" scaled="1"/>
          </a:gradFill>
          <a:ln w="2916" cap="rnd">
            <a:solidFill>
              <a:srgbClr val="779BB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40"/>
                </a:moveTo>
                <a:cubicBezTo>
                  <a:pt x="491" y="46"/>
                  <a:pt x="508" y="46"/>
                  <a:pt x="522" y="40"/>
                </a:cubicBezTo>
              </a:path>
            </a:pathLst>
          </a:custGeom>
          <a:noFill/>
          <a:ln w="2025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77"/>
                </a:moveTo>
                <a:cubicBezTo>
                  <a:pt x="491" y="83"/>
                  <a:pt x="508" y="83"/>
                  <a:pt x="522" y="77"/>
                </a:cubicBezTo>
              </a:path>
            </a:pathLst>
          </a:custGeom>
          <a:noFill/>
          <a:ln w="2025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114"/>
                </a:moveTo>
                <a:cubicBezTo>
                  <a:pt x="491" y="120"/>
                  <a:pt x="508" y="120"/>
                  <a:pt x="522" y="114"/>
                </a:cubicBezTo>
              </a:path>
            </a:pathLst>
          </a:custGeom>
          <a:noFill/>
          <a:ln w="2025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151"/>
                </a:moveTo>
                <a:cubicBezTo>
                  <a:pt x="491" y="157"/>
                  <a:pt x="508" y="157"/>
                  <a:pt x="522" y="151"/>
                </a:cubicBezTo>
              </a:path>
            </a:pathLst>
          </a:custGeom>
          <a:noFill/>
          <a:ln w="2025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188"/>
                </a:moveTo>
                <a:cubicBezTo>
                  <a:pt x="491" y="194"/>
                  <a:pt x="508" y="194"/>
                  <a:pt x="522" y="188"/>
                </a:cubicBezTo>
              </a:path>
            </a:pathLst>
          </a:custGeom>
          <a:noFill/>
          <a:ln w="2025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225"/>
                </a:moveTo>
                <a:cubicBezTo>
                  <a:pt x="491" y="231"/>
                  <a:pt x="508" y="231"/>
                  <a:pt x="522" y="225"/>
                </a:cubicBezTo>
              </a:path>
            </a:pathLst>
          </a:custGeom>
          <a:noFill/>
          <a:ln w="2025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49" y="359"/>
                </a:moveTo>
                <a:cubicBezTo>
                  <a:pt x="376" y="424"/>
                  <a:pt x="322" y="527"/>
                  <a:pt x="299" y="649"/>
                </a:cubicBezTo>
                <a:cubicBezTo>
                  <a:pt x="283" y="746"/>
                  <a:pt x="251" y="835"/>
                  <a:pt x="195" y="914"/>
                </a:cubicBezTo>
              </a:path>
            </a:pathLst>
          </a:custGeom>
          <a:noFill/>
          <a:ln w="12801" cap="rnd">
            <a:solidFill>
              <a:srgbClr val="C7647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550" y="359"/>
                </a:moveTo>
                <a:cubicBezTo>
                  <a:pt x="624" y="414"/>
                  <a:pt x="684" y="522"/>
                  <a:pt x="700" y="640"/>
                </a:cubicBezTo>
                <a:cubicBezTo>
                  <a:pt x="713" y="747"/>
                  <a:pt x="748" y="832"/>
                  <a:pt x="815" y="914"/>
                </a:cubicBezTo>
              </a:path>
            </a:pathLst>
          </a:custGeom>
          <a:noFill/>
          <a:ln w="12801" cap="rnd">
            <a:solidFill>
              <a:srgbClr val="C7647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86" y="433"/>
                </a:moveTo>
                <a:cubicBezTo>
                  <a:pt x="321" y="427"/>
                  <a:pt x="271" y="404"/>
                  <a:pt x="224" y="358"/>
                </a:cubicBezTo>
              </a:path>
            </a:pathLst>
          </a:custGeom>
          <a:noFill/>
          <a:ln w="8107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51" y="489"/>
                </a:moveTo>
                <a:cubicBezTo>
                  <a:pt x="269" y="504"/>
                  <a:pt x="198" y="497"/>
                  <a:pt x="132" y="466"/>
                </a:cubicBezTo>
              </a:path>
            </a:pathLst>
          </a:custGeom>
          <a:noFill/>
          <a:ln w="7253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16" y="589"/>
                </a:moveTo>
                <a:cubicBezTo>
                  <a:pt x="232" y="605"/>
                  <a:pt x="177" y="643"/>
                  <a:pt x="123" y="684"/>
                </a:cubicBezTo>
              </a:path>
            </a:pathLst>
          </a:custGeom>
          <a:noFill/>
          <a:ln w="7040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88" y="700"/>
                </a:moveTo>
                <a:cubicBezTo>
                  <a:pt x="240" y="727"/>
                  <a:pt x="193" y="774"/>
                  <a:pt x="166" y="817"/>
                </a:cubicBezTo>
              </a:path>
            </a:pathLst>
          </a:custGeom>
          <a:noFill/>
          <a:ln w="5974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31" y="545"/>
                </a:moveTo>
                <a:cubicBezTo>
                  <a:pt x="369" y="594"/>
                  <a:pt x="385" y="660"/>
                  <a:pt x="389" y="722"/>
                </a:cubicBezTo>
              </a:path>
            </a:pathLst>
          </a:custGeom>
          <a:noFill/>
          <a:ln w="5334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68" y="762"/>
                </a:moveTo>
                <a:cubicBezTo>
                  <a:pt x="299" y="796"/>
                  <a:pt x="313" y="843"/>
                  <a:pt x="313" y="879"/>
                </a:cubicBezTo>
              </a:path>
            </a:pathLst>
          </a:custGeom>
          <a:noFill/>
          <a:ln w="4267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16" y="429"/>
                </a:moveTo>
                <a:cubicBezTo>
                  <a:pt x="684" y="424"/>
                  <a:pt x="733" y="404"/>
                  <a:pt x="781" y="359"/>
                </a:cubicBezTo>
              </a:path>
            </a:pathLst>
          </a:custGeom>
          <a:noFill/>
          <a:ln w="8107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51" y="488"/>
                </a:moveTo>
                <a:cubicBezTo>
                  <a:pt x="737" y="502"/>
                  <a:pt x="807" y="491"/>
                  <a:pt x="871" y="461"/>
                </a:cubicBezTo>
              </a:path>
            </a:pathLst>
          </a:custGeom>
          <a:noFill/>
          <a:ln w="7253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85" y="580"/>
                </a:moveTo>
                <a:cubicBezTo>
                  <a:pt x="763" y="600"/>
                  <a:pt x="821" y="640"/>
                  <a:pt x="879" y="684"/>
                </a:cubicBezTo>
              </a:path>
            </a:pathLst>
          </a:custGeom>
          <a:noFill/>
          <a:ln w="7040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11" y="701"/>
                </a:moveTo>
                <a:cubicBezTo>
                  <a:pt x="758" y="727"/>
                  <a:pt x="808" y="776"/>
                  <a:pt x="837" y="817"/>
                </a:cubicBezTo>
              </a:path>
            </a:pathLst>
          </a:custGeom>
          <a:noFill/>
          <a:ln w="5974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67" y="540"/>
                </a:moveTo>
                <a:cubicBezTo>
                  <a:pt x="626" y="587"/>
                  <a:pt x="609" y="646"/>
                  <a:pt x="606" y="709"/>
                </a:cubicBezTo>
              </a:path>
            </a:pathLst>
          </a:custGeom>
          <a:noFill/>
          <a:ln w="5120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33" y="769"/>
                </a:moveTo>
                <a:cubicBezTo>
                  <a:pt x="700" y="802"/>
                  <a:pt x="687" y="842"/>
                  <a:pt x="686" y="883"/>
                </a:cubicBezTo>
              </a:path>
            </a:pathLst>
          </a:custGeom>
          <a:noFill/>
          <a:ln w="4267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55" y="388"/>
                </a:moveTo>
                <a:cubicBezTo>
                  <a:pt x="258" y="344"/>
                  <a:pt x="250" y="309"/>
                  <a:pt x="229" y="276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87" y="416"/>
                </a:moveTo>
                <a:cubicBezTo>
                  <a:pt x="318" y="384"/>
                  <a:pt x="329" y="344"/>
                  <a:pt x="331" y="311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07" y="493"/>
                </a:moveTo>
                <a:cubicBezTo>
                  <a:pt x="187" y="453"/>
                  <a:pt x="163" y="435"/>
                  <a:pt x="139" y="422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03" y="625"/>
                </a:moveTo>
                <a:cubicBezTo>
                  <a:pt x="204" y="583"/>
                  <a:pt x="195" y="556"/>
                  <a:pt x="177" y="533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65" y="651"/>
                </a:moveTo>
                <a:cubicBezTo>
                  <a:pt x="139" y="635"/>
                  <a:pt x="118" y="632"/>
                  <a:pt x="98" y="636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24" y="750"/>
                </a:moveTo>
                <a:cubicBezTo>
                  <a:pt x="206" y="718"/>
                  <a:pt x="182" y="706"/>
                  <a:pt x="159" y="704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69" y="636"/>
                </a:moveTo>
                <a:cubicBezTo>
                  <a:pt x="394" y="616"/>
                  <a:pt x="410" y="593"/>
                  <a:pt x="415" y="568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49" y="389"/>
                </a:moveTo>
                <a:cubicBezTo>
                  <a:pt x="746" y="344"/>
                  <a:pt x="756" y="309"/>
                  <a:pt x="777" y="277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13" y="414"/>
                </a:moveTo>
                <a:cubicBezTo>
                  <a:pt x="686" y="381"/>
                  <a:pt x="673" y="345"/>
                  <a:pt x="672" y="312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96" y="491"/>
                </a:moveTo>
                <a:cubicBezTo>
                  <a:pt x="816" y="451"/>
                  <a:pt x="838" y="432"/>
                  <a:pt x="861" y="420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99" y="626"/>
                </a:moveTo>
                <a:cubicBezTo>
                  <a:pt x="798" y="582"/>
                  <a:pt x="807" y="557"/>
                  <a:pt x="827" y="532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836" y="653"/>
                </a:moveTo>
                <a:cubicBezTo>
                  <a:pt x="859" y="635"/>
                  <a:pt x="880" y="633"/>
                  <a:pt x="899" y="638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76" y="749"/>
                </a:moveTo>
                <a:cubicBezTo>
                  <a:pt x="793" y="718"/>
                  <a:pt x="819" y="706"/>
                  <a:pt x="841" y="705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159350" y="510300"/>
            <a:ext cx="477900" cy="4981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29" y="636"/>
                </a:moveTo>
                <a:cubicBezTo>
                  <a:pt x="604" y="618"/>
                  <a:pt x="589" y="595"/>
                  <a:pt x="584" y="570"/>
                </a:cubicBezTo>
              </a:path>
            </a:pathLst>
          </a:custGeom>
          <a:noFill/>
          <a:ln w="234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Adventitia softly irregular native tissue outline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91" y="500"/>
                </a:moveTo>
                <a:cubicBezTo>
                  <a:pt x="992" y="516"/>
                  <a:pt x="992" y="532"/>
                  <a:pt x="991" y="548"/>
                </a:cubicBezTo>
                <a:cubicBezTo>
                  <a:pt x="990" y="564"/>
                  <a:pt x="989" y="581"/>
                  <a:pt x="986" y="597"/>
                </a:cubicBezTo>
                <a:cubicBezTo>
                  <a:pt x="984" y="613"/>
                  <a:pt x="981" y="629"/>
                  <a:pt x="977" y="645"/>
                </a:cubicBezTo>
                <a:cubicBezTo>
                  <a:pt x="972" y="660"/>
                  <a:pt x="967" y="676"/>
                  <a:pt x="961" y="691"/>
                </a:cubicBezTo>
                <a:cubicBezTo>
                  <a:pt x="955" y="706"/>
                  <a:pt x="948" y="721"/>
                  <a:pt x="941" y="736"/>
                </a:cubicBezTo>
                <a:cubicBezTo>
                  <a:pt x="933" y="750"/>
                  <a:pt x="924" y="764"/>
                  <a:pt x="915" y="777"/>
                </a:cubicBezTo>
                <a:cubicBezTo>
                  <a:pt x="905" y="790"/>
                  <a:pt x="895" y="803"/>
                  <a:pt x="884" y="815"/>
                </a:cubicBezTo>
                <a:cubicBezTo>
                  <a:pt x="873" y="827"/>
                  <a:pt x="861" y="838"/>
                  <a:pt x="849" y="849"/>
                </a:cubicBezTo>
                <a:cubicBezTo>
                  <a:pt x="837" y="860"/>
                  <a:pt x="824" y="870"/>
                  <a:pt x="811" y="879"/>
                </a:cubicBezTo>
                <a:cubicBezTo>
                  <a:pt x="798" y="888"/>
                  <a:pt x="784" y="897"/>
                  <a:pt x="770" y="905"/>
                </a:cubicBezTo>
                <a:cubicBezTo>
                  <a:pt x="757" y="913"/>
                  <a:pt x="743" y="920"/>
                  <a:pt x="728" y="927"/>
                </a:cubicBezTo>
                <a:cubicBezTo>
                  <a:pt x="714" y="934"/>
                  <a:pt x="699" y="940"/>
                  <a:pt x="685" y="946"/>
                </a:cubicBezTo>
                <a:cubicBezTo>
                  <a:pt x="670" y="952"/>
                  <a:pt x="655" y="957"/>
                  <a:pt x="640" y="962"/>
                </a:cubicBezTo>
                <a:cubicBezTo>
                  <a:pt x="625" y="966"/>
                  <a:pt x="610" y="971"/>
                  <a:pt x="594" y="974"/>
                </a:cubicBezTo>
                <a:cubicBezTo>
                  <a:pt x="579" y="978"/>
                  <a:pt x="563" y="981"/>
                  <a:pt x="548" y="983"/>
                </a:cubicBezTo>
                <a:cubicBezTo>
                  <a:pt x="532" y="985"/>
                  <a:pt x="516" y="987"/>
                  <a:pt x="500" y="988"/>
                </a:cubicBezTo>
                <a:cubicBezTo>
                  <a:pt x="484" y="988"/>
                  <a:pt x="468" y="988"/>
                  <a:pt x="452" y="988"/>
                </a:cubicBezTo>
                <a:cubicBezTo>
                  <a:pt x="436" y="987"/>
                  <a:pt x="420" y="985"/>
                  <a:pt x="404" y="982"/>
                </a:cubicBezTo>
                <a:cubicBezTo>
                  <a:pt x="388" y="980"/>
                  <a:pt x="372" y="976"/>
                  <a:pt x="357" y="972"/>
                </a:cubicBezTo>
                <a:cubicBezTo>
                  <a:pt x="341" y="968"/>
                  <a:pt x="326" y="963"/>
                  <a:pt x="311" y="957"/>
                </a:cubicBezTo>
                <a:cubicBezTo>
                  <a:pt x="296" y="951"/>
                  <a:pt x="281" y="944"/>
                  <a:pt x="267" y="936"/>
                </a:cubicBezTo>
                <a:cubicBezTo>
                  <a:pt x="253" y="928"/>
                  <a:pt x="239" y="920"/>
                  <a:pt x="226" y="911"/>
                </a:cubicBezTo>
                <a:cubicBezTo>
                  <a:pt x="212" y="902"/>
                  <a:pt x="199" y="892"/>
                  <a:pt x="187" y="882"/>
                </a:cubicBezTo>
                <a:cubicBezTo>
                  <a:pt x="174" y="871"/>
                  <a:pt x="162" y="860"/>
                  <a:pt x="151" y="849"/>
                </a:cubicBezTo>
                <a:cubicBezTo>
                  <a:pt x="140" y="838"/>
                  <a:pt x="129" y="826"/>
                  <a:pt x="119" y="813"/>
                </a:cubicBezTo>
                <a:cubicBezTo>
                  <a:pt x="108" y="801"/>
                  <a:pt x="98" y="788"/>
                  <a:pt x="89" y="774"/>
                </a:cubicBezTo>
                <a:cubicBezTo>
                  <a:pt x="80" y="761"/>
                  <a:pt x="72" y="747"/>
                  <a:pt x="64" y="733"/>
                </a:cubicBezTo>
                <a:cubicBezTo>
                  <a:pt x="56" y="719"/>
                  <a:pt x="49" y="704"/>
                  <a:pt x="43" y="689"/>
                </a:cubicBezTo>
                <a:cubicBezTo>
                  <a:pt x="37" y="674"/>
                  <a:pt x="31" y="659"/>
                  <a:pt x="27" y="644"/>
                </a:cubicBezTo>
                <a:cubicBezTo>
                  <a:pt x="22" y="628"/>
                  <a:pt x="18" y="612"/>
                  <a:pt x="15" y="596"/>
                </a:cubicBezTo>
                <a:cubicBezTo>
                  <a:pt x="12" y="581"/>
                  <a:pt x="10" y="564"/>
                  <a:pt x="9" y="548"/>
                </a:cubicBezTo>
                <a:cubicBezTo>
                  <a:pt x="8" y="532"/>
                  <a:pt x="8" y="516"/>
                  <a:pt x="9" y="500"/>
                </a:cubicBezTo>
                <a:cubicBezTo>
                  <a:pt x="10" y="484"/>
                  <a:pt x="11" y="468"/>
                  <a:pt x="14" y="452"/>
                </a:cubicBezTo>
                <a:cubicBezTo>
                  <a:pt x="16" y="436"/>
                  <a:pt x="19" y="421"/>
                  <a:pt x="23" y="405"/>
                </a:cubicBezTo>
                <a:cubicBezTo>
                  <a:pt x="27" y="390"/>
                  <a:pt x="32" y="375"/>
                  <a:pt x="37" y="360"/>
                </a:cubicBezTo>
                <a:cubicBezTo>
                  <a:pt x="42" y="345"/>
                  <a:pt x="48" y="330"/>
                  <a:pt x="54" y="315"/>
                </a:cubicBezTo>
                <a:cubicBezTo>
                  <a:pt x="60" y="301"/>
                  <a:pt x="67" y="287"/>
                  <a:pt x="75" y="273"/>
                </a:cubicBezTo>
                <a:cubicBezTo>
                  <a:pt x="82" y="259"/>
                  <a:pt x="90" y="245"/>
                  <a:pt x="98" y="231"/>
                </a:cubicBezTo>
                <a:cubicBezTo>
                  <a:pt x="106" y="218"/>
                  <a:pt x="115" y="205"/>
                  <a:pt x="125" y="192"/>
                </a:cubicBezTo>
                <a:cubicBezTo>
                  <a:pt x="134" y="179"/>
                  <a:pt x="144" y="167"/>
                  <a:pt x="155" y="155"/>
                </a:cubicBezTo>
                <a:cubicBezTo>
                  <a:pt x="165" y="142"/>
                  <a:pt x="176" y="131"/>
                  <a:pt x="188" y="120"/>
                </a:cubicBezTo>
                <a:cubicBezTo>
                  <a:pt x="200" y="109"/>
                  <a:pt x="212" y="98"/>
                  <a:pt x="225" y="88"/>
                </a:cubicBezTo>
                <a:cubicBezTo>
                  <a:pt x="238" y="79"/>
                  <a:pt x="251" y="69"/>
                  <a:pt x="265" y="61"/>
                </a:cubicBezTo>
                <a:cubicBezTo>
                  <a:pt x="279" y="53"/>
                  <a:pt x="294" y="45"/>
                  <a:pt x="309" y="39"/>
                </a:cubicBezTo>
                <a:cubicBezTo>
                  <a:pt x="324" y="32"/>
                  <a:pt x="339" y="27"/>
                  <a:pt x="355" y="22"/>
                </a:cubicBezTo>
                <a:cubicBezTo>
                  <a:pt x="371" y="17"/>
                  <a:pt x="387" y="14"/>
                  <a:pt x="403" y="11"/>
                </a:cubicBezTo>
                <a:cubicBezTo>
                  <a:pt x="419" y="8"/>
                  <a:pt x="435" y="7"/>
                  <a:pt x="451" y="6"/>
                </a:cubicBezTo>
                <a:cubicBezTo>
                  <a:pt x="468" y="5"/>
                  <a:pt x="484" y="5"/>
                  <a:pt x="500" y="6"/>
                </a:cubicBezTo>
                <a:cubicBezTo>
                  <a:pt x="516" y="6"/>
                  <a:pt x="532" y="8"/>
                  <a:pt x="548" y="10"/>
                </a:cubicBezTo>
                <a:cubicBezTo>
                  <a:pt x="564" y="13"/>
                  <a:pt x="580" y="16"/>
                  <a:pt x="596" y="19"/>
                </a:cubicBezTo>
                <a:cubicBezTo>
                  <a:pt x="611" y="23"/>
                  <a:pt x="627" y="27"/>
                  <a:pt x="642" y="32"/>
                </a:cubicBezTo>
                <a:cubicBezTo>
                  <a:pt x="657" y="37"/>
                  <a:pt x="672" y="43"/>
                  <a:pt x="687" y="49"/>
                </a:cubicBezTo>
                <a:cubicBezTo>
                  <a:pt x="701" y="56"/>
                  <a:pt x="716" y="62"/>
                  <a:pt x="730" y="70"/>
                </a:cubicBezTo>
                <a:cubicBezTo>
                  <a:pt x="744" y="77"/>
                  <a:pt x="758" y="86"/>
                  <a:pt x="771" y="94"/>
                </a:cubicBezTo>
                <a:cubicBezTo>
                  <a:pt x="784" y="103"/>
                  <a:pt x="797" y="112"/>
                  <a:pt x="810" y="123"/>
                </a:cubicBezTo>
                <a:cubicBezTo>
                  <a:pt x="822" y="133"/>
                  <a:pt x="834" y="143"/>
                  <a:pt x="845" y="155"/>
                </a:cubicBezTo>
                <a:cubicBezTo>
                  <a:pt x="857" y="166"/>
                  <a:pt x="868" y="178"/>
                  <a:pt x="878" y="190"/>
                </a:cubicBezTo>
                <a:cubicBezTo>
                  <a:pt x="888" y="202"/>
                  <a:pt x="897" y="215"/>
                  <a:pt x="906" y="229"/>
                </a:cubicBezTo>
                <a:cubicBezTo>
                  <a:pt x="915" y="242"/>
                  <a:pt x="923" y="256"/>
                  <a:pt x="930" y="270"/>
                </a:cubicBezTo>
                <a:cubicBezTo>
                  <a:pt x="937" y="284"/>
                  <a:pt x="944" y="299"/>
                  <a:pt x="950" y="314"/>
                </a:cubicBezTo>
                <a:cubicBezTo>
                  <a:pt x="956" y="328"/>
                  <a:pt x="962" y="343"/>
                  <a:pt x="966" y="359"/>
                </a:cubicBezTo>
                <a:cubicBezTo>
                  <a:pt x="971" y="374"/>
                  <a:pt x="975" y="389"/>
                  <a:pt x="978" y="405"/>
                </a:cubicBezTo>
                <a:cubicBezTo>
                  <a:pt x="982" y="420"/>
                  <a:pt x="985" y="436"/>
                  <a:pt x="987" y="452"/>
                </a:cubicBezTo>
                <a:cubicBezTo>
                  <a:pt x="989" y="468"/>
                  <a:pt x="990" y="484"/>
                  <a:pt x="991" y="500"/>
                </a:cubicBezTo>
                <a:close/>
              </a:path>
            </a:pathLst>
          </a:custGeom>
          <a:gradFill rotWithShape="1">
            <a:gsLst>
              <a:gs pos="0">
                <a:srgbClr val="F6F2F8"/>
              </a:gs>
              <a:gs pos="48000">
                <a:srgbClr val="ECE5F0"/>
              </a:gs>
              <a:gs pos="100000">
                <a:srgbClr val="E1D9E8"/>
              </a:gs>
            </a:gsLst>
            <a:lin ang="5400000" scaled="1"/>
          </a:gradFill>
          <a:ln w="3037" cap="rnd">
            <a:solidFill>
              <a:srgbClr val="A79CB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Adventitial collagen bundle 00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970" y="533"/>
                </a:moveTo>
                <a:cubicBezTo>
                  <a:pt x="971" y="537"/>
                  <a:pt x="972" y="550"/>
                  <a:pt x="972" y="558"/>
                </a:cubicBezTo>
                <a:cubicBezTo>
                  <a:pt x="972" y="566"/>
                  <a:pt x="970" y="575"/>
                  <a:pt x="968" y="583"/>
                </a:cubicBezTo>
                <a:cubicBezTo>
                  <a:pt x="967" y="591"/>
                  <a:pt x="963" y="598"/>
                  <a:pt x="961" y="606"/>
                </a:cubicBezTo>
                <a:cubicBezTo>
                  <a:pt x="958" y="614"/>
                  <a:pt x="955" y="622"/>
                  <a:pt x="953" y="630"/>
                </a:cubicBezTo>
                <a:cubicBezTo>
                  <a:pt x="950" y="638"/>
                  <a:pt x="949" y="646"/>
                  <a:pt x="947" y="654"/>
                </a:cubicBezTo>
                <a:cubicBezTo>
                  <a:pt x="946" y="662"/>
                  <a:pt x="945" y="671"/>
                  <a:pt x="943" y="679"/>
                </a:cubicBezTo>
                <a:cubicBezTo>
                  <a:pt x="940" y="687"/>
                  <a:pt x="938" y="695"/>
                  <a:pt x="934" y="702"/>
                </a:cubicBezTo>
                <a:cubicBezTo>
                  <a:pt x="930" y="710"/>
                  <a:pt x="925" y="717"/>
                  <a:pt x="921" y="724"/>
                </a:cubicBezTo>
                <a:cubicBezTo>
                  <a:pt x="916" y="730"/>
                  <a:pt x="908" y="740"/>
                  <a:pt x="905" y="743"/>
                </a:cubicBezTo>
              </a:path>
            </a:pathLst>
          </a:custGeom>
          <a:noFill/>
          <a:ln w="1905" cap="rnd">
            <a:solidFill>
              <a:srgbClr val="C1AFC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Adventitial collagen bundle 01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855" y="798"/>
                </a:moveTo>
                <a:cubicBezTo>
                  <a:pt x="851" y="801"/>
                  <a:pt x="841" y="813"/>
                  <a:pt x="833" y="820"/>
                </a:cubicBezTo>
                <a:cubicBezTo>
                  <a:pt x="825" y="827"/>
                  <a:pt x="816" y="832"/>
                  <a:pt x="807" y="838"/>
                </a:cubicBezTo>
                <a:cubicBezTo>
                  <a:pt x="798" y="844"/>
                  <a:pt x="789" y="849"/>
                  <a:pt x="781" y="855"/>
                </a:cubicBezTo>
                <a:cubicBezTo>
                  <a:pt x="772" y="861"/>
                  <a:pt x="764" y="867"/>
                  <a:pt x="756" y="873"/>
                </a:cubicBezTo>
                <a:cubicBezTo>
                  <a:pt x="748" y="879"/>
                  <a:pt x="740" y="886"/>
                  <a:pt x="731" y="892"/>
                </a:cubicBezTo>
                <a:cubicBezTo>
                  <a:pt x="723" y="898"/>
                  <a:pt x="714" y="904"/>
                  <a:pt x="705" y="908"/>
                </a:cubicBezTo>
                <a:cubicBezTo>
                  <a:pt x="696" y="912"/>
                  <a:pt x="686" y="915"/>
                  <a:pt x="676" y="918"/>
                </a:cubicBezTo>
                <a:cubicBezTo>
                  <a:pt x="666" y="921"/>
                  <a:pt x="656" y="923"/>
                  <a:pt x="646" y="926"/>
                </a:cubicBezTo>
                <a:cubicBezTo>
                  <a:pt x="636" y="928"/>
                  <a:pt x="621" y="932"/>
                  <a:pt x="616" y="934"/>
                </a:cubicBezTo>
              </a:path>
            </a:pathLst>
          </a:custGeom>
          <a:noFill/>
          <a:ln w="1905" cap="rnd">
            <a:solidFill>
              <a:srgbClr val="B9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Collagen parallel fine strand 01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834" y="822"/>
                </a:moveTo>
                <a:cubicBezTo>
                  <a:pt x="830" y="825"/>
                  <a:pt x="817" y="835"/>
                  <a:pt x="808" y="841"/>
                </a:cubicBezTo>
                <a:cubicBezTo>
                  <a:pt x="800" y="846"/>
                  <a:pt x="791" y="852"/>
                  <a:pt x="782" y="857"/>
                </a:cubicBezTo>
                <a:cubicBezTo>
                  <a:pt x="774" y="863"/>
                  <a:pt x="766" y="869"/>
                  <a:pt x="757" y="876"/>
                </a:cubicBezTo>
                <a:cubicBezTo>
                  <a:pt x="749" y="882"/>
                  <a:pt x="741" y="889"/>
                  <a:pt x="733" y="894"/>
                </a:cubicBezTo>
                <a:cubicBezTo>
                  <a:pt x="724" y="900"/>
                  <a:pt x="715" y="906"/>
                  <a:pt x="706" y="910"/>
                </a:cubicBezTo>
                <a:cubicBezTo>
                  <a:pt x="697" y="914"/>
                  <a:pt x="687" y="918"/>
                  <a:pt x="677" y="921"/>
                </a:cubicBezTo>
                <a:cubicBezTo>
                  <a:pt x="667" y="923"/>
                  <a:pt x="652" y="927"/>
                  <a:pt x="647" y="928"/>
                </a:cubicBezTo>
              </a:path>
            </a:pathLst>
          </a:custGeom>
          <a:noFill/>
          <a:ln w="1905" cap="rnd">
            <a:solidFill>
              <a:srgbClr val="D3C5D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Adventitial collagen bundle 02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566" y="969"/>
                </a:moveTo>
                <a:cubicBezTo>
                  <a:pt x="562" y="969"/>
                  <a:pt x="552" y="969"/>
                  <a:pt x="545" y="969"/>
                </a:cubicBezTo>
                <a:cubicBezTo>
                  <a:pt x="538" y="968"/>
                  <a:pt x="531" y="967"/>
                  <a:pt x="524" y="968"/>
                </a:cubicBezTo>
                <a:cubicBezTo>
                  <a:pt x="517" y="968"/>
                  <a:pt x="510" y="968"/>
                  <a:pt x="503" y="969"/>
                </a:cubicBezTo>
                <a:cubicBezTo>
                  <a:pt x="496" y="970"/>
                  <a:pt x="489" y="972"/>
                  <a:pt x="482" y="973"/>
                </a:cubicBezTo>
                <a:cubicBezTo>
                  <a:pt x="475" y="974"/>
                  <a:pt x="467" y="975"/>
                  <a:pt x="460" y="975"/>
                </a:cubicBezTo>
                <a:cubicBezTo>
                  <a:pt x="453" y="975"/>
                  <a:pt x="446" y="973"/>
                  <a:pt x="439" y="972"/>
                </a:cubicBezTo>
                <a:cubicBezTo>
                  <a:pt x="432" y="970"/>
                  <a:pt x="426" y="967"/>
                  <a:pt x="419" y="965"/>
                </a:cubicBezTo>
                <a:cubicBezTo>
                  <a:pt x="412" y="963"/>
                  <a:pt x="405" y="961"/>
                  <a:pt x="398" y="960"/>
                </a:cubicBezTo>
                <a:cubicBezTo>
                  <a:pt x="391" y="959"/>
                  <a:pt x="381" y="959"/>
                  <a:pt x="377" y="958"/>
                </a:cubicBezTo>
              </a:path>
            </a:pathLst>
          </a:custGeom>
          <a:noFill/>
          <a:ln w="1905" cap="rnd">
            <a:solidFill>
              <a:srgbClr val="B9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Adventitial collagen bundle 03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05" y="919"/>
                </a:moveTo>
                <a:cubicBezTo>
                  <a:pt x="301" y="916"/>
                  <a:pt x="289" y="908"/>
                  <a:pt x="281" y="903"/>
                </a:cubicBezTo>
                <a:cubicBezTo>
                  <a:pt x="273" y="898"/>
                  <a:pt x="265" y="893"/>
                  <a:pt x="256" y="888"/>
                </a:cubicBezTo>
                <a:cubicBezTo>
                  <a:pt x="248" y="884"/>
                  <a:pt x="239" y="880"/>
                  <a:pt x="231" y="875"/>
                </a:cubicBezTo>
                <a:cubicBezTo>
                  <a:pt x="222" y="870"/>
                  <a:pt x="214" y="866"/>
                  <a:pt x="206" y="860"/>
                </a:cubicBezTo>
                <a:cubicBezTo>
                  <a:pt x="199" y="854"/>
                  <a:pt x="192" y="847"/>
                  <a:pt x="185" y="840"/>
                </a:cubicBezTo>
                <a:cubicBezTo>
                  <a:pt x="179" y="833"/>
                  <a:pt x="174" y="825"/>
                  <a:pt x="168" y="817"/>
                </a:cubicBezTo>
                <a:cubicBezTo>
                  <a:pt x="162" y="810"/>
                  <a:pt x="156" y="802"/>
                  <a:pt x="150" y="795"/>
                </a:cubicBezTo>
                <a:cubicBezTo>
                  <a:pt x="144" y="787"/>
                  <a:pt x="137" y="781"/>
                  <a:pt x="131" y="774"/>
                </a:cubicBezTo>
                <a:cubicBezTo>
                  <a:pt x="124" y="767"/>
                  <a:pt x="114" y="756"/>
                  <a:pt x="111" y="752"/>
                </a:cubicBezTo>
              </a:path>
            </a:pathLst>
          </a:custGeom>
          <a:noFill/>
          <a:ln w="1905" cap="rnd">
            <a:solidFill>
              <a:srgbClr val="C1AFC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Adventitial collagen bundle 04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7" y="716"/>
                </a:moveTo>
                <a:cubicBezTo>
                  <a:pt x="75" y="712"/>
                  <a:pt x="71" y="701"/>
                  <a:pt x="67" y="694"/>
                </a:cubicBezTo>
                <a:cubicBezTo>
                  <a:pt x="63" y="687"/>
                  <a:pt x="59" y="680"/>
                  <a:pt x="55" y="673"/>
                </a:cubicBezTo>
                <a:cubicBezTo>
                  <a:pt x="51" y="666"/>
                  <a:pt x="46" y="659"/>
                  <a:pt x="43" y="651"/>
                </a:cubicBezTo>
                <a:cubicBezTo>
                  <a:pt x="41" y="644"/>
                  <a:pt x="39" y="636"/>
                  <a:pt x="37" y="628"/>
                </a:cubicBezTo>
                <a:cubicBezTo>
                  <a:pt x="36" y="620"/>
                  <a:pt x="36" y="612"/>
                  <a:pt x="35" y="604"/>
                </a:cubicBezTo>
                <a:cubicBezTo>
                  <a:pt x="34" y="595"/>
                  <a:pt x="34" y="587"/>
                  <a:pt x="33" y="580"/>
                </a:cubicBezTo>
                <a:cubicBezTo>
                  <a:pt x="32" y="572"/>
                  <a:pt x="30" y="564"/>
                  <a:pt x="28" y="556"/>
                </a:cubicBezTo>
                <a:cubicBezTo>
                  <a:pt x="27" y="548"/>
                  <a:pt x="24" y="540"/>
                  <a:pt x="23" y="532"/>
                </a:cubicBezTo>
                <a:cubicBezTo>
                  <a:pt x="21" y="524"/>
                  <a:pt x="21" y="512"/>
                  <a:pt x="21" y="508"/>
                </a:cubicBezTo>
              </a:path>
            </a:pathLst>
          </a:custGeom>
          <a:noFill/>
          <a:ln w="1905" cap="rnd">
            <a:solidFill>
              <a:srgbClr val="B9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Collagen parallel fine strand 04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8" y="696"/>
                </a:moveTo>
                <a:cubicBezTo>
                  <a:pt x="66" y="693"/>
                  <a:pt x="60" y="682"/>
                  <a:pt x="56" y="675"/>
                </a:cubicBezTo>
                <a:cubicBezTo>
                  <a:pt x="52" y="668"/>
                  <a:pt x="48" y="661"/>
                  <a:pt x="45" y="653"/>
                </a:cubicBezTo>
                <a:cubicBezTo>
                  <a:pt x="42" y="646"/>
                  <a:pt x="40" y="638"/>
                  <a:pt x="38" y="630"/>
                </a:cubicBezTo>
                <a:cubicBezTo>
                  <a:pt x="37" y="622"/>
                  <a:pt x="37" y="614"/>
                  <a:pt x="36" y="606"/>
                </a:cubicBezTo>
                <a:cubicBezTo>
                  <a:pt x="36" y="598"/>
                  <a:pt x="35" y="590"/>
                  <a:pt x="34" y="582"/>
                </a:cubicBezTo>
                <a:cubicBezTo>
                  <a:pt x="33" y="574"/>
                  <a:pt x="31" y="566"/>
                  <a:pt x="30" y="558"/>
                </a:cubicBezTo>
                <a:cubicBezTo>
                  <a:pt x="28" y="550"/>
                  <a:pt x="25" y="539"/>
                  <a:pt x="24" y="535"/>
                </a:cubicBezTo>
              </a:path>
            </a:pathLst>
          </a:custGeom>
          <a:noFill/>
          <a:ln w="1905" cap="rnd">
            <a:solidFill>
              <a:srgbClr val="D3C5D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Adventitial collagen bundle 05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5" y="452"/>
                </a:moveTo>
                <a:cubicBezTo>
                  <a:pt x="45" y="447"/>
                  <a:pt x="46" y="432"/>
                  <a:pt x="47" y="422"/>
                </a:cubicBezTo>
                <a:cubicBezTo>
                  <a:pt x="48" y="412"/>
                  <a:pt x="49" y="402"/>
                  <a:pt x="51" y="392"/>
                </a:cubicBezTo>
                <a:cubicBezTo>
                  <a:pt x="53" y="382"/>
                  <a:pt x="56" y="372"/>
                  <a:pt x="60" y="363"/>
                </a:cubicBezTo>
                <a:cubicBezTo>
                  <a:pt x="63" y="353"/>
                  <a:pt x="69" y="344"/>
                  <a:pt x="73" y="335"/>
                </a:cubicBezTo>
                <a:cubicBezTo>
                  <a:pt x="78" y="326"/>
                  <a:pt x="83" y="318"/>
                  <a:pt x="88" y="309"/>
                </a:cubicBezTo>
                <a:cubicBezTo>
                  <a:pt x="92" y="300"/>
                  <a:pt x="96" y="291"/>
                  <a:pt x="100" y="281"/>
                </a:cubicBezTo>
                <a:cubicBezTo>
                  <a:pt x="104" y="272"/>
                  <a:pt x="108" y="263"/>
                  <a:pt x="112" y="253"/>
                </a:cubicBezTo>
                <a:cubicBezTo>
                  <a:pt x="117" y="244"/>
                  <a:pt x="121" y="235"/>
                  <a:pt x="127" y="227"/>
                </a:cubicBezTo>
                <a:cubicBezTo>
                  <a:pt x="133" y="219"/>
                  <a:pt x="144" y="208"/>
                  <a:pt x="147" y="204"/>
                </a:cubicBezTo>
              </a:path>
            </a:pathLst>
          </a:custGeom>
          <a:noFill/>
          <a:ln w="1905" cap="rnd">
            <a:solidFill>
              <a:srgbClr val="B9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Adventitial collagen bundle 06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156"/>
                </a:moveTo>
                <a:cubicBezTo>
                  <a:pt x="182" y="153"/>
                  <a:pt x="188" y="144"/>
                  <a:pt x="193" y="138"/>
                </a:cubicBezTo>
                <a:cubicBezTo>
                  <a:pt x="198" y="133"/>
                  <a:pt x="203" y="128"/>
                  <a:pt x="209" y="123"/>
                </a:cubicBezTo>
                <a:cubicBezTo>
                  <a:pt x="215" y="119"/>
                  <a:pt x="222" y="116"/>
                  <a:pt x="228" y="112"/>
                </a:cubicBezTo>
                <a:cubicBezTo>
                  <a:pt x="235" y="109"/>
                  <a:pt x="242" y="106"/>
                  <a:pt x="248" y="102"/>
                </a:cubicBezTo>
                <a:cubicBezTo>
                  <a:pt x="254" y="98"/>
                  <a:pt x="260" y="94"/>
                  <a:pt x="266" y="89"/>
                </a:cubicBezTo>
                <a:cubicBezTo>
                  <a:pt x="272" y="85"/>
                  <a:pt x="278" y="80"/>
                  <a:pt x="284" y="75"/>
                </a:cubicBezTo>
                <a:cubicBezTo>
                  <a:pt x="290" y="71"/>
                  <a:pt x="296" y="66"/>
                  <a:pt x="302" y="63"/>
                </a:cubicBezTo>
                <a:cubicBezTo>
                  <a:pt x="309" y="60"/>
                  <a:pt x="316" y="58"/>
                  <a:pt x="324" y="56"/>
                </a:cubicBezTo>
                <a:cubicBezTo>
                  <a:pt x="331" y="54"/>
                  <a:pt x="342" y="52"/>
                  <a:pt x="346" y="52"/>
                </a:cubicBezTo>
              </a:path>
            </a:pathLst>
          </a:custGeom>
          <a:noFill/>
          <a:ln w="1905" cap="rnd">
            <a:solidFill>
              <a:srgbClr val="C1AFC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Adventitial collagen bundle 07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27" y="42"/>
                </a:moveTo>
                <a:cubicBezTo>
                  <a:pt x="433" y="41"/>
                  <a:pt x="449" y="38"/>
                  <a:pt x="460" y="37"/>
                </a:cubicBezTo>
                <a:cubicBezTo>
                  <a:pt x="470" y="37"/>
                  <a:pt x="481" y="38"/>
                  <a:pt x="492" y="39"/>
                </a:cubicBezTo>
                <a:cubicBezTo>
                  <a:pt x="503" y="41"/>
                  <a:pt x="513" y="43"/>
                  <a:pt x="524" y="44"/>
                </a:cubicBezTo>
                <a:cubicBezTo>
                  <a:pt x="534" y="46"/>
                  <a:pt x="545" y="47"/>
                  <a:pt x="556" y="48"/>
                </a:cubicBezTo>
                <a:cubicBezTo>
                  <a:pt x="566" y="49"/>
                  <a:pt x="577" y="49"/>
                  <a:pt x="587" y="50"/>
                </a:cubicBezTo>
                <a:cubicBezTo>
                  <a:pt x="598" y="52"/>
                  <a:pt x="609" y="53"/>
                  <a:pt x="619" y="55"/>
                </a:cubicBezTo>
                <a:cubicBezTo>
                  <a:pt x="629" y="58"/>
                  <a:pt x="640" y="62"/>
                  <a:pt x="649" y="66"/>
                </a:cubicBezTo>
                <a:cubicBezTo>
                  <a:pt x="659" y="71"/>
                  <a:pt x="668" y="77"/>
                  <a:pt x="678" y="82"/>
                </a:cubicBezTo>
                <a:cubicBezTo>
                  <a:pt x="687" y="87"/>
                  <a:pt x="701" y="94"/>
                  <a:pt x="706" y="97"/>
                </a:cubicBezTo>
              </a:path>
            </a:pathLst>
          </a:custGeom>
          <a:noFill/>
          <a:ln w="1905" cap="rnd">
            <a:solidFill>
              <a:srgbClr val="B9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Collagen parallel fine strand 07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61" y="40"/>
                </a:moveTo>
                <a:cubicBezTo>
                  <a:pt x="466" y="40"/>
                  <a:pt x="483" y="40"/>
                  <a:pt x="493" y="42"/>
                </a:cubicBezTo>
                <a:cubicBezTo>
                  <a:pt x="504" y="43"/>
                  <a:pt x="515" y="45"/>
                  <a:pt x="525" y="47"/>
                </a:cubicBezTo>
                <a:cubicBezTo>
                  <a:pt x="536" y="48"/>
                  <a:pt x="546" y="49"/>
                  <a:pt x="557" y="50"/>
                </a:cubicBezTo>
                <a:cubicBezTo>
                  <a:pt x="567" y="51"/>
                  <a:pt x="578" y="51"/>
                  <a:pt x="589" y="52"/>
                </a:cubicBezTo>
                <a:cubicBezTo>
                  <a:pt x="599" y="54"/>
                  <a:pt x="610" y="55"/>
                  <a:pt x="620" y="58"/>
                </a:cubicBezTo>
                <a:cubicBezTo>
                  <a:pt x="631" y="60"/>
                  <a:pt x="641" y="64"/>
                  <a:pt x="651" y="69"/>
                </a:cubicBezTo>
                <a:cubicBezTo>
                  <a:pt x="660" y="73"/>
                  <a:pt x="674" y="81"/>
                  <a:pt x="679" y="84"/>
                </a:cubicBezTo>
              </a:path>
            </a:pathLst>
          </a:custGeom>
          <a:noFill/>
          <a:ln w="1905" cap="rnd">
            <a:solidFill>
              <a:srgbClr val="D3C5D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Adventitial collagen bundle 08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73" y="109"/>
                </a:moveTo>
                <a:cubicBezTo>
                  <a:pt x="777" y="112"/>
                  <a:pt x="787" y="121"/>
                  <a:pt x="793" y="127"/>
                </a:cubicBezTo>
                <a:cubicBezTo>
                  <a:pt x="800" y="134"/>
                  <a:pt x="805" y="141"/>
                  <a:pt x="812" y="147"/>
                </a:cubicBezTo>
                <a:cubicBezTo>
                  <a:pt x="818" y="153"/>
                  <a:pt x="824" y="160"/>
                  <a:pt x="831" y="165"/>
                </a:cubicBezTo>
                <a:cubicBezTo>
                  <a:pt x="837" y="171"/>
                  <a:pt x="845" y="176"/>
                  <a:pt x="851" y="182"/>
                </a:cubicBezTo>
                <a:cubicBezTo>
                  <a:pt x="858" y="188"/>
                  <a:pt x="865" y="194"/>
                  <a:pt x="871" y="201"/>
                </a:cubicBezTo>
                <a:cubicBezTo>
                  <a:pt x="877" y="207"/>
                  <a:pt x="882" y="215"/>
                  <a:pt x="887" y="222"/>
                </a:cubicBezTo>
                <a:cubicBezTo>
                  <a:pt x="891" y="230"/>
                  <a:pt x="895" y="239"/>
                  <a:pt x="898" y="247"/>
                </a:cubicBezTo>
                <a:cubicBezTo>
                  <a:pt x="902" y="255"/>
                  <a:pt x="906" y="263"/>
                  <a:pt x="910" y="271"/>
                </a:cubicBezTo>
                <a:cubicBezTo>
                  <a:pt x="914" y="278"/>
                  <a:pt x="921" y="290"/>
                  <a:pt x="924" y="293"/>
                </a:cubicBezTo>
              </a:path>
            </a:pathLst>
          </a:custGeom>
          <a:noFill/>
          <a:ln w="1905" cap="rnd">
            <a:solidFill>
              <a:srgbClr val="B9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Adventitial collagen bundle 09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922" y="321"/>
                </a:moveTo>
                <a:cubicBezTo>
                  <a:pt x="923" y="323"/>
                  <a:pt x="923" y="331"/>
                  <a:pt x="925" y="336"/>
                </a:cubicBezTo>
                <a:cubicBezTo>
                  <a:pt x="926" y="341"/>
                  <a:pt x="927" y="346"/>
                  <a:pt x="929" y="351"/>
                </a:cubicBezTo>
                <a:cubicBezTo>
                  <a:pt x="931" y="355"/>
                  <a:pt x="934" y="359"/>
                  <a:pt x="936" y="364"/>
                </a:cubicBezTo>
                <a:cubicBezTo>
                  <a:pt x="939" y="368"/>
                  <a:pt x="942" y="373"/>
                  <a:pt x="944" y="377"/>
                </a:cubicBezTo>
                <a:cubicBezTo>
                  <a:pt x="946" y="382"/>
                  <a:pt x="947" y="387"/>
                  <a:pt x="948" y="392"/>
                </a:cubicBezTo>
                <a:cubicBezTo>
                  <a:pt x="948" y="397"/>
                  <a:pt x="947" y="402"/>
                  <a:pt x="948" y="408"/>
                </a:cubicBezTo>
                <a:cubicBezTo>
                  <a:pt x="948" y="413"/>
                  <a:pt x="947" y="418"/>
                  <a:pt x="948" y="423"/>
                </a:cubicBezTo>
                <a:cubicBezTo>
                  <a:pt x="949" y="428"/>
                  <a:pt x="950" y="433"/>
                  <a:pt x="952" y="437"/>
                </a:cubicBezTo>
                <a:cubicBezTo>
                  <a:pt x="953" y="442"/>
                  <a:pt x="957" y="449"/>
                  <a:pt x="958" y="452"/>
                </a:cubicBezTo>
              </a:path>
            </a:pathLst>
          </a:custGeom>
          <a:noFill/>
          <a:ln w="1905" cap="rnd">
            <a:solidFill>
              <a:srgbClr val="C1AFC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 rot="6540000">
            <a:off x="4034828" y="1207191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 rot="9120000">
            <a:off x="3841496" y="1424068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 rot="11820000">
            <a:off x="3541835" y="1453811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 rot="14160000">
            <a:off x="3329040" y="1298315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 rot="17460000">
            <a:off x="3290780" y="936516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 rot="20280000">
            <a:off x="3507800" y="707794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 rot="1020000">
            <a:off x="3771468" y="702718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 rot="3540000">
            <a:off x="3996102" y="873349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Muscular media gently asymmetric tissue boundary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30" y="499"/>
                </a:moveTo>
                <a:cubicBezTo>
                  <a:pt x="930" y="513"/>
                  <a:pt x="930" y="527"/>
                  <a:pt x="929" y="541"/>
                </a:cubicBezTo>
                <a:cubicBezTo>
                  <a:pt x="929" y="555"/>
                  <a:pt x="927" y="569"/>
                  <a:pt x="925" y="583"/>
                </a:cubicBezTo>
                <a:cubicBezTo>
                  <a:pt x="923" y="597"/>
                  <a:pt x="920" y="611"/>
                  <a:pt x="916" y="625"/>
                </a:cubicBezTo>
                <a:cubicBezTo>
                  <a:pt x="913" y="639"/>
                  <a:pt x="908" y="652"/>
                  <a:pt x="903" y="665"/>
                </a:cubicBezTo>
                <a:cubicBezTo>
                  <a:pt x="898" y="679"/>
                  <a:pt x="892" y="692"/>
                  <a:pt x="885" y="704"/>
                </a:cubicBezTo>
                <a:cubicBezTo>
                  <a:pt x="878" y="716"/>
                  <a:pt x="871" y="729"/>
                  <a:pt x="862" y="740"/>
                </a:cubicBezTo>
                <a:cubicBezTo>
                  <a:pt x="854" y="752"/>
                  <a:pt x="845" y="763"/>
                  <a:pt x="836" y="773"/>
                </a:cubicBezTo>
                <a:cubicBezTo>
                  <a:pt x="826" y="784"/>
                  <a:pt x="816" y="794"/>
                  <a:pt x="805" y="803"/>
                </a:cubicBezTo>
                <a:cubicBezTo>
                  <a:pt x="795" y="812"/>
                  <a:pt x="784" y="821"/>
                  <a:pt x="773" y="829"/>
                </a:cubicBezTo>
                <a:cubicBezTo>
                  <a:pt x="761" y="837"/>
                  <a:pt x="749" y="845"/>
                  <a:pt x="737" y="852"/>
                </a:cubicBezTo>
                <a:cubicBezTo>
                  <a:pt x="726" y="859"/>
                  <a:pt x="713" y="866"/>
                  <a:pt x="701" y="872"/>
                </a:cubicBezTo>
                <a:cubicBezTo>
                  <a:pt x="688" y="878"/>
                  <a:pt x="676" y="883"/>
                  <a:pt x="663" y="889"/>
                </a:cubicBezTo>
                <a:cubicBezTo>
                  <a:pt x="650" y="894"/>
                  <a:pt x="637" y="898"/>
                  <a:pt x="624" y="902"/>
                </a:cubicBezTo>
                <a:cubicBezTo>
                  <a:pt x="611" y="906"/>
                  <a:pt x="597" y="910"/>
                  <a:pt x="584" y="913"/>
                </a:cubicBezTo>
                <a:cubicBezTo>
                  <a:pt x="570" y="916"/>
                  <a:pt x="557" y="919"/>
                  <a:pt x="543" y="920"/>
                </a:cubicBezTo>
                <a:cubicBezTo>
                  <a:pt x="529" y="922"/>
                  <a:pt x="515" y="924"/>
                  <a:pt x="502" y="924"/>
                </a:cubicBezTo>
                <a:cubicBezTo>
                  <a:pt x="488" y="925"/>
                  <a:pt x="474" y="925"/>
                  <a:pt x="460" y="924"/>
                </a:cubicBezTo>
                <a:cubicBezTo>
                  <a:pt x="446" y="923"/>
                  <a:pt x="432" y="922"/>
                  <a:pt x="418" y="920"/>
                </a:cubicBezTo>
                <a:cubicBezTo>
                  <a:pt x="404" y="917"/>
                  <a:pt x="390" y="914"/>
                  <a:pt x="377" y="910"/>
                </a:cubicBezTo>
                <a:cubicBezTo>
                  <a:pt x="363" y="907"/>
                  <a:pt x="350" y="902"/>
                  <a:pt x="337" y="897"/>
                </a:cubicBezTo>
                <a:cubicBezTo>
                  <a:pt x="324" y="891"/>
                  <a:pt x="311" y="885"/>
                  <a:pt x="299" y="879"/>
                </a:cubicBezTo>
                <a:cubicBezTo>
                  <a:pt x="286" y="872"/>
                  <a:pt x="274" y="865"/>
                  <a:pt x="262" y="857"/>
                </a:cubicBezTo>
                <a:cubicBezTo>
                  <a:pt x="251" y="849"/>
                  <a:pt x="239" y="840"/>
                  <a:pt x="229" y="832"/>
                </a:cubicBezTo>
                <a:cubicBezTo>
                  <a:pt x="218" y="823"/>
                  <a:pt x="207" y="813"/>
                  <a:pt x="197" y="803"/>
                </a:cubicBezTo>
                <a:cubicBezTo>
                  <a:pt x="188" y="793"/>
                  <a:pt x="178" y="783"/>
                  <a:pt x="169" y="772"/>
                </a:cubicBezTo>
                <a:cubicBezTo>
                  <a:pt x="160" y="761"/>
                  <a:pt x="152" y="750"/>
                  <a:pt x="144" y="738"/>
                </a:cubicBezTo>
                <a:cubicBezTo>
                  <a:pt x="136" y="726"/>
                  <a:pt x="128" y="714"/>
                  <a:pt x="122" y="702"/>
                </a:cubicBezTo>
                <a:cubicBezTo>
                  <a:pt x="115" y="690"/>
                  <a:pt x="109" y="677"/>
                  <a:pt x="103" y="664"/>
                </a:cubicBezTo>
                <a:cubicBezTo>
                  <a:pt x="98" y="651"/>
                  <a:pt x="93" y="638"/>
                  <a:pt x="89" y="624"/>
                </a:cubicBezTo>
                <a:cubicBezTo>
                  <a:pt x="85" y="611"/>
                  <a:pt x="82" y="597"/>
                  <a:pt x="79" y="583"/>
                </a:cubicBezTo>
                <a:cubicBezTo>
                  <a:pt x="77" y="569"/>
                  <a:pt x="75" y="555"/>
                  <a:pt x="74" y="541"/>
                </a:cubicBezTo>
                <a:cubicBezTo>
                  <a:pt x="73" y="527"/>
                  <a:pt x="73" y="513"/>
                  <a:pt x="74" y="499"/>
                </a:cubicBezTo>
                <a:cubicBezTo>
                  <a:pt x="74" y="485"/>
                  <a:pt x="75" y="471"/>
                  <a:pt x="77" y="457"/>
                </a:cubicBezTo>
                <a:cubicBezTo>
                  <a:pt x="79" y="443"/>
                  <a:pt x="82" y="430"/>
                  <a:pt x="86" y="416"/>
                </a:cubicBezTo>
                <a:cubicBezTo>
                  <a:pt x="89" y="403"/>
                  <a:pt x="93" y="389"/>
                  <a:pt x="97" y="376"/>
                </a:cubicBezTo>
                <a:cubicBezTo>
                  <a:pt x="102" y="363"/>
                  <a:pt x="107" y="350"/>
                  <a:pt x="112" y="338"/>
                </a:cubicBezTo>
                <a:cubicBezTo>
                  <a:pt x="118" y="325"/>
                  <a:pt x="124" y="313"/>
                  <a:pt x="130" y="300"/>
                </a:cubicBezTo>
                <a:cubicBezTo>
                  <a:pt x="136" y="288"/>
                  <a:pt x="143" y="276"/>
                  <a:pt x="151" y="265"/>
                </a:cubicBezTo>
                <a:cubicBezTo>
                  <a:pt x="158" y="253"/>
                  <a:pt x="166" y="241"/>
                  <a:pt x="174" y="230"/>
                </a:cubicBezTo>
                <a:cubicBezTo>
                  <a:pt x="182" y="219"/>
                  <a:pt x="191" y="208"/>
                  <a:pt x="200" y="198"/>
                </a:cubicBezTo>
                <a:cubicBezTo>
                  <a:pt x="209" y="187"/>
                  <a:pt x="219" y="177"/>
                  <a:pt x="230" y="168"/>
                </a:cubicBezTo>
                <a:cubicBezTo>
                  <a:pt x="240" y="158"/>
                  <a:pt x="251" y="149"/>
                  <a:pt x="262" y="140"/>
                </a:cubicBezTo>
                <a:cubicBezTo>
                  <a:pt x="273" y="132"/>
                  <a:pt x="285" y="124"/>
                  <a:pt x="297" y="117"/>
                </a:cubicBezTo>
                <a:cubicBezTo>
                  <a:pt x="309" y="110"/>
                  <a:pt x="322" y="103"/>
                  <a:pt x="335" y="98"/>
                </a:cubicBezTo>
                <a:cubicBezTo>
                  <a:pt x="348" y="92"/>
                  <a:pt x="362" y="87"/>
                  <a:pt x="375" y="83"/>
                </a:cubicBezTo>
                <a:cubicBezTo>
                  <a:pt x="389" y="79"/>
                  <a:pt x="403" y="76"/>
                  <a:pt x="417" y="73"/>
                </a:cubicBezTo>
                <a:cubicBezTo>
                  <a:pt x="431" y="71"/>
                  <a:pt x="445" y="69"/>
                  <a:pt x="459" y="69"/>
                </a:cubicBezTo>
                <a:cubicBezTo>
                  <a:pt x="473" y="68"/>
                  <a:pt x="487" y="68"/>
                  <a:pt x="501" y="68"/>
                </a:cubicBezTo>
                <a:cubicBezTo>
                  <a:pt x="516" y="69"/>
                  <a:pt x="530" y="70"/>
                  <a:pt x="544" y="72"/>
                </a:cubicBezTo>
                <a:cubicBezTo>
                  <a:pt x="557" y="74"/>
                  <a:pt x="571" y="77"/>
                  <a:pt x="585" y="80"/>
                </a:cubicBezTo>
                <a:cubicBezTo>
                  <a:pt x="598" y="83"/>
                  <a:pt x="612" y="87"/>
                  <a:pt x="625" y="91"/>
                </a:cubicBezTo>
                <a:cubicBezTo>
                  <a:pt x="638" y="96"/>
                  <a:pt x="652" y="100"/>
                  <a:pt x="664" y="106"/>
                </a:cubicBezTo>
                <a:cubicBezTo>
                  <a:pt x="677" y="111"/>
                  <a:pt x="690" y="117"/>
                  <a:pt x="702" y="124"/>
                </a:cubicBezTo>
                <a:cubicBezTo>
                  <a:pt x="714" y="130"/>
                  <a:pt x="726" y="137"/>
                  <a:pt x="738" y="145"/>
                </a:cubicBezTo>
                <a:cubicBezTo>
                  <a:pt x="750" y="153"/>
                  <a:pt x="761" y="161"/>
                  <a:pt x="772" y="170"/>
                </a:cubicBezTo>
                <a:cubicBezTo>
                  <a:pt x="782" y="179"/>
                  <a:pt x="793" y="188"/>
                  <a:pt x="803" y="198"/>
                </a:cubicBezTo>
                <a:cubicBezTo>
                  <a:pt x="813" y="208"/>
                  <a:pt x="822" y="218"/>
                  <a:pt x="831" y="229"/>
                </a:cubicBezTo>
                <a:cubicBezTo>
                  <a:pt x="840" y="240"/>
                  <a:pt x="848" y="251"/>
                  <a:pt x="856" y="262"/>
                </a:cubicBezTo>
                <a:cubicBezTo>
                  <a:pt x="863" y="274"/>
                  <a:pt x="870" y="286"/>
                  <a:pt x="877" y="298"/>
                </a:cubicBezTo>
                <a:cubicBezTo>
                  <a:pt x="883" y="311"/>
                  <a:pt x="889" y="323"/>
                  <a:pt x="894" y="336"/>
                </a:cubicBezTo>
                <a:cubicBezTo>
                  <a:pt x="899" y="349"/>
                  <a:pt x="904" y="362"/>
                  <a:pt x="908" y="376"/>
                </a:cubicBezTo>
                <a:cubicBezTo>
                  <a:pt x="912" y="389"/>
                  <a:pt x="916" y="402"/>
                  <a:pt x="919" y="416"/>
                </a:cubicBezTo>
                <a:cubicBezTo>
                  <a:pt x="922" y="430"/>
                  <a:pt x="924" y="443"/>
                  <a:pt x="926" y="457"/>
                </a:cubicBezTo>
                <a:cubicBezTo>
                  <a:pt x="928" y="471"/>
                  <a:pt x="929" y="485"/>
                  <a:pt x="930" y="499"/>
                </a:cubicBezTo>
                <a:close/>
              </a:path>
            </a:pathLst>
          </a:custGeom>
          <a:gradFill rotWithShape="1">
            <a:gsLst>
              <a:gs pos="0">
                <a:srgbClr val="F0B6BB"/>
              </a:gs>
              <a:gs pos="46000">
                <a:srgbClr val="EAA8AF"/>
              </a:gs>
              <a:gs pos="100000">
                <a:srgbClr val="DA949E"/>
              </a:gs>
            </a:gsLst>
            <a:lin ang="5400000" scaled="1"/>
          </a:gradFill>
          <a:ln w="2551" cap="rnd">
            <a:solidFill>
              <a:srgbClr val="C38B9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External elastic lamina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921" y="499"/>
                </a:moveTo>
                <a:cubicBezTo>
                  <a:pt x="921" y="507"/>
                  <a:pt x="922" y="515"/>
                  <a:pt x="922" y="523"/>
                </a:cubicBezTo>
                <a:cubicBezTo>
                  <a:pt x="922" y="531"/>
                  <a:pt x="921" y="539"/>
                  <a:pt x="920" y="547"/>
                </a:cubicBezTo>
                <a:cubicBezTo>
                  <a:pt x="920" y="555"/>
                  <a:pt x="918" y="563"/>
                  <a:pt x="917" y="571"/>
                </a:cubicBezTo>
                <a:cubicBezTo>
                  <a:pt x="915" y="579"/>
                  <a:pt x="914" y="587"/>
                  <a:pt x="912" y="595"/>
                </a:cubicBezTo>
                <a:cubicBezTo>
                  <a:pt x="911" y="602"/>
                  <a:pt x="910" y="610"/>
                  <a:pt x="908" y="618"/>
                </a:cubicBezTo>
                <a:cubicBezTo>
                  <a:pt x="906" y="626"/>
                  <a:pt x="905" y="634"/>
                  <a:pt x="902" y="642"/>
                </a:cubicBezTo>
                <a:cubicBezTo>
                  <a:pt x="900" y="650"/>
                  <a:pt x="897" y="657"/>
                  <a:pt x="893" y="665"/>
                </a:cubicBezTo>
                <a:cubicBezTo>
                  <a:pt x="890" y="672"/>
                  <a:pt x="886" y="679"/>
                  <a:pt x="882" y="686"/>
                </a:cubicBezTo>
                <a:cubicBezTo>
                  <a:pt x="878" y="693"/>
                  <a:pt x="874" y="700"/>
                  <a:pt x="870" y="707"/>
                </a:cubicBezTo>
                <a:cubicBezTo>
                  <a:pt x="866" y="714"/>
                  <a:pt x="863" y="722"/>
                  <a:pt x="859" y="728"/>
                </a:cubicBezTo>
                <a:cubicBezTo>
                  <a:pt x="854" y="735"/>
                  <a:pt x="850" y="742"/>
                  <a:pt x="845" y="749"/>
                </a:cubicBezTo>
                <a:cubicBezTo>
                  <a:pt x="840" y="755"/>
                  <a:pt x="835" y="761"/>
                  <a:pt x="829" y="767"/>
                </a:cubicBezTo>
                <a:cubicBezTo>
                  <a:pt x="824" y="773"/>
                  <a:pt x="818" y="778"/>
                  <a:pt x="812" y="784"/>
                </a:cubicBezTo>
                <a:cubicBezTo>
                  <a:pt x="806" y="789"/>
                  <a:pt x="800" y="794"/>
                  <a:pt x="794" y="800"/>
                </a:cubicBezTo>
                <a:cubicBezTo>
                  <a:pt x="788" y="805"/>
                  <a:pt x="782" y="810"/>
                  <a:pt x="776" y="816"/>
                </a:cubicBezTo>
                <a:cubicBezTo>
                  <a:pt x="770" y="821"/>
                  <a:pt x="764" y="826"/>
                  <a:pt x="757" y="831"/>
                </a:cubicBezTo>
                <a:cubicBezTo>
                  <a:pt x="751" y="835"/>
                  <a:pt x="744" y="839"/>
                  <a:pt x="737" y="843"/>
                </a:cubicBezTo>
                <a:cubicBezTo>
                  <a:pt x="730" y="847"/>
                  <a:pt x="723" y="850"/>
                  <a:pt x="716" y="854"/>
                </a:cubicBezTo>
                <a:cubicBezTo>
                  <a:pt x="708" y="858"/>
                  <a:pt x="701" y="861"/>
                  <a:pt x="694" y="864"/>
                </a:cubicBezTo>
                <a:cubicBezTo>
                  <a:pt x="687" y="868"/>
                  <a:pt x="680" y="872"/>
                  <a:pt x="673" y="875"/>
                </a:cubicBezTo>
                <a:cubicBezTo>
                  <a:pt x="666" y="879"/>
                  <a:pt x="659" y="882"/>
                  <a:pt x="652" y="885"/>
                </a:cubicBezTo>
                <a:cubicBezTo>
                  <a:pt x="645" y="888"/>
                  <a:pt x="637" y="891"/>
                  <a:pt x="629" y="893"/>
                </a:cubicBezTo>
                <a:cubicBezTo>
                  <a:pt x="622" y="895"/>
                  <a:pt x="614" y="896"/>
                  <a:pt x="606" y="898"/>
                </a:cubicBezTo>
                <a:cubicBezTo>
                  <a:pt x="599" y="900"/>
                  <a:pt x="591" y="902"/>
                  <a:pt x="583" y="903"/>
                </a:cubicBezTo>
                <a:cubicBezTo>
                  <a:pt x="576" y="905"/>
                  <a:pt x="568" y="908"/>
                  <a:pt x="560" y="909"/>
                </a:cubicBezTo>
                <a:cubicBezTo>
                  <a:pt x="553" y="911"/>
                  <a:pt x="545" y="913"/>
                  <a:pt x="537" y="914"/>
                </a:cubicBezTo>
                <a:cubicBezTo>
                  <a:pt x="529" y="915"/>
                  <a:pt x="521" y="916"/>
                  <a:pt x="513" y="916"/>
                </a:cubicBezTo>
                <a:cubicBezTo>
                  <a:pt x="505" y="916"/>
                  <a:pt x="498" y="915"/>
                  <a:pt x="490" y="915"/>
                </a:cubicBezTo>
                <a:cubicBezTo>
                  <a:pt x="482" y="915"/>
                  <a:pt x="474" y="915"/>
                  <a:pt x="466" y="914"/>
                </a:cubicBezTo>
                <a:cubicBezTo>
                  <a:pt x="458" y="914"/>
                  <a:pt x="450" y="914"/>
                  <a:pt x="442" y="914"/>
                </a:cubicBezTo>
                <a:cubicBezTo>
                  <a:pt x="434" y="913"/>
                  <a:pt x="426" y="913"/>
                  <a:pt x="418" y="912"/>
                </a:cubicBezTo>
                <a:cubicBezTo>
                  <a:pt x="410" y="910"/>
                  <a:pt x="402" y="908"/>
                  <a:pt x="394" y="906"/>
                </a:cubicBezTo>
                <a:cubicBezTo>
                  <a:pt x="387" y="904"/>
                  <a:pt x="379" y="901"/>
                  <a:pt x="372" y="899"/>
                </a:cubicBezTo>
                <a:cubicBezTo>
                  <a:pt x="364" y="896"/>
                  <a:pt x="357" y="893"/>
                  <a:pt x="349" y="890"/>
                </a:cubicBezTo>
                <a:cubicBezTo>
                  <a:pt x="342" y="888"/>
                  <a:pt x="334" y="885"/>
                  <a:pt x="327" y="882"/>
                </a:cubicBezTo>
                <a:cubicBezTo>
                  <a:pt x="319" y="879"/>
                  <a:pt x="312" y="876"/>
                  <a:pt x="304" y="873"/>
                </a:cubicBezTo>
                <a:cubicBezTo>
                  <a:pt x="297" y="869"/>
                  <a:pt x="290" y="865"/>
                  <a:pt x="284" y="860"/>
                </a:cubicBezTo>
                <a:cubicBezTo>
                  <a:pt x="277" y="856"/>
                  <a:pt x="271" y="851"/>
                  <a:pt x="264" y="846"/>
                </a:cubicBezTo>
                <a:cubicBezTo>
                  <a:pt x="258" y="841"/>
                  <a:pt x="252" y="836"/>
                  <a:pt x="245" y="831"/>
                </a:cubicBezTo>
                <a:cubicBezTo>
                  <a:pt x="239" y="827"/>
                  <a:pt x="232" y="822"/>
                  <a:pt x="226" y="817"/>
                </a:cubicBezTo>
                <a:cubicBezTo>
                  <a:pt x="220" y="812"/>
                  <a:pt x="213" y="807"/>
                  <a:pt x="207" y="802"/>
                </a:cubicBezTo>
                <a:cubicBezTo>
                  <a:pt x="202" y="796"/>
                  <a:pt x="196" y="790"/>
                  <a:pt x="191" y="784"/>
                </a:cubicBezTo>
                <a:cubicBezTo>
                  <a:pt x="186" y="778"/>
                  <a:pt x="181" y="771"/>
                  <a:pt x="176" y="765"/>
                </a:cubicBezTo>
                <a:cubicBezTo>
                  <a:pt x="172" y="758"/>
                  <a:pt x="167" y="752"/>
                  <a:pt x="162" y="746"/>
                </a:cubicBezTo>
                <a:cubicBezTo>
                  <a:pt x="157" y="739"/>
                  <a:pt x="152" y="733"/>
                  <a:pt x="147" y="727"/>
                </a:cubicBezTo>
                <a:cubicBezTo>
                  <a:pt x="143" y="720"/>
                  <a:pt x="138" y="714"/>
                  <a:pt x="134" y="707"/>
                </a:cubicBezTo>
                <a:cubicBezTo>
                  <a:pt x="130" y="700"/>
                  <a:pt x="126" y="693"/>
                  <a:pt x="123" y="685"/>
                </a:cubicBezTo>
                <a:cubicBezTo>
                  <a:pt x="119" y="678"/>
                  <a:pt x="117" y="670"/>
                  <a:pt x="114" y="663"/>
                </a:cubicBezTo>
                <a:cubicBezTo>
                  <a:pt x="111" y="655"/>
                  <a:pt x="108" y="648"/>
                  <a:pt x="106" y="640"/>
                </a:cubicBezTo>
                <a:cubicBezTo>
                  <a:pt x="103" y="633"/>
                  <a:pt x="100" y="625"/>
                  <a:pt x="97" y="618"/>
                </a:cubicBezTo>
                <a:cubicBezTo>
                  <a:pt x="94" y="610"/>
                  <a:pt x="92" y="603"/>
                  <a:pt x="90" y="595"/>
                </a:cubicBezTo>
                <a:cubicBezTo>
                  <a:pt x="88" y="587"/>
                  <a:pt x="87" y="579"/>
                  <a:pt x="86" y="571"/>
                </a:cubicBezTo>
                <a:cubicBezTo>
                  <a:pt x="85" y="563"/>
                  <a:pt x="85" y="555"/>
                  <a:pt x="84" y="547"/>
                </a:cubicBezTo>
                <a:cubicBezTo>
                  <a:pt x="84" y="539"/>
                  <a:pt x="84" y="531"/>
                  <a:pt x="84" y="523"/>
                </a:cubicBezTo>
                <a:cubicBezTo>
                  <a:pt x="83" y="515"/>
                  <a:pt x="83" y="507"/>
                  <a:pt x="83" y="499"/>
                </a:cubicBezTo>
                <a:cubicBezTo>
                  <a:pt x="82" y="491"/>
                  <a:pt x="82" y="483"/>
                  <a:pt x="83" y="475"/>
                </a:cubicBezTo>
                <a:cubicBezTo>
                  <a:pt x="84" y="467"/>
                  <a:pt x="85" y="459"/>
                  <a:pt x="86" y="451"/>
                </a:cubicBezTo>
                <a:cubicBezTo>
                  <a:pt x="88" y="444"/>
                  <a:pt x="90" y="436"/>
                  <a:pt x="92" y="428"/>
                </a:cubicBezTo>
                <a:cubicBezTo>
                  <a:pt x="94" y="421"/>
                  <a:pt x="96" y="413"/>
                  <a:pt x="98" y="405"/>
                </a:cubicBezTo>
                <a:cubicBezTo>
                  <a:pt x="100" y="398"/>
                  <a:pt x="102" y="390"/>
                  <a:pt x="104" y="382"/>
                </a:cubicBezTo>
                <a:cubicBezTo>
                  <a:pt x="106" y="375"/>
                  <a:pt x="108" y="367"/>
                  <a:pt x="111" y="360"/>
                </a:cubicBezTo>
                <a:cubicBezTo>
                  <a:pt x="114" y="352"/>
                  <a:pt x="117" y="345"/>
                  <a:pt x="120" y="338"/>
                </a:cubicBezTo>
                <a:cubicBezTo>
                  <a:pt x="124" y="331"/>
                  <a:pt x="128" y="324"/>
                  <a:pt x="131" y="317"/>
                </a:cubicBezTo>
                <a:cubicBezTo>
                  <a:pt x="135" y="310"/>
                  <a:pt x="139" y="303"/>
                  <a:pt x="143" y="296"/>
                </a:cubicBezTo>
                <a:cubicBezTo>
                  <a:pt x="146" y="289"/>
                  <a:pt x="150" y="282"/>
                  <a:pt x="154" y="275"/>
                </a:cubicBezTo>
                <a:cubicBezTo>
                  <a:pt x="157" y="268"/>
                  <a:pt x="161" y="261"/>
                  <a:pt x="165" y="255"/>
                </a:cubicBezTo>
                <a:cubicBezTo>
                  <a:pt x="170" y="248"/>
                  <a:pt x="174" y="242"/>
                  <a:pt x="179" y="236"/>
                </a:cubicBezTo>
                <a:cubicBezTo>
                  <a:pt x="184" y="230"/>
                  <a:pt x="190" y="224"/>
                  <a:pt x="195" y="218"/>
                </a:cubicBezTo>
                <a:cubicBezTo>
                  <a:pt x="201" y="212"/>
                  <a:pt x="206" y="206"/>
                  <a:pt x="211" y="200"/>
                </a:cubicBezTo>
                <a:cubicBezTo>
                  <a:pt x="217" y="194"/>
                  <a:pt x="222" y="188"/>
                  <a:pt x="227" y="182"/>
                </a:cubicBezTo>
                <a:cubicBezTo>
                  <a:pt x="233" y="176"/>
                  <a:pt x="238" y="171"/>
                  <a:pt x="244" y="165"/>
                </a:cubicBezTo>
                <a:cubicBezTo>
                  <a:pt x="250" y="160"/>
                  <a:pt x="257" y="155"/>
                  <a:pt x="263" y="150"/>
                </a:cubicBezTo>
                <a:cubicBezTo>
                  <a:pt x="270" y="146"/>
                  <a:pt x="277" y="142"/>
                  <a:pt x="284" y="138"/>
                </a:cubicBezTo>
                <a:cubicBezTo>
                  <a:pt x="290" y="133"/>
                  <a:pt x="297" y="129"/>
                  <a:pt x="304" y="125"/>
                </a:cubicBezTo>
                <a:cubicBezTo>
                  <a:pt x="311" y="121"/>
                  <a:pt x="318" y="117"/>
                  <a:pt x="325" y="113"/>
                </a:cubicBezTo>
                <a:cubicBezTo>
                  <a:pt x="332" y="109"/>
                  <a:pt x="340" y="105"/>
                  <a:pt x="347" y="102"/>
                </a:cubicBezTo>
                <a:cubicBezTo>
                  <a:pt x="354" y="99"/>
                  <a:pt x="362" y="96"/>
                  <a:pt x="370" y="94"/>
                </a:cubicBezTo>
                <a:cubicBezTo>
                  <a:pt x="378" y="92"/>
                  <a:pt x="386" y="91"/>
                  <a:pt x="394" y="89"/>
                </a:cubicBezTo>
                <a:cubicBezTo>
                  <a:pt x="402" y="87"/>
                  <a:pt x="410" y="86"/>
                  <a:pt x="417" y="84"/>
                </a:cubicBezTo>
                <a:cubicBezTo>
                  <a:pt x="425" y="83"/>
                  <a:pt x="433" y="81"/>
                  <a:pt x="441" y="80"/>
                </a:cubicBezTo>
                <a:cubicBezTo>
                  <a:pt x="449" y="78"/>
                  <a:pt x="457" y="77"/>
                  <a:pt x="465" y="77"/>
                </a:cubicBezTo>
                <a:cubicBezTo>
                  <a:pt x="473" y="76"/>
                  <a:pt x="481" y="76"/>
                  <a:pt x="489" y="77"/>
                </a:cubicBezTo>
                <a:cubicBezTo>
                  <a:pt x="497" y="77"/>
                  <a:pt x="506" y="78"/>
                  <a:pt x="513" y="79"/>
                </a:cubicBezTo>
                <a:cubicBezTo>
                  <a:pt x="521" y="80"/>
                  <a:pt x="529" y="81"/>
                  <a:pt x="537" y="82"/>
                </a:cubicBezTo>
                <a:cubicBezTo>
                  <a:pt x="545" y="83"/>
                  <a:pt x="553" y="83"/>
                  <a:pt x="561" y="84"/>
                </a:cubicBezTo>
                <a:cubicBezTo>
                  <a:pt x="569" y="85"/>
                  <a:pt x="577" y="86"/>
                  <a:pt x="585" y="88"/>
                </a:cubicBezTo>
                <a:cubicBezTo>
                  <a:pt x="593" y="90"/>
                  <a:pt x="600" y="92"/>
                  <a:pt x="608" y="94"/>
                </a:cubicBezTo>
                <a:cubicBezTo>
                  <a:pt x="615" y="97"/>
                  <a:pt x="623" y="100"/>
                  <a:pt x="630" y="103"/>
                </a:cubicBezTo>
                <a:cubicBezTo>
                  <a:pt x="638" y="106"/>
                  <a:pt x="645" y="109"/>
                  <a:pt x="652" y="112"/>
                </a:cubicBezTo>
                <a:cubicBezTo>
                  <a:pt x="660" y="114"/>
                  <a:pt x="667" y="117"/>
                  <a:pt x="675" y="120"/>
                </a:cubicBezTo>
                <a:cubicBezTo>
                  <a:pt x="682" y="123"/>
                  <a:pt x="689" y="126"/>
                  <a:pt x="697" y="129"/>
                </a:cubicBezTo>
                <a:cubicBezTo>
                  <a:pt x="704" y="133"/>
                  <a:pt x="710" y="137"/>
                  <a:pt x="717" y="141"/>
                </a:cubicBezTo>
                <a:cubicBezTo>
                  <a:pt x="724" y="146"/>
                  <a:pt x="730" y="151"/>
                  <a:pt x="736" y="155"/>
                </a:cubicBezTo>
                <a:cubicBezTo>
                  <a:pt x="743" y="160"/>
                  <a:pt x="749" y="165"/>
                  <a:pt x="755" y="170"/>
                </a:cubicBezTo>
                <a:cubicBezTo>
                  <a:pt x="762" y="174"/>
                  <a:pt x="768" y="179"/>
                  <a:pt x="775" y="184"/>
                </a:cubicBezTo>
                <a:cubicBezTo>
                  <a:pt x="781" y="189"/>
                  <a:pt x="787" y="193"/>
                  <a:pt x="793" y="199"/>
                </a:cubicBezTo>
                <a:cubicBezTo>
                  <a:pt x="799" y="204"/>
                  <a:pt x="804" y="210"/>
                  <a:pt x="810" y="216"/>
                </a:cubicBezTo>
                <a:cubicBezTo>
                  <a:pt x="815" y="222"/>
                  <a:pt x="819" y="229"/>
                  <a:pt x="824" y="235"/>
                </a:cubicBezTo>
                <a:cubicBezTo>
                  <a:pt x="829" y="242"/>
                  <a:pt x="833" y="248"/>
                  <a:pt x="838" y="255"/>
                </a:cubicBezTo>
                <a:cubicBezTo>
                  <a:pt x="843" y="261"/>
                  <a:pt x="848" y="267"/>
                  <a:pt x="852" y="274"/>
                </a:cubicBezTo>
                <a:cubicBezTo>
                  <a:pt x="857" y="280"/>
                  <a:pt x="862" y="287"/>
                  <a:pt x="865" y="293"/>
                </a:cubicBezTo>
                <a:cubicBezTo>
                  <a:pt x="869" y="300"/>
                  <a:pt x="873" y="308"/>
                  <a:pt x="876" y="315"/>
                </a:cubicBezTo>
                <a:cubicBezTo>
                  <a:pt x="879" y="322"/>
                  <a:pt x="882" y="330"/>
                  <a:pt x="884" y="337"/>
                </a:cubicBezTo>
                <a:cubicBezTo>
                  <a:pt x="887" y="345"/>
                  <a:pt x="890" y="352"/>
                  <a:pt x="893" y="359"/>
                </a:cubicBezTo>
                <a:cubicBezTo>
                  <a:pt x="895" y="367"/>
                  <a:pt x="898" y="374"/>
                  <a:pt x="901" y="382"/>
                </a:cubicBezTo>
                <a:cubicBezTo>
                  <a:pt x="904" y="389"/>
                  <a:pt x="906" y="397"/>
                  <a:pt x="908" y="404"/>
                </a:cubicBezTo>
                <a:cubicBezTo>
                  <a:pt x="910" y="412"/>
                  <a:pt x="912" y="420"/>
                  <a:pt x="913" y="428"/>
                </a:cubicBezTo>
                <a:cubicBezTo>
                  <a:pt x="914" y="436"/>
                  <a:pt x="915" y="444"/>
                  <a:pt x="916" y="452"/>
                </a:cubicBezTo>
                <a:cubicBezTo>
                  <a:pt x="916" y="459"/>
                  <a:pt x="917" y="467"/>
                  <a:pt x="918" y="475"/>
                </a:cubicBezTo>
                <a:cubicBezTo>
                  <a:pt x="919" y="483"/>
                  <a:pt x="920" y="491"/>
                  <a:pt x="921" y="499"/>
                </a:cubicBezTo>
                <a:close/>
              </a:path>
            </a:pathLst>
          </a:custGeom>
          <a:noFill/>
          <a:ln w="1905" cap="rnd">
            <a:solidFill>
              <a:srgbClr val="D49BA4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Tangential native smooth-muscle cell 00"/>
          <p:cNvSpPr/>
          <p:nvPr/>
        </p:nvSpPr>
        <p:spPr>
          <a:xfrm rot="5550000">
            <a:off x="3926062" y="1076244"/>
            <a:ext cx="124173" cy="3487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 rot="5550000">
            <a:off x="3961358" y="1088151"/>
            <a:ext cx="53582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Tangential native smooth-muscle cell 01"/>
          <p:cNvSpPr/>
          <p:nvPr/>
        </p:nvSpPr>
        <p:spPr>
          <a:xfrm rot="6552574">
            <a:off x="3943171" y="1166613"/>
            <a:ext cx="138511" cy="3350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 rot="6552574">
            <a:off x="3981948" y="1177836"/>
            <a:ext cx="60957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Tangential native smooth-muscle cell 02"/>
          <p:cNvSpPr/>
          <p:nvPr/>
        </p:nvSpPr>
        <p:spPr>
          <a:xfrm rot="7351284">
            <a:off x="3887156" y="1219955"/>
            <a:ext cx="120478" cy="3065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 rot="7351284">
            <a:off x="3918632" y="1229754"/>
            <a:ext cx="57527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Tangential native smooth-muscle cell 03"/>
          <p:cNvSpPr/>
          <p:nvPr/>
        </p:nvSpPr>
        <p:spPr>
          <a:xfrm rot="7948951">
            <a:off x="3882552" y="1293797"/>
            <a:ext cx="110787" cy="2894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 rot="7948951">
            <a:off x="3913788" y="1302742"/>
            <a:ext cx="48317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Tangential native smooth-muscle cell 04"/>
          <p:cNvSpPr/>
          <p:nvPr/>
        </p:nvSpPr>
        <p:spPr>
          <a:xfrm rot="8550701">
            <a:off x="3797354" y="1308341"/>
            <a:ext cx="131317" cy="2994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 rot="8550701">
            <a:off x="3839603" y="1317787"/>
            <a:ext cx="46819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Tangential native smooth-muscle cell 05"/>
          <p:cNvSpPr/>
          <p:nvPr/>
        </p:nvSpPr>
        <p:spPr>
          <a:xfrm rot="9354497">
            <a:off x="3742647" y="1367740"/>
            <a:ext cx="135718" cy="3273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 rot="9354497">
            <a:off x="3782892" y="1378580"/>
            <a:ext cx="55228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Tangential native smooth-muscle cell 06"/>
          <p:cNvSpPr/>
          <p:nvPr/>
        </p:nvSpPr>
        <p:spPr>
          <a:xfrm rot="10351986">
            <a:off x="3665833" y="1360980"/>
            <a:ext cx="114054" cy="3475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 rot="10351986">
            <a:off x="3692248" y="1372828"/>
            <a:ext cx="61225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Tangential native smooth-muscle cell 07"/>
          <p:cNvSpPr/>
          <p:nvPr/>
        </p:nvSpPr>
        <p:spPr>
          <a:xfrm rot="11341490">
            <a:off x="3584350" y="1394382"/>
            <a:ext cx="115236" cy="3413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 rot="11341490">
            <a:off x="3613956" y="1405923"/>
            <a:ext cx="56024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Tangential native smooth-muscle cell 08"/>
          <p:cNvSpPr/>
          <p:nvPr/>
        </p:nvSpPr>
        <p:spPr>
          <a:xfrm rot="12135404">
            <a:off x="3513957" y="1347681"/>
            <a:ext cx="136595" cy="3146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 rot="12135404">
            <a:off x="3558632" y="1357884"/>
            <a:ext cx="47245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Tangential native smooth-muscle cell 09"/>
          <p:cNvSpPr/>
          <p:nvPr/>
        </p:nvSpPr>
        <p:spPr>
          <a:xfrm rot="12747295">
            <a:off x="3443761" y="1355016"/>
            <a:ext cx="129909" cy="2918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 rot="12747295">
            <a:off x="3484841" y="1364078"/>
            <a:ext cx="47749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Tangential native smooth-muscle cell 10"/>
          <p:cNvSpPr/>
          <p:nvPr/>
        </p:nvSpPr>
        <p:spPr>
          <a:xfrm rot="13370719">
            <a:off x="3423298" y="1282070"/>
            <a:ext cx="110273" cy="2939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 rot="13370719">
            <a:off x="3450035" y="1291239"/>
            <a:ext cx="56798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Tangential native smooth-muscle cell 11"/>
          <p:cNvSpPr/>
          <p:nvPr/>
        </p:nvSpPr>
        <p:spPr>
          <a:xfrm rot="14178741">
            <a:off x="3338693" y="1241782"/>
            <a:ext cx="122019" cy="3190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 rot="14178741">
            <a:off x="3369135" y="1252207"/>
            <a:ext cx="61135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Tangential native smooth-muscle cell 12"/>
          <p:cNvSpPr/>
          <p:nvPr/>
        </p:nvSpPr>
        <p:spPr>
          <a:xfrm rot="15153108">
            <a:off x="3325068" y="1149236"/>
            <a:ext cx="138629" cy="3440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 rot="15153108">
            <a:off x="3367179" y="1160910"/>
            <a:ext cx="54406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Tangential native smooth-muscle cell 13"/>
          <p:cNvSpPr/>
          <p:nvPr/>
        </p:nvSpPr>
        <p:spPr>
          <a:xfrm rot="16112912">
            <a:off x="3292670" y="1076542"/>
            <a:ext cx="122602" cy="3459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 rot="16112912">
            <a:off x="3330737" y="1088312"/>
            <a:ext cx="46469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Tangential native smooth-muscle cell 14"/>
          <p:cNvSpPr/>
          <p:nvPr/>
        </p:nvSpPr>
        <p:spPr>
          <a:xfrm rot="16903428">
            <a:off x="3335552" y="1013520"/>
            <a:ext cx="110122" cy="3230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 rot="16903428">
            <a:off x="3366137" y="1024142"/>
            <a:ext cx="48952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Tangential native smooth-muscle cell 15"/>
          <p:cNvSpPr/>
          <p:nvPr/>
        </p:nvSpPr>
        <p:spPr>
          <a:xfrm rot="17546891">
            <a:off x="3314128" y="946576"/>
            <a:ext cx="129364" cy="296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 rot="17546891">
            <a:off x="3349701" y="955864"/>
            <a:ext cx="58217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Tangential native smooth-muscle cell 16"/>
          <p:cNvSpPr/>
          <p:nvPr/>
        </p:nvSpPr>
        <p:spPr>
          <a:xfrm rot="18207283">
            <a:off x="3373904" y="900941"/>
            <a:ext cx="136886" cy="2904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 rot="18207283">
            <a:off x="3412002" y="909934"/>
            <a:ext cx="60691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Tangential native smooth-muscle cell 17"/>
          <p:cNvSpPr/>
          <p:nvPr/>
        </p:nvSpPr>
        <p:spPr>
          <a:xfrm rot="19017646">
            <a:off x="3406955" y="810684"/>
            <a:ext cx="115705" cy="3107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 rot="19017646">
            <a:off x="3438433" y="820693"/>
            <a:ext cx="52750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Tangential native smooth-muscle cell 18"/>
          <p:cNvSpPr/>
          <p:nvPr/>
        </p:nvSpPr>
        <p:spPr>
          <a:xfrm rot="19952640">
            <a:off x="3496997" y="790432"/>
            <a:ext cx="113642" cy="3385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 rot="19952640">
            <a:off x="3530804" y="801833"/>
            <a:ext cx="46027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Tangential native smooth-muscle cell 19"/>
          <p:cNvSpPr/>
          <p:nvPr/>
        </p:nvSpPr>
        <p:spPr>
          <a:xfrm rot="20869121">
            <a:off x="3545792" y="731919"/>
            <a:ext cx="135354" cy="3483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 rot="20869121">
            <a:off x="3588283" y="743809"/>
            <a:ext cx="50371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Tangential native smooth-muscle cell 20"/>
          <p:cNvSpPr/>
          <p:nvPr/>
        </p:nvSpPr>
        <p:spPr>
          <a:xfrm rot="58544">
            <a:off x="3616332" y="758494"/>
            <a:ext cx="131823" cy="3310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 rot="58544">
            <a:off x="3652534" y="769520"/>
            <a:ext cx="59419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Tangential native smooth-muscle cell 21"/>
          <p:cNvSpPr/>
          <p:nvPr/>
        </p:nvSpPr>
        <p:spPr>
          <a:xfrm rot="748347">
            <a:off x="3693518" y="739021"/>
            <a:ext cx="111021" cy="3026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 rot="748347">
            <a:off x="3719071" y="748625"/>
            <a:ext cx="59914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Tangential native smooth-muscle cell 22"/>
          <p:cNvSpPr/>
          <p:nvPr/>
        </p:nvSpPr>
        <p:spPr>
          <a:xfrm rot="1457367">
            <a:off x="3750353" y="792558"/>
            <a:ext cx="119912" cy="2891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 rot="1457367">
            <a:off x="3784743" y="801488"/>
            <a:ext cx="51132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Tangential native smooth-muscle cell 23"/>
          <p:cNvSpPr/>
          <p:nvPr/>
        </p:nvSpPr>
        <p:spPr>
          <a:xfrm rot="2267432">
            <a:off x="3830366" y="807061"/>
            <a:ext cx="138423" cy="3030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 rot="2267432">
            <a:off x="3876609" y="816687"/>
            <a:ext cx="45939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6" name="Tangential native smooth-muscle cell 24"/>
          <p:cNvSpPr/>
          <p:nvPr/>
        </p:nvSpPr>
        <p:spPr>
          <a:xfrm rot="3150119">
            <a:off x="3865719" y="890617"/>
            <a:ext cx="124761" cy="331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 rot="3150119">
            <a:off x="3902129" y="901667"/>
            <a:ext cx="51942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Tangential native smooth-muscle cell 25"/>
          <p:cNvSpPr/>
          <p:nvPr/>
        </p:nvSpPr>
        <p:spPr>
          <a:xfrm rot="4013831">
            <a:off x="3940517" y="933122"/>
            <a:ext cx="109771" cy="3484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 rot="4013831">
            <a:off x="3965229" y="945016"/>
            <a:ext cx="60347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Tangential native smooth-muscle cell 26"/>
          <p:cNvSpPr/>
          <p:nvPr/>
        </p:nvSpPr>
        <p:spPr>
          <a:xfrm rot="4805034">
            <a:off x="3916187" y="1004301"/>
            <a:ext cx="127296" cy="3381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 rot="4805034">
            <a:off x="3950415" y="1015682"/>
            <a:ext cx="58841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2" name="Inner elastic lamina tissue bed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92" y="496"/>
                </a:moveTo>
                <a:cubicBezTo>
                  <a:pt x="792" y="505"/>
                  <a:pt x="792" y="515"/>
                  <a:pt x="792" y="524"/>
                </a:cubicBezTo>
                <a:cubicBezTo>
                  <a:pt x="791" y="534"/>
                  <a:pt x="790" y="543"/>
                  <a:pt x="789" y="552"/>
                </a:cubicBezTo>
                <a:cubicBezTo>
                  <a:pt x="787" y="562"/>
                  <a:pt x="785" y="571"/>
                  <a:pt x="783" y="580"/>
                </a:cubicBezTo>
                <a:cubicBezTo>
                  <a:pt x="780" y="589"/>
                  <a:pt x="777" y="598"/>
                  <a:pt x="774" y="607"/>
                </a:cubicBezTo>
                <a:cubicBezTo>
                  <a:pt x="770" y="616"/>
                  <a:pt x="766" y="625"/>
                  <a:pt x="762" y="633"/>
                </a:cubicBezTo>
                <a:cubicBezTo>
                  <a:pt x="757" y="641"/>
                  <a:pt x="752" y="649"/>
                  <a:pt x="747" y="657"/>
                </a:cubicBezTo>
                <a:cubicBezTo>
                  <a:pt x="741" y="665"/>
                  <a:pt x="735" y="672"/>
                  <a:pt x="729" y="679"/>
                </a:cubicBezTo>
                <a:cubicBezTo>
                  <a:pt x="723" y="686"/>
                  <a:pt x="716" y="693"/>
                  <a:pt x="709" y="699"/>
                </a:cubicBezTo>
                <a:cubicBezTo>
                  <a:pt x="702" y="705"/>
                  <a:pt x="695" y="711"/>
                  <a:pt x="687" y="717"/>
                </a:cubicBezTo>
                <a:cubicBezTo>
                  <a:pt x="680" y="722"/>
                  <a:pt x="672" y="727"/>
                  <a:pt x="664" y="732"/>
                </a:cubicBezTo>
                <a:cubicBezTo>
                  <a:pt x="656" y="737"/>
                  <a:pt x="648" y="741"/>
                  <a:pt x="639" y="746"/>
                </a:cubicBezTo>
                <a:cubicBezTo>
                  <a:pt x="631" y="750"/>
                  <a:pt x="623" y="753"/>
                  <a:pt x="614" y="757"/>
                </a:cubicBezTo>
                <a:cubicBezTo>
                  <a:pt x="605" y="760"/>
                  <a:pt x="597" y="763"/>
                  <a:pt x="588" y="766"/>
                </a:cubicBezTo>
                <a:cubicBezTo>
                  <a:pt x="579" y="769"/>
                  <a:pt x="570" y="771"/>
                  <a:pt x="561" y="773"/>
                </a:cubicBezTo>
                <a:cubicBezTo>
                  <a:pt x="552" y="775"/>
                  <a:pt x="543" y="777"/>
                  <a:pt x="534" y="778"/>
                </a:cubicBezTo>
                <a:cubicBezTo>
                  <a:pt x="525" y="779"/>
                  <a:pt x="515" y="780"/>
                  <a:pt x="506" y="780"/>
                </a:cubicBezTo>
                <a:cubicBezTo>
                  <a:pt x="497" y="781"/>
                  <a:pt x="487" y="781"/>
                  <a:pt x="478" y="780"/>
                </a:cubicBezTo>
                <a:cubicBezTo>
                  <a:pt x="469" y="780"/>
                  <a:pt x="459" y="779"/>
                  <a:pt x="450" y="777"/>
                </a:cubicBezTo>
                <a:cubicBezTo>
                  <a:pt x="441" y="775"/>
                  <a:pt x="432" y="773"/>
                  <a:pt x="423" y="771"/>
                </a:cubicBezTo>
                <a:cubicBezTo>
                  <a:pt x="414" y="768"/>
                  <a:pt x="405" y="765"/>
                  <a:pt x="396" y="762"/>
                </a:cubicBezTo>
                <a:cubicBezTo>
                  <a:pt x="387" y="758"/>
                  <a:pt x="379" y="754"/>
                  <a:pt x="370" y="750"/>
                </a:cubicBezTo>
                <a:cubicBezTo>
                  <a:pt x="362" y="745"/>
                  <a:pt x="354" y="740"/>
                  <a:pt x="346" y="735"/>
                </a:cubicBezTo>
                <a:cubicBezTo>
                  <a:pt x="339" y="730"/>
                  <a:pt x="331" y="724"/>
                  <a:pt x="324" y="718"/>
                </a:cubicBezTo>
                <a:cubicBezTo>
                  <a:pt x="317" y="712"/>
                  <a:pt x="310" y="706"/>
                  <a:pt x="303" y="699"/>
                </a:cubicBezTo>
                <a:cubicBezTo>
                  <a:pt x="296" y="692"/>
                  <a:pt x="290" y="686"/>
                  <a:pt x="284" y="678"/>
                </a:cubicBezTo>
                <a:cubicBezTo>
                  <a:pt x="278" y="671"/>
                  <a:pt x="272" y="663"/>
                  <a:pt x="267" y="656"/>
                </a:cubicBezTo>
                <a:cubicBezTo>
                  <a:pt x="262" y="648"/>
                  <a:pt x="257" y="640"/>
                  <a:pt x="252" y="632"/>
                </a:cubicBezTo>
                <a:cubicBezTo>
                  <a:pt x="248" y="623"/>
                  <a:pt x="244" y="615"/>
                  <a:pt x="240" y="606"/>
                </a:cubicBezTo>
                <a:cubicBezTo>
                  <a:pt x="237" y="598"/>
                  <a:pt x="233" y="589"/>
                  <a:pt x="231" y="580"/>
                </a:cubicBezTo>
                <a:cubicBezTo>
                  <a:pt x="228" y="571"/>
                  <a:pt x="226" y="561"/>
                  <a:pt x="224" y="552"/>
                </a:cubicBezTo>
                <a:cubicBezTo>
                  <a:pt x="222" y="543"/>
                  <a:pt x="221" y="534"/>
                  <a:pt x="220" y="524"/>
                </a:cubicBezTo>
                <a:cubicBezTo>
                  <a:pt x="220" y="515"/>
                  <a:pt x="220" y="505"/>
                  <a:pt x="220" y="496"/>
                </a:cubicBezTo>
                <a:cubicBezTo>
                  <a:pt x="220" y="487"/>
                  <a:pt x="221" y="477"/>
                  <a:pt x="223" y="468"/>
                </a:cubicBezTo>
                <a:cubicBezTo>
                  <a:pt x="224" y="459"/>
                  <a:pt x="226" y="450"/>
                  <a:pt x="228" y="441"/>
                </a:cubicBezTo>
                <a:cubicBezTo>
                  <a:pt x="230" y="432"/>
                  <a:pt x="233" y="423"/>
                  <a:pt x="235" y="414"/>
                </a:cubicBezTo>
                <a:cubicBezTo>
                  <a:pt x="238" y="405"/>
                  <a:pt x="242" y="397"/>
                  <a:pt x="245" y="388"/>
                </a:cubicBezTo>
                <a:cubicBezTo>
                  <a:pt x="249" y="380"/>
                  <a:pt x="253" y="371"/>
                  <a:pt x="257" y="363"/>
                </a:cubicBezTo>
                <a:cubicBezTo>
                  <a:pt x="262" y="355"/>
                  <a:pt x="266" y="347"/>
                  <a:pt x="271" y="339"/>
                </a:cubicBezTo>
                <a:cubicBezTo>
                  <a:pt x="276" y="331"/>
                  <a:pt x="281" y="324"/>
                  <a:pt x="287" y="316"/>
                </a:cubicBezTo>
                <a:cubicBezTo>
                  <a:pt x="292" y="309"/>
                  <a:pt x="298" y="302"/>
                  <a:pt x="305" y="295"/>
                </a:cubicBezTo>
                <a:cubicBezTo>
                  <a:pt x="311" y="288"/>
                  <a:pt x="317" y="281"/>
                  <a:pt x="324" y="275"/>
                </a:cubicBezTo>
                <a:cubicBezTo>
                  <a:pt x="331" y="268"/>
                  <a:pt x="338" y="262"/>
                  <a:pt x="346" y="257"/>
                </a:cubicBezTo>
                <a:cubicBezTo>
                  <a:pt x="354" y="251"/>
                  <a:pt x="362" y="246"/>
                  <a:pt x="370" y="241"/>
                </a:cubicBezTo>
                <a:cubicBezTo>
                  <a:pt x="378" y="236"/>
                  <a:pt x="386" y="232"/>
                  <a:pt x="395" y="228"/>
                </a:cubicBezTo>
                <a:cubicBezTo>
                  <a:pt x="404" y="225"/>
                  <a:pt x="413" y="221"/>
                  <a:pt x="422" y="219"/>
                </a:cubicBezTo>
                <a:cubicBezTo>
                  <a:pt x="431" y="216"/>
                  <a:pt x="440" y="214"/>
                  <a:pt x="450" y="212"/>
                </a:cubicBezTo>
                <a:cubicBezTo>
                  <a:pt x="459" y="210"/>
                  <a:pt x="468" y="209"/>
                  <a:pt x="478" y="209"/>
                </a:cubicBezTo>
                <a:cubicBezTo>
                  <a:pt x="487" y="208"/>
                  <a:pt x="497" y="208"/>
                  <a:pt x="506" y="208"/>
                </a:cubicBezTo>
                <a:cubicBezTo>
                  <a:pt x="515" y="209"/>
                  <a:pt x="525" y="210"/>
                  <a:pt x="534" y="211"/>
                </a:cubicBezTo>
                <a:cubicBezTo>
                  <a:pt x="543" y="212"/>
                  <a:pt x="553" y="214"/>
                  <a:pt x="562" y="216"/>
                </a:cubicBezTo>
                <a:cubicBezTo>
                  <a:pt x="571" y="218"/>
                  <a:pt x="580" y="221"/>
                  <a:pt x="589" y="223"/>
                </a:cubicBezTo>
                <a:cubicBezTo>
                  <a:pt x="598" y="226"/>
                  <a:pt x="606" y="230"/>
                  <a:pt x="615" y="233"/>
                </a:cubicBezTo>
                <a:cubicBezTo>
                  <a:pt x="623" y="237"/>
                  <a:pt x="632" y="241"/>
                  <a:pt x="640" y="245"/>
                </a:cubicBezTo>
                <a:cubicBezTo>
                  <a:pt x="648" y="250"/>
                  <a:pt x="656" y="254"/>
                  <a:pt x="664" y="259"/>
                </a:cubicBezTo>
                <a:cubicBezTo>
                  <a:pt x="672" y="265"/>
                  <a:pt x="679" y="270"/>
                  <a:pt x="687" y="276"/>
                </a:cubicBezTo>
                <a:cubicBezTo>
                  <a:pt x="694" y="282"/>
                  <a:pt x="701" y="288"/>
                  <a:pt x="707" y="295"/>
                </a:cubicBezTo>
                <a:cubicBezTo>
                  <a:pt x="714" y="301"/>
                  <a:pt x="720" y="308"/>
                  <a:pt x="726" y="315"/>
                </a:cubicBezTo>
                <a:cubicBezTo>
                  <a:pt x="732" y="323"/>
                  <a:pt x="738" y="330"/>
                  <a:pt x="743" y="338"/>
                </a:cubicBezTo>
                <a:cubicBezTo>
                  <a:pt x="748" y="346"/>
                  <a:pt x="753" y="354"/>
                  <a:pt x="757" y="362"/>
                </a:cubicBezTo>
                <a:cubicBezTo>
                  <a:pt x="761" y="370"/>
                  <a:pt x="765" y="379"/>
                  <a:pt x="769" y="387"/>
                </a:cubicBezTo>
                <a:cubicBezTo>
                  <a:pt x="772" y="396"/>
                  <a:pt x="775" y="405"/>
                  <a:pt x="778" y="414"/>
                </a:cubicBezTo>
                <a:cubicBezTo>
                  <a:pt x="781" y="422"/>
                  <a:pt x="783" y="432"/>
                  <a:pt x="785" y="441"/>
                </a:cubicBezTo>
                <a:cubicBezTo>
                  <a:pt x="787" y="450"/>
                  <a:pt x="789" y="459"/>
                  <a:pt x="790" y="468"/>
                </a:cubicBezTo>
                <a:cubicBezTo>
                  <a:pt x="791" y="477"/>
                  <a:pt x="792" y="487"/>
                  <a:pt x="792" y="496"/>
                </a:cubicBezTo>
                <a:close/>
              </a:path>
            </a:pathLst>
          </a:custGeom>
          <a:solidFill>
            <a:srgbClr val="F4CFD0"/>
          </a:solidFill>
          <a:ln w="2632" cap="rnd">
            <a:solidFill>
              <a:srgbClr val="CB8A97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Fine waved internal elastic fibre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85" y="496"/>
                </a:moveTo>
                <a:cubicBezTo>
                  <a:pt x="786" y="500"/>
                  <a:pt x="787" y="504"/>
                  <a:pt x="787" y="508"/>
                </a:cubicBezTo>
                <a:cubicBezTo>
                  <a:pt x="787" y="512"/>
                  <a:pt x="786" y="517"/>
                  <a:pt x="786" y="521"/>
                </a:cubicBezTo>
                <a:cubicBezTo>
                  <a:pt x="785" y="525"/>
                  <a:pt x="784" y="529"/>
                  <a:pt x="783" y="533"/>
                </a:cubicBezTo>
                <a:cubicBezTo>
                  <a:pt x="782" y="536"/>
                  <a:pt x="780" y="540"/>
                  <a:pt x="780" y="544"/>
                </a:cubicBezTo>
                <a:cubicBezTo>
                  <a:pt x="779" y="548"/>
                  <a:pt x="779" y="552"/>
                  <a:pt x="779" y="557"/>
                </a:cubicBezTo>
                <a:cubicBezTo>
                  <a:pt x="778" y="561"/>
                  <a:pt x="779" y="565"/>
                  <a:pt x="778" y="569"/>
                </a:cubicBezTo>
                <a:cubicBezTo>
                  <a:pt x="778" y="573"/>
                  <a:pt x="778" y="577"/>
                  <a:pt x="777" y="581"/>
                </a:cubicBezTo>
                <a:cubicBezTo>
                  <a:pt x="775" y="585"/>
                  <a:pt x="774" y="589"/>
                  <a:pt x="772" y="593"/>
                </a:cubicBezTo>
                <a:cubicBezTo>
                  <a:pt x="770" y="597"/>
                  <a:pt x="768" y="600"/>
                  <a:pt x="766" y="604"/>
                </a:cubicBezTo>
                <a:cubicBezTo>
                  <a:pt x="763" y="607"/>
                  <a:pt x="761" y="611"/>
                  <a:pt x="759" y="614"/>
                </a:cubicBezTo>
                <a:cubicBezTo>
                  <a:pt x="758" y="618"/>
                  <a:pt x="756" y="622"/>
                  <a:pt x="755" y="626"/>
                </a:cubicBezTo>
                <a:cubicBezTo>
                  <a:pt x="753" y="630"/>
                  <a:pt x="752" y="634"/>
                  <a:pt x="751" y="637"/>
                </a:cubicBezTo>
                <a:cubicBezTo>
                  <a:pt x="749" y="641"/>
                  <a:pt x="748" y="645"/>
                  <a:pt x="745" y="649"/>
                </a:cubicBezTo>
                <a:cubicBezTo>
                  <a:pt x="743" y="652"/>
                  <a:pt x="740" y="655"/>
                  <a:pt x="738" y="658"/>
                </a:cubicBezTo>
                <a:cubicBezTo>
                  <a:pt x="735" y="661"/>
                  <a:pt x="731" y="664"/>
                  <a:pt x="728" y="667"/>
                </a:cubicBezTo>
                <a:cubicBezTo>
                  <a:pt x="725" y="669"/>
                  <a:pt x="722" y="672"/>
                  <a:pt x="719" y="675"/>
                </a:cubicBezTo>
                <a:cubicBezTo>
                  <a:pt x="716" y="678"/>
                  <a:pt x="714" y="681"/>
                  <a:pt x="711" y="684"/>
                </a:cubicBezTo>
                <a:cubicBezTo>
                  <a:pt x="709" y="688"/>
                  <a:pt x="707" y="691"/>
                  <a:pt x="704" y="694"/>
                </a:cubicBezTo>
                <a:cubicBezTo>
                  <a:pt x="702" y="698"/>
                  <a:pt x="699" y="701"/>
                  <a:pt x="696" y="703"/>
                </a:cubicBezTo>
                <a:cubicBezTo>
                  <a:pt x="693" y="706"/>
                  <a:pt x="689" y="708"/>
                  <a:pt x="686" y="710"/>
                </a:cubicBezTo>
                <a:cubicBezTo>
                  <a:pt x="682" y="712"/>
                  <a:pt x="678" y="714"/>
                  <a:pt x="675" y="716"/>
                </a:cubicBezTo>
                <a:cubicBezTo>
                  <a:pt x="671" y="718"/>
                  <a:pt x="667" y="719"/>
                  <a:pt x="664" y="721"/>
                </a:cubicBezTo>
                <a:cubicBezTo>
                  <a:pt x="660" y="723"/>
                  <a:pt x="657" y="726"/>
                  <a:pt x="654" y="728"/>
                </a:cubicBezTo>
                <a:cubicBezTo>
                  <a:pt x="651" y="731"/>
                  <a:pt x="648" y="734"/>
                  <a:pt x="645" y="736"/>
                </a:cubicBezTo>
                <a:cubicBezTo>
                  <a:pt x="641" y="738"/>
                  <a:pt x="638" y="741"/>
                  <a:pt x="634" y="743"/>
                </a:cubicBezTo>
                <a:cubicBezTo>
                  <a:pt x="631" y="744"/>
                  <a:pt x="627" y="746"/>
                  <a:pt x="623" y="747"/>
                </a:cubicBezTo>
                <a:cubicBezTo>
                  <a:pt x="619" y="748"/>
                  <a:pt x="615" y="749"/>
                  <a:pt x="611" y="750"/>
                </a:cubicBezTo>
                <a:cubicBezTo>
                  <a:pt x="607" y="751"/>
                  <a:pt x="603" y="751"/>
                  <a:pt x="599" y="753"/>
                </a:cubicBezTo>
                <a:cubicBezTo>
                  <a:pt x="596" y="754"/>
                  <a:pt x="592" y="756"/>
                  <a:pt x="588" y="757"/>
                </a:cubicBezTo>
                <a:cubicBezTo>
                  <a:pt x="585" y="759"/>
                  <a:pt x="581" y="761"/>
                  <a:pt x="577" y="763"/>
                </a:cubicBezTo>
                <a:cubicBezTo>
                  <a:pt x="574" y="764"/>
                  <a:pt x="570" y="766"/>
                  <a:pt x="566" y="767"/>
                </a:cubicBezTo>
                <a:cubicBezTo>
                  <a:pt x="562" y="768"/>
                  <a:pt x="558" y="769"/>
                  <a:pt x="554" y="769"/>
                </a:cubicBezTo>
                <a:cubicBezTo>
                  <a:pt x="550" y="769"/>
                  <a:pt x="546" y="769"/>
                  <a:pt x="542" y="769"/>
                </a:cubicBezTo>
                <a:cubicBezTo>
                  <a:pt x="538" y="769"/>
                  <a:pt x="534" y="769"/>
                  <a:pt x="530" y="769"/>
                </a:cubicBezTo>
                <a:cubicBezTo>
                  <a:pt x="526" y="770"/>
                  <a:pt x="522" y="770"/>
                  <a:pt x="518" y="771"/>
                </a:cubicBezTo>
                <a:cubicBezTo>
                  <a:pt x="514" y="772"/>
                  <a:pt x="510" y="773"/>
                  <a:pt x="506" y="774"/>
                </a:cubicBezTo>
                <a:cubicBezTo>
                  <a:pt x="502" y="775"/>
                  <a:pt x="498" y="776"/>
                  <a:pt x="494" y="776"/>
                </a:cubicBezTo>
                <a:cubicBezTo>
                  <a:pt x="490" y="776"/>
                  <a:pt x="486" y="775"/>
                  <a:pt x="482" y="774"/>
                </a:cubicBezTo>
                <a:cubicBezTo>
                  <a:pt x="478" y="774"/>
                  <a:pt x="474" y="772"/>
                  <a:pt x="470" y="771"/>
                </a:cubicBezTo>
                <a:cubicBezTo>
                  <a:pt x="466" y="770"/>
                  <a:pt x="462" y="769"/>
                  <a:pt x="458" y="768"/>
                </a:cubicBezTo>
                <a:cubicBezTo>
                  <a:pt x="454" y="768"/>
                  <a:pt x="450" y="767"/>
                  <a:pt x="446" y="767"/>
                </a:cubicBezTo>
                <a:cubicBezTo>
                  <a:pt x="442" y="767"/>
                  <a:pt x="438" y="767"/>
                  <a:pt x="433" y="767"/>
                </a:cubicBezTo>
                <a:cubicBezTo>
                  <a:pt x="429" y="766"/>
                  <a:pt x="425" y="766"/>
                  <a:pt x="421" y="765"/>
                </a:cubicBezTo>
                <a:cubicBezTo>
                  <a:pt x="417" y="764"/>
                  <a:pt x="414" y="762"/>
                  <a:pt x="410" y="760"/>
                </a:cubicBezTo>
                <a:cubicBezTo>
                  <a:pt x="406" y="758"/>
                  <a:pt x="403" y="756"/>
                  <a:pt x="399" y="754"/>
                </a:cubicBezTo>
                <a:cubicBezTo>
                  <a:pt x="396" y="752"/>
                  <a:pt x="392" y="749"/>
                  <a:pt x="389" y="748"/>
                </a:cubicBezTo>
                <a:cubicBezTo>
                  <a:pt x="385" y="746"/>
                  <a:pt x="381" y="745"/>
                  <a:pt x="377" y="743"/>
                </a:cubicBezTo>
                <a:cubicBezTo>
                  <a:pt x="374" y="742"/>
                  <a:pt x="369" y="741"/>
                  <a:pt x="366" y="739"/>
                </a:cubicBezTo>
                <a:cubicBezTo>
                  <a:pt x="362" y="738"/>
                  <a:pt x="358" y="736"/>
                  <a:pt x="354" y="734"/>
                </a:cubicBezTo>
                <a:cubicBezTo>
                  <a:pt x="351" y="732"/>
                  <a:pt x="348" y="729"/>
                  <a:pt x="345" y="726"/>
                </a:cubicBezTo>
                <a:cubicBezTo>
                  <a:pt x="342" y="724"/>
                  <a:pt x="339" y="720"/>
                  <a:pt x="336" y="717"/>
                </a:cubicBezTo>
                <a:cubicBezTo>
                  <a:pt x="333" y="714"/>
                  <a:pt x="331" y="711"/>
                  <a:pt x="328" y="709"/>
                </a:cubicBezTo>
                <a:cubicBezTo>
                  <a:pt x="325" y="706"/>
                  <a:pt x="321" y="704"/>
                  <a:pt x="318" y="701"/>
                </a:cubicBezTo>
                <a:cubicBezTo>
                  <a:pt x="315" y="699"/>
                  <a:pt x="311" y="697"/>
                  <a:pt x="308" y="694"/>
                </a:cubicBezTo>
                <a:cubicBezTo>
                  <a:pt x="304" y="692"/>
                  <a:pt x="301" y="689"/>
                  <a:pt x="298" y="686"/>
                </a:cubicBezTo>
                <a:cubicBezTo>
                  <a:pt x="295" y="683"/>
                  <a:pt x="293" y="680"/>
                  <a:pt x="291" y="677"/>
                </a:cubicBezTo>
                <a:cubicBezTo>
                  <a:pt x="289" y="673"/>
                  <a:pt x="287" y="669"/>
                  <a:pt x="285" y="666"/>
                </a:cubicBezTo>
                <a:cubicBezTo>
                  <a:pt x="283" y="662"/>
                  <a:pt x="281" y="659"/>
                  <a:pt x="279" y="655"/>
                </a:cubicBezTo>
                <a:cubicBezTo>
                  <a:pt x="277" y="652"/>
                  <a:pt x="274" y="649"/>
                  <a:pt x="271" y="646"/>
                </a:cubicBezTo>
                <a:cubicBezTo>
                  <a:pt x="269" y="643"/>
                  <a:pt x="266" y="640"/>
                  <a:pt x="263" y="636"/>
                </a:cubicBezTo>
                <a:cubicBezTo>
                  <a:pt x="260" y="633"/>
                  <a:pt x="258" y="630"/>
                  <a:pt x="256" y="626"/>
                </a:cubicBezTo>
                <a:cubicBezTo>
                  <a:pt x="254" y="623"/>
                  <a:pt x="252" y="619"/>
                  <a:pt x="251" y="615"/>
                </a:cubicBezTo>
                <a:cubicBezTo>
                  <a:pt x="250" y="611"/>
                  <a:pt x="249" y="607"/>
                  <a:pt x="248" y="603"/>
                </a:cubicBezTo>
                <a:cubicBezTo>
                  <a:pt x="247" y="599"/>
                  <a:pt x="246" y="595"/>
                  <a:pt x="245" y="591"/>
                </a:cubicBezTo>
                <a:cubicBezTo>
                  <a:pt x="244" y="587"/>
                  <a:pt x="242" y="584"/>
                  <a:pt x="240" y="580"/>
                </a:cubicBezTo>
                <a:cubicBezTo>
                  <a:pt x="239" y="576"/>
                  <a:pt x="236" y="573"/>
                  <a:pt x="235" y="569"/>
                </a:cubicBezTo>
                <a:cubicBezTo>
                  <a:pt x="233" y="565"/>
                  <a:pt x="232" y="561"/>
                  <a:pt x="231" y="557"/>
                </a:cubicBezTo>
                <a:cubicBezTo>
                  <a:pt x="230" y="553"/>
                  <a:pt x="229" y="549"/>
                  <a:pt x="229" y="545"/>
                </a:cubicBezTo>
                <a:cubicBezTo>
                  <a:pt x="229" y="541"/>
                  <a:pt x="230" y="537"/>
                  <a:pt x="230" y="532"/>
                </a:cubicBezTo>
                <a:cubicBezTo>
                  <a:pt x="230" y="528"/>
                  <a:pt x="230" y="524"/>
                  <a:pt x="230" y="520"/>
                </a:cubicBezTo>
                <a:cubicBezTo>
                  <a:pt x="230" y="516"/>
                  <a:pt x="229" y="512"/>
                  <a:pt x="229" y="508"/>
                </a:cubicBezTo>
                <a:cubicBezTo>
                  <a:pt x="228" y="504"/>
                  <a:pt x="227" y="500"/>
                  <a:pt x="227" y="496"/>
                </a:cubicBezTo>
                <a:cubicBezTo>
                  <a:pt x="226" y="492"/>
                  <a:pt x="226" y="488"/>
                  <a:pt x="226" y="484"/>
                </a:cubicBezTo>
                <a:cubicBezTo>
                  <a:pt x="226" y="480"/>
                  <a:pt x="227" y="476"/>
                  <a:pt x="228" y="472"/>
                </a:cubicBezTo>
                <a:cubicBezTo>
                  <a:pt x="229" y="468"/>
                  <a:pt x="231" y="464"/>
                  <a:pt x="232" y="460"/>
                </a:cubicBezTo>
                <a:cubicBezTo>
                  <a:pt x="233" y="456"/>
                  <a:pt x="235" y="452"/>
                  <a:pt x="236" y="448"/>
                </a:cubicBezTo>
                <a:cubicBezTo>
                  <a:pt x="237" y="445"/>
                  <a:pt x="237" y="441"/>
                  <a:pt x="238" y="437"/>
                </a:cubicBezTo>
                <a:cubicBezTo>
                  <a:pt x="238" y="433"/>
                  <a:pt x="238" y="428"/>
                  <a:pt x="239" y="424"/>
                </a:cubicBezTo>
                <a:cubicBezTo>
                  <a:pt x="239" y="420"/>
                  <a:pt x="240" y="416"/>
                  <a:pt x="241" y="413"/>
                </a:cubicBezTo>
                <a:cubicBezTo>
                  <a:pt x="242" y="409"/>
                  <a:pt x="244" y="405"/>
                  <a:pt x="246" y="401"/>
                </a:cubicBezTo>
                <a:cubicBezTo>
                  <a:pt x="248" y="398"/>
                  <a:pt x="250" y="395"/>
                  <a:pt x="253" y="391"/>
                </a:cubicBezTo>
                <a:cubicBezTo>
                  <a:pt x="255" y="388"/>
                  <a:pt x="257" y="384"/>
                  <a:pt x="259" y="381"/>
                </a:cubicBezTo>
                <a:cubicBezTo>
                  <a:pt x="260" y="377"/>
                  <a:pt x="262" y="373"/>
                  <a:pt x="263" y="370"/>
                </a:cubicBezTo>
                <a:cubicBezTo>
                  <a:pt x="265" y="366"/>
                  <a:pt x="266" y="362"/>
                  <a:pt x="267" y="358"/>
                </a:cubicBezTo>
                <a:cubicBezTo>
                  <a:pt x="268" y="354"/>
                  <a:pt x="270" y="350"/>
                  <a:pt x="272" y="347"/>
                </a:cubicBezTo>
                <a:cubicBezTo>
                  <a:pt x="274" y="343"/>
                  <a:pt x="276" y="340"/>
                  <a:pt x="279" y="337"/>
                </a:cubicBezTo>
                <a:cubicBezTo>
                  <a:pt x="282" y="334"/>
                  <a:pt x="285" y="332"/>
                  <a:pt x="288" y="329"/>
                </a:cubicBezTo>
                <a:cubicBezTo>
                  <a:pt x="291" y="326"/>
                  <a:pt x="293" y="323"/>
                  <a:pt x="296" y="320"/>
                </a:cubicBezTo>
                <a:cubicBezTo>
                  <a:pt x="298" y="317"/>
                  <a:pt x="301" y="313"/>
                  <a:pt x="303" y="310"/>
                </a:cubicBezTo>
                <a:cubicBezTo>
                  <a:pt x="305" y="306"/>
                  <a:pt x="307" y="303"/>
                  <a:pt x="309" y="299"/>
                </a:cubicBezTo>
                <a:cubicBezTo>
                  <a:pt x="311" y="296"/>
                  <a:pt x="314" y="292"/>
                  <a:pt x="317" y="289"/>
                </a:cubicBezTo>
                <a:cubicBezTo>
                  <a:pt x="319" y="286"/>
                  <a:pt x="323" y="284"/>
                  <a:pt x="326" y="282"/>
                </a:cubicBezTo>
                <a:cubicBezTo>
                  <a:pt x="329" y="279"/>
                  <a:pt x="333" y="277"/>
                  <a:pt x="336" y="275"/>
                </a:cubicBezTo>
                <a:cubicBezTo>
                  <a:pt x="340" y="273"/>
                  <a:pt x="343" y="271"/>
                  <a:pt x="347" y="269"/>
                </a:cubicBezTo>
                <a:cubicBezTo>
                  <a:pt x="350" y="266"/>
                  <a:pt x="353" y="264"/>
                  <a:pt x="356" y="261"/>
                </a:cubicBezTo>
                <a:cubicBezTo>
                  <a:pt x="359" y="258"/>
                  <a:pt x="362" y="255"/>
                  <a:pt x="365" y="252"/>
                </a:cubicBezTo>
                <a:cubicBezTo>
                  <a:pt x="368" y="249"/>
                  <a:pt x="372" y="247"/>
                  <a:pt x="375" y="245"/>
                </a:cubicBezTo>
                <a:cubicBezTo>
                  <a:pt x="379" y="243"/>
                  <a:pt x="383" y="241"/>
                  <a:pt x="386" y="240"/>
                </a:cubicBezTo>
                <a:cubicBezTo>
                  <a:pt x="390" y="238"/>
                  <a:pt x="395" y="238"/>
                  <a:pt x="399" y="237"/>
                </a:cubicBezTo>
                <a:cubicBezTo>
                  <a:pt x="403" y="236"/>
                  <a:pt x="407" y="235"/>
                  <a:pt x="410" y="233"/>
                </a:cubicBezTo>
                <a:cubicBezTo>
                  <a:pt x="414" y="232"/>
                  <a:pt x="418" y="230"/>
                  <a:pt x="422" y="229"/>
                </a:cubicBezTo>
                <a:cubicBezTo>
                  <a:pt x="425" y="227"/>
                  <a:pt x="429" y="225"/>
                  <a:pt x="433" y="223"/>
                </a:cubicBezTo>
                <a:cubicBezTo>
                  <a:pt x="437" y="221"/>
                  <a:pt x="441" y="220"/>
                  <a:pt x="445" y="219"/>
                </a:cubicBezTo>
                <a:cubicBezTo>
                  <a:pt x="449" y="218"/>
                  <a:pt x="453" y="218"/>
                  <a:pt x="457" y="218"/>
                </a:cubicBezTo>
                <a:cubicBezTo>
                  <a:pt x="461" y="218"/>
                  <a:pt x="465" y="218"/>
                  <a:pt x="469" y="218"/>
                </a:cubicBezTo>
                <a:cubicBezTo>
                  <a:pt x="474" y="218"/>
                  <a:pt x="478" y="219"/>
                  <a:pt x="482" y="219"/>
                </a:cubicBezTo>
                <a:cubicBezTo>
                  <a:pt x="486" y="219"/>
                  <a:pt x="490" y="218"/>
                  <a:pt x="494" y="217"/>
                </a:cubicBezTo>
                <a:cubicBezTo>
                  <a:pt x="498" y="217"/>
                  <a:pt x="502" y="216"/>
                  <a:pt x="506" y="215"/>
                </a:cubicBezTo>
                <a:cubicBezTo>
                  <a:pt x="510" y="215"/>
                  <a:pt x="514" y="214"/>
                  <a:pt x="518" y="215"/>
                </a:cubicBezTo>
                <a:cubicBezTo>
                  <a:pt x="522" y="215"/>
                  <a:pt x="526" y="216"/>
                  <a:pt x="530" y="217"/>
                </a:cubicBezTo>
                <a:cubicBezTo>
                  <a:pt x="534" y="218"/>
                  <a:pt x="538" y="219"/>
                  <a:pt x="542" y="221"/>
                </a:cubicBezTo>
                <a:cubicBezTo>
                  <a:pt x="546" y="222"/>
                  <a:pt x="550" y="223"/>
                  <a:pt x="554" y="224"/>
                </a:cubicBezTo>
                <a:cubicBezTo>
                  <a:pt x="558" y="225"/>
                  <a:pt x="562" y="226"/>
                  <a:pt x="566" y="226"/>
                </a:cubicBezTo>
                <a:cubicBezTo>
                  <a:pt x="570" y="226"/>
                  <a:pt x="574" y="226"/>
                  <a:pt x="578" y="227"/>
                </a:cubicBezTo>
                <a:cubicBezTo>
                  <a:pt x="582" y="228"/>
                  <a:pt x="586" y="228"/>
                  <a:pt x="590" y="229"/>
                </a:cubicBezTo>
                <a:cubicBezTo>
                  <a:pt x="594" y="231"/>
                  <a:pt x="598" y="232"/>
                  <a:pt x="601" y="234"/>
                </a:cubicBezTo>
                <a:cubicBezTo>
                  <a:pt x="605" y="236"/>
                  <a:pt x="608" y="239"/>
                  <a:pt x="612" y="241"/>
                </a:cubicBezTo>
                <a:cubicBezTo>
                  <a:pt x="615" y="243"/>
                  <a:pt x="619" y="245"/>
                  <a:pt x="622" y="247"/>
                </a:cubicBezTo>
                <a:cubicBezTo>
                  <a:pt x="626" y="249"/>
                  <a:pt x="630" y="250"/>
                  <a:pt x="633" y="251"/>
                </a:cubicBezTo>
                <a:cubicBezTo>
                  <a:pt x="637" y="253"/>
                  <a:pt x="641" y="254"/>
                  <a:pt x="645" y="255"/>
                </a:cubicBezTo>
                <a:cubicBezTo>
                  <a:pt x="649" y="257"/>
                  <a:pt x="653" y="258"/>
                  <a:pt x="656" y="260"/>
                </a:cubicBezTo>
                <a:cubicBezTo>
                  <a:pt x="660" y="262"/>
                  <a:pt x="663" y="265"/>
                  <a:pt x="666" y="268"/>
                </a:cubicBezTo>
                <a:cubicBezTo>
                  <a:pt x="669" y="271"/>
                  <a:pt x="671" y="274"/>
                  <a:pt x="674" y="277"/>
                </a:cubicBezTo>
                <a:cubicBezTo>
                  <a:pt x="677" y="280"/>
                  <a:pt x="680" y="283"/>
                  <a:pt x="683" y="285"/>
                </a:cubicBezTo>
                <a:cubicBezTo>
                  <a:pt x="686" y="288"/>
                  <a:pt x="689" y="290"/>
                  <a:pt x="693" y="293"/>
                </a:cubicBezTo>
                <a:cubicBezTo>
                  <a:pt x="696" y="295"/>
                  <a:pt x="700" y="297"/>
                  <a:pt x="703" y="299"/>
                </a:cubicBezTo>
                <a:cubicBezTo>
                  <a:pt x="706" y="302"/>
                  <a:pt x="709" y="304"/>
                  <a:pt x="712" y="307"/>
                </a:cubicBezTo>
                <a:cubicBezTo>
                  <a:pt x="715" y="310"/>
                  <a:pt x="717" y="313"/>
                  <a:pt x="720" y="317"/>
                </a:cubicBezTo>
                <a:cubicBezTo>
                  <a:pt x="722" y="320"/>
                  <a:pt x="723" y="324"/>
                  <a:pt x="725" y="328"/>
                </a:cubicBezTo>
                <a:cubicBezTo>
                  <a:pt x="727" y="331"/>
                  <a:pt x="729" y="335"/>
                  <a:pt x="731" y="338"/>
                </a:cubicBezTo>
                <a:cubicBezTo>
                  <a:pt x="734" y="342"/>
                  <a:pt x="736" y="345"/>
                  <a:pt x="739" y="348"/>
                </a:cubicBezTo>
                <a:cubicBezTo>
                  <a:pt x="741" y="351"/>
                  <a:pt x="744" y="354"/>
                  <a:pt x="747" y="357"/>
                </a:cubicBezTo>
                <a:cubicBezTo>
                  <a:pt x="749" y="360"/>
                  <a:pt x="752" y="364"/>
                  <a:pt x="754" y="367"/>
                </a:cubicBezTo>
                <a:cubicBezTo>
                  <a:pt x="756" y="371"/>
                  <a:pt x="757" y="375"/>
                  <a:pt x="758" y="378"/>
                </a:cubicBezTo>
                <a:cubicBezTo>
                  <a:pt x="760" y="382"/>
                  <a:pt x="760" y="386"/>
                  <a:pt x="761" y="390"/>
                </a:cubicBezTo>
                <a:cubicBezTo>
                  <a:pt x="762" y="394"/>
                  <a:pt x="763" y="398"/>
                  <a:pt x="764" y="402"/>
                </a:cubicBezTo>
                <a:cubicBezTo>
                  <a:pt x="765" y="406"/>
                  <a:pt x="767" y="410"/>
                  <a:pt x="769" y="413"/>
                </a:cubicBezTo>
                <a:cubicBezTo>
                  <a:pt x="771" y="417"/>
                  <a:pt x="773" y="420"/>
                  <a:pt x="774" y="424"/>
                </a:cubicBezTo>
                <a:cubicBezTo>
                  <a:pt x="776" y="428"/>
                  <a:pt x="778" y="432"/>
                  <a:pt x="779" y="436"/>
                </a:cubicBezTo>
                <a:cubicBezTo>
                  <a:pt x="780" y="440"/>
                  <a:pt x="780" y="444"/>
                  <a:pt x="780" y="448"/>
                </a:cubicBezTo>
                <a:cubicBezTo>
                  <a:pt x="781" y="452"/>
                  <a:pt x="780" y="456"/>
                  <a:pt x="780" y="460"/>
                </a:cubicBezTo>
                <a:cubicBezTo>
                  <a:pt x="780" y="464"/>
                  <a:pt x="780" y="468"/>
                  <a:pt x="781" y="472"/>
                </a:cubicBezTo>
                <a:cubicBezTo>
                  <a:pt x="781" y="476"/>
                  <a:pt x="782" y="480"/>
                  <a:pt x="783" y="484"/>
                </a:cubicBezTo>
                <a:cubicBezTo>
                  <a:pt x="783" y="488"/>
                  <a:pt x="785" y="492"/>
                  <a:pt x="785" y="496"/>
                </a:cubicBezTo>
                <a:close/>
              </a:path>
            </a:pathLst>
          </a:custGeom>
          <a:noFill/>
          <a:ln w="1905" cap="rnd">
            <a:solidFill>
              <a:srgbClr val="D19CA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Endothelial tissue bed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66" y="496"/>
                </a:moveTo>
                <a:cubicBezTo>
                  <a:pt x="766" y="504"/>
                  <a:pt x="766" y="513"/>
                  <a:pt x="765" y="521"/>
                </a:cubicBezTo>
                <a:cubicBezTo>
                  <a:pt x="765" y="530"/>
                  <a:pt x="764" y="538"/>
                  <a:pt x="763" y="547"/>
                </a:cubicBezTo>
                <a:cubicBezTo>
                  <a:pt x="762" y="555"/>
                  <a:pt x="760" y="564"/>
                  <a:pt x="758" y="572"/>
                </a:cubicBezTo>
                <a:cubicBezTo>
                  <a:pt x="755" y="580"/>
                  <a:pt x="753" y="588"/>
                  <a:pt x="749" y="596"/>
                </a:cubicBezTo>
                <a:cubicBezTo>
                  <a:pt x="746" y="604"/>
                  <a:pt x="743" y="612"/>
                  <a:pt x="739" y="620"/>
                </a:cubicBezTo>
                <a:cubicBezTo>
                  <a:pt x="734" y="627"/>
                  <a:pt x="730" y="635"/>
                  <a:pt x="725" y="642"/>
                </a:cubicBezTo>
                <a:cubicBezTo>
                  <a:pt x="720" y="649"/>
                  <a:pt x="714" y="655"/>
                  <a:pt x="709" y="662"/>
                </a:cubicBezTo>
                <a:cubicBezTo>
                  <a:pt x="703" y="668"/>
                  <a:pt x="697" y="674"/>
                  <a:pt x="690" y="680"/>
                </a:cubicBezTo>
                <a:cubicBezTo>
                  <a:pt x="684" y="685"/>
                  <a:pt x="677" y="691"/>
                  <a:pt x="671" y="696"/>
                </a:cubicBezTo>
                <a:cubicBezTo>
                  <a:pt x="664" y="701"/>
                  <a:pt x="657" y="705"/>
                  <a:pt x="649" y="709"/>
                </a:cubicBezTo>
                <a:cubicBezTo>
                  <a:pt x="642" y="714"/>
                  <a:pt x="635" y="718"/>
                  <a:pt x="627" y="721"/>
                </a:cubicBezTo>
                <a:cubicBezTo>
                  <a:pt x="620" y="725"/>
                  <a:pt x="612" y="728"/>
                  <a:pt x="604" y="731"/>
                </a:cubicBezTo>
                <a:cubicBezTo>
                  <a:pt x="596" y="735"/>
                  <a:pt x="588" y="737"/>
                  <a:pt x="581" y="740"/>
                </a:cubicBezTo>
                <a:cubicBezTo>
                  <a:pt x="573" y="742"/>
                  <a:pt x="564" y="744"/>
                  <a:pt x="556" y="746"/>
                </a:cubicBezTo>
                <a:cubicBezTo>
                  <a:pt x="548" y="748"/>
                  <a:pt x="540" y="750"/>
                  <a:pt x="532" y="751"/>
                </a:cubicBezTo>
                <a:cubicBezTo>
                  <a:pt x="523" y="752"/>
                  <a:pt x="515" y="753"/>
                  <a:pt x="506" y="753"/>
                </a:cubicBezTo>
                <a:cubicBezTo>
                  <a:pt x="498" y="753"/>
                  <a:pt x="490" y="753"/>
                  <a:pt x="481" y="753"/>
                </a:cubicBezTo>
                <a:cubicBezTo>
                  <a:pt x="473" y="753"/>
                  <a:pt x="464" y="752"/>
                  <a:pt x="456" y="750"/>
                </a:cubicBezTo>
                <a:cubicBezTo>
                  <a:pt x="448" y="749"/>
                  <a:pt x="439" y="747"/>
                  <a:pt x="431" y="745"/>
                </a:cubicBezTo>
                <a:cubicBezTo>
                  <a:pt x="423" y="742"/>
                  <a:pt x="415" y="740"/>
                  <a:pt x="407" y="736"/>
                </a:cubicBezTo>
                <a:cubicBezTo>
                  <a:pt x="399" y="733"/>
                  <a:pt x="391" y="730"/>
                  <a:pt x="384" y="726"/>
                </a:cubicBezTo>
                <a:cubicBezTo>
                  <a:pt x="376" y="722"/>
                  <a:pt x="369" y="717"/>
                  <a:pt x="362" y="712"/>
                </a:cubicBezTo>
                <a:cubicBezTo>
                  <a:pt x="355" y="708"/>
                  <a:pt x="348" y="702"/>
                  <a:pt x="341" y="697"/>
                </a:cubicBezTo>
                <a:cubicBezTo>
                  <a:pt x="335" y="692"/>
                  <a:pt x="329" y="686"/>
                  <a:pt x="323" y="680"/>
                </a:cubicBezTo>
                <a:cubicBezTo>
                  <a:pt x="317" y="674"/>
                  <a:pt x="311" y="667"/>
                  <a:pt x="305" y="661"/>
                </a:cubicBezTo>
                <a:cubicBezTo>
                  <a:pt x="300" y="654"/>
                  <a:pt x="295" y="647"/>
                  <a:pt x="290" y="640"/>
                </a:cubicBezTo>
                <a:cubicBezTo>
                  <a:pt x="285" y="633"/>
                  <a:pt x="281" y="626"/>
                  <a:pt x="277" y="619"/>
                </a:cubicBezTo>
                <a:cubicBezTo>
                  <a:pt x="273" y="611"/>
                  <a:pt x="269" y="603"/>
                  <a:pt x="266" y="596"/>
                </a:cubicBezTo>
                <a:cubicBezTo>
                  <a:pt x="262" y="588"/>
                  <a:pt x="259" y="580"/>
                  <a:pt x="257" y="571"/>
                </a:cubicBezTo>
                <a:cubicBezTo>
                  <a:pt x="255" y="563"/>
                  <a:pt x="252" y="555"/>
                  <a:pt x="251" y="547"/>
                </a:cubicBezTo>
                <a:cubicBezTo>
                  <a:pt x="249" y="538"/>
                  <a:pt x="248" y="530"/>
                  <a:pt x="248" y="521"/>
                </a:cubicBezTo>
                <a:cubicBezTo>
                  <a:pt x="247" y="513"/>
                  <a:pt x="247" y="504"/>
                  <a:pt x="248" y="496"/>
                </a:cubicBezTo>
                <a:cubicBezTo>
                  <a:pt x="248" y="487"/>
                  <a:pt x="249" y="479"/>
                  <a:pt x="250" y="471"/>
                </a:cubicBezTo>
                <a:cubicBezTo>
                  <a:pt x="251" y="462"/>
                  <a:pt x="253" y="454"/>
                  <a:pt x="255" y="446"/>
                </a:cubicBezTo>
                <a:cubicBezTo>
                  <a:pt x="257" y="438"/>
                  <a:pt x="259" y="429"/>
                  <a:pt x="262" y="422"/>
                </a:cubicBezTo>
                <a:cubicBezTo>
                  <a:pt x="265" y="414"/>
                  <a:pt x="268" y="406"/>
                  <a:pt x="271" y="398"/>
                </a:cubicBezTo>
                <a:cubicBezTo>
                  <a:pt x="274" y="391"/>
                  <a:pt x="278" y="383"/>
                  <a:pt x="282" y="376"/>
                </a:cubicBezTo>
                <a:cubicBezTo>
                  <a:pt x="286" y="368"/>
                  <a:pt x="290" y="361"/>
                  <a:pt x="294" y="354"/>
                </a:cubicBezTo>
                <a:cubicBezTo>
                  <a:pt x="299" y="347"/>
                  <a:pt x="303" y="340"/>
                  <a:pt x="308" y="333"/>
                </a:cubicBezTo>
                <a:cubicBezTo>
                  <a:pt x="313" y="326"/>
                  <a:pt x="319" y="320"/>
                  <a:pt x="324" y="313"/>
                </a:cubicBezTo>
                <a:cubicBezTo>
                  <a:pt x="330" y="307"/>
                  <a:pt x="336" y="301"/>
                  <a:pt x="342" y="295"/>
                </a:cubicBezTo>
                <a:cubicBezTo>
                  <a:pt x="348" y="289"/>
                  <a:pt x="355" y="284"/>
                  <a:pt x="362" y="279"/>
                </a:cubicBezTo>
                <a:cubicBezTo>
                  <a:pt x="368" y="274"/>
                  <a:pt x="376" y="269"/>
                  <a:pt x="383" y="265"/>
                </a:cubicBezTo>
                <a:cubicBezTo>
                  <a:pt x="390" y="260"/>
                  <a:pt x="398" y="256"/>
                  <a:pt x="406" y="253"/>
                </a:cubicBezTo>
                <a:cubicBezTo>
                  <a:pt x="414" y="249"/>
                  <a:pt x="422" y="247"/>
                  <a:pt x="430" y="244"/>
                </a:cubicBezTo>
                <a:cubicBezTo>
                  <a:pt x="438" y="242"/>
                  <a:pt x="447" y="240"/>
                  <a:pt x="455" y="238"/>
                </a:cubicBezTo>
                <a:cubicBezTo>
                  <a:pt x="464" y="237"/>
                  <a:pt x="472" y="236"/>
                  <a:pt x="481" y="235"/>
                </a:cubicBezTo>
                <a:cubicBezTo>
                  <a:pt x="489" y="235"/>
                  <a:pt x="498" y="235"/>
                  <a:pt x="506" y="235"/>
                </a:cubicBezTo>
                <a:cubicBezTo>
                  <a:pt x="515" y="235"/>
                  <a:pt x="524" y="236"/>
                  <a:pt x="532" y="238"/>
                </a:cubicBezTo>
                <a:cubicBezTo>
                  <a:pt x="540" y="239"/>
                  <a:pt x="549" y="240"/>
                  <a:pt x="557" y="242"/>
                </a:cubicBezTo>
                <a:cubicBezTo>
                  <a:pt x="565" y="244"/>
                  <a:pt x="573" y="246"/>
                  <a:pt x="581" y="249"/>
                </a:cubicBezTo>
                <a:cubicBezTo>
                  <a:pt x="589" y="252"/>
                  <a:pt x="597" y="255"/>
                  <a:pt x="605" y="258"/>
                </a:cubicBezTo>
                <a:cubicBezTo>
                  <a:pt x="613" y="261"/>
                  <a:pt x="620" y="265"/>
                  <a:pt x="628" y="269"/>
                </a:cubicBezTo>
                <a:cubicBezTo>
                  <a:pt x="635" y="273"/>
                  <a:pt x="643" y="277"/>
                  <a:pt x="650" y="282"/>
                </a:cubicBezTo>
                <a:cubicBezTo>
                  <a:pt x="657" y="286"/>
                  <a:pt x="663" y="291"/>
                  <a:pt x="670" y="297"/>
                </a:cubicBezTo>
                <a:cubicBezTo>
                  <a:pt x="677" y="302"/>
                  <a:pt x="683" y="308"/>
                  <a:pt x="689" y="313"/>
                </a:cubicBezTo>
                <a:cubicBezTo>
                  <a:pt x="695" y="319"/>
                  <a:pt x="700" y="326"/>
                  <a:pt x="706" y="332"/>
                </a:cubicBezTo>
                <a:cubicBezTo>
                  <a:pt x="711" y="339"/>
                  <a:pt x="716" y="346"/>
                  <a:pt x="721" y="353"/>
                </a:cubicBezTo>
                <a:cubicBezTo>
                  <a:pt x="725" y="360"/>
                  <a:pt x="730" y="367"/>
                  <a:pt x="734" y="374"/>
                </a:cubicBezTo>
                <a:cubicBezTo>
                  <a:pt x="737" y="382"/>
                  <a:pt x="741" y="390"/>
                  <a:pt x="744" y="397"/>
                </a:cubicBezTo>
                <a:cubicBezTo>
                  <a:pt x="747" y="405"/>
                  <a:pt x="750" y="413"/>
                  <a:pt x="753" y="421"/>
                </a:cubicBezTo>
                <a:cubicBezTo>
                  <a:pt x="755" y="429"/>
                  <a:pt x="757" y="437"/>
                  <a:pt x="759" y="446"/>
                </a:cubicBezTo>
                <a:cubicBezTo>
                  <a:pt x="761" y="454"/>
                  <a:pt x="762" y="462"/>
                  <a:pt x="763" y="470"/>
                </a:cubicBezTo>
                <a:cubicBezTo>
                  <a:pt x="764" y="479"/>
                  <a:pt x="765" y="487"/>
                  <a:pt x="766" y="496"/>
                </a:cubicBezTo>
                <a:close/>
              </a:path>
            </a:pathLst>
          </a:custGeom>
          <a:gradFill rotWithShape="1">
            <a:gsLst>
              <a:gs pos="0">
                <a:srgbClr val="E1EFF5"/>
              </a:gs>
              <a:gs pos="100000">
                <a:srgbClr val="C5DDE9"/>
              </a:gs>
            </a:gsLst>
            <a:lin ang="5400000" scaled="1"/>
          </a:gradFill>
          <a:ln w="2430" cap="rnd">
            <a:solidFill>
              <a:srgbClr val="8BAFC4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Open pulmonary arteriolar lumen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07" y="496"/>
                </a:moveTo>
                <a:cubicBezTo>
                  <a:pt x="707" y="502"/>
                  <a:pt x="707" y="509"/>
                  <a:pt x="707" y="516"/>
                </a:cubicBezTo>
                <a:cubicBezTo>
                  <a:pt x="706" y="522"/>
                  <a:pt x="706" y="529"/>
                  <a:pt x="705" y="535"/>
                </a:cubicBezTo>
                <a:cubicBezTo>
                  <a:pt x="704" y="542"/>
                  <a:pt x="702" y="548"/>
                  <a:pt x="700" y="555"/>
                </a:cubicBezTo>
                <a:cubicBezTo>
                  <a:pt x="699" y="561"/>
                  <a:pt x="697" y="567"/>
                  <a:pt x="694" y="573"/>
                </a:cubicBezTo>
                <a:cubicBezTo>
                  <a:pt x="692" y="580"/>
                  <a:pt x="689" y="586"/>
                  <a:pt x="686" y="592"/>
                </a:cubicBezTo>
                <a:cubicBezTo>
                  <a:pt x="683" y="597"/>
                  <a:pt x="679" y="603"/>
                  <a:pt x="675" y="608"/>
                </a:cubicBezTo>
                <a:cubicBezTo>
                  <a:pt x="671" y="614"/>
                  <a:pt x="667" y="619"/>
                  <a:pt x="663" y="624"/>
                </a:cubicBezTo>
                <a:cubicBezTo>
                  <a:pt x="658" y="629"/>
                  <a:pt x="654" y="634"/>
                  <a:pt x="649" y="638"/>
                </a:cubicBezTo>
                <a:cubicBezTo>
                  <a:pt x="644" y="642"/>
                  <a:pt x="639" y="647"/>
                  <a:pt x="634" y="651"/>
                </a:cubicBezTo>
                <a:cubicBezTo>
                  <a:pt x="628" y="654"/>
                  <a:pt x="623" y="658"/>
                  <a:pt x="617" y="661"/>
                </a:cubicBezTo>
                <a:cubicBezTo>
                  <a:pt x="612" y="665"/>
                  <a:pt x="606" y="668"/>
                  <a:pt x="600" y="671"/>
                </a:cubicBezTo>
                <a:cubicBezTo>
                  <a:pt x="594" y="674"/>
                  <a:pt x="588" y="676"/>
                  <a:pt x="582" y="679"/>
                </a:cubicBezTo>
                <a:cubicBezTo>
                  <a:pt x="576" y="681"/>
                  <a:pt x="570" y="683"/>
                  <a:pt x="564" y="685"/>
                </a:cubicBezTo>
                <a:cubicBezTo>
                  <a:pt x="558" y="687"/>
                  <a:pt x="551" y="689"/>
                  <a:pt x="545" y="690"/>
                </a:cubicBezTo>
                <a:cubicBezTo>
                  <a:pt x="539" y="692"/>
                  <a:pt x="532" y="693"/>
                  <a:pt x="526" y="694"/>
                </a:cubicBezTo>
                <a:cubicBezTo>
                  <a:pt x="520" y="694"/>
                  <a:pt x="513" y="695"/>
                  <a:pt x="506" y="695"/>
                </a:cubicBezTo>
                <a:cubicBezTo>
                  <a:pt x="500" y="695"/>
                  <a:pt x="493" y="695"/>
                  <a:pt x="487" y="695"/>
                </a:cubicBezTo>
                <a:cubicBezTo>
                  <a:pt x="480" y="695"/>
                  <a:pt x="474" y="694"/>
                  <a:pt x="467" y="693"/>
                </a:cubicBezTo>
                <a:cubicBezTo>
                  <a:pt x="461" y="692"/>
                  <a:pt x="454" y="690"/>
                  <a:pt x="448" y="688"/>
                </a:cubicBezTo>
                <a:cubicBezTo>
                  <a:pt x="442" y="687"/>
                  <a:pt x="435" y="684"/>
                  <a:pt x="429" y="682"/>
                </a:cubicBezTo>
                <a:cubicBezTo>
                  <a:pt x="423" y="679"/>
                  <a:pt x="417" y="677"/>
                  <a:pt x="412" y="673"/>
                </a:cubicBezTo>
                <a:cubicBezTo>
                  <a:pt x="406" y="670"/>
                  <a:pt x="400" y="667"/>
                  <a:pt x="395" y="663"/>
                </a:cubicBezTo>
                <a:cubicBezTo>
                  <a:pt x="389" y="660"/>
                  <a:pt x="384" y="656"/>
                  <a:pt x="379" y="651"/>
                </a:cubicBezTo>
                <a:cubicBezTo>
                  <a:pt x="374" y="647"/>
                  <a:pt x="369" y="643"/>
                  <a:pt x="364" y="638"/>
                </a:cubicBezTo>
                <a:cubicBezTo>
                  <a:pt x="360" y="633"/>
                  <a:pt x="355" y="629"/>
                  <a:pt x="351" y="623"/>
                </a:cubicBezTo>
                <a:cubicBezTo>
                  <a:pt x="347" y="618"/>
                  <a:pt x="343" y="613"/>
                  <a:pt x="339" y="608"/>
                </a:cubicBezTo>
                <a:cubicBezTo>
                  <a:pt x="335" y="602"/>
                  <a:pt x="332" y="597"/>
                  <a:pt x="329" y="591"/>
                </a:cubicBezTo>
                <a:cubicBezTo>
                  <a:pt x="326" y="585"/>
                  <a:pt x="323" y="579"/>
                  <a:pt x="320" y="573"/>
                </a:cubicBezTo>
                <a:cubicBezTo>
                  <a:pt x="318" y="567"/>
                  <a:pt x="315" y="561"/>
                  <a:pt x="314" y="554"/>
                </a:cubicBezTo>
                <a:cubicBezTo>
                  <a:pt x="312" y="548"/>
                  <a:pt x="310" y="542"/>
                  <a:pt x="309" y="535"/>
                </a:cubicBezTo>
                <a:cubicBezTo>
                  <a:pt x="308" y="529"/>
                  <a:pt x="307" y="522"/>
                  <a:pt x="306" y="515"/>
                </a:cubicBezTo>
                <a:cubicBezTo>
                  <a:pt x="306" y="509"/>
                  <a:pt x="306" y="502"/>
                  <a:pt x="306" y="496"/>
                </a:cubicBezTo>
                <a:cubicBezTo>
                  <a:pt x="306" y="489"/>
                  <a:pt x="307" y="483"/>
                  <a:pt x="308" y="476"/>
                </a:cubicBezTo>
                <a:cubicBezTo>
                  <a:pt x="309" y="470"/>
                  <a:pt x="310" y="463"/>
                  <a:pt x="311" y="457"/>
                </a:cubicBezTo>
                <a:cubicBezTo>
                  <a:pt x="313" y="451"/>
                  <a:pt x="315" y="444"/>
                  <a:pt x="317" y="438"/>
                </a:cubicBezTo>
                <a:cubicBezTo>
                  <a:pt x="319" y="432"/>
                  <a:pt x="321" y="426"/>
                  <a:pt x="324" y="420"/>
                </a:cubicBezTo>
                <a:cubicBezTo>
                  <a:pt x="326" y="414"/>
                  <a:pt x="329" y="408"/>
                  <a:pt x="332" y="403"/>
                </a:cubicBezTo>
                <a:cubicBezTo>
                  <a:pt x="335" y="397"/>
                  <a:pt x="338" y="391"/>
                  <a:pt x="342" y="386"/>
                </a:cubicBezTo>
                <a:cubicBezTo>
                  <a:pt x="345" y="380"/>
                  <a:pt x="349" y="375"/>
                  <a:pt x="353" y="370"/>
                </a:cubicBezTo>
                <a:cubicBezTo>
                  <a:pt x="357" y="364"/>
                  <a:pt x="361" y="359"/>
                  <a:pt x="365" y="355"/>
                </a:cubicBezTo>
                <a:cubicBezTo>
                  <a:pt x="370" y="350"/>
                  <a:pt x="374" y="345"/>
                  <a:pt x="379" y="341"/>
                </a:cubicBezTo>
                <a:cubicBezTo>
                  <a:pt x="384" y="336"/>
                  <a:pt x="389" y="332"/>
                  <a:pt x="394" y="328"/>
                </a:cubicBezTo>
                <a:cubicBezTo>
                  <a:pt x="400" y="324"/>
                  <a:pt x="405" y="320"/>
                  <a:pt x="411" y="317"/>
                </a:cubicBezTo>
                <a:cubicBezTo>
                  <a:pt x="417" y="314"/>
                  <a:pt x="423" y="311"/>
                  <a:pt x="429" y="308"/>
                </a:cubicBezTo>
                <a:cubicBezTo>
                  <a:pt x="435" y="306"/>
                  <a:pt x="441" y="303"/>
                  <a:pt x="448" y="301"/>
                </a:cubicBezTo>
                <a:cubicBezTo>
                  <a:pt x="454" y="300"/>
                  <a:pt x="460" y="298"/>
                  <a:pt x="467" y="297"/>
                </a:cubicBezTo>
                <a:cubicBezTo>
                  <a:pt x="473" y="296"/>
                  <a:pt x="480" y="295"/>
                  <a:pt x="487" y="294"/>
                </a:cubicBezTo>
                <a:cubicBezTo>
                  <a:pt x="493" y="294"/>
                  <a:pt x="500" y="294"/>
                  <a:pt x="506" y="294"/>
                </a:cubicBezTo>
                <a:cubicBezTo>
                  <a:pt x="513" y="294"/>
                  <a:pt x="520" y="295"/>
                  <a:pt x="526" y="296"/>
                </a:cubicBezTo>
                <a:cubicBezTo>
                  <a:pt x="533" y="297"/>
                  <a:pt x="539" y="298"/>
                  <a:pt x="546" y="299"/>
                </a:cubicBezTo>
                <a:cubicBezTo>
                  <a:pt x="552" y="301"/>
                  <a:pt x="558" y="303"/>
                  <a:pt x="564" y="305"/>
                </a:cubicBezTo>
                <a:cubicBezTo>
                  <a:pt x="571" y="307"/>
                  <a:pt x="577" y="309"/>
                  <a:pt x="583" y="311"/>
                </a:cubicBezTo>
                <a:cubicBezTo>
                  <a:pt x="589" y="314"/>
                  <a:pt x="595" y="317"/>
                  <a:pt x="601" y="320"/>
                </a:cubicBezTo>
                <a:cubicBezTo>
                  <a:pt x="606" y="323"/>
                  <a:pt x="612" y="326"/>
                  <a:pt x="617" y="330"/>
                </a:cubicBezTo>
                <a:cubicBezTo>
                  <a:pt x="623" y="333"/>
                  <a:pt x="628" y="337"/>
                  <a:pt x="633" y="341"/>
                </a:cubicBezTo>
                <a:cubicBezTo>
                  <a:pt x="638" y="346"/>
                  <a:pt x="643" y="350"/>
                  <a:pt x="648" y="355"/>
                </a:cubicBezTo>
                <a:cubicBezTo>
                  <a:pt x="652" y="359"/>
                  <a:pt x="657" y="364"/>
                  <a:pt x="661" y="369"/>
                </a:cubicBezTo>
                <a:cubicBezTo>
                  <a:pt x="665" y="374"/>
                  <a:pt x="669" y="379"/>
                  <a:pt x="672" y="385"/>
                </a:cubicBezTo>
                <a:cubicBezTo>
                  <a:pt x="676" y="390"/>
                  <a:pt x="679" y="396"/>
                  <a:pt x="682" y="402"/>
                </a:cubicBezTo>
                <a:cubicBezTo>
                  <a:pt x="685" y="408"/>
                  <a:pt x="688" y="413"/>
                  <a:pt x="691" y="419"/>
                </a:cubicBezTo>
                <a:cubicBezTo>
                  <a:pt x="693" y="426"/>
                  <a:pt x="695" y="432"/>
                  <a:pt x="697" y="438"/>
                </a:cubicBezTo>
                <a:cubicBezTo>
                  <a:pt x="699" y="444"/>
                  <a:pt x="701" y="450"/>
                  <a:pt x="702" y="457"/>
                </a:cubicBezTo>
                <a:cubicBezTo>
                  <a:pt x="704" y="463"/>
                  <a:pt x="705" y="470"/>
                  <a:pt x="705" y="476"/>
                </a:cubicBezTo>
                <a:cubicBezTo>
                  <a:pt x="706" y="483"/>
                  <a:pt x="707" y="489"/>
                  <a:pt x="707" y="496"/>
                </a:cubicBezTo>
                <a:close/>
              </a:path>
            </a:pathLst>
          </a:custGeom>
          <a:gradFill rotWithShape="1">
            <a:gsLst>
              <a:gs pos="0">
                <a:srgbClr val="FFF8F3"/>
              </a:gs>
              <a:gs pos="60000">
                <a:srgbClr val="FBE9E1"/>
              </a:gs>
              <a:gs pos="100000">
                <a:srgbClr val="F3D9D3"/>
              </a:gs>
            </a:gsLst>
            <a:lin ang="5400000" scaled="1"/>
          </a:gradFill>
          <a:ln w="2025" cap="rnd">
            <a:solidFill>
              <a:srgbClr val="91B4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6" name="Naturally staggered endothelial cell 00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6" y="477"/>
                </a:moveTo>
                <a:cubicBezTo>
                  <a:pt x="756" y="479"/>
                  <a:pt x="757" y="488"/>
                  <a:pt x="757" y="493"/>
                </a:cubicBezTo>
                <a:cubicBezTo>
                  <a:pt x="758" y="498"/>
                  <a:pt x="758" y="504"/>
                  <a:pt x="758" y="509"/>
                </a:cubicBezTo>
                <a:cubicBezTo>
                  <a:pt x="758" y="515"/>
                  <a:pt x="757" y="520"/>
                  <a:pt x="757" y="526"/>
                </a:cubicBezTo>
                <a:cubicBezTo>
                  <a:pt x="757" y="531"/>
                  <a:pt x="756" y="536"/>
                  <a:pt x="755" y="542"/>
                </a:cubicBezTo>
                <a:cubicBezTo>
                  <a:pt x="754" y="547"/>
                  <a:pt x="753" y="553"/>
                  <a:pt x="752" y="558"/>
                </a:cubicBezTo>
                <a:cubicBezTo>
                  <a:pt x="751" y="563"/>
                  <a:pt x="750" y="569"/>
                  <a:pt x="748" y="574"/>
                </a:cubicBezTo>
                <a:cubicBezTo>
                  <a:pt x="747" y="579"/>
                  <a:pt x="745" y="584"/>
                  <a:pt x="743" y="590"/>
                </a:cubicBezTo>
                <a:cubicBezTo>
                  <a:pt x="741" y="595"/>
                  <a:pt x="738" y="602"/>
                  <a:pt x="737" y="605"/>
                </a:cubicBezTo>
                <a:lnTo>
                  <a:pt x="696" y="586"/>
                </a:lnTo>
                <a:cubicBezTo>
                  <a:pt x="697" y="583"/>
                  <a:pt x="700" y="577"/>
                  <a:pt x="701" y="573"/>
                </a:cubicBezTo>
                <a:cubicBezTo>
                  <a:pt x="703" y="569"/>
                  <a:pt x="704" y="565"/>
                  <a:pt x="706" y="560"/>
                </a:cubicBezTo>
                <a:cubicBezTo>
                  <a:pt x="707" y="556"/>
                  <a:pt x="708" y="551"/>
                  <a:pt x="709" y="547"/>
                </a:cubicBezTo>
                <a:cubicBezTo>
                  <a:pt x="710" y="543"/>
                  <a:pt x="711" y="538"/>
                  <a:pt x="711" y="534"/>
                </a:cubicBezTo>
                <a:cubicBezTo>
                  <a:pt x="712" y="529"/>
                  <a:pt x="713" y="525"/>
                  <a:pt x="713" y="520"/>
                </a:cubicBezTo>
                <a:cubicBezTo>
                  <a:pt x="713" y="516"/>
                  <a:pt x="714" y="511"/>
                  <a:pt x="714" y="507"/>
                </a:cubicBezTo>
                <a:cubicBezTo>
                  <a:pt x="714" y="502"/>
                  <a:pt x="714" y="498"/>
                  <a:pt x="713" y="493"/>
                </a:cubicBezTo>
                <a:cubicBezTo>
                  <a:pt x="713" y="489"/>
                  <a:pt x="713" y="482"/>
                  <a:pt x="712" y="480"/>
                </a:cubicBezTo>
                <a:close/>
              </a:path>
            </a:pathLst>
          </a:custGeom>
          <a:solidFill>
            <a:srgbClr val="D5E8F1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 rot="6030000">
            <a:off x="3863333" y="1108089"/>
            <a:ext cx="44651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8" name="Naturally staggered endothelial cell 01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36" y="611"/>
                </a:moveTo>
                <a:cubicBezTo>
                  <a:pt x="735" y="613"/>
                  <a:pt x="731" y="620"/>
                  <a:pt x="728" y="624"/>
                </a:cubicBezTo>
                <a:cubicBezTo>
                  <a:pt x="726" y="629"/>
                  <a:pt x="723" y="633"/>
                  <a:pt x="720" y="637"/>
                </a:cubicBezTo>
                <a:cubicBezTo>
                  <a:pt x="717" y="642"/>
                  <a:pt x="714" y="646"/>
                  <a:pt x="711" y="650"/>
                </a:cubicBezTo>
                <a:cubicBezTo>
                  <a:pt x="707" y="654"/>
                  <a:pt x="704" y="658"/>
                  <a:pt x="700" y="661"/>
                </a:cubicBezTo>
                <a:cubicBezTo>
                  <a:pt x="697" y="665"/>
                  <a:pt x="693" y="669"/>
                  <a:pt x="689" y="672"/>
                </a:cubicBezTo>
                <a:cubicBezTo>
                  <a:pt x="686" y="676"/>
                  <a:pt x="682" y="679"/>
                  <a:pt x="678" y="682"/>
                </a:cubicBezTo>
                <a:cubicBezTo>
                  <a:pt x="674" y="686"/>
                  <a:pt x="670" y="689"/>
                  <a:pt x="666" y="692"/>
                </a:cubicBezTo>
                <a:cubicBezTo>
                  <a:pt x="662" y="695"/>
                  <a:pt x="655" y="699"/>
                  <a:pt x="653" y="700"/>
                </a:cubicBezTo>
                <a:lnTo>
                  <a:pt x="628" y="665"/>
                </a:lnTo>
                <a:cubicBezTo>
                  <a:pt x="629" y="664"/>
                  <a:pt x="635" y="660"/>
                  <a:pt x="638" y="658"/>
                </a:cubicBezTo>
                <a:cubicBezTo>
                  <a:pt x="642" y="655"/>
                  <a:pt x="645" y="653"/>
                  <a:pt x="648" y="650"/>
                </a:cubicBezTo>
                <a:cubicBezTo>
                  <a:pt x="651" y="647"/>
                  <a:pt x="655" y="644"/>
                  <a:pt x="658" y="642"/>
                </a:cubicBezTo>
                <a:cubicBezTo>
                  <a:pt x="661" y="639"/>
                  <a:pt x="664" y="636"/>
                  <a:pt x="667" y="633"/>
                </a:cubicBezTo>
                <a:cubicBezTo>
                  <a:pt x="669" y="629"/>
                  <a:pt x="672" y="626"/>
                  <a:pt x="675" y="623"/>
                </a:cubicBezTo>
                <a:cubicBezTo>
                  <a:pt x="678" y="620"/>
                  <a:pt x="680" y="616"/>
                  <a:pt x="683" y="613"/>
                </a:cubicBezTo>
                <a:cubicBezTo>
                  <a:pt x="685" y="609"/>
                  <a:pt x="687" y="606"/>
                  <a:pt x="690" y="602"/>
                </a:cubicBezTo>
                <a:cubicBezTo>
                  <a:pt x="692" y="598"/>
                  <a:pt x="695" y="593"/>
                  <a:pt x="696" y="591"/>
                </a:cubicBezTo>
                <a:close/>
              </a:path>
            </a:pathLst>
          </a:custGeom>
          <a:solidFill>
            <a:srgbClr val="CFE3EF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 rot="7830000">
            <a:off x="3818786" y="1201727"/>
            <a:ext cx="48230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Naturally staggered endothelial cell 02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648" y="702"/>
                </a:moveTo>
                <a:cubicBezTo>
                  <a:pt x="645" y="704"/>
                  <a:pt x="637" y="708"/>
                  <a:pt x="632" y="711"/>
                </a:cubicBezTo>
                <a:cubicBezTo>
                  <a:pt x="627" y="714"/>
                  <a:pt x="622" y="716"/>
                  <a:pt x="616" y="719"/>
                </a:cubicBezTo>
                <a:cubicBezTo>
                  <a:pt x="611" y="721"/>
                  <a:pt x="605" y="724"/>
                  <a:pt x="600" y="726"/>
                </a:cubicBezTo>
                <a:cubicBezTo>
                  <a:pt x="594" y="728"/>
                  <a:pt x="589" y="730"/>
                  <a:pt x="583" y="732"/>
                </a:cubicBezTo>
                <a:cubicBezTo>
                  <a:pt x="578" y="734"/>
                  <a:pt x="572" y="735"/>
                  <a:pt x="566" y="737"/>
                </a:cubicBezTo>
                <a:cubicBezTo>
                  <a:pt x="561" y="738"/>
                  <a:pt x="555" y="740"/>
                  <a:pt x="549" y="741"/>
                </a:cubicBezTo>
                <a:cubicBezTo>
                  <a:pt x="543" y="742"/>
                  <a:pt x="537" y="743"/>
                  <a:pt x="531" y="744"/>
                </a:cubicBezTo>
                <a:cubicBezTo>
                  <a:pt x="526" y="745"/>
                  <a:pt x="517" y="745"/>
                  <a:pt x="514" y="746"/>
                </a:cubicBezTo>
                <a:lnTo>
                  <a:pt x="512" y="702"/>
                </a:lnTo>
                <a:cubicBezTo>
                  <a:pt x="515" y="702"/>
                  <a:pt x="522" y="701"/>
                  <a:pt x="527" y="701"/>
                </a:cubicBezTo>
                <a:cubicBezTo>
                  <a:pt x="532" y="700"/>
                  <a:pt x="537" y="699"/>
                  <a:pt x="542" y="698"/>
                </a:cubicBezTo>
                <a:cubicBezTo>
                  <a:pt x="546" y="697"/>
                  <a:pt x="551" y="696"/>
                  <a:pt x="556" y="695"/>
                </a:cubicBezTo>
                <a:cubicBezTo>
                  <a:pt x="561" y="694"/>
                  <a:pt x="565" y="692"/>
                  <a:pt x="570" y="691"/>
                </a:cubicBezTo>
                <a:cubicBezTo>
                  <a:pt x="574" y="689"/>
                  <a:pt x="579" y="688"/>
                  <a:pt x="584" y="686"/>
                </a:cubicBezTo>
                <a:cubicBezTo>
                  <a:pt x="588" y="684"/>
                  <a:pt x="593" y="682"/>
                  <a:pt x="597" y="680"/>
                </a:cubicBezTo>
                <a:cubicBezTo>
                  <a:pt x="602" y="678"/>
                  <a:pt x="606" y="676"/>
                  <a:pt x="610" y="674"/>
                </a:cubicBezTo>
                <a:cubicBezTo>
                  <a:pt x="615" y="671"/>
                  <a:pt x="621" y="667"/>
                  <a:pt x="623" y="666"/>
                </a:cubicBezTo>
                <a:close/>
              </a:path>
            </a:pathLst>
          </a:custGeom>
          <a:solidFill>
            <a:srgbClr val="DCECF3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 rot="9720000">
            <a:off x="3726813" y="1256810"/>
            <a:ext cx="48518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Naturally staggered endothelial cell 03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8" y="744"/>
                </a:moveTo>
                <a:cubicBezTo>
                  <a:pt x="505" y="744"/>
                  <a:pt x="497" y="744"/>
                  <a:pt x="491" y="744"/>
                </a:cubicBezTo>
                <a:cubicBezTo>
                  <a:pt x="486" y="744"/>
                  <a:pt x="480" y="743"/>
                  <a:pt x="475" y="743"/>
                </a:cubicBezTo>
                <a:cubicBezTo>
                  <a:pt x="469" y="742"/>
                  <a:pt x="464" y="742"/>
                  <a:pt x="458" y="741"/>
                </a:cubicBezTo>
                <a:cubicBezTo>
                  <a:pt x="453" y="740"/>
                  <a:pt x="447" y="739"/>
                  <a:pt x="442" y="737"/>
                </a:cubicBezTo>
                <a:cubicBezTo>
                  <a:pt x="436" y="736"/>
                  <a:pt x="431" y="734"/>
                  <a:pt x="426" y="733"/>
                </a:cubicBezTo>
                <a:cubicBezTo>
                  <a:pt x="420" y="731"/>
                  <a:pt x="415" y="729"/>
                  <a:pt x="410" y="727"/>
                </a:cubicBezTo>
                <a:cubicBezTo>
                  <a:pt x="405" y="725"/>
                  <a:pt x="400" y="723"/>
                  <a:pt x="395" y="720"/>
                </a:cubicBezTo>
                <a:cubicBezTo>
                  <a:pt x="390" y="718"/>
                  <a:pt x="382" y="713"/>
                  <a:pt x="380" y="712"/>
                </a:cubicBezTo>
                <a:lnTo>
                  <a:pt x="402" y="674"/>
                </a:lnTo>
                <a:cubicBezTo>
                  <a:pt x="404" y="675"/>
                  <a:pt x="410" y="678"/>
                  <a:pt x="414" y="680"/>
                </a:cubicBezTo>
                <a:cubicBezTo>
                  <a:pt x="419" y="682"/>
                  <a:pt x="423" y="684"/>
                  <a:pt x="427" y="686"/>
                </a:cubicBezTo>
                <a:cubicBezTo>
                  <a:pt x="431" y="688"/>
                  <a:pt x="436" y="689"/>
                  <a:pt x="440" y="691"/>
                </a:cubicBezTo>
                <a:cubicBezTo>
                  <a:pt x="444" y="692"/>
                  <a:pt x="449" y="694"/>
                  <a:pt x="453" y="695"/>
                </a:cubicBezTo>
                <a:cubicBezTo>
                  <a:pt x="458" y="696"/>
                  <a:pt x="462" y="697"/>
                  <a:pt x="467" y="697"/>
                </a:cubicBezTo>
                <a:cubicBezTo>
                  <a:pt x="471" y="698"/>
                  <a:pt x="476" y="699"/>
                  <a:pt x="480" y="699"/>
                </a:cubicBezTo>
                <a:cubicBezTo>
                  <a:pt x="485" y="700"/>
                  <a:pt x="489" y="700"/>
                  <a:pt x="494" y="700"/>
                </a:cubicBezTo>
                <a:cubicBezTo>
                  <a:pt x="499" y="700"/>
                  <a:pt x="505" y="700"/>
                  <a:pt x="508" y="700"/>
                </a:cubicBezTo>
                <a:close/>
              </a:path>
            </a:pathLst>
          </a:custGeom>
          <a:solidFill>
            <a:srgbClr val="D5E8F1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 rot="11700000">
            <a:off x="3617774" y="1260965"/>
            <a:ext cx="45252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Naturally staggered endothelial cell 04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75" y="709"/>
                </a:moveTo>
                <a:cubicBezTo>
                  <a:pt x="373" y="708"/>
                  <a:pt x="366" y="704"/>
                  <a:pt x="362" y="701"/>
                </a:cubicBezTo>
                <a:cubicBezTo>
                  <a:pt x="357" y="698"/>
                  <a:pt x="353" y="695"/>
                  <a:pt x="349" y="691"/>
                </a:cubicBezTo>
                <a:cubicBezTo>
                  <a:pt x="345" y="688"/>
                  <a:pt x="341" y="684"/>
                  <a:pt x="337" y="681"/>
                </a:cubicBezTo>
                <a:cubicBezTo>
                  <a:pt x="334" y="677"/>
                  <a:pt x="330" y="674"/>
                  <a:pt x="326" y="670"/>
                </a:cubicBezTo>
                <a:cubicBezTo>
                  <a:pt x="323" y="666"/>
                  <a:pt x="319" y="662"/>
                  <a:pt x="316" y="658"/>
                </a:cubicBezTo>
                <a:cubicBezTo>
                  <a:pt x="312" y="654"/>
                  <a:pt x="309" y="650"/>
                  <a:pt x="306" y="646"/>
                </a:cubicBezTo>
                <a:cubicBezTo>
                  <a:pt x="303" y="642"/>
                  <a:pt x="300" y="638"/>
                  <a:pt x="297" y="633"/>
                </a:cubicBezTo>
                <a:cubicBezTo>
                  <a:pt x="294" y="629"/>
                  <a:pt x="290" y="622"/>
                  <a:pt x="288" y="620"/>
                </a:cubicBezTo>
                <a:lnTo>
                  <a:pt x="327" y="598"/>
                </a:lnTo>
                <a:cubicBezTo>
                  <a:pt x="328" y="600"/>
                  <a:pt x="331" y="605"/>
                  <a:pt x="334" y="609"/>
                </a:cubicBezTo>
                <a:cubicBezTo>
                  <a:pt x="336" y="613"/>
                  <a:pt x="339" y="616"/>
                  <a:pt x="341" y="620"/>
                </a:cubicBezTo>
                <a:cubicBezTo>
                  <a:pt x="344" y="623"/>
                  <a:pt x="346" y="626"/>
                  <a:pt x="349" y="630"/>
                </a:cubicBezTo>
                <a:cubicBezTo>
                  <a:pt x="352" y="633"/>
                  <a:pt x="355" y="636"/>
                  <a:pt x="358" y="639"/>
                </a:cubicBezTo>
                <a:cubicBezTo>
                  <a:pt x="361" y="642"/>
                  <a:pt x="364" y="645"/>
                  <a:pt x="367" y="648"/>
                </a:cubicBezTo>
                <a:cubicBezTo>
                  <a:pt x="370" y="651"/>
                  <a:pt x="374" y="654"/>
                  <a:pt x="377" y="657"/>
                </a:cubicBezTo>
                <a:cubicBezTo>
                  <a:pt x="380" y="659"/>
                  <a:pt x="384" y="662"/>
                  <a:pt x="387" y="665"/>
                </a:cubicBezTo>
                <a:cubicBezTo>
                  <a:pt x="391" y="667"/>
                  <a:pt x="396" y="671"/>
                  <a:pt x="398" y="672"/>
                </a:cubicBezTo>
                <a:close/>
              </a:path>
            </a:pathLst>
          </a:custGeom>
          <a:solidFill>
            <a:srgbClr val="CFE3EF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 rot="13560000">
            <a:off x="3529199" y="1208287"/>
            <a:ext cx="41433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Naturally staggered endothelial cell 05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83" y="616"/>
                </a:moveTo>
                <a:cubicBezTo>
                  <a:pt x="282" y="613"/>
                  <a:pt x="277" y="605"/>
                  <a:pt x="275" y="600"/>
                </a:cubicBezTo>
                <a:cubicBezTo>
                  <a:pt x="272" y="594"/>
                  <a:pt x="270" y="588"/>
                  <a:pt x="268" y="582"/>
                </a:cubicBezTo>
                <a:cubicBezTo>
                  <a:pt x="266" y="576"/>
                  <a:pt x="264" y="571"/>
                  <a:pt x="262" y="565"/>
                </a:cubicBezTo>
                <a:cubicBezTo>
                  <a:pt x="260" y="559"/>
                  <a:pt x="259" y="552"/>
                  <a:pt x="258" y="546"/>
                </a:cubicBezTo>
                <a:cubicBezTo>
                  <a:pt x="257" y="540"/>
                  <a:pt x="256" y="534"/>
                  <a:pt x="255" y="528"/>
                </a:cubicBezTo>
                <a:cubicBezTo>
                  <a:pt x="255" y="522"/>
                  <a:pt x="254" y="516"/>
                  <a:pt x="254" y="509"/>
                </a:cubicBezTo>
                <a:cubicBezTo>
                  <a:pt x="254" y="503"/>
                  <a:pt x="254" y="497"/>
                  <a:pt x="254" y="491"/>
                </a:cubicBezTo>
                <a:cubicBezTo>
                  <a:pt x="255" y="485"/>
                  <a:pt x="256" y="475"/>
                  <a:pt x="256" y="472"/>
                </a:cubicBezTo>
                <a:lnTo>
                  <a:pt x="300" y="476"/>
                </a:lnTo>
                <a:cubicBezTo>
                  <a:pt x="300" y="479"/>
                  <a:pt x="299" y="487"/>
                  <a:pt x="298" y="492"/>
                </a:cubicBezTo>
                <a:cubicBezTo>
                  <a:pt x="298" y="497"/>
                  <a:pt x="298" y="502"/>
                  <a:pt x="298" y="507"/>
                </a:cubicBezTo>
                <a:cubicBezTo>
                  <a:pt x="298" y="512"/>
                  <a:pt x="299" y="517"/>
                  <a:pt x="299" y="522"/>
                </a:cubicBezTo>
                <a:cubicBezTo>
                  <a:pt x="300" y="527"/>
                  <a:pt x="300" y="532"/>
                  <a:pt x="301" y="538"/>
                </a:cubicBezTo>
                <a:cubicBezTo>
                  <a:pt x="302" y="543"/>
                  <a:pt x="303" y="548"/>
                  <a:pt x="305" y="553"/>
                </a:cubicBezTo>
                <a:cubicBezTo>
                  <a:pt x="306" y="557"/>
                  <a:pt x="308" y="562"/>
                  <a:pt x="310" y="567"/>
                </a:cubicBezTo>
                <a:cubicBezTo>
                  <a:pt x="311" y="572"/>
                  <a:pt x="313" y="577"/>
                  <a:pt x="315" y="581"/>
                </a:cubicBezTo>
                <a:cubicBezTo>
                  <a:pt x="317" y="586"/>
                  <a:pt x="321" y="593"/>
                  <a:pt x="322" y="595"/>
                </a:cubicBezTo>
                <a:close/>
              </a:path>
            </a:pathLst>
          </a:custGeom>
          <a:solidFill>
            <a:srgbClr val="DCECF3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 rot="15510000">
            <a:off x="3476094" y="1111617"/>
            <a:ext cx="40574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Naturally staggered endothelial cell 06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57" y="467"/>
                </a:moveTo>
                <a:cubicBezTo>
                  <a:pt x="257" y="464"/>
                  <a:pt x="259" y="455"/>
                  <a:pt x="260" y="450"/>
                </a:cubicBezTo>
                <a:cubicBezTo>
                  <a:pt x="261" y="444"/>
                  <a:pt x="263" y="438"/>
                  <a:pt x="264" y="433"/>
                </a:cubicBezTo>
                <a:cubicBezTo>
                  <a:pt x="266" y="427"/>
                  <a:pt x="268" y="422"/>
                  <a:pt x="270" y="416"/>
                </a:cubicBezTo>
                <a:cubicBezTo>
                  <a:pt x="272" y="411"/>
                  <a:pt x="274" y="406"/>
                  <a:pt x="276" y="400"/>
                </a:cubicBezTo>
                <a:cubicBezTo>
                  <a:pt x="279" y="395"/>
                  <a:pt x="281" y="390"/>
                  <a:pt x="283" y="385"/>
                </a:cubicBezTo>
                <a:cubicBezTo>
                  <a:pt x="286" y="380"/>
                  <a:pt x="289" y="375"/>
                  <a:pt x="292" y="370"/>
                </a:cubicBezTo>
                <a:cubicBezTo>
                  <a:pt x="294" y="365"/>
                  <a:pt x="297" y="360"/>
                  <a:pt x="300" y="355"/>
                </a:cubicBezTo>
                <a:cubicBezTo>
                  <a:pt x="304" y="350"/>
                  <a:pt x="309" y="343"/>
                  <a:pt x="310" y="340"/>
                </a:cubicBezTo>
                <a:lnTo>
                  <a:pt x="344" y="367"/>
                </a:lnTo>
                <a:cubicBezTo>
                  <a:pt x="343" y="369"/>
                  <a:pt x="339" y="375"/>
                  <a:pt x="336" y="379"/>
                </a:cubicBezTo>
                <a:cubicBezTo>
                  <a:pt x="334" y="383"/>
                  <a:pt x="331" y="387"/>
                  <a:pt x="329" y="391"/>
                </a:cubicBezTo>
                <a:cubicBezTo>
                  <a:pt x="326" y="396"/>
                  <a:pt x="324" y="400"/>
                  <a:pt x="322" y="404"/>
                </a:cubicBezTo>
                <a:cubicBezTo>
                  <a:pt x="320" y="408"/>
                  <a:pt x="318" y="413"/>
                  <a:pt x="316" y="417"/>
                </a:cubicBezTo>
                <a:cubicBezTo>
                  <a:pt x="314" y="421"/>
                  <a:pt x="313" y="426"/>
                  <a:pt x="311" y="430"/>
                </a:cubicBezTo>
                <a:cubicBezTo>
                  <a:pt x="309" y="435"/>
                  <a:pt x="308" y="439"/>
                  <a:pt x="306" y="444"/>
                </a:cubicBezTo>
                <a:cubicBezTo>
                  <a:pt x="305" y="448"/>
                  <a:pt x="304" y="453"/>
                  <a:pt x="303" y="458"/>
                </a:cubicBezTo>
                <a:cubicBezTo>
                  <a:pt x="302" y="462"/>
                  <a:pt x="301" y="469"/>
                  <a:pt x="300" y="472"/>
                </a:cubicBezTo>
                <a:close/>
              </a:path>
            </a:pathLst>
          </a:custGeom>
          <a:solidFill>
            <a:srgbClr val="D5E8F1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 rot="17550000">
            <a:off x="3488955" y="997316"/>
            <a:ext cx="43463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Naturally staggered endothelial cell 07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5" y="337"/>
                </a:moveTo>
                <a:cubicBezTo>
                  <a:pt x="317" y="335"/>
                  <a:pt x="322" y="329"/>
                  <a:pt x="326" y="325"/>
                </a:cubicBezTo>
                <a:cubicBezTo>
                  <a:pt x="329" y="321"/>
                  <a:pt x="333" y="317"/>
                  <a:pt x="336" y="313"/>
                </a:cubicBezTo>
                <a:cubicBezTo>
                  <a:pt x="340" y="309"/>
                  <a:pt x="344" y="305"/>
                  <a:pt x="348" y="302"/>
                </a:cubicBezTo>
                <a:cubicBezTo>
                  <a:pt x="352" y="298"/>
                  <a:pt x="356" y="294"/>
                  <a:pt x="360" y="291"/>
                </a:cubicBezTo>
                <a:cubicBezTo>
                  <a:pt x="365" y="288"/>
                  <a:pt x="369" y="284"/>
                  <a:pt x="374" y="281"/>
                </a:cubicBezTo>
                <a:cubicBezTo>
                  <a:pt x="378" y="278"/>
                  <a:pt x="383" y="275"/>
                  <a:pt x="387" y="273"/>
                </a:cubicBezTo>
                <a:cubicBezTo>
                  <a:pt x="392" y="270"/>
                  <a:pt x="397" y="267"/>
                  <a:pt x="402" y="265"/>
                </a:cubicBezTo>
                <a:cubicBezTo>
                  <a:pt x="407" y="263"/>
                  <a:pt x="415" y="259"/>
                  <a:pt x="417" y="258"/>
                </a:cubicBezTo>
                <a:lnTo>
                  <a:pt x="433" y="300"/>
                </a:lnTo>
                <a:cubicBezTo>
                  <a:pt x="431" y="301"/>
                  <a:pt x="424" y="304"/>
                  <a:pt x="420" y="306"/>
                </a:cubicBezTo>
                <a:cubicBezTo>
                  <a:pt x="416" y="308"/>
                  <a:pt x="412" y="310"/>
                  <a:pt x="408" y="312"/>
                </a:cubicBezTo>
                <a:cubicBezTo>
                  <a:pt x="405" y="314"/>
                  <a:pt x="401" y="317"/>
                  <a:pt x="397" y="319"/>
                </a:cubicBezTo>
                <a:cubicBezTo>
                  <a:pt x="393" y="322"/>
                  <a:pt x="390" y="324"/>
                  <a:pt x="386" y="327"/>
                </a:cubicBezTo>
                <a:cubicBezTo>
                  <a:pt x="383" y="330"/>
                  <a:pt x="379" y="333"/>
                  <a:pt x="376" y="336"/>
                </a:cubicBezTo>
                <a:cubicBezTo>
                  <a:pt x="373" y="339"/>
                  <a:pt x="369" y="342"/>
                  <a:pt x="366" y="345"/>
                </a:cubicBezTo>
                <a:cubicBezTo>
                  <a:pt x="363" y="348"/>
                  <a:pt x="360" y="352"/>
                  <a:pt x="357" y="355"/>
                </a:cubicBezTo>
                <a:cubicBezTo>
                  <a:pt x="354" y="358"/>
                  <a:pt x="350" y="364"/>
                  <a:pt x="349" y="365"/>
                </a:cubicBezTo>
                <a:close/>
              </a:path>
            </a:pathLst>
          </a:custGeom>
          <a:solidFill>
            <a:srgbClr val="CFE3EF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 rot="19470000">
            <a:off x="3552984" y="911742"/>
            <a:ext cx="47445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Naturally staggered endothelial cell 08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23" y="258"/>
                </a:moveTo>
                <a:cubicBezTo>
                  <a:pt x="426" y="257"/>
                  <a:pt x="434" y="254"/>
                  <a:pt x="440" y="252"/>
                </a:cubicBezTo>
                <a:cubicBezTo>
                  <a:pt x="446" y="251"/>
                  <a:pt x="452" y="249"/>
                  <a:pt x="458" y="248"/>
                </a:cubicBezTo>
                <a:cubicBezTo>
                  <a:pt x="464" y="247"/>
                  <a:pt x="470" y="247"/>
                  <a:pt x="475" y="246"/>
                </a:cubicBezTo>
                <a:cubicBezTo>
                  <a:pt x="481" y="246"/>
                  <a:pt x="487" y="245"/>
                  <a:pt x="493" y="245"/>
                </a:cubicBezTo>
                <a:cubicBezTo>
                  <a:pt x="499" y="245"/>
                  <a:pt x="505" y="245"/>
                  <a:pt x="511" y="246"/>
                </a:cubicBezTo>
                <a:cubicBezTo>
                  <a:pt x="517" y="246"/>
                  <a:pt x="523" y="246"/>
                  <a:pt x="529" y="247"/>
                </a:cubicBezTo>
                <a:cubicBezTo>
                  <a:pt x="535" y="248"/>
                  <a:pt x="541" y="249"/>
                  <a:pt x="547" y="250"/>
                </a:cubicBezTo>
                <a:cubicBezTo>
                  <a:pt x="552" y="251"/>
                  <a:pt x="561" y="253"/>
                  <a:pt x="564" y="254"/>
                </a:cubicBezTo>
                <a:lnTo>
                  <a:pt x="554" y="297"/>
                </a:lnTo>
                <a:cubicBezTo>
                  <a:pt x="551" y="296"/>
                  <a:pt x="544" y="294"/>
                  <a:pt x="539" y="293"/>
                </a:cubicBezTo>
                <a:cubicBezTo>
                  <a:pt x="535" y="293"/>
                  <a:pt x="530" y="292"/>
                  <a:pt x="525" y="291"/>
                </a:cubicBezTo>
                <a:cubicBezTo>
                  <a:pt x="520" y="291"/>
                  <a:pt x="515" y="290"/>
                  <a:pt x="510" y="290"/>
                </a:cubicBezTo>
                <a:cubicBezTo>
                  <a:pt x="506" y="290"/>
                  <a:pt x="501" y="289"/>
                  <a:pt x="496" y="290"/>
                </a:cubicBezTo>
                <a:cubicBezTo>
                  <a:pt x="491" y="290"/>
                  <a:pt x="486" y="290"/>
                  <a:pt x="481" y="290"/>
                </a:cubicBezTo>
                <a:cubicBezTo>
                  <a:pt x="476" y="291"/>
                  <a:pt x="471" y="291"/>
                  <a:pt x="466" y="292"/>
                </a:cubicBezTo>
                <a:cubicBezTo>
                  <a:pt x="461" y="293"/>
                  <a:pt x="457" y="294"/>
                  <a:pt x="452" y="295"/>
                </a:cubicBezTo>
                <a:cubicBezTo>
                  <a:pt x="447" y="297"/>
                  <a:pt x="440" y="299"/>
                  <a:pt x="438" y="300"/>
                </a:cubicBezTo>
                <a:close/>
              </a:path>
            </a:pathLst>
          </a:custGeom>
          <a:solidFill>
            <a:srgbClr val="DCECF3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 rot="21420000">
            <a:off x="3656326" y="875984"/>
            <a:ext cx="48859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Naturally staggered endothelial cell 09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70" y="254"/>
                </a:moveTo>
                <a:cubicBezTo>
                  <a:pt x="573" y="255"/>
                  <a:pt x="582" y="257"/>
                  <a:pt x="587" y="259"/>
                </a:cubicBezTo>
                <a:cubicBezTo>
                  <a:pt x="593" y="261"/>
                  <a:pt x="599" y="264"/>
                  <a:pt x="604" y="266"/>
                </a:cubicBezTo>
                <a:cubicBezTo>
                  <a:pt x="610" y="268"/>
                  <a:pt x="616" y="271"/>
                  <a:pt x="621" y="274"/>
                </a:cubicBezTo>
                <a:cubicBezTo>
                  <a:pt x="626" y="277"/>
                  <a:pt x="632" y="280"/>
                  <a:pt x="637" y="283"/>
                </a:cubicBezTo>
                <a:cubicBezTo>
                  <a:pt x="642" y="286"/>
                  <a:pt x="647" y="289"/>
                  <a:pt x="652" y="293"/>
                </a:cubicBezTo>
                <a:cubicBezTo>
                  <a:pt x="657" y="296"/>
                  <a:pt x="662" y="300"/>
                  <a:pt x="667" y="304"/>
                </a:cubicBezTo>
                <a:cubicBezTo>
                  <a:pt x="672" y="308"/>
                  <a:pt x="676" y="312"/>
                  <a:pt x="681" y="316"/>
                </a:cubicBezTo>
                <a:cubicBezTo>
                  <a:pt x="685" y="321"/>
                  <a:pt x="691" y="327"/>
                  <a:pt x="693" y="330"/>
                </a:cubicBezTo>
                <a:lnTo>
                  <a:pt x="661" y="359"/>
                </a:lnTo>
                <a:cubicBezTo>
                  <a:pt x="659" y="357"/>
                  <a:pt x="654" y="351"/>
                  <a:pt x="650" y="348"/>
                </a:cubicBezTo>
                <a:cubicBezTo>
                  <a:pt x="647" y="344"/>
                  <a:pt x="643" y="341"/>
                  <a:pt x="639" y="338"/>
                </a:cubicBezTo>
                <a:cubicBezTo>
                  <a:pt x="635" y="334"/>
                  <a:pt x="631" y="331"/>
                  <a:pt x="627" y="328"/>
                </a:cubicBezTo>
                <a:cubicBezTo>
                  <a:pt x="623" y="325"/>
                  <a:pt x="618" y="323"/>
                  <a:pt x="614" y="320"/>
                </a:cubicBezTo>
                <a:cubicBezTo>
                  <a:pt x="610" y="317"/>
                  <a:pt x="605" y="315"/>
                  <a:pt x="601" y="313"/>
                </a:cubicBezTo>
                <a:cubicBezTo>
                  <a:pt x="596" y="310"/>
                  <a:pt x="592" y="308"/>
                  <a:pt x="587" y="306"/>
                </a:cubicBezTo>
                <a:cubicBezTo>
                  <a:pt x="583" y="304"/>
                  <a:pt x="578" y="302"/>
                  <a:pt x="573" y="301"/>
                </a:cubicBezTo>
                <a:cubicBezTo>
                  <a:pt x="568" y="299"/>
                  <a:pt x="561" y="297"/>
                  <a:pt x="559" y="296"/>
                </a:cubicBezTo>
                <a:close/>
              </a:path>
            </a:pathLst>
          </a:custGeom>
          <a:solidFill>
            <a:srgbClr val="D5E8F1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 rot="1890000">
            <a:off x="3769974" y="905325"/>
            <a:ext cx="46404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Naturally staggered endothelial cell 10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699" y="333"/>
                </a:moveTo>
                <a:cubicBezTo>
                  <a:pt x="700" y="335"/>
                  <a:pt x="707" y="343"/>
                  <a:pt x="710" y="348"/>
                </a:cubicBezTo>
                <a:cubicBezTo>
                  <a:pt x="714" y="353"/>
                  <a:pt x="717" y="358"/>
                  <a:pt x="721" y="364"/>
                </a:cubicBezTo>
                <a:cubicBezTo>
                  <a:pt x="724" y="369"/>
                  <a:pt x="727" y="375"/>
                  <a:pt x="730" y="380"/>
                </a:cubicBezTo>
                <a:cubicBezTo>
                  <a:pt x="733" y="386"/>
                  <a:pt x="736" y="392"/>
                  <a:pt x="738" y="398"/>
                </a:cubicBezTo>
                <a:cubicBezTo>
                  <a:pt x="740" y="403"/>
                  <a:pt x="743" y="409"/>
                  <a:pt x="745" y="415"/>
                </a:cubicBezTo>
                <a:cubicBezTo>
                  <a:pt x="747" y="421"/>
                  <a:pt x="749" y="427"/>
                  <a:pt x="750" y="434"/>
                </a:cubicBezTo>
                <a:cubicBezTo>
                  <a:pt x="752" y="440"/>
                  <a:pt x="753" y="446"/>
                  <a:pt x="754" y="452"/>
                </a:cubicBezTo>
                <a:cubicBezTo>
                  <a:pt x="756" y="458"/>
                  <a:pt x="757" y="468"/>
                  <a:pt x="757" y="471"/>
                </a:cubicBezTo>
                <a:lnTo>
                  <a:pt x="714" y="475"/>
                </a:lnTo>
                <a:cubicBezTo>
                  <a:pt x="713" y="473"/>
                  <a:pt x="712" y="465"/>
                  <a:pt x="711" y="460"/>
                </a:cubicBezTo>
                <a:cubicBezTo>
                  <a:pt x="710" y="455"/>
                  <a:pt x="709" y="449"/>
                  <a:pt x="708" y="444"/>
                </a:cubicBezTo>
                <a:cubicBezTo>
                  <a:pt x="707" y="439"/>
                  <a:pt x="705" y="434"/>
                  <a:pt x="703" y="429"/>
                </a:cubicBezTo>
                <a:cubicBezTo>
                  <a:pt x="702" y="424"/>
                  <a:pt x="700" y="419"/>
                  <a:pt x="698" y="415"/>
                </a:cubicBezTo>
                <a:cubicBezTo>
                  <a:pt x="696" y="410"/>
                  <a:pt x="694" y="405"/>
                  <a:pt x="691" y="400"/>
                </a:cubicBezTo>
                <a:cubicBezTo>
                  <a:pt x="689" y="396"/>
                  <a:pt x="686" y="391"/>
                  <a:pt x="684" y="387"/>
                </a:cubicBezTo>
                <a:cubicBezTo>
                  <a:pt x="681" y="382"/>
                  <a:pt x="678" y="378"/>
                  <a:pt x="675" y="373"/>
                </a:cubicBezTo>
                <a:cubicBezTo>
                  <a:pt x="672" y="369"/>
                  <a:pt x="667" y="363"/>
                  <a:pt x="665" y="361"/>
                </a:cubicBezTo>
                <a:close/>
              </a:path>
            </a:pathLst>
          </a:custGeom>
          <a:solidFill>
            <a:srgbClr val="CFE3EF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 rot="4020000">
            <a:off x="3851157" y="995059"/>
            <a:ext cx="42338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Anatomic lung–arteriole leader"/>
          <p:cNvSpPr/>
          <p:nvPr/>
        </p:nvSpPr>
        <p:spPr>
          <a:xfrm>
            <a:off x="4029750" y="749412"/>
            <a:ext cx="440235" cy="88938"/>
          </a:xfrm>
          <a:custGeom>
            <a:avLst/>
            <a:gdLst/>
            <a:ahLst/>
            <a:cxnLst/>
            <a:rect l="0" t="0" r="r" b="b"/>
            <a:pathLst>
              <a:path w="1035368" h="209169">
                <a:moveTo>
                  <a:pt x="1035368" y="0"/>
                </a:moveTo>
                <a:lnTo>
                  <a:pt x="0" y="209169"/>
                </a:lnTo>
              </a:path>
            </a:pathLst>
          </a:custGeom>
          <a:noFill/>
          <a:ln w="3645" cap="rnd">
            <a:solidFill>
              <a:srgbClr val="778C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Pulmonary branch locator"/>
          <p:cNvSpPr/>
          <p:nvPr/>
        </p:nvSpPr>
        <p:spPr>
          <a:xfrm>
            <a:off x="4461885" y="741312"/>
            <a:ext cx="16200" cy="16200"/>
          </a:xfrm>
          <a:prstGeom prst="ellipse">
            <a:avLst/>
          </a:prstGeom>
          <a:solidFill>
            <a:srgbClr val="778C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vascular_remodeling"/>
          <p:cNvSpPr txBox="1"/>
          <p:nvPr/>
        </p:nvSpPr>
        <p:spPr>
          <a:xfrm>
            <a:off x="3041550" y="1636200"/>
            <a:ext cx="1433700" cy="14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50" b="1" i="0">
                <a:solidFill>
                  <a:srgbClr val="30485F"/>
                </a:solidFill>
                <a:latin typeface="Times New Roman"/>
              </a:rPr>
              <a:t>Vascular remodeling</a:t>
            </a:r>
          </a:p>
        </p:txBody>
      </p:sp>
      <p:sp>
        <p:nvSpPr>
          <p:cNvPr id="311" name="pvr_increase"/>
          <p:cNvSpPr txBox="1"/>
          <p:nvPr/>
        </p:nvSpPr>
        <p:spPr>
          <a:xfrm>
            <a:off x="3041550" y="1806300"/>
            <a:ext cx="1433700" cy="133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93" b="1" i="0">
                <a:solidFill>
                  <a:srgbClr val="30485F"/>
                </a:solidFill>
                <a:latin typeface="Times New Roman"/>
              </a:rPr>
              <a:t>PVR ↑</a:t>
            </a:r>
          </a:p>
        </p:txBody>
      </p:sp>
      <p:sp>
        <p:nvSpPr>
          <p:cNvPr id="312" name="proposed_barrier_mamp"/>
          <p:cNvSpPr/>
          <p:nvPr/>
        </p:nvSpPr>
        <p:spPr>
          <a:xfrm>
            <a:off x="2620350" y="996300"/>
            <a:ext cx="656100" cy="4050"/>
          </a:xfrm>
          <a:custGeom>
            <a:avLst/>
            <a:gdLst/>
            <a:ahLst/>
            <a:cxnLst/>
            <a:rect l="0" t="0" r="r" b="b"/>
            <a:pathLst>
              <a:path w="1543050" h="9525">
                <a:moveTo>
                  <a:pt x="0" y="9525"/>
                </a:moveTo>
                <a:cubicBezTo>
                  <a:pt x="552450" y="9525"/>
                  <a:pt x="1028700" y="0"/>
                  <a:pt x="1543050" y="0"/>
                </a:cubicBezTo>
              </a:path>
            </a:pathLst>
          </a:custGeom>
          <a:noFill/>
          <a:ln w="9112" cap="rnd">
            <a:solidFill>
              <a:srgbClr val="287A7D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proposed_barrier_mamp head"/>
          <p:cNvSpPr/>
          <p:nvPr/>
        </p:nvSpPr>
        <p:spPr>
          <a:xfrm>
            <a:off x="3235950" y="97969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95250" y="39052"/>
                </a:moveTo>
                <a:lnTo>
                  <a:pt x="0" y="78105"/>
                </a:lnTo>
                <a:lnTo>
                  <a:pt x="0" y="0"/>
                </a:lnTo>
                <a:close/>
              </a:path>
            </a:pathLst>
          </a:custGeom>
          <a:solidFill>
            <a:srgbClr val="287A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proposed_metabolite"/>
          <p:cNvSpPr/>
          <p:nvPr/>
        </p:nvSpPr>
        <p:spPr>
          <a:xfrm>
            <a:off x="2640600" y="1340550"/>
            <a:ext cx="700650" cy="352350"/>
          </a:xfrm>
          <a:custGeom>
            <a:avLst/>
            <a:gdLst/>
            <a:ahLst/>
            <a:cxnLst/>
            <a:rect l="0" t="0" r="r" b="b"/>
            <a:pathLst>
              <a:path w="1647825" h="828675">
                <a:moveTo>
                  <a:pt x="0" y="828675"/>
                </a:moveTo>
                <a:cubicBezTo>
                  <a:pt x="742950" y="828675"/>
                  <a:pt x="1219200" y="819150"/>
                  <a:pt x="1409700" y="619125"/>
                </a:cubicBezTo>
                <a:cubicBezTo>
                  <a:pt x="1524000" y="476250"/>
                  <a:pt x="1581150" y="200025"/>
                  <a:pt x="1647825" y="0"/>
                </a:cubicBezTo>
              </a:path>
            </a:pathLst>
          </a:custGeom>
          <a:noFill/>
          <a:ln w="9112" cap="rnd">
            <a:solidFill>
              <a:srgbClr val="287A7D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proposed_metabolite head"/>
          <p:cNvSpPr/>
          <p:nvPr/>
        </p:nvSpPr>
        <p:spPr>
          <a:xfrm>
            <a:off x="3312690" y="1340550"/>
            <a:ext cx="31506" cy="43673"/>
          </a:xfrm>
          <a:custGeom>
            <a:avLst/>
            <a:gdLst/>
            <a:ahLst/>
            <a:cxnLst/>
            <a:rect l="0" t="0" r="r" b="b"/>
            <a:pathLst>
              <a:path w="74097" h="102712">
                <a:moveTo>
                  <a:pt x="67169" y="0"/>
                </a:moveTo>
                <a:lnTo>
                  <a:pt x="74097" y="102712"/>
                </a:lnTo>
                <a:lnTo>
                  <a:pt x="0" y="78013"/>
                </a:lnTo>
                <a:close/>
              </a:path>
            </a:pathLst>
          </a:custGeom>
          <a:solidFill>
            <a:srgbClr val="287A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aortic arch first branch"/>
          <p:cNvSpPr/>
          <p:nvPr/>
        </p:nvSpPr>
        <p:spPr>
          <a:xfrm>
            <a:off x="5435546" y="971214"/>
            <a:ext cx="80052" cy="119445"/>
          </a:xfrm>
          <a:custGeom>
            <a:avLst/>
            <a:gdLst/>
            <a:ahLst/>
            <a:cxnLst/>
            <a:rect l="0" t="0" r="r" b="b"/>
            <a:pathLst>
              <a:path w="188270" h="280916">
                <a:moveTo>
                  <a:pt x="48412" y="280916"/>
                </a:moveTo>
                <a:lnTo>
                  <a:pt x="0" y="27011"/>
                </a:lnTo>
                <a:lnTo>
                  <a:pt x="123720" y="0"/>
                </a:lnTo>
                <a:lnTo>
                  <a:pt x="188270" y="199883"/>
                </a:lnTo>
                <a:close/>
              </a:path>
            </a:pathLst>
          </a:custGeom>
          <a:gradFill rotWithShape="1">
            <a:gsLst>
              <a:gs pos="0">
                <a:srgbClr val="EEADB1"/>
              </a:gs>
              <a:gs pos="100000">
                <a:srgbClr val="D97E88"/>
              </a:gs>
            </a:gsLst>
            <a:lin ang="2100000" scaled="1"/>
          </a:gradFill>
          <a:ln w="2835" cap="rnd">
            <a:solidFill>
              <a:srgbClr val="B76B7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aortic arch second branch"/>
          <p:cNvSpPr/>
          <p:nvPr/>
        </p:nvSpPr>
        <p:spPr>
          <a:xfrm>
            <a:off x="5515598" y="964323"/>
            <a:ext cx="61754" cy="89583"/>
          </a:xfrm>
          <a:custGeom>
            <a:avLst/>
            <a:gdLst/>
            <a:ahLst/>
            <a:cxnLst/>
            <a:rect l="0" t="0" r="r" b="b"/>
            <a:pathLst>
              <a:path w="145237" h="210687">
                <a:moveTo>
                  <a:pt x="0" y="205285"/>
                </a:moveTo>
                <a:lnTo>
                  <a:pt x="26896" y="0"/>
                </a:lnTo>
                <a:lnTo>
                  <a:pt x="145237" y="5402"/>
                </a:lnTo>
                <a:lnTo>
                  <a:pt x="118341" y="210687"/>
                </a:lnTo>
                <a:close/>
              </a:path>
            </a:pathLst>
          </a:custGeom>
          <a:gradFill rotWithShape="1">
            <a:gsLst>
              <a:gs pos="0">
                <a:srgbClr val="F0B2B5"/>
              </a:gs>
              <a:gs pos="100000">
                <a:srgbClr val="DB818B"/>
              </a:gs>
            </a:gsLst>
            <a:lin ang="2100000" scaled="1"/>
          </a:gradFill>
          <a:ln w="2835" cap="rnd">
            <a:solidFill>
              <a:srgbClr val="B76B7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aortic arch third branch"/>
          <p:cNvSpPr/>
          <p:nvPr/>
        </p:nvSpPr>
        <p:spPr>
          <a:xfrm>
            <a:off x="5581926" y="973511"/>
            <a:ext cx="80052" cy="130930"/>
          </a:xfrm>
          <a:custGeom>
            <a:avLst/>
            <a:gdLst/>
            <a:ahLst/>
            <a:cxnLst/>
            <a:rect l="0" t="0" r="r" b="b"/>
            <a:pathLst>
              <a:path w="188270" h="307928">
                <a:moveTo>
                  <a:pt x="0" y="210687"/>
                </a:moveTo>
                <a:lnTo>
                  <a:pt x="69929" y="0"/>
                </a:lnTo>
                <a:lnTo>
                  <a:pt x="188270" y="21609"/>
                </a:lnTo>
                <a:lnTo>
                  <a:pt x="107583" y="307928"/>
                </a:lnTo>
                <a:close/>
              </a:path>
            </a:pathLst>
          </a:custGeom>
          <a:gradFill rotWithShape="1">
            <a:gsLst>
              <a:gs pos="0">
                <a:srgbClr val="F0B2B5"/>
              </a:gs>
              <a:gs pos="100000">
                <a:srgbClr val="DB818B"/>
              </a:gs>
            </a:gsLst>
            <a:lin ang="2100000" scaled="1"/>
          </a:gradFill>
          <a:ln w="2835" cap="rnd">
            <a:solidFill>
              <a:srgbClr val="B76B7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ascending aorta and arch"/>
          <p:cNvSpPr/>
          <p:nvPr/>
        </p:nvSpPr>
        <p:spPr>
          <a:xfrm>
            <a:off x="5360069" y="994184"/>
            <a:ext cx="327068" cy="337661"/>
          </a:xfrm>
          <a:custGeom>
            <a:avLst/>
            <a:gdLst/>
            <a:ahLst/>
            <a:cxnLst/>
            <a:rect l="0" t="0" r="r" b="b"/>
            <a:pathLst>
              <a:path w="769216" h="794129">
                <a:moveTo>
                  <a:pt x="53791" y="794129"/>
                </a:moveTo>
                <a:cubicBezTo>
                  <a:pt x="0" y="637464"/>
                  <a:pt x="5379" y="415972"/>
                  <a:pt x="102204" y="248503"/>
                </a:cubicBezTo>
                <a:cubicBezTo>
                  <a:pt x="209786" y="54022"/>
                  <a:pt x="414193" y="0"/>
                  <a:pt x="570188" y="91838"/>
                </a:cubicBezTo>
                <a:cubicBezTo>
                  <a:pt x="710045" y="162067"/>
                  <a:pt x="769216" y="307928"/>
                  <a:pt x="736941" y="464593"/>
                </a:cubicBezTo>
                <a:lnTo>
                  <a:pt x="580946" y="599649"/>
                </a:lnTo>
                <a:cubicBezTo>
                  <a:pt x="607842" y="480799"/>
                  <a:pt x="575567" y="356548"/>
                  <a:pt x="489501" y="318732"/>
                </a:cubicBezTo>
                <a:cubicBezTo>
                  <a:pt x="387298" y="275514"/>
                  <a:pt x="285094" y="351146"/>
                  <a:pt x="252819" y="448386"/>
                </a:cubicBezTo>
                <a:cubicBezTo>
                  <a:pt x="220544" y="567235"/>
                  <a:pt x="231303" y="696889"/>
                  <a:pt x="177511" y="794129"/>
                </a:cubicBezTo>
                <a:close/>
              </a:path>
            </a:pathLst>
          </a:custGeom>
          <a:gradFill rotWithShape="1">
            <a:gsLst>
              <a:gs pos="0">
                <a:srgbClr val="F5B0B1"/>
              </a:gs>
              <a:gs pos="48000">
                <a:srgbClr val="E7969C"/>
              </a:gs>
              <a:gs pos="100000">
                <a:srgbClr val="D77D88"/>
              </a:gs>
            </a:gsLst>
            <a:lin ang="2100000" scaled="1"/>
          </a:gradFill>
          <a:ln w="3442" cap="rnd">
            <a:solidFill>
              <a:srgbClr val="BB707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aortic arch highlight"/>
          <p:cNvSpPr/>
          <p:nvPr/>
        </p:nvSpPr>
        <p:spPr>
          <a:xfrm>
            <a:off x="5380654" y="1026343"/>
            <a:ext cx="267601" cy="231998"/>
          </a:xfrm>
          <a:custGeom>
            <a:avLst/>
            <a:gdLst/>
            <a:ahLst/>
            <a:cxnLst/>
            <a:rect l="0" t="0" r="r" b="b"/>
            <a:pathLst>
              <a:path w="629358" h="545626">
                <a:moveTo>
                  <a:pt x="26896" y="545626"/>
                </a:moveTo>
                <a:cubicBezTo>
                  <a:pt x="0" y="345743"/>
                  <a:pt x="86066" y="129654"/>
                  <a:pt x="274336" y="54022"/>
                </a:cubicBezTo>
                <a:cubicBezTo>
                  <a:pt x="419572" y="0"/>
                  <a:pt x="575567" y="81034"/>
                  <a:pt x="629358" y="216090"/>
                </a:cubicBezTo>
              </a:path>
            </a:pathLst>
          </a:custGeom>
          <a:noFill/>
          <a:ln w="6480" cap="rnd">
            <a:solidFill>
              <a:srgbClr val="F7C8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right pulmonary artery"/>
          <p:cNvSpPr/>
          <p:nvPr/>
        </p:nvSpPr>
        <p:spPr>
          <a:xfrm>
            <a:off x="5209114" y="1115926"/>
            <a:ext cx="98349" cy="71207"/>
          </a:xfrm>
          <a:custGeom>
            <a:avLst/>
            <a:gdLst/>
            <a:ahLst/>
            <a:cxnLst/>
            <a:rect l="0" t="0" r="r" b="b"/>
            <a:pathLst>
              <a:path w="231303" h="167469">
                <a:moveTo>
                  <a:pt x="64550" y="0"/>
                </a:moveTo>
                <a:lnTo>
                  <a:pt x="225924" y="16207"/>
                </a:lnTo>
                <a:lnTo>
                  <a:pt x="231303" y="167469"/>
                </a:lnTo>
                <a:lnTo>
                  <a:pt x="32275" y="156665"/>
                </a:lnTo>
                <a:cubicBezTo>
                  <a:pt x="0" y="129654"/>
                  <a:pt x="5379" y="32413"/>
                  <a:pt x="32275" y="0"/>
                </a:cubicBezTo>
                <a:close/>
              </a:path>
            </a:pathLst>
          </a:custGeom>
          <a:gradFill rotWithShape="1">
            <a:gsLst>
              <a:gs pos="0">
                <a:srgbClr val="B1BFDF"/>
              </a:gs>
              <a:gs pos="100000">
                <a:srgbClr val="778FBA"/>
              </a:gs>
            </a:gsLst>
            <a:lin ang="2100000" scaled="1"/>
          </a:gradFill>
          <a:ln w="3037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vessel opening"/>
          <p:cNvSpPr/>
          <p:nvPr/>
        </p:nvSpPr>
        <p:spPr>
          <a:xfrm>
            <a:off x="5209114" y="1115926"/>
            <a:ext cx="27446" cy="68910"/>
          </a:xfrm>
          <a:prstGeom prst="ellipse">
            <a:avLst/>
          </a:prstGeom>
          <a:solidFill>
            <a:srgbClr val="AFC0DD"/>
          </a:solidFill>
          <a:ln w="2632">
            <a:solidFill>
              <a:srgbClr val="536F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right pulmonary vein"/>
          <p:cNvSpPr/>
          <p:nvPr/>
        </p:nvSpPr>
        <p:spPr>
          <a:xfrm>
            <a:off x="5209114" y="1230777"/>
            <a:ext cx="107498" cy="64317"/>
          </a:xfrm>
          <a:custGeom>
            <a:avLst/>
            <a:gdLst/>
            <a:ahLst/>
            <a:cxnLst/>
            <a:rect l="0" t="0" r="r" b="b"/>
            <a:pathLst>
              <a:path w="252819" h="151263">
                <a:moveTo>
                  <a:pt x="43033" y="0"/>
                </a:moveTo>
                <a:lnTo>
                  <a:pt x="252819" y="43218"/>
                </a:lnTo>
                <a:lnTo>
                  <a:pt x="225924" y="151263"/>
                </a:lnTo>
                <a:lnTo>
                  <a:pt x="21517" y="118849"/>
                </a:lnTo>
                <a:cubicBezTo>
                  <a:pt x="0" y="97240"/>
                  <a:pt x="5379" y="21609"/>
                  <a:pt x="43033" y="0"/>
                </a:cubicBezTo>
                <a:close/>
              </a:path>
            </a:pathLst>
          </a:custGeom>
          <a:gradFill rotWithShape="1">
            <a:gsLst>
              <a:gs pos="0">
                <a:srgbClr val="F1BDC0"/>
              </a:gs>
              <a:gs pos="100000">
                <a:srgbClr val="DF8D96"/>
              </a:gs>
            </a:gsLst>
            <a:lin ang="2100000" scaled="1"/>
          </a:gradFill>
          <a:ln w="2835" cap="rnd">
            <a:solidFill>
              <a:srgbClr val="BD747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left superior pulmonary vein"/>
          <p:cNvSpPr/>
          <p:nvPr/>
        </p:nvSpPr>
        <p:spPr>
          <a:xfrm>
            <a:off x="5753466" y="1219292"/>
            <a:ext cx="91487" cy="71207"/>
          </a:xfrm>
          <a:custGeom>
            <a:avLst/>
            <a:gdLst/>
            <a:ahLst/>
            <a:cxnLst/>
            <a:rect l="0" t="0" r="r" b="b"/>
            <a:pathLst>
              <a:path w="215165" h="167469">
                <a:moveTo>
                  <a:pt x="0" y="32413"/>
                </a:moveTo>
                <a:lnTo>
                  <a:pt x="161374" y="0"/>
                </a:lnTo>
                <a:cubicBezTo>
                  <a:pt x="204407" y="10804"/>
                  <a:pt x="215165" y="97240"/>
                  <a:pt x="182890" y="124251"/>
                </a:cubicBezTo>
                <a:lnTo>
                  <a:pt x="37654" y="167469"/>
                </a:lnTo>
                <a:close/>
              </a:path>
            </a:pathLst>
          </a:custGeom>
          <a:gradFill rotWithShape="1">
            <a:gsLst>
              <a:gs pos="0">
                <a:srgbClr val="F4BCC0"/>
              </a:gs>
              <a:gs pos="100000">
                <a:srgbClr val="DB858E"/>
              </a:gs>
            </a:gsLst>
            <a:lin ang="2100000" scaled="1"/>
          </a:gradFill>
          <a:ln w="2835" cap="rnd">
            <a:solidFill>
              <a:srgbClr val="BC727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left inferior pulmonary vein"/>
          <p:cNvSpPr/>
          <p:nvPr/>
        </p:nvSpPr>
        <p:spPr>
          <a:xfrm>
            <a:off x="5771763" y="1304281"/>
            <a:ext cx="93775" cy="55128"/>
          </a:xfrm>
          <a:custGeom>
            <a:avLst/>
            <a:gdLst/>
            <a:ahLst/>
            <a:cxnLst/>
            <a:rect l="0" t="0" r="r" b="b"/>
            <a:pathLst>
              <a:path w="220544" h="129654">
                <a:moveTo>
                  <a:pt x="0" y="5402"/>
                </a:moveTo>
                <a:lnTo>
                  <a:pt x="188270" y="0"/>
                </a:lnTo>
                <a:cubicBezTo>
                  <a:pt x="220544" y="27011"/>
                  <a:pt x="220544" y="102643"/>
                  <a:pt x="188270" y="124251"/>
                </a:cubicBezTo>
                <a:lnTo>
                  <a:pt x="16137" y="129654"/>
                </a:lnTo>
                <a:close/>
              </a:path>
            </a:pathLst>
          </a:custGeom>
          <a:gradFill rotWithShape="1">
            <a:gsLst>
              <a:gs pos="0">
                <a:srgbClr val="F4BCC0"/>
              </a:gs>
              <a:gs pos="100000">
                <a:srgbClr val="DB858E"/>
              </a:gs>
            </a:gsLst>
            <a:lin ang="2100000" scaled="1"/>
          </a:gradFill>
          <a:ln w="2835" cap="rnd">
            <a:solidFill>
              <a:srgbClr val="BC727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superior vena cava"/>
          <p:cNvSpPr/>
          <p:nvPr/>
        </p:nvSpPr>
        <p:spPr>
          <a:xfrm>
            <a:off x="5264007" y="1003372"/>
            <a:ext cx="155529" cy="372117"/>
          </a:xfrm>
          <a:custGeom>
            <a:avLst/>
            <a:gdLst/>
            <a:ahLst/>
            <a:cxnLst/>
            <a:rect l="0" t="0" r="r" b="b"/>
            <a:pathLst>
              <a:path w="365781" h="875163">
                <a:moveTo>
                  <a:pt x="91445" y="16207"/>
                </a:moveTo>
                <a:cubicBezTo>
                  <a:pt x="91445" y="0"/>
                  <a:pt x="263577" y="0"/>
                  <a:pt x="285094" y="16207"/>
                </a:cubicBezTo>
                <a:lnTo>
                  <a:pt x="285094" y="426777"/>
                </a:lnTo>
                <a:cubicBezTo>
                  <a:pt x="290473" y="578040"/>
                  <a:pt x="333506" y="659073"/>
                  <a:pt x="365781" y="756313"/>
                </a:cubicBezTo>
                <a:lnTo>
                  <a:pt x="182890" y="875163"/>
                </a:lnTo>
                <a:lnTo>
                  <a:pt x="0" y="718498"/>
                </a:lnTo>
                <a:cubicBezTo>
                  <a:pt x="59170" y="599649"/>
                  <a:pt x="80687" y="453788"/>
                  <a:pt x="86066" y="307928"/>
                </a:cubicBezTo>
                <a:close/>
              </a:path>
            </a:pathLst>
          </a:custGeom>
          <a:gradFill rotWithShape="1">
            <a:gsLst>
              <a:gs pos="0">
                <a:srgbClr val="B6C5E1"/>
              </a:gs>
              <a:gs pos="55000">
                <a:srgbClr val="94ABD1"/>
              </a:gs>
              <a:gs pos="100000">
                <a:srgbClr val="728EBB"/>
              </a:gs>
            </a:gsLst>
            <a:lin ang="2100000" scaled="1"/>
          </a:gradFill>
          <a:ln w="3240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vessel opening"/>
          <p:cNvSpPr/>
          <p:nvPr/>
        </p:nvSpPr>
        <p:spPr>
          <a:xfrm>
            <a:off x="5302889" y="996481"/>
            <a:ext cx="82339" cy="27564"/>
          </a:xfrm>
          <a:prstGeom prst="ellipse">
            <a:avLst/>
          </a:prstGeom>
          <a:solidFill>
            <a:srgbClr val="A5B9DA"/>
          </a:solidFill>
          <a:ln w="2835">
            <a:solidFill>
              <a:srgbClr val="536F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vessel opening"/>
          <p:cNvSpPr/>
          <p:nvPr/>
        </p:nvSpPr>
        <p:spPr>
          <a:xfrm>
            <a:off x="5312038" y="1001075"/>
            <a:ext cx="66329" cy="16079"/>
          </a:xfrm>
          <a:prstGeom prst="ellipse">
            <a:avLst/>
          </a:prstGeom>
          <a:solidFill>
            <a:srgbClr val="6E88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vena cava highlight"/>
          <p:cNvSpPr/>
          <p:nvPr/>
        </p:nvSpPr>
        <p:spPr>
          <a:xfrm>
            <a:off x="5291453" y="1044719"/>
            <a:ext cx="29734" cy="238890"/>
          </a:xfrm>
          <a:custGeom>
            <a:avLst/>
            <a:gdLst/>
            <a:ahLst/>
            <a:cxnLst/>
            <a:rect l="0" t="0" r="r" b="b"/>
            <a:pathLst>
              <a:path w="69929" h="561833">
                <a:moveTo>
                  <a:pt x="69929" y="0"/>
                </a:moveTo>
                <a:lnTo>
                  <a:pt x="59170" y="243101"/>
                </a:lnTo>
                <a:cubicBezTo>
                  <a:pt x="53791" y="394363"/>
                  <a:pt x="32275" y="480799"/>
                  <a:pt x="0" y="561833"/>
                </a:cubicBezTo>
              </a:path>
            </a:pathLst>
          </a:custGeom>
          <a:noFill/>
          <a:ln w="6480" cap="rnd">
            <a:solidFill>
              <a:srgbClr val="CDD8E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inferior vena cava"/>
          <p:cNvSpPr/>
          <p:nvPr/>
        </p:nvSpPr>
        <p:spPr>
          <a:xfrm>
            <a:off x="5247997" y="1573032"/>
            <a:ext cx="98349" cy="312394"/>
          </a:xfrm>
          <a:custGeom>
            <a:avLst/>
            <a:gdLst/>
            <a:ahLst/>
            <a:cxnLst/>
            <a:rect l="0" t="0" r="r" b="b"/>
            <a:pathLst>
              <a:path w="231303" h="734704">
                <a:moveTo>
                  <a:pt x="26896" y="0"/>
                </a:moveTo>
                <a:cubicBezTo>
                  <a:pt x="10758" y="199883"/>
                  <a:pt x="0" y="448386"/>
                  <a:pt x="16137" y="718498"/>
                </a:cubicBezTo>
                <a:lnTo>
                  <a:pt x="215165" y="734704"/>
                </a:lnTo>
                <a:cubicBezTo>
                  <a:pt x="215165" y="502408"/>
                  <a:pt x="199028" y="302525"/>
                  <a:pt x="231303" y="97240"/>
                </a:cubicBezTo>
                <a:close/>
              </a:path>
            </a:pathLst>
          </a:custGeom>
          <a:gradFill rotWithShape="1">
            <a:gsLst>
              <a:gs pos="0">
                <a:srgbClr val="AEC0DF"/>
              </a:gs>
              <a:gs pos="60000">
                <a:srgbClr val="8BA2CB"/>
              </a:gs>
              <a:gs pos="100000">
                <a:srgbClr val="6C88B6"/>
              </a:gs>
            </a:gsLst>
            <a:lin ang="2100000" scaled="1"/>
          </a:gradFill>
          <a:ln w="3442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vessel opening"/>
          <p:cNvSpPr/>
          <p:nvPr/>
        </p:nvSpPr>
        <p:spPr>
          <a:xfrm>
            <a:off x="5254858" y="1867050"/>
            <a:ext cx="84626" cy="27564"/>
          </a:xfrm>
          <a:prstGeom prst="ellipse">
            <a:avLst/>
          </a:prstGeom>
          <a:solidFill>
            <a:srgbClr val="7D97C3"/>
          </a:solidFill>
          <a:ln w="2632">
            <a:solidFill>
              <a:srgbClr val="536F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heart myocardium outline"/>
          <p:cNvSpPr/>
          <p:nvPr/>
        </p:nvSpPr>
        <p:spPr>
          <a:xfrm>
            <a:off x="5183955" y="1219292"/>
            <a:ext cx="745624" cy="758015"/>
          </a:xfrm>
          <a:custGeom>
            <a:avLst/>
            <a:gdLst/>
            <a:ahLst/>
            <a:cxnLst/>
            <a:rect l="0" t="0" r="r" b="b"/>
            <a:pathLst>
              <a:path w="1753597" h="1782739">
                <a:moveTo>
                  <a:pt x="527155" y="189078"/>
                </a:moveTo>
                <a:cubicBezTo>
                  <a:pt x="387298" y="113447"/>
                  <a:pt x="252819" y="162067"/>
                  <a:pt x="161374" y="270112"/>
                </a:cubicBezTo>
                <a:cubicBezTo>
                  <a:pt x="43033" y="399766"/>
                  <a:pt x="0" y="551028"/>
                  <a:pt x="32275" y="707693"/>
                </a:cubicBezTo>
                <a:cubicBezTo>
                  <a:pt x="53791" y="810336"/>
                  <a:pt x="86066" y="869760"/>
                  <a:pt x="107583" y="956196"/>
                </a:cubicBezTo>
                <a:cubicBezTo>
                  <a:pt x="155995" y="1172286"/>
                  <a:pt x="344264" y="1350560"/>
                  <a:pt x="580946" y="1496420"/>
                </a:cubicBezTo>
                <a:cubicBezTo>
                  <a:pt x="833765" y="1647683"/>
                  <a:pt x="1118860" y="1777337"/>
                  <a:pt x="1371679" y="1777337"/>
                </a:cubicBezTo>
                <a:cubicBezTo>
                  <a:pt x="1576086" y="1782739"/>
                  <a:pt x="1705185" y="1642281"/>
                  <a:pt x="1726701" y="1436996"/>
                </a:cubicBezTo>
                <a:cubicBezTo>
                  <a:pt x="1753597" y="1183090"/>
                  <a:pt x="1689048" y="880565"/>
                  <a:pt x="1565327" y="680682"/>
                </a:cubicBezTo>
                <a:cubicBezTo>
                  <a:pt x="1490020" y="561833"/>
                  <a:pt x="1446987" y="497006"/>
                  <a:pt x="1441607" y="372754"/>
                </a:cubicBezTo>
                <a:cubicBezTo>
                  <a:pt x="1436228" y="194481"/>
                  <a:pt x="1371679" y="64827"/>
                  <a:pt x="1231821" y="37816"/>
                </a:cubicBezTo>
                <a:cubicBezTo>
                  <a:pt x="1081206" y="0"/>
                  <a:pt x="968244" y="102643"/>
                  <a:pt x="898315" y="210687"/>
                </a:cubicBezTo>
                <a:cubicBezTo>
                  <a:pt x="790732" y="178274"/>
                  <a:pt x="650875" y="172872"/>
                  <a:pt x="527155" y="189078"/>
                </a:cubicBezTo>
                <a:close/>
              </a:path>
            </a:pathLst>
          </a:custGeom>
          <a:gradFill rotWithShape="1">
            <a:gsLst>
              <a:gs pos="0">
                <a:srgbClr val="F9D2D0"/>
              </a:gs>
              <a:gs pos="52000">
                <a:srgbClr val="EFA6AE"/>
              </a:gs>
              <a:gs pos="100000">
                <a:srgbClr val="DC8D98"/>
              </a:gs>
            </a:gsLst>
            <a:lin ang="2100000" scaled="1"/>
          </a:gradFill>
          <a:ln w="3847" cap="rnd">
            <a:solidFill>
              <a:srgbClr val="BE767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left ventricular muscle wall"/>
          <p:cNvSpPr/>
          <p:nvPr/>
        </p:nvSpPr>
        <p:spPr>
          <a:xfrm>
            <a:off x="5527034" y="1409944"/>
            <a:ext cx="361376" cy="516828"/>
          </a:xfrm>
          <a:custGeom>
            <a:avLst/>
            <a:gdLst/>
            <a:ahLst/>
            <a:cxnLst/>
            <a:rect l="0" t="0" r="r" b="b"/>
            <a:pathLst>
              <a:path w="849903" h="1215504">
                <a:moveTo>
                  <a:pt x="91445" y="0"/>
                </a:moveTo>
                <a:cubicBezTo>
                  <a:pt x="0" y="237699"/>
                  <a:pt x="64550" y="518615"/>
                  <a:pt x="199028" y="783325"/>
                </a:cubicBezTo>
                <a:cubicBezTo>
                  <a:pt x="311990" y="1004816"/>
                  <a:pt x="424951" y="1139872"/>
                  <a:pt x="564809" y="1215504"/>
                </a:cubicBezTo>
                <a:cubicBezTo>
                  <a:pt x="742320" y="1204699"/>
                  <a:pt x="844524" y="1064241"/>
                  <a:pt x="844524" y="880565"/>
                </a:cubicBezTo>
                <a:cubicBezTo>
                  <a:pt x="849903" y="626660"/>
                  <a:pt x="769216" y="345743"/>
                  <a:pt x="634738" y="156665"/>
                </a:cubicBezTo>
                <a:lnTo>
                  <a:pt x="586325" y="54022"/>
                </a:lnTo>
                <a:cubicBezTo>
                  <a:pt x="484122" y="75631"/>
                  <a:pt x="268957" y="32413"/>
                  <a:pt x="91445" y="0"/>
                </a:cubicBezTo>
                <a:close/>
              </a:path>
            </a:pathLst>
          </a:custGeom>
          <a:gradFill rotWithShape="1">
            <a:gsLst>
              <a:gs pos="0">
                <a:srgbClr val="FBE0D9"/>
              </a:gs>
              <a:gs pos="50000">
                <a:srgbClr val="F1B4B8"/>
              </a:gs>
              <a:gs pos="100000">
                <a:srgbClr val="E69BA6"/>
              </a:gs>
            </a:gsLst>
            <a:lin ang="21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right atrial cavity"/>
          <p:cNvSpPr/>
          <p:nvPr/>
        </p:nvSpPr>
        <p:spPr>
          <a:xfrm>
            <a:off x="5206827" y="1290499"/>
            <a:ext cx="226432" cy="257266"/>
          </a:xfrm>
          <a:custGeom>
            <a:avLst/>
            <a:gdLst/>
            <a:ahLst/>
            <a:cxnLst/>
            <a:rect l="0" t="0" r="r" b="b"/>
            <a:pathLst>
              <a:path w="532534" h="605051">
                <a:moveTo>
                  <a:pt x="424951" y="59425"/>
                </a:moveTo>
                <a:cubicBezTo>
                  <a:pt x="301231" y="0"/>
                  <a:pt x="188270" y="70229"/>
                  <a:pt x="102204" y="178274"/>
                </a:cubicBezTo>
                <a:cubicBezTo>
                  <a:pt x="16137" y="280916"/>
                  <a:pt x="0" y="426777"/>
                  <a:pt x="53791" y="529419"/>
                </a:cubicBezTo>
                <a:cubicBezTo>
                  <a:pt x="80687" y="578040"/>
                  <a:pt x="118341" y="605051"/>
                  <a:pt x="172132" y="605051"/>
                </a:cubicBezTo>
                <a:cubicBezTo>
                  <a:pt x="290473" y="561833"/>
                  <a:pt x="403435" y="480799"/>
                  <a:pt x="467985" y="361950"/>
                </a:cubicBezTo>
                <a:cubicBezTo>
                  <a:pt x="527155" y="259307"/>
                  <a:pt x="532534" y="151263"/>
                  <a:pt x="424951" y="59425"/>
                </a:cubicBezTo>
                <a:close/>
              </a:path>
            </a:pathLst>
          </a:custGeom>
          <a:gradFill rotWithShape="1">
            <a:gsLst>
              <a:gs pos="0">
                <a:srgbClr val="B2C1DD"/>
              </a:gs>
              <a:gs pos="50000">
                <a:srgbClr val="8BA3CD"/>
              </a:gs>
              <a:gs pos="100000">
                <a:srgbClr val="708BBA"/>
              </a:gs>
            </a:gsLst>
            <a:lin ang="2100000" scaled="1"/>
          </a:gradFill>
          <a:ln w="3037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right atrial rim highlight"/>
          <p:cNvSpPr/>
          <p:nvPr/>
        </p:nvSpPr>
        <p:spPr>
          <a:xfrm>
            <a:off x="5257145" y="1329548"/>
            <a:ext cx="91487" cy="62019"/>
          </a:xfrm>
          <a:custGeom>
            <a:avLst/>
            <a:gdLst/>
            <a:ahLst/>
            <a:cxnLst/>
            <a:rect l="0" t="0" r="r" b="b"/>
            <a:pathLst>
              <a:path w="215165" h="145860">
                <a:moveTo>
                  <a:pt x="0" y="145860"/>
                </a:moveTo>
                <a:cubicBezTo>
                  <a:pt x="37654" y="54022"/>
                  <a:pt x="129099" y="0"/>
                  <a:pt x="215165" y="0"/>
                </a:cubicBezTo>
              </a:path>
            </a:pathLst>
          </a:custGeom>
          <a:noFill/>
          <a:ln w="4455" cap="rnd">
            <a:solidFill>
              <a:srgbClr val="CAD6E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left atrial cavity"/>
          <p:cNvSpPr/>
          <p:nvPr/>
        </p:nvSpPr>
        <p:spPr>
          <a:xfrm>
            <a:off x="5584214" y="1246856"/>
            <a:ext cx="189837" cy="183761"/>
          </a:xfrm>
          <a:custGeom>
            <a:avLst/>
            <a:gdLst/>
            <a:ahLst/>
            <a:cxnLst/>
            <a:rect l="0" t="0" r="r" b="b"/>
            <a:pathLst>
              <a:path w="446468" h="432179">
                <a:moveTo>
                  <a:pt x="32275" y="151263"/>
                </a:moveTo>
                <a:cubicBezTo>
                  <a:pt x="69929" y="43218"/>
                  <a:pt x="188270" y="0"/>
                  <a:pt x="290473" y="32413"/>
                </a:cubicBezTo>
                <a:cubicBezTo>
                  <a:pt x="403435" y="70229"/>
                  <a:pt x="446468" y="172872"/>
                  <a:pt x="441089" y="286319"/>
                </a:cubicBezTo>
                <a:cubicBezTo>
                  <a:pt x="430331" y="378157"/>
                  <a:pt x="344264" y="432179"/>
                  <a:pt x="242061" y="421375"/>
                </a:cubicBezTo>
                <a:cubicBezTo>
                  <a:pt x="129099" y="410570"/>
                  <a:pt x="32275" y="361950"/>
                  <a:pt x="10758" y="264710"/>
                </a:cubicBezTo>
                <a:cubicBezTo>
                  <a:pt x="0" y="226894"/>
                  <a:pt x="10758" y="189078"/>
                  <a:pt x="32275" y="151263"/>
                </a:cubicBezTo>
                <a:close/>
              </a:path>
            </a:pathLst>
          </a:custGeom>
          <a:gradFill rotWithShape="1">
            <a:gsLst>
              <a:gs pos="0">
                <a:srgbClr val="F2B8BA"/>
              </a:gs>
              <a:gs pos="50000">
                <a:srgbClr val="DF929B"/>
              </a:gs>
              <a:gs pos="100000">
                <a:srgbClr val="CE7885"/>
              </a:gs>
            </a:gsLst>
            <a:lin ang="2100000" scaled="1"/>
          </a:gradFill>
          <a:ln w="3037" cap="rnd">
            <a:solidFill>
              <a:srgbClr val="BD717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left atrial rim highlight"/>
          <p:cNvSpPr/>
          <p:nvPr/>
        </p:nvSpPr>
        <p:spPr>
          <a:xfrm>
            <a:off x="5616234" y="1269826"/>
            <a:ext cx="98349" cy="36752"/>
          </a:xfrm>
          <a:custGeom>
            <a:avLst/>
            <a:gdLst/>
            <a:ahLst/>
            <a:cxnLst/>
            <a:rect l="0" t="0" r="r" b="b"/>
            <a:pathLst>
              <a:path w="231303" h="86436">
                <a:moveTo>
                  <a:pt x="0" y="86436"/>
                </a:moveTo>
                <a:cubicBezTo>
                  <a:pt x="53791" y="16207"/>
                  <a:pt x="166753" y="0"/>
                  <a:pt x="231303" y="37816"/>
                </a:cubicBezTo>
              </a:path>
            </a:pathLst>
          </a:custGeom>
          <a:noFill/>
          <a:ln w="3847" cap="rnd">
            <a:solidFill>
              <a:srgbClr val="F7CA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interventricular septal myocardium"/>
          <p:cNvSpPr/>
          <p:nvPr/>
        </p:nvSpPr>
        <p:spPr>
          <a:xfrm>
            <a:off x="5501875" y="1375489"/>
            <a:ext cx="258453" cy="546690"/>
          </a:xfrm>
          <a:custGeom>
            <a:avLst/>
            <a:gdLst/>
            <a:ahLst/>
            <a:cxnLst/>
            <a:rect l="0" t="0" r="r" b="b"/>
            <a:pathLst>
              <a:path w="607842" h="1285733">
                <a:moveTo>
                  <a:pt x="75308" y="0"/>
                </a:moveTo>
                <a:cubicBezTo>
                  <a:pt x="5379" y="156665"/>
                  <a:pt x="0" y="329537"/>
                  <a:pt x="53791" y="497006"/>
                </a:cubicBezTo>
                <a:cubicBezTo>
                  <a:pt x="129099" y="734704"/>
                  <a:pt x="252819" y="967001"/>
                  <a:pt x="408814" y="1134470"/>
                </a:cubicBezTo>
                <a:cubicBezTo>
                  <a:pt x="467985" y="1199297"/>
                  <a:pt x="532534" y="1247917"/>
                  <a:pt x="607842" y="1285733"/>
                </a:cubicBezTo>
                <a:cubicBezTo>
                  <a:pt x="457226" y="1150677"/>
                  <a:pt x="365781" y="961599"/>
                  <a:pt x="279715" y="745509"/>
                </a:cubicBezTo>
                <a:cubicBezTo>
                  <a:pt x="204407" y="540224"/>
                  <a:pt x="172132" y="345743"/>
                  <a:pt x="209786" y="183676"/>
                </a:cubicBezTo>
                <a:lnTo>
                  <a:pt x="258198" y="64827"/>
                </a:lnTo>
                <a:close/>
              </a:path>
            </a:pathLst>
          </a:custGeom>
          <a:gradFill rotWithShape="1">
            <a:gsLst>
              <a:gs pos="0">
                <a:srgbClr val="FFEAE1"/>
              </a:gs>
              <a:gs pos="55000">
                <a:srgbClr val="F6C4C3"/>
              </a:gs>
              <a:gs pos="100000">
                <a:srgbClr val="EDA8AF"/>
              </a:gs>
            </a:gsLst>
            <a:lin ang="2100000" scaled="1"/>
          </a:gradFill>
          <a:ln w="2227" cap="rnd">
            <a:solidFill>
              <a:srgbClr val="DC9AA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right ventricular cavity"/>
          <p:cNvSpPr/>
          <p:nvPr/>
        </p:nvSpPr>
        <p:spPr>
          <a:xfrm>
            <a:off x="5254858" y="1393865"/>
            <a:ext cx="381961" cy="484670"/>
          </a:xfrm>
          <a:custGeom>
            <a:avLst/>
            <a:gdLst/>
            <a:ahLst/>
            <a:cxnLst/>
            <a:rect l="0" t="0" r="r" b="b"/>
            <a:pathLst>
              <a:path w="898315" h="1139872">
                <a:moveTo>
                  <a:pt x="311990" y="221492"/>
                </a:moveTo>
                <a:cubicBezTo>
                  <a:pt x="225924" y="270112"/>
                  <a:pt x="134478" y="302525"/>
                  <a:pt x="69929" y="383559"/>
                </a:cubicBezTo>
                <a:cubicBezTo>
                  <a:pt x="0" y="469995"/>
                  <a:pt x="37654" y="594246"/>
                  <a:pt x="123720" y="686084"/>
                </a:cubicBezTo>
                <a:cubicBezTo>
                  <a:pt x="263577" y="842749"/>
                  <a:pt x="467985" y="983207"/>
                  <a:pt x="683150" y="1075046"/>
                </a:cubicBezTo>
                <a:cubicBezTo>
                  <a:pt x="763837" y="1107459"/>
                  <a:pt x="839145" y="1139872"/>
                  <a:pt x="898315" y="1129068"/>
                </a:cubicBezTo>
                <a:cubicBezTo>
                  <a:pt x="871419" y="1053437"/>
                  <a:pt x="817628" y="961599"/>
                  <a:pt x="753079" y="858956"/>
                </a:cubicBezTo>
                <a:cubicBezTo>
                  <a:pt x="661633" y="702291"/>
                  <a:pt x="570188" y="507810"/>
                  <a:pt x="543292" y="378157"/>
                </a:cubicBezTo>
                <a:cubicBezTo>
                  <a:pt x="521776" y="264710"/>
                  <a:pt x="554051" y="183676"/>
                  <a:pt x="586325" y="97240"/>
                </a:cubicBezTo>
                <a:cubicBezTo>
                  <a:pt x="591705" y="43218"/>
                  <a:pt x="516397" y="0"/>
                  <a:pt x="462605" y="37816"/>
                </a:cubicBezTo>
                <a:cubicBezTo>
                  <a:pt x="414193" y="86436"/>
                  <a:pt x="414193" y="156665"/>
                  <a:pt x="371160" y="199883"/>
                </a:cubicBezTo>
                <a:close/>
              </a:path>
            </a:pathLst>
          </a:custGeom>
          <a:gradFill rotWithShape="1">
            <a:gsLst>
              <a:gs pos="0">
                <a:srgbClr val="BDCEE5"/>
              </a:gs>
              <a:gs pos="45000">
                <a:srgbClr val="92ABD2"/>
              </a:gs>
              <a:gs pos="100000">
                <a:srgbClr val="6E8BBA"/>
              </a:gs>
            </a:gsLst>
            <a:lin ang="2100000" scaled="1"/>
          </a:gradFill>
          <a:ln w="3037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left ventricular cavity"/>
          <p:cNvSpPr/>
          <p:nvPr/>
        </p:nvSpPr>
        <p:spPr>
          <a:xfrm>
            <a:off x="5600224" y="1437508"/>
            <a:ext cx="224145" cy="411166"/>
          </a:xfrm>
          <a:custGeom>
            <a:avLst/>
            <a:gdLst/>
            <a:ahLst/>
            <a:cxnLst/>
            <a:rect l="0" t="0" r="r" b="b"/>
            <a:pathLst>
              <a:path w="527155" h="967001">
                <a:moveTo>
                  <a:pt x="86066" y="37816"/>
                </a:moveTo>
                <a:cubicBezTo>
                  <a:pt x="0" y="167469"/>
                  <a:pt x="26896" y="351146"/>
                  <a:pt x="80687" y="513213"/>
                </a:cubicBezTo>
                <a:cubicBezTo>
                  <a:pt x="155995" y="729302"/>
                  <a:pt x="263577" y="902174"/>
                  <a:pt x="376539" y="967001"/>
                </a:cubicBezTo>
                <a:cubicBezTo>
                  <a:pt x="451847" y="956196"/>
                  <a:pt x="511018" y="853554"/>
                  <a:pt x="516397" y="745509"/>
                </a:cubicBezTo>
                <a:cubicBezTo>
                  <a:pt x="527155" y="545626"/>
                  <a:pt x="462605" y="286319"/>
                  <a:pt x="376539" y="129654"/>
                </a:cubicBezTo>
                <a:cubicBezTo>
                  <a:pt x="333506" y="48620"/>
                  <a:pt x="268957" y="0"/>
                  <a:pt x="193649" y="5402"/>
                </a:cubicBezTo>
                <a:cubicBezTo>
                  <a:pt x="155995" y="5402"/>
                  <a:pt x="123720" y="16207"/>
                  <a:pt x="86066" y="37816"/>
                </a:cubicBezTo>
                <a:close/>
              </a:path>
            </a:pathLst>
          </a:custGeom>
          <a:gradFill rotWithShape="1">
            <a:gsLst>
              <a:gs pos="0">
                <a:srgbClr val="F0AEB2"/>
              </a:gs>
              <a:gs pos="40000">
                <a:srgbClr val="DF939D"/>
              </a:gs>
              <a:gs pos="100000">
                <a:srgbClr val="C77181"/>
              </a:gs>
            </a:gsLst>
            <a:lin ang="2100000" scaled="1"/>
          </a:gradFill>
          <a:ln w="3037" cap="rnd">
            <a:solidFill>
              <a:srgbClr val="B5667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pulmonary trunk"/>
          <p:cNvSpPr/>
          <p:nvPr/>
        </p:nvSpPr>
        <p:spPr>
          <a:xfrm>
            <a:off x="5412674" y="1122817"/>
            <a:ext cx="343079" cy="296315"/>
          </a:xfrm>
          <a:custGeom>
            <a:avLst/>
            <a:gdLst/>
            <a:ahLst/>
            <a:cxnLst/>
            <a:rect l="0" t="0" r="r" b="b"/>
            <a:pathLst>
              <a:path w="806870" h="696889">
                <a:moveTo>
                  <a:pt x="0" y="594246"/>
                </a:moveTo>
                <a:cubicBezTo>
                  <a:pt x="43033" y="453788"/>
                  <a:pt x="96824" y="318732"/>
                  <a:pt x="199028" y="210687"/>
                </a:cubicBezTo>
                <a:cubicBezTo>
                  <a:pt x="328127" y="70229"/>
                  <a:pt x="527155" y="21609"/>
                  <a:pt x="779974" y="0"/>
                </a:cubicBezTo>
                <a:lnTo>
                  <a:pt x="806870" y="145860"/>
                </a:lnTo>
                <a:cubicBezTo>
                  <a:pt x="613221" y="151263"/>
                  <a:pt x="467985" y="194481"/>
                  <a:pt x="371160" y="291721"/>
                </a:cubicBezTo>
                <a:cubicBezTo>
                  <a:pt x="274336" y="388961"/>
                  <a:pt x="231303" y="497006"/>
                  <a:pt x="220544" y="615855"/>
                </a:cubicBezTo>
                <a:lnTo>
                  <a:pt x="139857" y="696889"/>
                </a:lnTo>
                <a:lnTo>
                  <a:pt x="43033" y="696889"/>
                </a:lnTo>
                <a:close/>
              </a:path>
            </a:pathLst>
          </a:custGeom>
          <a:gradFill rotWithShape="1">
            <a:gsLst>
              <a:gs pos="0">
                <a:srgbClr val="BDCAE3"/>
              </a:gs>
              <a:gs pos="50000">
                <a:srgbClr val="9BAED2"/>
              </a:gs>
              <a:gs pos="100000">
                <a:srgbClr val="7D95C1"/>
              </a:gs>
            </a:gsLst>
            <a:lin ang="2100000" scaled="1"/>
          </a:gradFill>
          <a:ln w="3240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vessel opening"/>
          <p:cNvSpPr/>
          <p:nvPr/>
        </p:nvSpPr>
        <p:spPr>
          <a:xfrm>
            <a:off x="5732881" y="1120520"/>
            <a:ext cx="29734" cy="66613"/>
          </a:xfrm>
          <a:prstGeom prst="ellipse">
            <a:avLst/>
          </a:prstGeom>
          <a:solidFill>
            <a:srgbClr val="A8BCDC"/>
          </a:solidFill>
          <a:ln w="2835">
            <a:solidFill>
              <a:srgbClr val="536F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vessel opening"/>
          <p:cNvSpPr/>
          <p:nvPr/>
        </p:nvSpPr>
        <p:spPr>
          <a:xfrm>
            <a:off x="5742030" y="1129708"/>
            <a:ext cx="13723" cy="48237"/>
          </a:xfrm>
          <a:prstGeom prst="ellipse">
            <a:avLst/>
          </a:prstGeom>
          <a:solidFill>
            <a:srgbClr val="7C97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pulmonary trunk highlight"/>
          <p:cNvSpPr/>
          <p:nvPr/>
        </p:nvSpPr>
        <p:spPr>
          <a:xfrm>
            <a:off x="5506449" y="1154975"/>
            <a:ext cx="210421" cy="87287"/>
          </a:xfrm>
          <a:custGeom>
            <a:avLst/>
            <a:gdLst/>
            <a:ahLst/>
            <a:cxnLst/>
            <a:rect l="0" t="0" r="r" b="b"/>
            <a:pathLst>
              <a:path w="494880" h="205285">
                <a:moveTo>
                  <a:pt x="0" y="205285"/>
                </a:moveTo>
                <a:cubicBezTo>
                  <a:pt x="123720" y="70229"/>
                  <a:pt x="317369" y="10804"/>
                  <a:pt x="494880" y="0"/>
                </a:cubicBezTo>
              </a:path>
            </a:pathLst>
          </a:custGeom>
          <a:noFill/>
          <a:ln w="4455" cap="rnd">
            <a:solidFill>
              <a:srgbClr val="CDD8E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pulmonary valve left leaflet"/>
          <p:cNvSpPr/>
          <p:nvPr/>
        </p:nvSpPr>
        <p:spPr>
          <a:xfrm>
            <a:off x="5417249" y="1336440"/>
            <a:ext cx="50318" cy="82693"/>
          </a:xfrm>
          <a:custGeom>
            <a:avLst/>
            <a:gdLst/>
            <a:ahLst/>
            <a:cxnLst/>
            <a:rect l="0" t="0" r="r" b="b"/>
            <a:pathLst>
              <a:path w="118341" h="194481">
                <a:moveTo>
                  <a:pt x="5379" y="86436"/>
                </a:moveTo>
                <a:cubicBezTo>
                  <a:pt x="0" y="37816"/>
                  <a:pt x="43033" y="0"/>
                  <a:pt x="80687" y="16207"/>
                </a:cubicBezTo>
                <a:cubicBezTo>
                  <a:pt x="118341" y="32413"/>
                  <a:pt x="118341" y="97240"/>
                  <a:pt x="107583" y="151263"/>
                </a:cubicBezTo>
                <a:cubicBezTo>
                  <a:pt x="64550" y="194481"/>
                  <a:pt x="16137" y="178274"/>
                  <a:pt x="5379" y="135056"/>
                </a:cubicBezTo>
                <a:close/>
              </a:path>
            </a:pathLst>
          </a:custGeom>
          <a:solidFill>
            <a:srgbClr val="94ABD0"/>
          </a:solidFill>
          <a:ln w="4657" cap="rnd">
            <a:solidFill>
              <a:srgbClr val="FAE5D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pulmonary valve right leaflet"/>
          <p:cNvSpPr/>
          <p:nvPr/>
        </p:nvSpPr>
        <p:spPr>
          <a:xfrm>
            <a:off x="5462992" y="1347925"/>
            <a:ext cx="54892" cy="78098"/>
          </a:xfrm>
          <a:custGeom>
            <a:avLst/>
            <a:gdLst/>
            <a:ahLst/>
            <a:cxnLst/>
            <a:rect l="0" t="0" r="r" b="b"/>
            <a:pathLst>
              <a:path w="129099" h="183676">
                <a:moveTo>
                  <a:pt x="0" y="118849"/>
                </a:moveTo>
                <a:cubicBezTo>
                  <a:pt x="5379" y="37816"/>
                  <a:pt x="32275" y="0"/>
                  <a:pt x="80687" y="0"/>
                </a:cubicBezTo>
                <a:cubicBezTo>
                  <a:pt x="129099" y="16207"/>
                  <a:pt x="129099" y="86436"/>
                  <a:pt x="91445" y="140458"/>
                </a:cubicBezTo>
                <a:cubicBezTo>
                  <a:pt x="53791" y="183676"/>
                  <a:pt x="16137" y="167469"/>
                  <a:pt x="0" y="118849"/>
                </a:cubicBezTo>
                <a:close/>
              </a:path>
            </a:pathLst>
          </a:custGeom>
          <a:solidFill>
            <a:srgbClr val="829EC8"/>
          </a:solidFill>
          <a:ln w="4657" cap="rnd">
            <a:solidFill>
              <a:srgbClr val="FAE5D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tricuspid valve septal leaflet"/>
          <p:cNvSpPr/>
          <p:nvPr/>
        </p:nvSpPr>
        <p:spPr>
          <a:xfrm>
            <a:off x="5277730" y="1481152"/>
            <a:ext cx="125795" cy="96475"/>
          </a:xfrm>
          <a:custGeom>
            <a:avLst/>
            <a:gdLst/>
            <a:ahLst/>
            <a:cxnLst/>
            <a:rect l="0" t="0" r="r" b="b"/>
            <a:pathLst>
              <a:path w="295852" h="226894">
                <a:moveTo>
                  <a:pt x="0" y="145860"/>
                </a:moveTo>
                <a:cubicBezTo>
                  <a:pt x="86066" y="91838"/>
                  <a:pt x="188270" y="37816"/>
                  <a:pt x="295852" y="0"/>
                </a:cubicBezTo>
                <a:cubicBezTo>
                  <a:pt x="242061" y="75631"/>
                  <a:pt x="209786" y="140458"/>
                  <a:pt x="199028" y="226894"/>
                </a:cubicBezTo>
                <a:cubicBezTo>
                  <a:pt x="161374" y="183676"/>
                  <a:pt x="129099" y="151263"/>
                  <a:pt x="96824" y="135056"/>
                </a:cubicBezTo>
                <a:lnTo>
                  <a:pt x="32275" y="199883"/>
                </a:lnTo>
                <a:close/>
              </a:path>
            </a:pathLst>
          </a:custGeom>
          <a:solidFill>
            <a:srgbClr val="FFF3EE"/>
          </a:solidFill>
          <a:ln w="2227" cap="rnd">
            <a:solidFill>
              <a:srgbClr val="D4D9D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tricuspid valve anterior leaflet"/>
          <p:cNvSpPr/>
          <p:nvPr/>
        </p:nvSpPr>
        <p:spPr>
          <a:xfrm>
            <a:off x="5403526" y="1481152"/>
            <a:ext cx="52605" cy="91881"/>
          </a:xfrm>
          <a:custGeom>
            <a:avLst/>
            <a:gdLst/>
            <a:ahLst/>
            <a:cxnLst/>
            <a:rect l="0" t="0" r="r" b="b"/>
            <a:pathLst>
              <a:path w="123720" h="216090">
                <a:moveTo>
                  <a:pt x="0" y="0"/>
                </a:moveTo>
                <a:cubicBezTo>
                  <a:pt x="37654" y="21609"/>
                  <a:pt x="86066" y="48620"/>
                  <a:pt x="123720" y="81034"/>
                </a:cubicBezTo>
                <a:lnTo>
                  <a:pt x="112962" y="216090"/>
                </a:lnTo>
                <a:cubicBezTo>
                  <a:pt x="80687" y="129654"/>
                  <a:pt x="37654" y="70229"/>
                  <a:pt x="0" y="0"/>
                </a:cubicBezTo>
                <a:close/>
              </a:path>
            </a:pathLst>
          </a:custGeom>
          <a:solidFill>
            <a:srgbClr val="FFF3EE"/>
          </a:solidFill>
          <a:ln w="2227" cap="rnd">
            <a:solidFill>
              <a:srgbClr val="D4D9D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mitral anterior leaflet"/>
          <p:cNvSpPr/>
          <p:nvPr/>
        </p:nvSpPr>
        <p:spPr>
          <a:xfrm>
            <a:off x="5625383" y="1432914"/>
            <a:ext cx="75477" cy="105663"/>
          </a:xfrm>
          <a:custGeom>
            <a:avLst/>
            <a:gdLst/>
            <a:ahLst/>
            <a:cxnLst/>
            <a:rect l="0" t="0" r="r" b="b"/>
            <a:pathLst>
              <a:path w="177511" h="248503">
                <a:moveTo>
                  <a:pt x="0" y="0"/>
                </a:moveTo>
                <a:cubicBezTo>
                  <a:pt x="53791" y="37816"/>
                  <a:pt x="118341" y="48620"/>
                  <a:pt x="177511" y="21609"/>
                </a:cubicBezTo>
                <a:cubicBezTo>
                  <a:pt x="134478" y="91838"/>
                  <a:pt x="118341" y="172872"/>
                  <a:pt x="123720" y="248503"/>
                </a:cubicBezTo>
                <a:cubicBezTo>
                  <a:pt x="80687" y="151263"/>
                  <a:pt x="48412" y="75631"/>
                  <a:pt x="0" y="0"/>
                </a:cubicBezTo>
                <a:close/>
              </a:path>
            </a:pathLst>
          </a:custGeom>
          <a:solidFill>
            <a:srgbClr val="FFF3EE"/>
          </a:solidFill>
          <a:ln w="2227" cap="rnd">
            <a:solidFill>
              <a:srgbClr val="DFB0B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mitral posterior leaflet"/>
          <p:cNvSpPr/>
          <p:nvPr/>
        </p:nvSpPr>
        <p:spPr>
          <a:xfrm>
            <a:off x="5700860" y="1421429"/>
            <a:ext cx="66329" cy="117148"/>
          </a:xfrm>
          <a:custGeom>
            <a:avLst/>
            <a:gdLst/>
            <a:ahLst/>
            <a:cxnLst/>
            <a:rect l="0" t="0" r="r" b="b"/>
            <a:pathLst>
              <a:path w="155995" h="275514">
                <a:moveTo>
                  <a:pt x="0" y="48620"/>
                </a:moveTo>
                <a:cubicBezTo>
                  <a:pt x="48412" y="16207"/>
                  <a:pt x="107583" y="0"/>
                  <a:pt x="155995" y="27011"/>
                </a:cubicBezTo>
                <a:cubicBezTo>
                  <a:pt x="107583" y="102643"/>
                  <a:pt x="91445" y="194481"/>
                  <a:pt x="102204" y="275514"/>
                </a:cubicBezTo>
                <a:cubicBezTo>
                  <a:pt x="59170" y="183676"/>
                  <a:pt x="37654" y="102643"/>
                  <a:pt x="0" y="48620"/>
                </a:cubicBezTo>
                <a:close/>
              </a:path>
            </a:pathLst>
          </a:custGeom>
          <a:solidFill>
            <a:srgbClr val="FFF3EE"/>
          </a:solidFill>
          <a:ln w="2227" cap="rnd">
            <a:solidFill>
              <a:srgbClr val="DFB0B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right papillary muscle"/>
          <p:cNvSpPr/>
          <p:nvPr/>
        </p:nvSpPr>
        <p:spPr>
          <a:xfrm>
            <a:off x="5355495" y="1568438"/>
            <a:ext cx="48031" cy="91881"/>
          </a:xfrm>
          <a:custGeom>
            <a:avLst/>
            <a:gdLst/>
            <a:ahLst/>
            <a:cxnLst/>
            <a:rect l="0" t="0" r="r" b="b"/>
            <a:pathLst>
              <a:path w="112962" h="216090">
                <a:moveTo>
                  <a:pt x="75308" y="216090"/>
                </a:moveTo>
                <a:cubicBezTo>
                  <a:pt x="21517" y="108045"/>
                  <a:pt x="0" y="48620"/>
                  <a:pt x="10758" y="0"/>
                </a:cubicBezTo>
                <a:cubicBezTo>
                  <a:pt x="59170" y="32413"/>
                  <a:pt x="91445" y="118849"/>
                  <a:pt x="112962" y="216090"/>
                </a:cubicBezTo>
                <a:close/>
              </a:path>
            </a:pathLst>
          </a:custGeom>
          <a:solidFill>
            <a:srgbClr val="90A9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right papillary muscle second"/>
          <p:cNvSpPr/>
          <p:nvPr/>
        </p:nvSpPr>
        <p:spPr>
          <a:xfrm>
            <a:off x="5440121" y="1591408"/>
            <a:ext cx="59467" cy="133227"/>
          </a:xfrm>
          <a:custGeom>
            <a:avLst/>
            <a:gdLst/>
            <a:ahLst/>
            <a:cxnLst/>
            <a:rect l="0" t="0" r="r" b="b"/>
            <a:pathLst>
              <a:path w="139857" h="313330">
                <a:moveTo>
                  <a:pt x="107583" y="313330"/>
                </a:moveTo>
                <a:cubicBezTo>
                  <a:pt x="43033" y="199883"/>
                  <a:pt x="0" y="64827"/>
                  <a:pt x="10758" y="0"/>
                </a:cubicBezTo>
                <a:cubicBezTo>
                  <a:pt x="59170" y="54022"/>
                  <a:pt x="107583" y="183676"/>
                  <a:pt x="139857" y="313330"/>
                </a:cubicBezTo>
                <a:close/>
              </a:path>
            </a:pathLst>
          </a:custGeom>
          <a:solidFill>
            <a:srgbClr val="89A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left papillary muscle"/>
          <p:cNvSpPr/>
          <p:nvPr/>
        </p:nvSpPr>
        <p:spPr>
          <a:xfrm>
            <a:off x="5673414" y="1559250"/>
            <a:ext cx="34308" cy="142415"/>
          </a:xfrm>
          <a:custGeom>
            <a:avLst/>
            <a:gdLst/>
            <a:ahLst/>
            <a:cxnLst/>
            <a:rect l="0" t="0" r="r" b="b"/>
            <a:pathLst>
              <a:path w="80687" h="334939">
                <a:moveTo>
                  <a:pt x="43033" y="313330"/>
                </a:moveTo>
                <a:cubicBezTo>
                  <a:pt x="10758" y="189078"/>
                  <a:pt x="0" y="59425"/>
                  <a:pt x="16137" y="0"/>
                </a:cubicBezTo>
                <a:cubicBezTo>
                  <a:pt x="53791" y="75631"/>
                  <a:pt x="75308" y="205285"/>
                  <a:pt x="80687" y="334939"/>
                </a:cubicBezTo>
                <a:close/>
              </a:path>
            </a:pathLst>
          </a:custGeom>
          <a:solidFill>
            <a:srgbClr val="D88A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left papillary muscle second"/>
          <p:cNvSpPr/>
          <p:nvPr/>
        </p:nvSpPr>
        <p:spPr>
          <a:xfrm>
            <a:off x="5742030" y="1561547"/>
            <a:ext cx="41169" cy="137821"/>
          </a:xfrm>
          <a:custGeom>
            <a:avLst/>
            <a:gdLst/>
            <a:ahLst/>
            <a:cxnLst/>
            <a:rect l="0" t="0" r="r" b="b"/>
            <a:pathLst>
              <a:path w="96824" h="324134">
                <a:moveTo>
                  <a:pt x="64550" y="324134"/>
                </a:moveTo>
                <a:cubicBezTo>
                  <a:pt x="32275" y="183676"/>
                  <a:pt x="0" y="64827"/>
                  <a:pt x="10758" y="0"/>
                </a:cubicBezTo>
                <a:cubicBezTo>
                  <a:pt x="59170" y="70229"/>
                  <a:pt x="96824" y="199883"/>
                  <a:pt x="96824" y="324134"/>
                </a:cubicBezTo>
                <a:close/>
              </a:path>
            </a:pathLst>
          </a:custGeom>
          <a:solidFill>
            <a:srgbClr val="D88A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chorda tendinea"/>
          <p:cNvSpPr/>
          <p:nvPr/>
        </p:nvSpPr>
        <p:spPr>
          <a:xfrm>
            <a:off x="5321187" y="1540874"/>
            <a:ext cx="68616" cy="103366"/>
          </a:xfrm>
          <a:custGeom>
            <a:avLst/>
            <a:gdLst/>
            <a:ahLst/>
            <a:cxnLst/>
            <a:rect l="0" t="0" r="r" b="b"/>
            <a:pathLst>
              <a:path w="161374" h="243101">
                <a:moveTo>
                  <a:pt x="0" y="0"/>
                </a:moveTo>
                <a:quadBezTo>
                  <a:pt x="86066" y="97240"/>
                  <a:pt x="161374" y="243101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chorda tendinea"/>
          <p:cNvSpPr/>
          <p:nvPr/>
        </p:nvSpPr>
        <p:spPr>
          <a:xfrm>
            <a:off x="5357782" y="1550062"/>
            <a:ext cx="38882" cy="101069"/>
          </a:xfrm>
          <a:custGeom>
            <a:avLst/>
            <a:gdLst/>
            <a:ahLst/>
            <a:cxnLst/>
            <a:rect l="0" t="0" r="r" b="b"/>
            <a:pathLst>
              <a:path w="91445" h="237699">
                <a:moveTo>
                  <a:pt x="0" y="0"/>
                </a:moveTo>
                <a:quadBezTo>
                  <a:pt x="53791" y="118849"/>
                  <a:pt x="91445" y="237699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chorda tendinea"/>
          <p:cNvSpPr/>
          <p:nvPr/>
        </p:nvSpPr>
        <p:spPr>
          <a:xfrm>
            <a:off x="5401239" y="1504122"/>
            <a:ext cx="75477" cy="199840"/>
          </a:xfrm>
          <a:custGeom>
            <a:avLst/>
            <a:gdLst/>
            <a:ahLst/>
            <a:cxnLst/>
            <a:rect l="0" t="0" r="r" b="b"/>
            <a:pathLst>
              <a:path w="177511" h="469995">
                <a:moveTo>
                  <a:pt x="0" y="0"/>
                </a:moveTo>
                <a:quadBezTo>
                  <a:pt x="53791" y="189078"/>
                  <a:pt x="177511" y="469995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chorda tendinea"/>
          <p:cNvSpPr/>
          <p:nvPr/>
        </p:nvSpPr>
        <p:spPr>
          <a:xfrm>
            <a:off x="5446982" y="1536280"/>
            <a:ext cx="34308" cy="174573"/>
          </a:xfrm>
          <a:custGeom>
            <a:avLst/>
            <a:gdLst/>
            <a:ahLst/>
            <a:cxnLst/>
            <a:rect l="0" t="0" r="r" b="b"/>
            <a:pathLst>
              <a:path w="80687" h="410570">
                <a:moveTo>
                  <a:pt x="0" y="0"/>
                </a:moveTo>
                <a:quadBezTo>
                  <a:pt x="5379" y="183676"/>
                  <a:pt x="80687" y="410570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chorda tendinea"/>
          <p:cNvSpPr/>
          <p:nvPr/>
        </p:nvSpPr>
        <p:spPr>
          <a:xfrm>
            <a:off x="5655116" y="1467369"/>
            <a:ext cx="41169" cy="213622"/>
          </a:xfrm>
          <a:custGeom>
            <a:avLst/>
            <a:gdLst/>
            <a:ahLst/>
            <a:cxnLst/>
            <a:rect l="0" t="0" r="r" b="b"/>
            <a:pathLst>
              <a:path w="96824" h="502408">
                <a:moveTo>
                  <a:pt x="0" y="0"/>
                </a:moveTo>
                <a:quadBezTo>
                  <a:pt x="37654" y="226894"/>
                  <a:pt x="96824" y="502408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chorda tendinea"/>
          <p:cNvSpPr/>
          <p:nvPr/>
        </p:nvSpPr>
        <p:spPr>
          <a:xfrm>
            <a:off x="5677989" y="1508716"/>
            <a:ext cx="22872" cy="172276"/>
          </a:xfrm>
          <a:custGeom>
            <a:avLst/>
            <a:gdLst/>
            <a:ahLst/>
            <a:cxnLst/>
            <a:rect l="0" t="0" r="r" b="b"/>
            <a:pathLst>
              <a:path w="53791" h="405168">
                <a:moveTo>
                  <a:pt x="0" y="0"/>
                </a:moveTo>
                <a:quadBezTo>
                  <a:pt x="21517" y="167469"/>
                  <a:pt x="53791" y="405168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chorda tendinea"/>
          <p:cNvSpPr/>
          <p:nvPr/>
        </p:nvSpPr>
        <p:spPr>
          <a:xfrm>
            <a:off x="5723732" y="1467369"/>
            <a:ext cx="48031" cy="215919"/>
          </a:xfrm>
          <a:custGeom>
            <a:avLst/>
            <a:gdLst/>
            <a:ahLst/>
            <a:cxnLst/>
            <a:rect l="0" t="0" r="r" b="b"/>
            <a:pathLst>
              <a:path w="112962" h="507810">
                <a:moveTo>
                  <a:pt x="0" y="0"/>
                </a:moveTo>
                <a:quadBezTo>
                  <a:pt x="26896" y="226894"/>
                  <a:pt x="112962" y="507810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chorda tendinea"/>
          <p:cNvSpPr/>
          <p:nvPr/>
        </p:nvSpPr>
        <p:spPr>
          <a:xfrm>
            <a:off x="5742030" y="1506419"/>
            <a:ext cx="34308" cy="176870"/>
          </a:xfrm>
          <a:custGeom>
            <a:avLst/>
            <a:gdLst/>
            <a:ahLst/>
            <a:cxnLst/>
            <a:rect l="0" t="0" r="r" b="b"/>
            <a:pathLst>
              <a:path w="80687" h="415972">
                <a:moveTo>
                  <a:pt x="0" y="0"/>
                </a:moveTo>
                <a:quadBezTo>
                  <a:pt x="37654" y="178274"/>
                  <a:pt x="80687" y="415972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myocardial fibre contour"/>
          <p:cNvSpPr/>
          <p:nvPr/>
        </p:nvSpPr>
        <p:spPr>
          <a:xfrm>
            <a:off x="5238848" y="1602893"/>
            <a:ext cx="164678" cy="197543"/>
          </a:xfrm>
          <a:custGeom>
            <a:avLst/>
            <a:gdLst/>
            <a:ahLst/>
            <a:cxnLst/>
            <a:rect l="0" t="0" r="r" b="b"/>
            <a:pathLst>
              <a:path w="387298" h="464593">
                <a:moveTo>
                  <a:pt x="0" y="0"/>
                </a:moveTo>
                <a:cubicBezTo>
                  <a:pt x="32275" y="189078"/>
                  <a:pt x="209786" y="356548"/>
                  <a:pt x="387298" y="464593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myocardial fibre contour"/>
          <p:cNvSpPr/>
          <p:nvPr/>
        </p:nvSpPr>
        <p:spPr>
          <a:xfrm>
            <a:off x="5270869" y="1664913"/>
            <a:ext cx="256165" cy="195246"/>
          </a:xfrm>
          <a:custGeom>
            <a:avLst/>
            <a:gdLst/>
            <a:ahLst/>
            <a:cxnLst/>
            <a:rect l="0" t="0" r="r" b="b"/>
            <a:pathLst>
              <a:path w="602463" h="459190">
                <a:moveTo>
                  <a:pt x="0" y="0"/>
                </a:moveTo>
                <a:cubicBezTo>
                  <a:pt x="166753" y="210687"/>
                  <a:pt x="398056" y="367352"/>
                  <a:pt x="602463" y="459190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myocardial fibre contour"/>
          <p:cNvSpPr/>
          <p:nvPr/>
        </p:nvSpPr>
        <p:spPr>
          <a:xfrm>
            <a:off x="5362356" y="1784357"/>
            <a:ext cx="329355" cy="158494"/>
          </a:xfrm>
          <a:custGeom>
            <a:avLst/>
            <a:gdLst/>
            <a:ahLst/>
            <a:cxnLst/>
            <a:rect l="0" t="0" r="r" b="b"/>
            <a:pathLst>
              <a:path w="774595" h="372754">
                <a:moveTo>
                  <a:pt x="0" y="0"/>
                </a:moveTo>
                <a:cubicBezTo>
                  <a:pt x="247440" y="205285"/>
                  <a:pt x="543292" y="334939"/>
                  <a:pt x="774595" y="372754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myocardial fibre contour"/>
          <p:cNvSpPr/>
          <p:nvPr/>
        </p:nvSpPr>
        <p:spPr>
          <a:xfrm>
            <a:off x="5554480" y="1579923"/>
            <a:ext cx="141806" cy="296315"/>
          </a:xfrm>
          <a:custGeom>
            <a:avLst/>
            <a:gdLst/>
            <a:ahLst/>
            <a:cxnLst/>
            <a:rect l="0" t="0" r="r" b="b"/>
            <a:pathLst>
              <a:path w="333506" h="696889">
                <a:moveTo>
                  <a:pt x="0" y="0"/>
                </a:moveTo>
                <a:cubicBezTo>
                  <a:pt x="48412" y="248503"/>
                  <a:pt x="177511" y="518615"/>
                  <a:pt x="333506" y="696889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myocardial fibre contour"/>
          <p:cNvSpPr/>
          <p:nvPr/>
        </p:nvSpPr>
        <p:spPr>
          <a:xfrm>
            <a:off x="5828943" y="1511013"/>
            <a:ext cx="68616" cy="300909"/>
          </a:xfrm>
          <a:custGeom>
            <a:avLst/>
            <a:gdLst/>
            <a:ahLst/>
            <a:cxnLst/>
            <a:rect l="0" t="0" r="r" b="b"/>
            <a:pathLst>
              <a:path w="161374" h="707693">
                <a:moveTo>
                  <a:pt x="0" y="0"/>
                </a:moveTo>
                <a:cubicBezTo>
                  <a:pt x="96824" y="221492"/>
                  <a:pt x="161374" y="497006"/>
                  <a:pt x="139857" y="707693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myocardial fibre contour"/>
          <p:cNvSpPr/>
          <p:nvPr/>
        </p:nvSpPr>
        <p:spPr>
          <a:xfrm>
            <a:off x="5799210" y="1660319"/>
            <a:ext cx="77764" cy="252672"/>
          </a:xfrm>
          <a:custGeom>
            <a:avLst/>
            <a:gdLst/>
            <a:ahLst/>
            <a:cxnLst/>
            <a:rect l="0" t="0" r="r" b="b"/>
            <a:pathLst>
              <a:path w="182890" h="594246">
                <a:moveTo>
                  <a:pt x="134478" y="0"/>
                </a:moveTo>
                <a:cubicBezTo>
                  <a:pt x="182890" y="264710"/>
                  <a:pt x="145237" y="469995"/>
                  <a:pt x="0" y="594246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myocardial fibre contour"/>
          <p:cNvSpPr/>
          <p:nvPr/>
        </p:nvSpPr>
        <p:spPr>
          <a:xfrm>
            <a:off x="5611660" y="1896911"/>
            <a:ext cx="235581" cy="62019"/>
          </a:xfrm>
          <a:custGeom>
            <a:avLst/>
            <a:gdLst/>
            <a:ahLst/>
            <a:cxnLst/>
            <a:rect l="0" t="0" r="r" b="b"/>
            <a:pathLst>
              <a:path w="554051" h="145860">
                <a:moveTo>
                  <a:pt x="0" y="0"/>
                </a:moveTo>
                <a:cubicBezTo>
                  <a:pt x="225924" y="118849"/>
                  <a:pt x="430331" y="145860"/>
                  <a:pt x="554051" y="16207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septal cut-face highlight"/>
          <p:cNvSpPr/>
          <p:nvPr/>
        </p:nvSpPr>
        <p:spPr>
          <a:xfrm>
            <a:off x="5538470" y="1407647"/>
            <a:ext cx="221858" cy="516828"/>
          </a:xfrm>
          <a:custGeom>
            <a:avLst/>
            <a:gdLst/>
            <a:ahLst/>
            <a:cxnLst/>
            <a:rect l="0" t="0" r="r" b="b"/>
            <a:pathLst>
              <a:path w="521776" h="1215504">
                <a:moveTo>
                  <a:pt x="64550" y="0"/>
                </a:moveTo>
                <a:cubicBezTo>
                  <a:pt x="0" y="167469"/>
                  <a:pt x="0" y="345743"/>
                  <a:pt x="75308" y="551028"/>
                </a:cubicBezTo>
                <a:cubicBezTo>
                  <a:pt x="177511" y="837347"/>
                  <a:pt x="328127" y="1096654"/>
                  <a:pt x="521776" y="1215504"/>
                </a:cubicBezTo>
              </a:path>
            </a:pathLst>
          </a:custGeom>
          <a:noFill/>
          <a:ln w="3645" cap="rnd">
            <a:solidFill>
              <a:srgbClr val="FCE3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rv_afterload"/>
          <p:cNvSpPr txBox="1"/>
          <p:nvPr/>
        </p:nvSpPr>
        <p:spPr>
          <a:xfrm>
            <a:off x="4297050" y="1077300"/>
            <a:ext cx="737100" cy="149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1" i="0">
                <a:solidFill>
                  <a:srgbClr val="30485F"/>
                </a:solidFill>
                <a:latin typeface="Times New Roman"/>
              </a:rPr>
              <a:t>RV afterload ↑</a:t>
            </a:r>
          </a:p>
        </p:txBody>
      </p:sp>
      <p:sp>
        <p:nvSpPr>
          <p:cNvPr id="372" name="established_afterload"/>
          <p:cNvSpPr/>
          <p:nvPr/>
        </p:nvSpPr>
        <p:spPr>
          <a:xfrm>
            <a:off x="4098600" y="1255500"/>
            <a:ext cx="1325510" cy="377255"/>
          </a:xfrm>
          <a:custGeom>
            <a:avLst/>
            <a:gdLst/>
            <a:ahLst/>
            <a:cxnLst/>
            <a:rect l="0" t="0" r="r" b="b"/>
            <a:pathLst>
              <a:path w="3117404" h="887247">
                <a:moveTo>
                  <a:pt x="0" y="0"/>
                </a:moveTo>
                <a:cubicBezTo>
                  <a:pt x="1123950" y="0"/>
                  <a:pt x="1981200" y="485775"/>
                  <a:pt x="3117404" y="887247"/>
                </a:cubicBezTo>
              </a:path>
            </a:pathLst>
          </a:custGeom>
          <a:noFill/>
          <a:ln w="9112" cap="rnd">
            <a:solidFill>
              <a:srgbClr val="30485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established_afterload head"/>
          <p:cNvSpPr/>
          <p:nvPr/>
        </p:nvSpPr>
        <p:spPr>
          <a:xfrm>
            <a:off x="5380392" y="1603605"/>
            <a:ext cx="43718" cy="31313"/>
          </a:xfrm>
          <a:custGeom>
            <a:avLst/>
            <a:gdLst/>
            <a:ahLst/>
            <a:cxnLst/>
            <a:rect l="0" t="0" r="r" b="b"/>
            <a:pathLst>
              <a:path w="102819" h="73643">
                <a:moveTo>
                  <a:pt x="102819" y="68555"/>
                </a:moveTo>
                <a:lnTo>
                  <a:pt x="0" y="73643"/>
                </a:lnTo>
                <a:lnTo>
                  <a:pt x="26021" y="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rv_cavity_label"/>
          <p:cNvSpPr txBox="1"/>
          <p:nvPr/>
        </p:nvSpPr>
        <p:spPr>
          <a:xfrm>
            <a:off x="5472710" y="1750205"/>
            <a:ext cx="198450" cy="12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1" i="0">
                <a:solidFill>
                  <a:srgbClr val="30485F"/>
                </a:solidFill>
                <a:latin typeface="Times New Roman"/>
              </a:rPr>
              <a:t>RV</a:t>
            </a:r>
          </a:p>
        </p:txBody>
      </p:sp>
      <p:sp>
        <p:nvSpPr>
          <p:cNvPr id="375" name="stage_dependent"/>
          <p:cNvSpPr txBox="1"/>
          <p:nvPr/>
        </p:nvSpPr>
        <p:spPr>
          <a:xfrm>
            <a:off x="4779000" y="534600"/>
            <a:ext cx="1522800" cy="12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Stage dependent</a:t>
            </a:r>
          </a:p>
        </p:txBody>
      </p:sp>
      <p:sp>
        <p:nvSpPr>
          <p:cNvPr id="376" name="rv_stage_responses"/>
          <p:cNvSpPr txBox="1"/>
          <p:nvPr/>
        </p:nvSpPr>
        <p:spPr>
          <a:xfrm>
            <a:off x="4779000" y="692550"/>
            <a:ext cx="1522800" cy="22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1" i="0">
                <a:solidFill>
                  <a:srgbClr val="30485F"/>
                </a:solidFill>
                <a:latin typeface="Times New Roman"/>
              </a:rPr>
              <a:t>Adaptation /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1" i="0">
                <a:solidFill>
                  <a:srgbClr val="30485F"/>
                </a:solidFill>
                <a:latin typeface="Times New Roman"/>
              </a:rPr>
              <a:t>maladaptive remodeling</a:t>
            </a:r>
          </a:p>
        </p:txBody>
      </p:sp>
      <p:sp>
        <p:nvSpPr>
          <p:cNvPr id="377" name="rv_dysfunction"/>
          <p:cNvSpPr txBox="1"/>
          <p:nvPr/>
        </p:nvSpPr>
        <p:spPr>
          <a:xfrm>
            <a:off x="4754700" y="2081700"/>
            <a:ext cx="1547100" cy="13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1" i="0">
                <a:solidFill>
                  <a:srgbClr val="30485F"/>
                </a:solidFill>
                <a:latin typeface="Times New Roman"/>
              </a:rPr>
              <a:t>With RV dysfunction</a:t>
            </a:r>
          </a:p>
        </p:txBody>
      </p:sp>
      <p:sp>
        <p:nvSpPr>
          <p:cNvPr id="378" name="hemodynamic_compromise"/>
          <p:cNvSpPr txBox="1"/>
          <p:nvPr/>
        </p:nvSpPr>
        <p:spPr>
          <a:xfrm>
            <a:off x="4754700" y="2255850"/>
            <a:ext cx="1547100" cy="141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30485F"/>
                </a:solidFill>
                <a:latin typeface="Times New Roman"/>
              </a:rPr>
              <a:t>Systemic hemodynamic compromise</a:t>
            </a:r>
          </a:p>
        </p:txBody>
      </p:sp>
      <p:sp>
        <p:nvSpPr>
          <p:cNvPr id="379" name="rv_compromise_to_shared_return"/>
          <p:cNvSpPr/>
          <p:nvPr/>
        </p:nvSpPr>
        <p:spPr>
          <a:xfrm>
            <a:off x="6042600" y="2462400"/>
            <a:ext cx="174150" cy="514350"/>
          </a:xfrm>
          <a:custGeom>
            <a:avLst/>
            <a:gdLst/>
            <a:ahLst/>
            <a:cxnLst/>
            <a:rect l="0" t="0" r="r" b="b"/>
            <a:pathLst>
              <a:path w="409575" h="1209675">
                <a:moveTo>
                  <a:pt x="0" y="0"/>
                </a:moveTo>
                <a:cubicBezTo>
                  <a:pt x="209550" y="0"/>
                  <a:pt x="409575" y="0"/>
                  <a:pt x="409575" y="171450"/>
                </a:cubicBezTo>
                <a:lnTo>
                  <a:pt x="409575" y="1209675"/>
                </a:ln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RV feedback source"/>
          <p:cNvSpPr/>
          <p:nvPr/>
        </p:nvSpPr>
        <p:spPr>
          <a:xfrm>
            <a:off x="6032475" y="2452275"/>
            <a:ext cx="20250" cy="20250"/>
          </a:xfrm>
          <a:prstGeom prst="ellipse">
            <a:avLst/>
          </a:pr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Shared feedback junction"/>
          <p:cNvSpPr/>
          <p:nvPr/>
        </p:nvSpPr>
        <p:spPr>
          <a:xfrm>
            <a:off x="6206625" y="2525175"/>
            <a:ext cx="20250" cy="20250"/>
          </a:xfrm>
          <a:prstGeom prst="ellipse">
            <a:avLst/>
          </a:pr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Shared feedback junction"/>
          <p:cNvSpPr/>
          <p:nvPr/>
        </p:nvSpPr>
        <p:spPr>
          <a:xfrm>
            <a:off x="6206625" y="2966625"/>
            <a:ext cx="20250" cy="20250"/>
          </a:xfrm>
          <a:prstGeom prst="ellipse">
            <a:avLst/>
          </a:pr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reverse_evidence"/>
          <p:cNvSpPr txBox="1"/>
          <p:nvPr/>
        </p:nvSpPr>
        <p:spPr>
          <a:xfrm>
            <a:off x="2677050" y="2077650"/>
            <a:ext cx="2025000" cy="141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30485F"/>
                </a:solidFill>
                <a:latin typeface="Times New Roman"/>
              </a:rPr>
              <a:t>Human heart failure evidence [68–70]</a:t>
            </a:r>
          </a:p>
        </p:txBody>
      </p:sp>
      <p:sp>
        <p:nvSpPr>
          <p:cNvPr id="384" name="feedback_limit"/>
          <p:cNvSpPr txBox="1"/>
          <p:nvPr/>
        </p:nvSpPr>
        <p:spPr>
          <a:xfrm>
            <a:off x="2677050" y="2259900"/>
            <a:ext cx="2025000" cy="141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Proposed feedback in PAH</a:t>
            </a:r>
          </a:p>
        </p:txBody>
      </p:sp>
      <p:sp>
        <p:nvSpPr>
          <p:cNvPr id="385" name="venous_congestion"/>
          <p:cNvSpPr txBox="1"/>
          <p:nvPr/>
        </p:nvSpPr>
        <p:spPr>
          <a:xfrm>
            <a:off x="4702050" y="2466450"/>
            <a:ext cx="1113750" cy="149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08" b="1" i="0">
                <a:solidFill>
                  <a:srgbClr val="30485F"/>
                </a:solidFill>
                <a:latin typeface="Times New Roman"/>
              </a:rPr>
              <a:t>Venous congestion</a:t>
            </a:r>
          </a:p>
        </p:txBody>
      </p:sp>
      <p:sp>
        <p:nvSpPr>
          <p:cNvPr id="386" name="right_atrial_pressure"/>
          <p:cNvSpPr txBox="1"/>
          <p:nvPr/>
        </p:nvSpPr>
        <p:spPr>
          <a:xfrm>
            <a:off x="4629150" y="2632500"/>
            <a:ext cx="1202850" cy="117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Right atrial pressure ↑</a:t>
            </a:r>
          </a:p>
        </p:txBody>
      </p:sp>
      <p:sp>
        <p:nvSpPr>
          <p:cNvPr id="387" name="gut_wall_edema"/>
          <p:cNvSpPr txBox="1"/>
          <p:nvPr/>
        </p:nvSpPr>
        <p:spPr>
          <a:xfrm>
            <a:off x="3073950" y="2466450"/>
            <a:ext cx="1186650" cy="149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08" b="1" i="0">
                <a:solidFill>
                  <a:srgbClr val="30485F"/>
                </a:solidFill>
                <a:latin typeface="Times New Roman"/>
              </a:rPr>
              <a:t>Gut wall edema</a:t>
            </a:r>
          </a:p>
        </p:txBody>
      </p:sp>
      <p:sp>
        <p:nvSpPr>
          <p:cNvPr id="388" name="mesenteric_hypoperfusion"/>
          <p:cNvSpPr txBox="1"/>
          <p:nvPr/>
        </p:nvSpPr>
        <p:spPr>
          <a:xfrm>
            <a:off x="4657500" y="2843100"/>
            <a:ext cx="1166400" cy="247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30485F"/>
                </a:solidFill>
                <a:latin typeface="Times New Roman"/>
              </a:rPr>
              <a:t>Mesenteric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30485F"/>
                </a:solidFill>
                <a:latin typeface="Times New Roman"/>
              </a:rPr>
              <a:t>hypoperfusion</a:t>
            </a:r>
          </a:p>
        </p:txBody>
      </p:sp>
      <p:sp>
        <p:nvSpPr>
          <p:cNvPr id="389" name="reduced_mucosal_perfusion"/>
          <p:cNvSpPr txBox="1"/>
          <p:nvPr/>
        </p:nvSpPr>
        <p:spPr>
          <a:xfrm>
            <a:off x="2960550" y="2843100"/>
            <a:ext cx="1300050" cy="247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30485F"/>
                </a:solidFill>
                <a:latin typeface="Times New Roman"/>
              </a:rPr>
              <a:t>Reduced mucosal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30485F"/>
                </a:solidFill>
                <a:latin typeface="Times New Roman"/>
              </a:rPr>
              <a:t>perfusion</a:t>
            </a:r>
          </a:p>
        </p:txBody>
      </p:sp>
      <p:sp>
        <p:nvSpPr>
          <p:cNvPr id="390" name="rv_to_congestion"/>
          <p:cNvSpPr/>
          <p:nvPr/>
        </p:nvSpPr>
        <p:spPr>
          <a:xfrm>
            <a:off x="5872500" y="2535300"/>
            <a:ext cx="344250" cy="40"/>
          </a:xfrm>
          <a:custGeom>
            <a:avLst/>
            <a:gdLst/>
            <a:ahLst/>
            <a:cxnLst/>
            <a:rect l="0" t="0" r="r" b="b"/>
            <a:pathLst>
              <a:path w="809625" h="95">
                <a:moveTo>
                  <a:pt x="809625" y="0"/>
                </a:moveTo>
                <a:lnTo>
                  <a:pt x="0" y="0"/>
                </a:ln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rv_to_congestion head"/>
          <p:cNvSpPr/>
          <p:nvPr/>
        </p:nvSpPr>
        <p:spPr>
          <a:xfrm>
            <a:off x="5872500" y="251869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0" y="39053"/>
                </a:moveTo>
                <a:lnTo>
                  <a:pt x="95250" y="0"/>
                </a:lnTo>
                <a:lnTo>
                  <a:pt x="95250" y="78105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rv_to_hypoperfusion"/>
          <p:cNvSpPr/>
          <p:nvPr/>
        </p:nvSpPr>
        <p:spPr>
          <a:xfrm>
            <a:off x="5872500" y="2976750"/>
            <a:ext cx="344250" cy="40"/>
          </a:xfrm>
          <a:custGeom>
            <a:avLst/>
            <a:gdLst/>
            <a:ahLst/>
            <a:cxnLst/>
            <a:rect l="0" t="0" r="r" b="b"/>
            <a:pathLst>
              <a:path w="809625" h="95">
                <a:moveTo>
                  <a:pt x="809625" y="0"/>
                </a:moveTo>
                <a:lnTo>
                  <a:pt x="0" y="0"/>
                </a:ln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rv_to_hypoperfusion head"/>
          <p:cNvSpPr/>
          <p:nvPr/>
        </p:nvSpPr>
        <p:spPr>
          <a:xfrm>
            <a:off x="5872500" y="296014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0" y="39053"/>
                </a:moveTo>
                <a:lnTo>
                  <a:pt x="95250" y="0"/>
                </a:lnTo>
                <a:lnTo>
                  <a:pt x="95250" y="78105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congestion_to_edema"/>
          <p:cNvSpPr/>
          <p:nvPr/>
        </p:nvSpPr>
        <p:spPr>
          <a:xfrm>
            <a:off x="4301100" y="2535300"/>
            <a:ext cx="324000" cy="40"/>
          </a:xfrm>
          <a:custGeom>
            <a:avLst/>
            <a:gdLst/>
            <a:ahLst/>
            <a:cxnLst/>
            <a:rect l="0" t="0" r="r" b="b"/>
            <a:pathLst>
              <a:path w="762000" h="95">
                <a:moveTo>
                  <a:pt x="762000" y="0"/>
                </a:moveTo>
                <a:lnTo>
                  <a:pt x="0" y="0"/>
                </a:ln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congestion_to_edema head"/>
          <p:cNvSpPr/>
          <p:nvPr/>
        </p:nvSpPr>
        <p:spPr>
          <a:xfrm>
            <a:off x="4301100" y="251869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0" y="39053"/>
                </a:moveTo>
                <a:lnTo>
                  <a:pt x="95250" y="0"/>
                </a:lnTo>
                <a:lnTo>
                  <a:pt x="95250" y="78105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hypoperfusion_to_mucosa"/>
          <p:cNvSpPr/>
          <p:nvPr/>
        </p:nvSpPr>
        <p:spPr>
          <a:xfrm>
            <a:off x="4313250" y="2976750"/>
            <a:ext cx="279450" cy="40"/>
          </a:xfrm>
          <a:custGeom>
            <a:avLst/>
            <a:gdLst/>
            <a:ahLst/>
            <a:cxnLst/>
            <a:rect l="0" t="0" r="r" b="b"/>
            <a:pathLst>
              <a:path w="657225" h="95">
                <a:moveTo>
                  <a:pt x="657225" y="0"/>
                </a:moveTo>
                <a:lnTo>
                  <a:pt x="0" y="0"/>
                </a:ln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hypoperfusion_to_mucosa head"/>
          <p:cNvSpPr/>
          <p:nvPr/>
        </p:nvSpPr>
        <p:spPr>
          <a:xfrm>
            <a:off x="4313250" y="296014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0" y="39053"/>
                </a:moveTo>
                <a:lnTo>
                  <a:pt x="95250" y="0"/>
                </a:lnTo>
                <a:lnTo>
                  <a:pt x="95250" y="78105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edema_to_join"/>
          <p:cNvSpPr/>
          <p:nvPr/>
        </p:nvSpPr>
        <p:spPr>
          <a:xfrm>
            <a:off x="2632500" y="2535300"/>
            <a:ext cx="392850" cy="210600"/>
          </a:xfrm>
          <a:custGeom>
            <a:avLst/>
            <a:gdLst/>
            <a:ahLst/>
            <a:cxnLst/>
            <a:rect l="0" t="0" r="r" b="b"/>
            <a:pathLst>
              <a:path w="923925" h="495300">
                <a:moveTo>
                  <a:pt x="923925" y="0"/>
                </a:moveTo>
                <a:cubicBezTo>
                  <a:pt x="466725" y="0"/>
                  <a:pt x="180975" y="238125"/>
                  <a:pt x="0" y="495300"/>
                </a:cubicBez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mucosa_to_join"/>
          <p:cNvSpPr/>
          <p:nvPr/>
        </p:nvSpPr>
        <p:spPr>
          <a:xfrm>
            <a:off x="2632500" y="2745900"/>
            <a:ext cx="267300" cy="230850"/>
          </a:xfrm>
          <a:custGeom>
            <a:avLst/>
            <a:gdLst/>
            <a:ahLst/>
            <a:cxnLst/>
            <a:rect l="0" t="0" r="r" b="b"/>
            <a:pathLst>
              <a:path w="628650" h="542925">
                <a:moveTo>
                  <a:pt x="628650" y="542925"/>
                </a:moveTo>
                <a:cubicBezTo>
                  <a:pt x="285750" y="542925"/>
                  <a:pt x="19050" y="314325"/>
                  <a:pt x="0" y="0"/>
                </a:cubicBez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Intestinal feedback convergence"/>
          <p:cNvSpPr/>
          <p:nvPr/>
        </p:nvSpPr>
        <p:spPr>
          <a:xfrm>
            <a:off x="2622375" y="2735775"/>
            <a:ext cx="20250" cy="20250"/>
          </a:xfrm>
          <a:prstGeom prst="ellipse">
            <a:avLst/>
          </a:pr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return_to_gut_alterations"/>
          <p:cNvSpPr/>
          <p:nvPr/>
        </p:nvSpPr>
        <p:spPr>
          <a:xfrm>
            <a:off x="1802250" y="2498850"/>
            <a:ext cx="830250" cy="247050"/>
          </a:xfrm>
          <a:custGeom>
            <a:avLst/>
            <a:gdLst/>
            <a:ahLst/>
            <a:cxnLst/>
            <a:rect l="0" t="0" r="r" b="b"/>
            <a:pathLst>
              <a:path w="1952625" h="581025">
                <a:moveTo>
                  <a:pt x="1952625" y="581025"/>
                </a:moveTo>
                <a:cubicBezTo>
                  <a:pt x="1000125" y="581025"/>
                  <a:pt x="47625" y="523875"/>
                  <a:pt x="0" y="0"/>
                </a:cubicBez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return_to_gut_alterations head"/>
          <p:cNvSpPr/>
          <p:nvPr/>
        </p:nvSpPr>
        <p:spPr>
          <a:xfrm>
            <a:off x="1789380" y="2498850"/>
            <a:ext cx="33074" cy="41837"/>
          </a:xfrm>
          <a:custGeom>
            <a:avLst/>
            <a:gdLst/>
            <a:ahLst/>
            <a:cxnLst/>
            <a:rect l="0" t="0" r="r" b="b"/>
            <a:pathLst>
              <a:path w="77784" h="98394">
                <a:moveTo>
                  <a:pt x="30269" y="0"/>
                </a:moveTo>
                <a:lnTo>
                  <a:pt x="77784" y="91323"/>
                </a:lnTo>
                <a:lnTo>
                  <a:pt x="0" y="98394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gut_alterations"/>
          <p:cNvSpPr txBox="1"/>
          <p:nvPr/>
        </p:nvSpPr>
        <p:spPr>
          <a:xfrm>
            <a:off x="1158300" y="2308500"/>
            <a:ext cx="1287900" cy="149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50" b="1" i="0">
                <a:solidFill>
                  <a:srgbClr val="30485F"/>
                </a:solidFill>
                <a:latin typeface="Times New Roman"/>
              </a:rPr>
              <a:t>Gut alterations</a:t>
            </a:r>
          </a:p>
        </p:txBody>
      </p:sp>
      <p:sp>
        <p:nvSpPr>
          <p:cNvPr id="404" name="gut_alterations_to_fork"/>
          <p:cNvSpPr/>
          <p:nvPr/>
        </p:nvSpPr>
        <p:spPr>
          <a:xfrm>
            <a:off x="1028700" y="2385450"/>
            <a:ext cx="129600" cy="40"/>
          </a:xfrm>
          <a:custGeom>
            <a:avLst/>
            <a:gdLst/>
            <a:ahLst/>
            <a:cxnLst/>
            <a:rect l="0" t="0" r="r" b="b"/>
            <a:pathLst>
              <a:path w="304800" h="95">
                <a:moveTo>
                  <a:pt x="304800" y="0"/>
                </a:moveTo>
                <a:lnTo>
                  <a:pt x="0" y="0"/>
                </a:ln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reverse_to_barrier"/>
          <p:cNvSpPr/>
          <p:nvPr/>
        </p:nvSpPr>
        <p:spPr>
          <a:xfrm>
            <a:off x="996300" y="1012500"/>
            <a:ext cx="838350" cy="1372950"/>
          </a:xfrm>
          <a:custGeom>
            <a:avLst/>
            <a:gdLst/>
            <a:ahLst/>
            <a:cxnLst/>
            <a:rect l="0" t="0" r="r" b="b"/>
            <a:pathLst>
              <a:path w="1971675" h="3228975">
                <a:moveTo>
                  <a:pt x="76200" y="3228975"/>
                </a:moveTo>
                <a:cubicBezTo>
                  <a:pt x="0" y="3143250"/>
                  <a:pt x="0" y="2838450"/>
                  <a:pt x="0" y="2457450"/>
                </a:cubicBezTo>
                <a:lnTo>
                  <a:pt x="0" y="647700"/>
                </a:lnTo>
                <a:cubicBezTo>
                  <a:pt x="0" y="523875"/>
                  <a:pt x="514350" y="457200"/>
                  <a:pt x="1133475" y="457200"/>
                </a:cubicBezTo>
                <a:cubicBezTo>
                  <a:pt x="1704975" y="457200"/>
                  <a:pt x="1971675" y="438150"/>
                  <a:pt x="1971675" y="0"/>
                </a:cubicBez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reverse_to_barrier head"/>
          <p:cNvSpPr/>
          <p:nvPr/>
        </p:nvSpPr>
        <p:spPr>
          <a:xfrm>
            <a:off x="1818045" y="1012500"/>
            <a:ext cx="33210" cy="40500"/>
          </a:xfrm>
          <a:custGeom>
            <a:avLst/>
            <a:gdLst/>
            <a:ahLst/>
            <a:cxnLst/>
            <a:rect l="0" t="0" r="r" b="b"/>
            <a:pathLst>
              <a:path w="78105" h="95250">
                <a:moveTo>
                  <a:pt x="39053" y="0"/>
                </a:moveTo>
                <a:lnTo>
                  <a:pt x="78105" y="95250"/>
                </a:lnTo>
                <a:lnTo>
                  <a:pt x="0" y="9525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candidate_ecological_response"/>
          <p:cNvSpPr/>
          <p:nvPr/>
        </p:nvSpPr>
        <p:spPr>
          <a:xfrm>
            <a:off x="1028700" y="1713150"/>
            <a:ext cx="814050" cy="672300"/>
          </a:xfrm>
          <a:custGeom>
            <a:avLst/>
            <a:gdLst/>
            <a:ahLst/>
            <a:cxnLst/>
            <a:rect l="0" t="0" r="r" b="b"/>
            <a:pathLst>
              <a:path w="1914525" h="1581150">
                <a:moveTo>
                  <a:pt x="0" y="1581150"/>
                </a:moveTo>
                <a:cubicBezTo>
                  <a:pt x="0" y="1314450"/>
                  <a:pt x="152400" y="1209675"/>
                  <a:pt x="438150" y="1209675"/>
                </a:cubicBezTo>
                <a:cubicBezTo>
                  <a:pt x="1390650" y="1209675"/>
                  <a:pt x="1914525" y="1114425"/>
                  <a:pt x="1914525" y="0"/>
                </a:cubicBez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candidate_ecological_response head"/>
          <p:cNvSpPr/>
          <p:nvPr/>
        </p:nvSpPr>
        <p:spPr>
          <a:xfrm>
            <a:off x="1826145" y="1713150"/>
            <a:ext cx="33210" cy="40500"/>
          </a:xfrm>
          <a:custGeom>
            <a:avLst/>
            <a:gdLst/>
            <a:ahLst/>
            <a:cxnLst/>
            <a:rect l="0" t="0" r="r" b="b"/>
            <a:pathLst>
              <a:path w="78105" h="95250">
                <a:moveTo>
                  <a:pt x="39053" y="0"/>
                </a:moveTo>
                <a:lnTo>
                  <a:pt x="78105" y="95250"/>
                </a:lnTo>
                <a:lnTo>
                  <a:pt x="0" y="9525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candidate_ecology"/>
          <p:cNvSpPr txBox="1"/>
          <p:nvPr/>
        </p:nvSpPr>
        <p:spPr>
          <a:xfrm>
            <a:off x="1170450" y="1830600"/>
            <a:ext cx="611550" cy="319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Candidate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ecological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response</a:t>
            </a:r>
          </a:p>
        </p:txBody>
      </p:sp>
      <p:sp>
        <p:nvSpPr>
          <p:cNvPr id="410" name="Evidence strip separator"/>
          <p:cNvSpPr/>
          <p:nvPr/>
        </p:nvSpPr>
        <p:spPr>
          <a:xfrm>
            <a:off x="178200" y="3191400"/>
            <a:ext cx="6123600" cy="40"/>
          </a:xfrm>
          <a:custGeom>
            <a:avLst/>
            <a:gdLst/>
            <a:ahLst/>
            <a:cxnLst/>
            <a:rect l="0" t="0" r="r" b="b"/>
            <a:pathLst>
              <a:path w="14401800" h="95">
                <a:moveTo>
                  <a:pt x="0" y="0"/>
                </a:moveTo>
                <a:lnTo>
                  <a:pt x="14401800" y="0"/>
                </a:lnTo>
              </a:path>
            </a:pathLst>
          </a:custGeom>
          <a:noFill/>
          <a:ln w="4860" cap="rnd">
            <a:solidFill>
              <a:srgbClr val="C6D2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Experimental evidence strip"/>
          <p:cNvSpPr/>
          <p:nvPr/>
        </p:nvSpPr>
        <p:spPr>
          <a:xfrm>
            <a:off x="178200" y="3248100"/>
            <a:ext cx="6123600" cy="518400"/>
          </a:xfrm>
          <a:prstGeom prst="rect">
            <a:avLst/>
          </a:prstGeom>
          <a:gradFill rotWithShape="1">
            <a:gsLst>
              <a:gs pos="0">
                <a:srgbClr val="F2F6EE"/>
              </a:gs>
              <a:gs pos="100000">
                <a:srgbClr val="EAF0F2"/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Experimental evidence marker"/>
          <p:cNvSpPr/>
          <p:nvPr/>
        </p:nvSpPr>
        <p:spPr>
          <a:xfrm>
            <a:off x="238950" y="3292650"/>
            <a:ext cx="40" cy="421200"/>
          </a:xfrm>
          <a:custGeom>
            <a:avLst/>
            <a:gdLst/>
            <a:ahLst/>
            <a:cxnLst/>
            <a:rect l="0" t="0" r="r" b="b"/>
            <a:pathLst>
              <a:path w="95" h="990600">
                <a:moveTo>
                  <a:pt x="0" y="0"/>
                </a:moveTo>
                <a:lnTo>
                  <a:pt x="0" y="990600"/>
                </a:lnTo>
              </a:path>
            </a:pathLst>
          </a:custGeom>
          <a:noFill/>
          <a:ln w="11340" cap="rnd">
            <a:solidFill>
              <a:srgbClr val="7C9F8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Evidence column divider"/>
          <p:cNvSpPr/>
          <p:nvPr/>
        </p:nvSpPr>
        <p:spPr>
          <a:xfrm>
            <a:off x="1782000" y="3308850"/>
            <a:ext cx="40" cy="396900"/>
          </a:xfrm>
          <a:custGeom>
            <a:avLst/>
            <a:gdLst/>
            <a:ahLst/>
            <a:cxnLst/>
            <a:rect l="0" t="0" r="r" b="b"/>
            <a:pathLst>
              <a:path w="95" h="933450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3240" cap="rnd">
            <a:solidFill>
              <a:srgbClr val="CED9D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Evidence column divider"/>
          <p:cNvSpPr/>
          <p:nvPr/>
        </p:nvSpPr>
        <p:spPr>
          <a:xfrm>
            <a:off x="3564000" y="3308850"/>
            <a:ext cx="40" cy="396900"/>
          </a:xfrm>
          <a:custGeom>
            <a:avLst/>
            <a:gdLst/>
            <a:ahLst/>
            <a:cxnLst/>
            <a:rect l="0" t="0" r="r" b="b"/>
            <a:pathLst>
              <a:path w="95" h="933450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3240" cap="rnd">
            <a:solidFill>
              <a:srgbClr val="CED9D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lgg_strain"/>
          <p:cNvSpPr txBox="1"/>
          <p:nvPr/>
        </p:nvSpPr>
        <p:spPr>
          <a:xfrm>
            <a:off x="311850" y="3272400"/>
            <a:ext cx="1356750" cy="14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08" b="1" i="1">
                <a:solidFill>
                  <a:srgbClr val="283B4E"/>
                </a:solidFill>
                <a:latin typeface="Times New Roman"/>
              </a:rPr>
              <a:t>L. rhamnosus</a:t>
            </a:r>
            <a:r>
              <a:rPr sz="808" b="1" i="0">
                <a:solidFill>
                  <a:srgbClr val="283B4E"/>
                </a:solidFill>
                <a:latin typeface="Times New Roman"/>
              </a:rPr>
              <a:t> GG</a:t>
            </a:r>
          </a:p>
        </p:txBody>
      </p:sp>
      <p:sp>
        <p:nvSpPr>
          <p:cNvPr id="416" name="lgg_model"/>
          <p:cNvSpPr txBox="1"/>
          <p:nvPr/>
        </p:nvSpPr>
        <p:spPr>
          <a:xfrm>
            <a:off x="311850" y="3454650"/>
            <a:ext cx="1356750" cy="25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0" i="0">
                <a:solidFill>
                  <a:srgbClr val="586B79"/>
                </a:solidFill>
                <a:latin typeface="Times New Roman"/>
              </a:rPr>
              <a:t>Experimental PH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0" i="0">
                <a:solidFill>
                  <a:srgbClr val="586B79"/>
                </a:solidFill>
                <a:latin typeface="Times New Roman"/>
              </a:rPr>
              <a:t>MCT rats [71]</a:t>
            </a:r>
          </a:p>
        </p:txBody>
      </p:sp>
      <p:sp>
        <p:nvSpPr>
          <p:cNvPr id="417" name="lgg_rv_function"/>
          <p:cNvSpPr txBox="1"/>
          <p:nvPr/>
        </p:nvSpPr>
        <p:spPr>
          <a:xfrm>
            <a:off x="1915650" y="3288600"/>
            <a:ext cx="1551150" cy="149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08" b="1" i="0">
                <a:solidFill>
                  <a:srgbClr val="3D7457"/>
                </a:solidFill>
                <a:latin typeface="Times New Roman"/>
              </a:rPr>
              <a:t>RV function improved</a:t>
            </a:r>
          </a:p>
        </p:txBody>
      </p:sp>
      <p:sp>
        <p:nvSpPr>
          <p:cNvPr id="418" name="lgg_rv_fibrosis"/>
          <p:cNvSpPr txBox="1"/>
          <p:nvPr/>
        </p:nvSpPr>
        <p:spPr>
          <a:xfrm>
            <a:off x="1915650" y="3495150"/>
            <a:ext cx="1551150" cy="141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0" i="0">
                <a:solidFill>
                  <a:srgbClr val="3D7457"/>
                </a:solidFill>
                <a:latin typeface="Times New Roman"/>
              </a:rPr>
              <a:t>RV fibrosis reduced</a:t>
            </a:r>
          </a:p>
        </p:txBody>
      </p:sp>
      <p:sp>
        <p:nvSpPr>
          <p:cNvPr id="419" name="lgg_pulmonary_endpoint"/>
          <p:cNvSpPr txBox="1"/>
          <p:nvPr/>
        </p:nvSpPr>
        <p:spPr>
          <a:xfrm>
            <a:off x="3701700" y="3268350"/>
            <a:ext cx="2494800" cy="263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3B4E"/>
                </a:solidFill>
                <a:latin typeface="Times New Roman"/>
              </a:rPr>
              <a:t>Pulmonary vascular load /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3B4E"/>
                </a:solidFill>
                <a:latin typeface="Times New Roman"/>
              </a:rPr>
              <a:t>pulmonary arteriolar remodeling</a:t>
            </a:r>
          </a:p>
        </p:txBody>
      </p:sp>
      <p:sp>
        <p:nvSpPr>
          <p:cNvPr id="420" name="lgg_pulmonary_result"/>
          <p:cNvSpPr txBox="1"/>
          <p:nvPr/>
        </p:nvSpPr>
        <p:spPr>
          <a:xfrm>
            <a:off x="3701700" y="3564000"/>
            <a:ext cx="2494800" cy="13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0" i="0">
                <a:solidFill>
                  <a:srgbClr val="586B79"/>
                </a:solidFill>
                <a:latin typeface="Times New Roman"/>
              </a:rPr>
              <a:t>No significant differences detected</a:t>
            </a:r>
          </a:p>
        </p:txBody>
      </p:sp>
      <p:sp>
        <p:nvSpPr>
          <p:cNvPr id="421" name="Microbiota color key"/>
          <p:cNvSpPr/>
          <p:nvPr/>
        </p:nvSpPr>
        <p:spPr>
          <a:xfrm>
            <a:off x="186300" y="3879900"/>
            <a:ext cx="182250" cy="40"/>
          </a:xfrm>
          <a:custGeom>
            <a:avLst/>
            <a:gdLst/>
            <a:ahLst/>
            <a:cxnLst/>
            <a:rect l="0" t="0" r="r" b="b"/>
            <a:pathLst>
              <a:path w="428625" h="9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9720" cap="rnd">
            <a:solidFill>
              <a:srgbClr val="287A7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legend_microbiota"/>
          <p:cNvSpPr txBox="1"/>
          <p:nvPr/>
        </p:nvSpPr>
        <p:spPr>
          <a:xfrm>
            <a:off x="433350" y="3807000"/>
            <a:ext cx="2442150" cy="141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0" i="0">
                <a:solidFill>
                  <a:srgbClr val="287A7D"/>
                </a:solidFill>
                <a:latin typeface="Times New Roman"/>
              </a:rPr>
              <a:t>Microbiota-related signals</a:t>
            </a:r>
          </a:p>
        </p:txBody>
      </p:sp>
      <p:sp>
        <p:nvSpPr>
          <p:cNvPr id="423" name="Hemodynamics color key"/>
          <p:cNvSpPr/>
          <p:nvPr/>
        </p:nvSpPr>
        <p:spPr>
          <a:xfrm>
            <a:off x="3361500" y="3879900"/>
            <a:ext cx="182250" cy="40"/>
          </a:xfrm>
          <a:custGeom>
            <a:avLst/>
            <a:gdLst/>
            <a:ahLst/>
            <a:cxnLst/>
            <a:rect l="0" t="0" r="r" b="b"/>
            <a:pathLst>
              <a:path w="428625" h="9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9720" cap="rnd">
            <a:solidFill>
              <a:srgbClr val="30485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legend_hemodynamics"/>
          <p:cNvSpPr txBox="1"/>
          <p:nvPr/>
        </p:nvSpPr>
        <p:spPr>
          <a:xfrm>
            <a:off x="3608550" y="3807000"/>
            <a:ext cx="2693250" cy="141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0" i="0">
                <a:solidFill>
                  <a:srgbClr val="30485F"/>
                </a:solidFill>
                <a:latin typeface="Times New Roman"/>
              </a:rPr>
              <a:t>Hemodynamic effects</a:t>
            </a:r>
          </a:p>
        </p:txBody>
      </p:sp>
      <p:sp>
        <p:nvSpPr>
          <p:cNvPr id="425" name="legend_established"/>
          <p:cNvSpPr/>
          <p:nvPr/>
        </p:nvSpPr>
        <p:spPr>
          <a:xfrm>
            <a:off x="186300" y="4066200"/>
            <a:ext cx="182250" cy="40"/>
          </a:xfrm>
          <a:custGeom>
            <a:avLst/>
            <a:gdLst/>
            <a:ahLst/>
            <a:cxnLst/>
            <a:rect l="0" t="0" r="r" b="b"/>
            <a:pathLst>
              <a:path w="428625" h="9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8910" cap="rnd">
            <a:solidFill>
              <a:srgbClr val="30485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legend_established head"/>
          <p:cNvSpPr/>
          <p:nvPr/>
        </p:nvSpPr>
        <p:spPr>
          <a:xfrm>
            <a:off x="328050" y="404959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95250" y="39053"/>
                </a:moveTo>
                <a:lnTo>
                  <a:pt x="0" y="78105"/>
                </a:lnTo>
                <a:lnTo>
                  <a:pt x="0" y="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legend_solid"/>
          <p:cNvSpPr txBox="1"/>
          <p:nvPr/>
        </p:nvSpPr>
        <p:spPr>
          <a:xfrm>
            <a:off x="433350" y="3985200"/>
            <a:ext cx="2442150" cy="174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283B4E"/>
                </a:solidFill>
                <a:latin typeface="Times New Roman"/>
              </a:rPr>
              <a:t>Established afterload relation</a:t>
            </a:r>
          </a:p>
        </p:txBody>
      </p:sp>
      <p:sp>
        <p:nvSpPr>
          <p:cNvPr id="428" name="legend_proposed"/>
          <p:cNvSpPr/>
          <p:nvPr/>
        </p:nvSpPr>
        <p:spPr>
          <a:xfrm>
            <a:off x="3361500" y="4066200"/>
            <a:ext cx="182250" cy="40"/>
          </a:xfrm>
          <a:custGeom>
            <a:avLst/>
            <a:gdLst/>
            <a:ahLst/>
            <a:cxnLst/>
            <a:rect l="0" t="0" r="r" b="b"/>
            <a:pathLst>
              <a:path w="428625" h="9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8910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legend_proposed head"/>
          <p:cNvSpPr/>
          <p:nvPr/>
        </p:nvSpPr>
        <p:spPr>
          <a:xfrm>
            <a:off x="3503250" y="404959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95250" y="39053"/>
                </a:moveTo>
                <a:lnTo>
                  <a:pt x="0" y="78105"/>
                </a:lnTo>
                <a:lnTo>
                  <a:pt x="0" y="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legend_dashed"/>
          <p:cNvSpPr txBox="1"/>
          <p:nvPr/>
        </p:nvSpPr>
        <p:spPr>
          <a:xfrm>
            <a:off x="3608550" y="3973050"/>
            <a:ext cx="2693250" cy="20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283B4E"/>
                </a:solidFill>
                <a:latin typeface="Times New Roman"/>
              </a:rPr>
              <a:t>Proposed PAH link / incomplete pathway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/>
  <PresentationFormat>Custom (180 × 117 mm)</PresentationFormat>
  <Slides>1</Slides>
  <Notes>0</Notes>
  <HiddenSlides>0</HiddenSlides>
  <MMClips>0</MMClip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Gut–pulmonary vascular–right ventricular interactions in PAH</dc:title>
  <dc:subject/>
  <dc:creator/>
  <cp:keywords/>
  <dc:description/>
  <cp:lastModifiedBy/>
  <cp:revision>4</cp:revision>
  <dcterms:created xsi:type="dcterms:W3CDTF">2026-10-18T11:19:24Z</dcterms:created>
  <dcterms:modified xsi:type="dcterms:W3CDTF">2026-10-18T11:19:24Z</dcterms:modified>
  <cp:category/>
  <dc:identifier/>
  <cp:contentStatus/>
  <cp:version/>
</cp:coreProperties>
</file>