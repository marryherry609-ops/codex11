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240000" cy="8572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shly drawn gradient background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gradFill rotWithShape="1">
            <a:gsLst>
              <a:gs pos="0">
                <a:srgbClr val="FFF7EE"/>
              </a:gs>
              <a:gs pos="47000">
                <a:srgbClr val="FCF5EC"/>
              </a:gs>
              <a:gs pos="70000">
                <a:srgbClr val="EDF0F7"/>
              </a:gs>
              <a:gs pos="100000">
                <a:srgbClr val="D3E3FD"/>
              </a:gs>
            </a:gsLst>
            <a:lin ang="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Small bowel backing"/>
          <p:cNvSpPr/>
          <p:nvPr/>
        </p:nvSpPr>
        <p:spPr>
          <a:xfrm>
            <a:off x="485775" y="457200"/>
            <a:ext cx="1143000" cy="1038225"/>
          </a:xfrm>
          <a:custGeom>
            <a:avLst/>
            <a:gdLst/>
            <a:ahLst/>
            <a:cxnLst/>
            <a:rect l="0" t="0" r="r" b="b"/>
            <a:pathLst>
              <a:path w="1143000" h="1038225">
                <a:moveTo>
                  <a:pt x="85725" y="133350"/>
                </a:moveTo>
                <a:cubicBezTo>
                  <a:pt x="228600" y="28575"/>
                  <a:pt x="904875" y="0"/>
                  <a:pt x="1047750" y="190500"/>
                </a:cubicBezTo>
                <a:cubicBezTo>
                  <a:pt x="1143000" y="419100"/>
                  <a:pt x="1057275" y="857250"/>
                  <a:pt x="876300" y="981075"/>
                </a:cubicBezTo>
                <a:cubicBezTo>
                  <a:pt x="695325" y="1038225"/>
                  <a:pt x="276225" y="923925"/>
                  <a:pt x="123825" y="771525"/>
                </a:cubicBezTo>
                <a:cubicBezTo>
                  <a:pt x="0" y="600075"/>
                  <a:pt x="19050" y="295275"/>
                  <a:pt x="85725" y="133350"/>
                </a:cubicBezTo>
                <a:close/>
              </a:path>
            </a:pathLst>
          </a:custGeom>
          <a:gradFill rotWithShape="1">
            <a:gsLst>
              <a:gs pos="0">
                <a:srgbClr val="F8C6B8"/>
              </a:gs>
              <a:gs pos="60000">
                <a:srgbClr val="F1AB9A"/>
              </a:gs>
              <a:gs pos="100000">
                <a:srgbClr val="DA9482"/>
              </a:gs>
            </a:gsLst>
            <a:lin ang="5400000" scaled="1"/>
          </a:gradFill>
          <a:ln w="10477" cap="rnd">
            <a:solidFill>
              <a:srgbClr val="D9907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um"/>
          <p:cNvSpPr/>
          <p:nvPr/>
        </p:nvSpPr>
        <p:spPr>
          <a:xfrm>
            <a:off x="781050" y="1285875"/>
            <a:ext cx="342900" cy="552450"/>
          </a:xfrm>
          <a:custGeom>
            <a:avLst/>
            <a:gdLst/>
            <a:ahLst/>
            <a:cxnLst/>
            <a:rect l="0" t="0" r="r" b="b"/>
            <a:pathLst>
              <a:path w="342900" h="552450">
                <a:moveTo>
                  <a:pt x="123825" y="0"/>
                </a:moveTo>
                <a:cubicBezTo>
                  <a:pt x="0" y="95250"/>
                  <a:pt x="38100" y="219075"/>
                  <a:pt x="85725" y="314325"/>
                </a:cubicBezTo>
                <a:cubicBezTo>
                  <a:pt x="95250" y="390525"/>
                  <a:pt x="85725" y="514350"/>
                  <a:pt x="161925" y="542925"/>
                </a:cubicBezTo>
                <a:cubicBezTo>
                  <a:pt x="238125" y="552450"/>
                  <a:pt x="238125" y="428625"/>
                  <a:pt x="266700" y="352425"/>
                </a:cubicBezTo>
                <a:cubicBezTo>
                  <a:pt x="342900" y="190500"/>
                  <a:pt x="266700" y="85725"/>
                  <a:pt x="323850" y="47625"/>
                </a:cubicBezTo>
                <a:close/>
              </a:path>
            </a:pathLst>
          </a:custGeom>
          <a:gradFill rotWithShape="1">
            <a:gsLst>
              <a:gs pos="0">
                <a:srgbClr val="EEA998"/>
              </a:gs>
              <a:gs pos="45000">
                <a:srgbClr val="F4B9A9"/>
              </a:gs>
              <a:gs pos="100000">
                <a:srgbClr val="DE8E7D"/>
              </a:gs>
            </a:gsLst>
            <a:lin ang="5400000" scaled="1"/>
          </a:gradFill>
          <a:ln w="14287" cap="rnd">
            <a:solidFill>
              <a:srgbClr val="CA7E7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Bowel fold outline 0"/>
          <p:cNvSpPr/>
          <p:nvPr/>
        </p:nvSpPr>
        <p:spPr>
          <a:xfrm>
            <a:off x="628650" y="552450"/>
            <a:ext cx="828675" cy="447675"/>
          </a:xfrm>
          <a:custGeom>
            <a:avLst/>
            <a:gdLst/>
            <a:ahLst/>
            <a:cxnLst/>
            <a:rect l="0" t="0" r="r" b="b"/>
            <a:pathLst>
              <a:path w="828675" h="447675">
                <a:moveTo>
                  <a:pt x="0" y="142875"/>
                </a:moveTo>
                <a:cubicBezTo>
                  <a:pt x="114300" y="28575"/>
                  <a:pt x="247650" y="152400"/>
                  <a:pt x="352425" y="133350"/>
                </a:cubicBezTo>
                <a:cubicBezTo>
                  <a:pt x="447675" y="104775"/>
                  <a:pt x="571500" y="152400"/>
                  <a:pt x="638175" y="76200"/>
                </a:cubicBezTo>
                <a:cubicBezTo>
                  <a:pt x="733425" y="0"/>
                  <a:pt x="828675" y="76200"/>
                  <a:pt x="771525" y="180975"/>
                </a:cubicBezTo>
                <a:cubicBezTo>
                  <a:pt x="685800" y="295275"/>
                  <a:pt x="504825" y="209550"/>
                  <a:pt x="447675" y="314325"/>
                </a:cubicBezTo>
                <a:cubicBezTo>
                  <a:pt x="381000" y="447675"/>
                  <a:pt x="266700" y="400050"/>
                  <a:pt x="180975" y="314325"/>
                </a:cubicBezTo>
              </a:path>
            </a:pathLst>
          </a:custGeom>
          <a:noFill/>
          <a:ln w="133350" cap="rnd">
            <a:solidFill>
              <a:srgbClr val="C77D7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owel fold 0"/>
          <p:cNvSpPr/>
          <p:nvPr/>
        </p:nvSpPr>
        <p:spPr>
          <a:xfrm>
            <a:off x="628650" y="552450"/>
            <a:ext cx="828675" cy="447675"/>
          </a:xfrm>
          <a:custGeom>
            <a:avLst/>
            <a:gdLst/>
            <a:ahLst/>
            <a:cxnLst/>
            <a:rect l="0" t="0" r="r" b="b"/>
            <a:pathLst>
              <a:path w="828675" h="447675">
                <a:moveTo>
                  <a:pt x="0" y="142875"/>
                </a:moveTo>
                <a:cubicBezTo>
                  <a:pt x="114300" y="28575"/>
                  <a:pt x="247650" y="152400"/>
                  <a:pt x="352425" y="133350"/>
                </a:cubicBezTo>
                <a:cubicBezTo>
                  <a:pt x="447675" y="104775"/>
                  <a:pt x="571500" y="152400"/>
                  <a:pt x="638175" y="76200"/>
                </a:cubicBezTo>
                <a:cubicBezTo>
                  <a:pt x="733425" y="0"/>
                  <a:pt x="828675" y="76200"/>
                  <a:pt x="771525" y="180975"/>
                </a:cubicBezTo>
                <a:cubicBezTo>
                  <a:pt x="685800" y="295275"/>
                  <a:pt x="504825" y="209550"/>
                  <a:pt x="447675" y="314325"/>
                </a:cubicBezTo>
                <a:cubicBezTo>
                  <a:pt x="381000" y="447675"/>
                  <a:pt x="266700" y="400050"/>
                  <a:pt x="180975" y="314325"/>
                </a:cubicBezTo>
              </a:path>
            </a:pathLst>
          </a:custGeom>
          <a:noFill/>
          <a:ln w="100012" cap="rnd">
            <a:solidFill>
              <a:srgbClr val="F6B7A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Bowel fold highlight 0"/>
          <p:cNvSpPr/>
          <p:nvPr/>
        </p:nvSpPr>
        <p:spPr>
          <a:xfrm>
            <a:off x="628650" y="552450"/>
            <a:ext cx="828675" cy="447675"/>
          </a:xfrm>
          <a:custGeom>
            <a:avLst/>
            <a:gdLst/>
            <a:ahLst/>
            <a:cxnLst/>
            <a:rect l="0" t="0" r="r" b="b"/>
            <a:pathLst>
              <a:path w="828675" h="447675">
                <a:moveTo>
                  <a:pt x="0" y="142875"/>
                </a:moveTo>
                <a:cubicBezTo>
                  <a:pt x="114300" y="28575"/>
                  <a:pt x="247650" y="152400"/>
                  <a:pt x="352425" y="133350"/>
                </a:cubicBezTo>
                <a:cubicBezTo>
                  <a:pt x="447675" y="104775"/>
                  <a:pt x="571500" y="152400"/>
                  <a:pt x="638175" y="76200"/>
                </a:cubicBezTo>
                <a:cubicBezTo>
                  <a:pt x="733425" y="0"/>
                  <a:pt x="828675" y="76200"/>
                  <a:pt x="771525" y="180975"/>
                </a:cubicBezTo>
                <a:cubicBezTo>
                  <a:pt x="685800" y="295275"/>
                  <a:pt x="504825" y="209550"/>
                  <a:pt x="447675" y="314325"/>
                </a:cubicBezTo>
                <a:cubicBezTo>
                  <a:pt x="381000" y="447675"/>
                  <a:pt x="266700" y="400050"/>
                  <a:pt x="180975" y="314325"/>
                </a:cubicBezTo>
              </a:path>
            </a:pathLst>
          </a:custGeom>
          <a:noFill/>
          <a:ln w="41910" cap="rnd">
            <a:solidFill>
              <a:srgbClr val="FFD0C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Bowel fold outline 1"/>
          <p:cNvSpPr/>
          <p:nvPr/>
        </p:nvSpPr>
        <p:spPr>
          <a:xfrm>
            <a:off x="619125" y="695325"/>
            <a:ext cx="781050" cy="742950"/>
          </a:xfrm>
          <a:custGeom>
            <a:avLst/>
            <a:gdLst/>
            <a:ahLst/>
            <a:cxnLst/>
            <a:rect l="0" t="0" r="r" b="b"/>
            <a:pathLst>
              <a:path w="781050" h="742950">
                <a:moveTo>
                  <a:pt x="95250" y="0"/>
                </a:moveTo>
                <a:cubicBezTo>
                  <a:pt x="9525" y="133350"/>
                  <a:pt x="0" y="314325"/>
                  <a:pt x="123825" y="390525"/>
                </a:cubicBezTo>
                <a:cubicBezTo>
                  <a:pt x="209550" y="438150"/>
                  <a:pt x="295275" y="352425"/>
                  <a:pt x="371475" y="409575"/>
                </a:cubicBezTo>
                <a:cubicBezTo>
                  <a:pt x="466725" y="523875"/>
                  <a:pt x="552450" y="361950"/>
                  <a:pt x="638175" y="428625"/>
                </a:cubicBezTo>
                <a:cubicBezTo>
                  <a:pt x="752475" y="533400"/>
                  <a:pt x="781050" y="628650"/>
                  <a:pt x="647700" y="685800"/>
                </a:cubicBezTo>
                <a:cubicBezTo>
                  <a:pt x="523875" y="742950"/>
                  <a:pt x="371475" y="600075"/>
                  <a:pt x="276225" y="628650"/>
                </a:cubicBezTo>
                <a:cubicBezTo>
                  <a:pt x="152400" y="685800"/>
                  <a:pt x="57150" y="600075"/>
                  <a:pt x="85725" y="495300"/>
                </a:cubicBezTo>
              </a:path>
            </a:pathLst>
          </a:custGeom>
          <a:noFill/>
          <a:ln w="133350" cap="rnd">
            <a:solidFill>
              <a:srgbClr val="C77D7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Bowel fold 1"/>
          <p:cNvSpPr/>
          <p:nvPr/>
        </p:nvSpPr>
        <p:spPr>
          <a:xfrm>
            <a:off x="619125" y="695325"/>
            <a:ext cx="781050" cy="742950"/>
          </a:xfrm>
          <a:custGeom>
            <a:avLst/>
            <a:gdLst/>
            <a:ahLst/>
            <a:cxnLst/>
            <a:rect l="0" t="0" r="r" b="b"/>
            <a:pathLst>
              <a:path w="781050" h="742950">
                <a:moveTo>
                  <a:pt x="95250" y="0"/>
                </a:moveTo>
                <a:cubicBezTo>
                  <a:pt x="9525" y="133350"/>
                  <a:pt x="0" y="314325"/>
                  <a:pt x="123825" y="390525"/>
                </a:cubicBezTo>
                <a:cubicBezTo>
                  <a:pt x="209550" y="438150"/>
                  <a:pt x="295275" y="352425"/>
                  <a:pt x="371475" y="409575"/>
                </a:cubicBezTo>
                <a:cubicBezTo>
                  <a:pt x="466725" y="523875"/>
                  <a:pt x="552450" y="361950"/>
                  <a:pt x="638175" y="428625"/>
                </a:cubicBezTo>
                <a:cubicBezTo>
                  <a:pt x="752475" y="533400"/>
                  <a:pt x="781050" y="628650"/>
                  <a:pt x="647700" y="685800"/>
                </a:cubicBezTo>
                <a:cubicBezTo>
                  <a:pt x="523875" y="742950"/>
                  <a:pt x="371475" y="600075"/>
                  <a:pt x="276225" y="628650"/>
                </a:cubicBezTo>
                <a:cubicBezTo>
                  <a:pt x="152400" y="685800"/>
                  <a:pt x="57150" y="600075"/>
                  <a:pt x="85725" y="495300"/>
                </a:cubicBezTo>
              </a:path>
            </a:pathLst>
          </a:custGeom>
          <a:noFill/>
          <a:ln w="100012" cap="rnd">
            <a:solidFill>
              <a:srgbClr val="F6B7A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Bowel fold highlight 1"/>
          <p:cNvSpPr/>
          <p:nvPr/>
        </p:nvSpPr>
        <p:spPr>
          <a:xfrm>
            <a:off x="619125" y="695325"/>
            <a:ext cx="781050" cy="742950"/>
          </a:xfrm>
          <a:custGeom>
            <a:avLst/>
            <a:gdLst/>
            <a:ahLst/>
            <a:cxnLst/>
            <a:rect l="0" t="0" r="r" b="b"/>
            <a:pathLst>
              <a:path w="781050" h="742950">
                <a:moveTo>
                  <a:pt x="95250" y="0"/>
                </a:moveTo>
                <a:cubicBezTo>
                  <a:pt x="9525" y="133350"/>
                  <a:pt x="0" y="314325"/>
                  <a:pt x="123825" y="390525"/>
                </a:cubicBezTo>
                <a:cubicBezTo>
                  <a:pt x="209550" y="438150"/>
                  <a:pt x="295275" y="352425"/>
                  <a:pt x="371475" y="409575"/>
                </a:cubicBezTo>
                <a:cubicBezTo>
                  <a:pt x="466725" y="523875"/>
                  <a:pt x="552450" y="361950"/>
                  <a:pt x="638175" y="428625"/>
                </a:cubicBezTo>
                <a:cubicBezTo>
                  <a:pt x="752475" y="533400"/>
                  <a:pt x="781050" y="628650"/>
                  <a:pt x="647700" y="685800"/>
                </a:cubicBezTo>
                <a:cubicBezTo>
                  <a:pt x="523875" y="742950"/>
                  <a:pt x="371475" y="600075"/>
                  <a:pt x="276225" y="628650"/>
                </a:cubicBezTo>
                <a:cubicBezTo>
                  <a:pt x="152400" y="685800"/>
                  <a:pt x="57150" y="600075"/>
                  <a:pt x="85725" y="495300"/>
                </a:cubicBezTo>
              </a:path>
            </a:pathLst>
          </a:custGeom>
          <a:noFill/>
          <a:ln w="41910" cap="rnd">
            <a:solidFill>
              <a:srgbClr val="FFD0C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owel fold outline 2"/>
          <p:cNvSpPr/>
          <p:nvPr/>
        </p:nvSpPr>
        <p:spPr>
          <a:xfrm>
            <a:off x="581025" y="752475"/>
            <a:ext cx="781050" cy="457200"/>
          </a:xfrm>
          <a:custGeom>
            <a:avLst/>
            <a:gdLst/>
            <a:ahLst/>
            <a:cxnLst/>
            <a:rect l="0" t="0" r="r" b="b"/>
            <a:pathLst>
              <a:path w="781050" h="457200">
                <a:moveTo>
                  <a:pt x="209550" y="104775"/>
                </a:moveTo>
                <a:cubicBezTo>
                  <a:pt x="333375" y="0"/>
                  <a:pt x="390525" y="161925"/>
                  <a:pt x="533400" y="133350"/>
                </a:cubicBezTo>
                <a:cubicBezTo>
                  <a:pt x="723900" y="85725"/>
                  <a:pt x="781050" y="161925"/>
                  <a:pt x="685800" y="257175"/>
                </a:cubicBezTo>
                <a:cubicBezTo>
                  <a:pt x="581025" y="352425"/>
                  <a:pt x="485775" y="219075"/>
                  <a:pt x="381000" y="285750"/>
                </a:cubicBezTo>
                <a:cubicBezTo>
                  <a:pt x="285750" y="361950"/>
                  <a:pt x="333375" y="447675"/>
                  <a:pt x="209550" y="447675"/>
                </a:cubicBezTo>
                <a:cubicBezTo>
                  <a:pt x="28575" y="457200"/>
                  <a:pt x="0" y="333375"/>
                  <a:pt x="38100" y="219075"/>
                </a:cubicBezTo>
              </a:path>
            </a:pathLst>
          </a:custGeom>
          <a:noFill/>
          <a:ln w="133350" cap="rnd">
            <a:solidFill>
              <a:srgbClr val="C77D7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owel fold 2"/>
          <p:cNvSpPr/>
          <p:nvPr/>
        </p:nvSpPr>
        <p:spPr>
          <a:xfrm>
            <a:off x="581025" y="752475"/>
            <a:ext cx="781050" cy="457200"/>
          </a:xfrm>
          <a:custGeom>
            <a:avLst/>
            <a:gdLst/>
            <a:ahLst/>
            <a:cxnLst/>
            <a:rect l="0" t="0" r="r" b="b"/>
            <a:pathLst>
              <a:path w="781050" h="457200">
                <a:moveTo>
                  <a:pt x="209550" y="104775"/>
                </a:moveTo>
                <a:cubicBezTo>
                  <a:pt x="333375" y="0"/>
                  <a:pt x="390525" y="161925"/>
                  <a:pt x="533400" y="133350"/>
                </a:cubicBezTo>
                <a:cubicBezTo>
                  <a:pt x="723900" y="85725"/>
                  <a:pt x="781050" y="161925"/>
                  <a:pt x="685800" y="257175"/>
                </a:cubicBezTo>
                <a:cubicBezTo>
                  <a:pt x="581025" y="352425"/>
                  <a:pt x="485775" y="219075"/>
                  <a:pt x="381000" y="285750"/>
                </a:cubicBezTo>
                <a:cubicBezTo>
                  <a:pt x="285750" y="361950"/>
                  <a:pt x="333375" y="447675"/>
                  <a:pt x="209550" y="447675"/>
                </a:cubicBezTo>
                <a:cubicBezTo>
                  <a:pt x="28575" y="457200"/>
                  <a:pt x="0" y="333375"/>
                  <a:pt x="38100" y="219075"/>
                </a:cubicBezTo>
              </a:path>
            </a:pathLst>
          </a:custGeom>
          <a:noFill/>
          <a:ln w="100012" cap="rnd">
            <a:solidFill>
              <a:srgbClr val="F6B7A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owel fold highlight 2"/>
          <p:cNvSpPr/>
          <p:nvPr/>
        </p:nvSpPr>
        <p:spPr>
          <a:xfrm>
            <a:off x="581025" y="752475"/>
            <a:ext cx="781050" cy="457200"/>
          </a:xfrm>
          <a:custGeom>
            <a:avLst/>
            <a:gdLst/>
            <a:ahLst/>
            <a:cxnLst/>
            <a:rect l="0" t="0" r="r" b="b"/>
            <a:pathLst>
              <a:path w="781050" h="457200">
                <a:moveTo>
                  <a:pt x="209550" y="104775"/>
                </a:moveTo>
                <a:cubicBezTo>
                  <a:pt x="333375" y="0"/>
                  <a:pt x="390525" y="161925"/>
                  <a:pt x="533400" y="133350"/>
                </a:cubicBezTo>
                <a:cubicBezTo>
                  <a:pt x="723900" y="85725"/>
                  <a:pt x="781050" y="161925"/>
                  <a:pt x="685800" y="257175"/>
                </a:cubicBezTo>
                <a:cubicBezTo>
                  <a:pt x="581025" y="352425"/>
                  <a:pt x="485775" y="219075"/>
                  <a:pt x="381000" y="285750"/>
                </a:cubicBezTo>
                <a:cubicBezTo>
                  <a:pt x="285750" y="361950"/>
                  <a:pt x="333375" y="447675"/>
                  <a:pt x="209550" y="447675"/>
                </a:cubicBezTo>
                <a:cubicBezTo>
                  <a:pt x="28575" y="457200"/>
                  <a:pt x="0" y="333375"/>
                  <a:pt x="38100" y="219075"/>
                </a:cubicBezTo>
              </a:path>
            </a:pathLst>
          </a:custGeom>
          <a:noFill/>
          <a:ln w="41910" cap="rnd">
            <a:solidFill>
              <a:srgbClr val="FFD0C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owel fold outline 3"/>
          <p:cNvSpPr/>
          <p:nvPr/>
        </p:nvSpPr>
        <p:spPr>
          <a:xfrm>
            <a:off x="1362075" y="790575"/>
            <a:ext cx="190500" cy="571500"/>
          </a:xfrm>
          <a:custGeom>
            <a:avLst/>
            <a:gdLst/>
            <a:ahLst/>
            <a:cxnLst/>
            <a:rect l="0" t="0" r="r" b="b"/>
            <a:pathLst>
              <a:path w="190500" h="571500">
                <a:moveTo>
                  <a:pt x="19050" y="0"/>
                </a:moveTo>
                <a:cubicBezTo>
                  <a:pt x="95250" y="123825"/>
                  <a:pt x="19050" y="228600"/>
                  <a:pt x="95250" y="295275"/>
                </a:cubicBezTo>
                <a:cubicBezTo>
                  <a:pt x="190500" y="381000"/>
                  <a:pt x="114300" y="552450"/>
                  <a:pt x="0" y="571500"/>
                </a:cubicBezTo>
              </a:path>
            </a:pathLst>
          </a:custGeom>
          <a:noFill/>
          <a:ln w="133350" cap="rnd">
            <a:solidFill>
              <a:srgbClr val="C77D7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owel fold 3"/>
          <p:cNvSpPr/>
          <p:nvPr/>
        </p:nvSpPr>
        <p:spPr>
          <a:xfrm>
            <a:off x="1362075" y="790575"/>
            <a:ext cx="190500" cy="571500"/>
          </a:xfrm>
          <a:custGeom>
            <a:avLst/>
            <a:gdLst/>
            <a:ahLst/>
            <a:cxnLst/>
            <a:rect l="0" t="0" r="r" b="b"/>
            <a:pathLst>
              <a:path w="190500" h="571500">
                <a:moveTo>
                  <a:pt x="19050" y="0"/>
                </a:moveTo>
                <a:cubicBezTo>
                  <a:pt x="95250" y="123825"/>
                  <a:pt x="19050" y="228600"/>
                  <a:pt x="95250" y="295275"/>
                </a:cubicBezTo>
                <a:cubicBezTo>
                  <a:pt x="190500" y="381000"/>
                  <a:pt x="114300" y="552450"/>
                  <a:pt x="0" y="571500"/>
                </a:cubicBezTo>
              </a:path>
            </a:pathLst>
          </a:custGeom>
          <a:noFill/>
          <a:ln w="100012" cap="rnd">
            <a:solidFill>
              <a:srgbClr val="F6B7A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owel fold highlight 3"/>
          <p:cNvSpPr/>
          <p:nvPr/>
        </p:nvSpPr>
        <p:spPr>
          <a:xfrm>
            <a:off x="1362075" y="790575"/>
            <a:ext cx="190500" cy="571500"/>
          </a:xfrm>
          <a:custGeom>
            <a:avLst/>
            <a:gdLst/>
            <a:ahLst/>
            <a:cxnLst/>
            <a:rect l="0" t="0" r="r" b="b"/>
            <a:pathLst>
              <a:path w="190500" h="571500">
                <a:moveTo>
                  <a:pt x="19050" y="0"/>
                </a:moveTo>
                <a:cubicBezTo>
                  <a:pt x="95250" y="123825"/>
                  <a:pt x="19050" y="228600"/>
                  <a:pt x="95250" y="295275"/>
                </a:cubicBezTo>
                <a:cubicBezTo>
                  <a:pt x="190500" y="381000"/>
                  <a:pt x="114300" y="552450"/>
                  <a:pt x="0" y="571500"/>
                </a:cubicBezTo>
              </a:path>
            </a:pathLst>
          </a:custGeom>
          <a:noFill/>
          <a:ln w="41910" cap="rnd">
            <a:solidFill>
              <a:srgbClr val="FFD0C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arge intestine outer contour"/>
          <p:cNvSpPr/>
          <p:nvPr/>
        </p:nvSpPr>
        <p:spPr>
          <a:xfrm>
            <a:off x="361950" y="247650"/>
            <a:ext cx="1352550" cy="1257300"/>
          </a:xfrm>
          <a:custGeom>
            <a:avLst/>
            <a:gdLst/>
            <a:ahLst/>
            <a:cxnLst/>
            <a:rect l="0" t="0" r="r" b="b"/>
            <a:pathLst>
              <a:path w="1352550" h="1257300">
                <a:moveTo>
                  <a:pt x="104775" y="1009650"/>
                </a:moveTo>
                <a:cubicBezTo>
                  <a:pt x="0" y="952500"/>
                  <a:pt x="38100" y="781050"/>
                  <a:pt x="57150" y="647700"/>
                </a:cubicBezTo>
                <a:cubicBezTo>
                  <a:pt x="85725" y="495300"/>
                  <a:pt x="9525" y="304800"/>
                  <a:pt x="95250" y="114300"/>
                </a:cubicBezTo>
                <a:cubicBezTo>
                  <a:pt x="152400" y="9525"/>
                  <a:pt x="238125" y="85725"/>
                  <a:pt x="342900" y="161925"/>
                </a:cubicBezTo>
                <a:cubicBezTo>
                  <a:pt x="552450" y="295275"/>
                  <a:pt x="771525" y="285750"/>
                  <a:pt x="971550" y="200025"/>
                </a:cubicBezTo>
                <a:cubicBezTo>
                  <a:pt x="1095375" y="142875"/>
                  <a:pt x="1171575" y="0"/>
                  <a:pt x="1247775" y="28575"/>
                </a:cubicBezTo>
                <a:cubicBezTo>
                  <a:pt x="1323975" y="66675"/>
                  <a:pt x="1266825" y="228600"/>
                  <a:pt x="1266825" y="371475"/>
                </a:cubicBezTo>
                <a:cubicBezTo>
                  <a:pt x="1295400" y="552450"/>
                  <a:pt x="1276350" y="676275"/>
                  <a:pt x="1304925" y="809625"/>
                </a:cubicBezTo>
                <a:cubicBezTo>
                  <a:pt x="1352550" y="1057275"/>
                  <a:pt x="1190625" y="1257300"/>
                  <a:pt x="1019175" y="1228725"/>
                </a:cubicBezTo>
                <a:cubicBezTo>
                  <a:pt x="895350" y="1219200"/>
                  <a:pt x="800100" y="1123950"/>
                  <a:pt x="657225" y="1114425"/>
                </a:cubicBezTo>
              </a:path>
            </a:pathLst>
          </a:custGeom>
          <a:noFill/>
          <a:ln w="228600" cap="rnd">
            <a:solidFill>
              <a:srgbClr val="C77C6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Large intestine tube"/>
          <p:cNvSpPr/>
          <p:nvPr/>
        </p:nvSpPr>
        <p:spPr>
          <a:xfrm>
            <a:off x="361950" y="247650"/>
            <a:ext cx="1352550" cy="1257300"/>
          </a:xfrm>
          <a:custGeom>
            <a:avLst/>
            <a:gdLst/>
            <a:ahLst/>
            <a:cxnLst/>
            <a:rect l="0" t="0" r="r" b="b"/>
            <a:pathLst>
              <a:path w="1352550" h="1257300">
                <a:moveTo>
                  <a:pt x="104775" y="1009650"/>
                </a:moveTo>
                <a:cubicBezTo>
                  <a:pt x="0" y="952500"/>
                  <a:pt x="38100" y="781050"/>
                  <a:pt x="57150" y="647700"/>
                </a:cubicBezTo>
                <a:cubicBezTo>
                  <a:pt x="85725" y="495300"/>
                  <a:pt x="9525" y="304800"/>
                  <a:pt x="95250" y="114300"/>
                </a:cubicBezTo>
                <a:cubicBezTo>
                  <a:pt x="152400" y="9525"/>
                  <a:pt x="238125" y="85725"/>
                  <a:pt x="342900" y="161925"/>
                </a:cubicBezTo>
                <a:cubicBezTo>
                  <a:pt x="552450" y="295275"/>
                  <a:pt x="771525" y="285750"/>
                  <a:pt x="971550" y="200025"/>
                </a:cubicBezTo>
                <a:cubicBezTo>
                  <a:pt x="1095375" y="142875"/>
                  <a:pt x="1171575" y="0"/>
                  <a:pt x="1247775" y="28575"/>
                </a:cubicBezTo>
                <a:cubicBezTo>
                  <a:pt x="1323975" y="66675"/>
                  <a:pt x="1266825" y="228600"/>
                  <a:pt x="1266825" y="371475"/>
                </a:cubicBezTo>
                <a:cubicBezTo>
                  <a:pt x="1295400" y="552450"/>
                  <a:pt x="1276350" y="676275"/>
                  <a:pt x="1304925" y="809625"/>
                </a:cubicBezTo>
                <a:cubicBezTo>
                  <a:pt x="1352550" y="1057275"/>
                  <a:pt x="1190625" y="1257300"/>
                  <a:pt x="1019175" y="1228725"/>
                </a:cubicBezTo>
                <a:cubicBezTo>
                  <a:pt x="895350" y="1219200"/>
                  <a:pt x="800100" y="1123950"/>
                  <a:pt x="657225" y="1114425"/>
                </a:cubicBezTo>
              </a:path>
            </a:pathLst>
          </a:custGeom>
          <a:noFill/>
          <a:ln w="190500" cap="rnd">
            <a:solidFill>
              <a:srgbClr val="F4B0A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Large intestine reflected light"/>
          <p:cNvSpPr/>
          <p:nvPr/>
        </p:nvSpPr>
        <p:spPr>
          <a:xfrm>
            <a:off x="361950" y="247650"/>
            <a:ext cx="1352550" cy="1257300"/>
          </a:xfrm>
          <a:custGeom>
            <a:avLst/>
            <a:gdLst/>
            <a:ahLst/>
            <a:cxnLst/>
            <a:rect l="0" t="0" r="r" b="b"/>
            <a:pathLst>
              <a:path w="1352550" h="1257300">
                <a:moveTo>
                  <a:pt x="104775" y="1009650"/>
                </a:moveTo>
                <a:cubicBezTo>
                  <a:pt x="0" y="952500"/>
                  <a:pt x="38100" y="781050"/>
                  <a:pt x="57150" y="647700"/>
                </a:cubicBezTo>
                <a:cubicBezTo>
                  <a:pt x="85725" y="495300"/>
                  <a:pt x="9525" y="304800"/>
                  <a:pt x="95250" y="114300"/>
                </a:cubicBezTo>
                <a:cubicBezTo>
                  <a:pt x="152400" y="9525"/>
                  <a:pt x="238125" y="85725"/>
                  <a:pt x="342900" y="161925"/>
                </a:cubicBezTo>
                <a:cubicBezTo>
                  <a:pt x="552450" y="295275"/>
                  <a:pt x="771525" y="285750"/>
                  <a:pt x="971550" y="200025"/>
                </a:cubicBezTo>
                <a:cubicBezTo>
                  <a:pt x="1095375" y="142875"/>
                  <a:pt x="1171575" y="0"/>
                  <a:pt x="1247775" y="28575"/>
                </a:cubicBezTo>
                <a:cubicBezTo>
                  <a:pt x="1323975" y="66675"/>
                  <a:pt x="1266825" y="228600"/>
                  <a:pt x="1266825" y="371475"/>
                </a:cubicBezTo>
                <a:cubicBezTo>
                  <a:pt x="1295400" y="552450"/>
                  <a:pt x="1276350" y="676275"/>
                  <a:pt x="1304925" y="809625"/>
                </a:cubicBezTo>
                <a:cubicBezTo>
                  <a:pt x="1352550" y="1057275"/>
                  <a:pt x="1190625" y="1257300"/>
                  <a:pt x="1019175" y="1228725"/>
                </a:cubicBezTo>
                <a:cubicBezTo>
                  <a:pt x="895350" y="1219200"/>
                  <a:pt x="800100" y="1123950"/>
                  <a:pt x="657225" y="1114425"/>
                </a:cubicBezTo>
              </a:path>
            </a:pathLst>
          </a:custGeom>
          <a:noFill/>
          <a:ln w="76200" cap="rnd">
            <a:solidFill>
              <a:srgbClr val="F9C3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Colon segment 00"/>
          <p:cNvSpPr/>
          <p:nvPr/>
        </p:nvSpPr>
        <p:spPr>
          <a:xfrm rot="20700000">
            <a:off x="352425" y="1095375"/>
            <a:ext cx="171450" cy="209550"/>
          </a:xfrm>
          <a:prstGeom prst="ellipse">
            <a:avLst/>
          </a:prstGeom>
          <a:gradFill rotWithShape="1">
            <a:gsLst>
              <a:gs pos="0">
                <a:srgbClr val="FFD4C5"/>
              </a:gs>
              <a:gs pos="50000">
                <a:srgbClr val="F4B4A5"/>
              </a:gs>
              <a:gs pos="100000">
                <a:srgbClr val="E99584"/>
              </a:gs>
            </a:gsLst>
            <a:lin ang="1500000" scaled="1"/>
          </a:gradFill>
          <a:ln w="8096">
            <a:solidFill>
              <a:srgbClr val="CF88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Colon segment 01"/>
          <p:cNvSpPr/>
          <p:nvPr/>
        </p:nvSpPr>
        <p:spPr>
          <a:xfrm rot="21300000">
            <a:off x="323850" y="947738"/>
            <a:ext cx="171450" cy="200025"/>
          </a:xfrm>
          <a:prstGeom prst="ellipse">
            <a:avLst/>
          </a:prstGeom>
          <a:gradFill rotWithShape="1">
            <a:gsLst>
              <a:gs pos="0">
                <a:srgbClr val="FFD4C5"/>
              </a:gs>
              <a:gs pos="50000">
                <a:srgbClr val="F4B4A5"/>
              </a:gs>
              <a:gs pos="100000">
                <a:srgbClr val="E99584"/>
              </a:gs>
            </a:gsLst>
            <a:lin ang="1500000" scaled="1"/>
          </a:gradFill>
          <a:ln w="8096">
            <a:solidFill>
              <a:srgbClr val="CF88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Colon segment 02"/>
          <p:cNvSpPr/>
          <p:nvPr/>
        </p:nvSpPr>
        <p:spPr>
          <a:xfrm>
            <a:off x="323850" y="790575"/>
            <a:ext cx="171450" cy="209550"/>
          </a:xfrm>
          <a:prstGeom prst="ellipse">
            <a:avLst/>
          </a:prstGeom>
          <a:gradFill rotWithShape="1">
            <a:gsLst>
              <a:gs pos="0">
                <a:srgbClr val="FFD4C5"/>
              </a:gs>
              <a:gs pos="50000">
                <a:srgbClr val="F4B4A5"/>
              </a:gs>
              <a:gs pos="100000">
                <a:srgbClr val="E99584"/>
              </a:gs>
            </a:gsLst>
            <a:lin ang="1500000" scaled="1"/>
          </a:gradFill>
          <a:ln w="8096">
            <a:solidFill>
              <a:srgbClr val="CF88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Colon segment 03"/>
          <p:cNvSpPr/>
          <p:nvPr/>
        </p:nvSpPr>
        <p:spPr>
          <a:xfrm>
            <a:off x="333375" y="638175"/>
            <a:ext cx="171450" cy="209550"/>
          </a:xfrm>
          <a:prstGeom prst="ellipse">
            <a:avLst/>
          </a:prstGeom>
          <a:gradFill rotWithShape="1">
            <a:gsLst>
              <a:gs pos="0">
                <a:srgbClr val="FFD4C5"/>
              </a:gs>
              <a:gs pos="50000">
                <a:srgbClr val="F4B4A5"/>
              </a:gs>
              <a:gs pos="100000">
                <a:srgbClr val="E99584"/>
              </a:gs>
            </a:gsLst>
            <a:lin ang="1500000" scaled="1"/>
          </a:gradFill>
          <a:ln w="8096">
            <a:solidFill>
              <a:srgbClr val="CF88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Colon segment 04"/>
          <p:cNvSpPr/>
          <p:nvPr/>
        </p:nvSpPr>
        <p:spPr>
          <a:xfrm>
            <a:off x="323850" y="481012"/>
            <a:ext cx="171450" cy="200025"/>
          </a:xfrm>
          <a:prstGeom prst="ellipse">
            <a:avLst/>
          </a:prstGeom>
          <a:gradFill rotWithShape="1">
            <a:gsLst>
              <a:gs pos="0">
                <a:srgbClr val="FFD4C5"/>
              </a:gs>
              <a:gs pos="50000">
                <a:srgbClr val="F4B4A5"/>
              </a:gs>
              <a:gs pos="100000">
                <a:srgbClr val="E99584"/>
              </a:gs>
            </a:gsLst>
            <a:lin ang="1500000" scaled="1"/>
          </a:gradFill>
          <a:ln w="8096">
            <a:solidFill>
              <a:srgbClr val="CF88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Colon segment 05"/>
          <p:cNvSpPr/>
          <p:nvPr/>
        </p:nvSpPr>
        <p:spPr>
          <a:xfrm rot="1200000">
            <a:off x="357188" y="304800"/>
            <a:ext cx="180975" cy="209550"/>
          </a:xfrm>
          <a:prstGeom prst="ellipse">
            <a:avLst/>
          </a:prstGeom>
          <a:gradFill rotWithShape="1">
            <a:gsLst>
              <a:gs pos="0">
                <a:srgbClr val="FFD4C5"/>
              </a:gs>
              <a:gs pos="50000">
                <a:srgbClr val="F4B4A5"/>
              </a:gs>
              <a:gs pos="100000">
                <a:srgbClr val="E99584"/>
              </a:gs>
            </a:gsLst>
            <a:lin ang="1500000" scaled="1"/>
          </a:gradFill>
          <a:ln w="8096">
            <a:solidFill>
              <a:srgbClr val="CF88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Colon segment 06"/>
          <p:cNvSpPr/>
          <p:nvPr/>
        </p:nvSpPr>
        <p:spPr>
          <a:xfrm rot="2160000">
            <a:off x="457200" y="266700"/>
            <a:ext cx="190500" cy="171450"/>
          </a:xfrm>
          <a:prstGeom prst="ellipse">
            <a:avLst/>
          </a:prstGeom>
          <a:gradFill rotWithShape="1">
            <a:gsLst>
              <a:gs pos="0">
                <a:srgbClr val="FFD4C5"/>
              </a:gs>
              <a:gs pos="50000">
                <a:srgbClr val="F4B4A5"/>
              </a:gs>
              <a:gs pos="100000">
                <a:srgbClr val="E99584"/>
              </a:gs>
            </a:gsLst>
            <a:lin ang="1500000" scaled="1"/>
          </a:gradFill>
          <a:ln w="8096">
            <a:solidFill>
              <a:srgbClr val="CF88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Colon segment 07"/>
          <p:cNvSpPr/>
          <p:nvPr/>
        </p:nvSpPr>
        <p:spPr>
          <a:xfrm rot="1680000">
            <a:off x="590550" y="357188"/>
            <a:ext cx="190500" cy="161925"/>
          </a:xfrm>
          <a:prstGeom prst="ellipse">
            <a:avLst/>
          </a:prstGeom>
          <a:gradFill rotWithShape="1">
            <a:gsLst>
              <a:gs pos="0">
                <a:srgbClr val="FFD4C5"/>
              </a:gs>
              <a:gs pos="50000">
                <a:srgbClr val="F4B4A5"/>
              </a:gs>
              <a:gs pos="100000">
                <a:srgbClr val="E99584"/>
              </a:gs>
            </a:gsLst>
            <a:lin ang="1500000" scaled="1"/>
          </a:gradFill>
          <a:ln w="8096">
            <a:solidFill>
              <a:srgbClr val="CF88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Colon segment 08"/>
          <p:cNvSpPr/>
          <p:nvPr/>
        </p:nvSpPr>
        <p:spPr>
          <a:xfrm rot="720000">
            <a:off x="733425" y="414338"/>
            <a:ext cx="190500" cy="161925"/>
          </a:xfrm>
          <a:prstGeom prst="ellipse">
            <a:avLst/>
          </a:prstGeom>
          <a:gradFill rotWithShape="1">
            <a:gsLst>
              <a:gs pos="0">
                <a:srgbClr val="FFD4C5"/>
              </a:gs>
              <a:gs pos="50000">
                <a:srgbClr val="F4B4A5"/>
              </a:gs>
              <a:gs pos="100000">
                <a:srgbClr val="E99584"/>
              </a:gs>
            </a:gsLst>
            <a:lin ang="1500000" scaled="1"/>
          </a:gradFill>
          <a:ln w="8096">
            <a:solidFill>
              <a:srgbClr val="CF88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Colon segment 09"/>
          <p:cNvSpPr/>
          <p:nvPr/>
        </p:nvSpPr>
        <p:spPr>
          <a:xfrm>
            <a:off x="885825" y="423862"/>
            <a:ext cx="190500" cy="161925"/>
          </a:xfrm>
          <a:prstGeom prst="ellipse">
            <a:avLst/>
          </a:prstGeom>
          <a:gradFill rotWithShape="1">
            <a:gsLst>
              <a:gs pos="0">
                <a:srgbClr val="FFD4C5"/>
              </a:gs>
              <a:gs pos="50000">
                <a:srgbClr val="F4B4A5"/>
              </a:gs>
              <a:gs pos="100000">
                <a:srgbClr val="E99584"/>
              </a:gs>
            </a:gsLst>
            <a:lin ang="1500000" scaled="1"/>
          </a:gradFill>
          <a:ln w="8096">
            <a:solidFill>
              <a:srgbClr val="CF88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Colon segment 10"/>
          <p:cNvSpPr/>
          <p:nvPr/>
        </p:nvSpPr>
        <p:spPr>
          <a:xfrm rot="20820000">
            <a:off x="1047750" y="404812"/>
            <a:ext cx="190500" cy="161925"/>
          </a:xfrm>
          <a:prstGeom prst="ellipse">
            <a:avLst/>
          </a:prstGeom>
          <a:gradFill rotWithShape="1">
            <a:gsLst>
              <a:gs pos="0">
                <a:srgbClr val="FFD4C5"/>
              </a:gs>
              <a:gs pos="50000">
                <a:srgbClr val="F4B4A5"/>
              </a:gs>
              <a:gs pos="100000">
                <a:srgbClr val="E99584"/>
              </a:gs>
            </a:gsLst>
            <a:lin ang="1500000" scaled="1"/>
          </a:gradFill>
          <a:ln w="8096">
            <a:solidFill>
              <a:srgbClr val="CF88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Colon segment 11"/>
          <p:cNvSpPr/>
          <p:nvPr/>
        </p:nvSpPr>
        <p:spPr>
          <a:xfrm rot="19980000">
            <a:off x="1200150" y="347662"/>
            <a:ext cx="190500" cy="161925"/>
          </a:xfrm>
          <a:prstGeom prst="ellipse">
            <a:avLst/>
          </a:prstGeom>
          <a:gradFill rotWithShape="1">
            <a:gsLst>
              <a:gs pos="0">
                <a:srgbClr val="FFD4C5"/>
              </a:gs>
              <a:gs pos="50000">
                <a:srgbClr val="F4B4A5"/>
              </a:gs>
              <a:gs pos="100000">
                <a:srgbClr val="E99584"/>
              </a:gs>
            </a:gsLst>
            <a:lin ang="1500000" scaled="1"/>
          </a:gradFill>
          <a:ln w="8096">
            <a:solidFill>
              <a:srgbClr val="CF88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Colon segment 12"/>
          <p:cNvSpPr/>
          <p:nvPr/>
        </p:nvSpPr>
        <p:spPr>
          <a:xfrm rot="19500000">
            <a:off x="1343025" y="242888"/>
            <a:ext cx="190500" cy="161925"/>
          </a:xfrm>
          <a:prstGeom prst="ellipse">
            <a:avLst/>
          </a:prstGeom>
          <a:gradFill rotWithShape="1">
            <a:gsLst>
              <a:gs pos="0">
                <a:srgbClr val="FFD4C5"/>
              </a:gs>
              <a:gs pos="50000">
                <a:srgbClr val="F4B4A5"/>
              </a:gs>
              <a:gs pos="100000">
                <a:srgbClr val="E99584"/>
              </a:gs>
            </a:gsLst>
            <a:lin ang="1500000" scaled="1"/>
          </a:gradFill>
          <a:ln w="8096">
            <a:solidFill>
              <a:srgbClr val="CF88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Colon segment 13"/>
          <p:cNvSpPr/>
          <p:nvPr/>
        </p:nvSpPr>
        <p:spPr>
          <a:xfrm rot="20760000">
            <a:off x="1485900" y="185738"/>
            <a:ext cx="190500" cy="180975"/>
          </a:xfrm>
          <a:prstGeom prst="ellipse">
            <a:avLst/>
          </a:prstGeom>
          <a:gradFill rotWithShape="1">
            <a:gsLst>
              <a:gs pos="0">
                <a:srgbClr val="FFD4C5"/>
              </a:gs>
              <a:gs pos="50000">
                <a:srgbClr val="F4B4A5"/>
              </a:gs>
              <a:gs pos="100000">
                <a:srgbClr val="E99584"/>
              </a:gs>
            </a:gsLst>
            <a:lin ang="1500000" scaled="1"/>
          </a:gradFill>
          <a:ln w="8096">
            <a:solidFill>
              <a:srgbClr val="CF88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Colon segment 14"/>
          <p:cNvSpPr/>
          <p:nvPr/>
        </p:nvSpPr>
        <p:spPr>
          <a:xfrm>
            <a:off x="1476375" y="361950"/>
            <a:ext cx="171450" cy="209550"/>
          </a:xfrm>
          <a:prstGeom prst="ellipse">
            <a:avLst/>
          </a:prstGeom>
          <a:gradFill rotWithShape="1">
            <a:gsLst>
              <a:gs pos="0">
                <a:srgbClr val="FFD4C5"/>
              </a:gs>
              <a:gs pos="50000">
                <a:srgbClr val="F4B4A5"/>
              </a:gs>
              <a:gs pos="100000">
                <a:srgbClr val="E99584"/>
              </a:gs>
            </a:gsLst>
            <a:lin ang="1500000" scaled="1"/>
          </a:gradFill>
          <a:ln w="8096">
            <a:solidFill>
              <a:srgbClr val="CF88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Colon segment 15"/>
          <p:cNvSpPr/>
          <p:nvPr/>
        </p:nvSpPr>
        <p:spPr>
          <a:xfrm rot="21480000">
            <a:off x="1481138" y="533400"/>
            <a:ext cx="180975" cy="209550"/>
          </a:xfrm>
          <a:prstGeom prst="ellipse">
            <a:avLst/>
          </a:prstGeom>
          <a:gradFill rotWithShape="1">
            <a:gsLst>
              <a:gs pos="0">
                <a:srgbClr val="FFD4C5"/>
              </a:gs>
              <a:gs pos="50000">
                <a:srgbClr val="F4B4A5"/>
              </a:gs>
              <a:gs pos="100000">
                <a:srgbClr val="E99584"/>
              </a:gs>
            </a:gsLst>
            <a:lin ang="1500000" scaled="1"/>
          </a:gradFill>
          <a:ln w="8096">
            <a:solidFill>
              <a:srgbClr val="CF88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Colon segment 16"/>
          <p:cNvSpPr/>
          <p:nvPr/>
        </p:nvSpPr>
        <p:spPr>
          <a:xfrm rot="21480000">
            <a:off x="1490662" y="704850"/>
            <a:ext cx="180975" cy="209550"/>
          </a:xfrm>
          <a:prstGeom prst="ellipse">
            <a:avLst/>
          </a:prstGeom>
          <a:gradFill rotWithShape="1">
            <a:gsLst>
              <a:gs pos="0">
                <a:srgbClr val="FFD4C5"/>
              </a:gs>
              <a:gs pos="50000">
                <a:srgbClr val="F4B4A5"/>
              </a:gs>
              <a:gs pos="100000">
                <a:srgbClr val="E99584"/>
              </a:gs>
            </a:gsLst>
            <a:lin ang="1500000" scaled="1"/>
          </a:gradFill>
          <a:ln w="8096">
            <a:solidFill>
              <a:srgbClr val="CF88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Colon segment 17"/>
          <p:cNvSpPr/>
          <p:nvPr/>
        </p:nvSpPr>
        <p:spPr>
          <a:xfrm rot="21480000">
            <a:off x="1500188" y="876300"/>
            <a:ext cx="180975" cy="209550"/>
          </a:xfrm>
          <a:prstGeom prst="ellipse">
            <a:avLst/>
          </a:prstGeom>
          <a:gradFill rotWithShape="1">
            <a:gsLst>
              <a:gs pos="0">
                <a:srgbClr val="FFD4C5"/>
              </a:gs>
              <a:gs pos="50000">
                <a:srgbClr val="F4B4A5"/>
              </a:gs>
              <a:gs pos="100000">
                <a:srgbClr val="E99584"/>
              </a:gs>
            </a:gsLst>
            <a:lin ang="1500000" scaled="1"/>
          </a:gradFill>
          <a:ln w="8096">
            <a:solidFill>
              <a:srgbClr val="CF88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Colon segment 18"/>
          <p:cNvSpPr/>
          <p:nvPr/>
        </p:nvSpPr>
        <p:spPr>
          <a:xfrm rot="840000">
            <a:off x="1490662" y="1047750"/>
            <a:ext cx="180975" cy="209550"/>
          </a:xfrm>
          <a:prstGeom prst="ellipse">
            <a:avLst/>
          </a:prstGeom>
          <a:gradFill rotWithShape="1">
            <a:gsLst>
              <a:gs pos="0">
                <a:srgbClr val="FFD4C5"/>
              </a:gs>
              <a:gs pos="50000">
                <a:srgbClr val="F4B4A5"/>
              </a:gs>
              <a:gs pos="100000">
                <a:srgbClr val="E99584"/>
              </a:gs>
            </a:gsLst>
            <a:lin ang="1500000" scaled="1"/>
          </a:gradFill>
          <a:ln w="8096">
            <a:solidFill>
              <a:srgbClr val="CF88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Colon segment 19"/>
          <p:cNvSpPr/>
          <p:nvPr/>
        </p:nvSpPr>
        <p:spPr>
          <a:xfrm rot="2400000">
            <a:off x="1409700" y="1219200"/>
            <a:ext cx="190500" cy="190500"/>
          </a:xfrm>
          <a:prstGeom prst="ellipse">
            <a:avLst/>
          </a:prstGeom>
          <a:gradFill rotWithShape="1">
            <a:gsLst>
              <a:gs pos="0">
                <a:srgbClr val="FFD4C5"/>
              </a:gs>
              <a:gs pos="50000">
                <a:srgbClr val="F4B4A5"/>
              </a:gs>
              <a:gs pos="100000">
                <a:srgbClr val="E99584"/>
              </a:gs>
            </a:gsLst>
            <a:lin ang="1500000" scaled="1"/>
          </a:gradFill>
          <a:ln w="8096">
            <a:solidFill>
              <a:srgbClr val="CF88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Colon segment 20"/>
          <p:cNvSpPr/>
          <p:nvPr/>
        </p:nvSpPr>
        <p:spPr>
          <a:xfrm rot="1020000">
            <a:off x="1276350" y="1304925"/>
            <a:ext cx="190500" cy="171450"/>
          </a:xfrm>
          <a:prstGeom prst="ellipse">
            <a:avLst/>
          </a:prstGeom>
          <a:gradFill rotWithShape="1">
            <a:gsLst>
              <a:gs pos="0">
                <a:srgbClr val="FFD4C5"/>
              </a:gs>
              <a:gs pos="50000">
                <a:srgbClr val="F4B4A5"/>
              </a:gs>
              <a:gs pos="100000">
                <a:srgbClr val="E99584"/>
              </a:gs>
            </a:gsLst>
            <a:lin ang="1500000" scaled="1"/>
          </a:gradFill>
          <a:ln w="8096">
            <a:solidFill>
              <a:srgbClr val="CF88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Colon segment 21"/>
          <p:cNvSpPr/>
          <p:nvPr/>
        </p:nvSpPr>
        <p:spPr>
          <a:xfrm rot="600000">
            <a:off x="1114425" y="1266825"/>
            <a:ext cx="190500" cy="171450"/>
          </a:xfrm>
          <a:prstGeom prst="ellipse">
            <a:avLst/>
          </a:prstGeom>
          <a:gradFill rotWithShape="1">
            <a:gsLst>
              <a:gs pos="0">
                <a:srgbClr val="FFD4C5"/>
              </a:gs>
              <a:gs pos="50000">
                <a:srgbClr val="F4B4A5"/>
              </a:gs>
              <a:gs pos="100000">
                <a:srgbClr val="E99584"/>
              </a:gs>
            </a:gsLst>
            <a:lin ang="1500000" scaled="1"/>
          </a:gradFill>
          <a:ln w="8096">
            <a:solidFill>
              <a:srgbClr val="CF88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Colon rim highlight"/>
          <p:cNvSpPr/>
          <p:nvPr/>
        </p:nvSpPr>
        <p:spPr>
          <a:xfrm>
            <a:off x="485775" y="295275"/>
            <a:ext cx="1057275" cy="323850"/>
          </a:xfrm>
          <a:custGeom>
            <a:avLst/>
            <a:gdLst/>
            <a:ahLst/>
            <a:cxnLst/>
            <a:rect l="0" t="0" r="r" b="b"/>
            <a:pathLst>
              <a:path w="1057275" h="323850">
                <a:moveTo>
                  <a:pt x="0" y="38100"/>
                </a:moveTo>
                <a:cubicBezTo>
                  <a:pt x="266700" y="304800"/>
                  <a:pt x="714375" y="323850"/>
                  <a:pt x="1057275" y="0"/>
                </a:cubicBezTo>
              </a:path>
            </a:pathLst>
          </a:custGeom>
          <a:noFill/>
          <a:ln w="33337" cap="rnd">
            <a:solidFill>
              <a:srgbClr val="FBD4C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Appendix"/>
          <p:cNvSpPr/>
          <p:nvPr/>
        </p:nvSpPr>
        <p:spPr>
          <a:xfrm>
            <a:off x="552450" y="1333500"/>
            <a:ext cx="85725" cy="142875"/>
          </a:xfrm>
          <a:custGeom>
            <a:avLst/>
            <a:gdLst/>
            <a:ahLst/>
            <a:cxnLst/>
            <a:rect l="0" t="0" r="r" b="b"/>
            <a:pathLst>
              <a:path w="85725" h="142875">
                <a:moveTo>
                  <a:pt x="0" y="0"/>
                </a:moveTo>
                <a:cubicBezTo>
                  <a:pt x="76200" y="47625"/>
                  <a:pt x="76200" y="76200"/>
                  <a:pt x="85725" y="142875"/>
                </a:cubicBezTo>
              </a:path>
            </a:pathLst>
          </a:custGeom>
          <a:noFill/>
          <a:ln w="38100" cap="rnd">
            <a:solidFill>
              <a:srgbClr val="C77D7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Epithelial basal reflected shadow"/>
          <p:cNvSpPr/>
          <p:nvPr/>
        </p:nvSpPr>
        <p:spPr>
          <a:xfrm>
            <a:off x="171450" y="4095750"/>
            <a:ext cx="12125325" cy="142875"/>
          </a:xfrm>
          <a:custGeom>
            <a:avLst/>
            <a:gdLst/>
            <a:ahLst/>
            <a:cxnLst/>
            <a:rect l="0" t="0" r="r" b="b"/>
            <a:pathLst>
              <a:path w="12125325" h="142875">
                <a:moveTo>
                  <a:pt x="85725" y="47625"/>
                </a:moveTo>
                <a:cubicBezTo>
                  <a:pt x="2047875" y="0"/>
                  <a:pt x="5400675" y="47625"/>
                  <a:pt x="7667625" y="38100"/>
                </a:cubicBezTo>
                <a:cubicBezTo>
                  <a:pt x="9782175" y="9525"/>
                  <a:pt x="11210925" y="28575"/>
                  <a:pt x="11982450" y="57150"/>
                </a:cubicBezTo>
                <a:cubicBezTo>
                  <a:pt x="12125325" y="142875"/>
                  <a:pt x="10896600" y="104775"/>
                  <a:pt x="9210675" y="114300"/>
                </a:cubicBezTo>
                <a:lnTo>
                  <a:pt x="285750" y="114300"/>
                </a:lnTo>
                <a:cubicBezTo>
                  <a:pt x="0" y="123825"/>
                  <a:pt x="0" y="85725"/>
                  <a:pt x="85725" y="47625"/>
                </a:cubicBezTo>
                <a:close/>
              </a:path>
            </a:pathLst>
          </a:custGeom>
          <a:solidFill>
            <a:srgbClr val="F0C8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Enterocyte 00"/>
          <p:cNvSpPr/>
          <p:nvPr/>
        </p:nvSpPr>
        <p:spPr>
          <a:xfrm>
            <a:off x="290512" y="2857500"/>
            <a:ext cx="752475" cy="1314450"/>
          </a:xfrm>
          <a:custGeom>
            <a:avLst/>
            <a:gdLst/>
            <a:ahLst/>
            <a:cxnLst/>
            <a:rect l="0" t="0" r="r" b="b"/>
            <a:pathLst>
              <a:path w="752475" h="1314450">
                <a:moveTo>
                  <a:pt x="0" y="0"/>
                </a:moveTo>
                <a:lnTo>
                  <a:pt x="752475" y="0"/>
                </a:lnTo>
                <a:lnTo>
                  <a:pt x="752475" y="1143000"/>
                </a:lnTo>
                <a:cubicBezTo>
                  <a:pt x="752475" y="1276350"/>
                  <a:pt x="704850" y="1314450"/>
                  <a:pt x="600075" y="1314450"/>
                </a:cubicBezTo>
                <a:lnTo>
                  <a:pt x="142875" y="1314450"/>
                </a:lnTo>
                <a:cubicBezTo>
                  <a:pt x="28575" y="1314450"/>
                  <a:pt x="0" y="1266825"/>
                  <a:pt x="0" y="1143000"/>
                </a:cubicBezTo>
                <a:close/>
              </a:path>
            </a:pathLst>
          </a:custGeom>
          <a:gradFill rotWithShape="1">
            <a:gsLst>
              <a:gs pos="0">
                <a:srgbClr val="FFC3B4"/>
              </a:gs>
              <a:gs pos="50000">
                <a:srgbClr val="FFD3C6"/>
              </a:gs>
              <a:gs pos="100000">
                <a:srgbClr val="FAC3B5"/>
              </a:gs>
            </a:gsLst>
            <a:lin ang="5400000" scaled="1"/>
          </a:gradFill>
          <a:ln w="14763" cap="rnd">
            <a:solidFill>
              <a:srgbClr val="E78D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Cell basal highlight 00"/>
          <p:cNvSpPr/>
          <p:nvPr/>
        </p:nvSpPr>
        <p:spPr>
          <a:xfrm>
            <a:off x="338138" y="3857625"/>
            <a:ext cx="666750" cy="276225"/>
          </a:xfrm>
          <a:custGeom>
            <a:avLst/>
            <a:gdLst/>
            <a:ahLst/>
            <a:cxnLst/>
            <a:rect l="0" t="0" r="r" b="b"/>
            <a:pathLst>
              <a:path w="666750" h="276225">
                <a:moveTo>
                  <a:pt x="0" y="0"/>
                </a:moveTo>
                <a:lnTo>
                  <a:pt x="0" y="152400"/>
                </a:lnTo>
                <a:cubicBezTo>
                  <a:pt x="0" y="247650"/>
                  <a:pt x="28575" y="276225"/>
                  <a:pt x="133350" y="276225"/>
                </a:cubicBezTo>
                <a:lnTo>
                  <a:pt x="523875" y="276225"/>
                </a:lnTo>
                <a:cubicBezTo>
                  <a:pt x="638175" y="276225"/>
                  <a:pt x="666750" y="228600"/>
                  <a:pt x="666750" y="123825"/>
                </a:cubicBezTo>
              </a:path>
            </a:pathLst>
          </a:custGeom>
          <a:noFill/>
          <a:ln w="21907" cap="rnd">
            <a:solidFill>
              <a:srgbClr val="FFDED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Enterocyte nucleus 00"/>
          <p:cNvSpPr/>
          <p:nvPr/>
        </p:nvSpPr>
        <p:spPr>
          <a:xfrm>
            <a:off x="542925" y="3638550"/>
            <a:ext cx="247650" cy="361950"/>
          </a:xfrm>
          <a:prstGeom prst="ellipse">
            <a:avLst/>
          </a:prstGeom>
          <a:gradFill rotWithShape="1">
            <a:gsLst>
              <a:gs pos="0">
                <a:srgbClr val="F1B8A5"/>
              </a:gs>
              <a:gs pos="55000">
                <a:srgbClr val="EBA994"/>
              </a:gs>
              <a:gs pos="100000">
                <a:srgbClr val="E8A08A"/>
              </a:gs>
            </a:gsLst>
            <a:lin ang="5400000" scaled="1"/>
          </a:gradFill>
          <a:ln w="10953">
            <a:solidFill>
              <a:srgbClr val="D9877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Enterocyte 01"/>
          <p:cNvSpPr/>
          <p:nvPr/>
        </p:nvSpPr>
        <p:spPr>
          <a:xfrm>
            <a:off x="1052512" y="2857500"/>
            <a:ext cx="752475" cy="1314450"/>
          </a:xfrm>
          <a:custGeom>
            <a:avLst/>
            <a:gdLst/>
            <a:ahLst/>
            <a:cxnLst/>
            <a:rect l="0" t="0" r="r" b="b"/>
            <a:pathLst>
              <a:path w="752475" h="1314450">
                <a:moveTo>
                  <a:pt x="0" y="0"/>
                </a:moveTo>
                <a:lnTo>
                  <a:pt x="752475" y="0"/>
                </a:lnTo>
                <a:lnTo>
                  <a:pt x="752475" y="1143000"/>
                </a:lnTo>
                <a:cubicBezTo>
                  <a:pt x="752475" y="1276350"/>
                  <a:pt x="704850" y="1314450"/>
                  <a:pt x="600075" y="1314450"/>
                </a:cubicBezTo>
                <a:lnTo>
                  <a:pt x="142875" y="1314450"/>
                </a:lnTo>
                <a:cubicBezTo>
                  <a:pt x="28575" y="1314450"/>
                  <a:pt x="0" y="1266825"/>
                  <a:pt x="0" y="1143000"/>
                </a:cubicBezTo>
                <a:close/>
              </a:path>
            </a:pathLst>
          </a:custGeom>
          <a:gradFill rotWithShape="1">
            <a:gsLst>
              <a:gs pos="0">
                <a:srgbClr val="FFC3B4"/>
              </a:gs>
              <a:gs pos="50000">
                <a:srgbClr val="FFD3C6"/>
              </a:gs>
              <a:gs pos="100000">
                <a:srgbClr val="FAC3B5"/>
              </a:gs>
            </a:gsLst>
            <a:lin ang="5400000" scaled="1"/>
          </a:gradFill>
          <a:ln w="14763" cap="rnd">
            <a:solidFill>
              <a:srgbClr val="E78D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Cell basal highlight 01"/>
          <p:cNvSpPr/>
          <p:nvPr/>
        </p:nvSpPr>
        <p:spPr>
          <a:xfrm>
            <a:off x="1100138" y="3857625"/>
            <a:ext cx="666750" cy="276225"/>
          </a:xfrm>
          <a:custGeom>
            <a:avLst/>
            <a:gdLst/>
            <a:ahLst/>
            <a:cxnLst/>
            <a:rect l="0" t="0" r="r" b="b"/>
            <a:pathLst>
              <a:path w="666750" h="276225">
                <a:moveTo>
                  <a:pt x="0" y="0"/>
                </a:moveTo>
                <a:lnTo>
                  <a:pt x="0" y="152400"/>
                </a:lnTo>
                <a:cubicBezTo>
                  <a:pt x="0" y="247650"/>
                  <a:pt x="28575" y="276225"/>
                  <a:pt x="133350" y="276225"/>
                </a:cubicBezTo>
                <a:lnTo>
                  <a:pt x="523875" y="276225"/>
                </a:lnTo>
                <a:cubicBezTo>
                  <a:pt x="638175" y="276225"/>
                  <a:pt x="666750" y="228600"/>
                  <a:pt x="666750" y="123825"/>
                </a:cubicBezTo>
              </a:path>
            </a:pathLst>
          </a:custGeom>
          <a:noFill/>
          <a:ln w="21907" cap="rnd">
            <a:solidFill>
              <a:srgbClr val="FFDED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Enterocyte 02"/>
          <p:cNvSpPr/>
          <p:nvPr/>
        </p:nvSpPr>
        <p:spPr>
          <a:xfrm>
            <a:off x="1814512" y="2857500"/>
            <a:ext cx="657225" cy="1314450"/>
          </a:xfrm>
          <a:custGeom>
            <a:avLst/>
            <a:gdLst/>
            <a:ahLst/>
            <a:cxnLst/>
            <a:rect l="0" t="0" r="r" b="b"/>
            <a:pathLst>
              <a:path w="657225" h="1314450">
                <a:moveTo>
                  <a:pt x="0" y="0"/>
                </a:moveTo>
                <a:lnTo>
                  <a:pt x="657225" y="0"/>
                </a:lnTo>
                <a:lnTo>
                  <a:pt x="657225" y="1143000"/>
                </a:lnTo>
                <a:cubicBezTo>
                  <a:pt x="657225" y="1276350"/>
                  <a:pt x="609600" y="1314450"/>
                  <a:pt x="504825" y="1314450"/>
                </a:cubicBezTo>
                <a:lnTo>
                  <a:pt x="142875" y="1314450"/>
                </a:lnTo>
                <a:cubicBezTo>
                  <a:pt x="28575" y="1314450"/>
                  <a:pt x="0" y="1266825"/>
                  <a:pt x="0" y="1143000"/>
                </a:cubicBezTo>
                <a:close/>
              </a:path>
            </a:pathLst>
          </a:custGeom>
          <a:gradFill rotWithShape="1">
            <a:gsLst>
              <a:gs pos="0">
                <a:srgbClr val="FFC3B4"/>
              </a:gs>
              <a:gs pos="50000">
                <a:srgbClr val="FFD3C6"/>
              </a:gs>
              <a:gs pos="100000">
                <a:srgbClr val="FAC3B5"/>
              </a:gs>
            </a:gsLst>
            <a:lin ang="5400000" scaled="1"/>
          </a:gradFill>
          <a:ln w="14763" cap="rnd">
            <a:solidFill>
              <a:srgbClr val="E78D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Cell basal highlight 02"/>
          <p:cNvSpPr/>
          <p:nvPr/>
        </p:nvSpPr>
        <p:spPr>
          <a:xfrm>
            <a:off x="1862138" y="3857625"/>
            <a:ext cx="571500" cy="276225"/>
          </a:xfrm>
          <a:custGeom>
            <a:avLst/>
            <a:gdLst/>
            <a:ahLst/>
            <a:cxnLst/>
            <a:rect l="0" t="0" r="r" b="b"/>
            <a:pathLst>
              <a:path w="571500" h="276225">
                <a:moveTo>
                  <a:pt x="0" y="0"/>
                </a:moveTo>
                <a:lnTo>
                  <a:pt x="0" y="152400"/>
                </a:lnTo>
                <a:cubicBezTo>
                  <a:pt x="0" y="247650"/>
                  <a:pt x="28575" y="276225"/>
                  <a:pt x="133350" y="276225"/>
                </a:cubicBezTo>
                <a:lnTo>
                  <a:pt x="428625" y="276225"/>
                </a:lnTo>
                <a:cubicBezTo>
                  <a:pt x="542925" y="276225"/>
                  <a:pt x="571500" y="228600"/>
                  <a:pt x="571500" y="123825"/>
                </a:cubicBezTo>
              </a:path>
            </a:pathLst>
          </a:custGeom>
          <a:noFill/>
          <a:ln w="21907" cap="rnd">
            <a:solidFill>
              <a:srgbClr val="FFDED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Enterocyte nucleus 02"/>
          <p:cNvSpPr/>
          <p:nvPr/>
        </p:nvSpPr>
        <p:spPr>
          <a:xfrm>
            <a:off x="2019300" y="3638550"/>
            <a:ext cx="247650" cy="361950"/>
          </a:xfrm>
          <a:prstGeom prst="ellipse">
            <a:avLst/>
          </a:prstGeom>
          <a:gradFill rotWithShape="1">
            <a:gsLst>
              <a:gs pos="0">
                <a:srgbClr val="F1B8A5"/>
              </a:gs>
              <a:gs pos="55000">
                <a:srgbClr val="EBA994"/>
              </a:gs>
              <a:gs pos="100000">
                <a:srgbClr val="E8A08A"/>
              </a:gs>
            </a:gsLst>
            <a:lin ang="5400000" scaled="1"/>
          </a:gradFill>
          <a:ln w="10953">
            <a:solidFill>
              <a:srgbClr val="D9877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Enterocyte 03"/>
          <p:cNvSpPr/>
          <p:nvPr/>
        </p:nvSpPr>
        <p:spPr>
          <a:xfrm>
            <a:off x="2481262" y="2857500"/>
            <a:ext cx="704850" cy="1314450"/>
          </a:xfrm>
          <a:custGeom>
            <a:avLst/>
            <a:gdLst/>
            <a:ahLst/>
            <a:cxnLst/>
            <a:rect l="0" t="0" r="r" b="b"/>
            <a:pathLst>
              <a:path w="704850" h="1314450">
                <a:moveTo>
                  <a:pt x="0" y="0"/>
                </a:moveTo>
                <a:lnTo>
                  <a:pt x="704850" y="0"/>
                </a:lnTo>
                <a:lnTo>
                  <a:pt x="704850" y="1143000"/>
                </a:lnTo>
                <a:cubicBezTo>
                  <a:pt x="704850" y="1276350"/>
                  <a:pt x="657225" y="1314450"/>
                  <a:pt x="552450" y="1314450"/>
                </a:cubicBezTo>
                <a:lnTo>
                  <a:pt x="142875" y="1314450"/>
                </a:lnTo>
                <a:cubicBezTo>
                  <a:pt x="28575" y="1314450"/>
                  <a:pt x="0" y="1266825"/>
                  <a:pt x="0" y="1143000"/>
                </a:cubicBezTo>
                <a:close/>
              </a:path>
            </a:pathLst>
          </a:custGeom>
          <a:gradFill rotWithShape="1">
            <a:gsLst>
              <a:gs pos="0">
                <a:srgbClr val="FFC3B4"/>
              </a:gs>
              <a:gs pos="50000">
                <a:srgbClr val="FFD3C6"/>
              </a:gs>
              <a:gs pos="100000">
                <a:srgbClr val="FAC3B5"/>
              </a:gs>
            </a:gsLst>
            <a:lin ang="5400000" scaled="1"/>
          </a:gradFill>
          <a:ln w="14763" cap="rnd">
            <a:solidFill>
              <a:srgbClr val="E78D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Cell basal highlight 03"/>
          <p:cNvSpPr/>
          <p:nvPr/>
        </p:nvSpPr>
        <p:spPr>
          <a:xfrm>
            <a:off x="2528888" y="3857625"/>
            <a:ext cx="619125" cy="276225"/>
          </a:xfrm>
          <a:custGeom>
            <a:avLst/>
            <a:gdLst/>
            <a:ahLst/>
            <a:cxnLst/>
            <a:rect l="0" t="0" r="r" b="b"/>
            <a:pathLst>
              <a:path w="619125" h="276225">
                <a:moveTo>
                  <a:pt x="0" y="0"/>
                </a:moveTo>
                <a:lnTo>
                  <a:pt x="0" y="152400"/>
                </a:lnTo>
                <a:cubicBezTo>
                  <a:pt x="0" y="247650"/>
                  <a:pt x="28575" y="276225"/>
                  <a:pt x="133350" y="276225"/>
                </a:cubicBezTo>
                <a:lnTo>
                  <a:pt x="476250" y="276225"/>
                </a:lnTo>
                <a:cubicBezTo>
                  <a:pt x="590550" y="276225"/>
                  <a:pt x="619125" y="228600"/>
                  <a:pt x="619125" y="123825"/>
                </a:cubicBezTo>
              </a:path>
            </a:pathLst>
          </a:custGeom>
          <a:noFill/>
          <a:ln w="21907" cap="rnd">
            <a:solidFill>
              <a:srgbClr val="FFDED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Enterocyte nucleus 03"/>
          <p:cNvSpPr/>
          <p:nvPr/>
        </p:nvSpPr>
        <p:spPr>
          <a:xfrm>
            <a:off x="2709862" y="3638550"/>
            <a:ext cx="247650" cy="361950"/>
          </a:xfrm>
          <a:prstGeom prst="ellipse">
            <a:avLst/>
          </a:prstGeom>
          <a:gradFill rotWithShape="1">
            <a:gsLst>
              <a:gs pos="0">
                <a:srgbClr val="F1B8A5"/>
              </a:gs>
              <a:gs pos="55000">
                <a:srgbClr val="EBA994"/>
              </a:gs>
              <a:gs pos="100000">
                <a:srgbClr val="E8A08A"/>
              </a:gs>
            </a:gsLst>
            <a:lin ang="5400000" scaled="1"/>
          </a:gradFill>
          <a:ln w="10953">
            <a:solidFill>
              <a:srgbClr val="D9877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Enterocyte 04"/>
          <p:cNvSpPr/>
          <p:nvPr/>
        </p:nvSpPr>
        <p:spPr>
          <a:xfrm>
            <a:off x="3195638" y="2857500"/>
            <a:ext cx="704850" cy="1314450"/>
          </a:xfrm>
          <a:custGeom>
            <a:avLst/>
            <a:gdLst/>
            <a:ahLst/>
            <a:cxnLst/>
            <a:rect l="0" t="0" r="r" b="b"/>
            <a:pathLst>
              <a:path w="704850" h="1314450">
                <a:moveTo>
                  <a:pt x="0" y="0"/>
                </a:moveTo>
                <a:lnTo>
                  <a:pt x="704850" y="0"/>
                </a:lnTo>
                <a:lnTo>
                  <a:pt x="704850" y="1143000"/>
                </a:lnTo>
                <a:cubicBezTo>
                  <a:pt x="704850" y="1276350"/>
                  <a:pt x="657225" y="1314450"/>
                  <a:pt x="552450" y="1314450"/>
                </a:cubicBezTo>
                <a:lnTo>
                  <a:pt x="142875" y="1314450"/>
                </a:lnTo>
                <a:cubicBezTo>
                  <a:pt x="28575" y="1314450"/>
                  <a:pt x="0" y="1266825"/>
                  <a:pt x="0" y="1143000"/>
                </a:cubicBezTo>
                <a:close/>
              </a:path>
            </a:pathLst>
          </a:custGeom>
          <a:gradFill rotWithShape="1">
            <a:gsLst>
              <a:gs pos="0">
                <a:srgbClr val="FFC3B4"/>
              </a:gs>
              <a:gs pos="50000">
                <a:srgbClr val="FFD3C6"/>
              </a:gs>
              <a:gs pos="100000">
                <a:srgbClr val="FAC3B5"/>
              </a:gs>
            </a:gsLst>
            <a:lin ang="5400000" scaled="1"/>
          </a:gradFill>
          <a:ln w="14763" cap="rnd">
            <a:solidFill>
              <a:srgbClr val="E78D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Cell basal highlight 04"/>
          <p:cNvSpPr/>
          <p:nvPr/>
        </p:nvSpPr>
        <p:spPr>
          <a:xfrm>
            <a:off x="3243262" y="3857625"/>
            <a:ext cx="619125" cy="276225"/>
          </a:xfrm>
          <a:custGeom>
            <a:avLst/>
            <a:gdLst/>
            <a:ahLst/>
            <a:cxnLst/>
            <a:rect l="0" t="0" r="r" b="b"/>
            <a:pathLst>
              <a:path w="619125" h="276225">
                <a:moveTo>
                  <a:pt x="0" y="0"/>
                </a:moveTo>
                <a:lnTo>
                  <a:pt x="0" y="152400"/>
                </a:lnTo>
                <a:cubicBezTo>
                  <a:pt x="0" y="247650"/>
                  <a:pt x="28575" y="276225"/>
                  <a:pt x="133350" y="276225"/>
                </a:cubicBezTo>
                <a:lnTo>
                  <a:pt x="476250" y="276225"/>
                </a:lnTo>
                <a:cubicBezTo>
                  <a:pt x="590550" y="276225"/>
                  <a:pt x="619125" y="228600"/>
                  <a:pt x="619125" y="123825"/>
                </a:cubicBezTo>
              </a:path>
            </a:pathLst>
          </a:custGeom>
          <a:noFill/>
          <a:ln w="21907" cap="rnd">
            <a:solidFill>
              <a:srgbClr val="FFDED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Enterocyte nucleus 04"/>
          <p:cNvSpPr/>
          <p:nvPr/>
        </p:nvSpPr>
        <p:spPr>
          <a:xfrm>
            <a:off x="3424238" y="3638550"/>
            <a:ext cx="247650" cy="361950"/>
          </a:xfrm>
          <a:prstGeom prst="ellipse">
            <a:avLst/>
          </a:prstGeom>
          <a:gradFill rotWithShape="1">
            <a:gsLst>
              <a:gs pos="0">
                <a:srgbClr val="F1B8A5"/>
              </a:gs>
              <a:gs pos="55000">
                <a:srgbClr val="EBA994"/>
              </a:gs>
              <a:gs pos="100000">
                <a:srgbClr val="E8A08A"/>
              </a:gs>
            </a:gsLst>
            <a:lin ang="5400000" scaled="1"/>
          </a:gradFill>
          <a:ln w="10953">
            <a:solidFill>
              <a:srgbClr val="D9877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Enterocyte 05"/>
          <p:cNvSpPr/>
          <p:nvPr/>
        </p:nvSpPr>
        <p:spPr>
          <a:xfrm>
            <a:off x="3910012" y="2857500"/>
            <a:ext cx="704850" cy="1314450"/>
          </a:xfrm>
          <a:custGeom>
            <a:avLst/>
            <a:gdLst/>
            <a:ahLst/>
            <a:cxnLst/>
            <a:rect l="0" t="0" r="r" b="b"/>
            <a:pathLst>
              <a:path w="704850" h="1314450">
                <a:moveTo>
                  <a:pt x="0" y="0"/>
                </a:moveTo>
                <a:lnTo>
                  <a:pt x="704850" y="0"/>
                </a:lnTo>
                <a:lnTo>
                  <a:pt x="704850" y="1143000"/>
                </a:lnTo>
                <a:cubicBezTo>
                  <a:pt x="704850" y="1276350"/>
                  <a:pt x="657225" y="1314450"/>
                  <a:pt x="552450" y="1314450"/>
                </a:cubicBezTo>
                <a:lnTo>
                  <a:pt x="142875" y="1314450"/>
                </a:lnTo>
                <a:cubicBezTo>
                  <a:pt x="28575" y="1314450"/>
                  <a:pt x="0" y="1266825"/>
                  <a:pt x="0" y="1143000"/>
                </a:cubicBezTo>
                <a:close/>
              </a:path>
            </a:pathLst>
          </a:custGeom>
          <a:gradFill rotWithShape="1">
            <a:gsLst>
              <a:gs pos="0">
                <a:srgbClr val="FFC3B4"/>
              </a:gs>
              <a:gs pos="50000">
                <a:srgbClr val="FFD3C6"/>
              </a:gs>
              <a:gs pos="100000">
                <a:srgbClr val="FAC3B5"/>
              </a:gs>
            </a:gsLst>
            <a:lin ang="5400000" scaled="1"/>
          </a:gradFill>
          <a:ln w="14763" cap="rnd">
            <a:solidFill>
              <a:srgbClr val="E78D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Cell basal highlight 05"/>
          <p:cNvSpPr/>
          <p:nvPr/>
        </p:nvSpPr>
        <p:spPr>
          <a:xfrm>
            <a:off x="3957638" y="3857625"/>
            <a:ext cx="619125" cy="276225"/>
          </a:xfrm>
          <a:custGeom>
            <a:avLst/>
            <a:gdLst/>
            <a:ahLst/>
            <a:cxnLst/>
            <a:rect l="0" t="0" r="r" b="b"/>
            <a:pathLst>
              <a:path w="619125" h="276225">
                <a:moveTo>
                  <a:pt x="0" y="0"/>
                </a:moveTo>
                <a:lnTo>
                  <a:pt x="0" y="152400"/>
                </a:lnTo>
                <a:cubicBezTo>
                  <a:pt x="0" y="247650"/>
                  <a:pt x="28575" y="276225"/>
                  <a:pt x="133350" y="276225"/>
                </a:cubicBezTo>
                <a:lnTo>
                  <a:pt x="476250" y="276225"/>
                </a:lnTo>
                <a:cubicBezTo>
                  <a:pt x="590550" y="276225"/>
                  <a:pt x="619125" y="228600"/>
                  <a:pt x="619125" y="123825"/>
                </a:cubicBezTo>
              </a:path>
            </a:pathLst>
          </a:custGeom>
          <a:noFill/>
          <a:ln w="21907" cap="rnd">
            <a:solidFill>
              <a:srgbClr val="FFDED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Enterocyte nucleus 05"/>
          <p:cNvSpPr/>
          <p:nvPr/>
        </p:nvSpPr>
        <p:spPr>
          <a:xfrm>
            <a:off x="4138612" y="3638550"/>
            <a:ext cx="247650" cy="361950"/>
          </a:xfrm>
          <a:prstGeom prst="ellipse">
            <a:avLst/>
          </a:prstGeom>
          <a:gradFill rotWithShape="1">
            <a:gsLst>
              <a:gs pos="0">
                <a:srgbClr val="F1B8A5"/>
              </a:gs>
              <a:gs pos="55000">
                <a:srgbClr val="EBA994"/>
              </a:gs>
              <a:gs pos="100000">
                <a:srgbClr val="E8A08A"/>
              </a:gs>
            </a:gsLst>
            <a:lin ang="5400000" scaled="1"/>
          </a:gradFill>
          <a:ln w="10953">
            <a:solidFill>
              <a:srgbClr val="D9877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Enterocyte 06"/>
          <p:cNvSpPr/>
          <p:nvPr/>
        </p:nvSpPr>
        <p:spPr>
          <a:xfrm>
            <a:off x="4624388" y="2857500"/>
            <a:ext cx="704850" cy="1314450"/>
          </a:xfrm>
          <a:custGeom>
            <a:avLst/>
            <a:gdLst/>
            <a:ahLst/>
            <a:cxnLst/>
            <a:rect l="0" t="0" r="r" b="b"/>
            <a:pathLst>
              <a:path w="704850" h="1314450">
                <a:moveTo>
                  <a:pt x="0" y="0"/>
                </a:moveTo>
                <a:lnTo>
                  <a:pt x="704850" y="0"/>
                </a:lnTo>
                <a:lnTo>
                  <a:pt x="704850" y="1143000"/>
                </a:lnTo>
                <a:cubicBezTo>
                  <a:pt x="704850" y="1276350"/>
                  <a:pt x="657225" y="1314450"/>
                  <a:pt x="552450" y="1314450"/>
                </a:cubicBezTo>
                <a:lnTo>
                  <a:pt x="142875" y="1314450"/>
                </a:lnTo>
                <a:cubicBezTo>
                  <a:pt x="28575" y="1314450"/>
                  <a:pt x="0" y="1266825"/>
                  <a:pt x="0" y="1143000"/>
                </a:cubicBezTo>
                <a:close/>
              </a:path>
            </a:pathLst>
          </a:custGeom>
          <a:gradFill rotWithShape="1">
            <a:gsLst>
              <a:gs pos="0">
                <a:srgbClr val="FFC3B4"/>
              </a:gs>
              <a:gs pos="50000">
                <a:srgbClr val="FFD3C6"/>
              </a:gs>
              <a:gs pos="100000">
                <a:srgbClr val="FAC3B5"/>
              </a:gs>
            </a:gsLst>
            <a:lin ang="5400000" scaled="1"/>
          </a:gradFill>
          <a:ln w="14763" cap="rnd">
            <a:solidFill>
              <a:srgbClr val="E78D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Cell basal highlight 06"/>
          <p:cNvSpPr/>
          <p:nvPr/>
        </p:nvSpPr>
        <p:spPr>
          <a:xfrm>
            <a:off x="4672012" y="3857625"/>
            <a:ext cx="619125" cy="276225"/>
          </a:xfrm>
          <a:custGeom>
            <a:avLst/>
            <a:gdLst/>
            <a:ahLst/>
            <a:cxnLst/>
            <a:rect l="0" t="0" r="r" b="b"/>
            <a:pathLst>
              <a:path w="619125" h="276225">
                <a:moveTo>
                  <a:pt x="0" y="0"/>
                </a:moveTo>
                <a:lnTo>
                  <a:pt x="0" y="152400"/>
                </a:lnTo>
                <a:cubicBezTo>
                  <a:pt x="0" y="247650"/>
                  <a:pt x="28575" y="276225"/>
                  <a:pt x="133350" y="276225"/>
                </a:cubicBezTo>
                <a:lnTo>
                  <a:pt x="476250" y="276225"/>
                </a:lnTo>
                <a:cubicBezTo>
                  <a:pt x="590550" y="276225"/>
                  <a:pt x="619125" y="228600"/>
                  <a:pt x="619125" y="123825"/>
                </a:cubicBezTo>
              </a:path>
            </a:pathLst>
          </a:custGeom>
          <a:noFill/>
          <a:ln w="21907" cap="rnd">
            <a:solidFill>
              <a:srgbClr val="FFDED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Enterocyte nucleus 06"/>
          <p:cNvSpPr/>
          <p:nvPr/>
        </p:nvSpPr>
        <p:spPr>
          <a:xfrm>
            <a:off x="4852988" y="3638550"/>
            <a:ext cx="247650" cy="361950"/>
          </a:xfrm>
          <a:prstGeom prst="ellipse">
            <a:avLst/>
          </a:prstGeom>
          <a:gradFill rotWithShape="1">
            <a:gsLst>
              <a:gs pos="0">
                <a:srgbClr val="F1B8A5"/>
              </a:gs>
              <a:gs pos="55000">
                <a:srgbClr val="EBA994"/>
              </a:gs>
              <a:gs pos="100000">
                <a:srgbClr val="E8A08A"/>
              </a:gs>
            </a:gsLst>
            <a:lin ang="5400000" scaled="1"/>
          </a:gradFill>
          <a:ln w="10953">
            <a:solidFill>
              <a:srgbClr val="D9877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Enterocyte 07"/>
          <p:cNvSpPr/>
          <p:nvPr/>
        </p:nvSpPr>
        <p:spPr>
          <a:xfrm>
            <a:off x="5338762" y="2857500"/>
            <a:ext cx="704850" cy="1314450"/>
          </a:xfrm>
          <a:custGeom>
            <a:avLst/>
            <a:gdLst/>
            <a:ahLst/>
            <a:cxnLst/>
            <a:rect l="0" t="0" r="r" b="b"/>
            <a:pathLst>
              <a:path w="704850" h="1314450">
                <a:moveTo>
                  <a:pt x="0" y="0"/>
                </a:moveTo>
                <a:lnTo>
                  <a:pt x="704850" y="0"/>
                </a:lnTo>
                <a:lnTo>
                  <a:pt x="704850" y="1143000"/>
                </a:lnTo>
                <a:cubicBezTo>
                  <a:pt x="704850" y="1276350"/>
                  <a:pt x="657225" y="1314450"/>
                  <a:pt x="552450" y="1314450"/>
                </a:cubicBezTo>
                <a:lnTo>
                  <a:pt x="142875" y="1314450"/>
                </a:lnTo>
                <a:cubicBezTo>
                  <a:pt x="28575" y="1314450"/>
                  <a:pt x="0" y="1266825"/>
                  <a:pt x="0" y="1143000"/>
                </a:cubicBezTo>
                <a:close/>
              </a:path>
            </a:pathLst>
          </a:custGeom>
          <a:gradFill rotWithShape="1">
            <a:gsLst>
              <a:gs pos="0">
                <a:srgbClr val="FFC3B4"/>
              </a:gs>
              <a:gs pos="50000">
                <a:srgbClr val="FFD3C6"/>
              </a:gs>
              <a:gs pos="100000">
                <a:srgbClr val="FAC3B5"/>
              </a:gs>
            </a:gsLst>
            <a:lin ang="5400000" scaled="1"/>
          </a:gradFill>
          <a:ln w="14763" cap="rnd">
            <a:solidFill>
              <a:srgbClr val="E78D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Cell basal highlight 07"/>
          <p:cNvSpPr/>
          <p:nvPr/>
        </p:nvSpPr>
        <p:spPr>
          <a:xfrm>
            <a:off x="5386388" y="3857625"/>
            <a:ext cx="619125" cy="276225"/>
          </a:xfrm>
          <a:custGeom>
            <a:avLst/>
            <a:gdLst/>
            <a:ahLst/>
            <a:cxnLst/>
            <a:rect l="0" t="0" r="r" b="b"/>
            <a:pathLst>
              <a:path w="619125" h="276225">
                <a:moveTo>
                  <a:pt x="0" y="0"/>
                </a:moveTo>
                <a:lnTo>
                  <a:pt x="0" y="152400"/>
                </a:lnTo>
                <a:cubicBezTo>
                  <a:pt x="0" y="247650"/>
                  <a:pt x="28575" y="276225"/>
                  <a:pt x="133350" y="276225"/>
                </a:cubicBezTo>
                <a:lnTo>
                  <a:pt x="476250" y="276225"/>
                </a:lnTo>
                <a:cubicBezTo>
                  <a:pt x="590550" y="276225"/>
                  <a:pt x="619125" y="228600"/>
                  <a:pt x="619125" y="123825"/>
                </a:cubicBezTo>
              </a:path>
            </a:pathLst>
          </a:custGeom>
          <a:noFill/>
          <a:ln w="21907" cap="rnd">
            <a:solidFill>
              <a:srgbClr val="FFDED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Enterocyte nucleus 07"/>
          <p:cNvSpPr/>
          <p:nvPr/>
        </p:nvSpPr>
        <p:spPr>
          <a:xfrm>
            <a:off x="5567362" y="3638550"/>
            <a:ext cx="247650" cy="361950"/>
          </a:xfrm>
          <a:prstGeom prst="ellipse">
            <a:avLst/>
          </a:prstGeom>
          <a:gradFill rotWithShape="1">
            <a:gsLst>
              <a:gs pos="0">
                <a:srgbClr val="F1B8A5"/>
              </a:gs>
              <a:gs pos="55000">
                <a:srgbClr val="EBA994"/>
              </a:gs>
              <a:gs pos="100000">
                <a:srgbClr val="E8A08A"/>
              </a:gs>
            </a:gsLst>
            <a:lin ang="5400000" scaled="1"/>
          </a:gradFill>
          <a:ln w="10953">
            <a:solidFill>
              <a:srgbClr val="D9877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Enterocyte 08"/>
          <p:cNvSpPr/>
          <p:nvPr/>
        </p:nvSpPr>
        <p:spPr>
          <a:xfrm>
            <a:off x="6053138" y="2857500"/>
            <a:ext cx="704850" cy="1314450"/>
          </a:xfrm>
          <a:custGeom>
            <a:avLst/>
            <a:gdLst/>
            <a:ahLst/>
            <a:cxnLst/>
            <a:rect l="0" t="0" r="r" b="b"/>
            <a:pathLst>
              <a:path w="704850" h="1314450">
                <a:moveTo>
                  <a:pt x="0" y="0"/>
                </a:moveTo>
                <a:lnTo>
                  <a:pt x="704850" y="0"/>
                </a:lnTo>
                <a:lnTo>
                  <a:pt x="704850" y="1143000"/>
                </a:lnTo>
                <a:cubicBezTo>
                  <a:pt x="704850" y="1276350"/>
                  <a:pt x="657225" y="1314450"/>
                  <a:pt x="552450" y="1314450"/>
                </a:cubicBezTo>
                <a:lnTo>
                  <a:pt x="142875" y="1314450"/>
                </a:lnTo>
                <a:cubicBezTo>
                  <a:pt x="28575" y="1314450"/>
                  <a:pt x="0" y="1266825"/>
                  <a:pt x="0" y="1143000"/>
                </a:cubicBezTo>
                <a:close/>
              </a:path>
            </a:pathLst>
          </a:custGeom>
          <a:gradFill rotWithShape="1">
            <a:gsLst>
              <a:gs pos="0">
                <a:srgbClr val="FFC3B4"/>
              </a:gs>
              <a:gs pos="50000">
                <a:srgbClr val="FFD3C6"/>
              </a:gs>
              <a:gs pos="100000">
                <a:srgbClr val="FAC3B5"/>
              </a:gs>
            </a:gsLst>
            <a:lin ang="5400000" scaled="1"/>
          </a:gradFill>
          <a:ln w="14763" cap="rnd">
            <a:solidFill>
              <a:srgbClr val="E78D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Cell basal highlight 08"/>
          <p:cNvSpPr/>
          <p:nvPr/>
        </p:nvSpPr>
        <p:spPr>
          <a:xfrm>
            <a:off x="6100762" y="3857625"/>
            <a:ext cx="619125" cy="276225"/>
          </a:xfrm>
          <a:custGeom>
            <a:avLst/>
            <a:gdLst/>
            <a:ahLst/>
            <a:cxnLst/>
            <a:rect l="0" t="0" r="r" b="b"/>
            <a:pathLst>
              <a:path w="619125" h="276225">
                <a:moveTo>
                  <a:pt x="0" y="0"/>
                </a:moveTo>
                <a:lnTo>
                  <a:pt x="0" y="152400"/>
                </a:lnTo>
                <a:cubicBezTo>
                  <a:pt x="0" y="247650"/>
                  <a:pt x="28575" y="276225"/>
                  <a:pt x="133350" y="276225"/>
                </a:cubicBezTo>
                <a:lnTo>
                  <a:pt x="476250" y="276225"/>
                </a:lnTo>
                <a:cubicBezTo>
                  <a:pt x="590550" y="276225"/>
                  <a:pt x="619125" y="228600"/>
                  <a:pt x="619125" y="123825"/>
                </a:cubicBezTo>
              </a:path>
            </a:pathLst>
          </a:custGeom>
          <a:noFill/>
          <a:ln w="21907" cap="rnd">
            <a:solidFill>
              <a:srgbClr val="FFDED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Enterocyte nucleus 08"/>
          <p:cNvSpPr/>
          <p:nvPr/>
        </p:nvSpPr>
        <p:spPr>
          <a:xfrm>
            <a:off x="6281738" y="3638550"/>
            <a:ext cx="247650" cy="361950"/>
          </a:xfrm>
          <a:prstGeom prst="ellipse">
            <a:avLst/>
          </a:prstGeom>
          <a:gradFill rotWithShape="1">
            <a:gsLst>
              <a:gs pos="0">
                <a:srgbClr val="F1B8A5"/>
              </a:gs>
              <a:gs pos="55000">
                <a:srgbClr val="EBA994"/>
              </a:gs>
              <a:gs pos="100000">
                <a:srgbClr val="E8A08A"/>
              </a:gs>
            </a:gsLst>
            <a:lin ang="5400000" scaled="1"/>
          </a:gradFill>
          <a:ln w="10953">
            <a:solidFill>
              <a:srgbClr val="D9877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Enterocyte 09"/>
          <p:cNvSpPr/>
          <p:nvPr/>
        </p:nvSpPr>
        <p:spPr>
          <a:xfrm>
            <a:off x="6767512" y="2857500"/>
            <a:ext cx="762000" cy="1314450"/>
          </a:xfrm>
          <a:custGeom>
            <a:avLst/>
            <a:gdLst/>
            <a:ahLst/>
            <a:cxnLst/>
            <a:rect l="0" t="0" r="r" b="b"/>
            <a:pathLst>
              <a:path w="762000" h="1314450">
                <a:moveTo>
                  <a:pt x="0" y="0"/>
                </a:moveTo>
                <a:lnTo>
                  <a:pt x="762000" y="0"/>
                </a:lnTo>
                <a:lnTo>
                  <a:pt x="762000" y="1143000"/>
                </a:lnTo>
                <a:cubicBezTo>
                  <a:pt x="762000" y="1276350"/>
                  <a:pt x="714375" y="1314450"/>
                  <a:pt x="609600" y="1314450"/>
                </a:cubicBezTo>
                <a:lnTo>
                  <a:pt x="142875" y="1314450"/>
                </a:lnTo>
                <a:cubicBezTo>
                  <a:pt x="28575" y="1314450"/>
                  <a:pt x="0" y="1266825"/>
                  <a:pt x="0" y="1143000"/>
                </a:cubicBezTo>
                <a:close/>
              </a:path>
            </a:pathLst>
          </a:custGeom>
          <a:gradFill rotWithShape="1">
            <a:gsLst>
              <a:gs pos="0">
                <a:srgbClr val="FFC3B4"/>
              </a:gs>
              <a:gs pos="50000">
                <a:srgbClr val="FFD3C6"/>
              </a:gs>
              <a:gs pos="100000">
                <a:srgbClr val="FAC3B5"/>
              </a:gs>
            </a:gsLst>
            <a:lin ang="5400000" scaled="1"/>
          </a:gradFill>
          <a:ln w="14763" cap="rnd">
            <a:solidFill>
              <a:srgbClr val="E78D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Cell basal highlight 09"/>
          <p:cNvSpPr/>
          <p:nvPr/>
        </p:nvSpPr>
        <p:spPr>
          <a:xfrm>
            <a:off x="6815138" y="3857625"/>
            <a:ext cx="676275" cy="276225"/>
          </a:xfrm>
          <a:custGeom>
            <a:avLst/>
            <a:gdLst/>
            <a:ahLst/>
            <a:cxnLst/>
            <a:rect l="0" t="0" r="r" b="b"/>
            <a:pathLst>
              <a:path w="676275" h="276225">
                <a:moveTo>
                  <a:pt x="0" y="0"/>
                </a:moveTo>
                <a:lnTo>
                  <a:pt x="0" y="152400"/>
                </a:lnTo>
                <a:cubicBezTo>
                  <a:pt x="0" y="247650"/>
                  <a:pt x="28575" y="276225"/>
                  <a:pt x="133350" y="276225"/>
                </a:cubicBezTo>
                <a:lnTo>
                  <a:pt x="533400" y="276225"/>
                </a:lnTo>
                <a:cubicBezTo>
                  <a:pt x="647700" y="276225"/>
                  <a:pt x="676275" y="228600"/>
                  <a:pt x="676275" y="123825"/>
                </a:cubicBezTo>
              </a:path>
            </a:pathLst>
          </a:custGeom>
          <a:noFill/>
          <a:ln w="21907" cap="rnd">
            <a:solidFill>
              <a:srgbClr val="FFDED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Enterocyte nucleus 09"/>
          <p:cNvSpPr/>
          <p:nvPr/>
        </p:nvSpPr>
        <p:spPr>
          <a:xfrm>
            <a:off x="7024688" y="3638550"/>
            <a:ext cx="247650" cy="361950"/>
          </a:xfrm>
          <a:prstGeom prst="ellipse">
            <a:avLst/>
          </a:prstGeom>
          <a:gradFill rotWithShape="1">
            <a:gsLst>
              <a:gs pos="0">
                <a:srgbClr val="F1B8A5"/>
              </a:gs>
              <a:gs pos="55000">
                <a:srgbClr val="EBA994"/>
              </a:gs>
              <a:gs pos="100000">
                <a:srgbClr val="E8A08A"/>
              </a:gs>
            </a:gsLst>
            <a:lin ang="5400000" scaled="1"/>
          </a:gradFill>
          <a:ln w="10953">
            <a:solidFill>
              <a:srgbClr val="D9877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Enterocyte 10"/>
          <p:cNvSpPr/>
          <p:nvPr/>
        </p:nvSpPr>
        <p:spPr>
          <a:xfrm>
            <a:off x="7539038" y="2857500"/>
            <a:ext cx="962025" cy="1314450"/>
          </a:xfrm>
          <a:custGeom>
            <a:avLst/>
            <a:gdLst/>
            <a:ahLst/>
            <a:cxnLst/>
            <a:rect l="0" t="0" r="r" b="b"/>
            <a:pathLst>
              <a:path w="962025" h="1314450">
                <a:moveTo>
                  <a:pt x="0" y="0"/>
                </a:moveTo>
                <a:lnTo>
                  <a:pt x="962025" y="0"/>
                </a:lnTo>
                <a:lnTo>
                  <a:pt x="962025" y="1143000"/>
                </a:lnTo>
                <a:cubicBezTo>
                  <a:pt x="962025" y="1276350"/>
                  <a:pt x="914400" y="1314450"/>
                  <a:pt x="809625" y="1314450"/>
                </a:cubicBezTo>
                <a:lnTo>
                  <a:pt x="142875" y="1314450"/>
                </a:lnTo>
                <a:cubicBezTo>
                  <a:pt x="28575" y="1314450"/>
                  <a:pt x="0" y="1266825"/>
                  <a:pt x="0" y="1143000"/>
                </a:cubicBezTo>
                <a:close/>
              </a:path>
            </a:pathLst>
          </a:custGeom>
          <a:gradFill rotWithShape="1">
            <a:gsLst>
              <a:gs pos="0">
                <a:srgbClr val="FFC3B4"/>
              </a:gs>
              <a:gs pos="50000">
                <a:srgbClr val="FFD3C6"/>
              </a:gs>
              <a:gs pos="100000">
                <a:srgbClr val="FAC3B5"/>
              </a:gs>
            </a:gsLst>
            <a:lin ang="5400000" scaled="1"/>
          </a:gradFill>
          <a:ln w="14763" cap="rnd">
            <a:solidFill>
              <a:srgbClr val="E78D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Cell basal highlight 10"/>
          <p:cNvSpPr/>
          <p:nvPr/>
        </p:nvSpPr>
        <p:spPr>
          <a:xfrm>
            <a:off x="7586662" y="3857625"/>
            <a:ext cx="876300" cy="276225"/>
          </a:xfrm>
          <a:custGeom>
            <a:avLst/>
            <a:gdLst/>
            <a:ahLst/>
            <a:cxnLst/>
            <a:rect l="0" t="0" r="r" b="b"/>
            <a:pathLst>
              <a:path w="876300" h="276225">
                <a:moveTo>
                  <a:pt x="0" y="0"/>
                </a:moveTo>
                <a:lnTo>
                  <a:pt x="0" y="152400"/>
                </a:lnTo>
                <a:cubicBezTo>
                  <a:pt x="0" y="247650"/>
                  <a:pt x="28575" y="276225"/>
                  <a:pt x="133350" y="276225"/>
                </a:cubicBezTo>
                <a:lnTo>
                  <a:pt x="733425" y="276225"/>
                </a:lnTo>
                <a:cubicBezTo>
                  <a:pt x="847725" y="276225"/>
                  <a:pt x="876300" y="228600"/>
                  <a:pt x="876300" y="123825"/>
                </a:cubicBezTo>
              </a:path>
            </a:pathLst>
          </a:custGeom>
          <a:noFill/>
          <a:ln w="21907" cap="rnd">
            <a:solidFill>
              <a:srgbClr val="FFDED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Enterocyte nucleus 10"/>
          <p:cNvSpPr/>
          <p:nvPr/>
        </p:nvSpPr>
        <p:spPr>
          <a:xfrm>
            <a:off x="7896225" y="3638550"/>
            <a:ext cx="247650" cy="361950"/>
          </a:xfrm>
          <a:prstGeom prst="ellipse">
            <a:avLst/>
          </a:prstGeom>
          <a:gradFill rotWithShape="1">
            <a:gsLst>
              <a:gs pos="0">
                <a:srgbClr val="F1B8A5"/>
              </a:gs>
              <a:gs pos="55000">
                <a:srgbClr val="EBA994"/>
              </a:gs>
              <a:gs pos="100000">
                <a:srgbClr val="E8A08A"/>
              </a:gs>
            </a:gsLst>
            <a:lin ang="5400000" scaled="1"/>
          </a:gradFill>
          <a:ln w="10953">
            <a:solidFill>
              <a:srgbClr val="D9877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Enterocyte 11"/>
          <p:cNvSpPr/>
          <p:nvPr/>
        </p:nvSpPr>
        <p:spPr>
          <a:xfrm>
            <a:off x="8510588" y="2857500"/>
            <a:ext cx="885825" cy="1314450"/>
          </a:xfrm>
          <a:custGeom>
            <a:avLst/>
            <a:gdLst/>
            <a:ahLst/>
            <a:cxnLst/>
            <a:rect l="0" t="0" r="r" b="b"/>
            <a:pathLst>
              <a:path w="885825" h="1314450">
                <a:moveTo>
                  <a:pt x="0" y="0"/>
                </a:moveTo>
                <a:lnTo>
                  <a:pt x="819150" y="0"/>
                </a:lnTo>
                <a:cubicBezTo>
                  <a:pt x="809625" y="381000"/>
                  <a:pt x="828675" y="762000"/>
                  <a:pt x="876300" y="1143000"/>
                </a:cubicBezTo>
                <a:cubicBezTo>
                  <a:pt x="885825" y="1285875"/>
                  <a:pt x="800100" y="1314450"/>
                  <a:pt x="685800" y="1314450"/>
                </a:cubicBezTo>
                <a:lnTo>
                  <a:pt x="133350" y="1314450"/>
                </a:lnTo>
                <a:cubicBezTo>
                  <a:pt x="19050" y="1314450"/>
                  <a:pt x="0" y="1257300"/>
                  <a:pt x="0" y="1143000"/>
                </a:cubicBezTo>
                <a:close/>
              </a:path>
            </a:pathLst>
          </a:custGeom>
          <a:gradFill rotWithShape="1">
            <a:gsLst>
              <a:gs pos="0">
                <a:srgbClr val="FFC3B4"/>
              </a:gs>
              <a:gs pos="50000">
                <a:srgbClr val="FFD3C6"/>
              </a:gs>
              <a:gs pos="100000">
                <a:srgbClr val="FAC3B5"/>
              </a:gs>
            </a:gsLst>
            <a:lin ang="5400000" scaled="1"/>
          </a:gradFill>
          <a:ln w="14763" cap="rnd">
            <a:solidFill>
              <a:srgbClr val="E78D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Cell basal highlight 11"/>
          <p:cNvSpPr/>
          <p:nvPr/>
        </p:nvSpPr>
        <p:spPr>
          <a:xfrm>
            <a:off x="8558212" y="3857625"/>
            <a:ext cx="771525" cy="276225"/>
          </a:xfrm>
          <a:custGeom>
            <a:avLst/>
            <a:gdLst/>
            <a:ahLst/>
            <a:cxnLst/>
            <a:rect l="0" t="0" r="r" b="b"/>
            <a:pathLst>
              <a:path w="771525" h="276225">
                <a:moveTo>
                  <a:pt x="0" y="0"/>
                </a:moveTo>
                <a:lnTo>
                  <a:pt x="0" y="152400"/>
                </a:lnTo>
                <a:cubicBezTo>
                  <a:pt x="0" y="247650"/>
                  <a:pt x="28575" y="276225"/>
                  <a:pt x="133350" y="276225"/>
                </a:cubicBezTo>
                <a:lnTo>
                  <a:pt x="628650" y="276225"/>
                </a:lnTo>
                <a:cubicBezTo>
                  <a:pt x="742950" y="276225"/>
                  <a:pt x="771525" y="228600"/>
                  <a:pt x="771525" y="123825"/>
                </a:cubicBezTo>
              </a:path>
            </a:pathLst>
          </a:custGeom>
          <a:noFill/>
          <a:ln w="21907" cap="rnd">
            <a:solidFill>
              <a:srgbClr val="FFDED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Enterocyte nucleus 11"/>
          <p:cNvSpPr/>
          <p:nvPr/>
        </p:nvSpPr>
        <p:spPr>
          <a:xfrm>
            <a:off x="8815388" y="3638550"/>
            <a:ext cx="247650" cy="361950"/>
          </a:xfrm>
          <a:prstGeom prst="ellipse">
            <a:avLst/>
          </a:prstGeom>
          <a:gradFill rotWithShape="1">
            <a:gsLst>
              <a:gs pos="0">
                <a:srgbClr val="F1B8A5"/>
              </a:gs>
              <a:gs pos="55000">
                <a:srgbClr val="EBA994"/>
              </a:gs>
              <a:gs pos="100000">
                <a:srgbClr val="E8A08A"/>
              </a:gs>
            </a:gsLst>
            <a:lin ang="5400000" scaled="1"/>
          </a:gradFill>
          <a:ln w="10953">
            <a:solidFill>
              <a:srgbClr val="D9877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Enterocyte 13"/>
          <p:cNvSpPr/>
          <p:nvPr/>
        </p:nvSpPr>
        <p:spPr>
          <a:xfrm>
            <a:off x="9501188" y="2857500"/>
            <a:ext cx="742950" cy="1314450"/>
          </a:xfrm>
          <a:custGeom>
            <a:avLst/>
            <a:gdLst/>
            <a:ahLst/>
            <a:cxnLst/>
            <a:rect l="0" t="0" r="r" b="b"/>
            <a:pathLst>
              <a:path w="742950" h="1314450">
                <a:moveTo>
                  <a:pt x="66675" y="0"/>
                </a:moveTo>
                <a:lnTo>
                  <a:pt x="742950" y="0"/>
                </a:lnTo>
                <a:lnTo>
                  <a:pt x="742950" y="1123950"/>
                </a:lnTo>
                <a:cubicBezTo>
                  <a:pt x="742950" y="1276350"/>
                  <a:pt x="704850" y="1314450"/>
                  <a:pt x="590550" y="1314450"/>
                </a:cubicBezTo>
                <a:lnTo>
                  <a:pt x="152400" y="1314450"/>
                </a:lnTo>
                <a:cubicBezTo>
                  <a:pt x="19050" y="1314450"/>
                  <a:pt x="0" y="1257300"/>
                  <a:pt x="9525" y="1104900"/>
                </a:cubicBezTo>
                <a:cubicBezTo>
                  <a:pt x="76200" y="695325"/>
                  <a:pt x="85725" y="400050"/>
                  <a:pt x="66675" y="0"/>
                </a:cubicBezTo>
                <a:close/>
              </a:path>
            </a:pathLst>
          </a:custGeom>
          <a:gradFill rotWithShape="1">
            <a:gsLst>
              <a:gs pos="0">
                <a:srgbClr val="FFC3B4"/>
              </a:gs>
              <a:gs pos="50000">
                <a:srgbClr val="FFD3C6"/>
              </a:gs>
              <a:gs pos="100000">
                <a:srgbClr val="FAC3B5"/>
              </a:gs>
            </a:gsLst>
            <a:lin ang="5400000" scaled="1"/>
          </a:gradFill>
          <a:ln w="14763" cap="rnd">
            <a:solidFill>
              <a:srgbClr val="E78D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Cell basal highlight 13"/>
          <p:cNvSpPr/>
          <p:nvPr/>
        </p:nvSpPr>
        <p:spPr>
          <a:xfrm>
            <a:off x="9586912" y="3857625"/>
            <a:ext cx="619125" cy="276225"/>
          </a:xfrm>
          <a:custGeom>
            <a:avLst/>
            <a:gdLst/>
            <a:ahLst/>
            <a:cxnLst/>
            <a:rect l="0" t="0" r="r" b="b"/>
            <a:pathLst>
              <a:path w="619125" h="276225">
                <a:moveTo>
                  <a:pt x="0" y="0"/>
                </a:moveTo>
                <a:lnTo>
                  <a:pt x="0" y="152400"/>
                </a:lnTo>
                <a:cubicBezTo>
                  <a:pt x="0" y="247650"/>
                  <a:pt x="28575" y="276225"/>
                  <a:pt x="133350" y="276225"/>
                </a:cubicBezTo>
                <a:lnTo>
                  <a:pt x="476250" y="276225"/>
                </a:lnTo>
                <a:cubicBezTo>
                  <a:pt x="590550" y="276225"/>
                  <a:pt x="619125" y="228600"/>
                  <a:pt x="619125" y="123825"/>
                </a:cubicBezTo>
              </a:path>
            </a:pathLst>
          </a:custGeom>
          <a:noFill/>
          <a:ln w="21907" cap="rnd">
            <a:solidFill>
              <a:srgbClr val="FFDED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Enterocyte nucleus 13"/>
          <p:cNvSpPr/>
          <p:nvPr/>
        </p:nvSpPr>
        <p:spPr>
          <a:xfrm>
            <a:off x="9767888" y="3638550"/>
            <a:ext cx="247650" cy="361950"/>
          </a:xfrm>
          <a:prstGeom prst="ellipse">
            <a:avLst/>
          </a:prstGeom>
          <a:gradFill rotWithShape="1">
            <a:gsLst>
              <a:gs pos="0">
                <a:srgbClr val="F1B8A5"/>
              </a:gs>
              <a:gs pos="55000">
                <a:srgbClr val="EBA994"/>
              </a:gs>
              <a:gs pos="100000">
                <a:srgbClr val="E8A08A"/>
              </a:gs>
            </a:gsLst>
            <a:lin ang="5400000" scaled="1"/>
          </a:gradFill>
          <a:ln w="10953">
            <a:solidFill>
              <a:srgbClr val="D9877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Enterocyte 14"/>
          <p:cNvSpPr/>
          <p:nvPr/>
        </p:nvSpPr>
        <p:spPr>
          <a:xfrm>
            <a:off x="10253662" y="2857500"/>
            <a:ext cx="685800" cy="1314450"/>
          </a:xfrm>
          <a:custGeom>
            <a:avLst/>
            <a:gdLst/>
            <a:ahLst/>
            <a:cxnLst/>
            <a:rect l="0" t="0" r="r" b="b"/>
            <a:pathLst>
              <a:path w="685800" h="1314450">
                <a:moveTo>
                  <a:pt x="0" y="0"/>
                </a:moveTo>
                <a:lnTo>
                  <a:pt x="685800" y="0"/>
                </a:lnTo>
                <a:lnTo>
                  <a:pt x="685800" y="1143000"/>
                </a:lnTo>
                <a:cubicBezTo>
                  <a:pt x="685800" y="1276350"/>
                  <a:pt x="638175" y="1314450"/>
                  <a:pt x="533400" y="1314450"/>
                </a:cubicBezTo>
                <a:lnTo>
                  <a:pt x="142875" y="1314450"/>
                </a:lnTo>
                <a:cubicBezTo>
                  <a:pt x="28575" y="1314450"/>
                  <a:pt x="0" y="1266825"/>
                  <a:pt x="0" y="1143000"/>
                </a:cubicBezTo>
                <a:close/>
              </a:path>
            </a:pathLst>
          </a:custGeom>
          <a:gradFill rotWithShape="1">
            <a:gsLst>
              <a:gs pos="0">
                <a:srgbClr val="FFC3B4"/>
              </a:gs>
              <a:gs pos="50000">
                <a:srgbClr val="FFD3C6"/>
              </a:gs>
              <a:gs pos="100000">
                <a:srgbClr val="FAC3B5"/>
              </a:gs>
            </a:gsLst>
            <a:lin ang="5400000" scaled="1"/>
          </a:gradFill>
          <a:ln w="14763" cap="rnd">
            <a:solidFill>
              <a:srgbClr val="E78D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Cell basal highlight 14"/>
          <p:cNvSpPr/>
          <p:nvPr/>
        </p:nvSpPr>
        <p:spPr>
          <a:xfrm>
            <a:off x="10301288" y="3857625"/>
            <a:ext cx="600075" cy="276225"/>
          </a:xfrm>
          <a:custGeom>
            <a:avLst/>
            <a:gdLst/>
            <a:ahLst/>
            <a:cxnLst/>
            <a:rect l="0" t="0" r="r" b="b"/>
            <a:pathLst>
              <a:path w="600075" h="276225">
                <a:moveTo>
                  <a:pt x="0" y="0"/>
                </a:moveTo>
                <a:lnTo>
                  <a:pt x="0" y="152400"/>
                </a:lnTo>
                <a:cubicBezTo>
                  <a:pt x="0" y="247650"/>
                  <a:pt x="28575" y="276225"/>
                  <a:pt x="133350" y="276225"/>
                </a:cubicBezTo>
                <a:lnTo>
                  <a:pt x="457200" y="276225"/>
                </a:lnTo>
                <a:cubicBezTo>
                  <a:pt x="571500" y="276225"/>
                  <a:pt x="600075" y="228600"/>
                  <a:pt x="600075" y="123825"/>
                </a:cubicBezTo>
              </a:path>
            </a:pathLst>
          </a:custGeom>
          <a:noFill/>
          <a:ln w="21907" cap="rnd">
            <a:solidFill>
              <a:srgbClr val="FFDED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Enterocyte nucleus 14"/>
          <p:cNvSpPr/>
          <p:nvPr/>
        </p:nvSpPr>
        <p:spPr>
          <a:xfrm>
            <a:off x="10472738" y="3638550"/>
            <a:ext cx="247650" cy="361950"/>
          </a:xfrm>
          <a:prstGeom prst="ellipse">
            <a:avLst/>
          </a:prstGeom>
          <a:gradFill rotWithShape="1">
            <a:gsLst>
              <a:gs pos="0">
                <a:srgbClr val="F1B8A5"/>
              </a:gs>
              <a:gs pos="55000">
                <a:srgbClr val="EBA994"/>
              </a:gs>
              <a:gs pos="100000">
                <a:srgbClr val="E8A08A"/>
              </a:gs>
            </a:gsLst>
            <a:lin ang="5400000" scaled="1"/>
          </a:gradFill>
          <a:ln w="10953">
            <a:solidFill>
              <a:srgbClr val="D9877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Enterocyte 15"/>
          <p:cNvSpPr/>
          <p:nvPr/>
        </p:nvSpPr>
        <p:spPr>
          <a:xfrm>
            <a:off x="10948988" y="2857500"/>
            <a:ext cx="1181100" cy="1314450"/>
          </a:xfrm>
          <a:custGeom>
            <a:avLst/>
            <a:gdLst/>
            <a:ahLst/>
            <a:cxnLst/>
            <a:rect l="0" t="0" r="r" b="b"/>
            <a:pathLst>
              <a:path w="1181100" h="1314450">
                <a:moveTo>
                  <a:pt x="0" y="0"/>
                </a:moveTo>
                <a:lnTo>
                  <a:pt x="1181100" y="0"/>
                </a:lnTo>
                <a:lnTo>
                  <a:pt x="1181100" y="1143000"/>
                </a:lnTo>
                <a:cubicBezTo>
                  <a:pt x="1181100" y="1276350"/>
                  <a:pt x="1133475" y="1314450"/>
                  <a:pt x="1028700" y="1314450"/>
                </a:cubicBezTo>
                <a:lnTo>
                  <a:pt x="142875" y="1314450"/>
                </a:lnTo>
                <a:cubicBezTo>
                  <a:pt x="28575" y="1314450"/>
                  <a:pt x="0" y="1266825"/>
                  <a:pt x="0" y="1143000"/>
                </a:cubicBezTo>
                <a:close/>
              </a:path>
            </a:pathLst>
          </a:custGeom>
          <a:gradFill rotWithShape="1">
            <a:gsLst>
              <a:gs pos="0">
                <a:srgbClr val="FFC3B4"/>
              </a:gs>
              <a:gs pos="50000">
                <a:srgbClr val="FFD3C6"/>
              </a:gs>
              <a:gs pos="100000">
                <a:srgbClr val="FAC3B5"/>
              </a:gs>
            </a:gsLst>
            <a:lin ang="5400000" scaled="1"/>
          </a:gradFill>
          <a:ln w="14763" cap="rnd">
            <a:solidFill>
              <a:srgbClr val="E78D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Cell basal highlight 15"/>
          <p:cNvSpPr/>
          <p:nvPr/>
        </p:nvSpPr>
        <p:spPr>
          <a:xfrm>
            <a:off x="10996612" y="3857625"/>
            <a:ext cx="1095375" cy="276225"/>
          </a:xfrm>
          <a:custGeom>
            <a:avLst/>
            <a:gdLst/>
            <a:ahLst/>
            <a:cxnLst/>
            <a:rect l="0" t="0" r="r" b="b"/>
            <a:pathLst>
              <a:path w="1095375" h="276225">
                <a:moveTo>
                  <a:pt x="0" y="0"/>
                </a:moveTo>
                <a:lnTo>
                  <a:pt x="0" y="152400"/>
                </a:lnTo>
                <a:cubicBezTo>
                  <a:pt x="0" y="247650"/>
                  <a:pt x="28575" y="276225"/>
                  <a:pt x="133350" y="276225"/>
                </a:cubicBezTo>
                <a:lnTo>
                  <a:pt x="952500" y="276225"/>
                </a:lnTo>
                <a:cubicBezTo>
                  <a:pt x="1066800" y="276225"/>
                  <a:pt x="1095375" y="228600"/>
                  <a:pt x="1095375" y="123825"/>
                </a:cubicBezTo>
              </a:path>
            </a:pathLst>
          </a:custGeom>
          <a:noFill/>
          <a:ln w="21907" cap="rnd">
            <a:solidFill>
              <a:srgbClr val="FFDED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Enterocyte nucleus 15"/>
          <p:cNvSpPr/>
          <p:nvPr/>
        </p:nvSpPr>
        <p:spPr>
          <a:xfrm>
            <a:off x="11415712" y="3638550"/>
            <a:ext cx="247650" cy="361950"/>
          </a:xfrm>
          <a:prstGeom prst="ellipse">
            <a:avLst/>
          </a:prstGeom>
          <a:gradFill rotWithShape="1">
            <a:gsLst>
              <a:gs pos="0">
                <a:srgbClr val="F1B8A5"/>
              </a:gs>
              <a:gs pos="55000">
                <a:srgbClr val="EBA994"/>
              </a:gs>
              <a:gs pos="100000">
                <a:srgbClr val="E8A08A"/>
              </a:gs>
            </a:gsLst>
            <a:lin ang="5400000" scaled="1"/>
          </a:gradFill>
          <a:ln w="10953">
            <a:solidFill>
              <a:srgbClr val="D9877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Mucus layer"/>
          <p:cNvSpPr/>
          <p:nvPr/>
        </p:nvSpPr>
        <p:spPr>
          <a:xfrm>
            <a:off x="285750" y="2366915"/>
            <a:ext cx="9134475" cy="500110"/>
          </a:xfrm>
          <a:custGeom>
            <a:avLst/>
            <a:gdLst/>
            <a:ahLst/>
            <a:cxnLst/>
            <a:rect l="0" t="0" r="r" b="b"/>
            <a:pathLst>
              <a:path w="9134475" h="500110">
                <a:moveTo>
                  <a:pt x="0" y="442960"/>
                </a:moveTo>
                <a:lnTo>
                  <a:pt x="0" y="128635"/>
                </a:lnTo>
                <a:cubicBezTo>
                  <a:pt x="0" y="33385"/>
                  <a:pt x="28575" y="14335"/>
                  <a:pt x="114300" y="42910"/>
                </a:cubicBezTo>
                <a:cubicBezTo>
                  <a:pt x="234315" y="21325"/>
                  <a:pt x="370332" y="145150"/>
                  <a:pt x="514350" y="97525"/>
                </a:cubicBezTo>
                <a:cubicBezTo>
                  <a:pt x="634365" y="35341"/>
                  <a:pt x="770382" y="159166"/>
                  <a:pt x="914400" y="111541"/>
                </a:cubicBezTo>
                <a:cubicBezTo>
                  <a:pt x="1034415" y="27125"/>
                  <a:pt x="1170432" y="150950"/>
                  <a:pt x="1314450" y="103325"/>
                </a:cubicBezTo>
                <a:cubicBezTo>
                  <a:pt x="1434465" y="8788"/>
                  <a:pt x="1570482" y="132613"/>
                  <a:pt x="1714500" y="84988"/>
                </a:cubicBezTo>
                <a:cubicBezTo>
                  <a:pt x="1834515" y="0"/>
                  <a:pt x="1970532" y="123825"/>
                  <a:pt x="2114550" y="76200"/>
                </a:cubicBezTo>
                <a:cubicBezTo>
                  <a:pt x="2234565" y="13299"/>
                  <a:pt x="2370582" y="137124"/>
                  <a:pt x="2514600" y="89499"/>
                </a:cubicBezTo>
                <a:cubicBezTo>
                  <a:pt x="2634615" y="44728"/>
                  <a:pt x="2770632" y="168553"/>
                  <a:pt x="2914650" y="120928"/>
                </a:cubicBezTo>
                <a:cubicBezTo>
                  <a:pt x="3034665" y="76791"/>
                  <a:pt x="3170682" y="200616"/>
                  <a:pt x="3314700" y="152991"/>
                </a:cubicBezTo>
                <a:cubicBezTo>
                  <a:pt x="3434715" y="91519"/>
                  <a:pt x="3570732" y="215344"/>
                  <a:pt x="3714750" y="167719"/>
                </a:cubicBezTo>
                <a:cubicBezTo>
                  <a:pt x="3834765" y="83887"/>
                  <a:pt x="3970782" y="207712"/>
                  <a:pt x="4114800" y="160087"/>
                </a:cubicBezTo>
                <a:cubicBezTo>
                  <a:pt x="4234815" y="65571"/>
                  <a:pt x="4370832" y="189396"/>
                  <a:pt x="4514850" y="141771"/>
                </a:cubicBezTo>
                <a:cubicBezTo>
                  <a:pt x="4634865" y="56224"/>
                  <a:pt x="4770882" y="180049"/>
                  <a:pt x="4914900" y="132424"/>
                </a:cubicBezTo>
                <a:cubicBezTo>
                  <a:pt x="5034915" y="68802"/>
                  <a:pt x="5170932" y="192627"/>
                  <a:pt x="5314950" y="145002"/>
                </a:cubicBezTo>
                <a:cubicBezTo>
                  <a:pt x="5434965" y="99886"/>
                  <a:pt x="5570982" y="223711"/>
                  <a:pt x="5715000" y="176086"/>
                </a:cubicBezTo>
                <a:cubicBezTo>
                  <a:pt x="5835015" y="132239"/>
                  <a:pt x="5971032" y="256064"/>
                  <a:pt x="6115050" y="208439"/>
                </a:cubicBezTo>
                <a:cubicBezTo>
                  <a:pt x="6235065" y="147673"/>
                  <a:pt x="6371082" y="271498"/>
                  <a:pt x="6515100" y="223873"/>
                </a:cubicBezTo>
                <a:cubicBezTo>
                  <a:pt x="6635115" y="140638"/>
                  <a:pt x="6771132" y="264463"/>
                  <a:pt x="6915150" y="216838"/>
                </a:cubicBezTo>
                <a:cubicBezTo>
                  <a:pt x="7035165" y="122363"/>
                  <a:pt x="7171182" y="246188"/>
                  <a:pt x="7315200" y="198563"/>
                </a:cubicBezTo>
                <a:cubicBezTo>
                  <a:pt x="7435215" y="112471"/>
                  <a:pt x="7571232" y="236296"/>
                  <a:pt x="7715250" y="188671"/>
                </a:cubicBezTo>
                <a:cubicBezTo>
                  <a:pt x="7835265" y="124324"/>
                  <a:pt x="7971282" y="248149"/>
                  <a:pt x="8115300" y="200524"/>
                </a:cubicBezTo>
                <a:cubicBezTo>
                  <a:pt x="8235315" y="155046"/>
                  <a:pt x="8371332" y="278871"/>
                  <a:pt x="8515350" y="231246"/>
                </a:cubicBezTo>
                <a:cubicBezTo>
                  <a:pt x="8635365" y="187669"/>
                  <a:pt x="8771382" y="311494"/>
                  <a:pt x="8915400" y="263869"/>
                </a:cubicBezTo>
                <a:cubicBezTo>
                  <a:pt x="8991600" y="223885"/>
                  <a:pt x="9105900" y="242935"/>
                  <a:pt x="9134475" y="414385"/>
                </a:cubicBezTo>
                <a:lnTo>
                  <a:pt x="9124950" y="500110"/>
                </a:lnTo>
                <a:lnTo>
                  <a:pt x="0" y="500110"/>
                </a:lnTo>
                <a:close/>
              </a:path>
            </a:pathLst>
          </a:custGeom>
          <a:gradFill rotWithShape="1">
            <a:gsLst>
              <a:gs pos="0">
                <a:srgbClr val="F9EDC5"/>
              </a:gs>
              <a:gs pos="55000">
                <a:srgbClr val="F7E7B8"/>
              </a:gs>
              <a:gs pos="100000">
                <a:srgbClr val="F4DFAD"/>
              </a:gs>
            </a:gsLst>
            <a:lin ang="5400000" scaled="1"/>
          </a:gradFill>
          <a:ln w="11429" cap="rnd">
            <a:solidFill>
              <a:srgbClr val="CBB66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Mucus layer right"/>
          <p:cNvSpPr/>
          <p:nvPr/>
        </p:nvSpPr>
        <p:spPr>
          <a:xfrm>
            <a:off x="9505950" y="2524125"/>
            <a:ext cx="2628900" cy="352425"/>
          </a:xfrm>
          <a:custGeom>
            <a:avLst/>
            <a:gdLst/>
            <a:ahLst/>
            <a:cxnLst/>
            <a:rect l="0" t="0" r="r" b="b"/>
            <a:pathLst>
              <a:path w="2628900" h="352425">
                <a:moveTo>
                  <a:pt x="0" y="276225"/>
                </a:moveTo>
                <a:cubicBezTo>
                  <a:pt x="57150" y="161925"/>
                  <a:pt x="161925" y="95250"/>
                  <a:pt x="266700" y="66675"/>
                </a:cubicBezTo>
                <a:cubicBezTo>
                  <a:pt x="352425" y="0"/>
                  <a:pt x="438150" y="114300"/>
                  <a:pt x="542925" y="76200"/>
                </a:cubicBezTo>
                <a:cubicBezTo>
                  <a:pt x="628650" y="0"/>
                  <a:pt x="714375" y="114300"/>
                  <a:pt x="819150" y="76200"/>
                </a:cubicBezTo>
                <a:cubicBezTo>
                  <a:pt x="904875" y="0"/>
                  <a:pt x="990600" y="114300"/>
                  <a:pt x="1095375" y="76200"/>
                </a:cubicBezTo>
                <a:cubicBezTo>
                  <a:pt x="1181100" y="0"/>
                  <a:pt x="1266825" y="114300"/>
                  <a:pt x="1371600" y="76200"/>
                </a:cubicBezTo>
                <a:cubicBezTo>
                  <a:pt x="1457325" y="0"/>
                  <a:pt x="1543050" y="114300"/>
                  <a:pt x="1647825" y="76200"/>
                </a:cubicBezTo>
                <a:cubicBezTo>
                  <a:pt x="1733550" y="0"/>
                  <a:pt x="1819275" y="114300"/>
                  <a:pt x="1924050" y="76200"/>
                </a:cubicBezTo>
                <a:cubicBezTo>
                  <a:pt x="2009775" y="0"/>
                  <a:pt x="2095500" y="114300"/>
                  <a:pt x="2200275" y="76200"/>
                </a:cubicBezTo>
                <a:cubicBezTo>
                  <a:pt x="2286000" y="0"/>
                  <a:pt x="2371725" y="114300"/>
                  <a:pt x="2476500" y="76200"/>
                </a:cubicBezTo>
                <a:cubicBezTo>
                  <a:pt x="2571750" y="38100"/>
                  <a:pt x="2628900" y="85725"/>
                  <a:pt x="2628900" y="180975"/>
                </a:cubicBezTo>
                <a:lnTo>
                  <a:pt x="2628900" y="352425"/>
                </a:lnTo>
                <a:lnTo>
                  <a:pt x="38100" y="352425"/>
                </a:lnTo>
                <a:close/>
              </a:path>
            </a:pathLst>
          </a:custGeom>
          <a:gradFill rotWithShape="1">
            <a:gsLst>
              <a:gs pos="0">
                <a:srgbClr val="FBEDC7"/>
              </a:gs>
              <a:gs pos="55000">
                <a:srgbClr val="F7E8B9"/>
              </a:gs>
              <a:gs pos="100000">
                <a:srgbClr val="F6DFA9"/>
              </a:gs>
            </a:gsLst>
            <a:lin ang="5400000" scaled="1"/>
          </a:gradFill>
          <a:ln w="11429" cap="rnd">
            <a:solidFill>
              <a:srgbClr val="CCB86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Mucus granule 000"/>
          <p:cNvSpPr/>
          <p:nvPr/>
        </p:nvSpPr>
        <p:spPr>
          <a:xfrm>
            <a:off x="10084202" y="2640413"/>
            <a:ext cx="79517" cy="79517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Mucus granule 001"/>
          <p:cNvSpPr/>
          <p:nvPr/>
        </p:nvSpPr>
        <p:spPr>
          <a:xfrm>
            <a:off x="8693449" y="2635668"/>
            <a:ext cx="71683" cy="71683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Mucus granule 002"/>
          <p:cNvSpPr/>
          <p:nvPr/>
        </p:nvSpPr>
        <p:spPr>
          <a:xfrm>
            <a:off x="4107352" y="2646527"/>
            <a:ext cx="72109" cy="72109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Mucus granule 003"/>
          <p:cNvSpPr/>
          <p:nvPr/>
        </p:nvSpPr>
        <p:spPr>
          <a:xfrm>
            <a:off x="6070657" y="2524772"/>
            <a:ext cx="66753" cy="66753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Mucus granule 004"/>
          <p:cNvSpPr/>
          <p:nvPr/>
        </p:nvSpPr>
        <p:spPr>
          <a:xfrm>
            <a:off x="1561215" y="2596137"/>
            <a:ext cx="89670" cy="89670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Mucus granule 005"/>
          <p:cNvSpPr/>
          <p:nvPr/>
        </p:nvSpPr>
        <p:spPr>
          <a:xfrm>
            <a:off x="7033894" y="2677842"/>
            <a:ext cx="71327" cy="71327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Mucus granule 006"/>
          <p:cNvSpPr/>
          <p:nvPr/>
        </p:nvSpPr>
        <p:spPr>
          <a:xfrm>
            <a:off x="3183028" y="2549706"/>
            <a:ext cx="64382" cy="64382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Mucus granule 007"/>
          <p:cNvSpPr/>
          <p:nvPr/>
        </p:nvSpPr>
        <p:spPr>
          <a:xfrm>
            <a:off x="8076609" y="2610721"/>
            <a:ext cx="67049" cy="67049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Mucus granule 008"/>
          <p:cNvSpPr/>
          <p:nvPr/>
        </p:nvSpPr>
        <p:spPr>
          <a:xfrm>
            <a:off x="5670290" y="2588636"/>
            <a:ext cx="64172" cy="64172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" name="Mucus granule 009"/>
          <p:cNvSpPr/>
          <p:nvPr/>
        </p:nvSpPr>
        <p:spPr>
          <a:xfrm>
            <a:off x="5106621" y="2530773"/>
            <a:ext cx="57907" cy="57907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" name="Mucus granule 010"/>
          <p:cNvSpPr/>
          <p:nvPr/>
        </p:nvSpPr>
        <p:spPr>
          <a:xfrm>
            <a:off x="972448" y="2671162"/>
            <a:ext cx="27048" cy="27048"/>
          </a:xfrm>
          <a:prstGeom prst="ellipse">
            <a:avLst/>
          </a:prstGeom>
          <a:solidFill>
            <a:srgbClr val="F1D89C">
              <a:alpha val="45000"/>
            </a:srgbClr>
          </a:solidFill>
          <a:ln w="4762">
            <a:solidFill>
              <a:srgbClr val="D5BC79">
                <a:alpha val="4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Mucus granule 011"/>
          <p:cNvSpPr/>
          <p:nvPr/>
        </p:nvSpPr>
        <p:spPr>
          <a:xfrm>
            <a:off x="3646977" y="2524927"/>
            <a:ext cx="67946" cy="67946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" name="Mucus granule 012"/>
          <p:cNvSpPr/>
          <p:nvPr/>
        </p:nvSpPr>
        <p:spPr>
          <a:xfrm>
            <a:off x="7840041" y="2581983"/>
            <a:ext cx="30049" cy="30049"/>
          </a:xfrm>
          <a:prstGeom prst="ellipse">
            <a:avLst/>
          </a:prstGeom>
          <a:solidFill>
            <a:srgbClr val="F1D89C">
              <a:alpha val="45000"/>
            </a:srgbClr>
          </a:solidFill>
          <a:ln w="4762">
            <a:solidFill>
              <a:srgbClr val="D5BC79">
                <a:alpha val="4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" name="Mucus granule 013"/>
          <p:cNvSpPr/>
          <p:nvPr/>
        </p:nvSpPr>
        <p:spPr>
          <a:xfrm>
            <a:off x="2988531" y="2645616"/>
            <a:ext cx="53706" cy="53706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Mucus granule 014"/>
          <p:cNvSpPr/>
          <p:nvPr/>
        </p:nvSpPr>
        <p:spPr>
          <a:xfrm>
            <a:off x="2425852" y="2661807"/>
            <a:ext cx="30274" cy="30274"/>
          </a:xfrm>
          <a:prstGeom prst="ellipse">
            <a:avLst/>
          </a:prstGeom>
          <a:solidFill>
            <a:srgbClr val="F1D89C">
              <a:alpha val="45000"/>
            </a:srgbClr>
          </a:solidFill>
          <a:ln w="4762">
            <a:solidFill>
              <a:srgbClr val="D5BC79">
                <a:alpha val="4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Mucus granule 015"/>
          <p:cNvSpPr/>
          <p:nvPr/>
        </p:nvSpPr>
        <p:spPr>
          <a:xfrm>
            <a:off x="10858426" y="2518284"/>
            <a:ext cx="82210" cy="82210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" name="Mucus granule 016"/>
          <p:cNvSpPr/>
          <p:nvPr/>
        </p:nvSpPr>
        <p:spPr>
          <a:xfrm>
            <a:off x="1281951" y="2507543"/>
            <a:ext cx="86170" cy="86170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" name="Mucus granule 017"/>
          <p:cNvSpPr/>
          <p:nvPr/>
        </p:nvSpPr>
        <p:spPr>
          <a:xfrm>
            <a:off x="6735951" y="2594414"/>
            <a:ext cx="49438" cy="49438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" name="Mucus granule 018"/>
          <p:cNvSpPr/>
          <p:nvPr/>
        </p:nvSpPr>
        <p:spPr>
          <a:xfrm>
            <a:off x="3999967" y="2498051"/>
            <a:ext cx="82302" cy="82302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" name="Mucus granule 019"/>
          <p:cNvSpPr/>
          <p:nvPr/>
        </p:nvSpPr>
        <p:spPr>
          <a:xfrm>
            <a:off x="2660061" y="2653175"/>
            <a:ext cx="53437" cy="53437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1" name="Mucus granule 020"/>
          <p:cNvSpPr/>
          <p:nvPr/>
        </p:nvSpPr>
        <p:spPr>
          <a:xfrm>
            <a:off x="8690591" y="2610825"/>
            <a:ext cx="41306" cy="41306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" name="Mucus granule 021"/>
          <p:cNvSpPr/>
          <p:nvPr/>
        </p:nvSpPr>
        <p:spPr>
          <a:xfrm>
            <a:off x="1411932" y="2530557"/>
            <a:ext cx="88331" cy="88331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3" name="Mucus granule 022"/>
          <p:cNvSpPr/>
          <p:nvPr/>
        </p:nvSpPr>
        <p:spPr>
          <a:xfrm>
            <a:off x="761804" y="2608861"/>
            <a:ext cx="73628" cy="73628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4" name="Mucus granule 023"/>
          <p:cNvSpPr/>
          <p:nvPr/>
        </p:nvSpPr>
        <p:spPr>
          <a:xfrm>
            <a:off x="4357343" y="2579470"/>
            <a:ext cx="39850" cy="39850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" name="Mucus granule 024"/>
          <p:cNvSpPr/>
          <p:nvPr/>
        </p:nvSpPr>
        <p:spPr>
          <a:xfrm>
            <a:off x="10032055" y="2649293"/>
            <a:ext cx="32578" cy="32578"/>
          </a:xfrm>
          <a:prstGeom prst="ellipse">
            <a:avLst/>
          </a:prstGeom>
          <a:solidFill>
            <a:srgbClr val="F1D89C">
              <a:alpha val="45000"/>
            </a:srgbClr>
          </a:solidFill>
          <a:ln w="4762">
            <a:solidFill>
              <a:srgbClr val="D5BC79">
                <a:alpha val="4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6" name="Mucus granule 025"/>
          <p:cNvSpPr/>
          <p:nvPr/>
        </p:nvSpPr>
        <p:spPr>
          <a:xfrm>
            <a:off x="4927187" y="2625562"/>
            <a:ext cx="70285" cy="70285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7" name="Mucus granule 026"/>
          <p:cNvSpPr/>
          <p:nvPr/>
        </p:nvSpPr>
        <p:spPr>
          <a:xfrm>
            <a:off x="1611431" y="2564189"/>
            <a:ext cx="55334" cy="55334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" name="Mucus granule 027"/>
          <p:cNvSpPr/>
          <p:nvPr/>
        </p:nvSpPr>
        <p:spPr>
          <a:xfrm>
            <a:off x="5549798" y="2682811"/>
            <a:ext cx="48416" cy="48416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9" name="Mucus granule 028"/>
          <p:cNvSpPr/>
          <p:nvPr/>
        </p:nvSpPr>
        <p:spPr>
          <a:xfrm>
            <a:off x="385578" y="2518430"/>
            <a:ext cx="46596" cy="46596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" name="Mucus granule 029"/>
          <p:cNvSpPr/>
          <p:nvPr/>
        </p:nvSpPr>
        <p:spPr>
          <a:xfrm>
            <a:off x="10560556" y="2665368"/>
            <a:ext cx="46744" cy="46744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Mucus granule 030"/>
          <p:cNvSpPr/>
          <p:nvPr/>
        </p:nvSpPr>
        <p:spPr>
          <a:xfrm>
            <a:off x="5579256" y="2519080"/>
            <a:ext cx="56305" cy="56305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" name="Mucus granule 031"/>
          <p:cNvSpPr/>
          <p:nvPr/>
        </p:nvSpPr>
        <p:spPr>
          <a:xfrm>
            <a:off x="1004519" y="2629984"/>
            <a:ext cx="57567" cy="57567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3" name="Mucus granule 032"/>
          <p:cNvSpPr/>
          <p:nvPr/>
        </p:nvSpPr>
        <p:spPr>
          <a:xfrm>
            <a:off x="11252794" y="2619613"/>
            <a:ext cx="36416" cy="36416"/>
          </a:xfrm>
          <a:prstGeom prst="ellipse">
            <a:avLst/>
          </a:prstGeom>
          <a:solidFill>
            <a:srgbClr val="F1D89C">
              <a:alpha val="45000"/>
            </a:srgbClr>
          </a:solidFill>
          <a:ln w="4762">
            <a:solidFill>
              <a:srgbClr val="D5BC79">
                <a:alpha val="4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" name="Mucus granule 033"/>
          <p:cNvSpPr/>
          <p:nvPr/>
        </p:nvSpPr>
        <p:spPr>
          <a:xfrm>
            <a:off x="3621607" y="2661397"/>
            <a:ext cx="46040" cy="46040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5" name="Mucus granule 034"/>
          <p:cNvSpPr/>
          <p:nvPr/>
        </p:nvSpPr>
        <p:spPr>
          <a:xfrm>
            <a:off x="6571184" y="2589568"/>
            <a:ext cx="59170" cy="59170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6" name="Mucus granule 036"/>
          <p:cNvSpPr/>
          <p:nvPr/>
        </p:nvSpPr>
        <p:spPr>
          <a:xfrm>
            <a:off x="2282990" y="2510245"/>
            <a:ext cx="67875" cy="67875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7" name="Mucus granule 037"/>
          <p:cNvSpPr/>
          <p:nvPr/>
        </p:nvSpPr>
        <p:spPr>
          <a:xfrm>
            <a:off x="7202489" y="2655157"/>
            <a:ext cx="28426" cy="28426"/>
          </a:xfrm>
          <a:prstGeom prst="ellipse">
            <a:avLst/>
          </a:prstGeom>
          <a:solidFill>
            <a:srgbClr val="F1D89C">
              <a:alpha val="45000"/>
            </a:srgbClr>
          </a:solidFill>
          <a:ln w="4762">
            <a:solidFill>
              <a:srgbClr val="D5BC79">
                <a:alpha val="4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8" name="Mucus granule 038"/>
          <p:cNvSpPr/>
          <p:nvPr/>
        </p:nvSpPr>
        <p:spPr>
          <a:xfrm>
            <a:off x="6606903" y="2676868"/>
            <a:ext cx="40558" cy="40558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9" name="Mucus granule 039"/>
          <p:cNvSpPr/>
          <p:nvPr/>
        </p:nvSpPr>
        <p:spPr>
          <a:xfrm>
            <a:off x="8880353" y="2684891"/>
            <a:ext cx="62465" cy="62465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" name="Mucus granule 040"/>
          <p:cNvSpPr/>
          <p:nvPr/>
        </p:nvSpPr>
        <p:spPr>
          <a:xfrm>
            <a:off x="7833424" y="2674926"/>
            <a:ext cx="76355" cy="76355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1" name="Mucus granule 041"/>
          <p:cNvSpPr/>
          <p:nvPr/>
        </p:nvSpPr>
        <p:spPr>
          <a:xfrm>
            <a:off x="4625019" y="2662746"/>
            <a:ext cx="63239" cy="63239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2" name="Mucus granule 042"/>
          <p:cNvSpPr/>
          <p:nvPr/>
        </p:nvSpPr>
        <p:spPr>
          <a:xfrm>
            <a:off x="4556657" y="2575852"/>
            <a:ext cx="78503" cy="78503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3" name="Mucus granule 043"/>
          <p:cNvSpPr/>
          <p:nvPr/>
        </p:nvSpPr>
        <p:spPr>
          <a:xfrm>
            <a:off x="7640681" y="2587316"/>
            <a:ext cx="48092" cy="48092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4" name="Mucus granule 044"/>
          <p:cNvSpPr/>
          <p:nvPr/>
        </p:nvSpPr>
        <p:spPr>
          <a:xfrm>
            <a:off x="5438017" y="2524655"/>
            <a:ext cx="41081" cy="41081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5" name="Mucus granule 045"/>
          <p:cNvSpPr/>
          <p:nvPr/>
        </p:nvSpPr>
        <p:spPr>
          <a:xfrm>
            <a:off x="6906670" y="2580446"/>
            <a:ext cx="38173" cy="38173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6" name="Mucus granule 046"/>
          <p:cNvSpPr/>
          <p:nvPr/>
        </p:nvSpPr>
        <p:spPr>
          <a:xfrm>
            <a:off x="4867314" y="2511368"/>
            <a:ext cx="58132" cy="58132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7" name="Mucus granule 047"/>
          <p:cNvSpPr/>
          <p:nvPr/>
        </p:nvSpPr>
        <p:spPr>
          <a:xfrm>
            <a:off x="11657834" y="2610094"/>
            <a:ext cx="69493" cy="69493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8" name="Mucus granule 048"/>
          <p:cNvSpPr/>
          <p:nvPr/>
        </p:nvSpPr>
        <p:spPr>
          <a:xfrm>
            <a:off x="8956441" y="2666067"/>
            <a:ext cx="67285" cy="67285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9" name="Mucus granule 050"/>
          <p:cNvSpPr/>
          <p:nvPr/>
        </p:nvSpPr>
        <p:spPr>
          <a:xfrm>
            <a:off x="11422567" y="2601462"/>
            <a:ext cx="51467" cy="51467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0" name="Mucus granule 051"/>
          <p:cNvSpPr/>
          <p:nvPr/>
        </p:nvSpPr>
        <p:spPr>
          <a:xfrm>
            <a:off x="7923923" y="2573888"/>
            <a:ext cx="88095" cy="88095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1" name="Mucus granule 052"/>
          <p:cNvSpPr/>
          <p:nvPr/>
        </p:nvSpPr>
        <p:spPr>
          <a:xfrm>
            <a:off x="5793582" y="2564987"/>
            <a:ext cx="69347" cy="69347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2" name="Mucus granule 053"/>
          <p:cNvSpPr/>
          <p:nvPr/>
        </p:nvSpPr>
        <p:spPr>
          <a:xfrm>
            <a:off x="3698369" y="2639796"/>
            <a:ext cx="62944" cy="62944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3" name="Mucus granule 054"/>
          <p:cNvSpPr/>
          <p:nvPr/>
        </p:nvSpPr>
        <p:spPr>
          <a:xfrm>
            <a:off x="8398955" y="2658278"/>
            <a:ext cx="42362" cy="42362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4" name="Mucus granule 055"/>
          <p:cNvSpPr/>
          <p:nvPr/>
        </p:nvSpPr>
        <p:spPr>
          <a:xfrm>
            <a:off x="3501905" y="2573501"/>
            <a:ext cx="60401" cy="60401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5" name="Mucus granule 056"/>
          <p:cNvSpPr/>
          <p:nvPr/>
        </p:nvSpPr>
        <p:spPr>
          <a:xfrm>
            <a:off x="9791749" y="2581497"/>
            <a:ext cx="56531" cy="56531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6" name="Mucus granule 057"/>
          <p:cNvSpPr/>
          <p:nvPr/>
        </p:nvSpPr>
        <p:spPr>
          <a:xfrm>
            <a:off x="1204853" y="2616448"/>
            <a:ext cx="86075" cy="86075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7" name="Mucus granule 058"/>
          <p:cNvSpPr/>
          <p:nvPr/>
        </p:nvSpPr>
        <p:spPr>
          <a:xfrm>
            <a:off x="7258416" y="2613147"/>
            <a:ext cx="31520" cy="31520"/>
          </a:xfrm>
          <a:prstGeom prst="ellipse">
            <a:avLst/>
          </a:prstGeom>
          <a:solidFill>
            <a:srgbClr val="F1D89C">
              <a:alpha val="45000"/>
            </a:srgbClr>
          </a:solidFill>
          <a:ln w="4762">
            <a:solidFill>
              <a:srgbClr val="D5BC79">
                <a:alpha val="4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8" name="Mucus granule 059"/>
          <p:cNvSpPr/>
          <p:nvPr/>
        </p:nvSpPr>
        <p:spPr>
          <a:xfrm>
            <a:off x="4192350" y="2655863"/>
            <a:ext cx="42121" cy="42121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9" name="Mucus granule 060"/>
          <p:cNvSpPr/>
          <p:nvPr/>
        </p:nvSpPr>
        <p:spPr>
          <a:xfrm>
            <a:off x="5748403" y="2566105"/>
            <a:ext cx="42874" cy="42874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0" name="Mucus granule 061"/>
          <p:cNvSpPr/>
          <p:nvPr/>
        </p:nvSpPr>
        <p:spPr>
          <a:xfrm>
            <a:off x="9968877" y="2678163"/>
            <a:ext cx="67931" cy="67931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1" name="Mucus granule 062"/>
          <p:cNvSpPr/>
          <p:nvPr/>
        </p:nvSpPr>
        <p:spPr>
          <a:xfrm>
            <a:off x="9996453" y="2609161"/>
            <a:ext cx="65115" cy="65115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2" name="Mucus granule 063"/>
          <p:cNvSpPr/>
          <p:nvPr/>
        </p:nvSpPr>
        <p:spPr>
          <a:xfrm>
            <a:off x="6638926" y="2590203"/>
            <a:ext cx="55959" cy="55959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" name="Mucus granule 064"/>
          <p:cNvSpPr/>
          <p:nvPr/>
        </p:nvSpPr>
        <p:spPr>
          <a:xfrm>
            <a:off x="2061269" y="2634028"/>
            <a:ext cx="31200" cy="31200"/>
          </a:xfrm>
          <a:prstGeom prst="ellipse">
            <a:avLst/>
          </a:prstGeom>
          <a:solidFill>
            <a:srgbClr val="F1D89C">
              <a:alpha val="45000"/>
            </a:srgbClr>
          </a:solidFill>
          <a:ln w="4762">
            <a:solidFill>
              <a:srgbClr val="D5BC79">
                <a:alpha val="4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4" name="Mucus granule 065"/>
          <p:cNvSpPr/>
          <p:nvPr/>
        </p:nvSpPr>
        <p:spPr>
          <a:xfrm>
            <a:off x="11946004" y="2591222"/>
            <a:ext cx="49455" cy="49455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5" name="Mucus granule 066"/>
          <p:cNvSpPr/>
          <p:nvPr/>
        </p:nvSpPr>
        <p:spPr>
          <a:xfrm>
            <a:off x="7188699" y="2526418"/>
            <a:ext cx="62139" cy="62139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6" name="Mucus granule 067"/>
          <p:cNvSpPr/>
          <p:nvPr/>
        </p:nvSpPr>
        <p:spPr>
          <a:xfrm>
            <a:off x="8640695" y="2510171"/>
            <a:ext cx="83281" cy="83281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7" name="Mucus granule 068"/>
          <p:cNvSpPr/>
          <p:nvPr/>
        </p:nvSpPr>
        <p:spPr>
          <a:xfrm>
            <a:off x="1273859" y="2644830"/>
            <a:ext cx="88237" cy="88237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8" name="Mucus granule 069"/>
          <p:cNvSpPr/>
          <p:nvPr/>
        </p:nvSpPr>
        <p:spPr>
          <a:xfrm>
            <a:off x="3464211" y="2680627"/>
            <a:ext cx="32723" cy="32723"/>
          </a:xfrm>
          <a:prstGeom prst="ellipse">
            <a:avLst/>
          </a:prstGeom>
          <a:solidFill>
            <a:srgbClr val="F1D89C">
              <a:alpha val="45000"/>
            </a:srgbClr>
          </a:solidFill>
          <a:ln w="4762">
            <a:solidFill>
              <a:srgbClr val="D5BC79">
                <a:alpha val="4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9" name="Mucus granule 070"/>
          <p:cNvSpPr/>
          <p:nvPr/>
        </p:nvSpPr>
        <p:spPr>
          <a:xfrm>
            <a:off x="1561383" y="2643436"/>
            <a:ext cx="91017" cy="91017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0" name="Mucus granule 071"/>
          <p:cNvSpPr/>
          <p:nvPr/>
        </p:nvSpPr>
        <p:spPr>
          <a:xfrm>
            <a:off x="6982823" y="2666551"/>
            <a:ext cx="89152" cy="89152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1" name="Mucus granule 072"/>
          <p:cNvSpPr/>
          <p:nvPr/>
        </p:nvSpPr>
        <p:spPr>
          <a:xfrm>
            <a:off x="7769754" y="2553223"/>
            <a:ext cx="72805" cy="72805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2" name="Mucus granule 073"/>
          <p:cNvSpPr/>
          <p:nvPr/>
        </p:nvSpPr>
        <p:spPr>
          <a:xfrm>
            <a:off x="10861209" y="2652784"/>
            <a:ext cx="84072" cy="84072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3" name="Mucus granule 074"/>
          <p:cNvSpPr/>
          <p:nvPr/>
        </p:nvSpPr>
        <p:spPr>
          <a:xfrm>
            <a:off x="11450197" y="2675979"/>
            <a:ext cx="81966" cy="81966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4" name="Mucus granule 075"/>
          <p:cNvSpPr/>
          <p:nvPr/>
        </p:nvSpPr>
        <p:spPr>
          <a:xfrm>
            <a:off x="10813034" y="2644803"/>
            <a:ext cx="67510" cy="67510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5" name="Mucus granule 076"/>
          <p:cNvSpPr/>
          <p:nvPr/>
        </p:nvSpPr>
        <p:spPr>
          <a:xfrm>
            <a:off x="4001478" y="2544443"/>
            <a:ext cx="37381" cy="37381"/>
          </a:xfrm>
          <a:prstGeom prst="ellipse">
            <a:avLst/>
          </a:prstGeom>
          <a:solidFill>
            <a:srgbClr val="F1D89C">
              <a:alpha val="45000"/>
            </a:srgbClr>
          </a:solidFill>
          <a:ln w="4762">
            <a:solidFill>
              <a:srgbClr val="D5BC79">
                <a:alpha val="4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6" name="Mucus granule 077"/>
          <p:cNvSpPr/>
          <p:nvPr/>
        </p:nvSpPr>
        <p:spPr>
          <a:xfrm>
            <a:off x="9948272" y="2699628"/>
            <a:ext cx="48078" cy="48078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7" name="Mucus granule 078"/>
          <p:cNvSpPr/>
          <p:nvPr/>
        </p:nvSpPr>
        <p:spPr>
          <a:xfrm>
            <a:off x="3242322" y="2519025"/>
            <a:ext cx="51890" cy="51890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8" name="Mucus granule 079"/>
          <p:cNvSpPr/>
          <p:nvPr/>
        </p:nvSpPr>
        <p:spPr>
          <a:xfrm>
            <a:off x="1733117" y="2617852"/>
            <a:ext cx="28404" cy="28404"/>
          </a:xfrm>
          <a:prstGeom prst="ellipse">
            <a:avLst/>
          </a:prstGeom>
          <a:solidFill>
            <a:srgbClr val="F1D89C">
              <a:alpha val="45000"/>
            </a:srgbClr>
          </a:solidFill>
          <a:ln w="4762">
            <a:solidFill>
              <a:srgbClr val="D5BC79">
                <a:alpha val="4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9" name="Mucus granule 080"/>
          <p:cNvSpPr/>
          <p:nvPr/>
        </p:nvSpPr>
        <p:spPr>
          <a:xfrm>
            <a:off x="5410761" y="2536957"/>
            <a:ext cx="29917" cy="29917"/>
          </a:xfrm>
          <a:prstGeom prst="ellipse">
            <a:avLst/>
          </a:prstGeom>
          <a:solidFill>
            <a:srgbClr val="F1D89C">
              <a:alpha val="45000"/>
            </a:srgbClr>
          </a:solidFill>
          <a:ln w="4762">
            <a:solidFill>
              <a:srgbClr val="D5BC79">
                <a:alpha val="4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0" name="Mucus granule 082"/>
          <p:cNvSpPr/>
          <p:nvPr/>
        </p:nvSpPr>
        <p:spPr>
          <a:xfrm>
            <a:off x="6288461" y="2539786"/>
            <a:ext cx="84344" cy="84344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1" name="Mucus granule 083"/>
          <p:cNvSpPr/>
          <p:nvPr/>
        </p:nvSpPr>
        <p:spPr>
          <a:xfrm>
            <a:off x="6087930" y="2672888"/>
            <a:ext cx="43001" cy="43001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2" name="Mucus granule 084"/>
          <p:cNvSpPr/>
          <p:nvPr/>
        </p:nvSpPr>
        <p:spPr>
          <a:xfrm>
            <a:off x="1405702" y="2602746"/>
            <a:ext cx="33621" cy="33621"/>
          </a:xfrm>
          <a:prstGeom prst="ellipse">
            <a:avLst/>
          </a:prstGeom>
          <a:solidFill>
            <a:srgbClr val="F1D89C">
              <a:alpha val="45000"/>
            </a:srgbClr>
          </a:solidFill>
          <a:ln w="4762">
            <a:solidFill>
              <a:srgbClr val="D5BC79">
                <a:alpha val="4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3" name="Mucus granule 085"/>
          <p:cNvSpPr/>
          <p:nvPr/>
        </p:nvSpPr>
        <p:spPr>
          <a:xfrm>
            <a:off x="1086908" y="2645214"/>
            <a:ext cx="55837" cy="55837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" name="Mucus granule 086"/>
          <p:cNvSpPr/>
          <p:nvPr/>
        </p:nvSpPr>
        <p:spPr>
          <a:xfrm>
            <a:off x="2172520" y="2650690"/>
            <a:ext cx="58524" cy="58524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5" name="Mucus granule 087"/>
          <p:cNvSpPr/>
          <p:nvPr/>
        </p:nvSpPr>
        <p:spPr>
          <a:xfrm>
            <a:off x="2145416" y="2643054"/>
            <a:ext cx="64603" cy="64603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6" name="Mucus granule 088"/>
          <p:cNvSpPr/>
          <p:nvPr/>
        </p:nvSpPr>
        <p:spPr>
          <a:xfrm>
            <a:off x="2123844" y="2568491"/>
            <a:ext cx="78126" cy="78126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7" name="Mucus granule 090"/>
          <p:cNvSpPr/>
          <p:nvPr/>
        </p:nvSpPr>
        <p:spPr>
          <a:xfrm>
            <a:off x="9969321" y="2667764"/>
            <a:ext cx="84114" cy="84114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8" name="Mucus granule 091"/>
          <p:cNvSpPr/>
          <p:nvPr/>
        </p:nvSpPr>
        <p:spPr>
          <a:xfrm>
            <a:off x="4570023" y="2639152"/>
            <a:ext cx="47225" cy="47225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9" name="Mucus granule 092"/>
          <p:cNvSpPr/>
          <p:nvPr/>
        </p:nvSpPr>
        <p:spPr>
          <a:xfrm>
            <a:off x="2011817" y="2571848"/>
            <a:ext cx="69804" cy="69804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0" name="Mucus granule 093"/>
          <p:cNvSpPr/>
          <p:nvPr/>
        </p:nvSpPr>
        <p:spPr>
          <a:xfrm>
            <a:off x="339138" y="2654230"/>
            <a:ext cx="63554" cy="63554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1" name="Mucus granule 094"/>
          <p:cNvSpPr/>
          <p:nvPr/>
        </p:nvSpPr>
        <p:spPr>
          <a:xfrm>
            <a:off x="5975065" y="2535495"/>
            <a:ext cx="54450" cy="54450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2" name="Mucus granule 095"/>
          <p:cNvSpPr/>
          <p:nvPr/>
        </p:nvSpPr>
        <p:spPr>
          <a:xfrm>
            <a:off x="6587343" y="2527413"/>
            <a:ext cx="40258" cy="40258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3" name="Mucus granule 096"/>
          <p:cNvSpPr/>
          <p:nvPr/>
        </p:nvSpPr>
        <p:spPr>
          <a:xfrm>
            <a:off x="7788156" y="2542760"/>
            <a:ext cx="59305" cy="59305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4" name="Mucus granule 097"/>
          <p:cNvSpPr/>
          <p:nvPr/>
        </p:nvSpPr>
        <p:spPr>
          <a:xfrm>
            <a:off x="2282445" y="2608091"/>
            <a:ext cx="54938" cy="54938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5" name="Mucus granule 098"/>
          <p:cNvSpPr/>
          <p:nvPr/>
        </p:nvSpPr>
        <p:spPr>
          <a:xfrm>
            <a:off x="11303910" y="2541773"/>
            <a:ext cx="73190" cy="73190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6" name="Mucus granule 099"/>
          <p:cNvSpPr/>
          <p:nvPr/>
        </p:nvSpPr>
        <p:spPr>
          <a:xfrm>
            <a:off x="5571042" y="2522213"/>
            <a:ext cx="60319" cy="60319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7" name="Mucus granule 100"/>
          <p:cNvSpPr/>
          <p:nvPr/>
        </p:nvSpPr>
        <p:spPr>
          <a:xfrm>
            <a:off x="6556586" y="2659841"/>
            <a:ext cx="67044" cy="67044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8" name="Mucus granule 101"/>
          <p:cNvSpPr/>
          <p:nvPr/>
        </p:nvSpPr>
        <p:spPr>
          <a:xfrm>
            <a:off x="1781545" y="2575633"/>
            <a:ext cx="67994" cy="67994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9" name="Mucus granule 102"/>
          <p:cNvSpPr/>
          <p:nvPr/>
        </p:nvSpPr>
        <p:spPr>
          <a:xfrm>
            <a:off x="5906044" y="2556798"/>
            <a:ext cx="76995" cy="76995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0" name="Mucus granule 103"/>
          <p:cNvSpPr/>
          <p:nvPr/>
        </p:nvSpPr>
        <p:spPr>
          <a:xfrm>
            <a:off x="1378463" y="2549349"/>
            <a:ext cx="40212" cy="40212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1" name="Mucus granule 104"/>
          <p:cNvSpPr/>
          <p:nvPr/>
        </p:nvSpPr>
        <p:spPr>
          <a:xfrm>
            <a:off x="7293333" y="2601158"/>
            <a:ext cx="61073" cy="61073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2" name="Microvillus brush border"/>
          <p:cNvSpPr/>
          <p:nvPr/>
        </p:nvSpPr>
        <p:spPr>
          <a:xfrm>
            <a:off x="285750" y="2752725"/>
            <a:ext cx="9067800" cy="209550"/>
          </a:xfrm>
          <a:custGeom>
            <a:avLst/>
            <a:gdLst/>
            <a:ahLst/>
            <a:cxnLst/>
            <a:rect l="0" t="0" r="r" b="b"/>
            <a:pathLst>
              <a:path w="9067800" h="209550">
                <a:moveTo>
                  <a:pt x="0" y="142875"/>
                </a:moveTo>
                <a:cubicBezTo>
                  <a:pt x="9525" y="209550"/>
                  <a:pt x="47625" y="209550"/>
                  <a:pt x="54293" y="133350"/>
                </a:cubicBezTo>
                <a:lnTo>
                  <a:pt x="57150" y="76200"/>
                </a:lnTo>
                <a:cubicBezTo>
                  <a:pt x="57150" y="0"/>
                  <a:pt x="104775" y="9525"/>
                  <a:pt x="109538" y="76200"/>
                </a:cubicBezTo>
                <a:lnTo>
                  <a:pt x="114300" y="142875"/>
                </a:lnTo>
                <a:cubicBezTo>
                  <a:pt x="123825" y="209550"/>
                  <a:pt x="161925" y="209550"/>
                  <a:pt x="168593" y="133350"/>
                </a:cubicBezTo>
                <a:lnTo>
                  <a:pt x="171450" y="76200"/>
                </a:lnTo>
                <a:cubicBezTo>
                  <a:pt x="171450" y="0"/>
                  <a:pt x="219075" y="9525"/>
                  <a:pt x="223838" y="76200"/>
                </a:cubicBezTo>
                <a:lnTo>
                  <a:pt x="228600" y="142875"/>
                </a:lnTo>
                <a:cubicBezTo>
                  <a:pt x="238125" y="209550"/>
                  <a:pt x="276225" y="209550"/>
                  <a:pt x="282892" y="133350"/>
                </a:cubicBezTo>
                <a:lnTo>
                  <a:pt x="285750" y="76200"/>
                </a:lnTo>
                <a:cubicBezTo>
                  <a:pt x="285750" y="0"/>
                  <a:pt x="333375" y="9525"/>
                  <a:pt x="338138" y="76200"/>
                </a:cubicBezTo>
                <a:lnTo>
                  <a:pt x="342900" y="142875"/>
                </a:lnTo>
                <a:cubicBezTo>
                  <a:pt x="352425" y="209550"/>
                  <a:pt x="390525" y="209550"/>
                  <a:pt x="397192" y="133350"/>
                </a:cubicBezTo>
                <a:lnTo>
                  <a:pt x="400050" y="76200"/>
                </a:lnTo>
                <a:cubicBezTo>
                  <a:pt x="400050" y="0"/>
                  <a:pt x="447675" y="9525"/>
                  <a:pt x="452438" y="76200"/>
                </a:cubicBezTo>
                <a:lnTo>
                  <a:pt x="457200" y="142875"/>
                </a:lnTo>
                <a:cubicBezTo>
                  <a:pt x="466725" y="209550"/>
                  <a:pt x="504825" y="209550"/>
                  <a:pt x="511492" y="133350"/>
                </a:cubicBezTo>
                <a:lnTo>
                  <a:pt x="514350" y="76200"/>
                </a:lnTo>
                <a:cubicBezTo>
                  <a:pt x="514350" y="0"/>
                  <a:pt x="561975" y="9525"/>
                  <a:pt x="566738" y="76200"/>
                </a:cubicBezTo>
                <a:lnTo>
                  <a:pt x="571500" y="142875"/>
                </a:lnTo>
                <a:cubicBezTo>
                  <a:pt x="581025" y="209550"/>
                  <a:pt x="619125" y="209550"/>
                  <a:pt x="625792" y="133350"/>
                </a:cubicBezTo>
                <a:lnTo>
                  <a:pt x="628650" y="76200"/>
                </a:lnTo>
                <a:cubicBezTo>
                  <a:pt x="628650" y="0"/>
                  <a:pt x="676275" y="9525"/>
                  <a:pt x="681038" y="76200"/>
                </a:cubicBezTo>
                <a:lnTo>
                  <a:pt x="685800" y="142875"/>
                </a:lnTo>
                <a:cubicBezTo>
                  <a:pt x="695325" y="209550"/>
                  <a:pt x="733425" y="209550"/>
                  <a:pt x="740092" y="133350"/>
                </a:cubicBezTo>
                <a:lnTo>
                  <a:pt x="742950" y="76200"/>
                </a:lnTo>
                <a:cubicBezTo>
                  <a:pt x="742950" y="0"/>
                  <a:pt x="790575" y="9525"/>
                  <a:pt x="795338" y="76200"/>
                </a:cubicBezTo>
                <a:lnTo>
                  <a:pt x="800100" y="142875"/>
                </a:lnTo>
                <a:cubicBezTo>
                  <a:pt x="809625" y="209550"/>
                  <a:pt x="847725" y="209550"/>
                  <a:pt x="854392" y="133350"/>
                </a:cubicBezTo>
                <a:lnTo>
                  <a:pt x="857250" y="76200"/>
                </a:lnTo>
                <a:cubicBezTo>
                  <a:pt x="857250" y="0"/>
                  <a:pt x="904875" y="9525"/>
                  <a:pt x="909638" y="76200"/>
                </a:cubicBezTo>
                <a:lnTo>
                  <a:pt x="914400" y="142875"/>
                </a:lnTo>
                <a:cubicBezTo>
                  <a:pt x="923925" y="209550"/>
                  <a:pt x="962025" y="209550"/>
                  <a:pt x="968692" y="133350"/>
                </a:cubicBezTo>
                <a:lnTo>
                  <a:pt x="971550" y="76200"/>
                </a:lnTo>
                <a:cubicBezTo>
                  <a:pt x="971550" y="0"/>
                  <a:pt x="1019175" y="9525"/>
                  <a:pt x="1023938" y="76200"/>
                </a:cubicBezTo>
                <a:lnTo>
                  <a:pt x="1028700" y="142875"/>
                </a:lnTo>
                <a:cubicBezTo>
                  <a:pt x="1038225" y="209550"/>
                  <a:pt x="1076325" y="209550"/>
                  <a:pt x="1082992" y="133350"/>
                </a:cubicBezTo>
                <a:lnTo>
                  <a:pt x="1085850" y="76200"/>
                </a:lnTo>
                <a:cubicBezTo>
                  <a:pt x="1085850" y="0"/>
                  <a:pt x="1133475" y="9525"/>
                  <a:pt x="1138238" y="76200"/>
                </a:cubicBezTo>
                <a:lnTo>
                  <a:pt x="1143000" y="142875"/>
                </a:lnTo>
                <a:cubicBezTo>
                  <a:pt x="1152525" y="209550"/>
                  <a:pt x="1190625" y="209550"/>
                  <a:pt x="1197292" y="133350"/>
                </a:cubicBezTo>
                <a:lnTo>
                  <a:pt x="1200150" y="76200"/>
                </a:lnTo>
                <a:cubicBezTo>
                  <a:pt x="1200150" y="0"/>
                  <a:pt x="1247775" y="9525"/>
                  <a:pt x="1252538" y="76200"/>
                </a:cubicBezTo>
                <a:lnTo>
                  <a:pt x="1257300" y="142875"/>
                </a:lnTo>
                <a:cubicBezTo>
                  <a:pt x="1266825" y="209550"/>
                  <a:pt x="1304925" y="209550"/>
                  <a:pt x="1311592" y="133350"/>
                </a:cubicBezTo>
                <a:lnTo>
                  <a:pt x="1314450" y="76200"/>
                </a:lnTo>
                <a:cubicBezTo>
                  <a:pt x="1314450" y="0"/>
                  <a:pt x="1362075" y="9525"/>
                  <a:pt x="1366838" y="76200"/>
                </a:cubicBezTo>
                <a:lnTo>
                  <a:pt x="1371600" y="142875"/>
                </a:lnTo>
                <a:cubicBezTo>
                  <a:pt x="1381125" y="209550"/>
                  <a:pt x="1419225" y="209550"/>
                  <a:pt x="1425892" y="133350"/>
                </a:cubicBezTo>
                <a:lnTo>
                  <a:pt x="1428750" y="76200"/>
                </a:lnTo>
                <a:cubicBezTo>
                  <a:pt x="1428750" y="0"/>
                  <a:pt x="1476375" y="9525"/>
                  <a:pt x="1481138" y="76200"/>
                </a:cubicBezTo>
                <a:lnTo>
                  <a:pt x="1485900" y="142875"/>
                </a:lnTo>
                <a:cubicBezTo>
                  <a:pt x="1495425" y="209550"/>
                  <a:pt x="1533525" y="209550"/>
                  <a:pt x="1540192" y="133350"/>
                </a:cubicBezTo>
                <a:lnTo>
                  <a:pt x="1543050" y="76200"/>
                </a:lnTo>
                <a:cubicBezTo>
                  <a:pt x="1543050" y="0"/>
                  <a:pt x="1590675" y="9525"/>
                  <a:pt x="1595438" y="76200"/>
                </a:cubicBezTo>
                <a:lnTo>
                  <a:pt x="1600200" y="142875"/>
                </a:lnTo>
                <a:cubicBezTo>
                  <a:pt x="1609725" y="209550"/>
                  <a:pt x="1647825" y="209550"/>
                  <a:pt x="1654492" y="133350"/>
                </a:cubicBezTo>
                <a:lnTo>
                  <a:pt x="1657350" y="76200"/>
                </a:lnTo>
                <a:cubicBezTo>
                  <a:pt x="1657350" y="0"/>
                  <a:pt x="1704975" y="9525"/>
                  <a:pt x="1709738" y="76200"/>
                </a:cubicBezTo>
                <a:lnTo>
                  <a:pt x="1714500" y="142875"/>
                </a:lnTo>
                <a:cubicBezTo>
                  <a:pt x="1724025" y="209550"/>
                  <a:pt x="1762125" y="209550"/>
                  <a:pt x="1768792" y="133350"/>
                </a:cubicBezTo>
                <a:lnTo>
                  <a:pt x="1771650" y="76200"/>
                </a:lnTo>
                <a:cubicBezTo>
                  <a:pt x="1771650" y="0"/>
                  <a:pt x="1819275" y="9525"/>
                  <a:pt x="1824038" y="76200"/>
                </a:cubicBezTo>
                <a:lnTo>
                  <a:pt x="1828800" y="142875"/>
                </a:lnTo>
                <a:cubicBezTo>
                  <a:pt x="1838325" y="209550"/>
                  <a:pt x="1876425" y="209550"/>
                  <a:pt x="1883092" y="133350"/>
                </a:cubicBezTo>
                <a:lnTo>
                  <a:pt x="1885950" y="76200"/>
                </a:lnTo>
                <a:cubicBezTo>
                  <a:pt x="1885950" y="0"/>
                  <a:pt x="1933575" y="9525"/>
                  <a:pt x="1938338" y="76200"/>
                </a:cubicBezTo>
                <a:lnTo>
                  <a:pt x="1943100" y="142875"/>
                </a:lnTo>
                <a:cubicBezTo>
                  <a:pt x="1952625" y="209550"/>
                  <a:pt x="1990725" y="209550"/>
                  <a:pt x="1997392" y="133350"/>
                </a:cubicBezTo>
                <a:lnTo>
                  <a:pt x="2000250" y="76200"/>
                </a:lnTo>
                <a:cubicBezTo>
                  <a:pt x="2000250" y="0"/>
                  <a:pt x="2047875" y="9525"/>
                  <a:pt x="2052638" y="76200"/>
                </a:cubicBezTo>
                <a:lnTo>
                  <a:pt x="2057400" y="142875"/>
                </a:lnTo>
                <a:cubicBezTo>
                  <a:pt x="2066925" y="209550"/>
                  <a:pt x="2105025" y="209550"/>
                  <a:pt x="2111692" y="133350"/>
                </a:cubicBezTo>
                <a:lnTo>
                  <a:pt x="2114550" y="76200"/>
                </a:lnTo>
                <a:cubicBezTo>
                  <a:pt x="2114550" y="0"/>
                  <a:pt x="2162175" y="9525"/>
                  <a:pt x="2166938" y="76200"/>
                </a:cubicBezTo>
                <a:lnTo>
                  <a:pt x="2171700" y="142875"/>
                </a:lnTo>
                <a:cubicBezTo>
                  <a:pt x="2181225" y="209550"/>
                  <a:pt x="2219325" y="209550"/>
                  <a:pt x="2225992" y="133350"/>
                </a:cubicBezTo>
                <a:lnTo>
                  <a:pt x="2228850" y="76200"/>
                </a:lnTo>
                <a:cubicBezTo>
                  <a:pt x="2228850" y="0"/>
                  <a:pt x="2276475" y="9525"/>
                  <a:pt x="2281238" y="76200"/>
                </a:cubicBezTo>
                <a:lnTo>
                  <a:pt x="2286000" y="142875"/>
                </a:lnTo>
                <a:cubicBezTo>
                  <a:pt x="2295525" y="209550"/>
                  <a:pt x="2333625" y="209550"/>
                  <a:pt x="2340292" y="133350"/>
                </a:cubicBezTo>
                <a:lnTo>
                  <a:pt x="2343150" y="76200"/>
                </a:lnTo>
                <a:cubicBezTo>
                  <a:pt x="2343150" y="0"/>
                  <a:pt x="2390775" y="9525"/>
                  <a:pt x="2395538" y="76200"/>
                </a:cubicBezTo>
                <a:lnTo>
                  <a:pt x="2400300" y="142875"/>
                </a:lnTo>
                <a:cubicBezTo>
                  <a:pt x="2409825" y="209550"/>
                  <a:pt x="2447925" y="209550"/>
                  <a:pt x="2454592" y="133350"/>
                </a:cubicBezTo>
                <a:lnTo>
                  <a:pt x="2457450" y="76200"/>
                </a:lnTo>
                <a:cubicBezTo>
                  <a:pt x="2457450" y="0"/>
                  <a:pt x="2505075" y="9525"/>
                  <a:pt x="2509838" y="76200"/>
                </a:cubicBezTo>
                <a:lnTo>
                  <a:pt x="2514600" y="142875"/>
                </a:lnTo>
                <a:cubicBezTo>
                  <a:pt x="2524125" y="209550"/>
                  <a:pt x="2562225" y="209550"/>
                  <a:pt x="2568892" y="133350"/>
                </a:cubicBezTo>
                <a:lnTo>
                  <a:pt x="2571750" y="76200"/>
                </a:lnTo>
                <a:cubicBezTo>
                  <a:pt x="2571750" y="0"/>
                  <a:pt x="2619375" y="9525"/>
                  <a:pt x="2624138" y="76200"/>
                </a:cubicBezTo>
                <a:lnTo>
                  <a:pt x="2628900" y="142875"/>
                </a:lnTo>
                <a:cubicBezTo>
                  <a:pt x="2638425" y="209550"/>
                  <a:pt x="2676525" y="209550"/>
                  <a:pt x="2683192" y="133350"/>
                </a:cubicBezTo>
                <a:lnTo>
                  <a:pt x="2686050" y="76200"/>
                </a:lnTo>
                <a:cubicBezTo>
                  <a:pt x="2686050" y="0"/>
                  <a:pt x="2733675" y="9525"/>
                  <a:pt x="2738438" y="76200"/>
                </a:cubicBezTo>
                <a:lnTo>
                  <a:pt x="2743200" y="142875"/>
                </a:lnTo>
                <a:cubicBezTo>
                  <a:pt x="2752725" y="209550"/>
                  <a:pt x="2790825" y="209550"/>
                  <a:pt x="2797492" y="133350"/>
                </a:cubicBezTo>
                <a:lnTo>
                  <a:pt x="2800350" y="76200"/>
                </a:lnTo>
                <a:cubicBezTo>
                  <a:pt x="2800350" y="0"/>
                  <a:pt x="2847975" y="9525"/>
                  <a:pt x="2852738" y="76200"/>
                </a:cubicBezTo>
                <a:lnTo>
                  <a:pt x="2857500" y="142875"/>
                </a:lnTo>
                <a:cubicBezTo>
                  <a:pt x="2867025" y="209550"/>
                  <a:pt x="2905125" y="209550"/>
                  <a:pt x="2911792" y="133350"/>
                </a:cubicBezTo>
                <a:lnTo>
                  <a:pt x="2914650" y="76200"/>
                </a:lnTo>
                <a:cubicBezTo>
                  <a:pt x="2914650" y="0"/>
                  <a:pt x="2962275" y="9525"/>
                  <a:pt x="2967038" y="76200"/>
                </a:cubicBezTo>
                <a:lnTo>
                  <a:pt x="2971800" y="142875"/>
                </a:lnTo>
                <a:cubicBezTo>
                  <a:pt x="2981325" y="209550"/>
                  <a:pt x="3019425" y="209550"/>
                  <a:pt x="3026092" y="133350"/>
                </a:cubicBezTo>
                <a:lnTo>
                  <a:pt x="3028950" y="76200"/>
                </a:lnTo>
                <a:cubicBezTo>
                  <a:pt x="3028950" y="0"/>
                  <a:pt x="3076575" y="9525"/>
                  <a:pt x="3081338" y="76200"/>
                </a:cubicBezTo>
                <a:lnTo>
                  <a:pt x="3086100" y="142875"/>
                </a:lnTo>
                <a:cubicBezTo>
                  <a:pt x="3095625" y="209550"/>
                  <a:pt x="3133725" y="209550"/>
                  <a:pt x="3140392" y="133350"/>
                </a:cubicBezTo>
                <a:lnTo>
                  <a:pt x="3143250" y="76200"/>
                </a:lnTo>
                <a:cubicBezTo>
                  <a:pt x="3143250" y="0"/>
                  <a:pt x="3190875" y="9525"/>
                  <a:pt x="3195638" y="76200"/>
                </a:cubicBezTo>
                <a:lnTo>
                  <a:pt x="3200400" y="142875"/>
                </a:lnTo>
                <a:cubicBezTo>
                  <a:pt x="3209925" y="209550"/>
                  <a:pt x="3248025" y="209550"/>
                  <a:pt x="3254692" y="133350"/>
                </a:cubicBezTo>
                <a:lnTo>
                  <a:pt x="3257550" y="76200"/>
                </a:lnTo>
                <a:cubicBezTo>
                  <a:pt x="3257550" y="0"/>
                  <a:pt x="3305175" y="9525"/>
                  <a:pt x="3309938" y="76200"/>
                </a:cubicBezTo>
                <a:lnTo>
                  <a:pt x="3314700" y="142875"/>
                </a:lnTo>
                <a:cubicBezTo>
                  <a:pt x="3324225" y="209550"/>
                  <a:pt x="3362325" y="209550"/>
                  <a:pt x="3368992" y="133350"/>
                </a:cubicBezTo>
                <a:lnTo>
                  <a:pt x="3371850" y="76200"/>
                </a:lnTo>
                <a:cubicBezTo>
                  <a:pt x="3371850" y="0"/>
                  <a:pt x="3419475" y="9525"/>
                  <a:pt x="3424238" y="76200"/>
                </a:cubicBezTo>
                <a:lnTo>
                  <a:pt x="3429000" y="142875"/>
                </a:lnTo>
                <a:cubicBezTo>
                  <a:pt x="3438525" y="209550"/>
                  <a:pt x="3476625" y="209550"/>
                  <a:pt x="3483292" y="133350"/>
                </a:cubicBezTo>
                <a:lnTo>
                  <a:pt x="3486150" y="76200"/>
                </a:lnTo>
                <a:cubicBezTo>
                  <a:pt x="3486150" y="0"/>
                  <a:pt x="3533775" y="9525"/>
                  <a:pt x="3538538" y="76200"/>
                </a:cubicBezTo>
                <a:lnTo>
                  <a:pt x="3543300" y="142875"/>
                </a:lnTo>
                <a:cubicBezTo>
                  <a:pt x="3552825" y="209550"/>
                  <a:pt x="3590925" y="209550"/>
                  <a:pt x="3597592" y="133350"/>
                </a:cubicBezTo>
                <a:lnTo>
                  <a:pt x="3600450" y="76200"/>
                </a:lnTo>
                <a:cubicBezTo>
                  <a:pt x="3600450" y="0"/>
                  <a:pt x="3648075" y="9525"/>
                  <a:pt x="3652838" y="76200"/>
                </a:cubicBezTo>
                <a:lnTo>
                  <a:pt x="3657600" y="142875"/>
                </a:lnTo>
                <a:cubicBezTo>
                  <a:pt x="3667125" y="209550"/>
                  <a:pt x="3705225" y="209550"/>
                  <a:pt x="3711892" y="133350"/>
                </a:cubicBezTo>
                <a:lnTo>
                  <a:pt x="3714750" y="76200"/>
                </a:lnTo>
                <a:cubicBezTo>
                  <a:pt x="3714750" y="0"/>
                  <a:pt x="3762375" y="9525"/>
                  <a:pt x="3767138" y="76200"/>
                </a:cubicBezTo>
                <a:lnTo>
                  <a:pt x="3771900" y="142875"/>
                </a:lnTo>
                <a:cubicBezTo>
                  <a:pt x="3781425" y="209550"/>
                  <a:pt x="3819525" y="209550"/>
                  <a:pt x="3826192" y="133350"/>
                </a:cubicBezTo>
                <a:lnTo>
                  <a:pt x="3829050" y="76200"/>
                </a:lnTo>
                <a:cubicBezTo>
                  <a:pt x="3829050" y="0"/>
                  <a:pt x="3876675" y="9525"/>
                  <a:pt x="3881438" y="76200"/>
                </a:cubicBezTo>
                <a:lnTo>
                  <a:pt x="3886200" y="142875"/>
                </a:lnTo>
                <a:cubicBezTo>
                  <a:pt x="3895725" y="209550"/>
                  <a:pt x="3933825" y="209550"/>
                  <a:pt x="3940492" y="133350"/>
                </a:cubicBezTo>
                <a:lnTo>
                  <a:pt x="3943350" y="76200"/>
                </a:lnTo>
                <a:cubicBezTo>
                  <a:pt x="3943350" y="0"/>
                  <a:pt x="3990975" y="9525"/>
                  <a:pt x="3995738" y="76200"/>
                </a:cubicBezTo>
                <a:lnTo>
                  <a:pt x="4000500" y="142875"/>
                </a:lnTo>
                <a:cubicBezTo>
                  <a:pt x="4010025" y="209550"/>
                  <a:pt x="4048125" y="209550"/>
                  <a:pt x="4054792" y="133350"/>
                </a:cubicBezTo>
                <a:lnTo>
                  <a:pt x="4057650" y="76200"/>
                </a:lnTo>
                <a:cubicBezTo>
                  <a:pt x="4057650" y="0"/>
                  <a:pt x="4105275" y="9525"/>
                  <a:pt x="4110038" y="76200"/>
                </a:cubicBezTo>
                <a:lnTo>
                  <a:pt x="4114800" y="142875"/>
                </a:lnTo>
                <a:cubicBezTo>
                  <a:pt x="4124325" y="209550"/>
                  <a:pt x="4162425" y="209550"/>
                  <a:pt x="4169092" y="133350"/>
                </a:cubicBezTo>
                <a:lnTo>
                  <a:pt x="4171950" y="76200"/>
                </a:lnTo>
                <a:cubicBezTo>
                  <a:pt x="4171950" y="0"/>
                  <a:pt x="4219575" y="9525"/>
                  <a:pt x="4224338" y="76200"/>
                </a:cubicBezTo>
                <a:lnTo>
                  <a:pt x="4229100" y="142875"/>
                </a:lnTo>
                <a:cubicBezTo>
                  <a:pt x="4238625" y="209550"/>
                  <a:pt x="4276725" y="209550"/>
                  <a:pt x="4283392" y="133350"/>
                </a:cubicBezTo>
                <a:lnTo>
                  <a:pt x="4286250" y="76200"/>
                </a:lnTo>
                <a:cubicBezTo>
                  <a:pt x="4286250" y="0"/>
                  <a:pt x="4333875" y="9525"/>
                  <a:pt x="4338638" y="76200"/>
                </a:cubicBezTo>
                <a:lnTo>
                  <a:pt x="4343400" y="142875"/>
                </a:lnTo>
                <a:cubicBezTo>
                  <a:pt x="4352925" y="209550"/>
                  <a:pt x="4391025" y="209550"/>
                  <a:pt x="4397692" y="133350"/>
                </a:cubicBezTo>
                <a:lnTo>
                  <a:pt x="4400550" y="76200"/>
                </a:lnTo>
                <a:cubicBezTo>
                  <a:pt x="4400550" y="0"/>
                  <a:pt x="4448175" y="9525"/>
                  <a:pt x="4452938" y="76200"/>
                </a:cubicBezTo>
                <a:lnTo>
                  <a:pt x="4457700" y="142875"/>
                </a:lnTo>
                <a:cubicBezTo>
                  <a:pt x="4467225" y="209550"/>
                  <a:pt x="4505325" y="209550"/>
                  <a:pt x="4511992" y="133350"/>
                </a:cubicBezTo>
                <a:lnTo>
                  <a:pt x="4514850" y="76200"/>
                </a:lnTo>
                <a:cubicBezTo>
                  <a:pt x="4514850" y="0"/>
                  <a:pt x="4562475" y="9525"/>
                  <a:pt x="4567238" y="76200"/>
                </a:cubicBezTo>
                <a:lnTo>
                  <a:pt x="4572000" y="142875"/>
                </a:lnTo>
                <a:cubicBezTo>
                  <a:pt x="4581525" y="209550"/>
                  <a:pt x="4619625" y="209550"/>
                  <a:pt x="4626292" y="133350"/>
                </a:cubicBezTo>
                <a:lnTo>
                  <a:pt x="4629150" y="76200"/>
                </a:lnTo>
                <a:cubicBezTo>
                  <a:pt x="4629150" y="0"/>
                  <a:pt x="4676775" y="9525"/>
                  <a:pt x="4681538" y="76200"/>
                </a:cubicBezTo>
                <a:lnTo>
                  <a:pt x="4686300" y="142875"/>
                </a:lnTo>
                <a:cubicBezTo>
                  <a:pt x="4695825" y="209550"/>
                  <a:pt x="4733925" y="209550"/>
                  <a:pt x="4740592" y="133350"/>
                </a:cubicBezTo>
                <a:lnTo>
                  <a:pt x="4743450" y="76200"/>
                </a:lnTo>
                <a:cubicBezTo>
                  <a:pt x="4743450" y="0"/>
                  <a:pt x="4791075" y="9525"/>
                  <a:pt x="4795838" y="76200"/>
                </a:cubicBezTo>
                <a:lnTo>
                  <a:pt x="4800600" y="142875"/>
                </a:lnTo>
                <a:cubicBezTo>
                  <a:pt x="4810125" y="209550"/>
                  <a:pt x="4848225" y="209550"/>
                  <a:pt x="4854892" y="133350"/>
                </a:cubicBezTo>
                <a:lnTo>
                  <a:pt x="4857750" y="76200"/>
                </a:lnTo>
                <a:cubicBezTo>
                  <a:pt x="4857750" y="0"/>
                  <a:pt x="4905375" y="9525"/>
                  <a:pt x="4910138" y="76200"/>
                </a:cubicBezTo>
                <a:lnTo>
                  <a:pt x="4914900" y="142875"/>
                </a:lnTo>
                <a:cubicBezTo>
                  <a:pt x="4924425" y="209550"/>
                  <a:pt x="4962525" y="209550"/>
                  <a:pt x="4969192" y="133350"/>
                </a:cubicBezTo>
                <a:lnTo>
                  <a:pt x="4972050" y="76200"/>
                </a:lnTo>
                <a:cubicBezTo>
                  <a:pt x="4972050" y="0"/>
                  <a:pt x="5019675" y="9525"/>
                  <a:pt x="5024438" y="76200"/>
                </a:cubicBezTo>
                <a:lnTo>
                  <a:pt x="5029200" y="142875"/>
                </a:lnTo>
                <a:cubicBezTo>
                  <a:pt x="5038725" y="209550"/>
                  <a:pt x="5076825" y="209550"/>
                  <a:pt x="5083492" y="133350"/>
                </a:cubicBezTo>
                <a:lnTo>
                  <a:pt x="5086350" y="76200"/>
                </a:lnTo>
                <a:cubicBezTo>
                  <a:pt x="5086350" y="0"/>
                  <a:pt x="5133975" y="9525"/>
                  <a:pt x="5138738" y="76200"/>
                </a:cubicBezTo>
                <a:lnTo>
                  <a:pt x="5143500" y="142875"/>
                </a:lnTo>
                <a:cubicBezTo>
                  <a:pt x="5153025" y="209550"/>
                  <a:pt x="5191125" y="209550"/>
                  <a:pt x="5197792" y="133350"/>
                </a:cubicBezTo>
                <a:lnTo>
                  <a:pt x="5200650" y="76200"/>
                </a:lnTo>
                <a:cubicBezTo>
                  <a:pt x="5200650" y="0"/>
                  <a:pt x="5248275" y="9525"/>
                  <a:pt x="5253038" y="76200"/>
                </a:cubicBezTo>
                <a:lnTo>
                  <a:pt x="5257800" y="142875"/>
                </a:lnTo>
                <a:cubicBezTo>
                  <a:pt x="5267325" y="209550"/>
                  <a:pt x="5305425" y="209550"/>
                  <a:pt x="5312092" y="133350"/>
                </a:cubicBezTo>
                <a:lnTo>
                  <a:pt x="5314950" y="76200"/>
                </a:lnTo>
                <a:cubicBezTo>
                  <a:pt x="5314950" y="0"/>
                  <a:pt x="5362575" y="9525"/>
                  <a:pt x="5367338" y="76200"/>
                </a:cubicBezTo>
                <a:lnTo>
                  <a:pt x="5372100" y="142875"/>
                </a:lnTo>
                <a:cubicBezTo>
                  <a:pt x="5381625" y="209550"/>
                  <a:pt x="5419725" y="209550"/>
                  <a:pt x="5426392" y="133350"/>
                </a:cubicBezTo>
                <a:lnTo>
                  <a:pt x="5429250" y="76200"/>
                </a:lnTo>
                <a:cubicBezTo>
                  <a:pt x="5429250" y="0"/>
                  <a:pt x="5476875" y="9525"/>
                  <a:pt x="5481638" y="76200"/>
                </a:cubicBezTo>
                <a:lnTo>
                  <a:pt x="5486400" y="142875"/>
                </a:lnTo>
                <a:cubicBezTo>
                  <a:pt x="5495925" y="209550"/>
                  <a:pt x="5534025" y="209550"/>
                  <a:pt x="5540692" y="133350"/>
                </a:cubicBezTo>
                <a:lnTo>
                  <a:pt x="5543550" y="76200"/>
                </a:lnTo>
                <a:cubicBezTo>
                  <a:pt x="5543550" y="0"/>
                  <a:pt x="5591175" y="9525"/>
                  <a:pt x="5595938" y="76200"/>
                </a:cubicBezTo>
                <a:lnTo>
                  <a:pt x="5600700" y="142875"/>
                </a:lnTo>
                <a:cubicBezTo>
                  <a:pt x="5610225" y="209550"/>
                  <a:pt x="5648325" y="209550"/>
                  <a:pt x="5654992" y="133350"/>
                </a:cubicBezTo>
                <a:lnTo>
                  <a:pt x="5657850" y="76200"/>
                </a:lnTo>
                <a:cubicBezTo>
                  <a:pt x="5657850" y="0"/>
                  <a:pt x="5705475" y="9525"/>
                  <a:pt x="5710238" y="76200"/>
                </a:cubicBezTo>
                <a:lnTo>
                  <a:pt x="5715000" y="142875"/>
                </a:lnTo>
                <a:cubicBezTo>
                  <a:pt x="5724525" y="209550"/>
                  <a:pt x="5762625" y="209550"/>
                  <a:pt x="5769292" y="133350"/>
                </a:cubicBezTo>
                <a:lnTo>
                  <a:pt x="5772150" y="76200"/>
                </a:lnTo>
                <a:cubicBezTo>
                  <a:pt x="5772150" y="0"/>
                  <a:pt x="5819775" y="9525"/>
                  <a:pt x="5824538" y="76200"/>
                </a:cubicBezTo>
                <a:lnTo>
                  <a:pt x="5829300" y="142875"/>
                </a:lnTo>
                <a:cubicBezTo>
                  <a:pt x="5838825" y="209550"/>
                  <a:pt x="5876925" y="209550"/>
                  <a:pt x="5883592" y="133350"/>
                </a:cubicBezTo>
                <a:lnTo>
                  <a:pt x="5886450" y="76200"/>
                </a:lnTo>
                <a:cubicBezTo>
                  <a:pt x="5886450" y="0"/>
                  <a:pt x="5934075" y="9525"/>
                  <a:pt x="5938838" y="76200"/>
                </a:cubicBezTo>
                <a:lnTo>
                  <a:pt x="5943600" y="142875"/>
                </a:lnTo>
                <a:cubicBezTo>
                  <a:pt x="5953125" y="209550"/>
                  <a:pt x="5991225" y="209550"/>
                  <a:pt x="5997892" y="133350"/>
                </a:cubicBezTo>
                <a:lnTo>
                  <a:pt x="6000750" y="76200"/>
                </a:lnTo>
                <a:cubicBezTo>
                  <a:pt x="6000750" y="0"/>
                  <a:pt x="6048375" y="9525"/>
                  <a:pt x="6053138" y="76200"/>
                </a:cubicBezTo>
                <a:lnTo>
                  <a:pt x="6057900" y="142875"/>
                </a:lnTo>
                <a:cubicBezTo>
                  <a:pt x="6067425" y="209550"/>
                  <a:pt x="6105525" y="209550"/>
                  <a:pt x="6112192" y="133350"/>
                </a:cubicBezTo>
                <a:lnTo>
                  <a:pt x="6115050" y="76200"/>
                </a:lnTo>
                <a:cubicBezTo>
                  <a:pt x="6115050" y="0"/>
                  <a:pt x="6162675" y="9525"/>
                  <a:pt x="6167438" y="76200"/>
                </a:cubicBezTo>
                <a:lnTo>
                  <a:pt x="6172200" y="142875"/>
                </a:lnTo>
                <a:cubicBezTo>
                  <a:pt x="6181725" y="209550"/>
                  <a:pt x="6219825" y="209550"/>
                  <a:pt x="6226492" y="133350"/>
                </a:cubicBezTo>
                <a:lnTo>
                  <a:pt x="6229350" y="76200"/>
                </a:lnTo>
                <a:cubicBezTo>
                  <a:pt x="6229350" y="0"/>
                  <a:pt x="6276975" y="9525"/>
                  <a:pt x="6281738" y="76200"/>
                </a:cubicBezTo>
                <a:lnTo>
                  <a:pt x="6286500" y="142875"/>
                </a:lnTo>
                <a:cubicBezTo>
                  <a:pt x="6296025" y="209550"/>
                  <a:pt x="6334125" y="209550"/>
                  <a:pt x="6340792" y="133350"/>
                </a:cubicBezTo>
                <a:lnTo>
                  <a:pt x="6343650" y="76200"/>
                </a:lnTo>
                <a:cubicBezTo>
                  <a:pt x="6343650" y="0"/>
                  <a:pt x="6391275" y="9525"/>
                  <a:pt x="6396038" y="76200"/>
                </a:cubicBezTo>
                <a:lnTo>
                  <a:pt x="6400800" y="142875"/>
                </a:lnTo>
                <a:cubicBezTo>
                  <a:pt x="6410325" y="209550"/>
                  <a:pt x="6448425" y="209550"/>
                  <a:pt x="6455092" y="133350"/>
                </a:cubicBezTo>
                <a:lnTo>
                  <a:pt x="6457950" y="76200"/>
                </a:lnTo>
                <a:cubicBezTo>
                  <a:pt x="6457950" y="0"/>
                  <a:pt x="6505575" y="9525"/>
                  <a:pt x="6510338" y="76200"/>
                </a:cubicBezTo>
                <a:lnTo>
                  <a:pt x="6515100" y="142875"/>
                </a:lnTo>
                <a:cubicBezTo>
                  <a:pt x="6524625" y="209550"/>
                  <a:pt x="6562725" y="209550"/>
                  <a:pt x="6569392" y="133350"/>
                </a:cubicBezTo>
                <a:lnTo>
                  <a:pt x="6572250" y="76200"/>
                </a:lnTo>
                <a:cubicBezTo>
                  <a:pt x="6572250" y="0"/>
                  <a:pt x="6619875" y="9525"/>
                  <a:pt x="6624638" y="76200"/>
                </a:cubicBezTo>
                <a:lnTo>
                  <a:pt x="6629400" y="142875"/>
                </a:lnTo>
                <a:cubicBezTo>
                  <a:pt x="6638925" y="209550"/>
                  <a:pt x="6677025" y="209550"/>
                  <a:pt x="6683692" y="133350"/>
                </a:cubicBezTo>
                <a:lnTo>
                  <a:pt x="6686550" y="76200"/>
                </a:lnTo>
                <a:cubicBezTo>
                  <a:pt x="6686550" y="0"/>
                  <a:pt x="6734175" y="9525"/>
                  <a:pt x="6738938" y="76200"/>
                </a:cubicBezTo>
                <a:lnTo>
                  <a:pt x="6743700" y="142875"/>
                </a:lnTo>
                <a:cubicBezTo>
                  <a:pt x="6753225" y="209550"/>
                  <a:pt x="6791325" y="209550"/>
                  <a:pt x="6797992" y="133350"/>
                </a:cubicBezTo>
                <a:lnTo>
                  <a:pt x="6800850" y="76200"/>
                </a:lnTo>
                <a:cubicBezTo>
                  <a:pt x="6800850" y="0"/>
                  <a:pt x="6848475" y="9525"/>
                  <a:pt x="6853238" y="76200"/>
                </a:cubicBezTo>
                <a:lnTo>
                  <a:pt x="6858000" y="142875"/>
                </a:lnTo>
                <a:cubicBezTo>
                  <a:pt x="6867525" y="209550"/>
                  <a:pt x="6905625" y="209550"/>
                  <a:pt x="6912292" y="133350"/>
                </a:cubicBezTo>
                <a:lnTo>
                  <a:pt x="6915150" y="76200"/>
                </a:lnTo>
                <a:cubicBezTo>
                  <a:pt x="6915150" y="0"/>
                  <a:pt x="6962775" y="9525"/>
                  <a:pt x="6967538" y="76200"/>
                </a:cubicBezTo>
                <a:lnTo>
                  <a:pt x="6972300" y="142875"/>
                </a:lnTo>
                <a:cubicBezTo>
                  <a:pt x="6981825" y="209550"/>
                  <a:pt x="7019925" y="209550"/>
                  <a:pt x="7026592" y="133350"/>
                </a:cubicBezTo>
                <a:lnTo>
                  <a:pt x="7029450" y="76200"/>
                </a:lnTo>
                <a:cubicBezTo>
                  <a:pt x="7029450" y="0"/>
                  <a:pt x="7077075" y="9525"/>
                  <a:pt x="7081838" y="76200"/>
                </a:cubicBezTo>
                <a:lnTo>
                  <a:pt x="7086600" y="142875"/>
                </a:lnTo>
                <a:cubicBezTo>
                  <a:pt x="7096125" y="209550"/>
                  <a:pt x="7134225" y="209550"/>
                  <a:pt x="7140892" y="133350"/>
                </a:cubicBezTo>
                <a:lnTo>
                  <a:pt x="7143750" y="76200"/>
                </a:lnTo>
                <a:cubicBezTo>
                  <a:pt x="7143750" y="0"/>
                  <a:pt x="7191375" y="9525"/>
                  <a:pt x="7196138" y="76200"/>
                </a:cubicBezTo>
                <a:lnTo>
                  <a:pt x="7200900" y="142875"/>
                </a:lnTo>
                <a:cubicBezTo>
                  <a:pt x="7210425" y="209550"/>
                  <a:pt x="7248525" y="209550"/>
                  <a:pt x="7255192" y="133350"/>
                </a:cubicBezTo>
                <a:lnTo>
                  <a:pt x="7258050" y="76200"/>
                </a:lnTo>
                <a:cubicBezTo>
                  <a:pt x="7258050" y="0"/>
                  <a:pt x="7305675" y="9525"/>
                  <a:pt x="7310438" y="76200"/>
                </a:cubicBezTo>
                <a:lnTo>
                  <a:pt x="7315200" y="142875"/>
                </a:lnTo>
                <a:cubicBezTo>
                  <a:pt x="7324725" y="209550"/>
                  <a:pt x="7362825" y="209550"/>
                  <a:pt x="7369492" y="133350"/>
                </a:cubicBezTo>
                <a:lnTo>
                  <a:pt x="7372350" y="76200"/>
                </a:lnTo>
                <a:cubicBezTo>
                  <a:pt x="7372350" y="0"/>
                  <a:pt x="7419975" y="9525"/>
                  <a:pt x="7424738" y="76200"/>
                </a:cubicBezTo>
                <a:lnTo>
                  <a:pt x="7429500" y="142875"/>
                </a:lnTo>
                <a:cubicBezTo>
                  <a:pt x="7439025" y="209550"/>
                  <a:pt x="7477125" y="209550"/>
                  <a:pt x="7483792" y="133350"/>
                </a:cubicBezTo>
                <a:lnTo>
                  <a:pt x="7486650" y="76200"/>
                </a:lnTo>
                <a:cubicBezTo>
                  <a:pt x="7486650" y="0"/>
                  <a:pt x="7534275" y="9525"/>
                  <a:pt x="7539038" y="76200"/>
                </a:cubicBezTo>
                <a:lnTo>
                  <a:pt x="7543800" y="142875"/>
                </a:lnTo>
                <a:cubicBezTo>
                  <a:pt x="7553325" y="209550"/>
                  <a:pt x="7591425" y="209550"/>
                  <a:pt x="7598092" y="133350"/>
                </a:cubicBezTo>
                <a:lnTo>
                  <a:pt x="7600950" y="76200"/>
                </a:lnTo>
                <a:cubicBezTo>
                  <a:pt x="7600950" y="0"/>
                  <a:pt x="7648575" y="9525"/>
                  <a:pt x="7653338" y="76200"/>
                </a:cubicBezTo>
                <a:lnTo>
                  <a:pt x="7658100" y="142875"/>
                </a:lnTo>
                <a:cubicBezTo>
                  <a:pt x="7667625" y="209550"/>
                  <a:pt x="7705725" y="209550"/>
                  <a:pt x="7712392" y="133350"/>
                </a:cubicBezTo>
                <a:lnTo>
                  <a:pt x="7715250" y="76200"/>
                </a:lnTo>
                <a:cubicBezTo>
                  <a:pt x="7715250" y="0"/>
                  <a:pt x="7762875" y="9525"/>
                  <a:pt x="7767638" y="76200"/>
                </a:cubicBezTo>
                <a:lnTo>
                  <a:pt x="7772400" y="142875"/>
                </a:lnTo>
                <a:cubicBezTo>
                  <a:pt x="7781925" y="209550"/>
                  <a:pt x="7820025" y="209550"/>
                  <a:pt x="7826692" y="133350"/>
                </a:cubicBezTo>
                <a:lnTo>
                  <a:pt x="7829550" y="76200"/>
                </a:lnTo>
                <a:cubicBezTo>
                  <a:pt x="7829550" y="0"/>
                  <a:pt x="7877175" y="9525"/>
                  <a:pt x="7881938" y="76200"/>
                </a:cubicBezTo>
                <a:lnTo>
                  <a:pt x="7886700" y="142875"/>
                </a:lnTo>
                <a:cubicBezTo>
                  <a:pt x="7896225" y="209550"/>
                  <a:pt x="7934325" y="209550"/>
                  <a:pt x="7940992" y="133350"/>
                </a:cubicBezTo>
                <a:lnTo>
                  <a:pt x="7943850" y="76200"/>
                </a:lnTo>
                <a:cubicBezTo>
                  <a:pt x="7943850" y="0"/>
                  <a:pt x="7991475" y="9525"/>
                  <a:pt x="7996238" y="76200"/>
                </a:cubicBezTo>
                <a:lnTo>
                  <a:pt x="8001000" y="142875"/>
                </a:lnTo>
                <a:cubicBezTo>
                  <a:pt x="8010525" y="209550"/>
                  <a:pt x="8048625" y="209550"/>
                  <a:pt x="8055292" y="133350"/>
                </a:cubicBezTo>
                <a:lnTo>
                  <a:pt x="8058150" y="76200"/>
                </a:lnTo>
                <a:cubicBezTo>
                  <a:pt x="8058150" y="0"/>
                  <a:pt x="8105775" y="9525"/>
                  <a:pt x="8110538" y="76200"/>
                </a:cubicBezTo>
                <a:lnTo>
                  <a:pt x="8115300" y="142875"/>
                </a:lnTo>
                <a:cubicBezTo>
                  <a:pt x="8124825" y="209550"/>
                  <a:pt x="8162925" y="209550"/>
                  <a:pt x="8169592" y="133350"/>
                </a:cubicBezTo>
                <a:lnTo>
                  <a:pt x="8172450" y="76200"/>
                </a:lnTo>
                <a:cubicBezTo>
                  <a:pt x="8172450" y="0"/>
                  <a:pt x="8220075" y="9525"/>
                  <a:pt x="8224838" y="76200"/>
                </a:cubicBezTo>
                <a:lnTo>
                  <a:pt x="8229600" y="142875"/>
                </a:lnTo>
                <a:cubicBezTo>
                  <a:pt x="8239125" y="209550"/>
                  <a:pt x="8277225" y="209550"/>
                  <a:pt x="8283892" y="133350"/>
                </a:cubicBezTo>
                <a:lnTo>
                  <a:pt x="8286750" y="76200"/>
                </a:lnTo>
                <a:cubicBezTo>
                  <a:pt x="8286750" y="0"/>
                  <a:pt x="8334375" y="9525"/>
                  <a:pt x="8339138" y="76200"/>
                </a:cubicBezTo>
                <a:lnTo>
                  <a:pt x="8343900" y="142875"/>
                </a:lnTo>
                <a:cubicBezTo>
                  <a:pt x="8353425" y="209550"/>
                  <a:pt x="8391525" y="209550"/>
                  <a:pt x="8398192" y="133350"/>
                </a:cubicBezTo>
                <a:lnTo>
                  <a:pt x="8401050" y="76200"/>
                </a:lnTo>
                <a:cubicBezTo>
                  <a:pt x="8401050" y="0"/>
                  <a:pt x="8448675" y="9525"/>
                  <a:pt x="8453438" y="76200"/>
                </a:cubicBezTo>
                <a:lnTo>
                  <a:pt x="8458200" y="142875"/>
                </a:lnTo>
                <a:cubicBezTo>
                  <a:pt x="8467725" y="209550"/>
                  <a:pt x="8505825" y="209550"/>
                  <a:pt x="8512492" y="133350"/>
                </a:cubicBezTo>
                <a:lnTo>
                  <a:pt x="8515350" y="76200"/>
                </a:lnTo>
                <a:cubicBezTo>
                  <a:pt x="8515350" y="0"/>
                  <a:pt x="8562975" y="9525"/>
                  <a:pt x="8567738" y="76200"/>
                </a:cubicBezTo>
                <a:lnTo>
                  <a:pt x="8572500" y="142875"/>
                </a:lnTo>
                <a:cubicBezTo>
                  <a:pt x="8582025" y="209550"/>
                  <a:pt x="8620125" y="209550"/>
                  <a:pt x="8626792" y="133350"/>
                </a:cubicBezTo>
                <a:lnTo>
                  <a:pt x="8629650" y="76200"/>
                </a:lnTo>
                <a:cubicBezTo>
                  <a:pt x="8629650" y="0"/>
                  <a:pt x="8677275" y="9525"/>
                  <a:pt x="8682038" y="76200"/>
                </a:cubicBezTo>
                <a:lnTo>
                  <a:pt x="8686800" y="142875"/>
                </a:lnTo>
                <a:cubicBezTo>
                  <a:pt x="8696325" y="209550"/>
                  <a:pt x="8734425" y="209550"/>
                  <a:pt x="8741092" y="133350"/>
                </a:cubicBezTo>
                <a:lnTo>
                  <a:pt x="8743950" y="76200"/>
                </a:lnTo>
                <a:cubicBezTo>
                  <a:pt x="8743950" y="0"/>
                  <a:pt x="8791575" y="9525"/>
                  <a:pt x="8796338" y="76200"/>
                </a:cubicBezTo>
                <a:lnTo>
                  <a:pt x="8801100" y="142875"/>
                </a:lnTo>
                <a:cubicBezTo>
                  <a:pt x="8810625" y="209550"/>
                  <a:pt x="8848725" y="209550"/>
                  <a:pt x="8855392" y="133350"/>
                </a:cubicBezTo>
                <a:lnTo>
                  <a:pt x="8858250" y="76200"/>
                </a:lnTo>
                <a:cubicBezTo>
                  <a:pt x="8858250" y="0"/>
                  <a:pt x="8905875" y="9525"/>
                  <a:pt x="8910638" y="76200"/>
                </a:cubicBezTo>
                <a:lnTo>
                  <a:pt x="8915400" y="142875"/>
                </a:lnTo>
                <a:cubicBezTo>
                  <a:pt x="8924925" y="209550"/>
                  <a:pt x="8963025" y="209550"/>
                  <a:pt x="8969692" y="133350"/>
                </a:cubicBezTo>
                <a:lnTo>
                  <a:pt x="8972550" y="76200"/>
                </a:lnTo>
                <a:cubicBezTo>
                  <a:pt x="8972550" y="0"/>
                  <a:pt x="9020175" y="9525"/>
                  <a:pt x="9024938" y="76200"/>
                </a:cubicBezTo>
                <a:lnTo>
                  <a:pt x="9029700" y="142875"/>
                </a:lnTo>
                <a:lnTo>
                  <a:pt x="9067800" y="133350"/>
                </a:lnTo>
              </a:path>
            </a:pathLst>
          </a:custGeom>
          <a:noFill/>
          <a:ln w="20478" cap="rnd">
            <a:solidFill>
              <a:srgbClr val="DF8F7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3" name="Microvillus rim light"/>
          <p:cNvSpPr/>
          <p:nvPr/>
        </p:nvSpPr>
        <p:spPr>
          <a:xfrm>
            <a:off x="291941" y="2748439"/>
            <a:ext cx="9067800" cy="209550"/>
          </a:xfrm>
          <a:custGeom>
            <a:avLst/>
            <a:gdLst/>
            <a:ahLst/>
            <a:cxnLst/>
            <a:rect l="0" t="0" r="r" b="b"/>
            <a:pathLst>
              <a:path w="9067800" h="209550">
                <a:moveTo>
                  <a:pt x="0" y="142875"/>
                </a:moveTo>
                <a:cubicBezTo>
                  <a:pt x="9525" y="209550"/>
                  <a:pt x="47625" y="209550"/>
                  <a:pt x="54293" y="133350"/>
                </a:cubicBezTo>
                <a:lnTo>
                  <a:pt x="57150" y="76200"/>
                </a:lnTo>
                <a:cubicBezTo>
                  <a:pt x="57150" y="0"/>
                  <a:pt x="104775" y="9525"/>
                  <a:pt x="109538" y="76200"/>
                </a:cubicBezTo>
                <a:lnTo>
                  <a:pt x="114300" y="142875"/>
                </a:lnTo>
                <a:cubicBezTo>
                  <a:pt x="123825" y="209550"/>
                  <a:pt x="161925" y="209550"/>
                  <a:pt x="168593" y="133350"/>
                </a:cubicBezTo>
                <a:lnTo>
                  <a:pt x="171450" y="76200"/>
                </a:lnTo>
                <a:cubicBezTo>
                  <a:pt x="171450" y="0"/>
                  <a:pt x="219075" y="9525"/>
                  <a:pt x="223838" y="76200"/>
                </a:cubicBezTo>
                <a:lnTo>
                  <a:pt x="228600" y="142875"/>
                </a:lnTo>
                <a:cubicBezTo>
                  <a:pt x="238125" y="209550"/>
                  <a:pt x="276225" y="209550"/>
                  <a:pt x="282892" y="133350"/>
                </a:cubicBezTo>
                <a:lnTo>
                  <a:pt x="285750" y="76200"/>
                </a:lnTo>
                <a:cubicBezTo>
                  <a:pt x="285750" y="0"/>
                  <a:pt x="333375" y="9525"/>
                  <a:pt x="338138" y="76200"/>
                </a:cubicBezTo>
                <a:lnTo>
                  <a:pt x="342900" y="142875"/>
                </a:lnTo>
                <a:cubicBezTo>
                  <a:pt x="352425" y="209550"/>
                  <a:pt x="390525" y="209550"/>
                  <a:pt x="397193" y="133350"/>
                </a:cubicBezTo>
                <a:lnTo>
                  <a:pt x="400050" y="76200"/>
                </a:lnTo>
                <a:cubicBezTo>
                  <a:pt x="400050" y="0"/>
                  <a:pt x="447675" y="9525"/>
                  <a:pt x="452438" y="76200"/>
                </a:cubicBezTo>
                <a:lnTo>
                  <a:pt x="457200" y="142875"/>
                </a:lnTo>
                <a:cubicBezTo>
                  <a:pt x="466725" y="209550"/>
                  <a:pt x="504825" y="209550"/>
                  <a:pt x="511493" y="133350"/>
                </a:cubicBezTo>
                <a:lnTo>
                  <a:pt x="514350" y="76200"/>
                </a:lnTo>
                <a:cubicBezTo>
                  <a:pt x="514350" y="0"/>
                  <a:pt x="561975" y="9525"/>
                  <a:pt x="566738" y="76200"/>
                </a:cubicBezTo>
                <a:lnTo>
                  <a:pt x="571500" y="142875"/>
                </a:lnTo>
                <a:cubicBezTo>
                  <a:pt x="581025" y="209550"/>
                  <a:pt x="619125" y="209550"/>
                  <a:pt x="625793" y="133350"/>
                </a:cubicBezTo>
                <a:lnTo>
                  <a:pt x="628650" y="76200"/>
                </a:lnTo>
                <a:cubicBezTo>
                  <a:pt x="628650" y="0"/>
                  <a:pt x="676275" y="9525"/>
                  <a:pt x="681038" y="76200"/>
                </a:cubicBezTo>
                <a:lnTo>
                  <a:pt x="685800" y="142875"/>
                </a:lnTo>
                <a:cubicBezTo>
                  <a:pt x="695325" y="209550"/>
                  <a:pt x="733425" y="209550"/>
                  <a:pt x="740093" y="133350"/>
                </a:cubicBezTo>
                <a:lnTo>
                  <a:pt x="742950" y="76200"/>
                </a:lnTo>
                <a:cubicBezTo>
                  <a:pt x="742950" y="0"/>
                  <a:pt x="790575" y="9525"/>
                  <a:pt x="795338" y="76200"/>
                </a:cubicBezTo>
                <a:lnTo>
                  <a:pt x="800100" y="142875"/>
                </a:lnTo>
                <a:cubicBezTo>
                  <a:pt x="809625" y="209550"/>
                  <a:pt x="847725" y="209550"/>
                  <a:pt x="854393" y="133350"/>
                </a:cubicBezTo>
                <a:lnTo>
                  <a:pt x="857250" y="76200"/>
                </a:lnTo>
                <a:cubicBezTo>
                  <a:pt x="857250" y="0"/>
                  <a:pt x="904875" y="9525"/>
                  <a:pt x="909638" y="76200"/>
                </a:cubicBezTo>
                <a:lnTo>
                  <a:pt x="914400" y="142875"/>
                </a:lnTo>
                <a:cubicBezTo>
                  <a:pt x="923925" y="209550"/>
                  <a:pt x="962025" y="209550"/>
                  <a:pt x="968692" y="133350"/>
                </a:cubicBezTo>
                <a:lnTo>
                  <a:pt x="971550" y="76200"/>
                </a:lnTo>
                <a:cubicBezTo>
                  <a:pt x="971550" y="0"/>
                  <a:pt x="1019175" y="9525"/>
                  <a:pt x="1023938" y="76200"/>
                </a:cubicBezTo>
                <a:lnTo>
                  <a:pt x="1028700" y="142875"/>
                </a:lnTo>
                <a:cubicBezTo>
                  <a:pt x="1038225" y="209550"/>
                  <a:pt x="1076325" y="209550"/>
                  <a:pt x="1082992" y="133350"/>
                </a:cubicBezTo>
                <a:lnTo>
                  <a:pt x="1085850" y="76200"/>
                </a:lnTo>
                <a:cubicBezTo>
                  <a:pt x="1085850" y="0"/>
                  <a:pt x="1133475" y="9525"/>
                  <a:pt x="1138238" y="76200"/>
                </a:cubicBezTo>
                <a:lnTo>
                  <a:pt x="1143000" y="142875"/>
                </a:lnTo>
                <a:cubicBezTo>
                  <a:pt x="1152525" y="209550"/>
                  <a:pt x="1190625" y="209550"/>
                  <a:pt x="1197292" y="133350"/>
                </a:cubicBezTo>
                <a:lnTo>
                  <a:pt x="1200150" y="76200"/>
                </a:lnTo>
                <a:cubicBezTo>
                  <a:pt x="1200150" y="0"/>
                  <a:pt x="1247775" y="9525"/>
                  <a:pt x="1252538" y="76200"/>
                </a:cubicBezTo>
                <a:lnTo>
                  <a:pt x="1257300" y="142875"/>
                </a:lnTo>
                <a:cubicBezTo>
                  <a:pt x="1266825" y="209550"/>
                  <a:pt x="1304925" y="209550"/>
                  <a:pt x="1311592" y="133350"/>
                </a:cubicBezTo>
                <a:lnTo>
                  <a:pt x="1314450" y="76200"/>
                </a:lnTo>
                <a:cubicBezTo>
                  <a:pt x="1314450" y="0"/>
                  <a:pt x="1362075" y="9525"/>
                  <a:pt x="1366838" y="76200"/>
                </a:cubicBezTo>
                <a:lnTo>
                  <a:pt x="1371600" y="142875"/>
                </a:lnTo>
                <a:cubicBezTo>
                  <a:pt x="1381125" y="209550"/>
                  <a:pt x="1419225" y="209550"/>
                  <a:pt x="1425892" y="133350"/>
                </a:cubicBezTo>
                <a:lnTo>
                  <a:pt x="1428750" y="76200"/>
                </a:lnTo>
                <a:cubicBezTo>
                  <a:pt x="1428750" y="0"/>
                  <a:pt x="1476375" y="9525"/>
                  <a:pt x="1481138" y="76200"/>
                </a:cubicBezTo>
                <a:lnTo>
                  <a:pt x="1485900" y="142875"/>
                </a:lnTo>
                <a:cubicBezTo>
                  <a:pt x="1495425" y="209550"/>
                  <a:pt x="1533525" y="209550"/>
                  <a:pt x="1540192" y="133350"/>
                </a:cubicBezTo>
                <a:lnTo>
                  <a:pt x="1543050" y="76200"/>
                </a:lnTo>
                <a:cubicBezTo>
                  <a:pt x="1543050" y="0"/>
                  <a:pt x="1590675" y="9525"/>
                  <a:pt x="1595438" y="76200"/>
                </a:cubicBezTo>
                <a:lnTo>
                  <a:pt x="1600200" y="142875"/>
                </a:lnTo>
                <a:cubicBezTo>
                  <a:pt x="1609725" y="209550"/>
                  <a:pt x="1647825" y="209550"/>
                  <a:pt x="1654492" y="133350"/>
                </a:cubicBezTo>
                <a:lnTo>
                  <a:pt x="1657350" y="76200"/>
                </a:lnTo>
                <a:cubicBezTo>
                  <a:pt x="1657350" y="0"/>
                  <a:pt x="1704975" y="9525"/>
                  <a:pt x="1709738" y="76200"/>
                </a:cubicBezTo>
                <a:lnTo>
                  <a:pt x="1714500" y="142875"/>
                </a:lnTo>
                <a:cubicBezTo>
                  <a:pt x="1724025" y="209550"/>
                  <a:pt x="1762125" y="209550"/>
                  <a:pt x="1768792" y="133350"/>
                </a:cubicBezTo>
                <a:lnTo>
                  <a:pt x="1771650" y="76200"/>
                </a:lnTo>
                <a:cubicBezTo>
                  <a:pt x="1771650" y="0"/>
                  <a:pt x="1819275" y="9525"/>
                  <a:pt x="1824038" y="76200"/>
                </a:cubicBezTo>
                <a:lnTo>
                  <a:pt x="1828800" y="142875"/>
                </a:lnTo>
                <a:cubicBezTo>
                  <a:pt x="1838325" y="209550"/>
                  <a:pt x="1876425" y="209550"/>
                  <a:pt x="1883092" y="133350"/>
                </a:cubicBezTo>
                <a:lnTo>
                  <a:pt x="1885950" y="76200"/>
                </a:lnTo>
                <a:cubicBezTo>
                  <a:pt x="1885950" y="0"/>
                  <a:pt x="1933575" y="9525"/>
                  <a:pt x="1938338" y="76200"/>
                </a:cubicBezTo>
                <a:lnTo>
                  <a:pt x="1943100" y="142875"/>
                </a:lnTo>
                <a:cubicBezTo>
                  <a:pt x="1952625" y="209550"/>
                  <a:pt x="1990725" y="209550"/>
                  <a:pt x="1997392" y="133350"/>
                </a:cubicBezTo>
                <a:lnTo>
                  <a:pt x="2000250" y="76200"/>
                </a:lnTo>
                <a:cubicBezTo>
                  <a:pt x="2000250" y="0"/>
                  <a:pt x="2047875" y="9525"/>
                  <a:pt x="2052638" y="76200"/>
                </a:cubicBezTo>
                <a:lnTo>
                  <a:pt x="2057400" y="142875"/>
                </a:lnTo>
                <a:cubicBezTo>
                  <a:pt x="2066925" y="209550"/>
                  <a:pt x="2105025" y="209550"/>
                  <a:pt x="2111692" y="133350"/>
                </a:cubicBezTo>
                <a:lnTo>
                  <a:pt x="2114550" y="76200"/>
                </a:lnTo>
                <a:cubicBezTo>
                  <a:pt x="2114550" y="0"/>
                  <a:pt x="2162175" y="9525"/>
                  <a:pt x="2166937" y="76200"/>
                </a:cubicBezTo>
                <a:lnTo>
                  <a:pt x="2171700" y="142875"/>
                </a:lnTo>
                <a:cubicBezTo>
                  <a:pt x="2181225" y="209550"/>
                  <a:pt x="2219325" y="209550"/>
                  <a:pt x="2225992" y="133350"/>
                </a:cubicBezTo>
                <a:lnTo>
                  <a:pt x="2228850" y="76200"/>
                </a:lnTo>
                <a:cubicBezTo>
                  <a:pt x="2228850" y="0"/>
                  <a:pt x="2276475" y="9525"/>
                  <a:pt x="2281237" y="76200"/>
                </a:cubicBezTo>
                <a:lnTo>
                  <a:pt x="2286000" y="142875"/>
                </a:lnTo>
                <a:cubicBezTo>
                  <a:pt x="2295525" y="209550"/>
                  <a:pt x="2333625" y="209550"/>
                  <a:pt x="2340292" y="133350"/>
                </a:cubicBezTo>
                <a:lnTo>
                  <a:pt x="2343150" y="76200"/>
                </a:lnTo>
                <a:cubicBezTo>
                  <a:pt x="2343150" y="0"/>
                  <a:pt x="2390775" y="9525"/>
                  <a:pt x="2395537" y="76200"/>
                </a:cubicBezTo>
                <a:lnTo>
                  <a:pt x="2400300" y="142875"/>
                </a:lnTo>
                <a:cubicBezTo>
                  <a:pt x="2409825" y="209550"/>
                  <a:pt x="2447925" y="209550"/>
                  <a:pt x="2454592" y="133350"/>
                </a:cubicBezTo>
                <a:lnTo>
                  <a:pt x="2457450" y="76200"/>
                </a:lnTo>
                <a:cubicBezTo>
                  <a:pt x="2457450" y="0"/>
                  <a:pt x="2505075" y="9525"/>
                  <a:pt x="2509838" y="76200"/>
                </a:cubicBezTo>
                <a:lnTo>
                  <a:pt x="2514600" y="142875"/>
                </a:lnTo>
                <a:cubicBezTo>
                  <a:pt x="2524125" y="209550"/>
                  <a:pt x="2562225" y="209550"/>
                  <a:pt x="2568892" y="133350"/>
                </a:cubicBezTo>
                <a:lnTo>
                  <a:pt x="2571750" y="76200"/>
                </a:lnTo>
                <a:cubicBezTo>
                  <a:pt x="2571750" y="0"/>
                  <a:pt x="2619375" y="9525"/>
                  <a:pt x="2624138" y="76200"/>
                </a:cubicBezTo>
                <a:lnTo>
                  <a:pt x="2628900" y="142875"/>
                </a:lnTo>
                <a:cubicBezTo>
                  <a:pt x="2638425" y="209550"/>
                  <a:pt x="2676525" y="209550"/>
                  <a:pt x="2683192" y="133350"/>
                </a:cubicBezTo>
                <a:lnTo>
                  <a:pt x="2686050" y="76200"/>
                </a:lnTo>
                <a:cubicBezTo>
                  <a:pt x="2686050" y="0"/>
                  <a:pt x="2733675" y="9525"/>
                  <a:pt x="2738438" y="76200"/>
                </a:cubicBezTo>
                <a:lnTo>
                  <a:pt x="2743200" y="142875"/>
                </a:lnTo>
                <a:cubicBezTo>
                  <a:pt x="2752725" y="209550"/>
                  <a:pt x="2790825" y="209550"/>
                  <a:pt x="2797492" y="133350"/>
                </a:cubicBezTo>
                <a:lnTo>
                  <a:pt x="2800350" y="76200"/>
                </a:lnTo>
                <a:cubicBezTo>
                  <a:pt x="2800350" y="0"/>
                  <a:pt x="2847975" y="9525"/>
                  <a:pt x="2852738" y="76200"/>
                </a:cubicBezTo>
                <a:lnTo>
                  <a:pt x="2857500" y="142875"/>
                </a:lnTo>
                <a:cubicBezTo>
                  <a:pt x="2867025" y="209550"/>
                  <a:pt x="2905125" y="209550"/>
                  <a:pt x="2911792" y="133350"/>
                </a:cubicBezTo>
                <a:lnTo>
                  <a:pt x="2914650" y="76200"/>
                </a:lnTo>
                <a:cubicBezTo>
                  <a:pt x="2914650" y="0"/>
                  <a:pt x="2962275" y="9525"/>
                  <a:pt x="2967038" y="76200"/>
                </a:cubicBezTo>
                <a:lnTo>
                  <a:pt x="2971800" y="142875"/>
                </a:lnTo>
                <a:cubicBezTo>
                  <a:pt x="2981325" y="209550"/>
                  <a:pt x="3019425" y="209550"/>
                  <a:pt x="3026092" y="133350"/>
                </a:cubicBezTo>
                <a:lnTo>
                  <a:pt x="3028950" y="76200"/>
                </a:lnTo>
                <a:cubicBezTo>
                  <a:pt x="3028950" y="0"/>
                  <a:pt x="3076575" y="9525"/>
                  <a:pt x="3081338" y="76200"/>
                </a:cubicBezTo>
                <a:lnTo>
                  <a:pt x="3086100" y="142875"/>
                </a:lnTo>
                <a:cubicBezTo>
                  <a:pt x="3095625" y="209550"/>
                  <a:pt x="3133725" y="209550"/>
                  <a:pt x="3140392" y="133350"/>
                </a:cubicBezTo>
                <a:lnTo>
                  <a:pt x="3143250" y="76200"/>
                </a:lnTo>
                <a:cubicBezTo>
                  <a:pt x="3143250" y="0"/>
                  <a:pt x="3190875" y="9525"/>
                  <a:pt x="3195638" y="76200"/>
                </a:cubicBezTo>
                <a:lnTo>
                  <a:pt x="3200400" y="142875"/>
                </a:lnTo>
                <a:cubicBezTo>
                  <a:pt x="3209925" y="209550"/>
                  <a:pt x="3248025" y="209550"/>
                  <a:pt x="3254692" y="133350"/>
                </a:cubicBezTo>
                <a:lnTo>
                  <a:pt x="3257550" y="76200"/>
                </a:lnTo>
                <a:cubicBezTo>
                  <a:pt x="3257550" y="0"/>
                  <a:pt x="3305175" y="9525"/>
                  <a:pt x="3309938" y="76200"/>
                </a:cubicBezTo>
                <a:lnTo>
                  <a:pt x="3314700" y="142875"/>
                </a:lnTo>
                <a:cubicBezTo>
                  <a:pt x="3324225" y="209550"/>
                  <a:pt x="3362325" y="209550"/>
                  <a:pt x="3368992" y="133350"/>
                </a:cubicBezTo>
                <a:lnTo>
                  <a:pt x="3371850" y="76200"/>
                </a:lnTo>
                <a:cubicBezTo>
                  <a:pt x="3371850" y="0"/>
                  <a:pt x="3419475" y="9525"/>
                  <a:pt x="3424238" y="76200"/>
                </a:cubicBezTo>
                <a:lnTo>
                  <a:pt x="3429000" y="142875"/>
                </a:lnTo>
                <a:cubicBezTo>
                  <a:pt x="3438525" y="209550"/>
                  <a:pt x="3476625" y="209550"/>
                  <a:pt x="3483292" y="133350"/>
                </a:cubicBezTo>
                <a:lnTo>
                  <a:pt x="3486150" y="76200"/>
                </a:lnTo>
                <a:cubicBezTo>
                  <a:pt x="3486150" y="0"/>
                  <a:pt x="3533775" y="9525"/>
                  <a:pt x="3538538" y="76200"/>
                </a:cubicBezTo>
                <a:lnTo>
                  <a:pt x="3543300" y="142875"/>
                </a:lnTo>
                <a:cubicBezTo>
                  <a:pt x="3552825" y="209550"/>
                  <a:pt x="3590925" y="209550"/>
                  <a:pt x="3597592" y="133350"/>
                </a:cubicBezTo>
                <a:lnTo>
                  <a:pt x="3600450" y="76200"/>
                </a:lnTo>
                <a:cubicBezTo>
                  <a:pt x="3600450" y="0"/>
                  <a:pt x="3648075" y="9525"/>
                  <a:pt x="3652838" y="76200"/>
                </a:cubicBezTo>
                <a:lnTo>
                  <a:pt x="3657600" y="142875"/>
                </a:lnTo>
                <a:cubicBezTo>
                  <a:pt x="3667125" y="209550"/>
                  <a:pt x="3705225" y="209550"/>
                  <a:pt x="3711892" y="133350"/>
                </a:cubicBezTo>
                <a:lnTo>
                  <a:pt x="3714750" y="76200"/>
                </a:lnTo>
                <a:cubicBezTo>
                  <a:pt x="3714750" y="0"/>
                  <a:pt x="3762375" y="9525"/>
                  <a:pt x="3767138" y="76200"/>
                </a:cubicBezTo>
                <a:lnTo>
                  <a:pt x="3771900" y="142875"/>
                </a:lnTo>
                <a:cubicBezTo>
                  <a:pt x="3781425" y="209550"/>
                  <a:pt x="3819525" y="209550"/>
                  <a:pt x="3826192" y="133350"/>
                </a:cubicBezTo>
                <a:lnTo>
                  <a:pt x="3829050" y="76200"/>
                </a:lnTo>
                <a:cubicBezTo>
                  <a:pt x="3829050" y="0"/>
                  <a:pt x="3876675" y="9525"/>
                  <a:pt x="3881438" y="76200"/>
                </a:cubicBezTo>
                <a:lnTo>
                  <a:pt x="3886200" y="142875"/>
                </a:lnTo>
                <a:cubicBezTo>
                  <a:pt x="3895725" y="209550"/>
                  <a:pt x="3933825" y="209550"/>
                  <a:pt x="3940492" y="133350"/>
                </a:cubicBezTo>
                <a:lnTo>
                  <a:pt x="3943350" y="76200"/>
                </a:lnTo>
                <a:cubicBezTo>
                  <a:pt x="3943350" y="0"/>
                  <a:pt x="3990975" y="9525"/>
                  <a:pt x="3995738" y="76200"/>
                </a:cubicBezTo>
                <a:lnTo>
                  <a:pt x="4000500" y="142875"/>
                </a:lnTo>
                <a:cubicBezTo>
                  <a:pt x="4010025" y="209550"/>
                  <a:pt x="4048125" y="209550"/>
                  <a:pt x="4054792" y="133350"/>
                </a:cubicBezTo>
                <a:lnTo>
                  <a:pt x="4057650" y="76200"/>
                </a:lnTo>
                <a:cubicBezTo>
                  <a:pt x="4057650" y="0"/>
                  <a:pt x="4105275" y="9525"/>
                  <a:pt x="4110038" y="76200"/>
                </a:cubicBezTo>
                <a:lnTo>
                  <a:pt x="4114800" y="142875"/>
                </a:lnTo>
                <a:cubicBezTo>
                  <a:pt x="4124325" y="209550"/>
                  <a:pt x="4162425" y="209550"/>
                  <a:pt x="4169092" y="133350"/>
                </a:cubicBezTo>
                <a:lnTo>
                  <a:pt x="4171950" y="76200"/>
                </a:lnTo>
                <a:cubicBezTo>
                  <a:pt x="4171950" y="0"/>
                  <a:pt x="4219575" y="9525"/>
                  <a:pt x="4224338" y="76200"/>
                </a:cubicBezTo>
                <a:lnTo>
                  <a:pt x="4229100" y="142875"/>
                </a:lnTo>
                <a:cubicBezTo>
                  <a:pt x="4238625" y="209550"/>
                  <a:pt x="4276725" y="209550"/>
                  <a:pt x="4283392" y="133350"/>
                </a:cubicBezTo>
                <a:lnTo>
                  <a:pt x="4286250" y="76200"/>
                </a:lnTo>
                <a:cubicBezTo>
                  <a:pt x="4286250" y="0"/>
                  <a:pt x="4333875" y="9525"/>
                  <a:pt x="4338638" y="76200"/>
                </a:cubicBezTo>
                <a:lnTo>
                  <a:pt x="4343400" y="142875"/>
                </a:lnTo>
                <a:cubicBezTo>
                  <a:pt x="4352925" y="209550"/>
                  <a:pt x="4391025" y="209550"/>
                  <a:pt x="4397692" y="133350"/>
                </a:cubicBezTo>
                <a:lnTo>
                  <a:pt x="4400550" y="76200"/>
                </a:lnTo>
                <a:cubicBezTo>
                  <a:pt x="4400550" y="0"/>
                  <a:pt x="4448175" y="9525"/>
                  <a:pt x="4452938" y="76200"/>
                </a:cubicBezTo>
                <a:lnTo>
                  <a:pt x="4457700" y="142875"/>
                </a:lnTo>
                <a:cubicBezTo>
                  <a:pt x="4467225" y="209550"/>
                  <a:pt x="4505325" y="209550"/>
                  <a:pt x="4511992" y="133350"/>
                </a:cubicBezTo>
                <a:lnTo>
                  <a:pt x="4514850" y="76200"/>
                </a:lnTo>
                <a:cubicBezTo>
                  <a:pt x="4514850" y="0"/>
                  <a:pt x="4562475" y="9525"/>
                  <a:pt x="4567238" y="76200"/>
                </a:cubicBezTo>
                <a:lnTo>
                  <a:pt x="4572000" y="142875"/>
                </a:lnTo>
                <a:cubicBezTo>
                  <a:pt x="4581525" y="209550"/>
                  <a:pt x="4619625" y="209550"/>
                  <a:pt x="4626292" y="133350"/>
                </a:cubicBezTo>
                <a:lnTo>
                  <a:pt x="4629150" y="76200"/>
                </a:lnTo>
                <a:cubicBezTo>
                  <a:pt x="4629150" y="0"/>
                  <a:pt x="4676775" y="9525"/>
                  <a:pt x="4681538" y="76200"/>
                </a:cubicBezTo>
                <a:lnTo>
                  <a:pt x="4686300" y="142875"/>
                </a:lnTo>
                <a:cubicBezTo>
                  <a:pt x="4695825" y="209550"/>
                  <a:pt x="4733925" y="209550"/>
                  <a:pt x="4740592" y="133350"/>
                </a:cubicBezTo>
                <a:lnTo>
                  <a:pt x="4743450" y="76200"/>
                </a:lnTo>
                <a:cubicBezTo>
                  <a:pt x="4743450" y="0"/>
                  <a:pt x="4791075" y="9525"/>
                  <a:pt x="4795838" y="76200"/>
                </a:cubicBezTo>
                <a:lnTo>
                  <a:pt x="4800600" y="142875"/>
                </a:lnTo>
                <a:cubicBezTo>
                  <a:pt x="4810125" y="209550"/>
                  <a:pt x="4848225" y="209550"/>
                  <a:pt x="4854892" y="133350"/>
                </a:cubicBezTo>
                <a:lnTo>
                  <a:pt x="4857750" y="76200"/>
                </a:lnTo>
                <a:cubicBezTo>
                  <a:pt x="4857750" y="0"/>
                  <a:pt x="4905375" y="9525"/>
                  <a:pt x="4910138" y="76200"/>
                </a:cubicBezTo>
                <a:lnTo>
                  <a:pt x="4914900" y="142875"/>
                </a:lnTo>
                <a:cubicBezTo>
                  <a:pt x="4924425" y="209550"/>
                  <a:pt x="4962525" y="209550"/>
                  <a:pt x="4969192" y="133350"/>
                </a:cubicBezTo>
                <a:lnTo>
                  <a:pt x="4972050" y="76200"/>
                </a:lnTo>
                <a:cubicBezTo>
                  <a:pt x="4972050" y="0"/>
                  <a:pt x="5019675" y="9525"/>
                  <a:pt x="5024438" y="76200"/>
                </a:cubicBezTo>
                <a:lnTo>
                  <a:pt x="5029200" y="142875"/>
                </a:lnTo>
                <a:cubicBezTo>
                  <a:pt x="5038725" y="209550"/>
                  <a:pt x="5076825" y="209550"/>
                  <a:pt x="5083492" y="133350"/>
                </a:cubicBezTo>
                <a:lnTo>
                  <a:pt x="5086350" y="76200"/>
                </a:lnTo>
                <a:cubicBezTo>
                  <a:pt x="5086350" y="0"/>
                  <a:pt x="5133975" y="9525"/>
                  <a:pt x="5138738" y="76200"/>
                </a:cubicBezTo>
                <a:lnTo>
                  <a:pt x="5143500" y="142875"/>
                </a:lnTo>
                <a:cubicBezTo>
                  <a:pt x="5153025" y="209550"/>
                  <a:pt x="5191125" y="209550"/>
                  <a:pt x="5197792" y="133350"/>
                </a:cubicBezTo>
                <a:lnTo>
                  <a:pt x="5200650" y="76200"/>
                </a:lnTo>
                <a:cubicBezTo>
                  <a:pt x="5200650" y="0"/>
                  <a:pt x="5248275" y="9525"/>
                  <a:pt x="5253038" y="76200"/>
                </a:cubicBezTo>
                <a:lnTo>
                  <a:pt x="5257800" y="142875"/>
                </a:lnTo>
                <a:cubicBezTo>
                  <a:pt x="5267325" y="209550"/>
                  <a:pt x="5305425" y="209550"/>
                  <a:pt x="5312092" y="133350"/>
                </a:cubicBezTo>
                <a:lnTo>
                  <a:pt x="5314950" y="76200"/>
                </a:lnTo>
                <a:cubicBezTo>
                  <a:pt x="5314950" y="0"/>
                  <a:pt x="5362575" y="9525"/>
                  <a:pt x="5367338" y="76200"/>
                </a:cubicBezTo>
                <a:lnTo>
                  <a:pt x="5372100" y="142875"/>
                </a:lnTo>
                <a:cubicBezTo>
                  <a:pt x="5381625" y="209550"/>
                  <a:pt x="5419725" y="209550"/>
                  <a:pt x="5426392" y="133350"/>
                </a:cubicBezTo>
                <a:lnTo>
                  <a:pt x="5429250" y="76200"/>
                </a:lnTo>
                <a:cubicBezTo>
                  <a:pt x="5429250" y="0"/>
                  <a:pt x="5476875" y="9525"/>
                  <a:pt x="5481638" y="76200"/>
                </a:cubicBezTo>
                <a:lnTo>
                  <a:pt x="5486400" y="142875"/>
                </a:lnTo>
                <a:cubicBezTo>
                  <a:pt x="5495925" y="209550"/>
                  <a:pt x="5534025" y="209550"/>
                  <a:pt x="5540692" y="133350"/>
                </a:cubicBezTo>
                <a:lnTo>
                  <a:pt x="5543550" y="76200"/>
                </a:lnTo>
                <a:cubicBezTo>
                  <a:pt x="5543550" y="0"/>
                  <a:pt x="5591175" y="9525"/>
                  <a:pt x="5595938" y="76200"/>
                </a:cubicBezTo>
                <a:lnTo>
                  <a:pt x="5600700" y="142875"/>
                </a:lnTo>
                <a:cubicBezTo>
                  <a:pt x="5610225" y="209550"/>
                  <a:pt x="5648325" y="209550"/>
                  <a:pt x="5654992" y="133350"/>
                </a:cubicBezTo>
                <a:lnTo>
                  <a:pt x="5657850" y="76200"/>
                </a:lnTo>
                <a:cubicBezTo>
                  <a:pt x="5657850" y="0"/>
                  <a:pt x="5705475" y="9525"/>
                  <a:pt x="5710238" y="76200"/>
                </a:cubicBezTo>
                <a:lnTo>
                  <a:pt x="5715000" y="142875"/>
                </a:lnTo>
                <a:cubicBezTo>
                  <a:pt x="5724525" y="209550"/>
                  <a:pt x="5762625" y="209550"/>
                  <a:pt x="5769292" y="133350"/>
                </a:cubicBezTo>
                <a:lnTo>
                  <a:pt x="5772150" y="76200"/>
                </a:lnTo>
                <a:cubicBezTo>
                  <a:pt x="5772150" y="0"/>
                  <a:pt x="5819775" y="9525"/>
                  <a:pt x="5824538" y="76200"/>
                </a:cubicBezTo>
                <a:lnTo>
                  <a:pt x="5829300" y="142875"/>
                </a:lnTo>
                <a:cubicBezTo>
                  <a:pt x="5838825" y="209550"/>
                  <a:pt x="5876925" y="209550"/>
                  <a:pt x="5883592" y="133350"/>
                </a:cubicBezTo>
                <a:lnTo>
                  <a:pt x="5886450" y="76200"/>
                </a:lnTo>
                <a:cubicBezTo>
                  <a:pt x="5886450" y="0"/>
                  <a:pt x="5934075" y="9525"/>
                  <a:pt x="5938838" y="76200"/>
                </a:cubicBezTo>
                <a:lnTo>
                  <a:pt x="5943600" y="142875"/>
                </a:lnTo>
                <a:cubicBezTo>
                  <a:pt x="5953125" y="209550"/>
                  <a:pt x="5991225" y="209550"/>
                  <a:pt x="5997892" y="133350"/>
                </a:cubicBezTo>
                <a:lnTo>
                  <a:pt x="6000750" y="76200"/>
                </a:lnTo>
                <a:cubicBezTo>
                  <a:pt x="6000750" y="0"/>
                  <a:pt x="6048375" y="9525"/>
                  <a:pt x="6053138" y="76200"/>
                </a:cubicBezTo>
                <a:lnTo>
                  <a:pt x="6057900" y="142875"/>
                </a:lnTo>
                <a:cubicBezTo>
                  <a:pt x="6067425" y="209550"/>
                  <a:pt x="6105525" y="209550"/>
                  <a:pt x="6112192" y="133350"/>
                </a:cubicBezTo>
                <a:lnTo>
                  <a:pt x="6115050" y="76200"/>
                </a:lnTo>
                <a:cubicBezTo>
                  <a:pt x="6115050" y="0"/>
                  <a:pt x="6162675" y="9525"/>
                  <a:pt x="6167438" y="76200"/>
                </a:cubicBezTo>
                <a:lnTo>
                  <a:pt x="6172200" y="142875"/>
                </a:lnTo>
                <a:cubicBezTo>
                  <a:pt x="6181725" y="209550"/>
                  <a:pt x="6219825" y="209550"/>
                  <a:pt x="6226492" y="133350"/>
                </a:cubicBezTo>
                <a:lnTo>
                  <a:pt x="6229350" y="76200"/>
                </a:lnTo>
                <a:cubicBezTo>
                  <a:pt x="6229350" y="0"/>
                  <a:pt x="6276975" y="9525"/>
                  <a:pt x="6281738" y="76200"/>
                </a:cubicBezTo>
                <a:lnTo>
                  <a:pt x="6286500" y="142875"/>
                </a:lnTo>
                <a:cubicBezTo>
                  <a:pt x="6296025" y="209550"/>
                  <a:pt x="6334125" y="209550"/>
                  <a:pt x="6340792" y="133350"/>
                </a:cubicBezTo>
                <a:lnTo>
                  <a:pt x="6343650" y="76200"/>
                </a:lnTo>
                <a:cubicBezTo>
                  <a:pt x="6343650" y="0"/>
                  <a:pt x="6391275" y="9525"/>
                  <a:pt x="6396038" y="76200"/>
                </a:cubicBezTo>
                <a:lnTo>
                  <a:pt x="6400800" y="142875"/>
                </a:lnTo>
                <a:cubicBezTo>
                  <a:pt x="6410325" y="209550"/>
                  <a:pt x="6448425" y="209550"/>
                  <a:pt x="6455092" y="133350"/>
                </a:cubicBezTo>
                <a:lnTo>
                  <a:pt x="6457950" y="76200"/>
                </a:lnTo>
                <a:cubicBezTo>
                  <a:pt x="6457950" y="0"/>
                  <a:pt x="6505575" y="9525"/>
                  <a:pt x="6510338" y="76200"/>
                </a:cubicBezTo>
                <a:lnTo>
                  <a:pt x="6515100" y="142875"/>
                </a:lnTo>
                <a:cubicBezTo>
                  <a:pt x="6524625" y="209550"/>
                  <a:pt x="6562725" y="209550"/>
                  <a:pt x="6569392" y="133350"/>
                </a:cubicBezTo>
                <a:lnTo>
                  <a:pt x="6572250" y="76200"/>
                </a:lnTo>
                <a:cubicBezTo>
                  <a:pt x="6572250" y="0"/>
                  <a:pt x="6619875" y="9525"/>
                  <a:pt x="6624638" y="76200"/>
                </a:cubicBezTo>
                <a:lnTo>
                  <a:pt x="6629400" y="142875"/>
                </a:lnTo>
                <a:cubicBezTo>
                  <a:pt x="6638925" y="209550"/>
                  <a:pt x="6677025" y="209550"/>
                  <a:pt x="6683692" y="133350"/>
                </a:cubicBezTo>
                <a:lnTo>
                  <a:pt x="6686550" y="76200"/>
                </a:lnTo>
                <a:cubicBezTo>
                  <a:pt x="6686550" y="0"/>
                  <a:pt x="6734175" y="9525"/>
                  <a:pt x="6738938" y="76200"/>
                </a:cubicBezTo>
                <a:lnTo>
                  <a:pt x="6743700" y="142875"/>
                </a:lnTo>
                <a:cubicBezTo>
                  <a:pt x="6753225" y="209550"/>
                  <a:pt x="6791325" y="209550"/>
                  <a:pt x="6797992" y="133350"/>
                </a:cubicBezTo>
                <a:lnTo>
                  <a:pt x="6800850" y="76200"/>
                </a:lnTo>
                <a:cubicBezTo>
                  <a:pt x="6800850" y="0"/>
                  <a:pt x="6848475" y="9525"/>
                  <a:pt x="6853238" y="76200"/>
                </a:cubicBezTo>
                <a:lnTo>
                  <a:pt x="6858000" y="142875"/>
                </a:lnTo>
                <a:cubicBezTo>
                  <a:pt x="6867525" y="209550"/>
                  <a:pt x="6905625" y="209550"/>
                  <a:pt x="6912292" y="133350"/>
                </a:cubicBezTo>
                <a:lnTo>
                  <a:pt x="6915150" y="76200"/>
                </a:lnTo>
                <a:cubicBezTo>
                  <a:pt x="6915150" y="0"/>
                  <a:pt x="6962775" y="9525"/>
                  <a:pt x="6967538" y="76200"/>
                </a:cubicBezTo>
                <a:lnTo>
                  <a:pt x="6972300" y="142875"/>
                </a:lnTo>
                <a:cubicBezTo>
                  <a:pt x="6981825" y="209550"/>
                  <a:pt x="7019925" y="209550"/>
                  <a:pt x="7026592" y="133350"/>
                </a:cubicBezTo>
                <a:lnTo>
                  <a:pt x="7029450" y="76200"/>
                </a:lnTo>
                <a:cubicBezTo>
                  <a:pt x="7029450" y="0"/>
                  <a:pt x="7077075" y="9525"/>
                  <a:pt x="7081838" y="76200"/>
                </a:cubicBezTo>
                <a:lnTo>
                  <a:pt x="7086600" y="142875"/>
                </a:lnTo>
                <a:cubicBezTo>
                  <a:pt x="7096125" y="209550"/>
                  <a:pt x="7134225" y="209550"/>
                  <a:pt x="7140892" y="133350"/>
                </a:cubicBezTo>
                <a:lnTo>
                  <a:pt x="7143750" y="76200"/>
                </a:lnTo>
                <a:cubicBezTo>
                  <a:pt x="7143750" y="0"/>
                  <a:pt x="7191375" y="9525"/>
                  <a:pt x="7196138" y="76200"/>
                </a:cubicBezTo>
                <a:lnTo>
                  <a:pt x="7200900" y="142875"/>
                </a:lnTo>
                <a:cubicBezTo>
                  <a:pt x="7210425" y="209550"/>
                  <a:pt x="7248525" y="209550"/>
                  <a:pt x="7255192" y="133350"/>
                </a:cubicBezTo>
                <a:lnTo>
                  <a:pt x="7258050" y="76200"/>
                </a:lnTo>
                <a:cubicBezTo>
                  <a:pt x="7258050" y="0"/>
                  <a:pt x="7305675" y="9525"/>
                  <a:pt x="7310438" y="76200"/>
                </a:cubicBezTo>
                <a:lnTo>
                  <a:pt x="7315200" y="142875"/>
                </a:lnTo>
                <a:cubicBezTo>
                  <a:pt x="7324725" y="209550"/>
                  <a:pt x="7362825" y="209550"/>
                  <a:pt x="7369492" y="133350"/>
                </a:cubicBezTo>
                <a:lnTo>
                  <a:pt x="7372350" y="76200"/>
                </a:lnTo>
                <a:cubicBezTo>
                  <a:pt x="7372350" y="0"/>
                  <a:pt x="7419975" y="9525"/>
                  <a:pt x="7424738" y="76200"/>
                </a:cubicBezTo>
                <a:lnTo>
                  <a:pt x="7429500" y="142875"/>
                </a:lnTo>
                <a:cubicBezTo>
                  <a:pt x="7439025" y="209550"/>
                  <a:pt x="7477125" y="209550"/>
                  <a:pt x="7483792" y="133350"/>
                </a:cubicBezTo>
                <a:lnTo>
                  <a:pt x="7486650" y="76200"/>
                </a:lnTo>
                <a:cubicBezTo>
                  <a:pt x="7486650" y="0"/>
                  <a:pt x="7534275" y="9525"/>
                  <a:pt x="7539038" y="76200"/>
                </a:cubicBezTo>
                <a:lnTo>
                  <a:pt x="7543800" y="142875"/>
                </a:lnTo>
                <a:cubicBezTo>
                  <a:pt x="7553325" y="209550"/>
                  <a:pt x="7591425" y="209550"/>
                  <a:pt x="7598092" y="133350"/>
                </a:cubicBezTo>
                <a:lnTo>
                  <a:pt x="7600950" y="76200"/>
                </a:lnTo>
                <a:cubicBezTo>
                  <a:pt x="7600950" y="0"/>
                  <a:pt x="7648575" y="9525"/>
                  <a:pt x="7653338" y="76200"/>
                </a:cubicBezTo>
                <a:lnTo>
                  <a:pt x="7658100" y="142875"/>
                </a:lnTo>
                <a:cubicBezTo>
                  <a:pt x="7667625" y="209550"/>
                  <a:pt x="7705725" y="209550"/>
                  <a:pt x="7712392" y="133350"/>
                </a:cubicBezTo>
                <a:lnTo>
                  <a:pt x="7715250" y="76200"/>
                </a:lnTo>
                <a:cubicBezTo>
                  <a:pt x="7715250" y="0"/>
                  <a:pt x="7762875" y="9525"/>
                  <a:pt x="7767638" y="76200"/>
                </a:cubicBezTo>
                <a:lnTo>
                  <a:pt x="7772400" y="142875"/>
                </a:lnTo>
                <a:cubicBezTo>
                  <a:pt x="7781925" y="209550"/>
                  <a:pt x="7820025" y="209550"/>
                  <a:pt x="7826692" y="133350"/>
                </a:cubicBezTo>
                <a:lnTo>
                  <a:pt x="7829550" y="76200"/>
                </a:lnTo>
                <a:cubicBezTo>
                  <a:pt x="7829550" y="0"/>
                  <a:pt x="7877175" y="9525"/>
                  <a:pt x="7881938" y="76200"/>
                </a:cubicBezTo>
                <a:lnTo>
                  <a:pt x="7886700" y="142875"/>
                </a:lnTo>
                <a:cubicBezTo>
                  <a:pt x="7896225" y="209550"/>
                  <a:pt x="7934325" y="209550"/>
                  <a:pt x="7940992" y="133350"/>
                </a:cubicBezTo>
                <a:lnTo>
                  <a:pt x="7943850" y="76200"/>
                </a:lnTo>
                <a:cubicBezTo>
                  <a:pt x="7943850" y="0"/>
                  <a:pt x="7991475" y="9525"/>
                  <a:pt x="7996238" y="76200"/>
                </a:cubicBezTo>
                <a:lnTo>
                  <a:pt x="8001000" y="142875"/>
                </a:lnTo>
                <a:cubicBezTo>
                  <a:pt x="8010525" y="209550"/>
                  <a:pt x="8048625" y="209550"/>
                  <a:pt x="8055292" y="133350"/>
                </a:cubicBezTo>
                <a:lnTo>
                  <a:pt x="8058150" y="76200"/>
                </a:lnTo>
                <a:cubicBezTo>
                  <a:pt x="8058150" y="0"/>
                  <a:pt x="8105775" y="9525"/>
                  <a:pt x="8110538" y="76200"/>
                </a:cubicBezTo>
                <a:lnTo>
                  <a:pt x="8115300" y="142875"/>
                </a:lnTo>
                <a:cubicBezTo>
                  <a:pt x="8124825" y="209550"/>
                  <a:pt x="8162925" y="209550"/>
                  <a:pt x="8169592" y="133350"/>
                </a:cubicBezTo>
                <a:lnTo>
                  <a:pt x="8172450" y="76200"/>
                </a:lnTo>
                <a:cubicBezTo>
                  <a:pt x="8172450" y="0"/>
                  <a:pt x="8220075" y="9525"/>
                  <a:pt x="8224838" y="76200"/>
                </a:cubicBezTo>
                <a:lnTo>
                  <a:pt x="8229600" y="142875"/>
                </a:lnTo>
                <a:cubicBezTo>
                  <a:pt x="8239125" y="209550"/>
                  <a:pt x="8277225" y="209550"/>
                  <a:pt x="8283892" y="133350"/>
                </a:cubicBezTo>
                <a:lnTo>
                  <a:pt x="8286750" y="76200"/>
                </a:lnTo>
                <a:cubicBezTo>
                  <a:pt x="8286750" y="0"/>
                  <a:pt x="8334375" y="9525"/>
                  <a:pt x="8339138" y="76200"/>
                </a:cubicBezTo>
                <a:lnTo>
                  <a:pt x="8343900" y="142875"/>
                </a:lnTo>
                <a:cubicBezTo>
                  <a:pt x="8353425" y="209550"/>
                  <a:pt x="8391525" y="209550"/>
                  <a:pt x="8398192" y="133350"/>
                </a:cubicBezTo>
                <a:lnTo>
                  <a:pt x="8401050" y="76200"/>
                </a:lnTo>
                <a:cubicBezTo>
                  <a:pt x="8401050" y="0"/>
                  <a:pt x="8448675" y="9525"/>
                  <a:pt x="8453438" y="76200"/>
                </a:cubicBezTo>
                <a:lnTo>
                  <a:pt x="8458200" y="142875"/>
                </a:lnTo>
                <a:cubicBezTo>
                  <a:pt x="8467725" y="209550"/>
                  <a:pt x="8505825" y="209550"/>
                  <a:pt x="8512492" y="133350"/>
                </a:cubicBezTo>
                <a:lnTo>
                  <a:pt x="8515350" y="76200"/>
                </a:lnTo>
                <a:cubicBezTo>
                  <a:pt x="8515350" y="0"/>
                  <a:pt x="8562975" y="9525"/>
                  <a:pt x="8567738" y="76200"/>
                </a:cubicBezTo>
                <a:lnTo>
                  <a:pt x="8572500" y="142875"/>
                </a:lnTo>
                <a:cubicBezTo>
                  <a:pt x="8582025" y="209550"/>
                  <a:pt x="8620125" y="209550"/>
                  <a:pt x="8626792" y="133350"/>
                </a:cubicBezTo>
                <a:lnTo>
                  <a:pt x="8629650" y="76200"/>
                </a:lnTo>
                <a:cubicBezTo>
                  <a:pt x="8629650" y="0"/>
                  <a:pt x="8677275" y="9525"/>
                  <a:pt x="8682038" y="76200"/>
                </a:cubicBezTo>
                <a:lnTo>
                  <a:pt x="8686800" y="142875"/>
                </a:lnTo>
                <a:cubicBezTo>
                  <a:pt x="8696325" y="209550"/>
                  <a:pt x="8734425" y="209550"/>
                  <a:pt x="8741092" y="133350"/>
                </a:cubicBezTo>
                <a:lnTo>
                  <a:pt x="8743950" y="76200"/>
                </a:lnTo>
                <a:cubicBezTo>
                  <a:pt x="8743950" y="0"/>
                  <a:pt x="8791575" y="9525"/>
                  <a:pt x="8796338" y="76200"/>
                </a:cubicBezTo>
                <a:lnTo>
                  <a:pt x="8801100" y="142875"/>
                </a:lnTo>
                <a:cubicBezTo>
                  <a:pt x="8810625" y="209550"/>
                  <a:pt x="8848725" y="209550"/>
                  <a:pt x="8855392" y="133350"/>
                </a:cubicBezTo>
                <a:lnTo>
                  <a:pt x="8858250" y="76200"/>
                </a:lnTo>
                <a:cubicBezTo>
                  <a:pt x="8858250" y="0"/>
                  <a:pt x="8905875" y="9525"/>
                  <a:pt x="8910638" y="76200"/>
                </a:cubicBezTo>
                <a:lnTo>
                  <a:pt x="8915400" y="142875"/>
                </a:lnTo>
                <a:cubicBezTo>
                  <a:pt x="8924925" y="209550"/>
                  <a:pt x="8963025" y="209550"/>
                  <a:pt x="8969692" y="133350"/>
                </a:cubicBezTo>
                <a:lnTo>
                  <a:pt x="8972550" y="76200"/>
                </a:lnTo>
                <a:cubicBezTo>
                  <a:pt x="8972550" y="0"/>
                  <a:pt x="9020175" y="9525"/>
                  <a:pt x="9024938" y="76200"/>
                </a:cubicBezTo>
                <a:lnTo>
                  <a:pt x="9029700" y="142875"/>
                </a:lnTo>
                <a:lnTo>
                  <a:pt x="9067800" y="133350"/>
                </a:lnTo>
              </a:path>
            </a:pathLst>
          </a:custGeom>
          <a:noFill/>
          <a:ln w="6667" cap="rnd">
            <a:solidFill>
              <a:srgbClr val="FFE4B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4" name="Microvillus brush border"/>
          <p:cNvSpPr/>
          <p:nvPr/>
        </p:nvSpPr>
        <p:spPr>
          <a:xfrm>
            <a:off x="9544050" y="2752725"/>
            <a:ext cx="2581275" cy="209550"/>
          </a:xfrm>
          <a:custGeom>
            <a:avLst/>
            <a:gdLst/>
            <a:ahLst/>
            <a:cxnLst/>
            <a:rect l="0" t="0" r="r" b="b"/>
            <a:pathLst>
              <a:path w="2581275" h="209550">
                <a:moveTo>
                  <a:pt x="0" y="142875"/>
                </a:moveTo>
                <a:cubicBezTo>
                  <a:pt x="9525" y="209550"/>
                  <a:pt x="47625" y="209550"/>
                  <a:pt x="54293" y="133350"/>
                </a:cubicBezTo>
                <a:lnTo>
                  <a:pt x="57150" y="76200"/>
                </a:lnTo>
                <a:cubicBezTo>
                  <a:pt x="57150" y="0"/>
                  <a:pt x="104775" y="9525"/>
                  <a:pt x="109538" y="76200"/>
                </a:cubicBezTo>
                <a:lnTo>
                  <a:pt x="114300" y="142875"/>
                </a:lnTo>
                <a:cubicBezTo>
                  <a:pt x="123825" y="209550"/>
                  <a:pt x="161925" y="209550"/>
                  <a:pt x="168593" y="133350"/>
                </a:cubicBezTo>
                <a:lnTo>
                  <a:pt x="171450" y="76200"/>
                </a:lnTo>
                <a:cubicBezTo>
                  <a:pt x="171450" y="0"/>
                  <a:pt x="219075" y="9525"/>
                  <a:pt x="223838" y="76200"/>
                </a:cubicBezTo>
                <a:lnTo>
                  <a:pt x="228600" y="142875"/>
                </a:lnTo>
                <a:cubicBezTo>
                  <a:pt x="238125" y="209550"/>
                  <a:pt x="276225" y="209550"/>
                  <a:pt x="282893" y="133350"/>
                </a:cubicBezTo>
                <a:lnTo>
                  <a:pt x="285750" y="76200"/>
                </a:lnTo>
                <a:cubicBezTo>
                  <a:pt x="285750" y="0"/>
                  <a:pt x="333375" y="9525"/>
                  <a:pt x="338138" y="76200"/>
                </a:cubicBezTo>
                <a:lnTo>
                  <a:pt x="342900" y="142875"/>
                </a:lnTo>
                <a:cubicBezTo>
                  <a:pt x="352425" y="209550"/>
                  <a:pt x="390525" y="209550"/>
                  <a:pt x="397193" y="133350"/>
                </a:cubicBezTo>
                <a:lnTo>
                  <a:pt x="400050" y="76200"/>
                </a:lnTo>
                <a:cubicBezTo>
                  <a:pt x="400050" y="0"/>
                  <a:pt x="447675" y="9525"/>
                  <a:pt x="452438" y="76200"/>
                </a:cubicBezTo>
                <a:lnTo>
                  <a:pt x="457200" y="142875"/>
                </a:lnTo>
                <a:cubicBezTo>
                  <a:pt x="466725" y="209550"/>
                  <a:pt x="504825" y="209550"/>
                  <a:pt x="511493" y="133350"/>
                </a:cubicBezTo>
                <a:lnTo>
                  <a:pt x="514350" y="76200"/>
                </a:lnTo>
                <a:cubicBezTo>
                  <a:pt x="514350" y="0"/>
                  <a:pt x="561975" y="9525"/>
                  <a:pt x="566738" y="76200"/>
                </a:cubicBezTo>
                <a:lnTo>
                  <a:pt x="571500" y="142875"/>
                </a:lnTo>
                <a:cubicBezTo>
                  <a:pt x="581025" y="209550"/>
                  <a:pt x="619125" y="209550"/>
                  <a:pt x="625793" y="133350"/>
                </a:cubicBezTo>
                <a:lnTo>
                  <a:pt x="628650" y="76200"/>
                </a:lnTo>
                <a:cubicBezTo>
                  <a:pt x="628650" y="0"/>
                  <a:pt x="676275" y="9525"/>
                  <a:pt x="681038" y="76200"/>
                </a:cubicBezTo>
                <a:lnTo>
                  <a:pt x="685800" y="142875"/>
                </a:lnTo>
                <a:cubicBezTo>
                  <a:pt x="695325" y="209550"/>
                  <a:pt x="733425" y="209550"/>
                  <a:pt x="740093" y="133350"/>
                </a:cubicBezTo>
                <a:lnTo>
                  <a:pt x="742950" y="76200"/>
                </a:lnTo>
                <a:cubicBezTo>
                  <a:pt x="742950" y="0"/>
                  <a:pt x="790575" y="9525"/>
                  <a:pt x="795338" y="76200"/>
                </a:cubicBezTo>
                <a:lnTo>
                  <a:pt x="800100" y="142875"/>
                </a:lnTo>
                <a:cubicBezTo>
                  <a:pt x="809625" y="209550"/>
                  <a:pt x="847725" y="209550"/>
                  <a:pt x="854393" y="133350"/>
                </a:cubicBezTo>
                <a:lnTo>
                  <a:pt x="857250" y="76200"/>
                </a:lnTo>
                <a:cubicBezTo>
                  <a:pt x="857250" y="0"/>
                  <a:pt x="904875" y="9525"/>
                  <a:pt x="909638" y="76200"/>
                </a:cubicBezTo>
                <a:lnTo>
                  <a:pt x="914400" y="142875"/>
                </a:lnTo>
                <a:cubicBezTo>
                  <a:pt x="923925" y="209550"/>
                  <a:pt x="962025" y="209550"/>
                  <a:pt x="968693" y="133350"/>
                </a:cubicBezTo>
                <a:lnTo>
                  <a:pt x="971550" y="76200"/>
                </a:lnTo>
                <a:cubicBezTo>
                  <a:pt x="971550" y="0"/>
                  <a:pt x="1019175" y="9525"/>
                  <a:pt x="1023938" y="76200"/>
                </a:cubicBezTo>
                <a:lnTo>
                  <a:pt x="1028700" y="142875"/>
                </a:lnTo>
                <a:cubicBezTo>
                  <a:pt x="1038225" y="209550"/>
                  <a:pt x="1076325" y="209550"/>
                  <a:pt x="1082993" y="133350"/>
                </a:cubicBezTo>
                <a:lnTo>
                  <a:pt x="1085850" y="76200"/>
                </a:lnTo>
                <a:cubicBezTo>
                  <a:pt x="1085850" y="0"/>
                  <a:pt x="1133475" y="9525"/>
                  <a:pt x="1138238" y="76200"/>
                </a:cubicBezTo>
                <a:lnTo>
                  <a:pt x="1143000" y="142875"/>
                </a:lnTo>
                <a:cubicBezTo>
                  <a:pt x="1152525" y="209550"/>
                  <a:pt x="1190625" y="209550"/>
                  <a:pt x="1197293" y="133350"/>
                </a:cubicBezTo>
                <a:lnTo>
                  <a:pt x="1200150" y="76200"/>
                </a:lnTo>
                <a:cubicBezTo>
                  <a:pt x="1200150" y="0"/>
                  <a:pt x="1247775" y="9525"/>
                  <a:pt x="1252538" y="76200"/>
                </a:cubicBezTo>
                <a:lnTo>
                  <a:pt x="1257300" y="142875"/>
                </a:lnTo>
                <a:cubicBezTo>
                  <a:pt x="1266825" y="209550"/>
                  <a:pt x="1304925" y="209550"/>
                  <a:pt x="1311593" y="133350"/>
                </a:cubicBezTo>
                <a:lnTo>
                  <a:pt x="1314450" y="76200"/>
                </a:lnTo>
                <a:cubicBezTo>
                  <a:pt x="1314450" y="0"/>
                  <a:pt x="1362075" y="9525"/>
                  <a:pt x="1366838" y="76200"/>
                </a:cubicBezTo>
                <a:lnTo>
                  <a:pt x="1371600" y="142875"/>
                </a:lnTo>
                <a:cubicBezTo>
                  <a:pt x="1381125" y="209550"/>
                  <a:pt x="1419225" y="209550"/>
                  <a:pt x="1425893" y="133350"/>
                </a:cubicBezTo>
                <a:lnTo>
                  <a:pt x="1428750" y="76200"/>
                </a:lnTo>
                <a:cubicBezTo>
                  <a:pt x="1428750" y="0"/>
                  <a:pt x="1476375" y="9525"/>
                  <a:pt x="1481138" y="76200"/>
                </a:cubicBezTo>
                <a:lnTo>
                  <a:pt x="1485900" y="142875"/>
                </a:lnTo>
                <a:cubicBezTo>
                  <a:pt x="1495425" y="209550"/>
                  <a:pt x="1533525" y="209550"/>
                  <a:pt x="1540193" y="133350"/>
                </a:cubicBezTo>
                <a:lnTo>
                  <a:pt x="1543050" y="76200"/>
                </a:lnTo>
                <a:cubicBezTo>
                  <a:pt x="1543050" y="0"/>
                  <a:pt x="1590675" y="9525"/>
                  <a:pt x="1595438" y="76200"/>
                </a:cubicBezTo>
                <a:lnTo>
                  <a:pt x="1600200" y="142875"/>
                </a:lnTo>
                <a:cubicBezTo>
                  <a:pt x="1609725" y="209550"/>
                  <a:pt x="1647825" y="209550"/>
                  <a:pt x="1654493" y="133350"/>
                </a:cubicBezTo>
                <a:lnTo>
                  <a:pt x="1657350" y="76200"/>
                </a:lnTo>
                <a:cubicBezTo>
                  <a:pt x="1657350" y="0"/>
                  <a:pt x="1704975" y="9525"/>
                  <a:pt x="1709738" y="76200"/>
                </a:cubicBezTo>
                <a:lnTo>
                  <a:pt x="1714500" y="142875"/>
                </a:lnTo>
                <a:cubicBezTo>
                  <a:pt x="1724025" y="209550"/>
                  <a:pt x="1762125" y="209550"/>
                  <a:pt x="1768793" y="133350"/>
                </a:cubicBezTo>
                <a:lnTo>
                  <a:pt x="1771650" y="76200"/>
                </a:lnTo>
                <a:cubicBezTo>
                  <a:pt x="1771650" y="0"/>
                  <a:pt x="1819275" y="9525"/>
                  <a:pt x="1824038" y="76200"/>
                </a:cubicBezTo>
                <a:lnTo>
                  <a:pt x="1828800" y="142875"/>
                </a:lnTo>
                <a:cubicBezTo>
                  <a:pt x="1838325" y="209550"/>
                  <a:pt x="1876425" y="209550"/>
                  <a:pt x="1883093" y="133350"/>
                </a:cubicBezTo>
                <a:lnTo>
                  <a:pt x="1885950" y="76200"/>
                </a:lnTo>
                <a:cubicBezTo>
                  <a:pt x="1885950" y="0"/>
                  <a:pt x="1933575" y="9525"/>
                  <a:pt x="1938338" y="76200"/>
                </a:cubicBezTo>
                <a:lnTo>
                  <a:pt x="1943100" y="142875"/>
                </a:lnTo>
                <a:cubicBezTo>
                  <a:pt x="1952625" y="209550"/>
                  <a:pt x="1990725" y="209550"/>
                  <a:pt x="1997393" y="133350"/>
                </a:cubicBezTo>
                <a:lnTo>
                  <a:pt x="2000250" y="76200"/>
                </a:lnTo>
                <a:cubicBezTo>
                  <a:pt x="2000250" y="0"/>
                  <a:pt x="2047875" y="9525"/>
                  <a:pt x="2052638" y="76200"/>
                </a:cubicBezTo>
                <a:lnTo>
                  <a:pt x="2057400" y="142875"/>
                </a:lnTo>
                <a:cubicBezTo>
                  <a:pt x="2066925" y="209550"/>
                  <a:pt x="2105025" y="209550"/>
                  <a:pt x="2111693" y="133350"/>
                </a:cubicBezTo>
                <a:lnTo>
                  <a:pt x="2114550" y="76200"/>
                </a:lnTo>
                <a:cubicBezTo>
                  <a:pt x="2114550" y="0"/>
                  <a:pt x="2162175" y="9525"/>
                  <a:pt x="2166938" y="76200"/>
                </a:cubicBezTo>
                <a:lnTo>
                  <a:pt x="2171700" y="142875"/>
                </a:lnTo>
                <a:cubicBezTo>
                  <a:pt x="2181225" y="209550"/>
                  <a:pt x="2219325" y="209550"/>
                  <a:pt x="2225993" y="133350"/>
                </a:cubicBezTo>
                <a:lnTo>
                  <a:pt x="2228850" y="76200"/>
                </a:lnTo>
                <a:cubicBezTo>
                  <a:pt x="2228850" y="0"/>
                  <a:pt x="2276475" y="9525"/>
                  <a:pt x="2281238" y="76200"/>
                </a:cubicBezTo>
                <a:lnTo>
                  <a:pt x="2286000" y="142875"/>
                </a:lnTo>
                <a:cubicBezTo>
                  <a:pt x="2295525" y="209550"/>
                  <a:pt x="2333625" y="209550"/>
                  <a:pt x="2340293" y="133350"/>
                </a:cubicBezTo>
                <a:lnTo>
                  <a:pt x="2343150" y="76200"/>
                </a:lnTo>
                <a:cubicBezTo>
                  <a:pt x="2343150" y="0"/>
                  <a:pt x="2390775" y="9525"/>
                  <a:pt x="2395538" y="76200"/>
                </a:cubicBezTo>
                <a:lnTo>
                  <a:pt x="2400300" y="142875"/>
                </a:lnTo>
                <a:cubicBezTo>
                  <a:pt x="2409825" y="209550"/>
                  <a:pt x="2447925" y="209550"/>
                  <a:pt x="2454593" y="133350"/>
                </a:cubicBezTo>
                <a:lnTo>
                  <a:pt x="2457450" y="76200"/>
                </a:lnTo>
                <a:cubicBezTo>
                  <a:pt x="2457450" y="0"/>
                  <a:pt x="2505075" y="9525"/>
                  <a:pt x="2509838" y="76200"/>
                </a:cubicBezTo>
                <a:lnTo>
                  <a:pt x="2514600" y="142875"/>
                </a:lnTo>
                <a:lnTo>
                  <a:pt x="2581275" y="133350"/>
                </a:lnTo>
              </a:path>
            </a:pathLst>
          </a:custGeom>
          <a:noFill/>
          <a:ln w="20478" cap="rnd">
            <a:solidFill>
              <a:srgbClr val="DF8F7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5" name="Microvillus rim light"/>
          <p:cNvSpPr/>
          <p:nvPr/>
        </p:nvSpPr>
        <p:spPr>
          <a:xfrm>
            <a:off x="9550241" y="2748439"/>
            <a:ext cx="2581275" cy="209550"/>
          </a:xfrm>
          <a:custGeom>
            <a:avLst/>
            <a:gdLst/>
            <a:ahLst/>
            <a:cxnLst/>
            <a:rect l="0" t="0" r="r" b="b"/>
            <a:pathLst>
              <a:path w="2581275" h="209550">
                <a:moveTo>
                  <a:pt x="0" y="142875"/>
                </a:moveTo>
                <a:cubicBezTo>
                  <a:pt x="9525" y="209550"/>
                  <a:pt x="47625" y="209550"/>
                  <a:pt x="54293" y="133350"/>
                </a:cubicBezTo>
                <a:lnTo>
                  <a:pt x="57150" y="76200"/>
                </a:lnTo>
                <a:cubicBezTo>
                  <a:pt x="57150" y="0"/>
                  <a:pt x="104775" y="9525"/>
                  <a:pt x="109538" y="76200"/>
                </a:cubicBezTo>
                <a:lnTo>
                  <a:pt x="114300" y="142875"/>
                </a:lnTo>
                <a:cubicBezTo>
                  <a:pt x="123825" y="209550"/>
                  <a:pt x="161925" y="209550"/>
                  <a:pt x="168593" y="133350"/>
                </a:cubicBezTo>
                <a:lnTo>
                  <a:pt x="171450" y="76200"/>
                </a:lnTo>
                <a:cubicBezTo>
                  <a:pt x="171450" y="0"/>
                  <a:pt x="219075" y="9525"/>
                  <a:pt x="223838" y="76200"/>
                </a:cubicBezTo>
                <a:lnTo>
                  <a:pt x="228600" y="142875"/>
                </a:lnTo>
                <a:cubicBezTo>
                  <a:pt x="238125" y="209550"/>
                  <a:pt x="276225" y="209550"/>
                  <a:pt x="282893" y="133350"/>
                </a:cubicBezTo>
                <a:lnTo>
                  <a:pt x="285750" y="76200"/>
                </a:lnTo>
                <a:cubicBezTo>
                  <a:pt x="285750" y="0"/>
                  <a:pt x="333375" y="9525"/>
                  <a:pt x="338138" y="76200"/>
                </a:cubicBezTo>
                <a:lnTo>
                  <a:pt x="342900" y="142875"/>
                </a:lnTo>
                <a:cubicBezTo>
                  <a:pt x="352425" y="209550"/>
                  <a:pt x="390525" y="209550"/>
                  <a:pt x="397193" y="133350"/>
                </a:cubicBezTo>
                <a:lnTo>
                  <a:pt x="400050" y="76200"/>
                </a:lnTo>
                <a:cubicBezTo>
                  <a:pt x="400050" y="0"/>
                  <a:pt x="447675" y="9525"/>
                  <a:pt x="452438" y="76200"/>
                </a:cubicBezTo>
                <a:lnTo>
                  <a:pt x="457200" y="142875"/>
                </a:lnTo>
                <a:cubicBezTo>
                  <a:pt x="466725" y="209550"/>
                  <a:pt x="504825" y="209550"/>
                  <a:pt x="511493" y="133350"/>
                </a:cubicBezTo>
                <a:lnTo>
                  <a:pt x="514350" y="76200"/>
                </a:lnTo>
                <a:cubicBezTo>
                  <a:pt x="514350" y="0"/>
                  <a:pt x="561975" y="9525"/>
                  <a:pt x="566738" y="76200"/>
                </a:cubicBezTo>
                <a:lnTo>
                  <a:pt x="571500" y="142875"/>
                </a:lnTo>
                <a:cubicBezTo>
                  <a:pt x="581025" y="209550"/>
                  <a:pt x="619125" y="209550"/>
                  <a:pt x="625793" y="133350"/>
                </a:cubicBezTo>
                <a:lnTo>
                  <a:pt x="628650" y="76200"/>
                </a:lnTo>
                <a:cubicBezTo>
                  <a:pt x="628650" y="0"/>
                  <a:pt x="676275" y="9525"/>
                  <a:pt x="681038" y="76200"/>
                </a:cubicBezTo>
                <a:lnTo>
                  <a:pt x="685800" y="142875"/>
                </a:lnTo>
                <a:cubicBezTo>
                  <a:pt x="695325" y="209550"/>
                  <a:pt x="733425" y="209550"/>
                  <a:pt x="740093" y="133350"/>
                </a:cubicBezTo>
                <a:lnTo>
                  <a:pt x="742950" y="76200"/>
                </a:lnTo>
                <a:cubicBezTo>
                  <a:pt x="742950" y="0"/>
                  <a:pt x="790575" y="9525"/>
                  <a:pt x="795338" y="76200"/>
                </a:cubicBezTo>
                <a:lnTo>
                  <a:pt x="800100" y="142875"/>
                </a:lnTo>
                <a:cubicBezTo>
                  <a:pt x="809625" y="209550"/>
                  <a:pt x="847725" y="209550"/>
                  <a:pt x="854393" y="133350"/>
                </a:cubicBezTo>
                <a:lnTo>
                  <a:pt x="857250" y="76200"/>
                </a:lnTo>
                <a:cubicBezTo>
                  <a:pt x="857250" y="0"/>
                  <a:pt x="904875" y="9525"/>
                  <a:pt x="909638" y="76200"/>
                </a:cubicBezTo>
                <a:lnTo>
                  <a:pt x="914400" y="142875"/>
                </a:lnTo>
                <a:cubicBezTo>
                  <a:pt x="923925" y="209550"/>
                  <a:pt x="962025" y="209550"/>
                  <a:pt x="968693" y="133350"/>
                </a:cubicBezTo>
                <a:lnTo>
                  <a:pt x="971550" y="76200"/>
                </a:lnTo>
                <a:cubicBezTo>
                  <a:pt x="971550" y="0"/>
                  <a:pt x="1019175" y="9525"/>
                  <a:pt x="1023938" y="76200"/>
                </a:cubicBezTo>
                <a:lnTo>
                  <a:pt x="1028700" y="142875"/>
                </a:lnTo>
                <a:cubicBezTo>
                  <a:pt x="1038225" y="209550"/>
                  <a:pt x="1076325" y="209550"/>
                  <a:pt x="1082993" y="133350"/>
                </a:cubicBezTo>
                <a:lnTo>
                  <a:pt x="1085850" y="76200"/>
                </a:lnTo>
                <a:cubicBezTo>
                  <a:pt x="1085850" y="0"/>
                  <a:pt x="1133475" y="9525"/>
                  <a:pt x="1138238" y="76200"/>
                </a:cubicBezTo>
                <a:lnTo>
                  <a:pt x="1143000" y="142875"/>
                </a:lnTo>
                <a:cubicBezTo>
                  <a:pt x="1152525" y="209550"/>
                  <a:pt x="1190625" y="209550"/>
                  <a:pt x="1197293" y="133350"/>
                </a:cubicBezTo>
                <a:lnTo>
                  <a:pt x="1200150" y="76200"/>
                </a:lnTo>
                <a:cubicBezTo>
                  <a:pt x="1200150" y="0"/>
                  <a:pt x="1247775" y="9525"/>
                  <a:pt x="1252538" y="76200"/>
                </a:cubicBezTo>
                <a:lnTo>
                  <a:pt x="1257300" y="142875"/>
                </a:lnTo>
                <a:cubicBezTo>
                  <a:pt x="1266825" y="209550"/>
                  <a:pt x="1304925" y="209550"/>
                  <a:pt x="1311593" y="133350"/>
                </a:cubicBezTo>
                <a:lnTo>
                  <a:pt x="1314450" y="76200"/>
                </a:lnTo>
                <a:cubicBezTo>
                  <a:pt x="1314450" y="0"/>
                  <a:pt x="1362075" y="9525"/>
                  <a:pt x="1366838" y="76200"/>
                </a:cubicBezTo>
                <a:lnTo>
                  <a:pt x="1371600" y="142875"/>
                </a:lnTo>
                <a:cubicBezTo>
                  <a:pt x="1381125" y="209550"/>
                  <a:pt x="1419225" y="209550"/>
                  <a:pt x="1425893" y="133350"/>
                </a:cubicBezTo>
                <a:lnTo>
                  <a:pt x="1428750" y="76200"/>
                </a:lnTo>
                <a:cubicBezTo>
                  <a:pt x="1428750" y="0"/>
                  <a:pt x="1476375" y="9525"/>
                  <a:pt x="1481138" y="76200"/>
                </a:cubicBezTo>
                <a:lnTo>
                  <a:pt x="1485900" y="142875"/>
                </a:lnTo>
                <a:cubicBezTo>
                  <a:pt x="1495425" y="209550"/>
                  <a:pt x="1533525" y="209550"/>
                  <a:pt x="1540193" y="133350"/>
                </a:cubicBezTo>
                <a:lnTo>
                  <a:pt x="1543050" y="76200"/>
                </a:lnTo>
                <a:cubicBezTo>
                  <a:pt x="1543050" y="0"/>
                  <a:pt x="1590675" y="9525"/>
                  <a:pt x="1595438" y="76200"/>
                </a:cubicBezTo>
                <a:lnTo>
                  <a:pt x="1600200" y="142875"/>
                </a:lnTo>
                <a:cubicBezTo>
                  <a:pt x="1609725" y="209550"/>
                  <a:pt x="1647825" y="209550"/>
                  <a:pt x="1654493" y="133350"/>
                </a:cubicBezTo>
                <a:lnTo>
                  <a:pt x="1657350" y="76200"/>
                </a:lnTo>
                <a:cubicBezTo>
                  <a:pt x="1657350" y="0"/>
                  <a:pt x="1704975" y="9525"/>
                  <a:pt x="1709738" y="76200"/>
                </a:cubicBezTo>
                <a:lnTo>
                  <a:pt x="1714500" y="142875"/>
                </a:lnTo>
                <a:cubicBezTo>
                  <a:pt x="1724025" y="209550"/>
                  <a:pt x="1762125" y="209550"/>
                  <a:pt x="1768793" y="133350"/>
                </a:cubicBezTo>
                <a:lnTo>
                  <a:pt x="1771650" y="76200"/>
                </a:lnTo>
                <a:cubicBezTo>
                  <a:pt x="1771650" y="0"/>
                  <a:pt x="1819275" y="9525"/>
                  <a:pt x="1824038" y="76200"/>
                </a:cubicBezTo>
                <a:lnTo>
                  <a:pt x="1828800" y="142875"/>
                </a:lnTo>
                <a:cubicBezTo>
                  <a:pt x="1838325" y="209550"/>
                  <a:pt x="1876425" y="209550"/>
                  <a:pt x="1883093" y="133350"/>
                </a:cubicBezTo>
                <a:lnTo>
                  <a:pt x="1885950" y="76200"/>
                </a:lnTo>
                <a:cubicBezTo>
                  <a:pt x="1885950" y="0"/>
                  <a:pt x="1933575" y="9525"/>
                  <a:pt x="1938338" y="76200"/>
                </a:cubicBezTo>
                <a:lnTo>
                  <a:pt x="1943100" y="142875"/>
                </a:lnTo>
                <a:cubicBezTo>
                  <a:pt x="1952625" y="209550"/>
                  <a:pt x="1990725" y="209550"/>
                  <a:pt x="1997393" y="133350"/>
                </a:cubicBezTo>
                <a:lnTo>
                  <a:pt x="2000250" y="76200"/>
                </a:lnTo>
                <a:cubicBezTo>
                  <a:pt x="2000250" y="0"/>
                  <a:pt x="2047875" y="9525"/>
                  <a:pt x="2052638" y="76200"/>
                </a:cubicBezTo>
                <a:lnTo>
                  <a:pt x="2057400" y="142875"/>
                </a:lnTo>
                <a:cubicBezTo>
                  <a:pt x="2066925" y="209550"/>
                  <a:pt x="2105025" y="209550"/>
                  <a:pt x="2111693" y="133350"/>
                </a:cubicBezTo>
                <a:lnTo>
                  <a:pt x="2114550" y="76200"/>
                </a:lnTo>
                <a:cubicBezTo>
                  <a:pt x="2114550" y="0"/>
                  <a:pt x="2162175" y="9525"/>
                  <a:pt x="2166938" y="76200"/>
                </a:cubicBezTo>
                <a:lnTo>
                  <a:pt x="2171700" y="142875"/>
                </a:lnTo>
                <a:cubicBezTo>
                  <a:pt x="2181225" y="209550"/>
                  <a:pt x="2219325" y="209550"/>
                  <a:pt x="2225993" y="133350"/>
                </a:cubicBezTo>
                <a:lnTo>
                  <a:pt x="2228850" y="76200"/>
                </a:lnTo>
                <a:cubicBezTo>
                  <a:pt x="2228850" y="0"/>
                  <a:pt x="2276475" y="9525"/>
                  <a:pt x="2281238" y="76200"/>
                </a:cubicBezTo>
                <a:lnTo>
                  <a:pt x="2286000" y="142875"/>
                </a:lnTo>
                <a:cubicBezTo>
                  <a:pt x="2295525" y="209550"/>
                  <a:pt x="2333625" y="209550"/>
                  <a:pt x="2340293" y="133350"/>
                </a:cubicBezTo>
                <a:lnTo>
                  <a:pt x="2343150" y="76200"/>
                </a:lnTo>
                <a:cubicBezTo>
                  <a:pt x="2343150" y="0"/>
                  <a:pt x="2390775" y="9525"/>
                  <a:pt x="2395538" y="76200"/>
                </a:cubicBezTo>
                <a:lnTo>
                  <a:pt x="2400300" y="142875"/>
                </a:lnTo>
                <a:cubicBezTo>
                  <a:pt x="2409825" y="209550"/>
                  <a:pt x="2447925" y="209550"/>
                  <a:pt x="2454593" y="133350"/>
                </a:cubicBezTo>
                <a:lnTo>
                  <a:pt x="2457450" y="76200"/>
                </a:lnTo>
                <a:cubicBezTo>
                  <a:pt x="2457450" y="0"/>
                  <a:pt x="2505075" y="9525"/>
                  <a:pt x="2509838" y="76200"/>
                </a:cubicBezTo>
                <a:lnTo>
                  <a:pt x="2514600" y="142875"/>
                </a:lnTo>
                <a:lnTo>
                  <a:pt x="2581275" y="133350"/>
                </a:lnTo>
              </a:path>
            </a:pathLst>
          </a:custGeom>
          <a:noFill/>
          <a:ln w="6667" cap="rnd">
            <a:solidFill>
              <a:srgbClr val="FFE4B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6" name="Tight junction 00 0"/>
          <p:cNvSpPr/>
          <p:nvPr/>
        </p:nvSpPr>
        <p:spPr>
          <a:xfrm>
            <a:off x="995362" y="3267075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1014412" y="3280410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8" name="Tight junction 00 1"/>
          <p:cNvSpPr/>
          <p:nvPr/>
        </p:nvSpPr>
        <p:spPr>
          <a:xfrm>
            <a:off x="995362" y="3352800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1014412" y="3366135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0" name="Tight junction 01 0"/>
          <p:cNvSpPr/>
          <p:nvPr/>
        </p:nvSpPr>
        <p:spPr>
          <a:xfrm>
            <a:off x="2424112" y="3267075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2443162" y="3280410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2" name="Tight junction 01 1"/>
          <p:cNvSpPr/>
          <p:nvPr/>
        </p:nvSpPr>
        <p:spPr>
          <a:xfrm>
            <a:off x="2424112" y="3352800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2443162" y="3366135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4" name="Tight junction 02 0"/>
          <p:cNvSpPr/>
          <p:nvPr/>
        </p:nvSpPr>
        <p:spPr>
          <a:xfrm>
            <a:off x="3138488" y="3267075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3157538" y="3280410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6" name="Tight junction 02 1"/>
          <p:cNvSpPr/>
          <p:nvPr/>
        </p:nvSpPr>
        <p:spPr>
          <a:xfrm>
            <a:off x="3138488" y="3352800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3157538" y="3366135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8" name="Tight junction 03 0"/>
          <p:cNvSpPr/>
          <p:nvPr/>
        </p:nvSpPr>
        <p:spPr>
          <a:xfrm>
            <a:off x="3843338" y="3267075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3862388" y="3280410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0" name="Tight junction 03 1"/>
          <p:cNvSpPr/>
          <p:nvPr/>
        </p:nvSpPr>
        <p:spPr>
          <a:xfrm>
            <a:off x="3843338" y="3352800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3862388" y="3366135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2" name="Tight junction 04 0"/>
          <p:cNvSpPr/>
          <p:nvPr/>
        </p:nvSpPr>
        <p:spPr>
          <a:xfrm>
            <a:off x="4557712" y="3267075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4576762" y="3280410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4" name="Tight junction 04 1"/>
          <p:cNvSpPr/>
          <p:nvPr/>
        </p:nvSpPr>
        <p:spPr>
          <a:xfrm>
            <a:off x="4557712" y="3352800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4576762" y="3366135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6" name="Tight junction 05 0"/>
          <p:cNvSpPr/>
          <p:nvPr/>
        </p:nvSpPr>
        <p:spPr>
          <a:xfrm>
            <a:off x="5272088" y="3267075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5291138" y="3280410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8" name="Tight junction 05 1"/>
          <p:cNvSpPr/>
          <p:nvPr/>
        </p:nvSpPr>
        <p:spPr>
          <a:xfrm>
            <a:off x="5272088" y="3352800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5291138" y="3366135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0" name="Tight junction 06 0"/>
          <p:cNvSpPr/>
          <p:nvPr/>
        </p:nvSpPr>
        <p:spPr>
          <a:xfrm>
            <a:off x="5986462" y="3267075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6005512" y="3280410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2" name="Tight junction 06 1"/>
          <p:cNvSpPr/>
          <p:nvPr/>
        </p:nvSpPr>
        <p:spPr>
          <a:xfrm>
            <a:off x="5986462" y="3352800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6005512" y="3366135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4" name="Tight junction 07 0"/>
          <p:cNvSpPr/>
          <p:nvPr/>
        </p:nvSpPr>
        <p:spPr>
          <a:xfrm>
            <a:off x="6710362" y="3267075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6729412" y="3280410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6" name="Tight junction 07 1"/>
          <p:cNvSpPr/>
          <p:nvPr/>
        </p:nvSpPr>
        <p:spPr>
          <a:xfrm>
            <a:off x="6710362" y="3352800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6729412" y="3366135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8" name="Tight junction 08 0"/>
          <p:cNvSpPr/>
          <p:nvPr/>
        </p:nvSpPr>
        <p:spPr>
          <a:xfrm>
            <a:off x="7481888" y="3267075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7500938" y="3280410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0" name="Tight junction 08 1"/>
          <p:cNvSpPr/>
          <p:nvPr/>
        </p:nvSpPr>
        <p:spPr>
          <a:xfrm>
            <a:off x="7481888" y="3352800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7500938" y="3366135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2" name="Tight junction 09 0"/>
          <p:cNvSpPr/>
          <p:nvPr/>
        </p:nvSpPr>
        <p:spPr>
          <a:xfrm>
            <a:off x="8453438" y="3267075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8472488" y="3280410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4" name="Tight junction 09 1"/>
          <p:cNvSpPr/>
          <p:nvPr/>
        </p:nvSpPr>
        <p:spPr>
          <a:xfrm>
            <a:off x="8453438" y="3352800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8472488" y="3366135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6" name="Tight junction 10 0"/>
          <p:cNvSpPr/>
          <p:nvPr/>
        </p:nvSpPr>
        <p:spPr>
          <a:xfrm>
            <a:off x="10196512" y="3267075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10215562" y="3280410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8" name="Tight junction 10 1"/>
          <p:cNvSpPr/>
          <p:nvPr/>
        </p:nvSpPr>
        <p:spPr>
          <a:xfrm>
            <a:off x="10196512" y="3352800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10215562" y="3366135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0" name="Tight junction 11 0"/>
          <p:cNvSpPr/>
          <p:nvPr/>
        </p:nvSpPr>
        <p:spPr>
          <a:xfrm>
            <a:off x="10891838" y="3267075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10910888" y="3280410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2" name="Tight junction 11 1"/>
          <p:cNvSpPr/>
          <p:nvPr/>
        </p:nvSpPr>
        <p:spPr>
          <a:xfrm>
            <a:off x="10891838" y="3352800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10910888" y="3366135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4" name="Goblet cell"/>
          <p:cNvSpPr/>
          <p:nvPr/>
        </p:nvSpPr>
        <p:spPr>
          <a:xfrm>
            <a:off x="1314450" y="2752725"/>
            <a:ext cx="600075" cy="1447800"/>
          </a:xfrm>
          <a:custGeom>
            <a:avLst/>
            <a:gdLst/>
            <a:ahLst/>
            <a:cxnLst/>
            <a:rect l="0" t="0" r="r" b="b"/>
            <a:pathLst>
              <a:path w="600075" h="1447800">
                <a:moveTo>
                  <a:pt x="257175" y="0"/>
                </a:moveTo>
                <a:cubicBezTo>
                  <a:pt x="76200" y="0"/>
                  <a:pt x="0" y="285750"/>
                  <a:pt x="19050" y="504825"/>
                </a:cubicBezTo>
                <a:cubicBezTo>
                  <a:pt x="38100" y="695325"/>
                  <a:pt x="76200" y="781050"/>
                  <a:pt x="57150" y="1000125"/>
                </a:cubicBezTo>
                <a:cubicBezTo>
                  <a:pt x="28575" y="1209675"/>
                  <a:pt x="85725" y="1409700"/>
                  <a:pt x="257175" y="1419225"/>
                </a:cubicBezTo>
                <a:cubicBezTo>
                  <a:pt x="466725" y="1447800"/>
                  <a:pt x="504825" y="1266825"/>
                  <a:pt x="495300" y="1076325"/>
                </a:cubicBezTo>
                <a:cubicBezTo>
                  <a:pt x="476250" y="885825"/>
                  <a:pt x="476250" y="742950"/>
                  <a:pt x="523875" y="542925"/>
                </a:cubicBezTo>
                <a:cubicBezTo>
                  <a:pt x="600075" y="285750"/>
                  <a:pt x="476250" y="19050"/>
                  <a:pt x="314325" y="0"/>
                </a:cubicBezTo>
                <a:close/>
              </a:path>
            </a:pathLst>
          </a:custGeom>
          <a:gradFill rotWithShape="1">
            <a:gsLst>
              <a:gs pos="0">
                <a:srgbClr val="C1C6A1"/>
              </a:gs>
              <a:gs pos="42000">
                <a:srgbClr val="B5BD97"/>
              </a:gs>
              <a:gs pos="76000">
                <a:srgbClr val="C7CBAB"/>
              </a:gs>
              <a:gs pos="100000">
                <a:srgbClr val="A8B58A"/>
              </a:gs>
            </a:gsLst>
            <a:lin ang="5400000" scaled="1"/>
          </a:gradFill>
          <a:ln w="17145" cap="rnd">
            <a:solidFill>
              <a:srgbClr val="7F8B6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5" name="Goblet cell highlight"/>
          <p:cNvSpPr/>
          <p:nvPr/>
        </p:nvSpPr>
        <p:spPr>
          <a:xfrm>
            <a:off x="1352550" y="2876550"/>
            <a:ext cx="219075" cy="1238250"/>
          </a:xfrm>
          <a:custGeom>
            <a:avLst/>
            <a:gdLst/>
            <a:ahLst/>
            <a:cxnLst/>
            <a:rect l="0" t="0" r="r" b="b"/>
            <a:pathLst>
              <a:path w="219075" h="1238250">
                <a:moveTo>
                  <a:pt x="104775" y="0"/>
                </a:moveTo>
                <a:cubicBezTo>
                  <a:pt x="0" y="180975"/>
                  <a:pt x="19050" y="361950"/>
                  <a:pt x="66675" y="495300"/>
                </a:cubicBezTo>
                <a:cubicBezTo>
                  <a:pt x="104775" y="647700"/>
                  <a:pt x="85725" y="895350"/>
                  <a:pt x="76200" y="1009650"/>
                </a:cubicBezTo>
                <a:cubicBezTo>
                  <a:pt x="76200" y="1162050"/>
                  <a:pt x="142875" y="1238250"/>
                  <a:pt x="219075" y="1228725"/>
                </a:cubicBezTo>
              </a:path>
            </a:pathLst>
          </a:custGeom>
          <a:noFill/>
          <a:ln w="30480" cap="rnd">
            <a:solidFill>
              <a:srgbClr val="DFE1C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6" name="Goblet secretion granule"/>
          <p:cNvSpPr/>
          <p:nvPr/>
        </p:nvSpPr>
        <p:spPr>
          <a:xfrm rot="355423">
            <a:off x="1449339" y="2840619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7" name="Goblet secretion granule"/>
          <p:cNvSpPr/>
          <p:nvPr/>
        </p:nvSpPr>
        <p:spPr>
          <a:xfrm rot="20839970">
            <a:off x="1534386" y="2834852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8" name="Goblet secretion granule"/>
          <p:cNvSpPr/>
          <p:nvPr/>
        </p:nvSpPr>
        <p:spPr>
          <a:xfrm rot="452623">
            <a:off x="1617514" y="2821606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9" name="Goblet secretion granule"/>
          <p:cNvSpPr/>
          <p:nvPr/>
        </p:nvSpPr>
        <p:spPr>
          <a:xfrm rot="20647653">
            <a:off x="1382371" y="2907028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0" name="Goblet secretion granule"/>
          <p:cNvSpPr/>
          <p:nvPr/>
        </p:nvSpPr>
        <p:spPr>
          <a:xfrm rot="455601">
            <a:off x="1476384" y="2919474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1" name="Goblet secretion granule"/>
          <p:cNvSpPr/>
          <p:nvPr/>
        </p:nvSpPr>
        <p:spPr>
          <a:xfrm rot="21099253">
            <a:off x="1572878" y="2907331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2" name="Goblet secretion granule"/>
          <p:cNvSpPr/>
          <p:nvPr/>
        </p:nvSpPr>
        <p:spPr>
          <a:xfrm rot="20191262">
            <a:off x="1659294" y="2905275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3" name="Goblet secretion granule"/>
          <p:cNvSpPr/>
          <p:nvPr/>
        </p:nvSpPr>
        <p:spPr>
          <a:xfrm rot="866549">
            <a:off x="1368551" y="3019405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4" name="Goblet secretion granule"/>
          <p:cNvSpPr/>
          <p:nvPr/>
        </p:nvSpPr>
        <p:spPr>
          <a:xfrm rot="21385975">
            <a:off x="1450820" y="3008259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5" name="Goblet secretion granule"/>
          <p:cNvSpPr/>
          <p:nvPr/>
        </p:nvSpPr>
        <p:spPr>
          <a:xfrm rot="21184351">
            <a:off x="1530330" y="2991692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6" name="Goblet secretion granule"/>
          <p:cNvSpPr/>
          <p:nvPr/>
        </p:nvSpPr>
        <p:spPr>
          <a:xfrm rot="906972">
            <a:off x="1613579" y="3000872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7" name="Goblet secretion granule"/>
          <p:cNvSpPr/>
          <p:nvPr/>
        </p:nvSpPr>
        <p:spPr>
          <a:xfrm rot="1413492">
            <a:off x="1713953" y="2997080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8" name="Goblet secretion granule"/>
          <p:cNvSpPr/>
          <p:nvPr/>
        </p:nvSpPr>
        <p:spPr>
          <a:xfrm rot="513322">
            <a:off x="1350674" y="3098414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9" name="Goblet secretion granule"/>
          <p:cNvSpPr/>
          <p:nvPr/>
        </p:nvSpPr>
        <p:spPr>
          <a:xfrm rot="20734015">
            <a:off x="1463259" y="3088283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0" name="Goblet secretion granule"/>
          <p:cNvSpPr/>
          <p:nvPr/>
        </p:nvSpPr>
        <p:spPr>
          <a:xfrm rot="21053293">
            <a:off x="1532573" y="3085276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1" name="Goblet secretion granule"/>
          <p:cNvSpPr/>
          <p:nvPr/>
        </p:nvSpPr>
        <p:spPr>
          <a:xfrm rot="1196925">
            <a:off x="1621565" y="3105436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2" name="Goblet secretion granule"/>
          <p:cNvSpPr/>
          <p:nvPr/>
        </p:nvSpPr>
        <p:spPr>
          <a:xfrm rot="666452">
            <a:off x="1709310" y="3084690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3" name="Goblet secretion granule"/>
          <p:cNvSpPr/>
          <p:nvPr/>
        </p:nvSpPr>
        <p:spPr>
          <a:xfrm rot="20400641">
            <a:off x="1407994" y="3179152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4" name="Goblet secretion granule"/>
          <p:cNvSpPr/>
          <p:nvPr/>
        </p:nvSpPr>
        <p:spPr>
          <a:xfrm rot="619437">
            <a:off x="1478645" y="3203284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5" name="Goblet secretion granule"/>
          <p:cNvSpPr/>
          <p:nvPr/>
        </p:nvSpPr>
        <p:spPr>
          <a:xfrm rot="701910">
            <a:off x="1560368" y="3180593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6" name="Goblet secretion granule"/>
          <p:cNvSpPr/>
          <p:nvPr/>
        </p:nvSpPr>
        <p:spPr>
          <a:xfrm rot="20200518">
            <a:off x="1641469" y="3199608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7" name="Goblet secretion granule"/>
          <p:cNvSpPr/>
          <p:nvPr/>
        </p:nvSpPr>
        <p:spPr>
          <a:xfrm rot="392498">
            <a:off x="1445725" y="3290741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8" name="Goblet secretion granule"/>
          <p:cNvSpPr/>
          <p:nvPr/>
        </p:nvSpPr>
        <p:spPr>
          <a:xfrm rot="1162875">
            <a:off x="1538815" y="3267814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9" name="Goblet secretion granule"/>
          <p:cNvSpPr/>
          <p:nvPr/>
        </p:nvSpPr>
        <p:spPr>
          <a:xfrm rot="1025991">
            <a:off x="1599313" y="3295129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0" name="Goblet secretion granule"/>
          <p:cNvSpPr/>
          <p:nvPr/>
        </p:nvSpPr>
        <p:spPr>
          <a:xfrm rot="21516831">
            <a:off x="1494650" y="3383078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1" name="Goblet secretion granule"/>
          <p:cNvSpPr/>
          <p:nvPr/>
        </p:nvSpPr>
        <p:spPr>
          <a:xfrm rot="20324828">
            <a:off x="1590962" y="3369396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2" name="Goblet nucleus"/>
          <p:cNvSpPr/>
          <p:nvPr/>
        </p:nvSpPr>
        <p:spPr>
          <a:xfrm>
            <a:off x="1466850" y="3648075"/>
            <a:ext cx="238125" cy="361950"/>
          </a:xfrm>
          <a:prstGeom prst="ellipse">
            <a:avLst/>
          </a:prstGeom>
          <a:gradFill rotWithShape="1">
            <a:gsLst>
              <a:gs pos="0">
                <a:srgbClr val="BAC19B"/>
              </a:gs>
              <a:gs pos="70000">
                <a:srgbClr val="A2AC80"/>
              </a:gs>
              <a:gs pos="100000">
                <a:srgbClr val="929F70"/>
              </a:gs>
            </a:gsLst>
            <a:lin ang="5400000" scaled="1"/>
          </a:gradFill>
          <a:ln w="10477">
            <a:solidFill>
              <a:srgbClr val="77846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3" name="Goblet nucleus rim"/>
          <p:cNvSpPr/>
          <p:nvPr/>
        </p:nvSpPr>
        <p:spPr>
          <a:xfrm>
            <a:off x="1457325" y="3705225"/>
            <a:ext cx="104775" cy="266700"/>
          </a:xfrm>
          <a:custGeom>
            <a:avLst/>
            <a:gdLst/>
            <a:ahLst/>
            <a:cxnLst/>
            <a:rect l="0" t="0" r="r" b="b"/>
            <a:pathLst>
              <a:path w="104775" h="266700">
                <a:moveTo>
                  <a:pt x="57150" y="0"/>
                </a:moveTo>
                <a:cubicBezTo>
                  <a:pt x="0" y="85725"/>
                  <a:pt x="47625" y="228600"/>
                  <a:pt x="104775" y="266700"/>
                </a:cubicBezTo>
              </a:path>
            </a:pathLst>
          </a:custGeom>
          <a:noFill/>
          <a:ln w="13334" cap="rnd">
            <a:solidFill>
              <a:srgbClr val="CAD1A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4" name="Portal capillary lumen"/>
          <p:cNvSpPr/>
          <p:nvPr/>
        </p:nvSpPr>
        <p:spPr>
          <a:xfrm>
            <a:off x="266700" y="6029325"/>
            <a:ext cx="8943975" cy="990600"/>
          </a:xfrm>
          <a:custGeom>
            <a:avLst/>
            <a:gdLst/>
            <a:ahLst/>
            <a:cxnLst/>
            <a:rect l="0" t="0" r="r" b="b"/>
            <a:pathLst>
              <a:path w="8943975" h="990600">
                <a:moveTo>
                  <a:pt x="57150" y="38100"/>
                </a:moveTo>
                <a:cubicBezTo>
                  <a:pt x="1323975" y="0"/>
                  <a:pt x="2009775" y="47625"/>
                  <a:pt x="2876550" y="57150"/>
                </a:cubicBezTo>
                <a:cubicBezTo>
                  <a:pt x="4829175" y="85725"/>
                  <a:pt x="5600700" y="9525"/>
                  <a:pt x="7239000" y="57150"/>
                </a:cubicBezTo>
                <a:lnTo>
                  <a:pt x="8020050" y="57150"/>
                </a:lnTo>
                <a:cubicBezTo>
                  <a:pt x="8305800" y="66675"/>
                  <a:pt x="8343900" y="152400"/>
                  <a:pt x="8458200" y="304800"/>
                </a:cubicBezTo>
                <a:cubicBezTo>
                  <a:pt x="8534400" y="400050"/>
                  <a:pt x="8620125" y="438150"/>
                  <a:pt x="8772525" y="428625"/>
                </a:cubicBezTo>
                <a:lnTo>
                  <a:pt x="8934450" y="400050"/>
                </a:lnTo>
                <a:lnTo>
                  <a:pt x="8943975" y="581025"/>
                </a:lnTo>
                <a:lnTo>
                  <a:pt x="8734425" y="561975"/>
                </a:lnTo>
                <a:cubicBezTo>
                  <a:pt x="8591550" y="561975"/>
                  <a:pt x="8534400" y="600075"/>
                  <a:pt x="8458200" y="723900"/>
                </a:cubicBezTo>
                <a:cubicBezTo>
                  <a:pt x="8353425" y="885825"/>
                  <a:pt x="8277225" y="962025"/>
                  <a:pt x="8020050" y="971550"/>
                </a:cubicBezTo>
                <a:cubicBezTo>
                  <a:pt x="6334125" y="942975"/>
                  <a:pt x="5695950" y="952500"/>
                  <a:pt x="4352925" y="962025"/>
                </a:cubicBezTo>
                <a:cubicBezTo>
                  <a:pt x="2371725" y="990600"/>
                  <a:pt x="1276350" y="952500"/>
                  <a:pt x="57150" y="971550"/>
                </a:cubicBezTo>
                <a:cubicBezTo>
                  <a:pt x="9525" y="971550"/>
                  <a:pt x="0" y="933450"/>
                  <a:pt x="47625" y="885825"/>
                </a:cubicBezTo>
                <a:cubicBezTo>
                  <a:pt x="180975" y="704850"/>
                  <a:pt x="171450" y="314325"/>
                  <a:pt x="47625" y="142875"/>
                </a:cubicBezTo>
                <a:cubicBezTo>
                  <a:pt x="0" y="85725"/>
                  <a:pt x="9525" y="47625"/>
                  <a:pt x="57150" y="38100"/>
                </a:cubicBezTo>
                <a:close/>
              </a:path>
            </a:pathLst>
          </a:custGeom>
          <a:gradFill rotWithShape="1">
            <a:gsLst>
              <a:gs pos="0">
                <a:srgbClr val="E8838E"/>
              </a:gs>
              <a:gs pos="13000">
                <a:srgbClr val="F4A3AA"/>
              </a:gs>
              <a:gs pos="55000">
                <a:srgbClr val="FBC0C2"/>
              </a:gs>
              <a:gs pos="86000">
                <a:srgbClr val="F2A2AA"/>
              </a:gs>
              <a:gs pos="100000">
                <a:srgbClr val="DF7B89"/>
              </a:gs>
            </a:gsLst>
            <a:lin ang="5400000" scaled="1"/>
          </a:gradFill>
          <a:ln w="15240" cap="rnd">
            <a:solidFill>
              <a:srgbClr val="D15A6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5" name="Portal capillary upper rim"/>
          <p:cNvSpPr/>
          <p:nvPr/>
        </p:nvSpPr>
        <p:spPr>
          <a:xfrm>
            <a:off x="323850" y="6105525"/>
            <a:ext cx="8639175" cy="419100"/>
          </a:xfrm>
          <a:custGeom>
            <a:avLst/>
            <a:gdLst/>
            <a:ahLst/>
            <a:cxnLst/>
            <a:rect l="0" t="0" r="r" b="b"/>
            <a:pathLst>
              <a:path w="8639175" h="419100">
                <a:moveTo>
                  <a:pt x="0" y="28575"/>
                </a:moveTo>
                <a:cubicBezTo>
                  <a:pt x="1581150" y="0"/>
                  <a:pt x="2438400" y="57150"/>
                  <a:pt x="3562350" y="47625"/>
                </a:cubicBezTo>
                <a:cubicBezTo>
                  <a:pt x="5324475" y="38100"/>
                  <a:pt x="6657975" y="19050"/>
                  <a:pt x="7981950" y="57150"/>
                </a:cubicBezTo>
                <a:cubicBezTo>
                  <a:pt x="8229600" y="57150"/>
                  <a:pt x="8267700" y="152400"/>
                  <a:pt x="8343900" y="285750"/>
                </a:cubicBezTo>
                <a:cubicBezTo>
                  <a:pt x="8401050" y="381000"/>
                  <a:pt x="8486775" y="419100"/>
                  <a:pt x="8639175" y="419100"/>
                </a:cubicBezTo>
              </a:path>
            </a:pathLst>
          </a:custGeom>
          <a:noFill/>
          <a:ln w="19050" cap="rnd">
            <a:solidFill>
              <a:srgbClr val="FFC9C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6" name="Portal capillary lower rim"/>
          <p:cNvSpPr/>
          <p:nvPr/>
        </p:nvSpPr>
        <p:spPr>
          <a:xfrm>
            <a:off x="323850" y="6534150"/>
            <a:ext cx="8648700" cy="419100"/>
          </a:xfrm>
          <a:custGeom>
            <a:avLst/>
            <a:gdLst/>
            <a:ahLst/>
            <a:cxnLst/>
            <a:rect l="0" t="0" r="r" b="b"/>
            <a:pathLst>
              <a:path w="8648700" h="419100">
                <a:moveTo>
                  <a:pt x="0" y="400050"/>
                </a:moveTo>
                <a:cubicBezTo>
                  <a:pt x="1847850" y="371475"/>
                  <a:pt x="2867025" y="419100"/>
                  <a:pt x="4676775" y="409575"/>
                </a:cubicBezTo>
                <a:cubicBezTo>
                  <a:pt x="6238875" y="381000"/>
                  <a:pt x="7029450" y="390525"/>
                  <a:pt x="7905750" y="400050"/>
                </a:cubicBezTo>
                <a:cubicBezTo>
                  <a:pt x="8191500" y="400050"/>
                  <a:pt x="8258175" y="304800"/>
                  <a:pt x="8324850" y="161925"/>
                </a:cubicBezTo>
                <a:cubicBezTo>
                  <a:pt x="8401050" y="28575"/>
                  <a:pt x="8496300" y="0"/>
                  <a:pt x="8648700" y="0"/>
                </a:cubicBezTo>
              </a:path>
            </a:pathLst>
          </a:custGeom>
          <a:noFill/>
          <a:ln w="15240" cap="rnd">
            <a:solidFill>
              <a:srgbClr val="CD677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7" name="Systemic capillary lumen"/>
          <p:cNvSpPr/>
          <p:nvPr/>
        </p:nvSpPr>
        <p:spPr>
          <a:xfrm>
            <a:off x="11572875" y="5819775"/>
            <a:ext cx="3533775" cy="1971675"/>
          </a:xfrm>
          <a:custGeom>
            <a:avLst/>
            <a:gdLst/>
            <a:ahLst/>
            <a:cxnLst/>
            <a:rect l="0" t="0" r="r" b="b"/>
            <a:pathLst>
              <a:path w="3533775" h="1971675">
                <a:moveTo>
                  <a:pt x="142875" y="666750"/>
                </a:moveTo>
                <a:cubicBezTo>
                  <a:pt x="352425" y="790575"/>
                  <a:pt x="533400" y="657225"/>
                  <a:pt x="704850" y="352425"/>
                </a:cubicBezTo>
                <a:cubicBezTo>
                  <a:pt x="847725" y="85725"/>
                  <a:pt x="1123950" y="0"/>
                  <a:pt x="1428750" y="9525"/>
                </a:cubicBezTo>
                <a:lnTo>
                  <a:pt x="3219450" y="9525"/>
                </a:lnTo>
                <a:cubicBezTo>
                  <a:pt x="3390900" y="9525"/>
                  <a:pt x="3533775" y="447675"/>
                  <a:pt x="3533775" y="981075"/>
                </a:cubicBezTo>
                <a:cubicBezTo>
                  <a:pt x="3533775" y="1504950"/>
                  <a:pt x="3429000" y="1962150"/>
                  <a:pt x="3228975" y="1971675"/>
                </a:cubicBezTo>
                <a:lnTo>
                  <a:pt x="1485900" y="1962150"/>
                </a:lnTo>
                <a:cubicBezTo>
                  <a:pt x="1019175" y="1962150"/>
                  <a:pt x="923925" y="1771650"/>
                  <a:pt x="781050" y="1466850"/>
                </a:cubicBezTo>
                <a:cubicBezTo>
                  <a:pt x="628650" y="1133475"/>
                  <a:pt x="581025" y="1000125"/>
                  <a:pt x="342900" y="990600"/>
                </a:cubicBezTo>
                <a:lnTo>
                  <a:pt x="0" y="990600"/>
                </a:lnTo>
                <a:lnTo>
                  <a:pt x="0" y="685800"/>
                </a:lnTo>
                <a:close/>
              </a:path>
            </a:pathLst>
          </a:custGeom>
          <a:gradFill rotWithShape="1">
            <a:gsLst>
              <a:gs pos="0">
                <a:srgbClr val="E88691"/>
              </a:gs>
              <a:gs pos="18000">
                <a:srgbClr val="F3A2AC"/>
              </a:gs>
              <a:gs pos="53000">
                <a:srgbClr val="FBB8BE"/>
              </a:gs>
              <a:gs pos="78000">
                <a:srgbClr val="F6AAB3"/>
              </a:gs>
              <a:gs pos="100000">
                <a:srgbClr val="E88997"/>
              </a:gs>
            </a:gsLst>
            <a:lin ang="5400000" scaled="1"/>
          </a:gradFill>
          <a:ln w="15716" cap="rnd">
            <a:solidFill>
              <a:srgbClr val="D35F6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8" name="Systemic upper rim"/>
          <p:cNvSpPr/>
          <p:nvPr/>
        </p:nvSpPr>
        <p:spPr>
          <a:xfrm>
            <a:off x="11658600" y="5915025"/>
            <a:ext cx="3228975" cy="828675"/>
          </a:xfrm>
          <a:custGeom>
            <a:avLst/>
            <a:gdLst/>
            <a:ahLst/>
            <a:cxnLst/>
            <a:rect l="0" t="0" r="r" b="b"/>
            <a:pathLst>
              <a:path w="3228975" h="828675">
                <a:moveTo>
                  <a:pt x="0" y="695325"/>
                </a:moveTo>
                <a:cubicBezTo>
                  <a:pt x="409575" y="828675"/>
                  <a:pt x="542925" y="590550"/>
                  <a:pt x="714375" y="285750"/>
                </a:cubicBezTo>
                <a:cubicBezTo>
                  <a:pt x="857250" y="47625"/>
                  <a:pt x="1095375" y="0"/>
                  <a:pt x="1371600" y="9525"/>
                </a:cubicBezTo>
                <a:lnTo>
                  <a:pt x="3228975" y="9525"/>
                </a:lnTo>
              </a:path>
            </a:pathLst>
          </a:custGeom>
          <a:noFill/>
          <a:ln w="28575" cap="rnd">
            <a:solidFill>
              <a:srgbClr val="FFC5C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9" name="Systemic lower rim"/>
          <p:cNvSpPr/>
          <p:nvPr/>
        </p:nvSpPr>
        <p:spPr>
          <a:xfrm>
            <a:off x="11620500" y="6705600"/>
            <a:ext cx="3295650" cy="981075"/>
          </a:xfrm>
          <a:custGeom>
            <a:avLst/>
            <a:gdLst/>
            <a:ahLst/>
            <a:cxnLst/>
            <a:rect l="0" t="0" r="r" b="b"/>
            <a:pathLst>
              <a:path w="3295650" h="981075">
                <a:moveTo>
                  <a:pt x="0" y="19050"/>
                </a:moveTo>
                <a:lnTo>
                  <a:pt x="304800" y="19050"/>
                </a:lnTo>
                <a:cubicBezTo>
                  <a:pt x="638175" y="0"/>
                  <a:pt x="647700" y="285750"/>
                  <a:pt x="800100" y="600075"/>
                </a:cubicBezTo>
                <a:cubicBezTo>
                  <a:pt x="952500" y="933450"/>
                  <a:pt x="1047750" y="981075"/>
                  <a:pt x="1476375" y="981075"/>
                </a:cubicBezTo>
                <a:lnTo>
                  <a:pt x="3295650" y="981075"/>
                </a:lnTo>
              </a:path>
            </a:pathLst>
          </a:custGeom>
          <a:noFill/>
          <a:ln w="17145" cap="rnd">
            <a:solidFill>
              <a:srgbClr val="C66C7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0" name="Liver posterior lobe"/>
          <p:cNvSpPr/>
          <p:nvPr/>
        </p:nvSpPr>
        <p:spPr>
          <a:xfrm>
            <a:off x="9877425" y="5591175"/>
            <a:ext cx="2076450" cy="2057400"/>
          </a:xfrm>
          <a:custGeom>
            <a:avLst/>
            <a:gdLst/>
            <a:ahLst/>
            <a:cxnLst/>
            <a:rect l="0" t="0" r="r" b="b"/>
            <a:pathLst>
              <a:path w="2076450" h="2057400">
                <a:moveTo>
                  <a:pt x="171450" y="133350"/>
                </a:moveTo>
                <a:cubicBezTo>
                  <a:pt x="581025" y="0"/>
                  <a:pt x="1028700" y="95250"/>
                  <a:pt x="1409700" y="161925"/>
                </a:cubicBezTo>
                <a:cubicBezTo>
                  <a:pt x="1781175" y="228600"/>
                  <a:pt x="2047875" y="219075"/>
                  <a:pt x="2076450" y="352425"/>
                </a:cubicBezTo>
                <a:cubicBezTo>
                  <a:pt x="2076450" y="533400"/>
                  <a:pt x="1876425" y="781050"/>
                  <a:pt x="1724025" y="1009650"/>
                </a:cubicBezTo>
                <a:cubicBezTo>
                  <a:pt x="1543050" y="1304925"/>
                  <a:pt x="1371600" y="1638300"/>
                  <a:pt x="1095375" y="1838325"/>
                </a:cubicBezTo>
                <a:cubicBezTo>
                  <a:pt x="866775" y="2009775"/>
                  <a:pt x="600075" y="2057400"/>
                  <a:pt x="381000" y="1943100"/>
                </a:cubicBezTo>
                <a:cubicBezTo>
                  <a:pt x="133350" y="1809750"/>
                  <a:pt x="38100" y="1504950"/>
                  <a:pt x="28575" y="1181100"/>
                </a:cubicBezTo>
                <a:cubicBezTo>
                  <a:pt x="0" y="828675"/>
                  <a:pt x="38100" y="419100"/>
                  <a:pt x="171450" y="133350"/>
                </a:cubicBezTo>
                <a:close/>
              </a:path>
            </a:pathLst>
          </a:custGeom>
          <a:gradFill rotWithShape="1">
            <a:gsLst>
              <a:gs pos="0">
                <a:srgbClr val="C68973"/>
              </a:gs>
              <a:gs pos="27000">
                <a:srgbClr val="E2A18A"/>
              </a:gs>
              <a:gs pos="58000">
                <a:srgbClr val="CD8A70"/>
              </a:gs>
              <a:gs pos="84000">
                <a:srgbClr val="B7735B"/>
              </a:gs>
              <a:gs pos="100000">
                <a:srgbClr val="A76853"/>
              </a:gs>
            </a:gsLst>
            <a:lin ang="4500000" scaled="1"/>
          </a:gradFill>
          <a:ln w="11906" cap="rnd">
            <a:solidFill>
              <a:srgbClr val="925A4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1" name="Posterior lobe curved shading"/>
          <p:cNvSpPr/>
          <p:nvPr/>
        </p:nvSpPr>
        <p:spPr>
          <a:xfrm>
            <a:off x="10258425" y="6581775"/>
            <a:ext cx="1362075" cy="1076325"/>
          </a:xfrm>
          <a:custGeom>
            <a:avLst/>
            <a:gdLst/>
            <a:ahLst/>
            <a:cxnLst/>
            <a:rect l="0" t="0" r="r" b="b"/>
            <a:pathLst>
              <a:path w="1362075" h="1076325">
                <a:moveTo>
                  <a:pt x="0" y="809625"/>
                </a:moveTo>
                <a:cubicBezTo>
                  <a:pt x="228600" y="942975"/>
                  <a:pt x="504825" y="904875"/>
                  <a:pt x="723900" y="742950"/>
                </a:cubicBezTo>
                <a:cubicBezTo>
                  <a:pt x="1019175" y="552450"/>
                  <a:pt x="1200150" y="276225"/>
                  <a:pt x="1362075" y="0"/>
                </a:cubicBezTo>
                <a:cubicBezTo>
                  <a:pt x="1219200" y="381000"/>
                  <a:pt x="1000125" y="695325"/>
                  <a:pt x="714375" y="876300"/>
                </a:cubicBezTo>
                <a:cubicBezTo>
                  <a:pt x="476250" y="1028700"/>
                  <a:pt x="209550" y="1076325"/>
                  <a:pt x="0" y="952500"/>
                </a:cubicBezTo>
                <a:close/>
              </a:path>
            </a:pathLst>
          </a:custGeom>
          <a:gradFill rotWithShape="1">
            <a:gsLst>
              <a:gs pos="0">
                <a:srgbClr val="9C5945">
                  <a:alpha val="0"/>
                </a:srgbClr>
              </a:gs>
              <a:gs pos="45000">
                <a:srgbClr val="A7664F">
                  <a:alpha val="12000"/>
                </a:srgbClr>
              </a:gs>
              <a:gs pos="100000">
                <a:srgbClr val="9B5947">
                  <a:alpha val="38000"/>
                </a:srgbClr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2" name="Liver anterior lobe"/>
          <p:cNvSpPr/>
          <p:nvPr/>
        </p:nvSpPr>
        <p:spPr>
          <a:xfrm>
            <a:off x="8963025" y="5391150"/>
            <a:ext cx="3171825" cy="2724150"/>
          </a:xfrm>
          <a:custGeom>
            <a:avLst/>
            <a:gdLst/>
            <a:ahLst/>
            <a:cxnLst/>
            <a:rect l="0" t="0" r="r" b="b"/>
            <a:pathLst>
              <a:path w="3171825" h="2724150">
                <a:moveTo>
                  <a:pt x="47625" y="1095375"/>
                </a:moveTo>
                <a:cubicBezTo>
                  <a:pt x="19050" y="733425"/>
                  <a:pt x="133350" y="400050"/>
                  <a:pt x="390525" y="200025"/>
                </a:cubicBezTo>
                <a:cubicBezTo>
                  <a:pt x="657225" y="0"/>
                  <a:pt x="1009650" y="0"/>
                  <a:pt x="1333500" y="95250"/>
                </a:cubicBezTo>
                <a:cubicBezTo>
                  <a:pt x="1685925" y="200025"/>
                  <a:pt x="1971675" y="276225"/>
                  <a:pt x="2343150" y="276225"/>
                </a:cubicBezTo>
                <a:cubicBezTo>
                  <a:pt x="2628900" y="285750"/>
                  <a:pt x="2943225" y="314325"/>
                  <a:pt x="3057525" y="438150"/>
                </a:cubicBezTo>
                <a:cubicBezTo>
                  <a:pt x="3171825" y="571500"/>
                  <a:pt x="2952750" y="771525"/>
                  <a:pt x="2819400" y="952500"/>
                </a:cubicBezTo>
                <a:cubicBezTo>
                  <a:pt x="2657475" y="1162050"/>
                  <a:pt x="2581275" y="1371600"/>
                  <a:pt x="2390775" y="1562100"/>
                </a:cubicBezTo>
                <a:cubicBezTo>
                  <a:pt x="2219325" y="1752600"/>
                  <a:pt x="1990725" y="1876425"/>
                  <a:pt x="1762125" y="1943100"/>
                </a:cubicBezTo>
                <a:cubicBezTo>
                  <a:pt x="1571625" y="1990725"/>
                  <a:pt x="1476375" y="1962150"/>
                  <a:pt x="1371600" y="2047875"/>
                </a:cubicBezTo>
                <a:cubicBezTo>
                  <a:pt x="1171575" y="2200275"/>
                  <a:pt x="971550" y="2295525"/>
                  <a:pt x="781050" y="2447925"/>
                </a:cubicBezTo>
                <a:cubicBezTo>
                  <a:pt x="600075" y="2590800"/>
                  <a:pt x="381000" y="2724150"/>
                  <a:pt x="238125" y="2638425"/>
                </a:cubicBezTo>
                <a:cubicBezTo>
                  <a:pt x="85725" y="2543175"/>
                  <a:pt x="38100" y="2371725"/>
                  <a:pt x="28575" y="2171700"/>
                </a:cubicBezTo>
                <a:cubicBezTo>
                  <a:pt x="0" y="1809750"/>
                  <a:pt x="38100" y="1447800"/>
                  <a:pt x="47625" y="1095375"/>
                </a:cubicBezTo>
                <a:close/>
              </a:path>
            </a:pathLst>
          </a:custGeom>
          <a:gradFill rotWithShape="1">
            <a:gsLst>
              <a:gs pos="0">
                <a:srgbClr val="EFC0AA"/>
              </a:gs>
              <a:gs pos="24000">
                <a:srgbClr val="E7AE99"/>
              </a:gs>
              <a:gs pos="52000">
                <a:srgbClr val="DDA08B"/>
              </a:gs>
              <a:gs pos="78000">
                <a:srgbClr val="CE8C77"/>
              </a:gs>
              <a:gs pos="100000">
                <a:srgbClr val="B87663"/>
              </a:gs>
            </a:gsLst>
            <a:path path="circle">
              <a:fillToRect l="32000" t="26000" r="68000" b="74000"/>
            </a:path>
            <a:tileRect/>
          </a:gradFill>
          <a:ln w="12858" cap="rnd">
            <a:solidFill>
              <a:srgbClr val="925E4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3" name="Liver soft upper highlight"/>
          <p:cNvSpPr/>
          <p:nvPr/>
        </p:nvSpPr>
        <p:spPr>
          <a:xfrm>
            <a:off x="9058275" y="5476875"/>
            <a:ext cx="2886075" cy="914400"/>
          </a:xfrm>
          <a:custGeom>
            <a:avLst/>
            <a:gdLst/>
            <a:ahLst/>
            <a:cxnLst/>
            <a:rect l="0" t="0" r="r" b="b"/>
            <a:pathLst>
              <a:path w="2886075" h="914400">
                <a:moveTo>
                  <a:pt x="47625" y="914400"/>
                </a:moveTo>
                <a:cubicBezTo>
                  <a:pt x="0" y="609600"/>
                  <a:pt x="152400" y="295275"/>
                  <a:pt x="371475" y="152400"/>
                </a:cubicBezTo>
                <a:cubicBezTo>
                  <a:pt x="638175" y="0"/>
                  <a:pt x="923925" y="19050"/>
                  <a:pt x="1266825" y="114300"/>
                </a:cubicBezTo>
                <a:cubicBezTo>
                  <a:pt x="1628775" y="228600"/>
                  <a:pt x="1895475" y="257175"/>
                  <a:pt x="2247900" y="266700"/>
                </a:cubicBezTo>
                <a:cubicBezTo>
                  <a:pt x="2543175" y="266700"/>
                  <a:pt x="2781300" y="314325"/>
                  <a:pt x="2886075" y="390525"/>
                </a:cubicBezTo>
                <a:cubicBezTo>
                  <a:pt x="2514600" y="371475"/>
                  <a:pt x="2171700" y="400050"/>
                  <a:pt x="1857375" y="419100"/>
                </a:cubicBezTo>
                <a:cubicBezTo>
                  <a:pt x="1495425" y="438150"/>
                  <a:pt x="1171575" y="285750"/>
                  <a:pt x="876300" y="276225"/>
                </a:cubicBezTo>
                <a:cubicBezTo>
                  <a:pt x="485775" y="257175"/>
                  <a:pt x="257175" y="542925"/>
                  <a:pt x="47625" y="914400"/>
                </a:cubicBezTo>
                <a:close/>
              </a:path>
            </a:pathLst>
          </a:custGeom>
          <a:gradFill rotWithShape="1">
            <a:gsLst>
              <a:gs pos="0">
                <a:srgbClr val="FFE5C7">
                  <a:alpha val="11000"/>
                </a:srgbClr>
              </a:gs>
              <a:gs pos="40000">
                <a:srgbClr val="FFE0C0">
                  <a:alpha val="4500"/>
                </a:srgbClr>
              </a:gs>
              <a:gs pos="100000">
                <a:srgbClr val="FFE0C0">
                  <a:alpha val="0"/>
                </a:srgbClr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4" name="Liver rounded flank shading"/>
          <p:cNvSpPr/>
          <p:nvPr/>
        </p:nvSpPr>
        <p:spPr>
          <a:xfrm>
            <a:off x="8943975" y="5572125"/>
            <a:ext cx="533400" cy="2524125"/>
          </a:xfrm>
          <a:custGeom>
            <a:avLst/>
            <a:gdLst/>
            <a:ahLst/>
            <a:cxnLst/>
            <a:rect l="0" t="0" r="r" b="b"/>
            <a:pathLst>
              <a:path w="533400" h="2524125">
                <a:moveTo>
                  <a:pt x="66675" y="904875"/>
                </a:moveTo>
                <a:cubicBezTo>
                  <a:pt x="76200" y="428625"/>
                  <a:pt x="257175" y="123825"/>
                  <a:pt x="476250" y="0"/>
                </a:cubicBezTo>
                <a:cubicBezTo>
                  <a:pt x="333375" y="247650"/>
                  <a:pt x="219075" y="533400"/>
                  <a:pt x="209550" y="914400"/>
                </a:cubicBezTo>
                <a:cubicBezTo>
                  <a:pt x="180975" y="1371600"/>
                  <a:pt x="142875" y="1943100"/>
                  <a:pt x="266700" y="2295525"/>
                </a:cubicBezTo>
                <a:cubicBezTo>
                  <a:pt x="314325" y="2438400"/>
                  <a:pt x="409575" y="2457450"/>
                  <a:pt x="533400" y="2409825"/>
                </a:cubicBezTo>
                <a:cubicBezTo>
                  <a:pt x="371475" y="2524125"/>
                  <a:pt x="257175" y="2505075"/>
                  <a:pt x="161925" y="2371725"/>
                </a:cubicBezTo>
                <a:cubicBezTo>
                  <a:pt x="0" y="2143125"/>
                  <a:pt x="19050" y="1476375"/>
                  <a:pt x="66675" y="904875"/>
                </a:cubicBezTo>
                <a:close/>
              </a:path>
            </a:pathLst>
          </a:custGeom>
          <a:gradFill rotWithShape="1">
            <a:gsLst>
              <a:gs pos="0">
                <a:srgbClr val="8E503F">
                  <a:alpha val="9000"/>
                </a:srgbClr>
              </a:gs>
              <a:gs pos="30000">
                <a:srgbClr val="A86B53">
                  <a:alpha val="4500"/>
                </a:srgbClr>
              </a:gs>
              <a:gs pos="100000">
                <a:srgbClr val="B7755A">
                  <a:alpha val="0"/>
                </a:srgbClr>
              </a:gs>
            </a:gsLst>
            <a:lin ang="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5" name="Liver lower edge modeling"/>
          <p:cNvSpPr/>
          <p:nvPr/>
        </p:nvSpPr>
        <p:spPr>
          <a:xfrm>
            <a:off x="9039225" y="7305675"/>
            <a:ext cx="1657350" cy="809625"/>
          </a:xfrm>
          <a:custGeom>
            <a:avLst/>
            <a:gdLst/>
            <a:ahLst/>
            <a:cxnLst/>
            <a:rect l="0" t="0" r="r" b="b"/>
            <a:pathLst>
              <a:path w="1657350" h="809625">
                <a:moveTo>
                  <a:pt x="104775" y="200025"/>
                </a:moveTo>
                <a:cubicBezTo>
                  <a:pt x="152400" y="504825"/>
                  <a:pt x="238125" y="647700"/>
                  <a:pt x="400050" y="609600"/>
                </a:cubicBezTo>
                <a:cubicBezTo>
                  <a:pt x="695325" y="504825"/>
                  <a:pt x="923925" y="257175"/>
                  <a:pt x="1228725" y="142875"/>
                </a:cubicBezTo>
                <a:cubicBezTo>
                  <a:pt x="1390650" y="66675"/>
                  <a:pt x="1514475" y="0"/>
                  <a:pt x="1657350" y="9525"/>
                </a:cubicBezTo>
                <a:cubicBezTo>
                  <a:pt x="1419225" y="66675"/>
                  <a:pt x="1362075" y="76200"/>
                  <a:pt x="1295400" y="133350"/>
                </a:cubicBezTo>
                <a:cubicBezTo>
                  <a:pt x="1095375" y="285750"/>
                  <a:pt x="895350" y="381000"/>
                  <a:pt x="704850" y="533400"/>
                </a:cubicBezTo>
                <a:cubicBezTo>
                  <a:pt x="523875" y="676275"/>
                  <a:pt x="304800" y="809625"/>
                  <a:pt x="161925" y="723900"/>
                </a:cubicBezTo>
                <a:cubicBezTo>
                  <a:pt x="66675" y="647700"/>
                  <a:pt x="19050" y="476250"/>
                  <a:pt x="0" y="285750"/>
                </a:cubicBezTo>
                <a:close/>
              </a:path>
            </a:pathLst>
          </a:custGeom>
          <a:gradFill rotWithShape="1">
            <a:gsLst>
              <a:gs pos="0">
                <a:srgbClr val="A56950">
                  <a:alpha val="0"/>
                </a:srgbClr>
              </a:gs>
              <a:gs pos="58000">
                <a:srgbClr val="A3674D">
                  <a:alpha val="3500"/>
                </a:srgbClr>
              </a:gs>
              <a:gs pos="100000">
                <a:srgbClr val="975A43">
                  <a:alpha val="12000"/>
                </a:srgbClr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6" name="Liver upper rim light"/>
          <p:cNvSpPr/>
          <p:nvPr/>
        </p:nvSpPr>
        <p:spPr>
          <a:xfrm>
            <a:off x="9105900" y="5467350"/>
            <a:ext cx="1295400" cy="704850"/>
          </a:xfrm>
          <a:custGeom>
            <a:avLst/>
            <a:gdLst/>
            <a:ahLst/>
            <a:cxnLst/>
            <a:rect l="0" t="0" r="r" b="b"/>
            <a:pathLst>
              <a:path w="1295400" h="704850">
                <a:moveTo>
                  <a:pt x="0" y="704850"/>
                </a:moveTo>
                <a:cubicBezTo>
                  <a:pt x="66675" y="371475"/>
                  <a:pt x="247650" y="114300"/>
                  <a:pt x="571500" y="57150"/>
                </a:cubicBezTo>
                <a:cubicBezTo>
                  <a:pt x="857250" y="0"/>
                  <a:pt x="1076325" y="85725"/>
                  <a:pt x="1295400" y="142875"/>
                </a:cubicBezTo>
              </a:path>
            </a:pathLst>
          </a:custGeom>
          <a:noFill/>
          <a:ln w="13334" cap="rnd">
            <a:solidFill>
              <a:srgbClr val="F9D3B7">
                <a:alpha val="5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7" name="Liver shallow interlobar fold"/>
          <p:cNvSpPr/>
          <p:nvPr/>
        </p:nvSpPr>
        <p:spPr>
          <a:xfrm>
            <a:off x="10325100" y="6457950"/>
            <a:ext cx="438150" cy="981075"/>
          </a:xfrm>
          <a:custGeom>
            <a:avLst/>
            <a:gdLst/>
            <a:ahLst/>
            <a:cxnLst/>
            <a:rect l="0" t="0" r="r" b="b"/>
            <a:pathLst>
              <a:path w="438150" h="981075">
                <a:moveTo>
                  <a:pt x="228600" y="0"/>
                </a:moveTo>
                <a:cubicBezTo>
                  <a:pt x="342900" y="238125"/>
                  <a:pt x="314325" y="504825"/>
                  <a:pt x="219075" y="685800"/>
                </a:cubicBezTo>
                <a:cubicBezTo>
                  <a:pt x="152400" y="828675"/>
                  <a:pt x="95250" y="904875"/>
                  <a:pt x="0" y="981075"/>
                </a:cubicBezTo>
                <a:cubicBezTo>
                  <a:pt x="142875" y="923925"/>
                  <a:pt x="266700" y="762000"/>
                  <a:pt x="333375" y="609600"/>
                </a:cubicBezTo>
                <a:cubicBezTo>
                  <a:pt x="438150" y="381000"/>
                  <a:pt x="371475" y="114300"/>
                  <a:pt x="228600" y="0"/>
                </a:cubicBezTo>
                <a:close/>
              </a:path>
            </a:pathLst>
          </a:custGeom>
          <a:gradFill rotWithShape="1">
            <a:gsLst>
              <a:gs pos="0">
                <a:srgbClr val="AE7257">
                  <a:alpha val="0"/>
                </a:srgbClr>
              </a:gs>
              <a:gs pos="45000">
                <a:srgbClr val="995E48">
                  <a:alpha val="17000"/>
                </a:srgbClr>
              </a:gs>
              <a:gs pos="100000">
                <a:srgbClr val="8B513E">
                  <a:alpha val="31000"/>
                </a:srgbClr>
              </a:gs>
            </a:gsLst>
            <a:lin ang="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8" name="Liver fold reflected light"/>
          <p:cNvSpPr/>
          <p:nvPr/>
        </p:nvSpPr>
        <p:spPr>
          <a:xfrm>
            <a:off x="10401300" y="6581775"/>
            <a:ext cx="266700" cy="781050"/>
          </a:xfrm>
          <a:custGeom>
            <a:avLst/>
            <a:gdLst/>
            <a:ahLst/>
            <a:cxnLst/>
            <a:rect l="0" t="0" r="r" b="b"/>
            <a:pathLst>
              <a:path w="266700" h="781050">
                <a:moveTo>
                  <a:pt x="171450" y="0"/>
                </a:moveTo>
                <a:cubicBezTo>
                  <a:pt x="266700" y="247650"/>
                  <a:pt x="219075" y="533400"/>
                  <a:pt x="0" y="781050"/>
                </a:cubicBezTo>
              </a:path>
            </a:pathLst>
          </a:custGeom>
          <a:noFill/>
          <a:ln w="10477" cap="rnd">
            <a:solidFill>
              <a:srgbClr val="F0B598">
                <a:alpha val="62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9" name="Hepatic portal trunk"/>
          <p:cNvSpPr/>
          <p:nvPr/>
        </p:nvSpPr>
        <p:spPr>
          <a:xfrm>
            <a:off x="8848725" y="6400800"/>
            <a:ext cx="2076450" cy="514350"/>
          </a:xfrm>
          <a:custGeom>
            <a:avLst/>
            <a:gdLst/>
            <a:ahLst/>
            <a:cxnLst/>
            <a:rect l="0" t="0" r="r" b="b"/>
            <a:pathLst>
              <a:path w="2076450" h="514350">
                <a:moveTo>
                  <a:pt x="0" y="66675"/>
                </a:moveTo>
                <a:cubicBezTo>
                  <a:pt x="200025" y="0"/>
                  <a:pt x="400050" y="123825"/>
                  <a:pt x="571500" y="257175"/>
                </a:cubicBezTo>
                <a:cubicBezTo>
                  <a:pt x="762000" y="419100"/>
                  <a:pt x="847725" y="428625"/>
                  <a:pt x="990600" y="314325"/>
                </a:cubicBezTo>
                <a:cubicBezTo>
                  <a:pt x="1152525" y="200025"/>
                  <a:pt x="1190625" y="85725"/>
                  <a:pt x="1371600" y="76200"/>
                </a:cubicBezTo>
                <a:cubicBezTo>
                  <a:pt x="1590675" y="66675"/>
                  <a:pt x="1790700" y="190500"/>
                  <a:pt x="2076450" y="161925"/>
                </a:cubicBezTo>
                <a:lnTo>
                  <a:pt x="2076450" y="200025"/>
                </a:lnTo>
                <a:cubicBezTo>
                  <a:pt x="1771650" y="247650"/>
                  <a:pt x="1581150" y="133350"/>
                  <a:pt x="1390650" y="142875"/>
                </a:cubicBezTo>
                <a:cubicBezTo>
                  <a:pt x="1238250" y="152400"/>
                  <a:pt x="1190625" y="295275"/>
                  <a:pt x="1028700" y="400050"/>
                </a:cubicBezTo>
                <a:cubicBezTo>
                  <a:pt x="847725" y="514350"/>
                  <a:pt x="704850" y="476250"/>
                  <a:pt x="514350" y="323850"/>
                </a:cubicBezTo>
                <a:cubicBezTo>
                  <a:pt x="333375" y="180975"/>
                  <a:pt x="180975" y="104775"/>
                  <a:pt x="0" y="190500"/>
                </a:cubicBezTo>
                <a:close/>
              </a:path>
            </a:pathLst>
          </a:custGeom>
          <a:gradFill rotWithShape="1">
            <a:gsLst>
              <a:gs pos="0">
                <a:srgbClr val="E5A69A"/>
              </a:gs>
              <a:gs pos="42000">
                <a:srgbClr val="D99187"/>
              </a:gs>
              <a:gs pos="100000">
                <a:srgbClr val="BC776E"/>
              </a:gs>
            </a:gsLst>
            <a:lin ang="5400000" scaled="1"/>
          </a:gradFill>
          <a:ln w="7620" cap="rnd">
            <a:solidFill>
              <a:srgbClr val="AA6C6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0" name="Portal trunk light"/>
          <p:cNvSpPr/>
          <p:nvPr/>
        </p:nvSpPr>
        <p:spPr>
          <a:xfrm>
            <a:off x="8886825" y="6448425"/>
            <a:ext cx="2028825" cy="409575"/>
          </a:xfrm>
          <a:custGeom>
            <a:avLst/>
            <a:gdLst/>
            <a:ahLst/>
            <a:cxnLst/>
            <a:rect l="0" t="0" r="r" b="b"/>
            <a:pathLst>
              <a:path w="2028825" h="409575">
                <a:moveTo>
                  <a:pt x="0" y="47625"/>
                </a:moveTo>
                <a:cubicBezTo>
                  <a:pt x="209550" y="0"/>
                  <a:pt x="400050" y="161925"/>
                  <a:pt x="523875" y="257175"/>
                </a:cubicBezTo>
                <a:cubicBezTo>
                  <a:pt x="704850" y="400050"/>
                  <a:pt x="819150" y="409575"/>
                  <a:pt x="962025" y="304800"/>
                </a:cubicBezTo>
                <a:cubicBezTo>
                  <a:pt x="1133475" y="180975"/>
                  <a:pt x="1162050" y="76200"/>
                  <a:pt x="1333500" y="66675"/>
                </a:cubicBezTo>
                <a:cubicBezTo>
                  <a:pt x="1562100" y="57150"/>
                  <a:pt x="1762125" y="171450"/>
                  <a:pt x="2028825" y="133350"/>
                </a:cubicBezTo>
              </a:path>
            </a:pathLst>
          </a:custGeom>
          <a:noFill/>
          <a:ln w="11906" cap="rnd">
            <a:solidFill>
              <a:srgbClr val="F3BBAC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1" name="Tapered hepatic vessel 00"/>
          <p:cNvSpPr/>
          <p:nvPr/>
        </p:nvSpPr>
        <p:spPr>
          <a:xfrm>
            <a:off x="9542639" y="5961763"/>
            <a:ext cx="371495" cy="792715"/>
          </a:xfrm>
          <a:custGeom>
            <a:avLst/>
            <a:gdLst/>
            <a:ahLst/>
            <a:cxnLst/>
            <a:rect l="0" t="0" r="r" b="b"/>
            <a:pathLst>
              <a:path w="371495" h="792715">
                <a:moveTo>
                  <a:pt x="339610" y="792715"/>
                </a:moveTo>
                <a:lnTo>
                  <a:pt x="349382" y="770050"/>
                </a:lnTo>
                <a:lnTo>
                  <a:pt x="357532" y="746198"/>
                </a:lnTo>
                <a:lnTo>
                  <a:pt x="363708" y="722189"/>
                </a:lnTo>
                <a:lnTo>
                  <a:pt x="368016" y="698095"/>
                </a:lnTo>
                <a:lnTo>
                  <a:pt x="370572" y="673979"/>
                </a:lnTo>
                <a:lnTo>
                  <a:pt x="371495" y="649897"/>
                </a:lnTo>
                <a:lnTo>
                  <a:pt x="370904" y="625896"/>
                </a:lnTo>
                <a:lnTo>
                  <a:pt x="368919" y="602015"/>
                </a:lnTo>
                <a:lnTo>
                  <a:pt x="365655" y="578289"/>
                </a:lnTo>
                <a:lnTo>
                  <a:pt x="361227" y="554747"/>
                </a:lnTo>
                <a:lnTo>
                  <a:pt x="355744" y="531417"/>
                </a:lnTo>
                <a:lnTo>
                  <a:pt x="349313" y="508325"/>
                </a:lnTo>
                <a:lnTo>
                  <a:pt x="342038" y="485499"/>
                </a:lnTo>
                <a:lnTo>
                  <a:pt x="334021" y="462964"/>
                </a:lnTo>
                <a:lnTo>
                  <a:pt x="325363" y="440748"/>
                </a:lnTo>
                <a:lnTo>
                  <a:pt x="316161" y="418878"/>
                </a:lnTo>
                <a:lnTo>
                  <a:pt x="306514" y="397383"/>
                </a:lnTo>
                <a:lnTo>
                  <a:pt x="296518" y="376295"/>
                </a:lnTo>
                <a:lnTo>
                  <a:pt x="286268" y="355643"/>
                </a:lnTo>
                <a:lnTo>
                  <a:pt x="275861" y="335460"/>
                </a:lnTo>
                <a:lnTo>
                  <a:pt x="265392" y="315778"/>
                </a:lnTo>
                <a:lnTo>
                  <a:pt x="254956" y="296633"/>
                </a:lnTo>
                <a:lnTo>
                  <a:pt x="244649" y="278058"/>
                </a:lnTo>
                <a:lnTo>
                  <a:pt x="234488" y="259948"/>
                </a:lnTo>
                <a:lnTo>
                  <a:pt x="225372" y="244678"/>
                </a:lnTo>
                <a:lnTo>
                  <a:pt x="215946" y="230117"/>
                </a:lnTo>
                <a:lnTo>
                  <a:pt x="206289" y="216299"/>
                </a:lnTo>
                <a:lnTo>
                  <a:pt x="196435" y="203171"/>
                </a:lnTo>
                <a:lnTo>
                  <a:pt x="186419" y="190681"/>
                </a:lnTo>
                <a:lnTo>
                  <a:pt x="176275" y="178774"/>
                </a:lnTo>
                <a:lnTo>
                  <a:pt x="166033" y="167396"/>
                </a:lnTo>
                <a:lnTo>
                  <a:pt x="155727" y="156490"/>
                </a:lnTo>
                <a:lnTo>
                  <a:pt x="145386" y="146002"/>
                </a:lnTo>
                <a:lnTo>
                  <a:pt x="135040" y="135872"/>
                </a:lnTo>
                <a:lnTo>
                  <a:pt x="124716" y="126046"/>
                </a:lnTo>
                <a:lnTo>
                  <a:pt x="114442" y="116466"/>
                </a:lnTo>
                <a:lnTo>
                  <a:pt x="104243" y="107075"/>
                </a:lnTo>
                <a:lnTo>
                  <a:pt x="94144" y="97815"/>
                </a:lnTo>
                <a:lnTo>
                  <a:pt x="84167" y="88630"/>
                </a:lnTo>
                <a:lnTo>
                  <a:pt x="74337" y="79463"/>
                </a:lnTo>
                <a:lnTo>
                  <a:pt x="64672" y="70256"/>
                </a:lnTo>
                <a:lnTo>
                  <a:pt x="55195" y="60952"/>
                </a:lnTo>
                <a:lnTo>
                  <a:pt x="45922" y="51493"/>
                </a:lnTo>
                <a:lnTo>
                  <a:pt x="36872" y="41821"/>
                </a:lnTo>
                <a:lnTo>
                  <a:pt x="28057" y="31881"/>
                </a:lnTo>
                <a:lnTo>
                  <a:pt x="19484" y="21616"/>
                </a:lnTo>
                <a:lnTo>
                  <a:pt x="11142" y="10982"/>
                </a:lnTo>
                <a:lnTo>
                  <a:pt x="2822" y="0"/>
                </a:lnTo>
                <a:lnTo>
                  <a:pt x="0" y="1775"/>
                </a:lnTo>
                <a:lnTo>
                  <a:pt x="6355" y="14128"/>
                </a:lnTo>
                <a:lnTo>
                  <a:pt x="13424" y="25943"/>
                </a:lnTo>
                <a:lnTo>
                  <a:pt x="20939" y="37350"/>
                </a:lnTo>
                <a:lnTo>
                  <a:pt x="28833" y="48412"/>
                </a:lnTo>
                <a:lnTo>
                  <a:pt x="37053" y="59182"/>
                </a:lnTo>
                <a:lnTo>
                  <a:pt x="45556" y="69708"/>
                </a:lnTo>
                <a:lnTo>
                  <a:pt x="54300" y="80042"/>
                </a:lnTo>
                <a:lnTo>
                  <a:pt x="63247" y="90234"/>
                </a:lnTo>
                <a:lnTo>
                  <a:pt x="72357" y="100333"/>
                </a:lnTo>
                <a:lnTo>
                  <a:pt x="81595" y="110390"/>
                </a:lnTo>
                <a:lnTo>
                  <a:pt x="90924" y="120454"/>
                </a:lnTo>
                <a:lnTo>
                  <a:pt x="100311" y="130577"/>
                </a:lnTo>
                <a:lnTo>
                  <a:pt x="109722" y="140809"/>
                </a:lnTo>
                <a:lnTo>
                  <a:pt x="119125" y="151200"/>
                </a:lnTo>
                <a:lnTo>
                  <a:pt x="128489" y="161801"/>
                </a:lnTo>
                <a:lnTo>
                  <a:pt x="137784" y="172662"/>
                </a:lnTo>
                <a:lnTo>
                  <a:pt x="146981" y="183834"/>
                </a:lnTo>
                <a:lnTo>
                  <a:pt x="156053" y="195369"/>
                </a:lnTo>
                <a:lnTo>
                  <a:pt x="164973" y="207317"/>
                </a:lnTo>
                <a:lnTo>
                  <a:pt x="173717" y="219732"/>
                </a:lnTo>
                <a:lnTo>
                  <a:pt x="182259" y="232667"/>
                </a:lnTo>
                <a:lnTo>
                  <a:pt x="190575" y="246177"/>
                </a:lnTo>
                <a:lnTo>
                  <a:pt x="198643" y="260317"/>
                </a:lnTo>
                <a:lnTo>
                  <a:pt x="206484" y="275227"/>
                </a:lnTo>
                <a:lnTo>
                  <a:pt x="215639" y="293419"/>
                </a:lnTo>
                <a:lnTo>
                  <a:pt x="225053" y="312262"/>
                </a:lnTo>
                <a:lnTo>
                  <a:pt x="234553" y="331576"/>
                </a:lnTo>
                <a:lnTo>
                  <a:pt x="244045" y="351321"/>
                </a:lnTo>
                <a:lnTo>
                  <a:pt x="253434" y="371458"/>
                </a:lnTo>
                <a:lnTo>
                  <a:pt x="262624" y="391945"/>
                </a:lnTo>
                <a:lnTo>
                  <a:pt x="271522" y="412739"/>
                </a:lnTo>
                <a:lnTo>
                  <a:pt x="280033" y="433797"/>
                </a:lnTo>
                <a:lnTo>
                  <a:pt x="288064" y="455075"/>
                </a:lnTo>
                <a:lnTo>
                  <a:pt x="295522" y="476527"/>
                </a:lnTo>
                <a:lnTo>
                  <a:pt x="302315" y="498107"/>
                </a:lnTo>
                <a:lnTo>
                  <a:pt x="308353" y="519768"/>
                </a:lnTo>
                <a:lnTo>
                  <a:pt x="313549" y="541462"/>
                </a:lnTo>
                <a:lnTo>
                  <a:pt x="317815" y="563140"/>
                </a:lnTo>
                <a:lnTo>
                  <a:pt x="321069" y="584755"/>
                </a:lnTo>
                <a:lnTo>
                  <a:pt x="323231" y="606259"/>
                </a:lnTo>
                <a:lnTo>
                  <a:pt x="324223" y="627610"/>
                </a:lnTo>
                <a:lnTo>
                  <a:pt x="323973" y="648766"/>
                </a:lnTo>
                <a:lnTo>
                  <a:pt x="322409" y="669692"/>
                </a:lnTo>
                <a:lnTo>
                  <a:pt x="319459" y="690361"/>
                </a:lnTo>
                <a:lnTo>
                  <a:pt x="315054" y="710754"/>
                </a:lnTo>
                <a:lnTo>
                  <a:pt x="309118" y="730860"/>
                </a:lnTo>
                <a:lnTo>
                  <a:pt x="301569" y="750677"/>
                </a:lnTo>
                <a:lnTo>
                  <a:pt x="291862" y="771160"/>
                </a:lnTo>
                <a:close/>
              </a:path>
            </a:pathLst>
          </a:custGeom>
          <a:gradFill rotWithShape="1">
            <a:gsLst>
              <a:gs pos="0">
                <a:srgbClr val="D89387">
                  <a:alpha val="67000"/>
                </a:srgbClr>
              </a:gs>
              <a:gs pos="35000">
                <a:srgbClr val="CE817B">
                  <a:alpha val="67000"/>
                </a:srgbClr>
              </a:gs>
              <a:gs pos="100000">
                <a:srgbClr val="B86A65">
                  <a:alpha val="67000"/>
                </a:srgbClr>
              </a:gs>
            </a:gsLst>
            <a:lin ang="39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2" name="Tapered hepatic vessel 01"/>
          <p:cNvSpPr/>
          <p:nvPr/>
        </p:nvSpPr>
        <p:spPr>
          <a:xfrm>
            <a:off x="9894174" y="5714482"/>
            <a:ext cx="137236" cy="900104"/>
          </a:xfrm>
          <a:custGeom>
            <a:avLst/>
            <a:gdLst/>
            <a:ahLst/>
            <a:cxnLst/>
            <a:rect l="0" t="0" r="r" b="b"/>
            <a:pathLst>
              <a:path w="137236" h="900104">
                <a:moveTo>
                  <a:pt x="39924" y="900104"/>
                </a:moveTo>
                <a:lnTo>
                  <a:pt x="45148" y="875913"/>
                </a:lnTo>
                <a:lnTo>
                  <a:pt x="49401" y="851490"/>
                </a:lnTo>
                <a:lnTo>
                  <a:pt x="52665" y="827247"/>
                </a:lnTo>
                <a:lnTo>
                  <a:pt x="55015" y="803198"/>
                </a:lnTo>
                <a:lnTo>
                  <a:pt x="56528" y="779357"/>
                </a:lnTo>
                <a:lnTo>
                  <a:pt x="57278" y="755739"/>
                </a:lnTo>
                <a:lnTo>
                  <a:pt x="57340" y="732356"/>
                </a:lnTo>
                <a:lnTo>
                  <a:pt x="56790" y="709219"/>
                </a:lnTo>
                <a:lnTo>
                  <a:pt x="55701" y="686339"/>
                </a:lnTo>
                <a:lnTo>
                  <a:pt x="54146" y="663729"/>
                </a:lnTo>
                <a:lnTo>
                  <a:pt x="52200" y="641398"/>
                </a:lnTo>
                <a:lnTo>
                  <a:pt x="49934" y="619357"/>
                </a:lnTo>
                <a:lnTo>
                  <a:pt x="47421" y="597617"/>
                </a:lnTo>
                <a:lnTo>
                  <a:pt x="44732" y="576188"/>
                </a:lnTo>
                <a:lnTo>
                  <a:pt x="41939" y="555082"/>
                </a:lnTo>
                <a:lnTo>
                  <a:pt x="39112" y="534309"/>
                </a:lnTo>
                <a:lnTo>
                  <a:pt x="36321" y="513881"/>
                </a:lnTo>
                <a:lnTo>
                  <a:pt x="33637" y="493809"/>
                </a:lnTo>
                <a:lnTo>
                  <a:pt x="31129" y="474105"/>
                </a:lnTo>
                <a:lnTo>
                  <a:pt x="28866" y="454781"/>
                </a:lnTo>
                <a:lnTo>
                  <a:pt x="26916" y="435849"/>
                </a:lnTo>
                <a:lnTo>
                  <a:pt x="25346" y="417322"/>
                </a:lnTo>
                <a:lnTo>
                  <a:pt x="24225" y="399210"/>
                </a:lnTo>
                <a:lnTo>
                  <a:pt x="23616" y="381564"/>
                </a:lnTo>
                <a:lnTo>
                  <a:pt x="23713" y="361000"/>
                </a:lnTo>
                <a:lnTo>
                  <a:pt x="24622" y="341302"/>
                </a:lnTo>
                <a:lnTo>
                  <a:pt x="26287" y="322358"/>
                </a:lnTo>
                <a:lnTo>
                  <a:pt x="28654" y="304108"/>
                </a:lnTo>
                <a:lnTo>
                  <a:pt x="31668" y="286495"/>
                </a:lnTo>
                <a:lnTo>
                  <a:pt x="35275" y="269458"/>
                </a:lnTo>
                <a:lnTo>
                  <a:pt x="39421" y="252942"/>
                </a:lnTo>
                <a:lnTo>
                  <a:pt x="44053" y="236890"/>
                </a:lnTo>
                <a:lnTo>
                  <a:pt x="49117" y="221248"/>
                </a:lnTo>
                <a:lnTo>
                  <a:pt x="54559" y="205962"/>
                </a:lnTo>
                <a:lnTo>
                  <a:pt x="60323" y="190980"/>
                </a:lnTo>
                <a:lnTo>
                  <a:pt x="66353" y="176251"/>
                </a:lnTo>
                <a:lnTo>
                  <a:pt x="72592" y="161724"/>
                </a:lnTo>
                <a:lnTo>
                  <a:pt x="78981" y="147348"/>
                </a:lnTo>
                <a:lnTo>
                  <a:pt x="85461" y="133074"/>
                </a:lnTo>
                <a:lnTo>
                  <a:pt x="91972" y="118852"/>
                </a:lnTo>
                <a:lnTo>
                  <a:pt x="98451" y="104633"/>
                </a:lnTo>
                <a:lnTo>
                  <a:pt x="104837" y="90367"/>
                </a:lnTo>
                <a:lnTo>
                  <a:pt x="111065" y="76006"/>
                </a:lnTo>
                <a:lnTo>
                  <a:pt x="117069" y="61501"/>
                </a:lnTo>
                <a:lnTo>
                  <a:pt x="122783" y="46803"/>
                </a:lnTo>
                <a:lnTo>
                  <a:pt x="128131" y="31863"/>
                </a:lnTo>
                <a:lnTo>
                  <a:pt x="133028" y="16628"/>
                </a:lnTo>
                <a:lnTo>
                  <a:pt x="137236" y="1036"/>
                </a:lnTo>
                <a:lnTo>
                  <a:pt x="134067" y="0"/>
                </a:lnTo>
                <a:lnTo>
                  <a:pt x="128273" y="14986"/>
                </a:lnTo>
                <a:lnTo>
                  <a:pt x="122291" y="29642"/>
                </a:lnTo>
                <a:lnTo>
                  <a:pt x="116001" y="44014"/>
                </a:lnTo>
                <a:lnTo>
                  <a:pt x="109431" y="58157"/>
                </a:lnTo>
                <a:lnTo>
                  <a:pt x="102622" y="72129"/>
                </a:lnTo>
                <a:lnTo>
                  <a:pt x="95624" y="85989"/>
                </a:lnTo>
                <a:lnTo>
                  <a:pt x="88485" y="99795"/>
                </a:lnTo>
                <a:lnTo>
                  <a:pt x="81259" y="113607"/>
                </a:lnTo>
                <a:lnTo>
                  <a:pt x="73997" y="127482"/>
                </a:lnTo>
                <a:lnTo>
                  <a:pt x="66755" y="141478"/>
                </a:lnTo>
                <a:lnTo>
                  <a:pt x="59587" y="155654"/>
                </a:lnTo>
                <a:lnTo>
                  <a:pt x="52550" y="170067"/>
                </a:lnTo>
                <a:lnTo>
                  <a:pt x="45701" y="184774"/>
                </a:lnTo>
                <a:lnTo>
                  <a:pt x="39098" y="199832"/>
                </a:lnTo>
                <a:lnTo>
                  <a:pt x="32802" y="215297"/>
                </a:lnTo>
                <a:lnTo>
                  <a:pt x="26872" y="231224"/>
                </a:lnTo>
                <a:lnTo>
                  <a:pt x="21370" y="247668"/>
                </a:lnTo>
                <a:lnTo>
                  <a:pt x="16358" y="264680"/>
                </a:lnTo>
                <a:lnTo>
                  <a:pt x="11897" y="282314"/>
                </a:lnTo>
                <a:lnTo>
                  <a:pt x="8051" y="300619"/>
                </a:lnTo>
                <a:lnTo>
                  <a:pt x="4881" y="319644"/>
                </a:lnTo>
                <a:lnTo>
                  <a:pt x="2448" y="339438"/>
                </a:lnTo>
                <a:lnTo>
                  <a:pt x="813" y="360049"/>
                </a:lnTo>
                <a:lnTo>
                  <a:pt x="36" y="381473"/>
                </a:lnTo>
                <a:lnTo>
                  <a:pt x="0" y="399938"/>
                </a:lnTo>
                <a:lnTo>
                  <a:pt x="500" y="418707"/>
                </a:lnTo>
                <a:lnTo>
                  <a:pt x="1462" y="437803"/>
                </a:lnTo>
                <a:lnTo>
                  <a:pt x="2812" y="457215"/>
                </a:lnTo>
                <a:lnTo>
                  <a:pt x="4478" y="476930"/>
                </a:lnTo>
                <a:lnTo>
                  <a:pt x="6386" y="496934"/>
                </a:lnTo>
                <a:lnTo>
                  <a:pt x="8466" y="517215"/>
                </a:lnTo>
                <a:lnTo>
                  <a:pt x="10646" y="537760"/>
                </a:lnTo>
                <a:lnTo>
                  <a:pt x="12856" y="558556"/>
                </a:lnTo>
                <a:lnTo>
                  <a:pt x="15025" y="579589"/>
                </a:lnTo>
                <a:lnTo>
                  <a:pt x="17084" y="600845"/>
                </a:lnTo>
                <a:lnTo>
                  <a:pt x="18962" y="622311"/>
                </a:lnTo>
                <a:lnTo>
                  <a:pt x="20592" y="643971"/>
                </a:lnTo>
                <a:lnTo>
                  <a:pt x="21905" y="665813"/>
                </a:lnTo>
                <a:lnTo>
                  <a:pt x="22832" y="687823"/>
                </a:lnTo>
                <a:lnTo>
                  <a:pt x="23307" y="709985"/>
                </a:lnTo>
                <a:lnTo>
                  <a:pt x="23263" y="732286"/>
                </a:lnTo>
                <a:lnTo>
                  <a:pt x="22632" y="754712"/>
                </a:lnTo>
                <a:lnTo>
                  <a:pt x="21349" y="777251"/>
                </a:lnTo>
                <a:lnTo>
                  <a:pt x="19349" y="799891"/>
                </a:lnTo>
                <a:lnTo>
                  <a:pt x="16567" y="822619"/>
                </a:lnTo>
                <a:lnTo>
                  <a:pt x="12936" y="845426"/>
                </a:lnTo>
                <a:lnTo>
                  <a:pt x="8393" y="868302"/>
                </a:lnTo>
                <a:lnTo>
                  <a:pt x="2778" y="891632"/>
                </a:lnTo>
                <a:close/>
              </a:path>
            </a:pathLst>
          </a:custGeom>
          <a:gradFill rotWithShape="1">
            <a:gsLst>
              <a:gs pos="0">
                <a:srgbClr val="D89387">
                  <a:alpha val="67000"/>
                </a:srgbClr>
              </a:gs>
              <a:gs pos="35000">
                <a:srgbClr val="CE817B">
                  <a:alpha val="67000"/>
                </a:srgbClr>
              </a:gs>
              <a:gs pos="100000">
                <a:srgbClr val="B86A65">
                  <a:alpha val="67000"/>
                </a:srgbClr>
              </a:gs>
            </a:gsLst>
            <a:lin ang="39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3" name="Tapered hepatic vessel 02"/>
          <p:cNvSpPr/>
          <p:nvPr/>
        </p:nvSpPr>
        <p:spPr>
          <a:xfrm>
            <a:off x="10215995" y="5733834"/>
            <a:ext cx="367264" cy="795694"/>
          </a:xfrm>
          <a:custGeom>
            <a:avLst/>
            <a:gdLst/>
            <a:ahLst/>
            <a:cxnLst/>
            <a:rect l="0" t="0" r="r" b="b"/>
            <a:pathLst>
              <a:path w="367264" h="795694">
                <a:moveTo>
                  <a:pt x="27709" y="795694"/>
                </a:moveTo>
                <a:lnTo>
                  <a:pt x="46473" y="777259"/>
                </a:lnTo>
                <a:lnTo>
                  <a:pt x="64894" y="758277"/>
                </a:lnTo>
                <a:lnTo>
                  <a:pt x="82798" y="738927"/>
                </a:lnTo>
                <a:lnTo>
                  <a:pt x="100184" y="719223"/>
                </a:lnTo>
                <a:lnTo>
                  <a:pt x="117054" y="699176"/>
                </a:lnTo>
                <a:lnTo>
                  <a:pt x="133407" y="678802"/>
                </a:lnTo>
                <a:lnTo>
                  <a:pt x="149244" y="658111"/>
                </a:lnTo>
                <a:lnTo>
                  <a:pt x="164567" y="637118"/>
                </a:lnTo>
                <a:lnTo>
                  <a:pt x="179374" y="615835"/>
                </a:lnTo>
                <a:lnTo>
                  <a:pt x="193667" y="594275"/>
                </a:lnTo>
                <a:lnTo>
                  <a:pt x="207445" y="572450"/>
                </a:lnTo>
                <a:lnTo>
                  <a:pt x="220710" y="550375"/>
                </a:lnTo>
                <a:lnTo>
                  <a:pt x="233463" y="528060"/>
                </a:lnTo>
                <a:lnTo>
                  <a:pt x="245702" y="505519"/>
                </a:lnTo>
                <a:lnTo>
                  <a:pt x="257430" y="482765"/>
                </a:lnTo>
                <a:lnTo>
                  <a:pt x="268646" y="459811"/>
                </a:lnTo>
                <a:lnTo>
                  <a:pt x="279350" y="436668"/>
                </a:lnTo>
                <a:lnTo>
                  <a:pt x="289544" y="413350"/>
                </a:lnTo>
                <a:lnTo>
                  <a:pt x="299228" y="389869"/>
                </a:lnTo>
                <a:lnTo>
                  <a:pt x="308402" y="366238"/>
                </a:lnTo>
                <a:lnTo>
                  <a:pt x="317066" y="342470"/>
                </a:lnTo>
                <a:lnTo>
                  <a:pt x="325221" y="318576"/>
                </a:lnTo>
                <a:lnTo>
                  <a:pt x="332867" y="294570"/>
                </a:lnTo>
                <a:lnTo>
                  <a:pt x="339921" y="270729"/>
                </a:lnTo>
                <a:lnTo>
                  <a:pt x="345176" y="254418"/>
                </a:lnTo>
                <a:lnTo>
                  <a:pt x="349877" y="238514"/>
                </a:lnTo>
                <a:lnTo>
                  <a:pt x="353939" y="223318"/>
                </a:lnTo>
                <a:lnTo>
                  <a:pt x="357394" y="208792"/>
                </a:lnTo>
                <a:lnTo>
                  <a:pt x="360274" y="194896"/>
                </a:lnTo>
                <a:lnTo>
                  <a:pt x="362610" y="181593"/>
                </a:lnTo>
                <a:lnTo>
                  <a:pt x="364434" y="168845"/>
                </a:lnTo>
                <a:lnTo>
                  <a:pt x="365778" y="156614"/>
                </a:lnTo>
                <a:lnTo>
                  <a:pt x="366676" y="144865"/>
                </a:lnTo>
                <a:lnTo>
                  <a:pt x="367160" y="133561"/>
                </a:lnTo>
                <a:lnTo>
                  <a:pt x="367264" y="122665"/>
                </a:lnTo>
                <a:lnTo>
                  <a:pt x="367021" y="112139"/>
                </a:lnTo>
                <a:lnTo>
                  <a:pt x="366467" y="101948"/>
                </a:lnTo>
                <a:lnTo>
                  <a:pt x="365635" y="92051"/>
                </a:lnTo>
                <a:lnTo>
                  <a:pt x="364561" y="82409"/>
                </a:lnTo>
                <a:lnTo>
                  <a:pt x="363277" y="72981"/>
                </a:lnTo>
                <a:lnTo>
                  <a:pt x="361816" y="63726"/>
                </a:lnTo>
                <a:lnTo>
                  <a:pt x="360213" y="54599"/>
                </a:lnTo>
                <a:lnTo>
                  <a:pt x="358496" y="45556"/>
                </a:lnTo>
                <a:lnTo>
                  <a:pt x="356695" y="36551"/>
                </a:lnTo>
                <a:lnTo>
                  <a:pt x="354835" y="27538"/>
                </a:lnTo>
                <a:lnTo>
                  <a:pt x="352937" y="18471"/>
                </a:lnTo>
                <a:lnTo>
                  <a:pt x="351003" y="9305"/>
                </a:lnTo>
                <a:lnTo>
                  <a:pt x="348882" y="0"/>
                </a:lnTo>
                <a:lnTo>
                  <a:pt x="345577" y="433"/>
                </a:lnTo>
                <a:lnTo>
                  <a:pt x="345926" y="9993"/>
                </a:lnTo>
                <a:lnTo>
                  <a:pt x="346593" y="19378"/>
                </a:lnTo>
                <a:lnTo>
                  <a:pt x="347363" y="28631"/>
                </a:lnTo>
                <a:lnTo>
                  <a:pt x="348171" y="37789"/>
                </a:lnTo>
                <a:lnTo>
                  <a:pt x="348972" y="46889"/>
                </a:lnTo>
                <a:lnTo>
                  <a:pt x="349725" y="55967"/>
                </a:lnTo>
                <a:lnTo>
                  <a:pt x="350392" y="65060"/>
                </a:lnTo>
                <a:lnTo>
                  <a:pt x="350938" y="74207"/>
                </a:lnTo>
                <a:lnTo>
                  <a:pt x="351330" y="83446"/>
                </a:lnTo>
                <a:lnTo>
                  <a:pt x="351534" y="92819"/>
                </a:lnTo>
                <a:lnTo>
                  <a:pt x="351518" y="102366"/>
                </a:lnTo>
                <a:lnTo>
                  <a:pt x="351251" y="112131"/>
                </a:lnTo>
                <a:lnTo>
                  <a:pt x="350699" y="122158"/>
                </a:lnTo>
                <a:lnTo>
                  <a:pt x="349833" y="132491"/>
                </a:lnTo>
                <a:lnTo>
                  <a:pt x="348619" y="143178"/>
                </a:lnTo>
                <a:lnTo>
                  <a:pt x="347026" y="154263"/>
                </a:lnTo>
                <a:lnTo>
                  <a:pt x="345019" y="165793"/>
                </a:lnTo>
                <a:lnTo>
                  <a:pt x="342565" y="177813"/>
                </a:lnTo>
                <a:lnTo>
                  <a:pt x="339632" y="190370"/>
                </a:lnTo>
                <a:lnTo>
                  <a:pt x="336183" y="203509"/>
                </a:lnTo>
                <a:lnTo>
                  <a:pt x="332186" y="217274"/>
                </a:lnTo>
                <a:lnTo>
                  <a:pt x="327605" y="231708"/>
                </a:lnTo>
                <a:lnTo>
                  <a:pt x="322406" y="246857"/>
                </a:lnTo>
                <a:lnTo>
                  <a:pt x="316438" y="263103"/>
                </a:lnTo>
                <a:lnTo>
                  <a:pt x="308709" y="286784"/>
                </a:lnTo>
                <a:lnTo>
                  <a:pt x="300580" y="310077"/>
                </a:lnTo>
                <a:lnTo>
                  <a:pt x="291966" y="333233"/>
                </a:lnTo>
                <a:lnTo>
                  <a:pt x="282870" y="356242"/>
                </a:lnTo>
                <a:lnTo>
                  <a:pt x="273292" y="379091"/>
                </a:lnTo>
                <a:lnTo>
                  <a:pt x="263231" y="401768"/>
                </a:lnTo>
                <a:lnTo>
                  <a:pt x="252688" y="424260"/>
                </a:lnTo>
                <a:lnTo>
                  <a:pt x="241664" y="446555"/>
                </a:lnTo>
                <a:lnTo>
                  <a:pt x="230159" y="468642"/>
                </a:lnTo>
                <a:lnTo>
                  <a:pt x="218173" y="490507"/>
                </a:lnTo>
                <a:lnTo>
                  <a:pt x="205707" y="512140"/>
                </a:lnTo>
                <a:lnTo>
                  <a:pt x="192761" y="533527"/>
                </a:lnTo>
                <a:lnTo>
                  <a:pt x="179337" y="554657"/>
                </a:lnTo>
                <a:lnTo>
                  <a:pt x="165434" y="575517"/>
                </a:lnTo>
                <a:lnTo>
                  <a:pt x="151052" y="596096"/>
                </a:lnTo>
                <a:lnTo>
                  <a:pt x="136193" y="616381"/>
                </a:lnTo>
                <a:lnTo>
                  <a:pt x="120856" y="636361"/>
                </a:lnTo>
                <a:lnTo>
                  <a:pt x="105043" y="656024"/>
                </a:lnTo>
                <a:lnTo>
                  <a:pt x="88754" y="675357"/>
                </a:lnTo>
                <a:lnTo>
                  <a:pt x="71988" y="694350"/>
                </a:lnTo>
                <a:lnTo>
                  <a:pt x="54747" y="712989"/>
                </a:lnTo>
                <a:lnTo>
                  <a:pt x="37031" y="731264"/>
                </a:lnTo>
                <a:lnTo>
                  <a:pt x="18840" y="749163"/>
                </a:lnTo>
                <a:lnTo>
                  <a:pt x="0" y="766839"/>
                </a:lnTo>
                <a:close/>
              </a:path>
            </a:pathLst>
          </a:custGeom>
          <a:gradFill rotWithShape="1">
            <a:gsLst>
              <a:gs pos="0">
                <a:srgbClr val="D89387">
                  <a:alpha val="67000"/>
                </a:srgbClr>
              </a:gs>
              <a:gs pos="35000">
                <a:srgbClr val="CE817B">
                  <a:alpha val="67000"/>
                </a:srgbClr>
              </a:gs>
              <a:gs pos="100000">
                <a:srgbClr val="B86A65">
                  <a:alpha val="67000"/>
                </a:srgbClr>
              </a:gs>
            </a:gsLst>
            <a:lin ang="39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4" name="Tapered hepatic vessel 03"/>
          <p:cNvSpPr/>
          <p:nvPr/>
        </p:nvSpPr>
        <p:spPr>
          <a:xfrm>
            <a:off x="10391161" y="5932884"/>
            <a:ext cx="430405" cy="381328"/>
          </a:xfrm>
          <a:custGeom>
            <a:avLst/>
            <a:gdLst/>
            <a:ahLst/>
            <a:cxnLst/>
            <a:rect l="0" t="0" r="r" b="b"/>
            <a:pathLst>
              <a:path w="430405" h="381328">
                <a:moveTo>
                  <a:pt x="20278" y="381328"/>
                </a:moveTo>
                <a:lnTo>
                  <a:pt x="37698" y="360348"/>
                </a:lnTo>
                <a:lnTo>
                  <a:pt x="54926" y="340574"/>
                </a:lnTo>
                <a:lnTo>
                  <a:pt x="72079" y="321792"/>
                </a:lnTo>
                <a:lnTo>
                  <a:pt x="89170" y="303912"/>
                </a:lnTo>
                <a:lnTo>
                  <a:pt x="106210" y="286847"/>
                </a:lnTo>
                <a:lnTo>
                  <a:pt x="123208" y="270509"/>
                </a:lnTo>
                <a:lnTo>
                  <a:pt x="140176" y="254810"/>
                </a:lnTo>
                <a:lnTo>
                  <a:pt x="157124" y="239665"/>
                </a:lnTo>
                <a:lnTo>
                  <a:pt x="174060" y="224987"/>
                </a:lnTo>
                <a:lnTo>
                  <a:pt x="190993" y="210690"/>
                </a:lnTo>
                <a:lnTo>
                  <a:pt x="207930" y="196688"/>
                </a:lnTo>
                <a:lnTo>
                  <a:pt x="224880" y="182896"/>
                </a:lnTo>
                <a:lnTo>
                  <a:pt x="241847" y="169229"/>
                </a:lnTo>
                <a:lnTo>
                  <a:pt x="258837" y="155601"/>
                </a:lnTo>
                <a:lnTo>
                  <a:pt x="275854" y="141927"/>
                </a:lnTo>
                <a:lnTo>
                  <a:pt x="292903" y="128121"/>
                </a:lnTo>
                <a:lnTo>
                  <a:pt x="309987" y="114098"/>
                </a:lnTo>
                <a:lnTo>
                  <a:pt x="327107" y="99773"/>
                </a:lnTo>
                <a:lnTo>
                  <a:pt x="344267" y="85059"/>
                </a:lnTo>
                <a:lnTo>
                  <a:pt x="361466" y="69870"/>
                </a:lnTo>
                <a:lnTo>
                  <a:pt x="378703" y="54115"/>
                </a:lnTo>
                <a:lnTo>
                  <a:pt x="395974" y="37703"/>
                </a:lnTo>
                <a:lnTo>
                  <a:pt x="413258" y="20529"/>
                </a:lnTo>
                <a:lnTo>
                  <a:pt x="430405" y="2383"/>
                </a:lnTo>
                <a:lnTo>
                  <a:pt x="428073" y="0"/>
                </a:lnTo>
                <a:lnTo>
                  <a:pt x="409598" y="16709"/>
                </a:lnTo>
                <a:lnTo>
                  <a:pt x="391442" y="32777"/>
                </a:lnTo>
                <a:lnTo>
                  <a:pt x="373437" y="48169"/>
                </a:lnTo>
                <a:lnTo>
                  <a:pt x="355549" y="62953"/>
                </a:lnTo>
                <a:lnTo>
                  <a:pt x="337754" y="77210"/>
                </a:lnTo>
                <a:lnTo>
                  <a:pt x="320035" y="91026"/>
                </a:lnTo>
                <a:lnTo>
                  <a:pt x="302377" y="104486"/>
                </a:lnTo>
                <a:lnTo>
                  <a:pt x="284764" y="117679"/>
                </a:lnTo>
                <a:lnTo>
                  <a:pt x="267183" y="130691"/>
                </a:lnTo>
                <a:lnTo>
                  <a:pt x="249620" y="143611"/>
                </a:lnTo>
                <a:lnTo>
                  <a:pt x="232063" y="156528"/>
                </a:lnTo>
                <a:lnTo>
                  <a:pt x="214499" y="169530"/>
                </a:lnTo>
                <a:lnTo>
                  <a:pt x="196917" y="182705"/>
                </a:lnTo>
                <a:lnTo>
                  <a:pt x="179308" y="196141"/>
                </a:lnTo>
                <a:lnTo>
                  <a:pt x="161660" y="209927"/>
                </a:lnTo>
                <a:lnTo>
                  <a:pt x="143966" y="224151"/>
                </a:lnTo>
                <a:lnTo>
                  <a:pt x="126217" y="238900"/>
                </a:lnTo>
                <a:lnTo>
                  <a:pt x="108406" y="254261"/>
                </a:lnTo>
                <a:lnTo>
                  <a:pt x="90527" y="270322"/>
                </a:lnTo>
                <a:lnTo>
                  <a:pt x="72572" y="287169"/>
                </a:lnTo>
                <a:lnTo>
                  <a:pt x="54537" y="304888"/>
                </a:lnTo>
                <a:lnTo>
                  <a:pt x="36416" y="323565"/>
                </a:lnTo>
                <a:lnTo>
                  <a:pt x="18203" y="343285"/>
                </a:lnTo>
                <a:lnTo>
                  <a:pt x="0" y="364005"/>
                </a:lnTo>
                <a:close/>
              </a:path>
            </a:pathLst>
          </a:custGeom>
          <a:gradFill rotWithShape="1">
            <a:gsLst>
              <a:gs pos="0">
                <a:srgbClr val="D89387">
                  <a:alpha val="67000"/>
                </a:srgbClr>
              </a:gs>
              <a:gs pos="35000">
                <a:srgbClr val="CE817B">
                  <a:alpha val="67000"/>
                </a:srgbClr>
              </a:gs>
              <a:gs pos="100000">
                <a:srgbClr val="B86A65">
                  <a:alpha val="67000"/>
                </a:srgbClr>
              </a:gs>
            </a:gsLst>
            <a:lin ang="39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5" name="Tapered hepatic vessel 04"/>
          <p:cNvSpPr/>
          <p:nvPr/>
        </p:nvSpPr>
        <p:spPr>
          <a:xfrm>
            <a:off x="9247212" y="6810008"/>
            <a:ext cx="528049" cy="829621"/>
          </a:xfrm>
          <a:custGeom>
            <a:avLst/>
            <a:gdLst/>
            <a:ahLst/>
            <a:cxnLst/>
            <a:rect l="0" t="0" r="r" b="b"/>
            <a:pathLst>
              <a:path w="528049" h="829621">
                <a:moveTo>
                  <a:pt x="484727" y="0"/>
                </a:moveTo>
                <a:lnTo>
                  <a:pt x="473626" y="25184"/>
                </a:lnTo>
                <a:lnTo>
                  <a:pt x="463560" y="50099"/>
                </a:lnTo>
                <a:lnTo>
                  <a:pt x="454560" y="74392"/>
                </a:lnTo>
                <a:lnTo>
                  <a:pt x="446489" y="98072"/>
                </a:lnTo>
                <a:lnTo>
                  <a:pt x="439207" y="121149"/>
                </a:lnTo>
                <a:lnTo>
                  <a:pt x="432573" y="143636"/>
                </a:lnTo>
                <a:lnTo>
                  <a:pt x="426450" y="165546"/>
                </a:lnTo>
                <a:lnTo>
                  <a:pt x="420698" y="186893"/>
                </a:lnTo>
                <a:lnTo>
                  <a:pt x="415180" y="207696"/>
                </a:lnTo>
                <a:lnTo>
                  <a:pt x="409760" y="227974"/>
                </a:lnTo>
                <a:lnTo>
                  <a:pt x="404302" y="247750"/>
                </a:lnTo>
                <a:lnTo>
                  <a:pt x="398673" y="267049"/>
                </a:lnTo>
                <a:lnTo>
                  <a:pt x="392743" y="285900"/>
                </a:lnTo>
                <a:lnTo>
                  <a:pt x="386378" y="304335"/>
                </a:lnTo>
                <a:lnTo>
                  <a:pt x="379447" y="322391"/>
                </a:lnTo>
                <a:lnTo>
                  <a:pt x="371818" y="340109"/>
                </a:lnTo>
                <a:lnTo>
                  <a:pt x="363355" y="357532"/>
                </a:lnTo>
                <a:lnTo>
                  <a:pt x="353917" y="374707"/>
                </a:lnTo>
                <a:lnTo>
                  <a:pt x="343361" y="391679"/>
                </a:lnTo>
                <a:lnTo>
                  <a:pt x="331539" y="408494"/>
                </a:lnTo>
                <a:lnTo>
                  <a:pt x="318298" y="425191"/>
                </a:lnTo>
                <a:lnTo>
                  <a:pt x="303485" y="441805"/>
                </a:lnTo>
                <a:lnTo>
                  <a:pt x="286948" y="458366"/>
                </a:lnTo>
                <a:lnTo>
                  <a:pt x="268306" y="475088"/>
                </a:lnTo>
                <a:lnTo>
                  <a:pt x="253328" y="488298"/>
                </a:lnTo>
                <a:lnTo>
                  <a:pt x="238562" y="501343"/>
                </a:lnTo>
                <a:lnTo>
                  <a:pt x="224084" y="514210"/>
                </a:lnTo>
                <a:lnTo>
                  <a:pt x="209899" y="526950"/>
                </a:lnTo>
                <a:lnTo>
                  <a:pt x="196013" y="539610"/>
                </a:lnTo>
                <a:lnTo>
                  <a:pt x="182433" y="552239"/>
                </a:lnTo>
                <a:lnTo>
                  <a:pt x="169166" y="564886"/>
                </a:lnTo>
                <a:lnTo>
                  <a:pt x="156220" y="577600"/>
                </a:lnTo>
                <a:lnTo>
                  <a:pt x="143602" y="590429"/>
                </a:lnTo>
                <a:lnTo>
                  <a:pt x="131320" y="603419"/>
                </a:lnTo>
                <a:lnTo>
                  <a:pt x="119384" y="616619"/>
                </a:lnTo>
                <a:lnTo>
                  <a:pt x="107802" y="630076"/>
                </a:lnTo>
                <a:lnTo>
                  <a:pt x="96583" y="643835"/>
                </a:lnTo>
                <a:lnTo>
                  <a:pt x="85736" y="657943"/>
                </a:lnTo>
                <a:lnTo>
                  <a:pt x="75269" y="672446"/>
                </a:lnTo>
                <a:lnTo>
                  <a:pt x="65191" y="687390"/>
                </a:lnTo>
                <a:lnTo>
                  <a:pt x="55511" y="702820"/>
                </a:lnTo>
                <a:lnTo>
                  <a:pt x="46237" y="718783"/>
                </a:lnTo>
                <a:lnTo>
                  <a:pt x="37378" y="735324"/>
                </a:lnTo>
                <a:lnTo>
                  <a:pt x="28943" y="752490"/>
                </a:lnTo>
                <a:lnTo>
                  <a:pt x="20944" y="770331"/>
                </a:lnTo>
                <a:lnTo>
                  <a:pt x="13398" y="788896"/>
                </a:lnTo>
                <a:lnTo>
                  <a:pt x="6343" y="808243"/>
                </a:lnTo>
                <a:lnTo>
                  <a:pt x="0" y="828463"/>
                </a:lnTo>
                <a:lnTo>
                  <a:pt x="3126" y="829621"/>
                </a:lnTo>
                <a:lnTo>
                  <a:pt x="11466" y="810236"/>
                </a:lnTo>
                <a:lnTo>
                  <a:pt x="19879" y="791665"/>
                </a:lnTo>
                <a:lnTo>
                  <a:pt x="28579" y="773899"/>
                </a:lnTo>
                <a:lnTo>
                  <a:pt x="37595" y="756898"/>
                </a:lnTo>
                <a:lnTo>
                  <a:pt x="46935" y="740611"/>
                </a:lnTo>
                <a:lnTo>
                  <a:pt x="56603" y="724989"/>
                </a:lnTo>
                <a:lnTo>
                  <a:pt x="66601" y="709978"/>
                </a:lnTo>
                <a:lnTo>
                  <a:pt x="76929" y="695527"/>
                </a:lnTo>
                <a:lnTo>
                  <a:pt x="87587" y="681582"/>
                </a:lnTo>
                <a:lnTo>
                  <a:pt x="98575" y="668089"/>
                </a:lnTo>
                <a:lnTo>
                  <a:pt x="109893" y="654995"/>
                </a:lnTo>
                <a:lnTo>
                  <a:pt x="121542" y="642246"/>
                </a:lnTo>
                <a:lnTo>
                  <a:pt x="133523" y="629790"/>
                </a:lnTo>
                <a:lnTo>
                  <a:pt x="145837" y="617573"/>
                </a:lnTo>
                <a:lnTo>
                  <a:pt x="158483" y="605544"/>
                </a:lnTo>
                <a:lnTo>
                  <a:pt x="171462" y="593650"/>
                </a:lnTo>
                <a:lnTo>
                  <a:pt x="184774" y="581841"/>
                </a:lnTo>
                <a:lnTo>
                  <a:pt x="198419" y="570064"/>
                </a:lnTo>
                <a:lnTo>
                  <a:pt x="212395" y="558269"/>
                </a:lnTo>
                <a:lnTo>
                  <a:pt x="226703" y="546405"/>
                </a:lnTo>
                <a:lnTo>
                  <a:pt x="241340" y="534422"/>
                </a:lnTo>
                <a:lnTo>
                  <a:pt x="256303" y="522270"/>
                </a:lnTo>
                <a:lnTo>
                  <a:pt x="271590" y="509898"/>
                </a:lnTo>
                <a:lnTo>
                  <a:pt x="287270" y="497196"/>
                </a:lnTo>
                <a:lnTo>
                  <a:pt x="307170" y="480474"/>
                </a:lnTo>
                <a:lnTo>
                  <a:pt x="325479" y="463352"/>
                </a:lnTo>
                <a:lnTo>
                  <a:pt x="342090" y="446001"/>
                </a:lnTo>
                <a:lnTo>
                  <a:pt x="357123" y="428412"/>
                </a:lnTo>
                <a:lnTo>
                  <a:pt x="370696" y="410575"/>
                </a:lnTo>
                <a:lnTo>
                  <a:pt x="382931" y="392492"/>
                </a:lnTo>
                <a:lnTo>
                  <a:pt x="393953" y="374164"/>
                </a:lnTo>
                <a:lnTo>
                  <a:pt x="403891" y="355597"/>
                </a:lnTo>
                <a:lnTo>
                  <a:pt x="412877" y="336795"/>
                </a:lnTo>
                <a:lnTo>
                  <a:pt x="421048" y="317762"/>
                </a:lnTo>
                <a:lnTo>
                  <a:pt x="428545" y="298495"/>
                </a:lnTo>
                <a:lnTo>
                  <a:pt x="435509" y="278991"/>
                </a:lnTo>
                <a:lnTo>
                  <a:pt x="442080" y="259241"/>
                </a:lnTo>
                <a:lnTo>
                  <a:pt x="448400" y="239231"/>
                </a:lnTo>
                <a:lnTo>
                  <a:pt x="454609" y="218947"/>
                </a:lnTo>
                <a:lnTo>
                  <a:pt x="460844" y="198369"/>
                </a:lnTo>
                <a:lnTo>
                  <a:pt x="467242" y="177475"/>
                </a:lnTo>
                <a:lnTo>
                  <a:pt x="473939" y="156242"/>
                </a:lnTo>
                <a:lnTo>
                  <a:pt x="481068" y="134644"/>
                </a:lnTo>
                <a:lnTo>
                  <a:pt x="488764" y="112653"/>
                </a:lnTo>
                <a:lnTo>
                  <a:pt x="497159" y="90239"/>
                </a:lnTo>
                <a:lnTo>
                  <a:pt x="506387" y="67372"/>
                </a:lnTo>
                <a:lnTo>
                  <a:pt x="516582" y="44018"/>
                </a:lnTo>
                <a:lnTo>
                  <a:pt x="528049" y="19784"/>
                </a:lnTo>
                <a:close/>
              </a:path>
            </a:pathLst>
          </a:custGeom>
          <a:gradFill rotWithShape="1">
            <a:gsLst>
              <a:gs pos="0">
                <a:srgbClr val="D89387">
                  <a:alpha val="73000"/>
                </a:srgbClr>
              </a:gs>
              <a:gs pos="35000">
                <a:srgbClr val="CE817B">
                  <a:alpha val="73000"/>
                </a:srgbClr>
              </a:gs>
              <a:gs pos="100000">
                <a:srgbClr val="B86A65">
                  <a:alpha val="73000"/>
                </a:srgbClr>
              </a:gs>
            </a:gsLst>
            <a:lin ang="39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6" name="Tapered hepatic vessel 05"/>
          <p:cNvSpPr/>
          <p:nvPr/>
        </p:nvSpPr>
        <p:spPr>
          <a:xfrm>
            <a:off x="9662595" y="7046300"/>
            <a:ext cx="520153" cy="85488"/>
          </a:xfrm>
          <a:custGeom>
            <a:avLst/>
            <a:gdLst/>
            <a:ahLst/>
            <a:cxnLst/>
            <a:rect l="0" t="0" r="r" b="b"/>
            <a:pathLst>
              <a:path w="520153" h="85488">
                <a:moveTo>
                  <a:pt x="0" y="23449"/>
                </a:moveTo>
                <a:lnTo>
                  <a:pt x="18362" y="31317"/>
                </a:lnTo>
                <a:lnTo>
                  <a:pt x="37255" y="38816"/>
                </a:lnTo>
                <a:lnTo>
                  <a:pt x="56510" y="45851"/>
                </a:lnTo>
                <a:lnTo>
                  <a:pt x="76116" y="52398"/>
                </a:lnTo>
                <a:lnTo>
                  <a:pt x="96057" y="58430"/>
                </a:lnTo>
                <a:lnTo>
                  <a:pt x="116322" y="63924"/>
                </a:lnTo>
                <a:lnTo>
                  <a:pt x="136896" y="68854"/>
                </a:lnTo>
                <a:lnTo>
                  <a:pt x="157766" y="73195"/>
                </a:lnTo>
                <a:lnTo>
                  <a:pt x="178917" y="76922"/>
                </a:lnTo>
                <a:lnTo>
                  <a:pt x="200338" y="80012"/>
                </a:lnTo>
                <a:lnTo>
                  <a:pt x="222012" y="82438"/>
                </a:lnTo>
                <a:lnTo>
                  <a:pt x="243927" y="84176"/>
                </a:lnTo>
                <a:lnTo>
                  <a:pt x="266068" y="85201"/>
                </a:lnTo>
                <a:lnTo>
                  <a:pt x="288420" y="85488"/>
                </a:lnTo>
                <a:lnTo>
                  <a:pt x="310970" y="85013"/>
                </a:lnTo>
                <a:lnTo>
                  <a:pt x="333702" y="83750"/>
                </a:lnTo>
                <a:lnTo>
                  <a:pt x="356602" y="81674"/>
                </a:lnTo>
                <a:lnTo>
                  <a:pt x="379656" y="78761"/>
                </a:lnTo>
                <a:lnTo>
                  <a:pt x="402846" y="74984"/>
                </a:lnTo>
                <a:lnTo>
                  <a:pt x="426159" y="70315"/>
                </a:lnTo>
                <a:lnTo>
                  <a:pt x="449576" y="64725"/>
                </a:lnTo>
                <a:lnTo>
                  <a:pt x="473079" y="58181"/>
                </a:lnTo>
                <a:lnTo>
                  <a:pt x="496642" y="50630"/>
                </a:lnTo>
                <a:lnTo>
                  <a:pt x="520153" y="41882"/>
                </a:lnTo>
                <a:lnTo>
                  <a:pt x="519108" y="38717"/>
                </a:lnTo>
                <a:lnTo>
                  <a:pt x="495097" y="45654"/>
                </a:lnTo>
                <a:lnTo>
                  <a:pt x="471362" y="51853"/>
                </a:lnTo>
                <a:lnTo>
                  <a:pt x="447814" y="57173"/>
                </a:lnTo>
                <a:lnTo>
                  <a:pt x="424454" y="61613"/>
                </a:lnTo>
                <a:lnTo>
                  <a:pt x="401287" y="65188"/>
                </a:lnTo>
                <a:lnTo>
                  <a:pt x="378320" y="67918"/>
                </a:lnTo>
                <a:lnTo>
                  <a:pt x="355563" y="69825"/>
                </a:lnTo>
                <a:lnTo>
                  <a:pt x="333025" y="70933"/>
                </a:lnTo>
                <a:lnTo>
                  <a:pt x="310716" y="71266"/>
                </a:lnTo>
                <a:lnTo>
                  <a:pt x="288647" y="70848"/>
                </a:lnTo>
                <a:lnTo>
                  <a:pt x="266826" y="69705"/>
                </a:lnTo>
                <a:lnTo>
                  <a:pt x="245265" y="67861"/>
                </a:lnTo>
                <a:lnTo>
                  <a:pt x="223974" y="65341"/>
                </a:lnTo>
                <a:lnTo>
                  <a:pt x="202964" y="62169"/>
                </a:lnTo>
                <a:lnTo>
                  <a:pt x="182245" y="58371"/>
                </a:lnTo>
                <a:lnTo>
                  <a:pt x="161829" y="53971"/>
                </a:lnTo>
                <a:lnTo>
                  <a:pt x="141725" y="48994"/>
                </a:lnTo>
                <a:lnTo>
                  <a:pt x="121946" y="43464"/>
                </a:lnTo>
                <a:lnTo>
                  <a:pt x="102503" y="37407"/>
                </a:lnTo>
                <a:lnTo>
                  <a:pt x="83406" y="30847"/>
                </a:lnTo>
                <a:lnTo>
                  <a:pt x="64667" y="23809"/>
                </a:lnTo>
                <a:lnTo>
                  <a:pt x="46298" y="16317"/>
                </a:lnTo>
                <a:lnTo>
                  <a:pt x="28311" y="8396"/>
                </a:lnTo>
                <a:lnTo>
                  <a:pt x="10561" y="0"/>
                </a:lnTo>
                <a:close/>
              </a:path>
            </a:pathLst>
          </a:custGeom>
          <a:gradFill rotWithShape="1">
            <a:gsLst>
              <a:gs pos="0">
                <a:srgbClr val="D89387">
                  <a:alpha val="73000"/>
                </a:srgbClr>
              </a:gs>
              <a:gs pos="35000">
                <a:srgbClr val="CE817B">
                  <a:alpha val="73000"/>
                </a:srgbClr>
              </a:gs>
              <a:gs pos="100000">
                <a:srgbClr val="B86A65">
                  <a:alpha val="73000"/>
                </a:srgbClr>
              </a:gs>
            </a:gsLst>
            <a:lin ang="39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7" name="Tapered hepatic vessel 06"/>
          <p:cNvSpPr/>
          <p:nvPr/>
        </p:nvSpPr>
        <p:spPr>
          <a:xfrm>
            <a:off x="9589451" y="7257320"/>
            <a:ext cx="98673" cy="259063"/>
          </a:xfrm>
          <a:custGeom>
            <a:avLst/>
            <a:gdLst/>
            <a:ahLst/>
            <a:cxnLst/>
            <a:rect l="0" t="0" r="r" b="b"/>
            <a:pathLst>
              <a:path w="98673" h="259063">
                <a:moveTo>
                  <a:pt x="819" y="0"/>
                </a:moveTo>
                <a:lnTo>
                  <a:pt x="167" y="14335"/>
                </a:lnTo>
                <a:lnTo>
                  <a:pt x="0" y="28540"/>
                </a:lnTo>
                <a:lnTo>
                  <a:pt x="320" y="42433"/>
                </a:lnTo>
                <a:lnTo>
                  <a:pt x="1113" y="56012"/>
                </a:lnTo>
                <a:lnTo>
                  <a:pt x="2368" y="69276"/>
                </a:lnTo>
                <a:lnTo>
                  <a:pt x="4071" y="82223"/>
                </a:lnTo>
                <a:lnTo>
                  <a:pt x="6209" y="94851"/>
                </a:lnTo>
                <a:lnTo>
                  <a:pt x="8768" y="107158"/>
                </a:lnTo>
                <a:lnTo>
                  <a:pt x="11736" y="119143"/>
                </a:lnTo>
                <a:lnTo>
                  <a:pt x="15098" y="130805"/>
                </a:lnTo>
                <a:lnTo>
                  <a:pt x="18842" y="142141"/>
                </a:lnTo>
                <a:lnTo>
                  <a:pt x="22953" y="153151"/>
                </a:lnTo>
                <a:lnTo>
                  <a:pt x="27418" y="163833"/>
                </a:lnTo>
                <a:lnTo>
                  <a:pt x="32223" y="174186"/>
                </a:lnTo>
                <a:lnTo>
                  <a:pt x="37355" y="184209"/>
                </a:lnTo>
                <a:lnTo>
                  <a:pt x="42800" y="193901"/>
                </a:lnTo>
                <a:lnTo>
                  <a:pt x="48544" y="203260"/>
                </a:lnTo>
                <a:lnTo>
                  <a:pt x="54575" y="212285"/>
                </a:lnTo>
                <a:lnTo>
                  <a:pt x="60880" y="220975"/>
                </a:lnTo>
                <a:lnTo>
                  <a:pt x="67448" y="229326"/>
                </a:lnTo>
                <a:lnTo>
                  <a:pt x="74267" y="237334"/>
                </a:lnTo>
                <a:lnTo>
                  <a:pt x="81331" y="244992"/>
                </a:lnTo>
                <a:lnTo>
                  <a:pt x="88642" y="252280"/>
                </a:lnTo>
                <a:lnTo>
                  <a:pt x="96275" y="259063"/>
                </a:lnTo>
                <a:lnTo>
                  <a:pt x="98673" y="256747"/>
                </a:lnTo>
                <a:lnTo>
                  <a:pt x="92220" y="248945"/>
                </a:lnTo>
                <a:lnTo>
                  <a:pt x="85868" y="241053"/>
                </a:lnTo>
                <a:lnTo>
                  <a:pt x="79715" y="232935"/>
                </a:lnTo>
                <a:lnTo>
                  <a:pt x="73789" y="224572"/>
                </a:lnTo>
                <a:lnTo>
                  <a:pt x="68107" y="215957"/>
                </a:lnTo>
                <a:lnTo>
                  <a:pt x="62684" y="207084"/>
                </a:lnTo>
                <a:lnTo>
                  <a:pt x="57532" y="197953"/>
                </a:lnTo>
                <a:lnTo>
                  <a:pt x="52664" y="188560"/>
                </a:lnTo>
                <a:lnTo>
                  <a:pt x="48092" y="178904"/>
                </a:lnTo>
                <a:lnTo>
                  <a:pt x="43827" y="168984"/>
                </a:lnTo>
                <a:lnTo>
                  <a:pt x="39880" y="158799"/>
                </a:lnTo>
                <a:lnTo>
                  <a:pt x="36263" y="148347"/>
                </a:lnTo>
                <a:lnTo>
                  <a:pt x="32987" y="137628"/>
                </a:lnTo>
                <a:lnTo>
                  <a:pt x="30062" y="126640"/>
                </a:lnTo>
                <a:lnTo>
                  <a:pt x="27500" y="115382"/>
                </a:lnTo>
                <a:lnTo>
                  <a:pt x="25312" y="103852"/>
                </a:lnTo>
                <a:lnTo>
                  <a:pt x="23510" y="92049"/>
                </a:lnTo>
                <a:lnTo>
                  <a:pt x="22105" y="79972"/>
                </a:lnTo>
                <a:lnTo>
                  <a:pt x="21108" y="67618"/>
                </a:lnTo>
                <a:lnTo>
                  <a:pt x="20532" y="54986"/>
                </a:lnTo>
                <a:lnTo>
                  <a:pt x="20387" y="42074"/>
                </a:lnTo>
                <a:lnTo>
                  <a:pt x="20686" y="28880"/>
                </a:lnTo>
                <a:lnTo>
                  <a:pt x="21441" y="15403"/>
                </a:lnTo>
                <a:lnTo>
                  <a:pt x="22678" y="1460"/>
                </a:lnTo>
                <a:close/>
              </a:path>
            </a:pathLst>
          </a:custGeom>
          <a:gradFill rotWithShape="1">
            <a:gsLst>
              <a:gs pos="0">
                <a:srgbClr val="D89387">
                  <a:alpha val="73000"/>
                </a:srgbClr>
              </a:gs>
              <a:gs pos="35000">
                <a:srgbClr val="CE817B">
                  <a:alpha val="73000"/>
                </a:srgbClr>
              </a:gs>
              <a:gs pos="100000">
                <a:srgbClr val="B86A65">
                  <a:alpha val="73000"/>
                </a:srgbClr>
              </a:gs>
            </a:gsLst>
            <a:lin ang="39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8" name="Tapered hepatic vessel 07"/>
          <p:cNvSpPr/>
          <p:nvPr/>
        </p:nvSpPr>
        <p:spPr>
          <a:xfrm>
            <a:off x="10575147" y="6564571"/>
            <a:ext cx="350792" cy="285386"/>
          </a:xfrm>
          <a:custGeom>
            <a:avLst/>
            <a:gdLst/>
            <a:ahLst/>
            <a:cxnLst/>
            <a:rect l="0" t="0" r="r" b="b"/>
            <a:pathLst>
              <a:path w="350792" h="285386">
                <a:moveTo>
                  <a:pt x="0" y="15359"/>
                </a:moveTo>
                <a:lnTo>
                  <a:pt x="15464" y="29319"/>
                </a:lnTo>
                <a:lnTo>
                  <a:pt x="30559" y="43064"/>
                </a:lnTo>
                <a:lnTo>
                  <a:pt x="45344" y="56610"/>
                </a:lnTo>
                <a:lnTo>
                  <a:pt x="59856" y="69953"/>
                </a:lnTo>
                <a:lnTo>
                  <a:pt x="74133" y="83088"/>
                </a:lnTo>
                <a:lnTo>
                  <a:pt x="88211" y="96010"/>
                </a:lnTo>
                <a:lnTo>
                  <a:pt x="102126" y="108715"/>
                </a:lnTo>
                <a:lnTo>
                  <a:pt x="115916" y="121197"/>
                </a:lnTo>
                <a:lnTo>
                  <a:pt x="129618" y="133451"/>
                </a:lnTo>
                <a:lnTo>
                  <a:pt x="143267" y="145472"/>
                </a:lnTo>
                <a:lnTo>
                  <a:pt x="156901" y="157253"/>
                </a:lnTo>
                <a:lnTo>
                  <a:pt x="170555" y="168790"/>
                </a:lnTo>
                <a:lnTo>
                  <a:pt x="184266" y="180075"/>
                </a:lnTo>
                <a:lnTo>
                  <a:pt x="198070" y="191102"/>
                </a:lnTo>
                <a:lnTo>
                  <a:pt x="212004" y="201866"/>
                </a:lnTo>
                <a:lnTo>
                  <a:pt x="226102" y="212359"/>
                </a:lnTo>
                <a:lnTo>
                  <a:pt x="240402" y="222574"/>
                </a:lnTo>
                <a:lnTo>
                  <a:pt x="254938" y="232504"/>
                </a:lnTo>
                <a:lnTo>
                  <a:pt x="269748" y="242142"/>
                </a:lnTo>
                <a:lnTo>
                  <a:pt x="284868" y="251478"/>
                </a:lnTo>
                <a:lnTo>
                  <a:pt x="300334" y="260502"/>
                </a:lnTo>
                <a:lnTo>
                  <a:pt x="316187" y="269200"/>
                </a:lnTo>
                <a:lnTo>
                  <a:pt x="332470" y="277545"/>
                </a:lnTo>
                <a:lnTo>
                  <a:pt x="349263" y="285386"/>
                </a:lnTo>
                <a:lnTo>
                  <a:pt x="350792" y="282423"/>
                </a:lnTo>
                <a:lnTo>
                  <a:pt x="334732" y="273299"/>
                </a:lnTo>
                <a:lnTo>
                  <a:pt x="319079" y="264092"/>
                </a:lnTo>
                <a:lnTo>
                  <a:pt x="303839" y="254659"/>
                </a:lnTo>
                <a:lnTo>
                  <a:pt x="288982" y="244981"/>
                </a:lnTo>
                <a:lnTo>
                  <a:pt x="274472" y="235054"/>
                </a:lnTo>
                <a:lnTo>
                  <a:pt x="260273" y="224874"/>
                </a:lnTo>
                <a:lnTo>
                  <a:pt x="246346" y="214441"/>
                </a:lnTo>
                <a:lnTo>
                  <a:pt x="232653" y="203756"/>
                </a:lnTo>
                <a:lnTo>
                  <a:pt x="219157" y="192819"/>
                </a:lnTo>
                <a:lnTo>
                  <a:pt x="205817" y="181632"/>
                </a:lnTo>
                <a:lnTo>
                  <a:pt x="192597" y="170196"/>
                </a:lnTo>
                <a:lnTo>
                  <a:pt x="179457" y="158513"/>
                </a:lnTo>
                <a:lnTo>
                  <a:pt x="166359" y="146586"/>
                </a:lnTo>
                <a:lnTo>
                  <a:pt x="153266" y="134415"/>
                </a:lnTo>
                <a:lnTo>
                  <a:pt x="140138" y="122005"/>
                </a:lnTo>
                <a:lnTo>
                  <a:pt x="126939" y="109356"/>
                </a:lnTo>
                <a:lnTo>
                  <a:pt x="113630" y="96473"/>
                </a:lnTo>
                <a:lnTo>
                  <a:pt x="100174" y="83357"/>
                </a:lnTo>
                <a:lnTo>
                  <a:pt x="86532" y="70013"/>
                </a:lnTo>
                <a:lnTo>
                  <a:pt x="72668" y="56443"/>
                </a:lnTo>
                <a:lnTo>
                  <a:pt x="58543" y="42650"/>
                </a:lnTo>
                <a:lnTo>
                  <a:pt x="44121" y="28640"/>
                </a:lnTo>
                <a:lnTo>
                  <a:pt x="29363" y="14415"/>
                </a:lnTo>
                <a:lnTo>
                  <a:pt x="14255" y="0"/>
                </a:lnTo>
                <a:close/>
              </a:path>
            </a:pathLst>
          </a:custGeom>
          <a:gradFill rotWithShape="1">
            <a:gsLst>
              <a:gs pos="0">
                <a:srgbClr val="D89387">
                  <a:alpha val="73000"/>
                </a:srgbClr>
              </a:gs>
              <a:gs pos="35000">
                <a:srgbClr val="CE817B">
                  <a:alpha val="73000"/>
                </a:srgbClr>
              </a:gs>
              <a:gs pos="100000">
                <a:srgbClr val="B86A65">
                  <a:alpha val="73000"/>
                </a:srgbClr>
              </a:gs>
            </a:gsLst>
            <a:lin ang="39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9" name="Tapered hepatic vessel 08"/>
          <p:cNvSpPr/>
          <p:nvPr/>
        </p:nvSpPr>
        <p:spPr>
          <a:xfrm>
            <a:off x="10798282" y="6570727"/>
            <a:ext cx="346646" cy="61484"/>
          </a:xfrm>
          <a:custGeom>
            <a:avLst/>
            <a:gdLst/>
            <a:ahLst/>
            <a:cxnLst/>
            <a:rect l="0" t="0" r="r" b="b"/>
            <a:pathLst>
              <a:path w="346646" h="61484">
                <a:moveTo>
                  <a:pt x="0" y="38611"/>
                </a:moveTo>
                <a:lnTo>
                  <a:pt x="15687" y="44006"/>
                </a:lnTo>
                <a:lnTo>
                  <a:pt x="31446" y="48677"/>
                </a:lnTo>
                <a:lnTo>
                  <a:pt x="47092" y="52581"/>
                </a:lnTo>
                <a:lnTo>
                  <a:pt x="62622" y="55742"/>
                </a:lnTo>
                <a:lnTo>
                  <a:pt x="78033" y="58187"/>
                </a:lnTo>
                <a:lnTo>
                  <a:pt x="93322" y="59942"/>
                </a:lnTo>
                <a:lnTo>
                  <a:pt x="108487" y="61032"/>
                </a:lnTo>
                <a:lnTo>
                  <a:pt x="123526" y="61484"/>
                </a:lnTo>
                <a:lnTo>
                  <a:pt x="138437" y="61326"/>
                </a:lnTo>
                <a:lnTo>
                  <a:pt x="153221" y="60582"/>
                </a:lnTo>
                <a:lnTo>
                  <a:pt x="167875" y="59281"/>
                </a:lnTo>
                <a:lnTo>
                  <a:pt x="182400" y="57449"/>
                </a:lnTo>
                <a:lnTo>
                  <a:pt x="196796" y="55112"/>
                </a:lnTo>
                <a:lnTo>
                  <a:pt x="211063" y="52296"/>
                </a:lnTo>
                <a:lnTo>
                  <a:pt x="225201" y="49027"/>
                </a:lnTo>
                <a:lnTo>
                  <a:pt x="239212" y="45331"/>
                </a:lnTo>
                <a:lnTo>
                  <a:pt x="253096" y="41232"/>
                </a:lnTo>
                <a:lnTo>
                  <a:pt x="266853" y="36755"/>
                </a:lnTo>
                <a:lnTo>
                  <a:pt x="280485" y="31924"/>
                </a:lnTo>
                <a:lnTo>
                  <a:pt x="293991" y="26761"/>
                </a:lnTo>
                <a:lnTo>
                  <a:pt x="307370" y="21288"/>
                </a:lnTo>
                <a:lnTo>
                  <a:pt x="320620" y="15521"/>
                </a:lnTo>
                <a:lnTo>
                  <a:pt x="333733" y="9469"/>
                </a:lnTo>
                <a:lnTo>
                  <a:pt x="346646" y="3046"/>
                </a:lnTo>
                <a:lnTo>
                  <a:pt x="345290" y="0"/>
                </a:lnTo>
                <a:lnTo>
                  <a:pt x="331910" y="5277"/>
                </a:lnTo>
                <a:lnTo>
                  <a:pt x="318532" y="10477"/>
                </a:lnTo>
                <a:lnTo>
                  <a:pt x="305092" y="15468"/>
                </a:lnTo>
                <a:lnTo>
                  <a:pt x="291583" y="20206"/>
                </a:lnTo>
                <a:lnTo>
                  <a:pt x="278002" y="24659"/>
                </a:lnTo>
                <a:lnTo>
                  <a:pt x="264348" y="28799"/>
                </a:lnTo>
                <a:lnTo>
                  <a:pt x="250622" y="32599"/>
                </a:lnTo>
                <a:lnTo>
                  <a:pt x="236824" y="36032"/>
                </a:lnTo>
                <a:lnTo>
                  <a:pt x="222954" y="39074"/>
                </a:lnTo>
                <a:lnTo>
                  <a:pt x="209014" y="41700"/>
                </a:lnTo>
                <a:lnTo>
                  <a:pt x="195003" y="43887"/>
                </a:lnTo>
                <a:lnTo>
                  <a:pt x="180923" y="45609"/>
                </a:lnTo>
                <a:lnTo>
                  <a:pt x="166774" y="46844"/>
                </a:lnTo>
                <a:lnTo>
                  <a:pt x="152556" y="47569"/>
                </a:lnTo>
                <a:lnTo>
                  <a:pt x="138268" y="47760"/>
                </a:lnTo>
                <a:lnTo>
                  <a:pt x="123910" y="47395"/>
                </a:lnTo>
                <a:lnTo>
                  <a:pt x="109481" y="46450"/>
                </a:lnTo>
                <a:lnTo>
                  <a:pt x="94980" y="44903"/>
                </a:lnTo>
                <a:lnTo>
                  <a:pt x="80404" y="42730"/>
                </a:lnTo>
                <a:lnTo>
                  <a:pt x="65751" y="39908"/>
                </a:lnTo>
                <a:lnTo>
                  <a:pt x="51020" y="36414"/>
                </a:lnTo>
                <a:lnTo>
                  <a:pt x="36205" y="32223"/>
                </a:lnTo>
                <a:lnTo>
                  <a:pt x="21306" y="27311"/>
                </a:lnTo>
                <a:lnTo>
                  <a:pt x="6136" y="21585"/>
                </a:lnTo>
                <a:close/>
              </a:path>
            </a:pathLst>
          </a:custGeom>
          <a:gradFill rotWithShape="1">
            <a:gsLst>
              <a:gs pos="0">
                <a:srgbClr val="D89387">
                  <a:alpha val="73000"/>
                </a:srgbClr>
              </a:gs>
              <a:gs pos="35000">
                <a:srgbClr val="CE817B">
                  <a:alpha val="73000"/>
                </a:srgbClr>
              </a:gs>
              <a:gs pos="100000">
                <a:srgbClr val="B86A65">
                  <a:alpha val="73000"/>
                </a:srgbClr>
              </a:gs>
            </a:gsLst>
            <a:lin ang="39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0" name="Tapered hepatic vessel 09"/>
          <p:cNvSpPr/>
          <p:nvPr/>
        </p:nvSpPr>
        <p:spPr>
          <a:xfrm>
            <a:off x="9495271" y="6066223"/>
            <a:ext cx="282178" cy="180324"/>
          </a:xfrm>
          <a:custGeom>
            <a:avLst/>
            <a:gdLst/>
            <a:ahLst/>
            <a:cxnLst/>
            <a:rect l="0" t="0" r="r" b="b"/>
            <a:pathLst>
              <a:path w="282178" h="180324">
                <a:moveTo>
                  <a:pt x="282178" y="164981"/>
                </a:moveTo>
                <a:lnTo>
                  <a:pt x="268902" y="156962"/>
                </a:lnTo>
                <a:lnTo>
                  <a:pt x="255596" y="149191"/>
                </a:lnTo>
                <a:lnTo>
                  <a:pt x="242339" y="141683"/>
                </a:lnTo>
                <a:lnTo>
                  <a:pt x="229148" y="134411"/>
                </a:lnTo>
                <a:lnTo>
                  <a:pt x="216037" y="127350"/>
                </a:lnTo>
                <a:lnTo>
                  <a:pt x="203024" y="120474"/>
                </a:lnTo>
                <a:lnTo>
                  <a:pt x="190123" y="113758"/>
                </a:lnTo>
                <a:lnTo>
                  <a:pt x="177351" y="107178"/>
                </a:lnTo>
                <a:lnTo>
                  <a:pt x="164723" y="100707"/>
                </a:lnTo>
                <a:lnTo>
                  <a:pt x="152254" y="94320"/>
                </a:lnTo>
                <a:lnTo>
                  <a:pt x="139960" y="87993"/>
                </a:lnTo>
                <a:lnTo>
                  <a:pt x="127856" y="81701"/>
                </a:lnTo>
                <a:lnTo>
                  <a:pt x="115957" y="75418"/>
                </a:lnTo>
                <a:lnTo>
                  <a:pt x="104277" y="69121"/>
                </a:lnTo>
                <a:lnTo>
                  <a:pt x="92831" y="62783"/>
                </a:lnTo>
                <a:lnTo>
                  <a:pt x="81633" y="56380"/>
                </a:lnTo>
                <a:lnTo>
                  <a:pt x="70697" y="49888"/>
                </a:lnTo>
                <a:lnTo>
                  <a:pt x="60035" y="43282"/>
                </a:lnTo>
                <a:lnTo>
                  <a:pt x="49661" y="36538"/>
                </a:lnTo>
                <a:lnTo>
                  <a:pt x="39587" y="29631"/>
                </a:lnTo>
                <a:lnTo>
                  <a:pt x="29821" y="22537"/>
                </a:lnTo>
                <a:lnTo>
                  <a:pt x="20371" y="15236"/>
                </a:lnTo>
                <a:lnTo>
                  <a:pt x="11235" y="7713"/>
                </a:lnTo>
                <a:lnTo>
                  <a:pt x="2309" y="0"/>
                </a:lnTo>
                <a:lnTo>
                  <a:pt x="0" y="2405"/>
                </a:lnTo>
                <a:lnTo>
                  <a:pt x="8134" y="11071"/>
                </a:lnTo>
                <a:lnTo>
                  <a:pt x="16819" y="19381"/>
                </a:lnTo>
                <a:lnTo>
                  <a:pt x="25917" y="27418"/>
                </a:lnTo>
                <a:lnTo>
                  <a:pt x="35394" y="35216"/>
                </a:lnTo>
                <a:lnTo>
                  <a:pt x="45224" y="42803"/>
                </a:lnTo>
                <a:lnTo>
                  <a:pt x="55383" y="50205"/>
                </a:lnTo>
                <a:lnTo>
                  <a:pt x="65850" y="57449"/>
                </a:lnTo>
                <a:lnTo>
                  <a:pt x="76604" y="64558"/>
                </a:lnTo>
                <a:lnTo>
                  <a:pt x="87625" y="71558"/>
                </a:lnTo>
                <a:lnTo>
                  <a:pt x="98895" y="78474"/>
                </a:lnTo>
                <a:lnTo>
                  <a:pt x="110393" y="85331"/>
                </a:lnTo>
                <a:lnTo>
                  <a:pt x="122102" y="92154"/>
                </a:lnTo>
                <a:lnTo>
                  <a:pt x="134004" y="98967"/>
                </a:lnTo>
                <a:lnTo>
                  <a:pt x="146079" y="105794"/>
                </a:lnTo>
                <a:lnTo>
                  <a:pt x="158310" y="112662"/>
                </a:lnTo>
                <a:lnTo>
                  <a:pt x="170680" y="119594"/>
                </a:lnTo>
                <a:lnTo>
                  <a:pt x="183170" y="126614"/>
                </a:lnTo>
                <a:lnTo>
                  <a:pt x="195763" y="133748"/>
                </a:lnTo>
                <a:lnTo>
                  <a:pt x="208442" y="141019"/>
                </a:lnTo>
                <a:lnTo>
                  <a:pt x="221189" y="148453"/>
                </a:lnTo>
                <a:lnTo>
                  <a:pt x="233987" y="156072"/>
                </a:lnTo>
                <a:lnTo>
                  <a:pt x="246820" y="163901"/>
                </a:lnTo>
                <a:lnTo>
                  <a:pt x="259669" y="171964"/>
                </a:lnTo>
                <a:lnTo>
                  <a:pt x="272581" y="180324"/>
                </a:lnTo>
                <a:close/>
              </a:path>
            </a:pathLst>
          </a:custGeom>
          <a:gradFill rotWithShape="1">
            <a:gsLst>
              <a:gs pos="0">
                <a:srgbClr val="D89387">
                  <a:alpha val="73000"/>
                </a:srgbClr>
              </a:gs>
              <a:gs pos="35000">
                <a:srgbClr val="CE817B">
                  <a:alpha val="73000"/>
                </a:srgbClr>
              </a:gs>
              <a:gs pos="100000">
                <a:srgbClr val="B86A65">
                  <a:alpha val="73000"/>
                </a:srgbClr>
              </a:gs>
            </a:gsLst>
            <a:lin ang="39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1" name="Tapered hepatic vessel 10"/>
          <p:cNvSpPr/>
          <p:nvPr/>
        </p:nvSpPr>
        <p:spPr>
          <a:xfrm>
            <a:off x="9818181" y="5848321"/>
            <a:ext cx="113641" cy="271986"/>
          </a:xfrm>
          <a:custGeom>
            <a:avLst/>
            <a:gdLst/>
            <a:ahLst/>
            <a:cxnLst/>
            <a:rect l="0" t="0" r="r" b="b"/>
            <a:pathLst>
              <a:path w="113641" h="271986">
                <a:moveTo>
                  <a:pt x="113641" y="261473"/>
                </a:moveTo>
                <a:lnTo>
                  <a:pt x="104258" y="249754"/>
                </a:lnTo>
                <a:lnTo>
                  <a:pt x="95424" y="238050"/>
                </a:lnTo>
                <a:lnTo>
                  <a:pt x="87053" y="226279"/>
                </a:lnTo>
                <a:lnTo>
                  <a:pt x="79137" y="214464"/>
                </a:lnTo>
                <a:lnTo>
                  <a:pt x="71669" y="202622"/>
                </a:lnTo>
                <a:lnTo>
                  <a:pt x="64640" y="190776"/>
                </a:lnTo>
                <a:lnTo>
                  <a:pt x="58043" y="178945"/>
                </a:lnTo>
                <a:lnTo>
                  <a:pt x="51870" y="167150"/>
                </a:lnTo>
                <a:lnTo>
                  <a:pt x="46113" y="155412"/>
                </a:lnTo>
                <a:lnTo>
                  <a:pt x="40765" y="143750"/>
                </a:lnTo>
                <a:lnTo>
                  <a:pt x="35817" y="132187"/>
                </a:lnTo>
                <a:lnTo>
                  <a:pt x="31260" y="120741"/>
                </a:lnTo>
                <a:lnTo>
                  <a:pt x="27088" y="109434"/>
                </a:lnTo>
                <a:lnTo>
                  <a:pt x="23292" y="98286"/>
                </a:lnTo>
                <a:lnTo>
                  <a:pt x="19862" y="87318"/>
                </a:lnTo>
                <a:lnTo>
                  <a:pt x="16792" y="76550"/>
                </a:lnTo>
                <a:lnTo>
                  <a:pt x="14071" y="66003"/>
                </a:lnTo>
                <a:lnTo>
                  <a:pt x="11690" y="55697"/>
                </a:lnTo>
                <a:lnTo>
                  <a:pt x="9640" y="45653"/>
                </a:lnTo>
                <a:lnTo>
                  <a:pt x="7910" y="35890"/>
                </a:lnTo>
                <a:lnTo>
                  <a:pt x="6487" y="26427"/>
                </a:lnTo>
                <a:lnTo>
                  <a:pt x="5356" y="17285"/>
                </a:lnTo>
                <a:lnTo>
                  <a:pt x="4489" y="8481"/>
                </a:lnTo>
                <a:lnTo>
                  <a:pt x="3761" y="0"/>
                </a:lnTo>
                <a:lnTo>
                  <a:pt x="428" y="59"/>
                </a:lnTo>
                <a:lnTo>
                  <a:pt x="0" y="8637"/>
                </a:lnTo>
                <a:lnTo>
                  <a:pt x="46" y="17644"/>
                </a:lnTo>
                <a:lnTo>
                  <a:pt x="455" y="27023"/>
                </a:lnTo>
                <a:lnTo>
                  <a:pt x="1218" y="36753"/>
                </a:lnTo>
                <a:lnTo>
                  <a:pt x="2334" y="46810"/>
                </a:lnTo>
                <a:lnTo>
                  <a:pt x="3809" y="57173"/>
                </a:lnTo>
                <a:lnTo>
                  <a:pt x="5648" y="67820"/>
                </a:lnTo>
                <a:lnTo>
                  <a:pt x="7858" y="78731"/>
                </a:lnTo>
                <a:lnTo>
                  <a:pt x="10445" y="89884"/>
                </a:lnTo>
                <a:lnTo>
                  <a:pt x="13419" y="101258"/>
                </a:lnTo>
                <a:lnTo>
                  <a:pt x="16785" y="112832"/>
                </a:lnTo>
                <a:lnTo>
                  <a:pt x="20553" y="124587"/>
                </a:lnTo>
                <a:lnTo>
                  <a:pt x="24731" y="136500"/>
                </a:lnTo>
                <a:lnTo>
                  <a:pt x="29327" y="148552"/>
                </a:lnTo>
                <a:lnTo>
                  <a:pt x="34350" y="160720"/>
                </a:lnTo>
                <a:lnTo>
                  <a:pt x="39807" y="172986"/>
                </a:lnTo>
                <a:lnTo>
                  <a:pt x="45709" y="185328"/>
                </a:lnTo>
                <a:lnTo>
                  <a:pt x="52063" y="197724"/>
                </a:lnTo>
                <a:lnTo>
                  <a:pt x="58878" y="210155"/>
                </a:lnTo>
                <a:lnTo>
                  <a:pt x="66162" y="222599"/>
                </a:lnTo>
                <a:lnTo>
                  <a:pt x="73926" y="235035"/>
                </a:lnTo>
                <a:lnTo>
                  <a:pt x="82177" y="247442"/>
                </a:lnTo>
                <a:lnTo>
                  <a:pt x="90924" y="259800"/>
                </a:lnTo>
                <a:lnTo>
                  <a:pt x="100098" y="271986"/>
                </a:lnTo>
                <a:close/>
              </a:path>
            </a:pathLst>
          </a:custGeom>
          <a:gradFill rotWithShape="1">
            <a:gsLst>
              <a:gs pos="0">
                <a:srgbClr val="D89387">
                  <a:alpha val="73000"/>
                </a:srgbClr>
              </a:gs>
              <a:gs pos="35000">
                <a:srgbClr val="CE817B">
                  <a:alpha val="73000"/>
                </a:srgbClr>
              </a:gs>
              <a:gs pos="100000">
                <a:srgbClr val="B86A65">
                  <a:alpha val="73000"/>
                </a:srgbClr>
              </a:gs>
            </a:gsLst>
            <a:lin ang="39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2" name="Tapered hepatic vessel 11"/>
          <p:cNvSpPr/>
          <p:nvPr/>
        </p:nvSpPr>
        <p:spPr>
          <a:xfrm>
            <a:off x="10377481" y="5857737"/>
            <a:ext cx="87901" cy="317626"/>
          </a:xfrm>
          <a:custGeom>
            <a:avLst/>
            <a:gdLst/>
            <a:ahLst/>
            <a:cxnLst/>
            <a:rect l="0" t="0" r="r" b="b"/>
            <a:pathLst>
              <a:path w="87901" h="317626">
                <a:moveTo>
                  <a:pt x="87901" y="311301"/>
                </a:moveTo>
                <a:lnTo>
                  <a:pt x="80745" y="296082"/>
                </a:lnTo>
                <a:lnTo>
                  <a:pt x="73903" y="281182"/>
                </a:lnTo>
                <a:lnTo>
                  <a:pt x="67365" y="266560"/>
                </a:lnTo>
                <a:lnTo>
                  <a:pt x="61136" y="252201"/>
                </a:lnTo>
                <a:lnTo>
                  <a:pt x="55219" y="238094"/>
                </a:lnTo>
                <a:lnTo>
                  <a:pt x="49618" y="224227"/>
                </a:lnTo>
                <a:lnTo>
                  <a:pt x="44336" y="210585"/>
                </a:lnTo>
                <a:lnTo>
                  <a:pt x="39377" y="197156"/>
                </a:lnTo>
                <a:lnTo>
                  <a:pt x="34745" y="183928"/>
                </a:lnTo>
                <a:lnTo>
                  <a:pt x="30442" y="170887"/>
                </a:lnTo>
                <a:lnTo>
                  <a:pt x="26472" y="158020"/>
                </a:lnTo>
                <a:lnTo>
                  <a:pt x="22839" y="145313"/>
                </a:lnTo>
                <a:lnTo>
                  <a:pt x="19546" y="132754"/>
                </a:lnTo>
                <a:lnTo>
                  <a:pt x="16596" y="120329"/>
                </a:lnTo>
                <a:lnTo>
                  <a:pt x="13992" y="108023"/>
                </a:lnTo>
                <a:lnTo>
                  <a:pt x="11738" y="95823"/>
                </a:lnTo>
                <a:lnTo>
                  <a:pt x="9836" y="83715"/>
                </a:lnTo>
                <a:lnTo>
                  <a:pt x="8290" y="71685"/>
                </a:lnTo>
                <a:lnTo>
                  <a:pt x="7102" y="59718"/>
                </a:lnTo>
                <a:lnTo>
                  <a:pt x="6274" y="47801"/>
                </a:lnTo>
                <a:lnTo>
                  <a:pt x="5807" y="35918"/>
                </a:lnTo>
                <a:lnTo>
                  <a:pt x="5698" y="24053"/>
                </a:lnTo>
                <a:lnTo>
                  <a:pt x="5937" y="12191"/>
                </a:lnTo>
                <a:lnTo>
                  <a:pt x="6430" y="277"/>
                </a:lnTo>
                <a:lnTo>
                  <a:pt x="3108" y="0"/>
                </a:lnTo>
                <a:lnTo>
                  <a:pt x="1615" y="11902"/>
                </a:lnTo>
                <a:lnTo>
                  <a:pt x="653" y="23882"/>
                </a:lnTo>
                <a:lnTo>
                  <a:pt x="121" y="35908"/>
                </a:lnTo>
                <a:lnTo>
                  <a:pt x="0" y="47991"/>
                </a:lnTo>
                <a:lnTo>
                  <a:pt x="279" y="60138"/>
                </a:lnTo>
                <a:lnTo>
                  <a:pt x="949" y="72360"/>
                </a:lnTo>
                <a:lnTo>
                  <a:pt x="2006" y="84667"/>
                </a:lnTo>
                <a:lnTo>
                  <a:pt x="3444" y="97071"/>
                </a:lnTo>
                <a:lnTo>
                  <a:pt x="5256" y="109581"/>
                </a:lnTo>
                <a:lnTo>
                  <a:pt x="7438" y="122208"/>
                </a:lnTo>
                <a:lnTo>
                  <a:pt x="9985" y="134963"/>
                </a:lnTo>
                <a:lnTo>
                  <a:pt x="12892" y="147857"/>
                </a:lnTo>
                <a:lnTo>
                  <a:pt x="16153" y="160902"/>
                </a:lnTo>
                <a:lnTo>
                  <a:pt x="19764" y="174109"/>
                </a:lnTo>
                <a:lnTo>
                  <a:pt x="23720" y="187489"/>
                </a:lnTo>
                <a:lnTo>
                  <a:pt x="28015" y="201054"/>
                </a:lnTo>
                <a:lnTo>
                  <a:pt x="32646" y="214816"/>
                </a:lnTo>
                <a:lnTo>
                  <a:pt x="37607" y="228786"/>
                </a:lnTo>
                <a:lnTo>
                  <a:pt x="42894" y="242976"/>
                </a:lnTo>
                <a:lnTo>
                  <a:pt x="48502" y="257399"/>
                </a:lnTo>
                <a:lnTo>
                  <a:pt x="54426" y="272066"/>
                </a:lnTo>
                <a:lnTo>
                  <a:pt x="60661" y="286990"/>
                </a:lnTo>
                <a:lnTo>
                  <a:pt x="67204" y="302182"/>
                </a:lnTo>
                <a:lnTo>
                  <a:pt x="74036" y="317626"/>
                </a:lnTo>
                <a:close/>
              </a:path>
            </a:pathLst>
          </a:custGeom>
          <a:gradFill rotWithShape="1">
            <a:gsLst>
              <a:gs pos="0">
                <a:srgbClr val="D89387">
                  <a:alpha val="73000"/>
                </a:srgbClr>
              </a:gs>
              <a:gs pos="35000">
                <a:srgbClr val="CE817B">
                  <a:alpha val="73000"/>
                </a:srgbClr>
              </a:gs>
              <a:gs pos="100000">
                <a:srgbClr val="B86A65">
                  <a:alpha val="73000"/>
                </a:srgbClr>
              </a:gs>
            </a:gsLst>
            <a:lin ang="39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3" name="Tapered hepatic vessel 12"/>
          <p:cNvSpPr/>
          <p:nvPr/>
        </p:nvSpPr>
        <p:spPr>
          <a:xfrm>
            <a:off x="9180942" y="7365714"/>
            <a:ext cx="268507" cy="122135"/>
          </a:xfrm>
          <a:custGeom>
            <a:avLst/>
            <a:gdLst/>
            <a:ahLst/>
            <a:cxnLst/>
            <a:rect l="0" t="0" r="r" b="b"/>
            <a:pathLst>
              <a:path w="268507" h="122135">
                <a:moveTo>
                  <a:pt x="267209" y="0"/>
                </a:moveTo>
                <a:lnTo>
                  <a:pt x="252946" y="1559"/>
                </a:lnTo>
                <a:lnTo>
                  <a:pt x="238805" y="3517"/>
                </a:lnTo>
                <a:lnTo>
                  <a:pt x="224890" y="5852"/>
                </a:lnTo>
                <a:lnTo>
                  <a:pt x="211210" y="8552"/>
                </a:lnTo>
                <a:lnTo>
                  <a:pt x="197772" y="11604"/>
                </a:lnTo>
                <a:lnTo>
                  <a:pt x="184586" y="14995"/>
                </a:lnTo>
                <a:lnTo>
                  <a:pt x="171659" y="18712"/>
                </a:lnTo>
                <a:lnTo>
                  <a:pt x="158999" y="22742"/>
                </a:lnTo>
                <a:lnTo>
                  <a:pt x="146616" y="27074"/>
                </a:lnTo>
                <a:lnTo>
                  <a:pt x="134518" y="31693"/>
                </a:lnTo>
                <a:lnTo>
                  <a:pt x="122712" y="36588"/>
                </a:lnTo>
                <a:lnTo>
                  <a:pt x="111207" y="41746"/>
                </a:lnTo>
                <a:lnTo>
                  <a:pt x="100013" y="47155"/>
                </a:lnTo>
                <a:lnTo>
                  <a:pt x="89136" y="52801"/>
                </a:lnTo>
                <a:lnTo>
                  <a:pt x="78586" y="58673"/>
                </a:lnTo>
                <a:lnTo>
                  <a:pt x="68372" y="64758"/>
                </a:lnTo>
                <a:lnTo>
                  <a:pt x="58502" y="71044"/>
                </a:lnTo>
                <a:lnTo>
                  <a:pt x="48986" y="77518"/>
                </a:lnTo>
                <a:lnTo>
                  <a:pt x="39833" y="84168"/>
                </a:lnTo>
                <a:lnTo>
                  <a:pt x="31053" y="90983"/>
                </a:lnTo>
                <a:lnTo>
                  <a:pt x="22657" y="97952"/>
                </a:lnTo>
                <a:lnTo>
                  <a:pt x="14658" y="105066"/>
                </a:lnTo>
                <a:lnTo>
                  <a:pt x="7075" y="112319"/>
                </a:lnTo>
                <a:lnTo>
                  <a:pt x="0" y="119737"/>
                </a:lnTo>
                <a:lnTo>
                  <a:pt x="2316" y="122135"/>
                </a:lnTo>
                <a:lnTo>
                  <a:pt x="9923" y="115368"/>
                </a:lnTo>
                <a:lnTo>
                  <a:pt x="17799" y="108661"/>
                </a:lnTo>
                <a:lnTo>
                  <a:pt x="26019" y="102061"/>
                </a:lnTo>
                <a:lnTo>
                  <a:pt x="34587" y="95590"/>
                </a:lnTo>
                <a:lnTo>
                  <a:pt x="43498" y="89263"/>
                </a:lnTo>
                <a:lnTo>
                  <a:pt x="52747" y="83094"/>
                </a:lnTo>
                <a:lnTo>
                  <a:pt x="62328" y="77095"/>
                </a:lnTo>
                <a:lnTo>
                  <a:pt x="72233" y="71280"/>
                </a:lnTo>
                <a:lnTo>
                  <a:pt x="82455" y="65661"/>
                </a:lnTo>
                <a:lnTo>
                  <a:pt x="92987" y="60251"/>
                </a:lnTo>
                <a:lnTo>
                  <a:pt x="103820" y="55062"/>
                </a:lnTo>
                <a:lnTo>
                  <a:pt x="114946" y="50107"/>
                </a:lnTo>
                <a:lnTo>
                  <a:pt x="126359" y="45397"/>
                </a:lnTo>
                <a:lnTo>
                  <a:pt x="138048" y="40945"/>
                </a:lnTo>
                <a:lnTo>
                  <a:pt x="150008" y="36763"/>
                </a:lnTo>
                <a:lnTo>
                  <a:pt x="162228" y="32863"/>
                </a:lnTo>
                <a:lnTo>
                  <a:pt x="174702" y="29258"/>
                </a:lnTo>
                <a:lnTo>
                  <a:pt x="187420" y="25959"/>
                </a:lnTo>
                <a:lnTo>
                  <a:pt x="200375" y="22979"/>
                </a:lnTo>
                <a:lnTo>
                  <a:pt x="213558" y="20330"/>
                </a:lnTo>
                <a:lnTo>
                  <a:pt x="226961" y="18023"/>
                </a:lnTo>
                <a:lnTo>
                  <a:pt x="240577" y="16072"/>
                </a:lnTo>
                <a:lnTo>
                  <a:pt x="254396" y="14487"/>
                </a:lnTo>
                <a:lnTo>
                  <a:pt x="268507" y="13272"/>
                </a:lnTo>
                <a:close/>
              </a:path>
            </a:pathLst>
          </a:custGeom>
          <a:gradFill rotWithShape="1">
            <a:gsLst>
              <a:gs pos="0">
                <a:srgbClr val="D89387">
                  <a:alpha val="73000"/>
                </a:srgbClr>
              </a:gs>
              <a:gs pos="35000">
                <a:srgbClr val="CE817B">
                  <a:alpha val="73000"/>
                </a:srgbClr>
              </a:gs>
              <a:gs pos="100000">
                <a:srgbClr val="B86A65">
                  <a:alpha val="73000"/>
                </a:srgbClr>
              </a:gs>
            </a:gsLst>
            <a:lin ang="39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4" name="Metabolite absorption"/>
          <p:cNvSpPr/>
          <p:nvPr/>
        </p:nvSpPr>
        <p:spPr>
          <a:xfrm>
            <a:off x="3033712" y="2800350"/>
            <a:ext cx="95" cy="3590925"/>
          </a:xfrm>
          <a:custGeom>
            <a:avLst/>
            <a:gdLst/>
            <a:ahLst/>
            <a:cxnLst/>
            <a:rect l="0" t="0" r="r" b="b"/>
            <a:pathLst>
              <a:path w="95" h="3590925">
                <a:moveTo>
                  <a:pt x="0" y="0"/>
                </a:moveTo>
                <a:lnTo>
                  <a:pt x="0" y="3590925"/>
                </a:lnTo>
              </a:path>
            </a:pathLst>
          </a:custGeom>
          <a:noFill/>
          <a:ln w="40005" cap="rnd">
            <a:solidFill>
              <a:srgbClr val="0086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5" name="Metabolite absorption_head"/>
          <p:cNvSpPr/>
          <p:nvPr/>
        </p:nvSpPr>
        <p:spPr>
          <a:xfrm>
            <a:off x="2955893" y="6210300"/>
            <a:ext cx="155639" cy="180975"/>
          </a:xfrm>
          <a:custGeom>
            <a:avLst/>
            <a:gdLst/>
            <a:ahLst/>
            <a:cxnLst/>
            <a:rect l="0" t="0" r="r" b="b"/>
            <a:pathLst>
              <a:path w="155639" h="180975">
                <a:moveTo>
                  <a:pt x="77819" y="180975"/>
                </a:moveTo>
                <a:lnTo>
                  <a:pt x="0" y="0"/>
                </a:lnTo>
                <a:lnTo>
                  <a:pt x="155639" y="0"/>
                </a:lnTo>
                <a:close/>
              </a:path>
            </a:pathLst>
          </a:custGeom>
          <a:solidFill>
            <a:srgbClr val="0086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6" name="Metabolite absorption"/>
          <p:cNvSpPr/>
          <p:nvPr/>
        </p:nvSpPr>
        <p:spPr>
          <a:xfrm>
            <a:off x="4600575" y="2867025"/>
            <a:ext cx="95" cy="3524250"/>
          </a:xfrm>
          <a:custGeom>
            <a:avLst/>
            <a:gdLst/>
            <a:ahLst/>
            <a:cxnLst/>
            <a:rect l="0" t="0" r="r" b="b"/>
            <a:pathLst>
              <a:path w="95" h="3524250">
                <a:moveTo>
                  <a:pt x="0" y="0"/>
                </a:moveTo>
                <a:lnTo>
                  <a:pt x="0" y="3524250"/>
                </a:lnTo>
              </a:path>
            </a:pathLst>
          </a:custGeom>
          <a:noFill/>
          <a:ln w="40005" cap="rnd">
            <a:solidFill>
              <a:srgbClr val="0086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7" name="Metabolite absorption_head"/>
          <p:cNvSpPr/>
          <p:nvPr/>
        </p:nvSpPr>
        <p:spPr>
          <a:xfrm>
            <a:off x="4522756" y="6210300"/>
            <a:ext cx="155639" cy="180975"/>
          </a:xfrm>
          <a:custGeom>
            <a:avLst/>
            <a:gdLst/>
            <a:ahLst/>
            <a:cxnLst/>
            <a:rect l="0" t="0" r="r" b="b"/>
            <a:pathLst>
              <a:path w="155639" h="180975">
                <a:moveTo>
                  <a:pt x="77819" y="180975"/>
                </a:moveTo>
                <a:lnTo>
                  <a:pt x="0" y="0"/>
                </a:lnTo>
                <a:lnTo>
                  <a:pt x="155639" y="0"/>
                </a:lnTo>
                <a:close/>
              </a:path>
            </a:pathLst>
          </a:custGeom>
          <a:solidFill>
            <a:srgbClr val="0086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8" name="Metabolite absorption"/>
          <p:cNvSpPr/>
          <p:nvPr/>
        </p:nvSpPr>
        <p:spPr>
          <a:xfrm>
            <a:off x="6124575" y="2876550"/>
            <a:ext cx="95" cy="3514725"/>
          </a:xfrm>
          <a:custGeom>
            <a:avLst/>
            <a:gdLst/>
            <a:ahLst/>
            <a:cxnLst/>
            <a:rect l="0" t="0" r="r" b="b"/>
            <a:pathLst>
              <a:path w="95" h="3514725">
                <a:moveTo>
                  <a:pt x="0" y="0"/>
                </a:moveTo>
                <a:lnTo>
                  <a:pt x="0" y="3514725"/>
                </a:lnTo>
              </a:path>
            </a:pathLst>
          </a:custGeom>
          <a:noFill/>
          <a:ln w="40005" cap="rnd">
            <a:solidFill>
              <a:srgbClr val="0086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9" name="Metabolite absorption_head"/>
          <p:cNvSpPr/>
          <p:nvPr/>
        </p:nvSpPr>
        <p:spPr>
          <a:xfrm>
            <a:off x="6046756" y="6210300"/>
            <a:ext cx="155638" cy="180975"/>
          </a:xfrm>
          <a:custGeom>
            <a:avLst/>
            <a:gdLst/>
            <a:ahLst/>
            <a:cxnLst/>
            <a:rect l="0" t="0" r="r" b="b"/>
            <a:pathLst>
              <a:path w="155638" h="180975">
                <a:moveTo>
                  <a:pt x="77819" y="180975"/>
                </a:moveTo>
                <a:lnTo>
                  <a:pt x="0" y="0"/>
                </a:lnTo>
                <a:lnTo>
                  <a:pt x="155638" y="0"/>
                </a:lnTo>
                <a:close/>
              </a:path>
            </a:pathLst>
          </a:custGeom>
          <a:solidFill>
            <a:srgbClr val="0086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0" name="Metabolite absorption"/>
          <p:cNvSpPr/>
          <p:nvPr/>
        </p:nvSpPr>
        <p:spPr>
          <a:xfrm>
            <a:off x="7848600" y="2838450"/>
            <a:ext cx="95" cy="3552825"/>
          </a:xfrm>
          <a:custGeom>
            <a:avLst/>
            <a:gdLst/>
            <a:ahLst/>
            <a:cxnLst/>
            <a:rect l="0" t="0" r="r" b="b"/>
            <a:pathLst>
              <a:path w="95" h="3552825">
                <a:moveTo>
                  <a:pt x="0" y="0"/>
                </a:moveTo>
                <a:lnTo>
                  <a:pt x="0" y="3552825"/>
                </a:lnTo>
              </a:path>
            </a:pathLst>
          </a:custGeom>
          <a:noFill/>
          <a:ln w="40005" cap="rnd">
            <a:solidFill>
              <a:srgbClr val="0086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1" name="Metabolite absorption_head"/>
          <p:cNvSpPr/>
          <p:nvPr/>
        </p:nvSpPr>
        <p:spPr>
          <a:xfrm>
            <a:off x="7770781" y="6210300"/>
            <a:ext cx="155638" cy="180975"/>
          </a:xfrm>
          <a:custGeom>
            <a:avLst/>
            <a:gdLst/>
            <a:ahLst/>
            <a:cxnLst/>
            <a:rect l="0" t="0" r="r" b="b"/>
            <a:pathLst>
              <a:path w="155638" h="180975">
                <a:moveTo>
                  <a:pt x="77819" y="180975"/>
                </a:moveTo>
                <a:lnTo>
                  <a:pt x="0" y="0"/>
                </a:lnTo>
                <a:lnTo>
                  <a:pt x="155638" y="0"/>
                </a:lnTo>
                <a:close/>
              </a:path>
            </a:pathLst>
          </a:custGeom>
          <a:solidFill>
            <a:srgbClr val="0086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2" name="TMA synthesis"/>
          <p:cNvSpPr/>
          <p:nvPr/>
        </p:nvSpPr>
        <p:spPr>
          <a:xfrm>
            <a:off x="7486650" y="2505075"/>
            <a:ext cx="104775" cy="95"/>
          </a:xfrm>
          <a:custGeom>
            <a:avLst/>
            <a:gdLst/>
            <a:ahLst/>
            <a:cxnLst/>
            <a:rect l="0" t="0" r="r" b="b"/>
            <a:pathLst>
              <a:path w="104775" h="95">
                <a:moveTo>
                  <a:pt x="0" y="0"/>
                </a:moveTo>
                <a:lnTo>
                  <a:pt x="104775" y="0"/>
                </a:lnTo>
              </a:path>
            </a:pathLst>
          </a:custGeom>
          <a:noFill/>
          <a:ln w="18097" cap="rnd">
            <a:solidFill>
              <a:srgbClr val="C76A0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3" name="TMA synthesis_head"/>
          <p:cNvSpPr/>
          <p:nvPr/>
        </p:nvSpPr>
        <p:spPr>
          <a:xfrm>
            <a:off x="7524750" y="2476405"/>
            <a:ext cx="66675" cy="57340"/>
          </a:xfrm>
          <a:custGeom>
            <a:avLst/>
            <a:gdLst/>
            <a:ahLst/>
            <a:cxnLst/>
            <a:rect l="0" t="0" r="r" b="b"/>
            <a:pathLst>
              <a:path w="66675" h="57340">
                <a:moveTo>
                  <a:pt x="66675" y="28670"/>
                </a:moveTo>
                <a:lnTo>
                  <a:pt x="0" y="57340"/>
                </a:lnTo>
                <a:lnTo>
                  <a:pt x="0" y="0"/>
                </a:lnTo>
                <a:close/>
              </a:path>
            </a:pathLst>
          </a:custGeom>
          <a:solidFill>
            <a:srgbClr val="C76A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4" name="Portal circulation"/>
          <p:cNvSpPr/>
          <p:nvPr/>
        </p:nvSpPr>
        <p:spPr>
          <a:xfrm>
            <a:off x="7000875" y="7477125"/>
            <a:ext cx="1971675" cy="95"/>
          </a:xfrm>
          <a:custGeom>
            <a:avLst/>
            <a:gdLst/>
            <a:ahLst/>
            <a:cxnLst/>
            <a:rect l="0" t="0" r="r" b="b"/>
            <a:pathLst>
              <a:path w="1971675" h="95">
                <a:moveTo>
                  <a:pt x="0" y="0"/>
                </a:moveTo>
                <a:lnTo>
                  <a:pt x="1971675" y="0"/>
                </a:lnTo>
              </a:path>
            </a:pathLst>
          </a:custGeom>
          <a:noFill/>
          <a:ln w="38100" cap="rnd">
            <a:solidFill>
              <a:srgbClr val="0086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5" name="Portal circulation_head"/>
          <p:cNvSpPr/>
          <p:nvPr/>
        </p:nvSpPr>
        <p:spPr>
          <a:xfrm>
            <a:off x="8791575" y="7399306"/>
            <a:ext cx="180975" cy="155638"/>
          </a:xfrm>
          <a:custGeom>
            <a:avLst/>
            <a:gdLst/>
            <a:ahLst/>
            <a:cxnLst/>
            <a:rect l="0" t="0" r="r" b="b"/>
            <a:pathLst>
              <a:path w="180975" h="155638">
                <a:moveTo>
                  <a:pt x="180975" y="77819"/>
                </a:moveTo>
                <a:lnTo>
                  <a:pt x="0" y="155638"/>
                </a:lnTo>
                <a:lnTo>
                  <a:pt x="0" y="0"/>
                </a:lnTo>
                <a:close/>
              </a:path>
            </a:pathLst>
          </a:custGeom>
          <a:solidFill>
            <a:srgbClr val="0086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6" name="Lymphatic capillary"/>
          <p:cNvSpPr/>
          <p:nvPr/>
        </p:nvSpPr>
        <p:spPr>
          <a:xfrm>
            <a:off x="10648950" y="4867275"/>
            <a:ext cx="1000125" cy="304800"/>
          </a:xfrm>
          <a:prstGeom prst="roundRect">
            <a:avLst>
              <a:gd name="adj" fmla="val 50000"/>
            </a:avLst>
          </a:prstGeom>
          <a:solidFill>
            <a:srgbClr val="DDF0EC"/>
          </a:solidFill>
          <a:ln w="20955">
            <a:solidFill>
              <a:srgbClr val="559D9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7" name="Lymphatic route"/>
          <p:cNvSpPr/>
          <p:nvPr/>
        </p:nvSpPr>
        <p:spPr>
          <a:xfrm>
            <a:off x="9458325" y="4676775"/>
            <a:ext cx="3971925" cy="1514475"/>
          </a:xfrm>
          <a:custGeom>
            <a:avLst/>
            <a:gdLst/>
            <a:ahLst/>
            <a:cxnLst/>
            <a:rect l="0" t="0" r="r" b="b"/>
            <a:pathLst>
              <a:path w="3971925" h="1514475">
                <a:moveTo>
                  <a:pt x="0" y="0"/>
                </a:moveTo>
                <a:cubicBezTo>
                  <a:pt x="0" y="257175"/>
                  <a:pt x="485775" y="304800"/>
                  <a:pt x="1209675" y="323850"/>
                </a:cubicBezTo>
                <a:cubicBezTo>
                  <a:pt x="2857500" y="323850"/>
                  <a:pt x="3619500" y="542925"/>
                  <a:pt x="3971925" y="1514475"/>
                </a:cubicBezTo>
              </a:path>
            </a:pathLst>
          </a:custGeom>
          <a:noFill/>
          <a:ln w="39052" cap="rnd">
            <a:solidFill>
              <a:srgbClr val="A82D2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8" name="Lymphatic arrival"/>
          <p:cNvSpPr/>
          <p:nvPr/>
        </p:nvSpPr>
        <p:spPr>
          <a:xfrm>
            <a:off x="13354050" y="6000750"/>
            <a:ext cx="76200" cy="190500"/>
          </a:xfrm>
          <a:custGeom>
            <a:avLst/>
            <a:gdLst/>
            <a:ahLst/>
            <a:cxnLst/>
            <a:rect l="0" t="0" r="r" b="b"/>
            <a:pathLst>
              <a:path w="76200" h="190500">
                <a:moveTo>
                  <a:pt x="0" y="0"/>
                </a:moveTo>
                <a:lnTo>
                  <a:pt x="76200" y="190500"/>
                </a:lnTo>
              </a:path>
            </a:pathLst>
          </a:custGeom>
          <a:noFill/>
          <a:ln w="39052" cap="rnd">
            <a:solidFill>
              <a:srgbClr val="A82D2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9" name="Lymphatic arrival_head"/>
          <p:cNvSpPr/>
          <p:nvPr/>
        </p:nvSpPr>
        <p:spPr>
          <a:xfrm>
            <a:off x="13320145" y="6035777"/>
            <a:ext cx="114084" cy="155473"/>
          </a:xfrm>
          <a:custGeom>
            <a:avLst/>
            <a:gdLst/>
            <a:ahLst/>
            <a:cxnLst/>
            <a:rect l="0" t="0" r="r" b="b"/>
            <a:pathLst>
              <a:path w="114084" h="155473">
                <a:moveTo>
                  <a:pt x="110105" y="155473"/>
                </a:moveTo>
                <a:lnTo>
                  <a:pt x="0" y="45634"/>
                </a:lnTo>
                <a:lnTo>
                  <a:pt x="114084" y="0"/>
                </a:lnTo>
                <a:close/>
              </a:path>
            </a:pathLst>
          </a:custGeom>
          <a:solidFill>
            <a:srgbClr val="A82D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0" name="LPS portal route"/>
          <p:cNvSpPr/>
          <p:nvPr/>
        </p:nvSpPr>
        <p:spPr>
          <a:xfrm>
            <a:off x="8982075" y="2647950"/>
            <a:ext cx="485775" cy="3886200"/>
          </a:xfrm>
          <a:custGeom>
            <a:avLst/>
            <a:gdLst/>
            <a:ahLst/>
            <a:cxnLst/>
            <a:rect l="0" t="0" r="r" b="b"/>
            <a:pathLst>
              <a:path w="485775" h="3886200">
                <a:moveTo>
                  <a:pt x="476250" y="0"/>
                </a:moveTo>
                <a:lnTo>
                  <a:pt x="476250" y="2028825"/>
                </a:lnTo>
                <a:cubicBezTo>
                  <a:pt x="485775" y="2600325"/>
                  <a:pt x="257175" y="3295650"/>
                  <a:pt x="0" y="3886200"/>
                </a:cubicBezTo>
              </a:path>
            </a:pathLst>
          </a:custGeom>
          <a:noFill/>
          <a:ln w="39052" cap="rnd">
            <a:solidFill>
              <a:srgbClr val="A82D2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1" name="Portal arrival"/>
          <p:cNvSpPr/>
          <p:nvPr/>
        </p:nvSpPr>
        <p:spPr>
          <a:xfrm>
            <a:off x="8982075" y="6372225"/>
            <a:ext cx="66675" cy="161925"/>
          </a:xfrm>
          <a:custGeom>
            <a:avLst/>
            <a:gdLst/>
            <a:ahLst/>
            <a:cxnLst/>
            <a:rect l="0" t="0" r="r" b="b"/>
            <a:pathLst>
              <a:path w="66675" h="161925">
                <a:moveTo>
                  <a:pt x="66675" y="0"/>
                </a:moveTo>
                <a:lnTo>
                  <a:pt x="0" y="161925"/>
                </a:lnTo>
              </a:path>
            </a:pathLst>
          </a:custGeom>
          <a:noFill/>
          <a:ln w="39052" cap="rnd">
            <a:solidFill>
              <a:srgbClr val="A82D2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2" name="Portal arrival_head"/>
          <p:cNvSpPr/>
          <p:nvPr/>
        </p:nvSpPr>
        <p:spPr>
          <a:xfrm>
            <a:off x="8979666" y="6378645"/>
            <a:ext cx="113618" cy="155505"/>
          </a:xfrm>
          <a:custGeom>
            <a:avLst/>
            <a:gdLst/>
            <a:ahLst/>
            <a:cxnLst/>
            <a:rect l="0" t="0" r="r" b="b"/>
            <a:pathLst>
              <a:path w="113618" h="155505">
                <a:moveTo>
                  <a:pt x="2409" y="155505"/>
                </a:moveTo>
                <a:lnTo>
                  <a:pt x="0" y="0"/>
                </a:lnTo>
                <a:lnTo>
                  <a:pt x="113618" y="46784"/>
                </a:lnTo>
                <a:close/>
              </a:path>
            </a:pathLst>
          </a:custGeom>
          <a:solidFill>
            <a:srgbClr val="A82D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3" name="PG apical uptake"/>
          <p:cNvSpPr/>
          <p:nvPr/>
        </p:nvSpPr>
        <p:spPr>
          <a:xfrm>
            <a:off x="11287125" y="2724150"/>
            <a:ext cx="95" cy="381000"/>
          </a:xfrm>
          <a:custGeom>
            <a:avLst/>
            <a:gdLst/>
            <a:ahLst/>
            <a:cxnLst/>
            <a:rect l="0" t="0" r="r" b="b"/>
            <a:pathLst>
              <a:path w="9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/>
          <a:ln w="28575" cap="rnd">
            <a:solidFill>
              <a:srgbClr val="7254A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4" name="PG apical uptake_head"/>
          <p:cNvSpPr/>
          <p:nvPr/>
        </p:nvSpPr>
        <p:spPr>
          <a:xfrm>
            <a:off x="11233880" y="2981325"/>
            <a:ext cx="106489" cy="123825"/>
          </a:xfrm>
          <a:custGeom>
            <a:avLst/>
            <a:gdLst/>
            <a:ahLst/>
            <a:cxnLst/>
            <a:rect l="0" t="0" r="r" b="b"/>
            <a:pathLst>
              <a:path w="106489" h="123825">
                <a:moveTo>
                  <a:pt x="53245" y="123825"/>
                </a:moveTo>
                <a:lnTo>
                  <a:pt x="0" y="0"/>
                </a:lnTo>
                <a:lnTo>
                  <a:pt x="106489" y="0"/>
                </a:lnTo>
                <a:close/>
              </a:path>
            </a:pathLst>
          </a:custGeom>
          <a:solidFill>
            <a:srgbClr val="725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5" name="PG basal transfer"/>
          <p:cNvSpPr/>
          <p:nvPr/>
        </p:nvSpPr>
        <p:spPr>
          <a:xfrm>
            <a:off x="11287125" y="3867150"/>
            <a:ext cx="95" cy="685800"/>
          </a:xfrm>
          <a:custGeom>
            <a:avLst/>
            <a:gdLst/>
            <a:ahLst/>
            <a:cxnLst/>
            <a:rect l="0" t="0" r="r" b="b"/>
            <a:pathLst>
              <a:path w="95" h="685800">
                <a:moveTo>
                  <a:pt x="0" y="0"/>
                </a:moveTo>
                <a:lnTo>
                  <a:pt x="0" y="685800"/>
                </a:lnTo>
              </a:path>
            </a:pathLst>
          </a:custGeom>
          <a:noFill/>
          <a:ln w="28575" cap="rnd">
            <a:solidFill>
              <a:srgbClr val="7254A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6" name="PG basal transfer_head"/>
          <p:cNvSpPr/>
          <p:nvPr/>
        </p:nvSpPr>
        <p:spPr>
          <a:xfrm>
            <a:off x="11233880" y="4429125"/>
            <a:ext cx="106489" cy="123825"/>
          </a:xfrm>
          <a:custGeom>
            <a:avLst/>
            <a:gdLst/>
            <a:ahLst/>
            <a:cxnLst/>
            <a:rect l="0" t="0" r="r" b="b"/>
            <a:pathLst>
              <a:path w="106489" h="123825">
                <a:moveTo>
                  <a:pt x="53245" y="123825"/>
                </a:moveTo>
                <a:lnTo>
                  <a:pt x="0" y="0"/>
                </a:lnTo>
                <a:lnTo>
                  <a:pt x="106489" y="0"/>
                </a:lnTo>
                <a:close/>
              </a:path>
            </a:pathLst>
          </a:custGeom>
          <a:solidFill>
            <a:srgbClr val="725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7" name="FMO3 conversion"/>
          <p:cNvSpPr/>
          <p:nvPr/>
        </p:nvSpPr>
        <p:spPr>
          <a:xfrm>
            <a:off x="10210800" y="7096125"/>
            <a:ext cx="657225" cy="95"/>
          </a:xfrm>
          <a:custGeom>
            <a:avLst/>
            <a:gdLst/>
            <a:ahLst/>
            <a:cxnLst/>
            <a:rect l="0" t="0" r="r" b="b"/>
            <a:pathLst>
              <a:path w="657225" h="95">
                <a:moveTo>
                  <a:pt x="0" y="0"/>
                </a:moveTo>
                <a:lnTo>
                  <a:pt x="657225" y="0"/>
                </a:lnTo>
              </a:path>
            </a:pathLst>
          </a:custGeom>
          <a:noFill/>
          <a:ln w="35242" cap="rnd">
            <a:solidFill>
              <a:srgbClr val="23364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8" name="FMO3 conversion_head"/>
          <p:cNvSpPr/>
          <p:nvPr/>
        </p:nvSpPr>
        <p:spPr>
          <a:xfrm>
            <a:off x="10725150" y="7034689"/>
            <a:ext cx="142875" cy="122873"/>
          </a:xfrm>
          <a:custGeom>
            <a:avLst/>
            <a:gdLst/>
            <a:ahLst/>
            <a:cxnLst/>
            <a:rect l="0" t="0" r="r" b="b"/>
            <a:pathLst>
              <a:path w="142875" h="122873">
                <a:moveTo>
                  <a:pt x="142875" y="61436"/>
                </a:moveTo>
                <a:lnTo>
                  <a:pt x="0" y="122873"/>
                </a:lnTo>
                <a:lnTo>
                  <a:pt x="0" y="0"/>
                </a:lnTo>
                <a:close/>
              </a:path>
            </a:pathLst>
          </a:custGeom>
          <a:solidFill>
            <a:srgbClr val="2336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9" name="Hepatic outflow"/>
          <p:cNvSpPr/>
          <p:nvPr/>
        </p:nvSpPr>
        <p:spPr>
          <a:xfrm>
            <a:off x="11830050" y="7086600"/>
            <a:ext cx="1381125" cy="95"/>
          </a:xfrm>
          <a:custGeom>
            <a:avLst/>
            <a:gdLst/>
            <a:ahLst/>
            <a:cxnLst/>
            <a:rect l="0" t="0" r="r" b="b"/>
            <a:pathLst>
              <a:path w="1381125" h="95">
                <a:moveTo>
                  <a:pt x="0" y="0"/>
                </a:moveTo>
                <a:lnTo>
                  <a:pt x="1381125" y="0"/>
                </a:lnTo>
              </a:path>
            </a:pathLst>
          </a:custGeom>
          <a:noFill/>
          <a:ln w="39052" cap="rnd">
            <a:solidFill>
              <a:srgbClr val="23364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0" name="Hepatic outflow_head"/>
          <p:cNvSpPr/>
          <p:nvPr/>
        </p:nvSpPr>
        <p:spPr>
          <a:xfrm>
            <a:off x="13068300" y="7025164"/>
            <a:ext cx="142875" cy="122873"/>
          </a:xfrm>
          <a:custGeom>
            <a:avLst/>
            <a:gdLst/>
            <a:ahLst/>
            <a:cxnLst/>
            <a:rect l="0" t="0" r="r" b="b"/>
            <a:pathLst>
              <a:path w="142875" h="122873">
                <a:moveTo>
                  <a:pt x="142875" y="61436"/>
                </a:moveTo>
                <a:lnTo>
                  <a:pt x="0" y="122873"/>
                </a:lnTo>
                <a:lnTo>
                  <a:pt x="0" y="0"/>
                </a:lnTo>
                <a:close/>
              </a:path>
            </a:pathLst>
          </a:custGeom>
          <a:solidFill>
            <a:srgbClr val="2336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1" name="luminal_commensals_component_path_1"/>
          <p:cNvSpPr/>
          <p:nvPr/>
        </p:nvSpPr>
        <p:spPr>
          <a:xfrm>
            <a:off x="617568" y="2340526"/>
            <a:ext cx="274387" cy="168929"/>
          </a:xfrm>
          <a:custGeom>
            <a:avLst/>
            <a:gdLst/>
            <a:ahLst/>
            <a:cxnLst/>
            <a:rect l="0" t="0" r="r" b="b"/>
            <a:pathLst>
              <a:path w="274387" h="168929">
                <a:moveTo>
                  <a:pt x="40755" y="70413"/>
                </a:moveTo>
                <a:lnTo>
                  <a:pt x="178299" y="12383"/>
                </a:lnTo>
                <a:cubicBezTo>
                  <a:pt x="207648" y="0"/>
                  <a:pt x="243827" y="9243"/>
                  <a:pt x="259107" y="33028"/>
                </a:cubicBezTo>
                <a:cubicBezTo>
                  <a:pt x="274387" y="56813"/>
                  <a:pt x="262981" y="86133"/>
                  <a:pt x="233631" y="98516"/>
                </a:cubicBezTo>
                <a:lnTo>
                  <a:pt x="96088" y="156546"/>
                </a:lnTo>
                <a:cubicBezTo>
                  <a:pt x="66738" y="168929"/>
                  <a:pt x="30559" y="159685"/>
                  <a:pt x="15280" y="135900"/>
                </a:cubicBezTo>
                <a:cubicBezTo>
                  <a:pt x="0" y="112116"/>
                  <a:pt x="11406" y="82796"/>
                  <a:pt x="40755" y="70413"/>
                </a:cubicBezTo>
                <a:close/>
              </a:path>
            </a:pathLst>
          </a:custGeom>
          <a:gradFill rotWithShape="1">
            <a:gsLst>
              <a:gs pos="0">
                <a:srgbClr val="D4E0C2"/>
              </a:gs>
              <a:gs pos="35000">
                <a:srgbClr val="B9CD9D"/>
              </a:gs>
              <a:gs pos="100000">
                <a:srgbClr val="91AC74"/>
              </a:gs>
            </a:gsLst>
            <a:lin ang="4200000" scaled="1"/>
          </a:gradFill>
          <a:ln w="10132" cap="rnd">
            <a:solidFill>
              <a:srgbClr val="68885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2" name="luminal_commensals_component_path_2"/>
          <p:cNvSpPr/>
          <p:nvPr/>
        </p:nvSpPr>
        <p:spPr>
          <a:xfrm>
            <a:off x="633667" y="2353573"/>
            <a:ext cx="242188" cy="142835"/>
          </a:xfrm>
          <a:custGeom>
            <a:avLst/>
            <a:gdLst/>
            <a:ahLst/>
            <a:cxnLst/>
            <a:rect l="0" t="0" r="r" b="b"/>
            <a:pathLst>
              <a:path w="242188" h="142835">
                <a:moveTo>
                  <a:pt x="31166" y="67500"/>
                </a:moveTo>
                <a:lnTo>
                  <a:pt x="168709" y="9469"/>
                </a:lnTo>
                <a:cubicBezTo>
                  <a:pt x="191153" y="0"/>
                  <a:pt x="218819" y="7068"/>
                  <a:pt x="230504" y="25257"/>
                </a:cubicBezTo>
                <a:cubicBezTo>
                  <a:pt x="242188" y="43445"/>
                  <a:pt x="233466" y="65866"/>
                  <a:pt x="211022" y="75335"/>
                </a:cubicBezTo>
                <a:lnTo>
                  <a:pt x="73479" y="133366"/>
                </a:lnTo>
                <a:cubicBezTo>
                  <a:pt x="51035" y="142835"/>
                  <a:pt x="23369" y="135767"/>
                  <a:pt x="11684" y="117578"/>
                </a:cubicBezTo>
                <a:cubicBezTo>
                  <a:pt x="0" y="99390"/>
                  <a:pt x="8722" y="76969"/>
                  <a:pt x="31166" y="67500"/>
                </a:cubicBezTo>
                <a:close/>
              </a:path>
            </a:pathLst>
          </a:custGeom>
          <a:noFill/>
          <a:ln w="5726" cap="rnd">
            <a:solidFill>
              <a:srgbClr val="91AC7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3" name="luminal_commensals_component_path_3"/>
          <p:cNvSpPr/>
          <p:nvPr/>
        </p:nvSpPr>
        <p:spPr>
          <a:xfrm>
            <a:off x="683741" y="2389390"/>
            <a:ext cx="85340" cy="36005"/>
          </a:xfrm>
          <a:custGeom>
            <a:avLst/>
            <a:gdLst/>
            <a:ahLst/>
            <a:cxnLst/>
            <a:rect l="0" t="0" r="r" b="b"/>
            <a:pathLst>
              <a:path w="85340" h="36005">
                <a:moveTo>
                  <a:pt x="0" y="36005"/>
                </a:moveTo>
                <a:lnTo>
                  <a:pt x="85340" y="0"/>
                </a:lnTo>
              </a:path>
            </a:pathLst>
          </a:custGeom>
          <a:noFill/>
          <a:ln w="11453" cap="rnd">
            <a:solidFill>
              <a:srgbClr val="E4ECD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4" name="luminal_commensals_component_oval_4"/>
          <p:cNvSpPr/>
          <p:nvPr/>
        </p:nvSpPr>
        <p:spPr>
          <a:xfrm>
            <a:off x="695609" y="2458778"/>
            <a:ext cx="14097" cy="11424"/>
          </a:xfrm>
          <a:prstGeom prst="ellipse">
            <a:avLst/>
          </a:prstGeom>
          <a:solidFill>
            <a:srgbClr val="91AC7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5" name="luminal_commensals_component_oval_5"/>
          <p:cNvSpPr/>
          <p:nvPr/>
        </p:nvSpPr>
        <p:spPr>
          <a:xfrm>
            <a:off x="783162" y="2426218"/>
            <a:ext cx="14097" cy="11424"/>
          </a:xfrm>
          <a:prstGeom prst="ellipse">
            <a:avLst/>
          </a:prstGeom>
          <a:solidFill>
            <a:srgbClr val="91AC7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6" name="luminal_commensals_component_oval_6"/>
          <p:cNvSpPr/>
          <p:nvPr/>
        </p:nvSpPr>
        <p:spPr>
          <a:xfrm>
            <a:off x="816987" y="2382388"/>
            <a:ext cx="14097" cy="11424"/>
          </a:xfrm>
          <a:prstGeom prst="ellipse">
            <a:avLst/>
          </a:prstGeom>
          <a:solidFill>
            <a:srgbClr val="91AC7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7" name="luminal_commensals_component_oval_7"/>
          <p:cNvSpPr/>
          <p:nvPr/>
        </p:nvSpPr>
        <p:spPr>
          <a:xfrm>
            <a:off x="705727" y="2411813"/>
            <a:ext cx="14097" cy="11424"/>
          </a:xfrm>
          <a:prstGeom prst="ellipse">
            <a:avLst/>
          </a:prstGeom>
          <a:solidFill>
            <a:srgbClr val="91AC7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8" name="luminal_commensals_component_oval_8"/>
          <p:cNvSpPr/>
          <p:nvPr/>
        </p:nvSpPr>
        <p:spPr>
          <a:xfrm>
            <a:off x="621810" y="2417361"/>
            <a:ext cx="15507" cy="11424"/>
          </a:xfrm>
          <a:prstGeom prst="ellipse">
            <a:avLst/>
          </a:prstGeom>
          <a:solidFill>
            <a:srgbClr val="ACC48A"/>
          </a:solidFill>
          <a:ln w="4405">
            <a:solidFill>
              <a:srgbClr val="6888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9" name="luminal_commensals_component_oval_9"/>
          <p:cNvSpPr/>
          <p:nvPr/>
        </p:nvSpPr>
        <p:spPr>
          <a:xfrm>
            <a:off x="719341" y="2376212"/>
            <a:ext cx="15507" cy="11424"/>
          </a:xfrm>
          <a:prstGeom prst="ellipse">
            <a:avLst/>
          </a:prstGeom>
          <a:solidFill>
            <a:srgbClr val="ACC48A"/>
          </a:solidFill>
          <a:ln w="4405">
            <a:solidFill>
              <a:srgbClr val="6888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0" name="luminal_commensals_component_oval_10"/>
          <p:cNvSpPr/>
          <p:nvPr/>
        </p:nvSpPr>
        <p:spPr>
          <a:xfrm>
            <a:off x="804681" y="2340207"/>
            <a:ext cx="15507" cy="11424"/>
          </a:xfrm>
          <a:prstGeom prst="ellipse">
            <a:avLst/>
          </a:prstGeom>
          <a:solidFill>
            <a:srgbClr val="ACC48A"/>
          </a:solidFill>
          <a:ln w="4405">
            <a:solidFill>
              <a:srgbClr val="6888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1" name="luminal_commensals_component_path_11"/>
          <p:cNvSpPr/>
          <p:nvPr/>
        </p:nvSpPr>
        <p:spPr>
          <a:xfrm>
            <a:off x="962944" y="2369087"/>
            <a:ext cx="274387" cy="168929"/>
          </a:xfrm>
          <a:custGeom>
            <a:avLst/>
            <a:gdLst/>
            <a:ahLst/>
            <a:cxnLst/>
            <a:rect l="0" t="0" r="r" b="b"/>
            <a:pathLst>
              <a:path w="274387" h="168929">
                <a:moveTo>
                  <a:pt x="40755" y="70413"/>
                </a:moveTo>
                <a:lnTo>
                  <a:pt x="178299" y="12383"/>
                </a:lnTo>
                <a:cubicBezTo>
                  <a:pt x="207648" y="0"/>
                  <a:pt x="243827" y="9243"/>
                  <a:pt x="259107" y="33028"/>
                </a:cubicBezTo>
                <a:cubicBezTo>
                  <a:pt x="274387" y="56813"/>
                  <a:pt x="262981" y="86133"/>
                  <a:pt x="233631" y="98516"/>
                </a:cubicBezTo>
                <a:lnTo>
                  <a:pt x="96088" y="156546"/>
                </a:lnTo>
                <a:cubicBezTo>
                  <a:pt x="66738" y="168929"/>
                  <a:pt x="30559" y="159685"/>
                  <a:pt x="15280" y="135900"/>
                </a:cubicBezTo>
                <a:cubicBezTo>
                  <a:pt x="0" y="112116"/>
                  <a:pt x="11406" y="82796"/>
                  <a:pt x="40755" y="70413"/>
                </a:cubicBezTo>
                <a:close/>
              </a:path>
            </a:pathLst>
          </a:custGeom>
          <a:gradFill rotWithShape="1">
            <a:gsLst>
              <a:gs pos="0">
                <a:srgbClr val="DACAEB"/>
              </a:gs>
              <a:gs pos="35000">
                <a:srgbClr val="C3AADE"/>
              </a:gs>
              <a:gs pos="100000">
                <a:srgbClr val="9C7DC0"/>
              </a:gs>
            </a:gsLst>
            <a:lin ang="4200000" scaled="1"/>
          </a:gradFill>
          <a:ln w="10132" cap="rnd">
            <a:solidFill>
              <a:srgbClr val="74519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2" name="luminal_commensals_component_path_12"/>
          <p:cNvSpPr/>
          <p:nvPr/>
        </p:nvSpPr>
        <p:spPr>
          <a:xfrm>
            <a:off x="979043" y="2382134"/>
            <a:ext cx="242188" cy="142835"/>
          </a:xfrm>
          <a:custGeom>
            <a:avLst/>
            <a:gdLst/>
            <a:ahLst/>
            <a:cxnLst/>
            <a:rect l="0" t="0" r="r" b="b"/>
            <a:pathLst>
              <a:path w="242188" h="142835">
                <a:moveTo>
                  <a:pt x="31166" y="67500"/>
                </a:moveTo>
                <a:lnTo>
                  <a:pt x="168709" y="9469"/>
                </a:lnTo>
                <a:cubicBezTo>
                  <a:pt x="191153" y="0"/>
                  <a:pt x="218819" y="7068"/>
                  <a:pt x="230504" y="25257"/>
                </a:cubicBezTo>
                <a:cubicBezTo>
                  <a:pt x="242188" y="43445"/>
                  <a:pt x="233466" y="65866"/>
                  <a:pt x="211022" y="75335"/>
                </a:cubicBezTo>
                <a:lnTo>
                  <a:pt x="73479" y="133366"/>
                </a:lnTo>
                <a:cubicBezTo>
                  <a:pt x="51035" y="142835"/>
                  <a:pt x="23369" y="135767"/>
                  <a:pt x="11684" y="117578"/>
                </a:cubicBezTo>
                <a:cubicBezTo>
                  <a:pt x="0" y="99390"/>
                  <a:pt x="8722" y="76969"/>
                  <a:pt x="31166" y="67500"/>
                </a:cubicBezTo>
                <a:close/>
              </a:path>
            </a:pathLst>
          </a:custGeom>
          <a:noFill/>
          <a:ln w="5726" cap="rnd">
            <a:solidFill>
              <a:srgbClr val="9C7DC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3" name="luminal_commensals_component_path_13"/>
          <p:cNvSpPr/>
          <p:nvPr/>
        </p:nvSpPr>
        <p:spPr>
          <a:xfrm>
            <a:off x="1029117" y="2417951"/>
            <a:ext cx="85340" cy="36005"/>
          </a:xfrm>
          <a:custGeom>
            <a:avLst/>
            <a:gdLst/>
            <a:ahLst/>
            <a:cxnLst/>
            <a:rect l="0" t="0" r="r" b="b"/>
            <a:pathLst>
              <a:path w="85340" h="36005">
                <a:moveTo>
                  <a:pt x="0" y="36005"/>
                </a:moveTo>
                <a:lnTo>
                  <a:pt x="85340" y="0"/>
                </a:lnTo>
              </a:path>
            </a:pathLst>
          </a:custGeom>
          <a:noFill/>
          <a:ln w="11453" cap="rnd">
            <a:solidFill>
              <a:srgbClr val="E7DEF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4" name="luminal_commensals_component_oval_14"/>
          <p:cNvSpPr/>
          <p:nvPr/>
        </p:nvSpPr>
        <p:spPr>
          <a:xfrm>
            <a:off x="1040985" y="2487339"/>
            <a:ext cx="14097" cy="11424"/>
          </a:xfrm>
          <a:prstGeom prst="ellipse">
            <a:avLst/>
          </a:prstGeom>
          <a:solidFill>
            <a:srgbClr val="9C7D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5" name="luminal_commensals_component_oval_15"/>
          <p:cNvSpPr/>
          <p:nvPr/>
        </p:nvSpPr>
        <p:spPr>
          <a:xfrm>
            <a:off x="1128538" y="2454779"/>
            <a:ext cx="14097" cy="11424"/>
          </a:xfrm>
          <a:prstGeom prst="ellipse">
            <a:avLst/>
          </a:prstGeom>
          <a:solidFill>
            <a:srgbClr val="9C7D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6" name="luminal_commensals_component_oval_16"/>
          <p:cNvSpPr/>
          <p:nvPr/>
        </p:nvSpPr>
        <p:spPr>
          <a:xfrm>
            <a:off x="1162364" y="2410948"/>
            <a:ext cx="14097" cy="11424"/>
          </a:xfrm>
          <a:prstGeom prst="ellipse">
            <a:avLst/>
          </a:prstGeom>
          <a:solidFill>
            <a:srgbClr val="9C7D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7" name="luminal_commensals_component_oval_17"/>
          <p:cNvSpPr/>
          <p:nvPr/>
        </p:nvSpPr>
        <p:spPr>
          <a:xfrm>
            <a:off x="1051103" y="2440373"/>
            <a:ext cx="14097" cy="11424"/>
          </a:xfrm>
          <a:prstGeom prst="ellipse">
            <a:avLst/>
          </a:prstGeom>
          <a:solidFill>
            <a:srgbClr val="9C7D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8" name="luminal_commensals_component_oval_18"/>
          <p:cNvSpPr/>
          <p:nvPr/>
        </p:nvSpPr>
        <p:spPr>
          <a:xfrm>
            <a:off x="967187" y="2445922"/>
            <a:ext cx="15507" cy="11424"/>
          </a:xfrm>
          <a:prstGeom prst="ellipse">
            <a:avLst/>
          </a:prstGeom>
          <a:solidFill>
            <a:srgbClr val="B79AD8"/>
          </a:solidFill>
          <a:ln w="4405">
            <a:solidFill>
              <a:srgbClr val="7451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9" name="luminal_commensals_component_oval_19"/>
          <p:cNvSpPr/>
          <p:nvPr/>
        </p:nvSpPr>
        <p:spPr>
          <a:xfrm>
            <a:off x="1064718" y="2404773"/>
            <a:ext cx="15507" cy="11424"/>
          </a:xfrm>
          <a:prstGeom prst="ellipse">
            <a:avLst/>
          </a:prstGeom>
          <a:solidFill>
            <a:srgbClr val="B79AD8"/>
          </a:solidFill>
          <a:ln w="4405">
            <a:solidFill>
              <a:srgbClr val="7451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0" name="luminal_commensals_component_oval_20"/>
          <p:cNvSpPr/>
          <p:nvPr/>
        </p:nvSpPr>
        <p:spPr>
          <a:xfrm>
            <a:off x="1150057" y="2368768"/>
            <a:ext cx="15507" cy="11424"/>
          </a:xfrm>
          <a:prstGeom prst="ellipse">
            <a:avLst/>
          </a:prstGeom>
          <a:solidFill>
            <a:srgbClr val="B79AD8"/>
          </a:solidFill>
          <a:ln w="4405">
            <a:solidFill>
              <a:srgbClr val="7451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1" name="luminal_commensals_component_path_21"/>
          <p:cNvSpPr/>
          <p:nvPr/>
        </p:nvSpPr>
        <p:spPr>
          <a:xfrm>
            <a:off x="620496" y="2643877"/>
            <a:ext cx="254433" cy="144865"/>
          </a:xfrm>
          <a:custGeom>
            <a:avLst/>
            <a:gdLst/>
            <a:ahLst/>
            <a:cxnLst/>
            <a:rect l="0" t="0" r="r" b="b"/>
            <a:pathLst>
              <a:path w="254433" h="144865">
                <a:moveTo>
                  <a:pt x="88170" y="9195"/>
                </a:moveTo>
                <a:lnTo>
                  <a:pt x="207351" y="44451"/>
                </a:lnTo>
                <a:cubicBezTo>
                  <a:pt x="238433" y="53646"/>
                  <a:pt x="254433" y="81520"/>
                  <a:pt x="243087" y="106709"/>
                </a:cubicBezTo>
                <a:cubicBezTo>
                  <a:pt x="231741" y="131899"/>
                  <a:pt x="197346" y="144865"/>
                  <a:pt x="166263" y="135670"/>
                </a:cubicBezTo>
                <a:lnTo>
                  <a:pt x="47082" y="100414"/>
                </a:lnTo>
                <a:cubicBezTo>
                  <a:pt x="16000" y="91219"/>
                  <a:pt x="0" y="63345"/>
                  <a:pt x="11346" y="38156"/>
                </a:cubicBezTo>
                <a:cubicBezTo>
                  <a:pt x="22692" y="12966"/>
                  <a:pt x="57087" y="0"/>
                  <a:pt x="88170" y="9195"/>
                </a:cubicBezTo>
                <a:close/>
              </a:path>
            </a:pathLst>
          </a:custGeom>
          <a:gradFill rotWithShape="1">
            <a:gsLst>
              <a:gs pos="0">
                <a:srgbClr val="B5DEF1"/>
              </a:gs>
              <a:gs pos="35000">
                <a:srgbClr val="88C9E9"/>
              </a:gs>
              <a:gs pos="100000">
                <a:srgbClr val="5CA7CE"/>
              </a:gs>
            </a:gsLst>
            <a:lin ang="4200000" scaled="1"/>
          </a:gradFill>
          <a:ln w="10132" cap="rnd">
            <a:solidFill>
              <a:srgbClr val="3C84A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2" name="luminal_commensals_component_path_22"/>
          <p:cNvSpPr/>
          <p:nvPr/>
        </p:nvSpPr>
        <p:spPr>
          <a:xfrm>
            <a:off x="636408" y="2656773"/>
            <a:ext cx="222609" cy="119075"/>
          </a:xfrm>
          <a:custGeom>
            <a:avLst/>
            <a:gdLst/>
            <a:ahLst/>
            <a:cxnLst/>
            <a:rect l="0" t="0" r="r" b="b"/>
            <a:pathLst>
              <a:path w="222609" h="119075">
                <a:moveTo>
                  <a:pt x="67424" y="7031"/>
                </a:moveTo>
                <a:lnTo>
                  <a:pt x="186605" y="42288"/>
                </a:lnTo>
                <a:cubicBezTo>
                  <a:pt x="210374" y="49319"/>
                  <a:pt x="222609" y="70634"/>
                  <a:pt x="213933" y="89897"/>
                </a:cubicBezTo>
                <a:cubicBezTo>
                  <a:pt x="205256" y="109159"/>
                  <a:pt x="178954" y="119075"/>
                  <a:pt x="155185" y="112043"/>
                </a:cubicBezTo>
                <a:lnTo>
                  <a:pt x="36004" y="76787"/>
                </a:lnTo>
                <a:cubicBezTo>
                  <a:pt x="12235" y="69756"/>
                  <a:pt x="0" y="48440"/>
                  <a:pt x="8676" y="29178"/>
                </a:cubicBezTo>
                <a:cubicBezTo>
                  <a:pt x="17353" y="9915"/>
                  <a:pt x="43655" y="0"/>
                  <a:pt x="67424" y="7031"/>
                </a:cubicBezTo>
                <a:close/>
              </a:path>
            </a:pathLst>
          </a:custGeom>
          <a:noFill/>
          <a:ln w="5726" cap="rnd">
            <a:solidFill>
              <a:srgbClr val="5CA7C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3" name="luminal_commensals_component_path_23"/>
          <p:cNvSpPr/>
          <p:nvPr/>
        </p:nvSpPr>
        <p:spPr>
          <a:xfrm>
            <a:off x="705506" y="2675913"/>
            <a:ext cx="81109" cy="23994"/>
          </a:xfrm>
          <a:custGeom>
            <a:avLst/>
            <a:gdLst/>
            <a:ahLst/>
            <a:cxnLst/>
            <a:rect l="0" t="0" r="r" b="b"/>
            <a:pathLst>
              <a:path w="81109" h="23994">
                <a:moveTo>
                  <a:pt x="0" y="0"/>
                </a:moveTo>
                <a:lnTo>
                  <a:pt x="81109" y="23994"/>
                </a:lnTo>
              </a:path>
            </a:pathLst>
          </a:custGeom>
          <a:noFill/>
          <a:ln w="11453" cap="rnd">
            <a:solidFill>
              <a:srgbClr val="D0EAF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4" name="luminal_commensals_component_oval_24"/>
          <p:cNvSpPr/>
          <p:nvPr/>
        </p:nvSpPr>
        <p:spPr>
          <a:xfrm>
            <a:off x="676155" y="2708054"/>
            <a:ext cx="14097" cy="11424"/>
          </a:xfrm>
          <a:prstGeom prst="ellipse">
            <a:avLst/>
          </a:prstGeom>
          <a:solidFill>
            <a:srgbClr val="5CA7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5" name="luminal_commensals_component_oval_25"/>
          <p:cNvSpPr/>
          <p:nvPr/>
        </p:nvSpPr>
        <p:spPr>
          <a:xfrm>
            <a:off x="755621" y="2735697"/>
            <a:ext cx="14097" cy="11424"/>
          </a:xfrm>
          <a:prstGeom prst="ellipse">
            <a:avLst/>
          </a:prstGeom>
          <a:solidFill>
            <a:srgbClr val="5CA7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6" name="luminal_commensals_component_oval_26"/>
          <p:cNvSpPr/>
          <p:nvPr/>
        </p:nvSpPr>
        <p:spPr>
          <a:xfrm>
            <a:off x="813062" y="2724779"/>
            <a:ext cx="14097" cy="11424"/>
          </a:xfrm>
          <a:prstGeom prst="ellipse">
            <a:avLst/>
          </a:prstGeom>
          <a:solidFill>
            <a:srgbClr val="5CA7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7" name="luminal_commensals_component_oval_27"/>
          <p:cNvSpPr/>
          <p:nvPr/>
        </p:nvSpPr>
        <p:spPr>
          <a:xfrm>
            <a:off x="722305" y="2681391"/>
            <a:ext cx="14097" cy="11424"/>
          </a:xfrm>
          <a:prstGeom prst="ellipse">
            <a:avLst/>
          </a:prstGeom>
          <a:solidFill>
            <a:srgbClr val="5CA7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8" name="luminal_commensals_component_oval_28"/>
          <p:cNvSpPr/>
          <p:nvPr/>
        </p:nvSpPr>
        <p:spPr>
          <a:xfrm>
            <a:off x="667807" y="2637567"/>
            <a:ext cx="15507" cy="11424"/>
          </a:xfrm>
          <a:prstGeom prst="ellipse">
            <a:avLst/>
          </a:prstGeom>
          <a:solidFill>
            <a:srgbClr val="71BFE5"/>
          </a:solidFill>
          <a:ln w="4405">
            <a:solidFill>
              <a:srgbClr val="3C84A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9" name="luminal_commensals_component_oval_29"/>
          <p:cNvSpPr/>
          <p:nvPr/>
        </p:nvSpPr>
        <p:spPr>
          <a:xfrm>
            <a:off x="760503" y="2664988"/>
            <a:ext cx="15507" cy="11424"/>
          </a:xfrm>
          <a:prstGeom prst="ellipse">
            <a:avLst/>
          </a:prstGeom>
          <a:solidFill>
            <a:srgbClr val="71BFE5"/>
          </a:solidFill>
          <a:ln w="4405">
            <a:solidFill>
              <a:srgbClr val="3C84A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0" name="luminal_commensals_component_oval_30"/>
          <p:cNvSpPr/>
          <p:nvPr/>
        </p:nvSpPr>
        <p:spPr>
          <a:xfrm>
            <a:off x="841612" y="2688982"/>
            <a:ext cx="15507" cy="11424"/>
          </a:xfrm>
          <a:prstGeom prst="ellipse">
            <a:avLst/>
          </a:prstGeom>
          <a:solidFill>
            <a:srgbClr val="71BFE5"/>
          </a:solidFill>
          <a:ln w="4405">
            <a:solidFill>
              <a:srgbClr val="3C84A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1" name="luminal_commensals_component_path_31"/>
          <p:cNvSpPr/>
          <p:nvPr/>
        </p:nvSpPr>
        <p:spPr>
          <a:xfrm>
            <a:off x="975448" y="2642833"/>
            <a:ext cx="249379" cy="158378"/>
          </a:xfrm>
          <a:custGeom>
            <a:avLst/>
            <a:gdLst/>
            <a:ahLst/>
            <a:cxnLst/>
            <a:rect l="0" t="0" r="r" b="b"/>
            <a:pathLst>
              <a:path w="249379" h="158378">
                <a:moveTo>
                  <a:pt x="40755" y="59862"/>
                </a:moveTo>
                <a:lnTo>
                  <a:pt x="153291" y="12383"/>
                </a:lnTo>
                <a:cubicBezTo>
                  <a:pt x="182640" y="0"/>
                  <a:pt x="218819" y="9243"/>
                  <a:pt x="234099" y="33028"/>
                </a:cubicBezTo>
                <a:cubicBezTo>
                  <a:pt x="249379" y="56813"/>
                  <a:pt x="237973" y="86133"/>
                  <a:pt x="208623" y="98516"/>
                </a:cubicBezTo>
                <a:lnTo>
                  <a:pt x="96088" y="145995"/>
                </a:lnTo>
                <a:cubicBezTo>
                  <a:pt x="66738" y="158378"/>
                  <a:pt x="30559" y="149134"/>
                  <a:pt x="15280" y="125349"/>
                </a:cubicBezTo>
                <a:cubicBezTo>
                  <a:pt x="0" y="101565"/>
                  <a:pt x="11406" y="72245"/>
                  <a:pt x="40755" y="59862"/>
                </a:cubicBezTo>
                <a:close/>
              </a:path>
            </a:pathLst>
          </a:custGeom>
          <a:gradFill rotWithShape="1">
            <a:gsLst>
              <a:gs pos="0">
                <a:srgbClr val="FAD7AF"/>
              </a:gs>
              <a:gs pos="35000">
                <a:srgbClr val="F7BE7E"/>
              </a:gs>
              <a:gs pos="100000">
                <a:srgbClr val="DE9A53"/>
              </a:gs>
            </a:gsLst>
            <a:lin ang="4200000" scaled="1"/>
          </a:gradFill>
          <a:ln w="10132" cap="rnd">
            <a:solidFill>
              <a:srgbClr val="BB753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2" name="luminal_commensals_component_path_32"/>
          <p:cNvSpPr/>
          <p:nvPr/>
        </p:nvSpPr>
        <p:spPr>
          <a:xfrm>
            <a:off x="991547" y="2655880"/>
            <a:ext cx="217180" cy="132284"/>
          </a:xfrm>
          <a:custGeom>
            <a:avLst/>
            <a:gdLst/>
            <a:ahLst/>
            <a:cxnLst/>
            <a:rect l="0" t="0" r="r" b="b"/>
            <a:pathLst>
              <a:path w="217180" h="132284">
                <a:moveTo>
                  <a:pt x="31166" y="56949"/>
                </a:moveTo>
                <a:lnTo>
                  <a:pt x="143702" y="9469"/>
                </a:lnTo>
                <a:cubicBezTo>
                  <a:pt x="166145" y="0"/>
                  <a:pt x="193811" y="7068"/>
                  <a:pt x="205496" y="25257"/>
                </a:cubicBezTo>
                <a:cubicBezTo>
                  <a:pt x="217180" y="43445"/>
                  <a:pt x="208458" y="65866"/>
                  <a:pt x="186015" y="75335"/>
                </a:cubicBezTo>
                <a:lnTo>
                  <a:pt x="73479" y="122815"/>
                </a:lnTo>
                <a:cubicBezTo>
                  <a:pt x="51035" y="132284"/>
                  <a:pt x="23369" y="125216"/>
                  <a:pt x="11684" y="107027"/>
                </a:cubicBezTo>
                <a:cubicBezTo>
                  <a:pt x="0" y="88839"/>
                  <a:pt x="8722" y="66418"/>
                  <a:pt x="31166" y="56949"/>
                </a:cubicBezTo>
                <a:close/>
              </a:path>
            </a:pathLst>
          </a:custGeom>
          <a:noFill/>
          <a:ln w="5726" cap="rnd">
            <a:solidFill>
              <a:srgbClr val="DE9A5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3" name="luminal_commensals_component_path_33"/>
          <p:cNvSpPr/>
          <p:nvPr/>
        </p:nvSpPr>
        <p:spPr>
          <a:xfrm>
            <a:off x="1034869" y="2687688"/>
            <a:ext cx="76587" cy="32312"/>
          </a:xfrm>
          <a:custGeom>
            <a:avLst/>
            <a:gdLst/>
            <a:ahLst/>
            <a:cxnLst/>
            <a:rect l="0" t="0" r="r" b="b"/>
            <a:pathLst>
              <a:path w="76587" h="32312">
                <a:moveTo>
                  <a:pt x="0" y="32312"/>
                </a:moveTo>
                <a:lnTo>
                  <a:pt x="76587" y="0"/>
                </a:lnTo>
              </a:path>
            </a:pathLst>
          </a:custGeom>
          <a:noFill/>
          <a:ln w="11453" cap="rnd">
            <a:solidFill>
              <a:srgbClr val="FCE6C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4" name="luminal_commensals_component_oval_34"/>
          <p:cNvSpPr/>
          <p:nvPr/>
        </p:nvSpPr>
        <p:spPr>
          <a:xfrm>
            <a:off x="1047237" y="2753172"/>
            <a:ext cx="14097" cy="11424"/>
          </a:xfrm>
          <a:prstGeom prst="ellipse">
            <a:avLst/>
          </a:prstGeom>
          <a:solidFill>
            <a:srgbClr val="DE9A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5" name="luminal_commensals_component_oval_35"/>
          <p:cNvSpPr/>
          <p:nvPr/>
        </p:nvSpPr>
        <p:spPr>
          <a:xfrm>
            <a:off x="1126037" y="2724304"/>
            <a:ext cx="14097" cy="11424"/>
          </a:xfrm>
          <a:prstGeom prst="ellipse">
            <a:avLst/>
          </a:prstGeom>
          <a:solidFill>
            <a:srgbClr val="DE9A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6" name="luminal_commensals_component_oval_36"/>
          <p:cNvSpPr/>
          <p:nvPr/>
        </p:nvSpPr>
        <p:spPr>
          <a:xfrm>
            <a:off x="1154862" y="2682584"/>
            <a:ext cx="14097" cy="11424"/>
          </a:xfrm>
          <a:prstGeom prst="ellipse">
            <a:avLst/>
          </a:prstGeom>
          <a:solidFill>
            <a:srgbClr val="DE9A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7" name="luminal_commensals_component_oval_37"/>
          <p:cNvSpPr/>
          <p:nvPr/>
        </p:nvSpPr>
        <p:spPr>
          <a:xfrm>
            <a:off x="1054104" y="2707578"/>
            <a:ext cx="14097" cy="11424"/>
          </a:xfrm>
          <a:prstGeom prst="ellipse">
            <a:avLst/>
          </a:prstGeom>
          <a:solidFill>
            <a:srgbClr val="DE9A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8" name="luminal_commensals_component_oval_38"/>
          <p:cNvSpPr/>
          <p:nvPr/>
        </p:nvSpPr>
        <p:spPr>
          <a:xfrm>
            <a:off x="977190" y="2710172"/>
            <a:ext cx="15507" cy="11424"/>
          </a:xfrm>
          <a:prstGeom prst="ellipse">
            <a:avLst/>
          </a:prstGeom>
          <a:solidFill>
            <a:srgbClr val="F5B266"/>
          </a:solidFill>
          <a:ln w="4405">
            <a:solidFill>
              <a:srgbClr val="BB753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9" name="luminal_commensals_component_oval_39"/>
          <p:cNvSpPr/>
          <p:nvPr/>
        </p:nvSpPr>
        <p:spPr>
          <a:xfrm>
            <a:off x="1064718" y="2673244"/>
            <a:ext cx="15507" cy="11424"/>
          </a:xfrm>
          <a:prstGeom prst="ellipse">
            <a:avLst/>
          </a:prstGeom>
          <a:solidFill>
            <a:srgbClr val="F5B266"/>
          </a:solidFill>
          <a:ln w="4405">
            <a:solidFill>
              <a:srgbClr val="BB753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0" name="luminal_commensals_component_oval_40"/>
          <p:cNvSpPr/>
          <p:nvPr/>
        </p:nvSpPr>
        <p:spPr>
          <a:xfrm>
            <a:off x="1141305" y="2640931"/>
            <a:ext cx="15507" cy="11424"/>
          </a:xfrm>
          <a:prstGeom prst="ellipse">
            <a:avLst/>
          </a:prstGeom>
          <a:solidFill>
            <a:srgbClr val="F5B266"/>
          </a:solidFill>
          <a:ln w="4405">
            <a:solidFill>
              <a:srgbClr val="BB753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1" name="scfa_lumen_component_path_1"/>
          <p:cNvSpPr/>
          <p:nvPr/>
        </p:nvSpPr>
        <p:spPr>
          <a:xfrm>
            <a:off x="2751611" y="2557462"/>
            <a:ext cx="273463" cy="95"/>
          </a:xfrm>
          <a:custGeom>
            <a:avLst/>
            <a:gdLst/>
            <a:ahLst/>
            <a:cxnLst/>
            <a:rect l="0" t="0" r="r" b="b"/>
            <a:pathLst>
              <a:path w="273463" h="95">
                <a:moveTo>
                  <a:pt x="0" y="0"/>
                </a:moveTo>
                <a:lnTo>
                  <a:pt x="273463" y="0"/>
                </a:lnTo>
              </a:path>
            </a:pathLst>
          </a:custGeom>
          <a:noFill/>
          <a:ln w="148125" cap="rnd">
            <a:solidFill>
              <a:srgbClr val="5F784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2" name="scfa_lumen_component_path_2"/>
          <p:cNvSpPr/>
          <p:nvPr/>
        </p:nvSpPr>
        <p:spPr>
          <a:xfrm>
            <a:off x="2751611" y="2551519"/>
            <a:ext cx="273463" cy="95"/>
          </a:xfrm>
          <a:custGeom>
            <a:avLst/>
            <a:gdLst/>
            <a:ahLst/>
            <a:cxnLst/>
            <a:rect l="0" t="0" r="r" b="b"/>
            <a:pathLst>
              <a:path w="273463" h="95">
                <a:moveTo>
                  <a:pt x="0" y="0"/>
                </a:moveTo>
                <a:lnTo>
                  <a:pt x="273463" y="0"/>
                </a:lnTo>
              </a:path>
            </a:pathLst>
          </a:custGeom>
          <a:noFill/>
          <a:ln w="79759" cap="rnd">
            <a:solidFill>
              <a:srgbClr val="BBD49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3" name="scfa_lumen_component_path_3"/>
          <p:cNvSpPr/>
          <p:nvPr/>
        </p:nvSpPr>
        <p:spPr>
          <a:xfrm>
            <a:off x="3025073" y="2557462"/>
            <a:ext cx="282578" cy="95"/>
          </a:xfrm>
          <a:custGeom>
            <a:avLst/>
            <a:gdLst/>
            <a:ahLst/>
            <a:cxnLst/>
            <a:rect l="0" t="0" r="r" b="b"/>
            <a:pathLst>
              <a:path w="282578" h="95">
                <a:moveTo>
                  <a:pt x="0" y="0"/>
                </a:moveTo>
                <a:lnTo>
                  <a:pt x="282578" y="0"/>
                </a:lnTo>
              </a:path>
            </a:pathLst>
          </a:custGeom>
          <a:noFill/>
          <a:ln w="148125" cap="rnd">
            <a:solidFill>
              <a:srgbClr val="5F784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4" name="scfa_lumen_component_path_4"/>
          <p:cNvSpPr/>
          <p:nvPr/>
        </p:nvSpPr>
        <p:spPr>
          <a:xfrm>
            <a:off x="3025073" y="2551519"/>
            <a:ext cx="282578" cy="95"/>
          </a:xfrm>
          <a:custGeom>
            <a:avLst/>
            <a:gdLst/>
            <a:ahLst/>
            <a:cxnLst/>
            <a:rect l="0" t="0" r="r" b="b"/>
            <a:pathLst>
              <a:path w="282578" h="95">
                <a:moveTo>
                  <a:pt x="0" y="0"/>
                </a:moveTo>
                <a:lnTo>
                  <a:pt x="282578" y="0"/>
                </a:lnTo>
              </a:path>
            </a:pathLst>
          </a:custGeom>
          <a:noFill/>
          <a:ln w="79759" cap="rnd">
            <a:solidFill>
              <a:srgbClr val="BBD49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5" name="scfa_lumen_component_oval_5"/>
          <p:cNvSpPr/>
          <p:nvPr/>
        </p:nvSpPr>
        <p:spPr>
          <a:xfrm>
            <a:off x="2618525" y="2438590"/>
            <a:ext cx="266170" cy="237744"/>
          </a:xfrm>
          <a:prstGeom prst="ellipse">
            <a:avLst/>
          </a:prstGeom>
          <a:gradFill rotWithShape="1">
            <a:gsLst>
              <a:gs pos="0">
                <a:srgbClr val="E1ECC8"/>
              </a:gs>
              <a:gs pos="33000">
                <a:srgbClr val="AEC88E"/>
              </a:gs>
              <a:gs pos="72000">
                <a:srgbClr val="8AAE6A"/>
              </a:gs>
              <a:gs pos="100000">
                <a:srgbClr val="66864F"/>
              </a:gs>
            </a:gsLst>
            <a:lin ang="3300000" scaled="1"/>
          </a:gradFill>
          <a:ln w="17091">
            <a:solidFill>
              <a:srgbClr val="53734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6" name="scfa_lumen_component_oval_6"/>
          <p:cNvSpPr/>
          <p:nvPr/>
        </p:nvSpPr>
        <p:spPr>
          <a:xfrm>
            <a:off x="2678687" y="2475738"/>
            <a:ext cx="54693" cy="59436"/>
          </a:xfrm>
          <a:prstGeom prst="ellipse">
            <a:avLst/>
          </a:prstGeom>
          <a:solidFill>
            <a:srgbClr val="EAF1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7" name="scfa_lumen_component_oval_7"/>
          <p:cNvSpPr/>
          <p:nvPr/>
        </p:nvSpPr>
        <p:spPr>
          <a:xfrm>
            <a:off x="2891988" y="2438590"/>
            <a:ext cx="266170" cy="237744"/>
          </a:xfrm>
          <a:prstGeom prst="ellipse">
            <a:avLst/>
          </a:prstGeom>
          <a:gradFill rotWithShape="1">
            <a:gsLst>
              <a:gs pos="0">
                <a:srgbClr val="E1ECC8"/>
              </a:gs>
              <a:gs pos="33000">
                <a:srgbClr val="AEC88E"/>
              </a:gs>
              <a:gs pos="72000">
                <a:srgbClr val="8AAE6A"/>
              </a:gs>
              <a:gs pos="100000">
                <a:srgbClr val="66864F"/>
              </a:gs>
            </a:gsLst>
            <a:lin ang="3300000" scaled="1"/>
          </a:gradFill>
          <a:ln w="17091">
            <a:solidFill>
              <a:srgbClr val="53734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8" name="scfa_lumen_component_oval_8"/>
          <p:cNvSpPr/>
          <p:nvPr/>
        </p:nvSpPr>
        <p:spPr>
          <a:xfrm>
            <a:off x="2952150" y="2475738"/>
            <a:ext cx="54693" cy="59436"/>
          </a:xfrm>
          <a:prstGeom prst="ellipse">
            <a:avLst/>
          </a:prstGeom>
          <a:solidFill>
            <a:srgbClr val="EAF1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9" name="scfa_lumen_component_oval_9"/>
          <p:cNvSpPr/>
          <p:nvPr/>
        </p:nvSpPr>
        <p:spPr>
          <a:xfrm>
            <a:off x="3174566" y="2438590"/>
            <a:ext cx="266170" cy="237744"/>
          </a:xfrm>
          <a:prstGeom prst="ellipse">
            <a:avLst/>
          </a:prstGeom>
          <a:gradFill rotWithShape="1">
            <a:gsLst>
              <a:gs pos="0">
                <a:srgbClr val="E1ECC8"/>
              </a:gs>
              <a:gs pos="33000">
                <a:srgbClr val="AEC88E"/>
              </a:gs>
              <a:gs pos="72000">
                <a:srgbClr val="8AAE6A"/>
              </a:gs>
              <a:gs pos="100000">
                <a:srgbClr val="66864F"/>
              </a:gs>
            </a:gsLst>
            <a:lin ang="3300000" scaled="1"/>
          </a:gradFill>
          <a:ln w="17091">
            <a:solidFill>
              <a:srgbClr val="53734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0" name="scfa_lumen_component_oval_10"/>
          <p:cNvSpPr/>
          <p:nvPr/>
        </p:nvSpPr>
        <p:spPr>
          <a:xfrm>
            <a:off x="3234728" y="2475738"/>
            <a:ext cx="54693" cy="59436"/>
          </a:xfrm>
          <a:prstGeom prst="ellipse">
            <a:avLst/>
          </a:prstGeom>
          <a:solidFill>
            <a:srgbClr val="EAF1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1" name="secondary_ba_lumen_component_path_1"/>
          <p:cNvSpPr/>
          <p:nvPr/>
        </p:nvSpPr>
        <p:spPr>
          <a:xfrm>
            <a:off x="4242279" y="2552063"/>
            <a:ext cx="185397" cy="222808"/>
          </a:xfrm>
          <a:custGeom>
            <a:avLst/>
            <a:gdLst/>
            <a:ahLst/>
            <a:cxnLst/>
            <a:rect l="0" t="0" r="r" b="b"/>
            <a:pathLst>
              <a:path w="185397" h="222808">
                <a:moveTo>
                  <a:pt x="0" y="56887"/>
                </a:moveTo>
                <a:lnTo>
                  <a:pt x="96132" y="0"/>
                </a:lnTo>
                <a:lnTo>
                  <a:pt x="185397" y="56887"/>
                </a:lnTo>
                <a:lnTo>
                  <a:pt x="185397" y="165921"/>
                </a:lnTo>
                <a:lnTo>
                  <a:pt x="96132" y="222808"/>
                </a:lnTo>
                <a:lnTo>
                  <a:pt x="0" y="165921"/>
                </a:lnTo>
                <a:close/>
              </a:path>
            </a:pathLst>
          </a:custGeom>
          <a:gradFill rotWithShape="1">
            <a:gsLst>
              <a:gs pos="0">
                <a:srgbClr val="FFF1CF"/>
              </a:gs>
              <a:gs pos="55000">
                <a:srgbClr val="F5D19A"/>
              </a:gs>
              <a:gs pos="100000">
                <a:srgbClr val="E9AE62"/>
              </a:gs>
            </a:gsLst>
            <a:lin ang="4500000" scaled="1"/>
          </a:gradFill>
          <a:ln w="15430" cap="rnd">
            <a:solidFill>
              <a:srgbClr val="BD792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2" name="secondary_ba_lumen_component_path_2"/>
          <p:cNvSpPr/>
          <p:nvPr/>
        </p:nvSpPr>
        <p:spPr>
          <a:xfrm>
            <a:off x="4252309" y="2563350"/>
            <a:ext cx="86102" cy="52937"/>
          </a:xfrm>
          <a:custGeom>
            <a:avLst/>
            <a:gdLst/>
            <a:ahLst/>
            <a:cxnLst/>
            <a:rect l="0" t="0" r="r" b="b"/>
            <a:pathLst>
              <a:path w="86102" h="52937">
                <a:moveTo>
                  <a:pt x="0" y="52937"/>
                </a:moveTo>
                <a:lnTo>
                  <a:pt x="86102" y="0"/>
                </a:lnTo>
              </a:path>
            </a:pathLst>
          </a:custGeom>
          <a:noFill/>
          <a:ln w="15430" cap="rnd">
            <a:solidFill>
              <a:srgbClr val="FFEBC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3" name="secondary_ba_lumen_component_path_3"/>
          <p:cNvSpPr/>
          <p:nvPr/>
        </p:nvSpPr>
        <p:spPr>
          <a:xfrm>
            <a:off x="4427676" y="2552063"/>
            <a:ext cx="178531" cy="222808"/>
          </a:xfrm>
          <a:custGeom>
            <a:avLst/>
            <a:gdLst/>
            <a:ahLst/>
            <a:cxnLst/>
            <a:rect l="0" t="0" r="r" b="b"/>
            <a:pathLst>
              <a:path w="178531" h="222808">
                <a:moveTo>
                  <a:pt x="0" y="56887"/>
                </a:moveTo>
                <a:lnTo>
                  <a:pt x="89265" y="0"/>
                </a:lnTo>
                <a:lnTo>
                  <a:pt x="178531" y="56887"/>
                </a:lnTo>
                <a:lnTo>
                  <a:pt x="178531" y="165921"/>
                </a:lnTo>
                <a:lnTo>
                  <a:pt x="89265" y="222808"/>
                </a:lnTo>
                <a:lnTo>
                  <a:pt x="0" y="165921"/>
                </a:lnTo>
                <a:close/>
              </a:path>
            </a:pathLst>
          </a:custGeom>
          <a:gradFill rotWithShape="1">
            <a:gsLst>
              <a:gs pos="0">
                <a:srgbClr val="FFF1CF"/>
              </a:gs>
              <a:gs pos="55000">
                <a:srgbClr val="F5D19A"/>
              </a:gs>
              <a:gs pos="100000">
                <a:srgbClr val="E9AE62"/>
              </a:gs>
            </a:gsLst>
            <a:lin ang="4500000" scaled="1"/>
          </a:gradFill>
          <a:ln w="15430" cap="rnd">
            <a:solidFill>
              <a:srgbClr val="BD792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4" name="secondary_ba_lumen_component_path_4"/>
          <p:cNvSpPr/>
          <p:nvPr/>
        </p:nvSpPr>
        <p:spPr>
          <a:xfrm>
            <a:off x="4437706" y="2563350"/>
            <a:ext cx="79236" cy="52937"/>
          </a:xfrm>
          <a:custGeom>
            <a:avLst/>
            <a:gdLst/>
            <a:ahLst/>
            <a:cxnLst/>
            <a:rect l="0" t="0" r="r" b="b"/>
            <a:pathLst>
              <a:path w="79236" h="52937">
                <a:moveTo>
                  <a:pt x="0" y="52937"/>
                </a:moveTo>
                <a:lnTo>
                  <a:pt x="79236" y="0"/>
                </a:lnTo>
              </a:path>
            </a:pathLst>
          </a:custGeom>
          <a:noFill/>
          <a:ln w="15430" cap="rnd">
            <a:solidFill>
              <a:srgbClr val="FFEBC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5" name="secondary_ba_lumen_component_path_5"/>
          <p:cNvSpPr/>
          <p:nvPr/>
        </p:nvSpPr>
        <p:spPr>
          <a:xfrm>
            <a:off x="4427676" y="2433548"/>
            <a:ext cx="192264" cy="232289"/>
          </a:xfrm>
          <a:custGeom>
            <a:avLst/>
            <a:gdLst/>
            <a:ahLst/>
            <a:cxnLst/>
            <a:rect l="0" t="0" r="r" b="b"/>
            <a:pathLst>
              <a:path w="192264" h="232289">
                <a:moveTo>
                  <a:pt x="0" y="61628"/>
                </a:moveTo>
                <a:lnTo>
                  <a:pt x="102999" y="0"/>
                </a:lnTo>
                <a:lnTo>
                  <a:pt x="192264" y="61628"/>
                </a:lnTo>
                <a:lnTo>
                  <a:pt x="192264" y="170661"/>
                </a:lnTo>
                <a:lnTo>
                  <a:pt x="102999" y="232289"/>
                </a:lnTo>
                <a:lnTo>
                  <a:pt x="0" y="175402"/>
                </a:lnTo>
                <a:close/>
              </a:path>
            </a:pathLst>
          </a:custGeom>
          <a:gradFill rotWithShape="1">
            <a:gsLst>
              <a:gs pos="0">
                <a:srgbClr val="FFF1CF"/>
              </a:gs>
              <a:gs pos="55000">
                <a:srgbClr val="F5D19A"/>
              </a:gs>
              <a:gs pos="100000">
                <a:srgbClr val="E9AE62"/>
              </a:gs>
            </a:gsLst>
            <a:lin ang="4500000" scaled="1"/>
          </a:gradFill>
          <a:ln w="15430" cap="rnd">
            <a:solidFill>
              <a:srgbClr val="BD792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6" name="secondary_ba_lumen_component_path_6"/>
          <p:cNvSpPr/>
          <p:nvPr/>
        </p:nvSpPr>
        <p:spPr>
          <a:xfrm>
            <a:off x="4437706" y="2444835"/>
            <a:ext cx="92969" cy="57677"/>
          </a:xfrm>
          <a:custGeom>
            <a:avLst/>
            <a:gdLst/>
            <a:ahLst/>
            <a:cxnLst/>
            <a:rect l="0" t="0" r="r" b="b"/>
            <a:pathLst>
              <a:path w="92969" h="57677">
                <a:moveTo>
                  <a:pt x="0" y="57677"/>
                </a:moveTo>
                <a:lnTo>
                  <a:pt x="92969" y="0"/>
                </a:lnTo>
              </a:path>
            </a:pathLst>
          </a:custGeom>
          <a:noFill/>
          <a:ln w="15430" cap="rnd">
            <a:solidFill>
              <a:srgbClr val="FFEBC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7" name="secondary_ba_lumen_component_path_7"/>
          <p:cNvSpPr/>
          <p:nvPr/>
        </p:nvSpPr>
        <p:spPr>
          <a:xfrm>
            <a:off x="4619940" y="2428807"/>
            <a:ext cx="178531" cy="237030"/>
          </a:xfrm>
          <a:custGeom>
            <a:avLst/>
            <a:gdLst/>
            <a:ahLst/>
            <a:cxnLst/>
            <a:rect l="0" t="0" r="r" b="b"/>
            <a:pathLst>
              <a:path w="178531" h="237030">
                <a:moveTo>
                  <a:pt x="0" y="61628"/>
                </a:moveTo>
                <a:lnTo>
                  <a:pt x="89265" y="0"/>
                </a:lnTo>
                <a:lnTo>
                  <a:pt x="178531" y="61628"/>
                </a:lnTo>
                <a:lnTo>
                  <a:pt x="178531" y="175402"/>
                </a:lnTo>
                <a:lnTo>
                  <a:pt x="89265" y="237030"/>
                </a:lnTo>
                <a:lnTo>
                  <a:pt x="0" y="175402"/>
                </a:lnTo>
                <a:close/>
              </a:path>
            </a:pathLst>
          </a:custGeom>
          <a:gradFill rotWithShape="1">
            <a:gsLst>
              <a:gs pos="0">
                <a:srgbClr val="FFF1CF"/>
              </a:gs>
              <a:gs pos="55000">
                <a:srgbClr val="F5D19A"/>
              </a:gs>
              <a:gs pos="100000">
                <a:srgbClr val="E9AE62"/>
              </a:gs>
            </a:gsLst>
            <a:lin ang="4500000" scaled="1"/>
          </a:gradFill>
          <a:ln w="15430" cap="rnd">
            <a:solidFill>
              <a:srgbClr val="BD792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8" name="secondary_ba_lumen_component_path_8"/>
          <p:cNvSpPr/>
          <p:nvPr/>
        </p:nvSpPr>
        <p:spPr>
          <a:xfrm>
            <a:off x="4629970" y="2440094"/>
            <a:ext cx="79236" cy="57677"/>
          </a:xfrm>
          <a:custGeom>
            <a:avLst/>
            <a:gdLst/>
            <a:ahLst/>
            <a:cxnLst/>
            <a:rect l="0" t="0" r="r" b="b"/>
            <a:pathLst>
              <a:path w="79236" h="57677">
                <a:moveTo>
                  <a:pt x="0" y="57677"/>
                </a:moveTo>
                <a:lnTo>
                  <a:pt x="79236" y="0"/>
                </a:lnTo>
              </a:path>
            </a:pathLst>
          </a:custGeom>
          <a:noFill/>
          <a:ln w="15430" cap="rnd">
            <a:solidFill>
              <a:srgbClr val="FFEBC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9" name="secondary_ba_lumen_component_path_9"/>
          <p:cNvSpPr/>
          <p:nvPr/>
        </p:nvSpPr>
        <p:spPr>
          <a:xfrm>
            <a:off x="4798471" y="2433548"/>
            <a:ext cx="144198" cy="170661"/>
          </a:xfrm>
          <a:custGeom>
            <a:avLst/>
            <a:gdLst/>
            <a:ahLst/>
            <a:cxnLst/>
            <a:rect l="0" t="0" r="r" b="b"/>
            <a:pathLst>
              <a:path w="144198" h="170661">
                <a:moveTo>
                  <a:pt x="0" y="52147"/>
                </a:moveTo>
                <a:lnTo>
                  <a:pt x="75532" y="0"/>
                </a:lnTo>
                <a:lnTo>
                  <a:pt x="144198" y="52147"/>
                </a:lnTo>
                <a:lnTo>
                  <a:pt x="144198" y="156440"/>
                </a:lnTo>
                <a:lnTo>
                  <a:pt x="0" y="170661"/>
                </a:lnTo>
                <a:close/>
              </a:path>
            </a:pathLst>
          </a:custGeom>
          <a:gradFill rotWithShape="1">
            <a:gsLst>
              <a:gs pos="0">
                <a:srgbClr val="FFF1CF"/>
              </a:gs>
              <a:gs pos="55000">
                <a:srgbClr val="F5D19A"/>
              </a:gs>
              <a:gs pos="100000">
                <a:srgbClr val="E9AE62"/>
              </a:gs>
            </a:gsLst>
            <a:lin ang="4500000" scaled="1"/>
          </a:gradFill>
          <a:ln w="15430" cap="rnd">
            <a:solidFill>
              <a:srgbClr val="BD792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0" name="secondary_ba_lumen_component_path_10"/>
          <p:cNvSpPr/>
          <p:nvPr/>
        </p:nvSpPr>
        <p:spPr>
          <a:xfrm>
            <a:off x="4808501" y="2444835"/>
            <a:ext cx="65502" cy="48196"/>
          </a:xfrm>
          <a:custGeom>
            <a:avLst/>
            <a:gdLst/>
            <a:ahLst/>
            <a:cxnLst/>
            <a:rect l="0" t="0" r="r" b="b"/>
            <a:pathLst>
              <a:path w="65502" h="48196">
                <a:moveTo>
                  <a:pt x="0" y="48196"/>
                </a:moveTo>
                <a:lnTo>
                  <a:pt x="65502" y="0"/>
                </a:lnTo>
              </a:path>
            </a:pathLst>
          </a:custGeom>
          <a:noFill/>
          <a:ln w="15430" cap="rnd">
            <a:solidFill>
              <a:srgbClr val="FFEBC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1" name="secondary_ba_lumen_component_path_11"/>
          <p:cNvSpPr/>
          <p:nvPr/>
        </p:nvSpPr>
        <p:spPr>
          <a:xfrm>
            <a:off x="4874003" y="2352958"/>
            <a:ext cx="95" cy="80590"/>
          </a:xfrm>
          <a:custGeom>
            <a:avLst/>
            <a:gdLst/>
            <a:ahLst/>
            <a:cxnLst/>
            <a:rect l="0" t="0" r="r" b="b"/>
            <a:pathLst>
              <a:path w="95" h="80590">
                <a:moveTo>
                  <a:pt x="0" y="80590"/>
                </a:moveTo>
                <a:lnTo>
                  <a:pt x="0" y="0"/>
                </a:lnTo>
              </a:path>
            </a:pathLst>
          </a:custGeom>
          <a:noFill/>
          <a:ln w="17359" cap="rnd">
            <a:solidFill>
              <a:srgbClr val="B87A3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2" name="secondary_ba_lumen_component_path_12"/>
          <p:cNvSpPr/>
          <p:nvPr/>
        </p:nvSpPr>
        <p:spPr>
          <a:xfrm>
            <a:off x="4496342" y="2580506"/>
            <a:ext cx="34333" cy="18962"/>
          </a:xfrm>
          <a:custGeom>
            <a:avLst/>
            <a:gdLst/>
            <a:ahLst/>
            <a:cxnLst/>
            <a:rect l="0" t="0" r="r" b="b"/>
            <a:pathLst>
              <a:path w="34333" h="18962">
                <a:moveTo>
                  <a:pt x="0" y="18962"/>
                </a:moveTo>
                <a:lnTo>
                  <a:pt x="34333" y="0"/>
                </a:lnTo>
              </a:path>
            </a:pathLst>
          </a:custGeom>
          <a:noFill/>
          <a:ln w="23145" cap="rnd">
            <a:solidFill>
              <a:srgbClr val="CE8C3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3" name="indole_lumen_component_path_1"/>
          <p:cNvSpPr/>
          <p:nvPr/>
        </p:nvSpPr>
        <p:spPr>
          <a:xfrm>
            <a:off x="5798950" y="2283139"/>
            <a:ext cx="361197" cy="438542"/>
          </a:xfrm>
          <a:custGeom>
            <a:avLst/>
            <a:gdLst/>
            <a:ahLst/>
            <a:cxnLst/>
            <a:rect l="0" t="0" r="r" b="b"/>
            <a:pathLst>
              <a:path w="361197" h="438542">
                <a:moveTo>
                  <a:pt x="0" y="111023"/>
                </a:moveTo>
                <a:lnTo>
                  <a:pt x="187287" y="0"/>
                </a:lnTo>
                <a:lnTo>
                  <a:pt x="361197" y="111023"/>
                </a:lnTo>
                <a:lnTo>
                  <a:pt x="361197" y="327519"/>
                </a:lnTo>
                <a:lnTo>
                  <a:pt x="187287" y="438542"/>
                </a:lnTo>
                <a:lnTo>
                  <a:pt x="0" y="327519"/>
                </a:lnTo>
                <a:close/>
              </a:path>
            </a:pathLst>
          </a:custGeom>
          <a:gradFill rotWithShape="1">
            <a:gsLst>
              <a:gs pos="0">
                <a:srgbClr val="E8DCF0"/>
              </a:gs>
              <a:gs pos="100000">
                <a:srgbClr val="BCA2D8"/>
              </a:gs>
            </a:gsLst>
            <a:lin ang="3900000" scaled="1"/>
          </a:gradFill>
          <a:ln w="18052" cap="rnd">
            <a:solidFill>
              <a:srgbClr val="60419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4" name="indole_lumen_component_path_2"/>
          <p:cNvSpPr/>
          <p:nvPr/>
        </p:nvSpPr>
        <p:spPr>
          <a:xfrm>
            <a:off x="6160147" y="2333099"/>
            <a:ext cx="300998" cy="349724"/>
          </a:xfrm>
          <a:custGeom>
            <a:avLst/>
            <a:gdLst/>
            <a:ahLst/>
            <a:cxnLst/>
            <a:rect l="0" t="0" r="r" b="b"/>
            <a:pathLst>
              <a:path w="300998" h="349724">
                <a:moveTo>
                  <a:pt x="0" y="61063"/>
                </a:moveTo>
                <a:lnTo>
                  <a:pt x="180599" y="0"/>
                </a:lnTo>
                <a:lnTo>
                  <a:pt x="300998" y="183189"/>
                </a:lnTo>
                <a:lnTo>
                  <a:pt x="173910" y="349724"/>
                </a:lnTo>
                <a:lnTo>
                  <a:pt x="0" y="277558"/>
                </a:lnTo>
                <a:close/>
              </a:path>
            </a:pathLst>
          </a:custGeom>
          <a:gradFill rotWithShape="1">
            <a:gsLst>
              <a:gs pos="0">
                <a:srgbClr val="E8DCF0"/>
              </a:gs>
              <a:gs pos="100000">
                <a:srgbClr val="BCA2D8"/>
              </a:gs>
            </a:gsLst>
            <a:lin ang="3900000" scaled="1"/>
          </a:gradFill>
          <a:ln w="18052" cap="rnd">
            <a:solidFill>
              <a:srgbClr val="60419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5" name="indole_lumen_component_path_3"/>
          <p:cNvSpPr/>
          <p:nvPr/>
        </p:nvSpPr>
        <p:spPr>
          <a:xfrm>
            <a:off x="5839083" y="2338650"/>
            <a:ext cx="127088" cy="77716"/>
          </a:xfrm>
          <a:custGeom>
            <a:avLst/>
            <a:gdLst/>
            <a:ahLst/>
            <a:cxnLst/>
            <a:rect l="0" t="0" r="r" b="b"/>
            <a:pathLst>
              <a:path w="127088" h="77716">
                <a:moveTo>
                  <a:pt x="0" y="77716"/>
                </a:moveTo>
                <a:lnTo>
                  <a:pt x="127088" y="0"/>
                </a:lnTo>
              </a:path>
            </a:pathLst>
          </a:custGeom>
          <a:noFill/>
          <a:ln w="16152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6" name="indole_lumen_component_path_4"/>
          <p:cNvSpPr/>
          <p:nvPr/>
        </p:nvSpPr>
        <p:spPr>
          <a:xfrm>
            <a:off x="6026371" y="2338650"/>
            <a:ext cx="93644" cy="66614"/>
          </a:xfrm>
          <a:custGeom>
            <a:avLst/>
            <a:gdLst/>
            <a:ahLst/>
            <a:cxnLst/>
            <a:rect l="0" t="0" r="r" b="b"/>
            <a:pathLst>
              <a:path w="93644" h="66614">
                <a:moveTo>
                  <a:pt x="0" y="0"/>
                </a:moveTo>
                <a:lnTo>
                  <a:pt x="93644" y="66614"/>
                </a:lnTo>
              </a:path>
            </a:pathLst>
          </a:custGeom>
          <a:noFill/>
          <a:ln w="16152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7" name="indole_lumen_component_path_5"/>
          <p:cNvSpPr/>
          <p:nvPr/>
        </p:nvSpPr>
        <p:spPr>
          <a:xfrm>
            <a:off x="5839083" y="2460776"/>
            <a:ext cx="95" cy="127677"/>
          </a:xfrm>
          <a:custGeom>
            <a:avLst/>
            <a:gdLst/>
            <a:ahLst/>
            <a:cxnLst/>
            <a:rect l="0" t="0" r="r" b="b"/>
            <a:pathLst>
              <a:path w="95" h="127677">
                <a:moveTo>
                  <a:pt x="0" y="0"/>
                </a:moveTo>
                <a:lnTo>
                  <a:pt x="0" y="127677"/>
                </a:lnTo>
              </a:path>
            </a:pathLst>
          </a:custGeom>
          <a:noFill/>
          <a:ln w="16152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8" name="indole_lumen_component_path_6"/>
          <p:cNvSpPr/>
          <p:nvPr/>
        </p:nvSpPr>
        <p:spPr>
          <a:xfrm>
            <a:off x="6026371" y="2616209"/>
            <a:ext cx="93644" cy="55512"/>
          </a:xfrm>
          <a:custGeom>
            <a:avLst/>
            <a:gdLst/>
            <a:ahLst/>
            <a:cxnLst/>
            <a:rect l="0" t="0" r="r" b="b"/>
            <a:pathLst>
              <a:path w="93644" h="55512">
                <a:moveTo>
                  <a:pt x="0" y="55512"/>
                </a:moveTo>
                <a:lnTo>
                  <a:pt x="93644" y="0"/>
                </a:lnTo>
              </a:path>
            </a:pathLst>
          </a:custGeom>
          <a:noFill/>
          <a:ln w="16152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9" name="indole_lumen_component_path_7"/>
          <p:cNvSpPr/>
          <p:nvPr/>
        </p:nvSpPr>
        <p:spPr>
          <a:xfrm>
            <a:off x="6334057" y="2399713"/>
            <a:ext cx="73577" cy="111023"/>
          </a:xfrm>
          <a:custGeom>
            <a:avLst/>
            <a:gdLst/>
            <a:ahLst/>
            <a:cxnLst/>
            <a:rect l="0" t="0" r="r" b="b"/>
            <a:pathLst>
              <a:path w="73577" h="111023">
                <a:moveTo>
                  <a:pt x="0" y="0"/>
                </a:moveTo>
                <a:lnTo>
                  <a:pt x="73577" y="111023"/>
                </a:lnTo>
              </a:path>
            </a:pathLst>
          </a:custGeom>
          <a:noFill/>
          <a:ln w="16152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0" name="indole_lumen_component_path_8"/>
          <p:cNvSpPr/>
          <p:nvPr/>
        </p:nvSpPr>
        <p:spPr>
          <a:xfrm>
            <a:off x="6347435" y="2566248"/>
            <a:ext cx="53511" cy="77716"/>
          </a:xfrm>
          <a:custGeom>
            <a:avLst/>
            <a:gdLst/>
            <a:ahLst/>
            <a:cxnLst/>
            <a:rect l="0" t="0" r="r" b="b"/>
            <a:pathLst>
              <a:path w="53511" h="77716">
                <a:moveTo>
                  <a:pt x="53511" y="0"/>
                </a:moveTo>
                <a:lnTo>
                  <a:pt x="0" y="77716"/>
                </a:lnTo>
              </a:path>
            </a:pathLst>
          </a:custGeom>
          <a:noFill/>
          <a:ln w="16152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1" name="indole_lumen_component_atom_9"/>
          <p:cNvSpPr txBox="1"/>
          <p:nvPr/>
        </p:nvSpPr>
        <p:spPr>
          <a:xfrm>
            <a:off x="6314599" y="2675382"/>
            <a:ext cx="136817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488" b="0" i="0">
                <a:solidFill>
                  <a:srgbClr val="57388E"/>
                </a:solidFill>
                <a:latin typeface="Arial"/>
              </a:rPr>
              <a:t>N</a:t>
            </a:r>
          </a:p>
        </p:txBody>
      </p:sp>
      <p:sp>
        <p:nvSpPr>
          <p:cNvPr id="402" name="tma_lumen_component_path_1"/>
          <p:cNvSpPr/>
          <p:nvPr/>
        </p:nvSpPr>
        <p:spPr>
          <a:xfrm>
            <a:off x="7848600" y="2376868"/>
            <a:ext cx="95" cy="227171"/>
          </a:xfrm>
          <a:custGeom>
            <a:avLst/>
            <a:gdLst/>
            <a:ahLst/>
            <a:cxnLst/>
            <a:rect l="0" t="0" r="r" b="b"/>
            <a:pathLst>
              <a:path w="95" h="227171">
                <a:moveTo>
                  <a:pt x="0" y="227171"/>
                </a:moveTo>
                <a:lnTo>
                  <a:pt x="0" y="0"/>
                </a:lnTo>
              </a:path>
            </a:pathLst>
          </a:custGeom>
          <a:noFill/>
          <a:ln w="85725" cap="rnd">
            <a:solidFill>
              <a:srgbClr val="A8671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3" name="tma_lumen_component_path_2"/>
          <p:cNvSpPr/>
          <p:nvPr/>
        </p:nvSpPr>
        <p:spPr>
          <a:xfrm>
            <a:off x="7848600" y="2376868"/>
            <a:ext cx="95" cy="227171"/>
          </a:xfrm>
          <a:custGeom>
            <a:avLst/>
            <a:gdLst/>
            <a:ahLst/>
            <a:cxnLst/>
            <a:rect l="0" t="0" r="r" b="b"/>
            <a:pathLst>
              <a:path w="95" h="227171">
                <a:moveTo>
                  <a:pt x="0" y="227171"/>
                </a:moveTo>
                <a:lnTo>
                  <a:pt x="0" y="0"/>
                </a:lnTo>
              </a:path>
            </a:pathLst>
          </a:custGeom>
          <a:noFill/>
          <a:ln w="65722" cap="rnd">
            <a:solidFill>
              <a:srgbClr val="EE8D0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4" name="tma_lumen_component_path_3"/>
          <p:cNvSpPr/>
          <p:nvPr/>
        </p:nvSpPr>
        <p:spPr>
          <a:xfrm>
            <a:off x="7839456" y="2376868"/>
            <a:ext cx="4572" cy="217075"/>
          </a:xfrm>
          <a:custGeom>
            <a:avLst/>
            <a:gdLst/>
            <a:ahLst/>
            <a:cxnLst/>
            <a:rect l="0" t="0" r="r" b="b"/>
            <a:pathLst>
              <a:path w="4572" h="217075">
                <a:moveTo>
                  <a:pt x="0" y="217075"/>
                </a:moveTo>
                <a:lnTo>
                  <a:pt x="4572" y="0"/>
                </a:lnTo>
              </a:path>
            </a:pathLst>
          </a:custGeom>
          <a:noFill/>
          <a:ln w="14287" cap="rnd">
            <a:solidFill>
              <a:srgbClr val="FFE3A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5" name="tma_lumen_component_path_4"/>
          <p:cNvSpPr/>
          <p:nvPr/>
        </p:nvSpPr>
        <p:spPr>
          <a:xfrm>
            <a:off x="7702296" y="2604040"/>
            <a:ext cx="146304" cy="106013"/>
          </a:xfrm>
          <a:custGeom>
            <a:avLst/>
            <a:gdLst/>
            <a:ahLst/>
            <a:cxnLst/>
            <a:rect l="0" t="0" r="r" b="b"/>
            <a:pathLst>
              <a:path w="146304" h="106013">
                <a:moveTo>
                  <a:pt x="146304" y="0"/>
                </a:moveTo>
                <a:lnTo>
                  <a:pt x="0" y="106013"/>
                </a:lnTo>
              </a:path>
            </a:pathLst>
          </a:custGeom>
          <a:noFill/>
          <a:ln w="85725" cap="rnd">
            <a:solidFill>
              <a:srgbClr val="A8671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6" name="tma_lumen_component_path_5"/>
          <p:cNvSpPr/>
          <p:nvPr/>
        </p:nvSpPr>
        <p:spPr>
          <a:xfrm>
            <a:off x="7702296" y="2604040"/>
            <a:ext cx="146304" cy="106013"/>
          </a:xfrm>
          <a:custGeom>
            <a:avLst/>
            <a:gdLst/>
            <a:ahLst/>
            <a:cxnLst/>
            <a:rect l="0" t="0" r="r" b="b"/>
            <a:pathLst>
              <a:path w="146304" h="106013">
                <a:moveTo>
                  <a:pt x="146304" y="0"/>
                </a:moveTo>
                <a:lnTo>
                  <a:pt x="0" y="106013"/>
                </a:lnTo>
              </a:path>
            </a:pathLst>
          </a:custGeom>
          <a:noFill/>
          <a:ln w="65722" cap="rnd">
            <a:solidFill>
              <a:srgbClr val="EE8D0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7" name="tma_lumen_component_path_6"/>
          <p:cNvSpPr/>
          <p:nvPr/>
        </p:nvSpPr>
        <p:spPr>
          <a:xfrm>
            <a:off x="7697724" y="2593943"/>
            <a:ext cx="141732" cy="116110"/>
          </a:xfrm>
          <a:custGeom>
            <a:avLst/>
            <a:gdLst/>
            <a:ahLst/>
            <a:cxnLst/>
            <a:rect l="0" t="0" r="r" b="b"/>
            <a:pathLst>
              <a:path w="141732" h="116110">
                <a:moveTo>
                  <a:pt x="141732" y="0"/>
                </a:moveTo>
                <a:lnTo>
                  <a:pt x="0" y="116110"/>
                </a:lnTo>
              </a:path>
            </a:pathLst>
          </a:custGeom>
          <a:noFill/>
          <a:ln w="14287" cap="rnd">
            <a:solidFill>
              <a:srgbClr val="FFE3A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8" name="tma_lumen_component_path_7"/>
          <p:cNvSpPr/>
          <p:nvPr/>
        </p:nvSpPr>
        <p:spPr>
          <a:xfrm>
            <a:off x="7848600" y="2604040"/>
            <a:ext cx="146304" cy="106013"/>
          </a:xfrm>
          <a:custGeom>
            <a:avLst/>
            <a:gdLst/>
            <a:ahLst/>
            <a:cxnLst/>
            <a:rect l="0" t="0" r="r" b="b"/>
            <a:pathLst>
              <a:path w="146304" h="106013">
                <a:moveTo>
                  <a:pt x="0" y="0"/>
                </a:moveTo>
                <a:lnTo>
                  <a:pt x="146304" y="106013"/>
                </a:lnTo>
              </a:path>
            </a:pathLst>
          </a:custGeom>
          <a:noFill/>
          <a:ln w="85725" cap="rnd">
            <a:solidFill>
              <a:srgbClr val="A8671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9" name="tma_lumen_component_path_8"/>
          <p:cNvSpPr/>
          <p:nvPr/>
        </p:nvSpPr>
        <p:spPr>
          <a:xfrm>
            <a:off x="7848600" y="2604040"/>
            <a:ext cx="146304" cy="106013"/>
          </a:xfrm>
          <a:custGeom>
            <a:avLst/>
            <a:gdLst/>
            <a:ahLst/>
            <a:cxnLst/>
            <a:rect l="0" t="0" r="r" b="b"/>
            <a:pathLst>
              <a:path w="146304" h="106013">
                <a:moveTo>
                  <a:pt x="0" y="0"/>
                </a:moveTo>
                <a:lnTo>
                  <a:pt x="146304" y="106013"/>
                </a:lnTo>
              </a:path>
            </a:pathLst>
          </a:custGeom>
          <a:noFill/>
          <a:ln w="65722" cap="rnd">
            <a:solidFill>
              <a:srgbClr val="EE8D0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0" name="tma_lumen_component_path_9"/>
          <p:cNvSpPr/>
          <p:nvPr/>
        </p:nvSpPr>
        <p:spPr>
          <a:xfrm>
            <a:off x="7839456" y="2593943"/>
            <a:ext cx="150876" cy="116110"/>
          </a:xfrm>
          <a:custGeom>
            <a:avLst/>
            <a:gdLst/>
            <a:ahLst/>
            <a:cxnLst/>
            <a:rect l="0" t="0" r="r" b="b"/>
            <a:pathLst>
              <a:path w="150876" h="116110">
                <a:moveTo>
                  <a:pt x="0" y="0"/>
                </a:moveTo>
                <a:lnTo>
                  <a:pt x="150876" y="116110"/>
                </a:lnTo>
              </a:path>
            </a:pathLst>
          </a:custGeom>
          <a:noFill/>
          <a:ln w="14287" cap="rnd">
            <a:solidFill>
              <a:srgbClr val="FFE3A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1" name="tma_lumen_component_oval_10"/>
          <p:cNvSpPr/>
          <p:nvPr/>
        </p:nvSpPr>
        <p:spPr>
          <a:xfrm>
            <a:off x="7780020" y="2528316"/>
            <a:ext cx="137160" cy="151448"/>
          </a:xfrm>
          <a:prstGeom prst="ellipse">
            <a:avLst/>
          </a:prstGeom>
          <a:gradFill rotWithShape="1">
            <a:gsLst>
              <a:gs pos="0">
                <a:srgbClr val="FBE2C1"/>
              </a:gs>
              <a:gs pos="30000">
                <a:srgbClr val="F2AA44"/>
              </a:gs>
              <a:gs pos="67000">
                <a:srgbClr val="EE8D06"/>
              </a:gs>
              <a:gs pos="100000">
                <a:srgbClr val="C37511"/>
              </a:gs>
            </a:gsLst>
            <a:lin ang="3300000" scaled="1"/>
          </a:gradFill>
          <a:ln w="7429">
            <a:solidFill>
              <a:srgbClr val="A867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2" name="tma_lumen_component_oval_11"/>
          <p:cNvSpPr/>
          <p:nvPr/>
        </p:nvSpPr>
        <p:spPr>
          <a:xfrm>
            <a:off x="7812938" y="2556334"/>
            <a:ext cx="35662" cy="28018"/>
          </a:xfrm>
          <a:prstGeom prst="ellipse">
            <a:avLst/>
          </a:prstGeom>
          <a:solidFill>
            <a:srgbClr val="FBE1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3" name="tma_lumen_component_oval_12"/>
          <p:cNvSpPr/>
          <p:nvPr/>
        </p:nvSpPr>
        <p:spPr>
          <a:xfrm>
            <a:off x="7791450" y="2313765"/>
            <a:ext cx="114300" cy="126206"/>
          </a:xfrm>
          <a:prstGeom prst="ellipse">
            <a:avLst/>
          </a:prstGeom>
          <a:gradFill rotWithShape="1">
            <a:gsLst>
              <a:gs pos="0">
                <a:srgbClr val="FBE2C1"/>
              </a:gs>
              <a:gs pos="30000">
                <a:srgbClr val="F2AA44"/>
              </a:gs>
              <a:gs pos="67000">
                <a:srgbClr val="EE8D06"/>
              </a:gs>
              <a:gs pos="100000">
                <a:srgbClr val="C37511"/>
              </a:gs>
            </a:gsLst>
            <a:lin ang="3300000" scaled="1"/>
          </a:gradFill>
          <a:ln w="7429">
            <a:solidFill>
              <a:srgbClr val="A867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4" name="tma_lumen_component_oval_13"/>
          <p:cNvSpPr/>
          <p:nvPr/>
        </p:nvSpPr>
        <p:spPr>
          <a:xfrm>
            <a:off x="7818882" y="2337114"/>
            <a:ext cx="29718" cy="23348"/>
          </a:xfrm>
          <a:prstGeom prst="ellipse">
            <a:avLst/>
          </a:prstGeom>
          <a:solidFill>
            <a:srgbClr val="FBE1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5" name="tma_lumen_component_oval_14"/>
          <p:cNvSpPr/>
          <p:nvPr/>
        </p:nvSpPr>
        <p:spPr>
          <a:xfrm>
            <a:off x="7645146" y="2646950"/>
            <a:ext cx="114300" cy="126206"/>
          </a:xfrm>
          <a:prstGeom prst="ellipse">
            <a:avLst/>
          </a:prstGeom>
          <a:gradFill rotWithShape="1">
            <a:gsLst>
              <a:gs pos="0">
                <a:srgbClr val="FBE2C1"/>
              </a:gs>
              <a:gs pos="30000">
                <a:srgbClr val="F2AA44"/>
              </a:gs>
              <a:gs pos="67000">
                <a:srgbClr val="EE8D06"/>
              </a:gs>
              <a:gs pos="100000">
                <a:srgbClr val="C37511"/>
              </a:gs>
            </a:gsLst>
            <a:lin ang="3300000" scaled="1"/>
          </a:gradFill>
          <a:ln w="7429">
            <a:solidFill>
              <a:srgbClr val="A867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6" name="tma_lumen_component_oval_15"/>
          <p:cNvSpPr/>
          <p:nvPr/>
        </p:nvSpPr>
        <p:spPr>
          <a:xfrm>
            <a:off x="7672578" y="2670298"/>
            <a:ext cx="29718" cy="23348"/>
          </a:xfrm>
          <a:prstGeom prst="ellipse">
            <a:avLst/>
          </a:prstGeom>
          <a:solidFill>
            <a:srgbClr val="FBE1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7" name="tma_lumen_component_oval_16"/>
          <p:cNvSpPr/>
          <p:nvPr/>
        </p:nvSpPr>
        <p:spPr>
          <a:xfrm>
            <a:off x="7937754" y="2646950"/>
            <a:ext cx="114300" cy="126206"/>
          </a:xfrm>
          <a:prstGeom prst="ellipse">
            <a:avLst/>
          </a:prstGeom>
          <a:gradFill rotWithShape="1">
            <a:gsLst>
              <a:gs pos="0">
                <a:srgbClr val="FBE2C1"/>
              </a:gs>
              <a:gs pos="30000">
                <a:srgbClr val="F2AA44"/>
              </a:gs>
              <a:gs pos="67000">
                <a:srgbClr val="EE8D06"/>
              </a:gs>
              <a:gs pos="100000">
                <a:srgbClr val="C37511"/>
              </a:gs>
            </a:gsLst>
            <a:lin ang="3300000" scaled="1"/>
          </a:gradFill>
          <a:ln w="7429">
            <a:solidFill>
              <a:srgbClr val="A867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8" name="tma_lumen_component_oval_17"/>
          <p:cNvSpPr/>
          <p:nvPr/>
        </p:nvSpPr>
        <p:spPr>
          <a:xfrm>
            <a:off x="7965186" y="2670298"/>
            <a:ext cx="29718" cy="23348"/>
          </a:xfrm>
          <a:prstGeom prst="ellipse">
            <a:avLst/>
          </a:prstGeom>
          <a:solidFill>
            <a:srgbClr val="FBE1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9" name="tma_lumen_component_atom_18"/>
          <p:cNvSpPr txBox="1"/>
          <p:nvPr/>
        </p:nvSpPr>
        <p:spPr>
          <a:xfrm>
            <a:off x="7780020" y="2513171"/>
            <a:ext cx="137160" cy="171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643" b="0" i="0">
                <a:solidFill>
                  <a:srgbClr val="FFFFFF"/>
                </a:solidFill>
                <a:latin typeface="Arial"/>
              </a:rPr>
              <a:t>N</a:t>
            </a:r>
          </a:p>
        </p:txBody>
      </p:sp>
      <p:sp>
        <p:nvSpPr>
          <p:cNvPr id="420" name="lps_source_component_path_1"/>
          <p:cNvSpPr/>
          <p:nvPr/>
        </p:nvSpPr>
        <p:spPr>
          <a:xfrm>
            <a:off x="8617719" y="2647209"/>
            <a:ext cx="67390" cy="41555"/>
          </a:xfrm>
          <a:custGeom>
            <a:avLst/>
            <a:gdLst/>
            <a:ahLst/>
            <a:cxnLst/>
            <a:rect l="0" t="0" r="r" b="b"/>
            <a:pathLst>
              <a:path w="67390" h="41555">
                <a:moveTo>
                  <a:pt x="67390" y="0"/>
                </a:moveTo>
                <a:lnTo>
                  <a:pt x="0" y="41555"/>
                </a:lnTo>
              </a:path>
            </a:pathLst>
          </a:custGeom>
          <a:noFill/>
          <a:ln w="17573" cap="rnd">
            <a:solidFill>
              <a:srgbClr val="5C8B5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1" name="lps_source_component_oval_2"/>
          <p:cNvSpPr/>
          <p:nvPr/>
        </p:nvSpPr>
        <p:spPr>
          <a:xfrm>
            <a:off x="8599755" y="2669858"/>
            <a:ext cx="35928" cy="37812"/>
          </a:xfrm>
          <a:prstGeom prst="ellipse">
            <a:avLst/>
          </a:prstGeom>
          <a:gradFill rotWithShape="1">
            <a:gsLst>
              <a:gs pos="0">
                <a:srgbClr val="E2EBDB"/>
              </a:gs>
              <a:gs pos="30000">
                <a:srgbClr val="A9C394"/>
              </a:gs>
              <a:gs pos="67000">
                <a:srgbClr val="8CAF70"/>
              </a:gs>
              <a:gs pos="100000">
                <a:srgbClr val="6D955F"/>
              </a:gs>
            </a:gsLst>
            <a:lin ang="3300000" scaled="1"/>
          </a:gradFill>
          <a:ln w="12692">
            <a:solidFill>
              <a:srgbClr val="5A855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2" name="lps_source_component_oval_3"/>
          <p:cNvSpPr/>
          <p:nvPr/>
        </p:nvSpPr>
        <p:spPr>
          <a:xfrm>
            <a:off x="8608378" y="2676853"/>
            <a:ext cx="9341" cy="6995"/>
          </a:xfrm>
          <a:prstGeom prst="ellipse">
            <a:avLst/>
          </a:prstGeom>
          <a:solidFill>
            <a:srgbClr val="E1EA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3" name="lps_source_component_path_4"/>
          <p:cNvSpPr/>
          <p:nvPr/>
        </p:nvSpPr>
        <p:spPr>
          <a:xfrm>
            <a:off x="8616143" y="2442030"/>
            <a:ext cx="59702" cy="58457"/>
          </a:xfrm>
          <a:custGeom>
            <a:avLst/>
            <a:gdLst/>
            <a:ahLst/>
            <a:cxnLst/>
            <a:rect l="0" t="0" r="r" b="b"/>
            <a:pathLst>
              <a:path w="59702" h="58457">
                <a:moveTo>
                  <a:pt x="59702" y="58457"/>
                </a:moveTo>
                <a:lnTo>
                  <a:pt x="0" y="0"/>
                </a:lnTo>
              </a:path>
            </a:pathLst>
          </a:custGeom>
          <a:noFill/>
          <a:ln w="17573" cap="rnd">
            <a:solidFill>
              <a:srgbClr val="5C8B5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4" name="lps_source_component_oval_5"/>
          <p:cNvSpPr/>
          <p:nvPr/>
        </p:nvSpPr>
        <p:spPr>
          <a:xfrm>
            <a:off x="8598179" y="2423124"/>
            <a:ext cx="35928" cy="37812"/>
          </a:xfrm>
          <a:prstGeom prst="ellipse">
            <a:avLst/>
          </a:prstGeom>
          <a:gradFill rotWithShape="1">
            <a:gsLst>
              <a:gs pos="0">
                <a:srgbClr val="E2EBDB"/>
              </a:gs>
              <a:gs pos="30000">
                <a:srgbClr val="A9C394"/>
              </a:gs>
              <a:gs pos="67000">
                <a:srgbClr val="8CAF70"/>
              </a:gs>
              <a:gs pos="100000">
                <a:srgbClr val="6D955F"/>
              </a:gs>
            </a:gsLst>
            <a:lin ang="3300000" scaled="1"/>
          </a:gradFill>
          <a:ln w="12692">
            <a:solidFill>
              <a:srgbClr val="5A855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5" name="lps_source_component_oval_6"/>
          <p:cNvSpPr/>
          <p:nvPr/>
        </p:nvSpPr>
        <p:spPr>
          <a:xfrm>
            <a:off x="8606802" y="2430120"/>
            <a:ext cx="9341" cy="6995"/>
          </a:xfrm>
          <a:prstGeom prst="ellipse">
            <a:avLst/>
          </a:prstGeom>
          <a:solidFill>
            <a:srgbClr val="E1EA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6" name="lps_source_component_path_7"/>
          <p:cNvSpPr/>
          <p:nvPr/>
        </p:nvSpPr>
        <p:spPr>
          <a:xfrm>
            <a:off x="8753713" y="2347672"/>
            <a:ext cx="35536" cy="63831"/>
          </a:xfrm>
          <a:custGeom>
            <a:avLst/>
            <a:gdLst/>
            <a:ahLst/>
            <a:cxnLst/>
            <a:rect l="0" t="0" r="r" b="b"/>
            <a:pathLst>
              <a:path w="35536" h="63831">
                <a:moveTo>
                  <a:pt x="35536" y="63831"/>
                </a:moveTo>
                <a:lnTo>
                  <a:pt x="0" y="0"/>
                </a:lnTo>
              </a:path>
            </a:pathLst>
          </a:custGeom>
          <a:noFill/>
          <a:ln w="17573" cap="rnd">
            <a:solidFill>
              <a:srgbClr val="5C8B5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7" name="lps_source_component_oval_8"/>
          <p:cNvSpPr/>
          <p:nvPr/>
        </p:nvSpPr>
        <p:spPr>
          <a:xfrm>
            <a:off x="8735749" y="2328766"/>
            <a:ext cx="35928" cy="37812"/>
          </a:xfrm>
          <a:prstGeom prst="ellipse">
            <a:avLst/>
          </a:prstGeom>
          <a:gradFill rotWithShape="1">
            <a:gsLst>
              <a:gs pos="0">
                <a:srgbClr val="E2EBDB"/>
              </a:gs>
              <a:gs pos="30000">
                <a:srgbClr val="A9C394"/>
              </a:gs>
              <a:gs pos="67000">
                <a:srgbClr val="8CAF70"/>
              </a:gs>
              <a:gs pos="100000">
                <a:srgbClr val="6D955F"/>
              </a:gs>
            </a:gsLst>
            <a:lin ang="3300000" scaled="1"/>
          </a:gradFill>
          <a:ln w="12692">
            <a:solidFill>
              <a:srgbClr val="5A855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8" name="lps_source_component_oval_9"/>
          <p:cNvSpPr/>
          <p:nvPr/>
        </p:nvSpPr>
        <p:spPr>
          <a:xfrm>
            <a:off x="8744372" y="2335761"/>
            <a:ext cx="9341" cy="6995"/>
          </a:xfrm>
          <a:prstGeom prst="ellipse">
            <a:avLst/>
          </a:prstGeom>
          <a:solidFill>
            <a:srgbClr val="E1EA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9" name="lps_source_component_path_10"/>
          <p:cNvSpPr/>
          <p:nvPr/>
        </p:nvSpPr>
        <p:spPr>
          <a:xfrm>
            <a:off x="8915448" y="2247940"/>
            <a:ext cx="35536" cy="63831"/>
          </a:xfrm>
          <a:custGeom>
            <a:avLst/>
            <a:gdLst/>
            <a:ahLst/>
            <a:cxnLst/>
            <a:rect l="0" t="0" r="r" b="b"/>
            <a:pathLst>
              <a:path w="35536" h="63831">
                <a:moveTo>
                  <a:pt x="35536" y="63831"/>
                </a:moveTo>
                <a:lnTo>
                  <a:pt x="0" y="0"/>
                </a:lnTo>
              </a:path>
            </a:pathLst>
          </a:custGeom>
          <a:noFill/>
          <a:ln w="17573" cap="rnd">
            <a:solidFill>
              <a:srgbClr val="5C8B5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0" name="lps_source_component_oval_11"/>
          <p:cNvSpPr/>
          <p:nvPr/>
        </p:nvSpPr>
        <p:spPr>
          <a:xfrm>
            <a:off x="8897484" y="2229033"/>
            <a:ext cx="35928" cy="37812"/>
          </a:xfrm>
          <a:prstGeom prst="ellipse">
            <a:avLst/>
          </a:prstGeom>
          <a:gradFill rotWithShape="1">
            <a:gsLst>
              <a:gs pos="0">
                <a:srgbClr val="E2EBDB"/>
              </a:gs>
              <a:gs pos="30000">
                <a:srgbClr val="A9C394"/>
              </a:gs>
              <a:gs pos="67000">
                <a:srgbClr val="8CAF70"/>
              </a:gs>
              <a:gs pos="100000">
                <a:srgbClr val="6D955F"/>
              </a:gs>
            </a:gsLst>
            <a:lin ang="3300000" scaled="1"/>
          </a:gradFill>
          <a:ln w="12692">
            <a:solidFill>
              <a:srgbClr val="5A855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1" name="lps_source_component_oval_12"/>
          <p:cNvSpPr/>
          <p:nvPr/>
        </p:nvSpPr>
        <p:spPr>
          <a:xfrm>
            <a:off x="8906106" y="2236029"/>
            <a:ext cx="9341" cy="6995"/>
          </a:xfrm>
          <a:prstGeom prst="ellipse">
            <a:avLst/>
          </a:prstGeom>
          <a:solidFill>
            <a:srgbClr val="E1EA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2" name="lps_source_component_path_13"/>
          <p:cNvSpPr/>
          <p:nvPr/>
        </p:nvSpPr>
        <p:spPr>
          <a:xfrm>
            <a:off x="9145465" y="2228440"/>
            <a:ext cx="48805" cy="58677"/>
          </a:xfrm>
          <a:custGeom>
            <a:avLst/>
            <a:gdLst/>
            <a:ahLst/>
            <a:cxnLst/>
            <a:rect l="0" t="0" r="r" b="b"/>
            <a:pathLst>
              <a:path w="48805" h="58677">
                <a:moveTo>
                  <a:pt x="0" y="58677"/>
                </a:moveTo>
                <a:lnTo>
                  <a:pt x="48805" y="0"/>
                </a:lnTo>
              </a:path>
            </a:pathLst>
          </a:custGeom>
          <a:noFill/>
          <a:ln w="17573" cap="rnd">
            <a:solidFill>
              <a:srgbClr val="5C8B5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3" name="lps_source_component_oval_14"/>
          <p:cNvSpPr/>
          <p:nvPr/>
        </p:nvSpPr>
        <p:spPr>
          <a:xfrm>
            <a:off x="9176306" y="2209534"/>
            <a:ext cx="35928" cy="37812"/>
          </a:xfrm>
          <a:prstGeom prst="ellipse">
            <a:avLst/>
          </a:prstGeom>
          <a:gradFill rotWithShape="1">
            <a:gsLst>
              <a:gs pos="0">
                <a:srgbClr val="E2EBDB"/>
              </a:gs>
              <a:gs pos="30000">
                <a:srgbClr val="A9C394"/>
              </a:gs>
              <a:gs pos="67000">
                <a:srgbClr val="8CAF70"/>
              </a:gs>
              <a:gs pos="100000">
                <a:srgbClr val="6D955F"/>
              </a:gs>
            </a:gsLst>
            <a:lin ang="3300000" scaled="1"/>
          </a:gradFill>
          <a:ln w="12692">
            <a:solidFill>
              <a:srgbClr val="5A855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4" name="lps_source_component_oval_15"/>
          <p:cNvSpPr/>
          <p:nvPr/>
        </p:nvSpPr>
        <p:spPr>
          <a:xfrm>
            <a:off x="9184928" y="2216529"/>
            <a:ext cx="9341" cy="6995"/>
          </a:xfrm>
          <a:prstGeom prst="ellipse">
            <a:avLst/>
          </a:prstGeom>
          <a:solidFill>
            <a:srgbClr val="E1EA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5" name="lps_source_component_path_16"/>
          <p:cNvSpPr/>
          <p:nvPr/>
        </p:nvSpPr>
        <p:spPr>
          <a:xfrm>
            <a:off x="9216537" y="2414779"/>
            <a:ext cx="84341" cy="5154"/>
          </a:xfrm>
          <a:custGeom>
            <a:avLst/>
            <a:gdLst/>
            <a:ahLst/>
            <a:cxnLst/>
            <a:rect l="0" t="0" r="r" b="b"/>
            <a:pathLst>
              <a:path w="84341" h="5154">
                <a:moveTo>
                  <a:pt x="0" y="0"/>
                </a:moveTo>
                <a:lnTo>
                  <a:pt x="84341" y="5154"/>
                </a:lnTo>
              </a:path>
            </a:pathLst>
          </a:custGeom>
          <a:noFill/>
          <a:ln w="17573" cap="rnd">
            <a:solidFill>
              <a:srgbClr val="5C8B5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6" name="lps_source_component_oval_17"/>
          <p:cNvSpPr/>
          <p:nvPr/>
        </p:nvSpPr>
        <p:spPr>
          <a:xfrm>
            <a:off x="9282914" y="2401027"/>
            <a:ext cx="35928" cy="37812"/>
          </a:xfrm>
          <a:prstGeom prst="ellipse">
            <a:avLst/>
          </a:prstGeom>
          <a:gradFill rotWithShape="1">
            <a:gsLst>
              <a:gs pos="0">
                <a:srgbClr val="E2EBDB"/>
              </a:gs>
              <a:gs pos="30000">
                <a:srgbClr val="A9C394"/>
              </a:gs>
              <a:gs pos="67000">
                <a:srgbClr val="8CAF70"/>
              </a:gs>
              <a:gs pos="100000">
                <a:srgbClr val="6D955F"/>
              </a:gs>
            </a:gsLst>
            <a:lin ang="3300000" scaled="1"/>
          </a:gradFill>
          <a:ln w="12692">
            <a:solidFill>
              <a:srgbClr val="5A855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7" name="lps_source_component_oval_18"/>
          <p:cNvSpPr/>
          <p:nvPr/>
        </p:nvSpPr>
        <p:spPr>
          <a:xfrm>
            <a:off x="9291537" y="2408023"/>
            <a:ext cx="9341" cy="6995"/>
          </a:xfrm>
          <a:prstGeom prst="ellipse">
            <a:avLst/>
          </a:prstGeom>
          <a:solidFill>
            <a:srgbClr val="E1EA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8" name="lps_source_component_path_19"/>
          <p:cNvSpPr/>
          <p:nvPr/>
        </p:nvSpPr>
        <p:spPr>
          <a:xfrm>
            <a:off x="9086390" y="2571250"/>
            <a:ext cx="39485" cy="70923"/>
          </a:xfrm>
          <a:custGeom>
            <a:avLst/>
            <a:gdLst/>
            <a:ahLst/>
            <a:cxnLst/>
            <a:rect l="0" t="0" r="r" b="b"/>
            <a:pathLst>
              <a:path w="39485" h="70923">
                <a:moveTo>
                  <a:pt x="0" y="0"/>
                </a:moveTo>
                <a:lnTo>
                  <a:pt x="39485" y="70923"/>
                </a:lnTo>
              </a:path>
            </a:pathLst>
          </a:custGeom>
          <a:noFill/>
          <a:ln w="17573" cap="rnd">
            <a:solidFill>
              <a:srgbClr val="5C8B5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9" name="lps_source_component_oval_20"/>
          <p:cNvSpPr/>
          <p:nvPr/>
        </p:nvSpPr>
        <p:spPr>
          <a:xfrm>
            <a:off x="9107910" y="2623268"/>
            <a:ext cx="35928" cy="37812"/>
          </a:xfrm>
          <a:prstGeom prst="ellipse">
            <a:avLst/>
          </a:prstGeom>
          <a:gradFill rotWithShape="1">
            <a:gsLst>
              <a:gs pos="0">
                <a:srgbClr val="E2EBDB"/>
              </a:gs>
              <a:gs pos="30000">
                <a:srgbClr val="A9C394"/>
              </a:gs>
              <a:gs pos="67000">
                <a:srgbClr val="8CAF70"/>
              </a:gs>
              <a:gs pos="100000">
                <a:srgbClr val="6D955F"/>
              </a:gs>
            </a:gsLst>
            <a:lin ang="3300000" scaled="1"/>
          </a:gradFill>
          <a:ln w="12692">
            <a:solidFill>
              <a:srgbClr val="5A855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0" name="lps_source_component_oval_21"/>
          <p:cNvSpPr/>
          <p:nvPr/>
        </p:nvSpPr>
        <p:spPr>
          <a:xfrm>
            <a:off x="9116533" y="2630263"/>
            <a:ext cx="9341" cy="6995"/>
          </a:xfrm>
          <a:prstGeom prst="ellipse">
            <a:avLst/>
          </a:prstGeom>
          <a:solidFill>
            <a:srgbClr val="E1EA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1" name="lps_source_component_path_22"/>
          <p:cNvSpPr/>
          <p:nvPr/>
        </p:nvSpPr>
        <p:spPr>
          <a:xfrm>
            <a:off x="8938133" y="2662672"/>
            <a:ext cx="32746" cy="75079"/>
          </a:xfrm>
          <a:custGeom>
            <a:avLst/>
            <a:gdLst/>
            <a:ahLst/>
            <a:cxnLst/>
            <a:rect l="0" t="0" r="r" b="b"/>
            <a:pathLst>
              <a:path w="32746" h="75079">
                <a:moveTo>
                  <a:pt x="0" y="0"/>
                </a:moveTo>
                <a:lnTo>
                  <a:pt x="32746" y="75079"/>
                </a:lnTo>
              </a:path>
            </a:pathLst>
          </a:custGeom>
          <a:noFill/>
          <a:ln w="17573" cap="rnd">
            <a:solidFill>
              <a:srgbClr val="5C8B5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2" name="lps_source_component_oval_23"/>
          <p:cNvSpPr/>
          <p:nvPr/>
        </p:nvSpPr>
        <p:spPr>
          <a:xfrm>
            <a:off x="8952914" y="2718845"/>
            <a:ext cx="35928" cy="37812"/>
          </a:xfrm>
          <a:prstGeom prst="ellipse">
            <a:avLst/>
          </a:prstGeom>
          <a:gradFill rotWithShape="1">
            <a:gsLst>
              <a:gs pos="0">
                <a:srgbClr val="E2EBDB"/>
              </a:gs>
              <a:gs pos="30000">
                <a:srgbClr val="A9C394"/>
              </a:gs>
              <a:gs pos="67000">
                <a:srgbClr val="8CAF70"/>
              </a:gs>
              <a:gs pos="100000">
                <a:srgbClr val="6D955F"/>
              </a:gs>
            </a:gsLst>
            <a:lin ang="3300000" scaled="1"/>
          </a:gradFill>
          <a:ln w="12692">
            <a:solidFill>
              <a:srgbClr val="5A855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3" name="lps_source_component_oval_24"/>
          <p:cNvSpPr/>
          <p:nvPr/>
        </p:nvSpPr>
        <p:spPr>
          <a:xfrm>
            <a:off x="8961537" y="2725840"/>
            <a:ext cx="9341" cy="6995"/>
          </a:xfrm>
          <a:prstGeom prst="ellipse">
            <a:avLst/>
          </a:prstGeom>
          <a:solidFill>
            <a:srgbClr val="E1EA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4" name="lps_source_component_path_25"/>
          <p:cNvSpPr/>
          <p:nvPr/>
        </p:nvSpPr>
        <p:spPr>
          <a:xfrm>
            <a:off x="8791508" y="2724505"/>
            <a:ext cx="12529" cy="87545"/>
          </a:xfrm>
          <a:custGeom>
            <a:avLst/>
            <a:gdLst/>
            <a:ahLst/>
            <a:cxnLst/>
            <a:rect l="0" t="0" r="r" b="b"/>
            <a:pathLst>
              <a:path w="12529" h="87545">
                <a:moveTo>
                  <a:pt x="0" y="0"/>
                </a:moveTo>
                <a:lnTo>
                  <a:pt x="12529" y="87545"/>
                </a:lnTo>
              </a:path>
            </a:pathLst>
          </a:custGeom>
          <a:noFill/>
          <a:ln w="17573" cap="rnd">
            <a:solidFill>
              <a:srgbClr val="5C8B5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5" name="lps_source_component_oval_26"/>
          <p:cNvSpPr/>
          <p:nvPr/>
        </p:nvSpPr>
        <p:spPr>
          <a:xfrm>
            <a:off x="8786073" y="2793145"/>
            <a:ext cx="35928" cy="37812"/>
          </a:xfrm>
          <a:prstGeom prst="ellipse">
            <a:avLst/>
          </a:prstGeom>
          <a:gradFill rotWithShape="1">
            <a:gsLst>
              <a:gs pos="0">
                <a:srgbClr val="E2EBDB"/>
              </a:gs>
              <a:gs pos="30000">
                <a:srgbClr val="A9C394"/>
              </a:gs>
              <a:gs pos="67000">
                <a:srgbClr val="8CAF70"/>
              </a:gs>
              <a:gs pos="100000">
                <a:srgbClr val="6D955F"/>
              </a:gs>
            </a:gsLst>
            <a:lin ang="3300000" scaled="1"/>
          </a:gradFill>
          <a:ln w="12692">
            <a:solidFill>
              <a:srgbClr val="5A855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6" name="lps_source_component_oval_27"/>
          <p:cNvSpPr/>
          <p:nvPr/>
        </p:nvSpPr>
        <p:spPr>
          <a:xfrm>
            <a:off x="8794696" y="2800140"/>
            <a:ext cx="9341" cy="6995"/>
          </a:xfrm>
          <a:prstGeom prst="ellipse">
            <a:avLst/>
          </a:prstGeom>
          <a:solidFill>
            <a:srgbClr val="E1EA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7" name="lps_source_component_path_28"/>
          <p:cNvSpPr/>
          <p:nvPr/>
        </p:nvSpPr>
        <p:spPr>
          <a:xfrm>
            <a:off x="8625640" y="2233060"/>
            <a:ext cx="617621" cy="520788"/>
          </a:xfrm>
          <a:custGeom>
            <a:avLst/>
            <a:gdLst/>
            <a:ahLst/>
            <a:cxnLst/>
            <a:rect l="0" t="0" r="r" b="b"/>
            <a:pathLst>
              <a:path w="617621" h="520788">
                <a:moveTo>
                  <a:pt x="89481" y="224154"/>
                </a:moveTo>
                <a:lnTo>
                  <a:pt x="385995" y="41311"/>
                </a:lnTo>
                <a:cubicBezTo>
                  <a:pt x="452988" y="0"/>
                  <a:pt x="539116" y="23667"/>
                  <a:pt x="578369" y="94173"/>
                </a:cubicBezTo>
                <a:cubicBezTo>
                  <a:pt x="617621" y="164679"/>
                  <a:pt x="595133" y="255324"/>
                  <a:pt x="528140" y="296635"/>
                </a:cubicBezTo>
                <a:lnTo>
                  <a:pt x="231626" y="479478"/>
                </a:lnTo>
                <a:cubicBezTo>
                  <a:pt x="164633" y="520788"/>
                  <a:pt x="78504" y="497121"/>
                  <a:pt x="39252" y="426615"/>
                </a:cubicBezTo>
                <a:cubicBezTo>
                  <a:pt x="0" y="356109"/>
                  <a:pt x="22488" y="265464"/>
                  <a:pt x="89481" y="224154"/>
                </a:cubicBezTo>
                <a:close/>
              </a:path>
            </a:pathLst>
          </a:custGeom>
          <a:gradFill rotWithShape="1">
            <a:gsLst>
              <a:gs pos="0">
                <a:srgbClr val="D6E0C3"/>
              </a:gs>
              <a:gs pos="35000">
                <a:srgbClr val="BDCD9E"/>
              </a:gs>
              <a:gs pos="100000">
                <a:srgbClr val="90AE77"/>
              </a:gs>
            </a:gsLst>
            <a:lin ang="4200000" scaled="1"/>
          </a:gradFill>
          <a:ln w="11227" cap="rnd">
            <a:solidFill>
              <a:srgbClr val="5F8D5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8" name="lps_source_component_path_29"/>
          <p:cNvSpPr/>
          <p:nvPr/>
        </p:nvSpPr>
        <p:spPr>
          <a:xfrm>
            <a:off x="8643479" y="2251835"/>
            <a:ext cx="581942" cy="483239"/>
          </a:xfrm>
          <a:custGeom>
            <a:avLst/>
            <a:gdLst/>
            <a:ahLst/>
            <a:cxnLst/>
            <a:rect l="0" t="0" r="r" b="b"/>
            <a:pathLst>
              <a:path w="581942" h="483239">
                <a:moveTo>
                  <a:pt x="79539" y="219563"/>
                </a:moveTo>
                <a:lnTo>
                  <a:pt x="376053" y="36721"/>
                </a:lnTo>
                <a:cubicBezTo>
                  <a:pt x="435602" y="0"/>
                  <a:pt x="512161" y="21038"/>
                  <a:pt x="547051" y="83710"/>
                </a:cubicBezTo>
                <a:cubicBezTo>
                  <a:pt x="581942" y="146381"/>
                  <a:pt x="561953" y="226955"/>
                  <a:pt x="502404" y="263675"/>
                </a:cubicBezTo>
                <a:lnTo>
                  <a:pt x="205890" y="446518"/>
                </a:lnTo>
                <a:cubicBezTo>
                  <a:pt x="146340" y="483239"/>
                  <a:pt x="69782" y="462201"/>
                  <a:pt x="34891" y="399529"/>
                </a:cubicBezTo>
                <a:cubicBezTo>
                  <a:pt x="0" y="336857"/>
                  <a:pt x="19989" y="256284"/>
                  <a:pt x="79539" y="219563"/>
                </a:cubicBezTo>
                <a:close/>
              </a:path>
            </a:pathLst>
          </a:custGeom>
          <a:noFill/>
          <a:ln w="6346" cap="rnd">
            <a:solidFill>
              <a:srgbClr val="90AE7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9" name="lps_source_component_path_30"/>
          <p:cNvSpPr/>
          <p:nvPr/>
        </p:nvSpPr>
        <p:spPr>
          <a:xfrm>
            <a:off x="8772074" y="2384624"/>
            <a:ext cx="188691" cy="116355"/>
          </a:xfrm>
          <a:custGeom>
            <a:avLst/>
            <a:gdLst/>
            <a:ahLst/>
            <a:cxnLst/>
            <a:rect l="0" t="0" r="r" b="b"/>
            <a:pathLst>
              <a:path w="188691" h="116355">
                <a:moveTo>
                  <a:pt x="0" y="116355"/>
                </a:moveTo>
                <a:lnTo>
                  <a:pt x="188691" y="0"/>
                </a:lnTo>
              </a:path>
            </a:pathLst>
          </a:custGeom>
          <a:noFill/>
          <a:ln w="12692" cap="rnd">
            <a:solidFill>
              <a:srgbClr val="E5ECD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0" name="lps_source_component_oval_31"/>
          <p:cNvSpPr/>
          <p:nvPr/>
        </p:nvSpPr>
        <p:spPr>
          <a:xfrm>
            <a:off x="8814604" y="2609197"/>
            <a:ext cx="15621" cy="16440"/>
          </a:xfrm>
          <a:prstGeom prst="ellipse">
            <a:avLst/>
          </a:prstGeom>
          <a:solidFill>
            <a:srgbClr val="90AE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1" name="lps_source_component_oval_32"/>
          <p:cNvSpPr/>
          <p:nvPr/>
        </p:nvSpPr>
        <p:spPr>
          <a:xfrm>
            <a:off x="9008980" y="2503055"/>
            <a:ext cx="15621" cy="16440"/>
          </a:xfrm>
          <a:prstGeom prst="ellipse">
            <a:avLst/>
          </a:prstGeom>
          <a:solidFill>
            <a:srgbClr val="90AE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2" name="lps_source_component_oval_33"/>
          <p:cNvSpPr/>
          <p:nvPr/>
        </p:nvSpPr>
        <p:spPr>
          <a:xfrm>
            <a:off x="9078424" y="2367629"/>
            <a:ext cx="15621" cy="16440"/>
          </a:xfrm>
          <a:prstGeom prst="ellipse">
            <a:avLst/>
          </a:prstGeom>
          <a:solidFill>
            <a:srgbClr val="90AE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3" name="lps_source_component_oval_34"/>
          <p:cNvSpPr/>
          <p:nvPr/>
        </p:nvSpPr>
        <p:spPr>
          <a:xfrm>
            <a:off x="8829252" y="2466403"/>
            <a:ext cx="15621" cy="16440"/>
          </a:xfrm>
          <a:prstGeom prst="ellipse">
            <a:avLst/>
          </a:prstGeom>
          <a:solidFill>
            <a:srgbClr val="90AE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4" name="lps_source_component_path_35"/>
          <p:cNvSpPr/>
          <p:nvPr/>
        </p:nvSpPr>
        <p:spPr>
          <a:xfrm>
            <a:off x="8676704" y="2337273"/>
            <a:ext cx="7810" cy="57541"/>
          </a:xfrm>
          <a:custGeom>
            <a:avLst/>
            <a:gdLst/>
            <a:ahLst/>
            <a:cxnLst/>
            <a:rect l="0" t="0" r="r" b="b"/>
            <a:pathLst>
              <a:path w="7810" h="57541">
                <a:moveTo>
                  <a:pt x="7810" y="57541"/>
                </a:moveTo>
                <a:lnTo>
                  <a:pt x="0" y="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5" name="lps_source_component_path_36"/>
          <p:cNvSpPr/>
          <p:nvPr/>
        </p:nvSpPr>
        <p:spPr>
          <a:xfrm>
            <a:off x="8674751" y="2334807"/>
            <a:ext cx="7810" cy="57541"/>
          </a:xfrm>
          <a:custGeom>
            <a:avLst/>
            <a:gdLst/>
            <a:ahLst/>
            <a:cxnLst/>
            <a:rect l="0" t="0" r="r" b="b"/>
            <a:pathLst>
              <a:path w="7810" h="57541">
                <a:moveTo>
                  <a:pt x="7810" y="57541"/>
                </a:moveTo>
                <a:lnTo>
                  <a:pt x="0" y="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6" name="lps_source_component_path_37"/>
          <p:cNvSpPr/>
          <p:nvPr/>
        </p:nvSpPr>
        <p:spPr>
          <a:xfrm>
            <a:off x="8676704" y="2287953"/>
            <a:ext cx="39052" cy="49320"/>
          </a:xfrm>
          <a:custGeom>
            <a:avLst/>
            <a:gdLst/>
            <a:ahLst/>
            <a:cxnLst/>
            <a:rect l="0" t="0" r="r" b="b"/>
            <a:pathLst>
              <a:path w="39052" h="49320">
                <a:moveTo>
                  <a:pt x="0" y="49320"/>
                </a:moveTo>
                <a:lnTo>
                  <a:pt x="39052" y="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7" name="lps_source_component_path_38"/>
          <p:cNvSpPr/>
          <p:nvPr/>
        </p:nvSpPr>
        <p:spPr>
          <a:xfrm>
            <a:off x="8674751" y="2285487"/>
            <a:ext cx="39053" cy="49320"/>
          </a:xfrm>
          <a:custGeom>
            <a:avLst/>
            <a:gdLst/>
            <a:ahLst/>
            <a:cxnLst/>
            <a:rect l="0" t="0" r="r" b="b"/>
            <a:pathLst>
              <a:path w="39053" h="49320">
                <a:moveTo>
                  <a:pt x="0" y="49320"/>
                </a:moveTo>
                <a:lnTo>
                  <a:pt x="39053" y="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8" name="lps_source_component_path_39"/>
          <p:cNvSpPr/>
          <p:nvPr/>
        </p:nvSpPr>
        <p:spPr>
          <a:xfrm>
            <a:off x="8707946" y="2246852"/>
            <a:ext cx="7810" cy="41100"/>
          </a:xfrm>
          <a:custGeom>
            <a:avLst/>
            <a:gdLst/>
            <a:ahLst/>
            <a:cxnLst/>
            <a:rect l="0" t="0" r="r" b="b"/>
            <a:pathLst>
              <a:path w="7810" h="41100">
                <a:moveTo>
                  <a:pt x="7810" y="41100"/>
                </a:moveTo>
                <a:lnTo>
                  <a:pt x="0" y="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9" name="lps_source_component_path_40"/>
          <p:cNvSpPr/>
          <p:nvPr/>
        </p:nvSpPr>
        <p:spPr>
          <a:xfrm>
            <a:off x="8705993" y="2244386"/>
            <a:ext cx="7811" cy="41100"/>
          </a:xfrm>
          <a:custGeom>
            <a:avLst/>
            <a:gdLst/>
            <a:ahLst/>
            <a:cxnLst/>
            <a:rect l="0" t="0" r="r" b="b"/>
            <a:pathLst>
              <a:path w="7811" h="41100">
                <a:moveTo>
                  <a:pt x="7811" y="41100"/>
                </a:moveTo>
                <a:lnTo>
                  <a:pt x="0" y="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0" name="lps_source_component_path_41"/>
          <p:cNvSpPr/>
          <p:nvPr/>
        </p:nvSpPr>
        <p:spPr>
          <a:xfrm>
            <a:off x="8707946" y="2189312"/>
            <a:ext cx="46863" cy="57541"/>
          </a:xfrm>
          <a:custGeom>
            <a:avLst/>
            <a:gdLst/>
            <a:ahLst/>
            <a:cxnLst/>
            <a:rect l="0" t="0" r="r" b="b"/>
            <a:pathLst>
              <a:path w="46863" h="57541">
                <a:moveTo>
                  <a:pt x="0" y="57541"/>
                </a:moveTo>
                <a:lnTo>
                  <a:pt x="46863" y="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1" name="lps_source_component_path_42"/>
          <p:cNvSpPr/>
          <p:nvPr/>
        </p:nvSpPr>
        <p:spPr>
          <a:xfrm>
            <a:off x="8705993" y="2186846"/>
            <a:ext cx="46863" cy="57541"/>
          </a:xfrm>
          <a:custGeom>
            <a:avLst/>
            <a:gdLst/>
            <a:ahLst/>
            <a:cxnLst/>
            <a:rect l="0" t="0" r="r" b="b"/>
            <a:pathLst>
              <a:path w="46863" h="57541">
                <a:moveTo>
                  <a:pt x="0" y="57541"/>
                </a:moveTo>
                <a:lnTo>
                  <a:pt x="46863" y="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2" name="lps_source_component_path_43"/>
          <p:cNvSpPr/>
          <p:nvPr/>
        </p:nvSpPr>
        <p:spPr>
          <a:xfrm>
            <a:off x="8754808" y="2123551"/>
            <a:ext cx="23432" cy="65761"/>
          </a:xfrm>
          <a:custGeom>
            <a:avLst/>
            <a:gdLst/>
            <a:ahLst/>
            <a:cxnLst/>
            <a:rect l="0" t="0" r="r" b="b"/>
            <a:pathLst>
              <a:path w="23432" h="65761">
                <a:moveTo>
                  <a:pt x="0" y="65761"/>
                </a:moveTo>
                <a:lnTo>
                  <a:pt x="23432" y="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3" name="lps_source_component_path_44"/>
          <p:cNvSpPr/>
          <p:nvPr/>
        </p:nvSpPr>
        <p:spPr>
          <a:xfrm>
            <a:off x="8752856" y="2121085"/>
            <a:ext cx="23432" cy="65761"/>
          </a:xfrm>
          <a:custGeom>
            <a:avLst/>
            <a:gdLst/>
            <a:ahLst/>
            <a:cxnLst/>
            <a:rect l="0" t="0" r="r" b="b"/>
            <a:pathLst>
              <a:path w="23432" h="65761">
                <a:moveTo>
                  <a:pt x="0" y="65761"/>
                </a:moveTo>
                <a:lnTo>
                  <a:pt x="23432" y="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4" name="lps_source_component_path_45"/>
          <p:cNvSpPr/>
          <p:nvPr/>
        </p:nvSpPr>
        <p:spPr>
          <a:xfrm>
            <a:off x="8778240" y="2090671"/>
            <a:ext cx="31242" cy="32880"/>
          </a:xfrm>
          <a:custGeom>
            <a:avLst/>
            <a:gdLst/>
            <a:ahLst/>
            <a:cxnLst/>
            <a:rect l="0" t="0" r="r" b="b"/>
            <a:pathLst>
              <a:path w="31242" h="32880">
                <a:moveTo>
                  <a:pt x="0" y="32880"/>
                </a:moveTo>
                <a:lnTo>
                  <a:pt x="31242" y="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5" name="lps_source_component_path_46"/>
          <p:cNvSpPr/>
          <p:nvPr/>
        </p:nvSpPr>
        <p:spPr>
          <a:xfrm>
            <a:off x="8776287" y="2088205"/>
            <a:ext cx="31242" cy="32880"/>
          </a:xfrm>
          <a:custGeom>
            <a:avLst/>
            <a:gdLst/>
            <a:ahLst/>
            <a:cxnLst/>
            <a:rect l="0" t="0" r="r" b="b"/>
            <a:pathLst>
              <a:path w="31242" h="32880">
                <a:moveTo>
                  <a:pt x="0" y="32880"/>
                </a:moveTo>
                <a:lnTo>
                  <a:pt x="31242" y="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6" name="lps_source_component_oval_47"/>
          <p:cNvSpPr/>
          <p:nvPr/>
        </p:nvSpPr>
        <p:spPr>
          <a:xfrm>
            <a:off x="8661082" y="2320833"/>
            <a:ext cx="31242" cy="32880"/>
          </a:xfrm>
          <a:prstGeom prst="ellipse">
            <a:avLst/>
          </a:prstGeom>
          <a:gradFill rotWithShape="1">
            <a:gsLst>
              <a:gs pos="0">
                <a:srgbClr val="F5D4D2"/>
              </a:gs>
              <a:gs pos="30000">
                <a:srgbClr val="E27F77"/>
              </a:gs>
              <a:gs pos="67000">
                <a:srgbClr val="D8544A"/>
              </a:gs>
              <a:gs pos="100000">
                <a:srgbClr val="B3403B"/>
              </a:gs>
            </a:gsLst>
            <a:lin ang="3300000" scaled="1"/>
          </a:gradFill>
          <a:ln w="12692">
            <a:solidFill>
              <a:srgbClr val="9C333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7" name="lps_source_component_oval_48"/>
          <p:cNvSpPr/>
          <p:nvPr/>
        </p:nvSpPr>
        <p:spPr>
          <a:xfrm>
            <a:off x="8668581" y="2326916"/>
            <a:ext cx="8123" cy="6083"/>
          </a:xfrm>
          <a:prstGeom prst="ellipse">
            <a:avLst/>
          </a:prstGeom>
          <a:solidFill>
            <a:srgbClr val="F5D3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8" name="lps_source_component_oval_49"/>
          <p:cNvSpPr/>
          <p:nvPr/>
        </p:nvSpPr>
        <p:spPr>
          <a:xfrm>
            <a:off x="8692324" y="2230412"/>
            <a:ext cx="31242" cy="32880"/>
          </a:xfrm>
          <a:prstGeom prst="ellipse">
            <a:avLst/>
          </a:prstGeom>
          <a:gradFill rotWithShape="1">
            <a:gsLst>
              <a:gs pos="0">
                <a:srgbClr val="F5D4D2"/>
              </a:gs>
              <a:gs pos="30000">
                <a:srgbClr val="E27F77"/>
              </a:gs>
              <a:gs pos="67000">
                <a:srgbClr val="D8544A"/>
              </a:gs>
              <a:gs pos="100000">
                <a:srgbClr val="B3403B"/>
              </a:gs>
            </a:gsLst>
            <a:lin ang="3300000" scaled="1"/>
          </a:gradFill>
          <a:ln w="12692">
            <a:solidFill>
              <a:srgbClr val="9C333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9" name="lps_source_component_oval_50"/>
          <p:cNvSpPr/>
          <p:nvPr/>
        </p:nvSpPr>
        <p:spPr>
          <a:xfrm>
            <a:off x="8699823" y="2236495"/>
            <a:ext cx="8123" cy="6083"/>
          </a:xfrm>
          <a:prstGeom prst="ellipse">
            <a:avLst/>
          </a:prstGeom>
          <a:solidFill>
            <a:srgbClr val="F5D3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0" name="lps_source_component_oval_51"/>
          <p:cNvSpPr/>
          <p:nvPr/>
        </p:nvSpPr>
        <p:spPr>
          <a:xfrm>
            <a:off x="8762619" y="2107111"/>
            <a:ext cx="31242" cy="32880"/>
          </a:xfrm>
          <a:prstGeom prst="ellipse">
            <a:avLst/>
          </a:prstGeom>
          <a:gradFill rotWithShape="1">
            <a:gsLst>
              <a:gs pos="0">
                <a:srgbClr val="F5D4D2"/>
              </a:gs>
              <a:gs pos="30000">
                <a:srgbClr val="E27F77"/>
              </a:gs>
              <a:gs pos="67000">
                <a:srgbClr val="D8544A"/>
              </a:gs>
              <a:gs pos="100000">
                <a:srgbClr val="B3403B"/>
              </a:gs>
            </a:gsLst>
            <a:lin ang="3300000" scaled="1"/>
          </a:gradFill>
          <a:ln w="12692">
            <a:solidFill>
              <a:srgbClr val="9C333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1" name="lps_source_component_oval_52"/>
          <p:cNvSpPr/>
          <p:nvPr/>
        </p:nvSpPr>
        <p:spPr>
          <a:xfrm>
            <a:off x="8770117" y="2113194"/>
            <a:ext cx="8123" cy="6083"/>
          </a:xfrm>
          <a:prstGeom prst="ellipse">
            <a:avLst/>
          </a:prstGeom>
          <a:solidFill>
            <a:srgbClr val="F5D3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2" name="lps_source_component_oval_53"/>
          <p:cNvSpPr/>
          <p:nvPr/>
        </p:nvSpPr>
        <p:spPr>
          <a:xfrm>
            <a:off x="8784488" y="2064367"/>
            <a:ext cx="49987" cy="52608"/>
          </a:xfrm>
          <a:prstGeom prst="ellipse">
            <a:avLst/>
          </a:prstGeom>
          <a:gradFill rotWithShape="1">
            <a:gsLst>
              <a:gs pos="0">
                <a:srgbClr val="F5D4D2"/>
              </a:gs>
              <a:gs pos="30000">
                <a:srgbClr val="E27F77"/>
              </a:gs>
              <a:gs pos="67000">
                <a:srgbClr val="D8544A"/>
              </a:gs>
              <a:gs pos="100000">
                <a:srgbClr val="B3403B"/>
              </a:gs>
            </a:gsLst>
            <a:lin ang="3300000" scaled="1"/>
          </a:gradFill>
          <a:ln w="12692">
            <a:solidFill>
              <a:srgbClr val="9C333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3" name="lps_source_component_oval_54"/>
          <p:cNvSpPr/>
          <p:nvPr/>
        </p:nvSpPr>
        <p:spPr>
          <a:xfrm>
            <a:off x="8796485" y="2074099"/>
            <a:ext cx="12997" cy="9733"/>
          </a:xfrm>
          <a:prstGeom prst="ellipse">
            <a:avLst/>
          </a:prstGeom>
          <a:solidFill>
            <a:srgbClr val="F5D3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4" name="lps_source_component_path_55"/>
          <p:cNvSpPr/>
          <p:nvPr/>
        </p:nvSpPr>
        <p:spPr>
          <a:xfrm>
            <a:off x="9043797" y="2222192"/>
            <a:ext cx="7810" cy="49320"/>
          </a:xfrm>
          <a:custGeom>
            <a:avLst/>
            <a:gdLst/>
            <a:ahLst/>
            <a:cxnLst/>
            <a:rect l="0" t="0" r="r" b="b"/>
            <a:pathLst>
              <a:path w="7810" h="49320">
                <a:moveTo>
                  <a:pt x="0" y="49320"/>
                </a:moveTo>
                <a:lnTo>
                  <a:pt x="7810" y="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5" name="lps_source_component_path_56"/>
          <p:cNvSpPr/>
          <p:nvPr/>
        </p:nvSpPr>
        <p:spPr>
          <a:xfrm>
            <a:off x="9041844" y="2219726"/>
            <a:ext cx="7811" cy="49320"/>
          </a:xfrm>
          <a:custGeom>
            <a:avLst/>
            <a:gdLst/>
            <a:ahLst/>
            <a:cxnLst/>
            <a:rect l="0" t="0" r="r" b="b"/>
            <a:pathLst>
              <a:path w="7811" h="49320">
                <a:moveTo>
                  <a:pt x="0" y="49320"/>
                </a:moveTo>
                <a:lnTo>
                  <a:pt x="7811" y="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6" name="lps_source_component_path_57"/>
          <p:cNvSpPr/>
          <p:nvPr/>
        </p:nvSpPr>
        <p:spPr>
          <a:xfrm>
            <a:off x="9035986" y="2172872"/>
            <a:ext cx="15621" cy="49320"/>
          </a:xfrm>
          <a:custGeom>
            <a:avLst/>
            <a:gdLst/>
            <a:ahLst/>
            <a:cxnLst/>
            <a:rect l="0" t="0" r="r" b="b"/>
            <a:pathLst>
              <a:path w="15621" h="49320">
                <a:moveTo>
                  <a:pt x="15621" y="49320"/>
                </a:moveTo>
                <a:lnTo>
                  <a:pt x="0" y="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7" name="lps_source_component_path_58"/>
          <p:cNvSpPr/>
          <p:nvPr/>
        </p:nvSpPr>
        <p:spPr>
          <a:xfrm>
            <a:off x="9034034" y="2170406"/>
            <a:ext cx="15621" cy="49320"/>
          </a:xfrm>
          <a:custGeom>
            <a:avLst/>
            <a:gdLst/>
            <a:ahLst/>
            <a:cxnLst/>
            <a:rect l="0" t="0" r="r" b="b"/>
            <a:pathLst>
              <a:path w="15621" h="49320">
                <a:moveTo>
                  <a:pt x="15621" y="49320"/>
                </a:moveTo>
                <a:lnTo>
                  <a:pt x="0" y="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8" name="lps_source_component_oval_59"/>
          <p:cNvSpPr/>
          <p:nvPr/>
        </p:nvSpPr>
        <p:spPr>
          <a:xfrm>
            <a:off x="9035986" y="2205752"/>
            <a:ext cx="31242" cy="32880"/>
          </a:xfrm>
          <a:prstGeom prst="ellipse">
            <a:avLst/>
          </a:prstGeom>
          <a:gradFill rotWithShape="1">
            <a:gsLst>
              <a:gs pos="0">
                <a:srgbClr val="F5D4D2"/>
              </a:gs>
              <a:gs pos="30000">
                <a:srgbClr val="E27F77"/>
              </a:gs>
              <a:gs pos="67000">
                <a:srgbClr val="D8544A"/>
              </a:gs>
              <a:gs pos="100000">
                <a:srgbClr val="B3403B"/>
              </a:gs>
            </a:gsLst>
            <a:lin ang="3300000" scaled="1"/>
          </a:gradFill>
          <a:ln w="12692">
            <a:solidFill>
              <a:srgbClr val="9C333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9" name="lps_source_component_oval_60"/>
          <p:cNvSpPr/>
          <p:nvPr/>
        </p:nvSpPr>
        <p:spPr>
          <a:xfrm>
            <a:off x="9043485" y="2211835"/>
            <a:ext cx="8123" cy="6083"/>
          </a:xfrm>
          <a:prstGeom prst="ellipse">
            <a:avLst/>
          </a:prstGeom>
          <a:solidFill>
            <a:srgbClr val="F5D3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0" name="lps_source_component_oval_61"/>
          <p:cNvSpPr/>
          <p:nvPr/>
        </p:nvSpPr>
        <p:spPr>
          <a:xfrm>
            <a:off x="9010993" y="2146567"/>
            <a:ext cx="49987" cy="52608"/>
          </a:xfrm>
          <a:prstGeom prst="ellipse">
            <a:avLst/>
          </a:prstGeom>
          <a:gradFill rotWithShape="1">
            <a:gsLst>
              <a:gs pos="0">
                <a:srgbClr val="F5D4D2"/>
              </a:gs>
              <a:gs pos="30000">
                <a:srgbClr val="E27F77"/>
              </a:gs>
              <a:gs pos="67000">
                <a:srgbClr val="D8544A"/>
              </a:gs>
              <a:gs pos="100000">
                <a:srgbClr val="B3403B"/>
              </a:gs>
            </a:gsLst>
            <a:lin ang="3300000" scaled="1"/>
          </a:gradFill>
          <a:ln w="12692">
            <a:solidFill>
              <a:srgbClr val="9C333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1" name="lps_source_component_oval_62"/>
          <p:cNvSpPr/>
          <p:nvPr/>
        </p:nvSpPr>
        <p:spPr>
          <a:xfrm>
            <a:off x="9022990" y="2156300"/>
            <a:ext cx="12997" cy="9733"/>
          </a:xfrm>
          <a:prstGeom prst="ellipse">
            <a:avLst/>
          </a:prstGeom>
          <a:solidFill>
            <a:srgbClr val="F5D3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2" name="lps_source_component_path_63"/>
          <p:cNvSpPr/>
          <p:nvPr/>
        </p:nvSpPr>
        <p:spPr>
          <a:xfrm>
            <a:off x="9145334" y="2287953"/>
            <a:ext cx="39053" cy="65761"/>
          </a:xfrm>
          <a:custGeom>
            <a:avLst/>
            <a:gdLst/>
            <a:ahLst/>
            <a:cxnLst/>
            <a:rect l="0" t="0" r="r" b="b"/>
            <a:pathLst>
              <a:path w="39053" h="65761">
                <a:moveTo>
                  <a:pt x="0" y="65761"/>
                </a:moveTo>
                <a:lnTo>
                  <a:pt x="39053" y="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3" name="lps_source_component_path_64"/>
          <p:cNvSpPr/>
          <p:nvPr/>
        </p:nvSpPr>
        <p:spPr>
          <a:xfrm>
            <a:off x="9143381" y="2285487"/>
            <a:ext cx="39053" cy="65761"/>
          </a:xfrm>
          <a:custGeom>
            <a:avLst/>
            <a:gdLst/>
            <a:ahLst/>
            <a:cxnLst/>
            <a:rect l="0" t="0" r="r" b="b"/>
            <a:pathLst>
              <a:path w="39053" h="65761">
                <a:moveTo>
                  <a:pt x="0" y="65761"/>
                </a:moveTo>
                <a:lnTo>
                  <a:pt x="39053" y="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4" name="lps_source_component_path_65"/>
          <p:cNvSpPr/>
          <p:nvPr/>
        </p:nvSpPr>
        <p:spPr>
          <a:xfrm>
            <a:off x="9184386" y="2263292"/>
            <a:ext cx="31242" cy="24660"/>
          </a:xfrm>
          <a:custGeom>
            <a:avLst/>
            <a:gdLst/>
            <a:ahLst/>
            <a:cxnLst/>
            <a:rect l="0" t="0" r="r" b="b"/>
            <a:pathLst>
              <a:path w="31242" h="24660">
                <a:moveTo>
                  <a:pt x="0" y="24660"/>
                </a:moveTo>
                <a:lnTo>
                  <a:pt x="31242" y="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5" name="lps_source_component_path_66"/>
          <p:cNvSpPr/>
          <p:nvPr/>
        </p:nvSpPr>
        <p:spPr>
          <a:xfrm>
            <a:off x="9182433" y="2260826"/>
            <a:ext cx="31242" cy="24660"/>
          </a:xfrm>
          <a:custGeom>
            <a:avLst/>
            <a:gdLst/>
            <a:ahLst/>
            <a:cxnLst/>
            <a:rect l="0" t="0" r="r" b="b"/>
            <a:pathLst>
              <a:path w="31242" h="24660">
                <a:moveTo>
                  <a:pt x="0" y="24660"/>
                </a:moveTo>
                <a:lnTo>
                  <a:pt x="31242" y="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6" name="lps_source_component_path_67"/>
          <p:cNvSpPr/>
          <p:nvPr/>
        </p:nvSpPr>
        <p:spPr>
          <a:xfrm>
            <a:off x="9215628" y="2238632"/>
            <a:ext cx="39053" cy="24660"/>
          </a:xfrm>
          <a:custGeom>
            <a:avLst/>
            <a:gdLst/>
            <a:ahLst/>
            <a:cxnLst/>
            <a:rect l="0" t="0" r="r" b="b"/>
            <a:pathLst>
              <a:path w="39053" h="24660">
                <a:moveTo>
                  <a:pt x="0" y="24660"/>
                </a:moveTo>
                <a:lnTo>
                  <a:pt x="39053" y="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7" name="lps_source_component_path_68"/>
          <p:cNvSpPr/>
          <p:nvPr/>
        </p:nvSpPr>
        <p:spPr>
          <a:xfrm>
            <a:off x="9213675" y="2236166"/>
            <a:ext cx="39052" cy="24660"/>
          </a:xfrm>
          <a:custGeom>
            <a:avLst/>
            <a:gdLst/>
            <a:ahLst/>
            <a:cxnLst/>
            <a:rect l="0" t="0" r="r" b="b"/>
            <a:pathLst>
              <a:path w="39052" h="24660">
                <a:moveTo>
                  <a:pt x="0" y="24660"/>
                </a:moveTo>
                <a:lnTo>
                  <a:pt x="39052" y="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8" name="lps_source_component_oval_69"/>
          <p:cNvSpPr/>
          <p:nvPr/>
        </p:nvSpPr>
        <p:spPr>
          <a:xfrm>
            <a:off x="9168765" y="2271512"/>
            <a:ext cx="31242" cy="32880"/>
          </a:xfrm>
          <a:prstGeom prst="ellipse">
            <a:avLst/>
          </a:prstGeom>
          <a:gradFill rotWithShape="1">
            <a:gsLst>
              <a:gs pos="0">
                <a:srgbClr val="F5D4D2"/>
              </a:gs>
              <a:gs pos="30000">
                <a:srgbClr val="E27F77"/>
              </a:gs>
              <a:gs pos="67000">
                <a:srgbClr val="D8544A"/>
              </a:gs>
              <a:gs pos="100000">
                <a:srgbClr val="B3403B"/>
              </a:gs>
            </a:gsLst>
            <a:lin ang="3300000" scaled="1"/>
          </a:gradFill>
          <a:ln w="12692">
            <a:solidFill>
              <a:srgbClr val="9C333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9" name="lps_source_component_oval_70"/>
          <p:cNvSpPr/>
          <p:nvPr/>
        </p:nvSpPr>
        <p:spPr>
          <a:xfrm>
            <a:off x="9176263" y="2277595"/>
            <a:ext cx="8123" cy="6083"/>
          </a:xfrm>
          <a:prstGeom prst="ellipse">
            <a:avLst/>
          </a:prstGeom>
          <a:solidFill>
            <a:srgbClr val="F5D3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0" name="lps_source_component_oval_71"/>
          <p:cNvSpPr/>
          <p:nvPr/>
        </p:nvSpPr>
        <p:spPr>
          <a:xfrm>
            <a:off x="9229687" y="2212328"/>
            <a:ext cx="49987" cy="52608"/>
          </a:xfrm>
          <a:prstGeom prst="ellipse">
            <a:avLst/>
          </a:prstGeom>
          <a:gradFill rotWithShape="1">
            <a:gsLst>
              <a:gs pos="0">
                <a:srgbClr val="F5D4D2"/>
              </a:gs>
              <a:gs pos="30000">
                <a:srgbClr val="E27F77"/>
              </a:gs>
              <a:gs pos="67000">
                <a:srgbClr val="D8544A"/>
              </a:gs>
              <a:gs pos="100000">
                <a:srgbClr val="B3403B"/>
              </a:gs>
            </a:gsLst>
            <a:lin ang="3300000" scaled="1"/>
          </a:gradFill>
          <a:ln w="12692">
            <a:solidFill>
              <a:srgbClr val="9C333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1" name="lps_source_component_oval_72"/>
          <p:cNvSpPr/>
          <p:nvPr/>
        </p:nvSpPr>
        <p:spPr>
          <a:xfrm>
            <a:off x="9241684" y="2222061"/>
            <a:ext cx="12997" cy="9733"/>
          </a:xfrm>
          <a:prstGeom prst="ellipse">
            <a:avLst/>
          </a:prstGeom>
          <a:solidFill>
            <a:srgbClr val="F5D3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2" name="lps_source_component_path_73"/>
          <p:cNvSpPr/>
          <p:nvPr/>
        </p:nvSpPr>
        <p:spPr>
          <a:xfrm>
            <a:off x="9035986" y="2633196"/>
            <a:ext cx="15621" cy="49320"/>
          </a:xfrm>
          <a:custGeom>
            <a:avLst/>
            <a:gdLst/>
            <a:ahLst/>
            <a:cxnLst/>
            <a:rect l="0" t="0" r="r" b="b"/>
            <a:pathLst>
              <a:path w="15621" h="49320">
                <a:moveTo>
                  <a:pt x="0" y="0"/>
                </a:moveTo>
                <a:lnTo>
                  <a:pt x="15621" y="4932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3" name="lps_source_component_path_74"/>
          <p:cNvSpPr/>
          <p:nvPr/>
        </p:nvSpPr>
        <p:spPr>
          <a:xfrm>
            <a:off x="9034034" y="2630730"/>
            <a:ext cx="15621" cy="49320"/>
          </a:xfrm>
          <a:custGeom>
            <a:avLst/>
            <a:gdLst/>
            <a:ahLst/>
            <a:cxnLst/>
            <a:rect l="0" t="0" r="r" b="b"/>
            <a:pathLst>
              <a:path w="15621" h="49320">
                <a:moveTo>
                  <a:pt x="0" y="0"/>
                </a:moveTo>
                <a:lnTo>
                  <a:pt x="15621" y="4932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4" name="lps_source_component_path_75"/>
          <p:cNvSpPr/>
          <p:nvPr/>
        </p:nvSpPr>
        <p:spPr>
          <a:xfrm>
            <a:off x="9028176" y="2682516"/>
            <a:ext cx="23431" cy="49320"/>
          </a:xfrm>
          <a:custGeom>
            <a:avLst/>
            <a:gdLst/>
            <a:ahLst/>
            <a:cxnLst/>
            <a:rect l="0" t="0" r="r" b="b"/>
            <a:pathLst>
              <a:path w="23431" h="49320">
                <a:moveTo>
                  <a:pt x="23431" y="0"/>
                </a:moveTo>
                <a:lnTo>
                  <a:pt x="0" y="4932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5" name="lps_source_component_path_76"/>
          <p:cNvSpPr/>
          <p:nvPr/>
        </p:nvSpPr>
        <p:spPr>
          <a:xfrm>
            <a:off x="9026223" y="2680050"/>
            <a:ext cx="23432" cy="49320"/>
          </a:xfrm>
          <a:custGeom>
            <a:avLst/>
            <a:gdLst/>
            <a:ahLst/>
            <a:cxnLst/>
            <a:rect l="0" t="0" r="r" b="b"/>
            <a:pathLst>
              <a:path w="23432" h="49320">
                <a:moveTo>
                  <a:pt x="23432" y="0"/>
                </a:moveTo>
                <a:lnTo>
                  <a:pt x="0" y="4932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6" name="lps_source_component_path_77"/>
          <p:cNvSpPr/>
          <p:nvPr/>
        </p:nvSpPr>
        <p:spPr>
          <a:xfrm>
            <a:off x="9028176" y="2731837"/>
            <a:ext cx="39053" cy="41100"/>
          </a:xfrm>
          <a:custGeom>
            <a:avLst/>
            <a:gdLst/>
            <a:ahLst/>
            <a:cxnLst/>
            <a:rect l="0" t="0" r="r" b="b"/>
            <a:pathLst>
              <a:path w="39053" h="41100">
                <a:moveTo>
                  <a:pt x="0" y="0"/>
                </a:moveTo>
                <a:lnTo>
                  <a:pt x="39053" y="4110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7" name="lps_source_component_path_78"/>
          <p:cNvSpPr/>
          <p:nvPr/>
        </p:nvSpPr>
        <p:spPr>
          <a:xfrm>
            <a:off x="9026223" y="2729371"/>
            <a:ext cx="39053" cy="41100"/>
          </a:xfrm>
          <a:custGeom>
            <a:avLst/>
            <a:gdLst/>
            <a:ahLst/>
            <a:cxnLst/>
            <a:rect l="0" t="0" r="r" b="b"/>
            <a:pathLst>
              <a:path w="39053" h="41100">
                <a:moveTo>
                  <a:pt x="0" y="0"/>
                </a:moveTo>
                <a:lnTo>
                  <a:pt x="39053" y="4110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8" name="lps_source_component_oval_79"/>
          <p:cNvSpPr/>
          <p:nvPr/>
        </p:nvSpPr>
        <p:spPr>
          <a:xfrm>
            <a:off x="9035986" y="2666076"/>
            <a:ext cx="31242" cy="32880"/>
          </a:xfrm>
          <a:prstGeom prst="ellipse">
            <a:avLst/>
          </a:prstGeom>
          <a:gradFill rotWithShape="1">
            <a:gsLst>
              <a:gs pos="0">
                <a:srgbClr val="F5D4D2"/>
              </a:gs>
              <a:gs pos="30000">
                <a:srgbClr val="E27F77"/>
              </a:gs>
              <a:gs pos="67000">
                <a:srgbClr val="D8544A"/>
              </a:gs>
              <a:gs pos="100000">
                <a:srgbClr val="B3403B"/>
              </a:gs>
            </a:gsLst>
            <a:lin ang="3300000" scaled="1"/>
          </a:gradFill>
          <a:ln w="12692">
            <a:solidFill>
              <a:srgbClr val="9C333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9" name="lps_source_component_oval_80"/>
          <p:cNvSpPr/>
          <p:nvPr/>
        </p:nvSpPr>
        <p:spPr>
          <a:xfrm>
            <a:off x="9043485" y="2672159"/>
            <a:ext cx="8123" cy="6083"/>
          </a:xfrm>
          <a:prstGeom prst="ellipse">
            <a:avLst/>
          </a:prstGeom>
          <a:solidFill>
            <a:srgbClr val="F5D3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0" name="lps_source_component_oval_81"/>
          <p:cNvSpPr/>
          <p:nvPr/>
        </p:nvSpPr>
        <p:spPr>
          <a:xfrm>
            <a:off x="9042235" y="2746633"/>
            <a:ext cx="49987" cy="52608"/>
          </a:xfrm>
          <a:prstGeom prst="ellipse">
            <a:avLst/>
          </a:prstGeom>
          <a:gradFill rotWithShape="1">
            <a:gsLst>
              <a:gs pos="0">
                <a:srgbClr val="F5D4D2"/>
              </a:gs>
              <a:gs pos="30000">
                <a:srgbClr val="E27F77"/>
              </a:gs>
              <a:gs pos="67000">
                <a:srgbClr val="D8544A"/>
              </a:gs>
              <a:gs pos="100000">
                <a:srgbClr val="B3403B"/>
              </a:gs>
            </a:gsLst>
            <a:lin ang="3300000" scaled="1"/>
          </a:gradFill>
          <a:ln w="12692">
            <a:solidFill>
              <a:srgbClr val="9C333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1" name="lps_source_component_oval_82"/>
          <p:cNvSpPr/>
          <p:nvPr/>
        </p:nvSpPr>
        <p:spPr>
          <a:xfrm>
            <a:off x="9054232" y="2756365"/>
            <a:ext cx="12997" cy="9733"/>
          </a:xfrm>
          <a:prstGeom prst="ellipse">
            <a:avLst/>
          </a:prstGeom>
          <a:solidFill>
            <a:srgbClr val="F5D3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2" name="lps_source_component_path_83"/>
          <p:cNvSpPr/>
          <p:nvPr/>
        </p:nvSpPr>
        <p:spPr>
          <a:xfrm>
            <a:off x="8950071" y="2592095"/>
            <a:ext cx="95" cy="49320"/>
          </a:xfrm>
          <a:custGeom>
            <a:avLst/>
            <a:gdLst/>
            <a:ahLst/>
            <a:cxnLst/>
            <a:rect l="0" t="0" r="r" b="b"/>
            <a:pathLst>
              <a:path w="95" h="49320">
                <a:moveTo>
                  <a:pt x="0" y="49320"/>
                </a:moveTo>
                <a:lnTo>
                  <a:pt x="0" y="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3" name="lps_source_component_path_84"/>
          <p:cNvSpPr/>
          <p:nvPr/>
        </p:nvSpPr>
        <p:spPr>
          <a:xfrm>
            <a:off x="8948118" y="2589629"/>
            <a:ext cx="95" cy="49320"/>
          </a:xfrm>
          <a:custGeom>
            <a:avLst/>
            <a:gdLst/>
            <a:ahLst/>
            <a:cxnLst/>
            <a:rect l="0" t="0" r="r" b="b"/>
            <a:pathLst>
              <a:path w="95" h="49320">
                <a:moveTo>
                  <a:pt x="0" y="49320"/>
                </a:moveTo>
                <a:lnTo>
                  <a:pt x="0" y="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4" name="lps_source_component_path_85"/>
          <p:cNvSpPr/>
          <p:nvPr/>
        </p:nvSpPr>
        <p:spPr>
          <a:xfrm>
            <a:off x="8950071" y="2542775"/>
            <a:ext cx="39053" cy="49320"/>
          </a:xfrm>
          <a:custGeom>
            <a:avLst/>
            <a:gdLst/>
            <a:ahLst/>
            <a:cxnLst/>
            <a:rect l="0" t="0" r="r" b="b"/>
            <a:pathLst>
              <a:path w="39053" h="49320">
                <a:moveTo>
                  <a:pt x="0" y="49320"/>
                </a:moveTo>
                <a:lnTo>
                  <a:pt x="39053" y="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5" name="lps_source_component_path_86"/>
          <p:cNvSpPr/>
          <p:nvPr/>
        </p:nvSpPr>
        <p:spPr>
          <a:xfrm>
            <a:off x="8948118" y="2540309"/>
            <a:ext cx="39053" cy="49320"/>
          </a:xfrm>
          <a:custGeom>
            <a:avLst/>
            <a:gdLst/>
            <a:ahLst/>
            <a:cxnLst/>
            <a:rect l="0" t="0" r="r" b="b"/>
            <a:pathLst>
              <a:path w="39053" h="49320">
                <a:moveTo>
                  <a:pt x="0" y="49320"/>
                </a:moveTo>
                <a:lnTo>
                  <a:pt x="39053" y="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6" name="lps_source_component_oval_87"/>
          <p:cNvSpPr/>
          <p:nvPr/>
        </p:nvSpPr>
        <p:spPr>
          <a:xfrm>
            <a:off x="8934450" y="2575655"/>
            <a:ext cx="31242" cy="32880"/>
          </a:xfrm>
          <a:prstGeom prst="ellipse">
            <a:avLst/>
          </a:prstGeom>
          <a:gradFill rotWithShape="1">
            <a:gsLst>
              <a:gs pos="0">
                <a:srgbClr val="F5D4D2"/>
              </a:gs>
              <a:gs pos="30000">
                <a:srgbClr val="E27F77"/>
              </a:gs>
              <a:gs pos="67000">
                <a:srgbClr val="D8544A"/>
              </a:gs>
              <a:gs pos="100000">
                <a:srgbClr val="B3403B"/>
              </a:gs>
            </a:gsLst>
            <a:lin ang="3300000" scaled="1"/>
          </a:gradFill>
          <a:ln w="12692">
            <a:solidFill>
              <a:srgbClr val="9C333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7" name="lps_source_component_oval_88"/>
          <p:cNvSpPr/>
          <p:nvPr/>
        </p:nvSpPr>
        <p:spPr>
          <a:xfrm>
            <a:off x="8941948" y="2581738"/>
            <a:ext cx="8123" cy="6083"/>
          </a:xfrm>
          <a:prstGeom prst="ellipse">
            <a:avLst/>
          </a:prstGeom>
          <a:solidFill>
            <a:srgbClr val="F5D3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8" name="lps_source_component_oval_89"/>
          <p:cNvSpPr/>
          <p:nvPr/>
        </p:nvSpPr>
        <p:spPr>
          <a:xfrm>
            <a:off x="8964130" y="2516471"/>
            <a:ext cx="49987" cy="52608"/>
          </a:xfrm>
          <a:prstGeom prst="ellipse">
            <a:avLst/>
          </a:prstGeom>
          <a:gradFill rotWithShape="1">
            <a:gsLst>
              <a:gs pos="0">
                <a:srgbClr val="F5D4D2"/>
              </a:gs>
              <a:gs pos="30000">
                <a:srgbClr val="E27F77"/>
              </a:gs>
              <a:gs pos="67000">
                <a:srgbClr val="D8544A"/>
              </a:gs>
              <a:gs pos="100000">
                <a:srgbClr val="B3403B"/>
              </a:gs>
            </a:gsLst>
            <a:lin ang="3300000" scaled="1"/>
          </a:gradFill>
          <a:ln w="12692">
            <a:solidFill>
              <a:srgbClr val="9C333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9" name="lps_source_component_oval_90"/>
          <p:cNvSpPr/>
          <p:nvPr/>
        </p:nvSpPr>
        <p:spPr>
          <a:xfrm>
            <a:off x="8976127" y="2526203"/>
            <a:ext cx="12997" cy="9733"/>
          </a:xfrm>
          <a:prstGeom prst="ellipse">
            <a:avLst/>
          </a:prstGeom>
          <a:solidFill>
            <a:srgbClr val="F5D3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0" name="lps_source_component_path_91"/>
          <p:cNvSpPr/>
          <p:nvPr/>
        </p:nvSpPr>
        <p:spPr>
          <a:xfrm>
            <a:off x="9192196" y="2550995"/>
            <a:ext cx="31242" cy="16440"/>
          </a:xfrm>
          <a:custGeom>
            <a:avLst/>
            <a:gdLst/>
            <a:ahLst/>
            <a:cxnLst/>
            <a:rect l="0" t="0" r="r" b="b"/>
            <a:pathLst>
              <a:path w="31242" h="16440">
                <a:moveTo>
                  <a:pt x="0" y="0"/>
                </a:moveTo>
                <a:lnTo>
                  <a:pt x="31242" y="1644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1" name="lps_source_component_path_92"/>
          <p:cNvSpPr/>
          <p:nvPr/>
        </p:nvSpPr>
        <p:spPr>
          <a:xfrm>
            <a:off x="9190244" y="2548529"/>
            <a:ext cx="31242" cy="16440"/>
          </a:xfrm>
          <a:custGeom>
            <a:avLst/>
            <a:gdLst/>
            <a:ahLst/>
            <a:cxnLst/>
            <a:rect l="0" t="0" r="r" b="b"/>
            <a:pathLst>
              <a:path w="31242" h="16440">
                <a:moveTo>
                  <a:pt x="0" y="0"/>
                </a:moveTo>
                <a:lnTo>
                  <a:pt x="31242" y="1644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2" name="lps_source_component_path_93"/>
          <p:cNvSpPr/>
          <p:nvPr/>
        </p:nvSpPr>
        <p:spPr>
          <a:xfrm>
            <a:off x="9223438" y="2567435"/>
            <a:ext cx="31242" cy="49320"/>
          </a:xfrm>
          <a:custGeom>
            <a:avLst/>
            <a:gdLst/>
            <a:ahLst/>
            <a:cxnLst/>
            <a:rect l="0" t="0" r="r" b="b"/>
            <a:pathLst>
              <a:path w="31242" h="49320">
                <a:moveTo>
                  <a:pt x="0" y="0"/>
                </a:moveTo>
                <a:lnTo>
                  <a:pt x="31242" y="4932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3" name="lps_source_component_path_94"/>
          <p:cNvSpPr/>
          <p:nvPr/>
        </p:nvSpPr>
        <p:spPr>
          <a:xfrm>
            <a:off x="9221486" y="2564969"/>
            <a:ext cx="31242" cy="49320"/>
          </a:xfrm>
          <a:custGeom>
            <a:avLst/>
            <a:gdLst/>
            <a:ahLst/>
            <a:cxnLst/>
            <a:rect l="0" t="0" r="r" b="b"/>
            <a:pathLst>
              <a:path w="31242" h="49320">
                <a:moveTo>
                  <a:pt x="0" y="0"/>
                </a:moveTo>
                <a:lnTo>
                  <a:pt x="31242" y="4932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4" name="lps_source_component_oval_95"/>
          <p:cNvSpPr/>
          <p:nvPr/>
        </p:nvSpPr>
        <p:spPr>
          <a:xfrm>
            <a:off x="9207818" y="2550995"/>
            <a:ext cx="31242" cy="32880"/>
          </a:xfrm>
          <a:prstGeom prst="ellipse">
            <a:avLst/>
          </a:prstGeom>
          <a:gradFill rotWithShape="1">
            <a:gsLst>
              <a:gs pos="0">
                <a:srgbClr val="F5D4D2"/>
              </a:gs>
              <a:gs pos="30000">
                <a:srgbClr val="E27F77"/>
              </a:gs>
              <a:gs pos="67000">
                <a:srgbClr val="D8544A"/>
              </a:gs>
              <a:gs pos="100000">
                <a:srgbClr val="B3403B"/>
              </a:gs>
            </a:gsLst>
            <a:lin ang="3300000" scaled="1"/>
          </a:gradFill>
          <a:ln w="12692">
            <a:solidFill>
              <a:srgbClr val="9C333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5" name="lps_source_component_oval_96"/>
          <p:cNvSpPr/>
          <p:nvPr/>
        </p:nvSpPr>
        <p:spPr>
          <a:xfrm>
            <a:off x="9215316" y="2557078"/>
            <a:ext cx="8123" cy="6083"/>
          </a:xfrm>
          <a:prstGeom prst="ellipse">
            <a:avLst/>
          </a:prstGeom>
          <a:solidFill>
            <a:srgbClr val="F5D3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6" name="lps_source_component_oval_97"/>
          <p:cNvSpPr/>
          <p:nvPr/>
        </p:nvSpPr>
        <p:spPr>
          <a:xfrm>
            <a:off x="9229687" y="2590451"/>
            <a:ext cx="49987" cy="52608"/>
          </a:xfrm>
          <a:prstGeom prst="ellipse">
            <a:avLst/>
          </a:prstGeom>
          <a:gradFill rotWithShape="1">
            <a:gsLst>
              <a:gs pos="0">
                <a:srgbClr val="F5D4D2"/>
              </a:gs>
              <a:gs pos="30000">
                <a:srgbClr val="E27F77"/>
              </a:gs>
              <a:gs pos="67000">
                <a:srgbClr val="D8544A"/>
              </a:gs>
              <a:gs pos="100000">
                <a:srgbClr val="B3403B"/>
              </a:gs>
            </a:gsLst>
            <a:lin ang="3300000" scaled="1"/>
          </a:gradFill>
          <a:ln w="12692">
            <a:solidFill>
              <a:srgbClr val="9C333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7" name="lps_source_component_oval_98"/>
          <p:cNvSpPr/>
          <p:nvPr/>
        </p:nvSpPr>
        <p:spPr>
          <a:xfrm>
            <a:off x="9241684" y="2600184"/>
            <a:ext cx="12997" cy="9733"/>
          </a:xfrm>
          <a:prstGeom prst="ellipse">
            <a:avLst/>
          </a:prstGeom>
          <a:solidFill>
            <a:srgbClr val="F5D3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8" name="pg_source_component_path_1"/>
          <p:cNvSpPr/>
          <p:nvPr/>
        </p:nvSpPr>
        <p:spPr>
          <a:xfrm>
            <a:off x="10477383" y="2418100"/>
            <a:ext cx="31815" cy="98639"/>
          </a:xfrm>
          <a:custGeom>
            <a:avLst/>
            <a:gdLst/>
            <a:ahLst/>
            <a:cxnLst/>
            <a:rect l="0" t="0" r="r" b="b"/>
            <a:pathLst>
              <a:path w="31815" h="98639">
                <a:moveTo>
                  <a:pt x="0" y="98639"/>
                </a:moveTo>
                <a:lnTo>
                  <a:pt x="31815" y="0"/>
                </a:lnTo>
              </a:path>
            </a:pathLst>
          </a:custGeom>
          <a:noFill/>
          <a:ln w="9525" cap="rnd">
            <a:solidFill>
              <a:srgbClr val="9372B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9" name="pg_source_component_path_2"/>
          <p:cNvSpPr/>
          <p:nvPr/>
        </p:nvSpPr>
        <p:spPr>
          <a:xfrm>
            <a:off x="10509198" y="2368718"/>
            <a:ext cx="67729" cy="49382"/>
          </a:xfrm>
          <a:custGeom>
            <a:avLst/>
            <a:gdLst/>
            <a:ahLst/>
            <a:cxnLst/>
            <a:rect l="0" t="0" r="r" b="b"/>
            <a:pathLst>
              <a:path w="67729" h="49382">
                <a:moveTo>
                  <a:pt x="0" y="49382"/>
                </a:moveTo>
                <a:lnTo>
                  <a:pt x="67729" y="0"/>
                </a:lnTo>
              </a:path>
            </a:pathLst>
          </a:custGeom>
          <a:noFill/>
          <a:ln w="9525" cap="rnd">
            <a:solidFill>
              <a:srgbClr val="9372B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0" name="pg_source_component_path_3"/>
          <p:cNvSpPr/>
          <p:nvPr/>
        </p:nvSpPr>
        <p:spPr>
          <a:xfrm>
            <a:off x="10576927" y="2319336"/>
            <a:ext cx="67729" cy="49382"/>
          </a:xfrm>
          <a:custGeom>
            <a:avLst/>
            <a:gdLst/>
            <a:ahLst/>
            <a:cxnLst/>
            <a:rect l="0" t="0" r="r" b="b"/>
            <a:pathLst>
              <a:path w="67729" h="49382">
                <a:moveTo>
                  <a:pt x="0" y="49382"/>
                </a:moveTo>
                <a:lnTo>
                  <a:pt x="67729" y="0"/>
                </a:lnTo>
              </a:path>
            </a:pathLst>
          </a:custGeom>
          <a:noFill/>
          <a:ln w="9525" cap="rnd">
            <a:solidFill>
              <a:srgbClr val="9372B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1" name="pg_source_component_path_4"/>
          <p:cNvSpPr/>
          <p:nvPr/>
        </p:nvSpPr>
        <p:spPr>
          <a:xfrm>
            <a:off x="10644656" y="2269954"/>
            <a:ext cx="67729" cy="49382"/>
          </a:xfrm>
          <a:custGeom>
            <a:avLst/>
            <a:gdLst/>
            <a:ahLst/>
            <a:cxnLst/>
            <a:rect l="0" t="0" r="r" b="b"/>
            <a:pathLst>
              <a:path w="67729" h="49382">
                <a:moveTo>
                  <a:pt x="0" y="49382"/>
                </a:moveTo>
                <a:lnTo>
                  <a:pt x="67729" y="0"/>
                </a:lnTo>
              </a:path>
            </a:pathLst>
          </a:custGeom>
          <a:noFill/>
          <a:ln w="9525" cap="rnd">
            <a:solidFill>
              <a:srgbClr val="9372B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2" name="pg_source_component_path_5"/>
          <p:cNvSpPr/>
          <p:nvPr/>
        </p:nvSpPr>
        <p:spPr>
          <a:xfrm>
            <a:off x="10712385" y="2220572"/>
            <a:ext cx="67729" cy="49382"/>
          </a:xfrm>
          <a:custGeom>
            <a:avLst/>
            <a:gdLst/>
            <a:ahLst/>
            <a:cxnLst/>
            <a:rect l="0" t="0" r="r" b="b"/>
            <a:pathLst>
              <a:path w="67729" h="49382">
                <a:moveTo>
                  <a:pt x="0" y="49382"/>
                </a:moveTo>
                <a:lnTo>
                  <a:pt x="67729" y="0"/>
                </a:lnTo>
              </a:path>
            </a:pathLst>
          </a:custGeom>
          <a:noFill/>
          <a:ln w="9525" cap="rnd">
            <a:solidFill>
              <a:srgbClr val="9372B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3" name="pg_source_component_path_6"/>
          <p:cNvSpPr/>
          <p:nvPr/>
        </p:nvSpPr>
        <p:spPr>
          <a:xfrm>
            <a:off x="10780113" y="2171189"/>
            <a:ext cx="67729" cy="49382"/>
          </a:xfrm>
          <a:custGeom>
            <a:avLst/>
            <a:gdLst/>
            <a:ahLst/>
            <a:cxnLst/>
            <a:rect l="0" t="0" r="r" b="b"/>
            <a:pathLst>
              <a:path w="67729" h="49382">
                <a:moveTo>
                  <a:pt x="0" y="49382"/>
                </a:moveTo>
                <a:lnTo>
                  <a:pt x="67729" y="0"/>
                </a:lnTo>
              </a:path>
            </a:pathLst>
          </a:custGeom>
          <a:noFill/>
          <a:ln w="9525" cap="rnd">
            <a:solidFill>
              <a:srgbClr val="9372B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4" name="pg_source_component_path_7"/>
          <p:cNvSpPr/>
          <p:nvPr/>
        </p:nvSpPr>
        <p:spPr>
          <a:xfrm>
            <a:off x="10847842" y="2171189"/>
            <a:ext cx="91329" cy="8854"/>
          </a:xfrm>
          <a:custGeom>
            <a:avLst/>
            <a:gdLst/>
            <a:ahLst/>
            <a:cxnLst/>
            <a:rect l="0" t="0" r="r" b="b"/>
            <a:pathLst>
              <a:path w="91329" h="8854">
                <a:moveTo>
                  <a:pt x="0" y="0"/>
                </a:moveTo>
                <a:lnTo>
                  <a:pt x="91329" y="8854"/>
                </a:lnTo>
              </a:path>
            </a:pathLst>
          </a:custGeom>
          <a:noFill/>
          <a:ln w="9525" cap="rnd">
            <a:solidFill>
              <a:srgbClr val="9372B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5" name="pg_source_component_path_8"/>
          <p:cNvSpPr/>
          <p:nvPr/>
        </p:nvSpPr>
        <p:spPr>
          <a:xfrm>
            <a:off x="10432491" y="2455168"/>
            <a:ext cx="44893" cy="61572"/>
          </a:xfrm>
          <a:custGeom>
            <a:avLst/>
            <a:gdLst/>
            <a:ahLst/>
            <a:cxnLst/>
            <a:rect l="0" t="0" r="r" b="b"/>
            <a:pathLst>
              <a:path w="44893" h="61572">
                <a:moveTo>
                  <a:pt x="44893" y="61572"/>
                </a:moveTo>
                <a:lnTo>
                  <a:pt x="0" y="0"/>
                </a:lnTo>
              </a:path>
            </a:pathLst>
          </a:custGeom>
          <a:noFill/>
          <a:ln w="1428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6" name="pg_source_component_path_9"/>
          <p:cNvSpPr/>
          <p:nvPr/>
        </p:nvSpPr>
        <p:spPr>
          <a:xfrm>
            <a:off x="10416489" y="2443738"/>
            <a:ext cx="32004" cy="22860"/>
          </a:xfrm>
          <a:custGeom>
            <a:avLst/>
            <a:gdLst/>
            <a:ahLst/>
            <a:cxnLst/>
            <a:rect l="0" t="0" r="r" b="b"/>
            <a:pathLst>
              <a:path w="32004" h="22860">
                <a:moveTo>
                  <a:pt x="0" y="0"/>
                </a:moveTo>
                <a:lnTo>
                  <a:pt x="32004" y="22860"/>
                </a:lnTo>
              </a:path>
            </a:pathLst>
          </a:custGeom>
          <a:noFill/>
          <a:ln w="1047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7" name="pg_source_component_oval_10"/>
          <p:cNvSpPr/>
          <p:nvPr/>
        </p:nvSpPr>
        <p:spPr>
          <a:xfrm>
            <a:off x="10418775" y="2441452"/>
            <a:ext cx="27432" cy="27432"/>
          </a:xfrm>
          <a:prstGeom prst="ellipse">
            <a:avLst/>
          </a:prstGeom>
          <a:gradFill rotWithShape="1">
            <a:gsLst>
              <a:gs pos="0">
                <a:srgbClr val="EAE2F2"/>
              </a:gs>
              <a:gs pos="30000">
                <a:srgbClr val="C0A6D9"/>
              </a:gs>
              <a:gs pos="67000">
                <a:srgbClr val="AB89CC"/>
              </a:gs>
              <a:gs pos="100000">
                <a:srgbClr val="906BB7"/>
              </a:gs>
            </a:gsLst>
            <a:lin ang="3300000" scaled="1"/>
          </a:gradFill>
          <a:ln w="12382">
            <a:solidFill>
              <a:srgbClr val="8058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8" name="pg_source_component_oval_11"/>
          <p:cNvSpPr/>
          <p:nvPr/>
        </p:nvSpPr>
        <p:spPr>
          <a:xfrm>
            <a:off x="10425358" y="2446527"/>
            <a:ext cx="7132" cy="5075"/>
          </a:xfrm>
          <a:prstGeom prst="ellipse">
            <a:avLst/>
          </a:prstGeom>
          <a:solidFill>
            <a:srgbClr val="E9E0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9" name="pg_source_component_path_12"/>
          <p:cNvSpPr/>
          <p:nvPr/>
        </p:nvSpPr>
        <p:spPr>
          <a:xfrm>
            <a:off x="10477773" y="2375000"/>
            <a:ext cx="31425" cy="43100"/>
          </a:xfrm>
          <a:custGeom>
            <a:avLst/>
            <a:gdLst/>
            <a:ahLst/>
            <a:cxnLst/>
            <a:rect l="0" t="0" r="r" b="b"/>
            <a:pathLst>
              <a:path w="31425" h="43100">
                <a:moveTo>
                  <a:pt x="31425" y="43100"/>
                </a:moveTo>
                <a:lnTo>
                  <a:pt x="0" y="0"/>
                </a:lnTo>
              </a:path>
            </a:pathLst>
          </a:custGeom>
          <a:noFill/>
          <a:ln w="1428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0" name="pg_source_component_path_13"/>
          <p:cNvSpPr/>
          <p:nvPr/>
        </p:nvSpPr>
        <p:spPr>
          <a:xfrm>
            <a:off x="10461771" y="2363570"/>
            <a:ext cx="32004" cy="22860"/>
          </a:xfrm>
          <a:custGeom>
            <a:avLst/>
            <a:gdLst/>
            <a:ahLst/>
            <a:cxnLst/>
            <a:rect l="0" t="0" r="r" b="b"/>
            <a:pathLst>
              <a:path w="32004" h="22860">
                <a:moveTo>
                  <a:pt x="0" y="0"/>
                </a:moveTo>
                <a:lnTo>
                  <a:pt x="32004" y="22860"/>
                </a:lnTo>
              </a:path>
            </a:pathLst>
          </a:custGeom>
          <a:noFill/>
          <a:ln w="1047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1" name="pg_source_component_oval_14"/>
          <p:cNvSpPr/>
          <p:nvPr/>
        </p:nvSpPr>
        <p:spPr>
          <a:xfrm>
            <a:off x="10464057" y="2361284"/>
            <a:ext cx="27432" cy="27432"/>
          </a:xfrm>
          <a:prstGeom prst="ellipse">
            <a:avLst/>
          </a:prstGeom>
          <a:gradFill rotWithShape="1">
            <a:gsLst>
              <a:gs pos="0">
                <a:srgbClr val="EAE2F2"/>
              </a:gs>
              <a:gs pos="30000">
                <a:srgbClr val="C0A6D9"/>
              </a:gs>
              <a:gs pos="67000">
                <a:srgbClr val="AB89CC"/>
              </a:gs>
              <a:gs pos="100000">
                <a:srgbClr val="906BB7"/>
              </a:gs>
            </a:gsLst>
            <a:lin ang="3300000" scaled="1"/>
          </a:gradFill>
          <a:ln w="12382">
            <a:solidFill>
              <a:srgbClr val="8058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2" name="pg_source_component_oval_15"/>
          <p:cNvSpPr/>
          <p:nvPr/>
        </p:nvSpPr>
        <p:spPr>
          <a:xfrm>
            <a:off x="10470641" y="2366359"/>
            <a:ext cx="7132" cy="5075"/>
          </a:xfrm>
          <a:prstGeom prst="ellipse">
            <a:avLst/>
          </a:prstGeom>
          <a:solidFill>
            <a:srgbClr val="E9E0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3" name="pg_source_component_path_16"/>
          <p:cNvSpPr/>
          <p:nvPr/>
        </p:nvSpPr>
        <p:spPr>
          <a:xfrm>
            <a:off x="10545502" y="2325618"/>
            <a:ext cx="31425" cy="43100"/>
          </a:xfrm>
          <a:custGeom>
            <a:avLst/>
            <a:gdLst/>
            <a:ahLst/>
            <a:cxnLst/>
            <a:rect l="0" t="0" r="r" b="b"/>
            <a:pathLst>
              <a:path w="31425" h="43100">
                <a:moveTo>
                  <a:pt x="31425" y="43100"/>
                </a:moveTo>
                <a:lnTo>
                  <a:pt x="0" y="0"/>
                </a:lnTo>
              </a:path>
            </a:pathLst>
          </a:custGeom>
          <a:noFill/>
          <a:ln w="1428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4" name="pg_source_component_path_17"/>
          <p:cNvSpPr/>
          <p:nvPr/>
        </p:nvSpPr>
        <p:spPr>
          <a:xfrm>
            <a:off x="10529500" y="2314188"/>
            <a:ext cx="32004" cy="22860"/>
          </a:xfrm>
          <a:custGeom>
            <a:avLst/>
            <a:gdLst/>
            <a:ahLst/>
            <a:cxnLst/>
            <a:rect l="0" t="0" r="r" b="b"/>
            <a:pathLst>
              <a:path w="32004" h="22860">
                <a:moveTo>
                  <a:pt x="0" y="0"/>
                </a:moveTo>
                <a:lnTo>
                  <a:pt x="32004" y="22860"/>
                </a:lnTo>
              </a:path>
            </a:pathLst>
          </a:custGeom>
          <a:noFill/>
          <a:ln w="1047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5" name="pg_source_component_oval_18"/>
          <p:cNvSpPr/>
          <p:nvPr/>
        </p:nvSpPr>
        <p:spPr>
          <a:xfrm>
            <a:off x="10531786" y="2311902"/>
            <a:ext cx="27432" cy="27432"/>
          </a:xfrm>
          <a:prstGeom prst="ellipse">
            <a:avLst/>
          </a:prstGeom>
          <a:gradFill rotWithShape="1">
            <a:gsLst>
              <a:gs pos="0">
                <a:srgbClr val="EAE2F2"/>
              </a:gs>
              <a:gs pos="30000">
                <a:srgbClr val="C0A6D9"/>
              </a:gs>
              <a:gs pos="67000">
                <a:srgbClr val="AB89CC"/>
              </a:gs>
              <a:gs pos="100000">
                <a:srgbClr val="906BB7"/>
              </a:gs>
            </a:gsLst>
            <a:lin ang="3300000" scaled="1"/>
          </a:gradFill>
          <a:ln w="12382">
            <a:solidFill>
              <a:srgbClr val="8058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6" name="pg_source_component_oval_19"/>
          <p:cNvSpPr/>
          <p:nvPr/>
        </p:nvSpPr>
        <p:spPr>
          <a:xfrm>
            <a:off x="10538370" y="2316977"/>
            <a:ext cx="7132" cy="5075"/>
          </a:xfrm>
          <a:prstGeom prst="ellipse">
            <a:avLst/>
          </a:prstGeom>
          <a:solidFill>
            <a:srgbClr val="E9E0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7" name="pg_source_component_path_20"/>
          <p:cNvSpPr/>
          <p:nvPr/>
        </p:nvSpPr>
        <p:spPr>
          <a:xfrm>
            <a:off x="10613231" y="2276236"/>
            <a:ext cx="31425" cy="43100"/>
          </a:xfrm>
          <a:custGeom>
            <a:avLst/>
            <a:gdLst/>
            <a:ahLst/>
            <a:cxnLst/>
            <a:rect l="0" t="0" r="r" b="b"/>
            <a:pathLst>
              <a:path w="31425" h="43100">
                <a:moveTo>
                  <a:pt x="31425" y="43100"/>
                </a:moveTo>
                <a:lnTo>
                  <a:pt x="0" y="0"/>
                </a:lnTo>
              </a:path>
            </a:pathLst>
          </a:custGeom>
          <a:noFill/>
          <a:ln w="1428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8" name="pg_source_component_path_21"/>
          <p:cNvSpPr/>
          <p:nvPr/>
        </p:nvSpPr>
        <p:spPr>
          <a:xfrm>
            <a:off x="10597229" y="2264806"/>
            <a:ext cx="32004" cy="22860"/>
          </a:xfrm>
          <a:custGeom>
            <a:avLst/>
            <a:gdLst/>
            <a:ahLst/>
            <a:cxnLst/>
            <a:rect l="0" t="0" r="r" b="b"/>
            <a:pathLst>
              <a:path w="32004" h="22860">
                <a:moveTo>
                  <a:pt x="0" y="0"/>
                </a:moveTo>
                <a:lnTo>
                  <a:pt x="32004" y="22860"/>
                </a:lnTo>
              </a:path>
            </a:pathLst>
          </a:custGeom>
          <a:noFill/>
          <a:ln w="1047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9" name="pg_source_component_oval_22"/>
          <p:cNvSpPr/>
          <p:nvPr/>
        </p:nvSpPr>
        <p:spPr>
          <a:xfrm>
            <a:off x="10599515" y="2262520"/>
            <a:ext cx="27432" cy="27432"/>
          </a:xfrm>
          <a:prstGeom prst="ellipse">
            <a:avLst/>
          </a:prstGeom>
          <a:gradFill rotWithShape="1">
            <a:gsLst>
              <a:gs pos="0">
                <a:srgbClr val="EAE2F2"/>
              </a:gs>
              <a:gs pos="30000">
                <a:srgbClr val="C0A6D9"/>
              </a:gs>
              <a:gs pos="67000">
                <a:srgbClr val="AB89CC"/>
              </a:gs>
              <a:gs pos="100000">
                <a:srgbClr val="906BB7"/>
              </a:gs>
            </a:gsLst>
            <a:lin ang="3300000" scaled="1"/>
          </a:gradFill>
          <a:ln w="12382">
            <a:solidFill>
              <a:srgbClr val="8058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0" name="pg_source_component_oval_23"/>
          <p:cNvSpPr/>
          <p:nvPr/>
        </p:nvSpPr>
        <p:spPr>
          <a:xfrm>
            <a:off x="10606098" y="2267595"/>
            <a:ext cx="7132" cy="5075"/>
          </a:xfrm>
          <a:prstGeom prst="ellipse">
            <a:avLst/>
          </a:prstGeom>
          <a:solidFill>
            <a:srgbClr val="E9E0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1" name="pg_source_component_path_24"/>
          <p:cNvSpPr/>
          <p:nvPr/>
        </p:nvSpPr>
        <p:spPr>
          <a:xfrm>
            <a:off x="10680960" y="2226853"/>
            <a:ext cx="31425" cy="43100"/>
          </a:xfrm>
          <a:custGeom>
            <a:avLst/>
            <a:gdLst/>
            <a:ahLst/>
            <a:cxnLst/>
            <a:rect l="0" t="0" r="r" b="b"/>
            <a:pathLst>
              <a:path w="31425" h="43100">
                <a:moveTo>
                  <a:pt x="31425" y="43100"/>
                </a:moveTo>
                <a:lnTo>
                  <a:pt x="0" y="0"/>
                </a:lnTo>
              </a:path>
            </a:pathLst>
          </a:custGeom>
          <a:noFill/>
          <a:ln w="1428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2" name="pg_source_component_path_25"/>
          <p:cNvSpPr/>
          <p:nvPr/>
        </p:nvSpPr>
        <p:spPr>
          <a:xfrm>
            <a:off x="10664958" y="2215423"/>
            <a:ext cx="32004" cy="22860"/>
          </a:xfrm>
          <a:custGeom>
            <a:avLst/>
            <a:gdLst/>
            <a:ahLst/>
            <a:cxnLst/>
            <a:rect l="0" t="0" r="r" b="b"/>
            <a:pathLst>
              <a:path w="32004" h="22860">
                <a:moveTo>
                  <a:pt x="0" y="0"/>
                </a:moveTo>
                <a:lnTo>
                  <a:pt x="32004" y="22860"/>
                </a:lnTo>
              </a:path>
            </a:pathLst>
          </a:custGeom>
          <a:noFill/>
          <a:ln w="1047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3" name="pg_source_component_oval_26"/>
          <p:cNvSpPr/>
          <p:nvPr/>
        </p:nvSpPr>
        <p:spPr>
          <a:xfrm>
            <a:off x="10667244" y="2213137"/>
            <a:ext cx="27432" cy="27432"/>
          </a:xfrm>
          <a:prstGeom prst="ellipse">
            <a:avLst/>
          </a:prstGeom>
          <a:gradFill rotWithShape="1">
            <a:gsLst>
              <a:gs pos="0">
                <a:srgbClr val="EAE2F2"/>
              </a:gs>
              <a:gs pos="30000">
                <a:srgbClr val="C0A6D9"/>
              </a:gs>
              <a:gs pos="67000">
                <a:srgbClr val="AB89CC"/>
              </a:gs>
              <a:gs pos="100000">
                <a:srgbClr val="906BB7"/>
              </a:gs>
            </a:gsLst>
            <a:lin ang="3300000" scaled="1"/>
          </a:gradFill>
          <a:ln w="12382">
            <a:solidFill>
              <a:srgbClr val="8058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4" name="pg_source_component_oval_27"/>
          <p:cNvSpPr/>
          <p:nvPr/>
        </p:nvSpPr>
        <p:spPr>
          <a:xfrm>
            <a:off x="10673827" y="2218212"/>
            <a:ext cx="7132" cy="5075"/>
          </a:xfrm>
          <a:prstGeom prst="ellipse">
            <a:avLst/>
          </a:prstGeom>
          <a:solidFill>
            <a:srgbClr val="E9E0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5" name="pg_source_component_path_28"/>
          <p:cNvSpPr/>
          <p:nvPr/>
        </p:nvSpPr>
        <p:spPr>
          <a:xfrm>
            <a:off x="10748688" y="2177471"/>
            <a:ext cx="31425" cy="43100"/>
          </a:xfrm>
          <a:custGeom>
            <a:avLst/>
            <a:gdLst/>
            <a:ahLst/>
            <a:cxnLst/>
            <a:rect l="0" t="0" r="r" b="b"/>
            <a:pathLst>
              <a:path w="31425" h="43100">
                <a:moveTo>
                  <a:pt x="31425" y="43100"/>
                </a:moveTo>
                <a:lnTo>
                  <a:pt x="0" y="0"/>
                </a:lnTo>
              </a:path>
            </a:pathLst>
          </a:custGeom>
          <a:noFill/>
          <a:ln w="1428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6" name="pg_source_component_path_29"/>
          <p:cNvSpPr/>
          <p:nvPr/>
        </p:nvSpPr>
        <p:spPr>
          <a:xfrm>
            <a:off x="10732686" y="2166041"/>
            <a:ext cx="32004" cy="22860"/>
          </a:xfrm>
          <a:custGeom>
            <a:avLst/>
            <a:gdLst/>
            <a:ahLst/>
            <a:cxnLst/>
            <a:rect l="0" t="0" r="r" b="b"/>
            <a:pathLst>
              <a:path w="32004" h="22860">
                <a:moveTo>
                  <a:pt x="0" y="0"/>
                </a:moveTo>
                <a:lnTo>
                  <a:pt x="32004" y="22860"/>
                </a:lnTo>
              </a:path>
            </a:pathLst>
          </a:custGeom>
          <a:noFill/>
          <a:ln w="1047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7" name="pg_source_component_oval_30"/>
          <p:cNvSpPr/>
          <p:nvPr/>
        </p:nvSpPr>
        <p:spPr>
          <a:xfrm>
            <a:off x="10734972" y="2163755"/>
            <a:ext cx="27432" cy="27432"/>
          </a:xfrm>
          <a:prstGeom prst="ellipse">
            <a:avLst/>
          </a:prstGeom>
          <a:gradFill rotWithShape="1">
            <a:gsLst>
              <a:gs pos="0">
                <a:srgbClr val="EAE2F2"/>
              </a:gs>
              <a:gs pos="30000">
                <a:srgbClr val="C0A6D9"/>
              </a:gs>
              <a:gs pos="67000">
                <a:srgbClr val="AB89CC"/>
              </a:gs>
              <a:gs pos="100000">
                <a:srgbClr val="906BB7"/>
              </a:gs>
            </a:gsLst>
            <a:lin ang="3300000" scaled="1"/>
          </a:gradFill>
          <a:ln w="12382">
            <a:solidFill>
              <a:srgbClr val="8058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8" name="pg_source_component_oval_31"/>
          <p:cNvSpPr/>
          <p:nvPr/>
        </p:nvSpPr>
        <p:spPr>
          <a:xfrm>
            <a:off x="10741556" y="2168830"/>
            <a:ext cx="7132" cy="5075"/>
          </a:xfrm>
          <a:prstGeom prst="ellipse">
            <a:avLst/>
          </a:prstGeom>
          <a:solidFill>
            <a:srgbClr val="E9E0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9" name="pg_source_component_path_32"/>
          <p:cNvSpPr/>
          <p:nvPr/>
        </p:nvSpPr>
        <p:spPr>
          <a:xfrm>
            <a:off x="10816417" y="2128089"/>
            <a:ext cx="31425" cy="43100"/>
          </a:xfrm>
          <a:custGeom>
            <a:avLst/>
            <a:gdLst/>
            <a:ahLst/>
            <a:cxnLst/>
            <a:rect l="0" t="0" r="r" b="b"/>
            <a:pathLst>
              <a:path w="31425" h="43100">
                <a:moveTo>
                  <a:pt x="31425" y="43100"/>
                </a:moveTo>
                <a:lnTo>
                  <a:pt x="0" y="0"/>
                </a:lnTo>
              </a:path>
            </a:pathLst>
          </a:custGeom>
          <a:noFill/>
          <a:ln w="1428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0" name="pg_source_component_path_33"/>
          <p:cNvSpPr/>
          <p:nvPr/>
        </p:nvSpPr>
        <p:spPr>
          <a:xfrm>
            <a:off x="10800415" y="2116659"/>
            <a:ext cx="32004" cy="22860"/>
          </a:xfrm>
          <a:custGeom>
            <a:avLst/>
            <a:gdLst/>
            <a:ahLst/>
            <a:cxnLst/>
            <a:rect l="0" t="0" r="r" b="b"/>
            <a:pathLst>
              <a:path w="32004" h="22860">
                <a:moveTo>
                  <a:pt x="0" y="0"/>
                </a:moveTo>
                <a:lnTo>
                  <a:pt x="32004" y="22860"/>
                </a:lnTo>
              </a:path>
            </a:pathLst>
          </a:custGeom>
          <a:noFill/>
          <a:ln w="1047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1" name="pg_source_component_oval_34"/>
          <p:cNvSpPr/>
          <p:nvPr/>
        </p:nvSpPr>
        <p:spPr>
          <a:xfrm>
            <a:off x="10802701" y="2114373"/>
            <a:ext cx="27432" cy="27432"/>
          </a:xfrm>
          <a:prstGeom prst="ellipse">
            <a:avLst/>
          </a:prstGeom>
          <a:gradFill rotWithShape="1">
            <a:gsLst>
              <a:gs pos="0">
                <a:srgbClr val="EAE2F2"/>
              </a:gs>
              <a:gs pos="30000">
                <a:srgbClr val="C0A6D9"/>
              </a:gs>
              <a:gs pos="67000">
                <a:srgbClr val="AB89CC"/>
              </a:gs>
              <a:gs pos="100000">
                <a:srgbClr val="906BB7"/>
              </a:gs>
            </a:gsLst>
            <a:lin ang="3300000" scaled="1"/>
          </a:gradFill>
          <a:ln w="12382">
            <a:solidFill>
              <a:srgbClr val="8058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2" name="pg_source_component_oval_35"/>
          <p:cNvSpPr/>
          <p:nvPr/>
        </p:nvSpPr>
        <p:spPr>
          <a:xfrm>
            <a:off x="10809285" y="2119448"/>
            <a:ext cx="7132" cy="5075"/>
          </a:xfrm>
          <a:prstGeom prst="ellipse">
            <a:avLst/>
          </a:prstGeom>
          <a:solidFill>
            <a:srgbClr val="E9E0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3" name="pg_source_component_path_36"/>
          <p:cNvSpPr/>
          <p:nvPr/>
        </p:nvSpPr>
        <p:spPr>
          <a:xfrm>
            <a:off x="10894278" y="2118472"/>
            <a:ext cx="44893" cy="61572"/>
          </a:xfrm>
          <a:custGeom>
            <a:avLst/>
            <a:gdLst/>
            <a:ahLst/>
            <a:cxnLst/>
            <a:rect l="0" t="0" r="r" b="b"/>
            <a:pathLst>
              <a:path w="44893" h="61572">
                <a:moveTo>
                  <a:pt x="44893" y="61572"/>
                </a:moveTo>
                <a:lnTo>
                  <a:pt x="0" y="0"/>
                </a:lnTo>
              </a:path>
            </a:pathLst>
          </a:custGeom>
          <a:noFill/>
          <a:ln w="1428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4" name="pg_source_component_path_37"/>
          <p:cNvSpPr/>
          <p:nvPr/>
        </p:nvSpPr>
        <p:spPr>
          <a:xfrm>
            <a:off x="10878276" y="2107042"/>
            <a:ext cx="32004" cy="22860"/>
          </a:xfrm>
          <a:custGeom>
            <a:avLst/>
            <a:gdLst/>
            <a:ahLst/>
            <a:cxnLst/>
            <a:rect l="0" t="0" r="r" b="b"/>
            <a:pathLst>
              <a:path w="32004" h="22860">
                <a:moveTo>
                  <a:pt x="0" y="0"/>
                </a:moveTo>
                <a:lnTo>
                  <a:pt x="32004" y="22860"/>
                </a:lnTo>
              </a:path>
            </a:pathLst>
          </a:custGeom>
          <a:noFill/>
          <a:ln w="1047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5" name="pg_source_component_oval_38"/>
          <p:cNvSpPr/>
          <p:nvPr/>
        </p:nvSpPr>
        <p:spPr>
          <a:xfrm>
            <a:off x="10880562" y="2104756"/>
            <a:ext cx="27432" cy="27432"/>
          </a:xfrm>
          <a:prstGeom prst="ellipse">
            <a:avLst/>
          </a:prstGeom>
          <a:gradFill rotWithShape="1">
            <a:gsLst>
              <a:gs pos="0">
                <a:srgbClr val="EAE2F2"/>
              </a:gs>
              <a:gs pos="30000">
                <a:srgbClr val="C0A6D9"/>
              </a:gs>
              <a:gs pos="67000">
                <a:srgbClr val="AB89CC"/>
              </a:gs>
              <a:gs pos="100000">
                <a:srgbClr val="906BB7"/>
              </a:gs>
            </a:gsLst>
            <a:lin ang="3300000" scaled="1"/>
          </a:gradFill>
          <a:ln w="12382">
            <a:solidFill>
              <a:srgbClr val="8058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6" name="pg_source_component_oval_39"/>
          <p:cNvSpPr/>
          <p:nvPr/>
        </p:nvSpPr>
        <p:spPr>
          <a:xfrm>
            <a:off x="10887146" y="2109830"/>
            <a:ext cx="7132" cy="5075"/>
          </a:xfrm>
          <a:prstGeom prst="ellipse">
            <a:avLst/>
          </a:prstGeom>
          <a:solidFill>
            <a:srgbClr val="E9E0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7" name="pg_source_component_path_40"/>
          <p:cNvSpPr/>
          <p:nvPr/>
        </p:nvSpPr>
        <p:spPr>
          <a:xfrm>
            <a:off x="10621040" y="2713644"/>
            <a:ext cx="103643" cy="125"/>
          </a:xfrm>
          <a:custGeom>
            <a:avLst/>
            <a:gdLst/>
            <a:ahLst/>
            <a:cxnLst/>
            <a:rect l="0" t="0" r="r" b="b"/>
            <a:pathLst>
              <a:path w="103643" h="125">
                <a:moveTo>
                  <a:pt x="0" y="125"/>
                </a:moveTo>
                <a:lnTo>
                  <a:pt x="103643" y="0"/>
                </a:lnTo>
              </a:path>
            </a:pathLst>
          </a:custGeom>
          <a:noFill/>
          <a:ln w="9525" cap="rnd">
            <a:solidFill>
              <a:srgbClr val="9372B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8" name="pg_source_component_path_41"/>
          <p:cNvSpPr/>
          <p:nvPr/>
        </p:nvSpPr>
        <p:spPr>
          <a:xfrm>
            <a:off x="10724684" y="2664262"/>
            <a:ext cx="67729" cy="49382"/>
          </a:xfrm>
          <a:custGeom>
            <a:avLst/>
            <a:gdLst/>
            <a:ahLst/>
            <a:cxnLst/>
            <a:rect l="0" t="0" r="r" b="b"/>
            <a:pathLst>
              <a:path w="67729" h="49382">
                <a:moveTo>
                  <a:pt x="0" y="49382"/>
                </a:moveTo>
                <a:lnTo>
                  <a:pt x="67729" y="0"/>
                </a:lnTo>
              </a:path>
            </a:pathLst>
          </a:custGeom>
          <a:noFill/>
          <a:ln w="9525" cap="rnd">
            <a:solidFill>
              <a:srgbClr val="9372B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9" name="pg_source_component_path_42"/>
          <p:cNvSpPr/>
          <p:nvPr/>
        </p:nvSpPr>
        <p:spPr>
          <a:xfrm>
            <a:off x="10792412" y="2614880"/>
            <a:ext cx="67729" cy="49382"/>
          </a:xfrm>
          <a:custGeom>
            <a:avLst/>
            <a:gdLst/>
            <a:ahLst/>
            <a:cxnLst/>
            <a:rect l="0" t="0" r="r" b="b"/>
            <a:pathLst>
              <a:path w="67729" h="49382">
                <a:moveTo>
                  <a:pt x="0" y="49382"/>
                </a:moveTo>
                <a:lnTo>
                  <a:pt x="67729" y="0"/>
                </a:lnTo>
              </a:path>
            </a:pathLst>
          </a:custGeom>
          <a:noFill/>
          <a:ln w="9525" cap="rnd">
            <a:solidFill>
              <a:srgbClr val="9372B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0" name="pg_source_component_path_43"/>
          <p:cNvSpPr/>
          <p:nvPr/>
        </p:nvSpPr>
        <p:spPr>
          <a:xfrm>
            <a:off x="10860141" y="2565498"/>
            <a:ext cx="67729" cy="49382"/>
          </a:xfrm>
          <a:custGeom>
            <a:avLst/>
            <a:gdLst/>
            <a:ahLst/>
            <a:cxnLst/>
            <a:rect l="0" t="0" r="r" b="b"/>
            <a:pathLst>
              <a:path w="67729" h="49382">
                <a:moveTo>
                  <a:pt x="0" y="49382"/>
                </a:moveTo>
                <a:lnTo>
                  <a:pt x="67729" y="0"/>
                </a:lnTo>
              </a:path>
            </a:pathLst>
          </a:custGeom>
          <a:noFill/>
          <a:ln w="9525" cap="rnd">
            <a:solidFill>
              <a:srgbClr val="9372B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1" name="pg_source_component_path_44"/>
          <p:cNvSpPr/>
          <p:nvPr/>
        </p:nvSpPr>
        <p:spPr>
          <a:xfrm>
            <a:off x="10927870" y="2516116"/>
            <a:ext cx="67729" cy="49382"/>
          </a:xfrm>
          <a:custGeom>
            <a:avLst/>
            <a:gdLst/>
            <a:ahLst/>
            <a:cxnLst/>
            <a:rect l="0" t="0" r="r" b="b"/>
            <a:pathLst>
              <a:path w="67729" h="49382">
                <a:moveTo>
                  <a:pt x="0" y="49382"/>
                </a:moveTo>
                <a:lnTo>
                  <a:pt x="67729" y="0"/>
                </a:lnTo>
              </a:path>
            </a:pathLst>
          </a:custGeom>
          <a:noFill/>
          <a:ln w="9525" cap="rnd">
            <a:solidFill>
              <a:srgbClr val="9372B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2" name="pg_source_component_path_45"/>
          <p:cNvSpPr/>
          <p:nvPr/>
        </p:nvSpPr>
        <p:spPr>
          <a:xfrm>
            <a:off x="10995599" y="2466734"/>
            <a:ext cx="67729" cy="49382"/>
          </a:xfrm>
          <a:custGeom>
            <a:avLst/>
            <a:gdLst/>
            <a:ahLst/>
            <a:cxnLst/>
            <a:rect l="0" t="0" r="r" b="b"/>
            <a:pathLst>
              <a:path w="67729" h="49382">
                <a:moveTo>
                  <a:pt x="0" y="49382"/>
                </a:moveTo>
                <a:lnTo>
                  <a:pt x="67729" y="0"/>
                </a:lnTo>
              </a:path>
            </a:pathLst>
          </a:custGeom>
          <a:noFill/>
          <a:ln w="9525" cap="rnd">
            <a:solidFill>
              <a:srgbClr val="9372B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3" name="pg_source_component_path_46"/>
          <p:cNvSpPr/>
          <p:nvPr/>
        </p:nvSpPr>
        <p:spPr>
          <a:xfrm>
            <a:off x="11063328" y="2377073"/>
            <a:ext cx="19500" cy="89661"/>
          </a:xfrm>
          <a:custGeom>
            <a:avLst/>
            <a:gdLst/>
            <a:ahLst/>
            <a:cxnLst/>
            <a:rect l="0" t="0" r="r" b="b"/>
            <a:pathLst>
              <a:path w="19500" h="89661">
                <a:moveTo>
                  <a:pt x="0" y="89661"/>
                </a:moveTo>
                <a:lnTo>
                  <a:pt x="19500" y="0"/>
                </a:lnTo>
              </a:path>
            </a:pathLst>
          </a:custGeom>
          <a:noFill/>
          <a:ln w="9525" cap="rnd">
            <a:solidFill>
              <a:srgbClr val="9372B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4" name="pg_source_component_path_47"/>
          <p:cNvSpPr/>
          <p:nvPr/>
        </p:nvSpPr>
        <p:spPr>
          <a:xfrm>
            <a:off x="10621040" y="2713769"/>
            <a:ext cx="44893" cy="61572"/>
          </a:xfrm>
          <a:custGeom>
            <a:avLst/>
            <a:gdLst/>
            <a:ahLst/>
            <a:cxnLst/>
            <a:rect l="0" t="0" r="r" b="b"/>
            <a:pathLst>
              <a:path w="44893" h="61572">
                <a:moveTo>
                  <a:pt x="0" y="0"/>
                </a:moveTo>
                <a:lnTo>
                  <a:pt x="44893" y="61572"/>
                </a:lnTo>
              </a:path>
            </a:pathLst>
          </a:custGeom>
          <a:noFill/>
          <a:ln w="1428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5" name="pg_source_component_path_48"/>
          <p:cNvSpPr/>
          <p:nvPr/>
        </p:nvSpPr>
        <p:spPr>
          <a:xfrm>
            <a:off x="10649931" y="2763911"/>
            <a:ext cx="32004" cy="22860"/>
          </a:xfrm>
          <a:custGeom>
            <a:avLst/>
            <a:gdLst/>
            <a:ahLst/>
            <a:cxnLst/>
            <a:rect l="0" t="0" r="r" b="b"/>
            <a:pathLst>
              <a:path w="32004" h="22860">
                <a:moveTo>
                  <a:pt x="0" y="0"/>
                </a:moveTo>
                <a:lnTo>
                  <a:pt x="32004" y="22860"/>
                </a:lnTo>
              </a:path>
            </a:pathLst>
          </a:custGeom>
          <a:noFill/>
          <a:ln w="1047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6" name="pg_source_component_oval_49"/>
          <p:cNvSpPr/>
          <p:nvPr/>
        </p:nvSpPr>
        <p:spPr>
          <a:xfrm>
            <a:off x="10652217" y="2761625"/>
            <a:ext cx="27432" cy="27432"/>
          </a:xfrm>
          <a:prstGeom prst="ellipse">
            <a:avLst/>
          </a:prstGeom>
          <a:gradFill rotWithShape="1">
            <a:gsLst>
              <a:gs pos="0">
                <a:srgbClr val="EAE2F2"/>
              </a:gs>
              <a:gs pos="30000">
                <a:srgbClr val="C0A6D9"/>
              </a:gs>
              <a:gs pos="67000">
                <a:srgbClr val="AB89CC"/>
              </a:gs>
              <a:gs pos="100000">
                <a:srgbClr val="906BB7"/>
              </a:gs>
            </a:gsLst>
            <a:lin ang="3300000" scaled="1"/>
          </a:gradFill>
          <a:ln w="12382">
            <a:solidFill>
              <a:srgbClr val="8058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7" name="pg_source_component_oval_50"/>
          <p:cNvSpPr/>
          <p:nvPr/>
        </p:nvSpPr>
        <p:spPr>
          <a:xfrm>
            <a:off x="10658801" y="2766700"/>
            <a:ext cx="7132" cy="5075"/>
          </a:xfrm>
          <a:prstGeom prst="ellipse">
            <a:avLst/>
          </a:prstGeom>
          <a:solidFill>
            <a:srgbClr val="E9E0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8" name="pg_source_component_path_51"/>
          <p:cNvSpPr/>
          <p:nvPr/>
        </p:nvSpPr>
        <p:spPr>
          <a:xfrm>
            <a:off x="10724684" y="2713644"/>
            <a:ext cx="31425" cy="43100"/>
          </a:xfrm>
          <a:custGeom>
            <a:avLst/>
            <a:gdLst/>
            <a:ahLst/>
            <a:cxnLst/>
            <a:rect l="0" t="0" r="r" b="b"/>
            <a:pathLst>
              <a:path w="31425" h="43100">
                <a:moveTo>
                  <a:pt x="0" y="0"/>
                </a:moveTo>
                <a:lnTo>
                  <a:pt x="31425" y="43100"/>
                </a:lnTo>
              </a:path>
            </a:pathLst>
          </a:custGeom>
          <a:noFill/>
          <a:ln w="1428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9" name="pg_source_component_path_52"/>
          <p:cNvSpPr/>
          <p:nvPr/>
        </p:nvSpPr>
        <p:spPr>
          <a:xfrm>
            <a:off x="10740107" y="2745314"/>
            <a:ext cx="32004" cy="22860"/>
          </a:xfrm>
          <a:custGeom>
            <a:avLst/>
            <a:gdLst/>
            <a:ahLst/>
            <a:cxnLst/>
            <a:rect l="0" t="0" r="r" b="b"/>
            <a:pathLst>
              <a:path w="32004" h="22860">
                <a:moveTo>
                  <a:pt x="0" y="0"/>
                </a:moveTo>
                <a:lnTo>
                  <a:pt x="32004" y="22860"/>
                </a:lnTo>
              </a:path>
            </a:pathLst>
          </a:custGeom>
          <a:noFill/>
          <a:ln w="1047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0" name="pg_source_component_oval_53"/>
          <p:cNvSpPr/>
          <p:nvPr/>
        </p:nvSpPr>
        <p:spPr>
          <a:xfrm>
            <a:off x="10742393" y="2743028"/>
            <a:ext cx="27432" cy="27432"/>
          </a:xfrm>
          <a:prstGeom prst="ellipse">
            <a:avLst/>
          </a:prstGeom>
          <a:gradFill rotWithShape="1">
            <a:gsLst>
              <a:gs pos="0">
                <a:srgbClr val="EAE2F2"/>
              </a:gs>
              <a:gs pos="30000">
                <a:srgbClr val="C0A6D9"/>
              </a:gs>
              <a:gs pos="67000">
                <a:srgbClr val="AB89CC"/>
              </a:gs>
              <a:gs pos="100000">
                <a:srgbClr val="906BB7"/>
              </a:gs>
            </a:gsLst>
            <a:lin ang="3300000" scaled="1"/>
          </a:gradFill>
          <a:ln w="12382">
            <a:solidFill>
              <a:srgbClr val="8058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1" name="pg_source_component_oval_54"/>
          <p:cNvSpPr/>
          <p:nvPr/>
        </p:nvSpPr>
        <p:spPr>
          <a:xfrm>
            <a:off x="10748976" y="2748103"/>
            <a:ext cx="7132" cy="5075"/>
          </a:xfrm>
          <a:prstGeom prst="ellipse">
            <a:avLst/>
          </a:prstGeom>
          <a:solidFill>
            <a:srgbClr val="E9E0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2" name="pg_source_component_path_55"/>
          <p:cNvSpPr/>
          <p:nvPr/>
        </p:nvSpPr>
        <p:spPr>
          <a:xfrm>
            <a:off x="10792412" y="2664262"/>
            <a:ext cx="31425" cy="43100"/>
          </a:xfrm>
          <a:custGeom>
            <a:avLst/>
            <a:gdLst/>
            <a:ahLst/>
            <a:cxnLst/>
            <a:rect l="0" t="0" r="r" b="b"/>
            <a:pathLst>
              <a:path w="31425" h="43100">
                <a:moveTo>
                  <a:pt x="0" y="0"/>
                </a:moveTo>
                <a:lnTo>
                  <a:pt x="31425" y="43100"/>
                </a:lnTo>
              </a:path>
            </a:pathLst>
          </a:custGeom>
          <a:noFill/>
          <a:ln w="1428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3" name="pg_source_component_path_56"/>
          <p:cNvSpPr/>
          <p:nvPr/>
        </p:nvSpPr>
        <p:spPr>
          <a:xfrm>
            <a:off x="10807835" y="2695932"/>
            <a:ext cx="32004" cy="22860"/>
          </a:xfrm>
          <a:custGeom>
            <a:avLst/>
            <a:gdLst/>
            <a:ahLst/>
            <a:cxnLst/>
            <a:rect l="0" t="0" r="r" b="b"/>
            <a:pathLst>
              <a:path w="32004" h="22860">
                <a:moveTo>
                  <a:pt x="0" y="0"/>
                </a:moveTo>
                <a:lnTo>
                  <a:pt x="32004" y="22860"/>
                </a:lnTo>
              </a:path>
            </a:pathLst>
          </a:custGeom>
          <a:noFill/>
          <a:ln w="1047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4" name="pg_source_component_oval_57"/>
          <p:cNvSpPr/>
          <p:nvPr/>
        </p:nvSpPr>
        <p:spPr>
          <a:xfrm>
            <a:off x="10810121" y="2693646"/>
            <a:ext cx="27432" cy="27432"/>
          </a:xfrm>
          <a:prstGeom prst="ellipse">
            <a:avLst/>
          </a:prstGeom>
          <a:gradFill rotWithShape="1">
            <a:gsLst>
              <a:gs pos="0">
                <a:srgbClr val="EAE2F2"/>
              </a:gs>
              <a:gs pos="30000">
                <a:srgbClr val="C0A6D9"/>
              </a:gs>
              <a:gs pos="67000">
                <a:srgbClr val="AB89CC"/>
              </a:gs>
              <a:gs pos="100000">
                <a:srgbClr val="906BB7"/>
              </a:gs>
            </a:gsLst>
            <a:lin ang="3300000" scaled="1"/>
          </a:gradFill>
          <a:ln w="12382">
            <a:solidFill>
              <a:srgbClr val="8058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5" name="pg_source_component_oval_58"/>
          <p:cNvSpPr/>
          <p:nvPr/>
        </p:nvSpPr>
        <p:spPr>
          <a:xfrm>
            <a:off x="10816705" y="2698721"/>
            <a:ext cx="7132" cy="5075"/>
          </a:xfrm>
          <a:prstGeom prst="ellipse">
            <a:avLst/>
          </a:prstGeom>
          <a:solidFill>
            <a:srgbClr val="E9E0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6" name="pg_source_component_path_59"/>
          <p:cNvSpPr/>
          <p:nvPr/>
        </p:nvSpPr>
        <p:spPr>
          <a:xfrm>
            <a:off x="10860141" y="2614880"/>
            <a:ext cx="31425" cy="43100"/>
          </a:xfrm>
          <a:custGeom>
            <a:avLst/>
            <a:gdLst/>
            <a:ahLst/>
            <a:cxnLst/>
            <a:rect l="0" t="0" r="r" b="b"/>
            <a:pathLst>
              <a:path w="31425" h="43100">
                <a:moveTo>
                  <a:pt x="0" y="0"/>
                </a:moveTo>
                <a:lnTo>
                  <a:pt x="31425" y="43100"/>
                </a:lnTo>
              </a:path>
            </a:pathLst>
          </a:custGeom>
          <a:noFill/>
          <a:ln w="1428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7" name="pg_source_component_path_60"/>
          <p:cNvSpPr/>
          <p:nvPr/>
        </p:nvSpPr>
        <p:spPr>
          <a:xfrm>
            <a:off x="10875564" y="2646550"/>
            <a:ext cx="32004" cy="22860"/>
          </a:xfrm>
          <a:custGeom>
            <a:avLst/>
            <a:gdLst/>
            <a:ahLst/>
            <a:cxnLst/>
            <a:rect l="0" t="0" r="r" b="b"/>
            <a:pathLst>
              <a:path w="32004" h="22860">
                <a:moveTo>
                  <a:pt x="0" y="0"/>
                </a:moveTo>
                <a:lnTo>
                  <a:pt x="32004" y="22860"/>
                </a:lnTo>
              </a:path>
            </a:pathLst>
          </a:custGeom>
          <a:noFill/>
          <a:ln w="1047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8" name="pg_source_component_oval_61"/>
          <p:cNvSpPr/>
          <p:nvPr/>
        </p:nvSpPr>
        <p:spPr>
          <a:xfrm>
            <a:off x="10877850" y="2644264"/>
            <a:ext cx="27432" cy="27432"/>
          </a:xfrm>
          <a:prstGeom prst="ellipse">
            <a:avLst/>
          </a:prstGeom>
          <a:gradFill rotWithShape="1">
            <a:gsLst>
              <a:gs pos="0">
                <a:srgbClr val="EAE2F2"/>
              </a:gs>
              <a:gs pos="30000">
                <a:srgbClr val="C0A6D9"/>
              </a:gs>
              <a:gs pos="67000">
                <a:srgbClr val="AB89CC"/>
              </a:gs>
              <a:gs pos="100000">
                <a:srgbClr val="906BB7"/>
              </a:gs>
            </a:gsLst>
            <a:lin ang="3300000" scaled="1"/>
          </a:gradFill>
          <a:ln w="12382">
            <a:solidFill>
              <a:srgbClr val="8058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9" name="pg_source_component_oval_62"/>
          <p:cNvSpPr/>
          <p:nvPr/>
        </p:nvSpPr>
        <p:spPr>
          <a:xfrm>
            <a:off x="10884434" y="2649339"/>
            <a:ext cx="7132" cy="5075"/>
          </a:xfrm>
          <a:prstGeom prst="ellipse">
            <a:avLst/>
          </a:prstGeom>
          <a:solidFill>
            <a:srgbClr val="E9E0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0" name="pg_source_component_path_63"/>
          <p:cNvSpPr/>
          <p:nvPr/>
        </p:nvSpPr>
        <p:spPr>
          <a:xfrm>
            <a:off x="10927870" y="2565498"/>
            <a:ext cx="31425" cy="43100"/>
          </a:xfrm>
          <a:custGeom>
            <a:avLst/>
            <a:gdLst/>
            <a:ahLst/>
            <a:cxnLst/>
            <a:rect l="0" t="0" r="r" b="b"/>
            <a:pathLst>
              <a:path w="31425" h="43100">
                <a:moveTo>
                  <a:pt x="0" y="0"/>
                </a:moveTo>
                <a:lnTo>
                  <a:pt x="31425" y="43100"/>
                </a:lnTo>
              </a:path>
            </a:pathLst>
          </a:custGeom>
          <a:noFill/>
          <a:ln w="1428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1" name="pg_source_component_path_64"/>
          <p:cNvSpPr/>
          <p:nvPr/>
        </p:nvSpPr>
        <p:spPr>
          <a:xfrm>
            <a:off x="10943293" y="2597168"/>
            <a:ext cx="32004" cy="22860"/>
          </a:xfrm>
          <a:custGeom>
            <a:avLst/>
            <a:gdLst/>
            <a:ahLst/>
            <a:cxnLst/>
            <a:rect l="0" t="0" r="r" b="b"/>
            <a:pathLst>
              <a:path w="32004" h="22860">
                <a:moveTo>
                  <a:pt x="0" y="0"/>
                </a:moveTo>
                <a:lnTo>
                  <a:pt x="32004" y="22860"/>
                </a:lnTo>
              </a:path>
            </a:pathLst>
          </a:custGeom>
          <a:noFill/>
          <a:ln w="1047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2" name="pg_source_component_oval_65"/>
          <p:cNvSpPr/>
          <p:nvPr/>
        </p:nvSpPr>
        <p:spPr>
          <a:xfrm>
            <a:off x="10945579" y="2594882"/>
            <a:ext cx="27432" cy="27432"/>
          </a:xfrm>
          <a:prstGeom prst="ellipse">
            <a:avLst/>
          </a:prstGeom>
          <a:gradFill rotWithShape="1">
            <a:gsLst>
              <a:gs pos="0">
                <a:srgbClr val="EAE2F2"/>
              </a:gs>
              <a:gs pos="30000">
                <a:srgbClr val="C0A6D9"/>
              </a:gs>
              <a:gs pos="67000">
                <a:srgbClr val="AB89CC"/>
              </a:gs>
              <a:gs pos="100000">
                <a:srgbClr val="906BB7"/>
              </a:gs>
            </a:gsLst>
            <a:lin ang="3300000" scaled="1"/>
          </a:gradFill>
          <a:ln w="12382">
            <a:solidFill>
              <a:srgbClr val="8058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3" name="pg_source_component_oval_66"/>
          <p:cNvSpPr/>
          <p:nvPr/>
        </p:nvSpPr>
        <p:spPr>
          <a:xfrm>
            <a:off x="10952163" y="2599957"/>
            <a:ext cx="7132" cy="5075"/>
          </a:xfrm>
          <a:prstGeom prst="ellipse">
            <a:avLst/>
          </a:prstGeom>
          <a:solidFill>
            <a:srgbClr val="E9E0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4" name="pg_source_component_path_67"/>
          <p:cNvSpPr/>
          <p:nvPr/>
        </p:nvSpPr>
        <p:spPr>
          <a:xfrm>
            <a:off x="10995599" y="2516116"/>
            <a:ext cx="31425" cy="43100"/>
          </a:xfrm>
          <a:custGeom>
            <a:avLst/>
            <a:gdLst/>
            <a:ahLst/>
            <a:cxnLst/>
            <a:rect l="0" t="0" r="r" b="b"/>
            <a:pathLst>
              <a:path w="31425" h="43100">
                <a:moveTo>
                  <a:pt x="0" y="0"/>
                </a:moveTo>
                <a:lnTo>
                  <a:pt x="31425" y="43100"/>
                </a:lnTo>
              </a:path>
            </a:pathLst>
          </a:custGeom>
          <a:noFill/>
          <a:ln w="1428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5" name="pg_source_component_path_68"/>
          <p:cNvSpPr/>
          <p:nvPr/>
        </p:nvSpPr>
        <p:spPr>
          <a:xfrm>
            <a:off x="11011022" y="2547786"/>
            <a:ext cx="32004" cy="22860"/>
          </a:xfrm>
          <a:custGeom>
            <a:avLst/>
            <a:gdLst/>
            <a:ahLst/>
            <a:cxnLst/>
            <a:rect l="0" t="0" r="r" b="b"/>
            <a:pathLst>
              <a:path w="32004" h="22860">
                <a:moveTo>
                  <a:pt x="0" y="0"/>
                </a:moveTo>
                <a:lnTo>
                  <a:pt x="32004" y="22860"/>
                </a:lnTo>
              </a:path>
            </a:pathLst>
          </a:custGeom>
          <a:noFill/>
          <a:ln w="1047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6" name="pg_source_component_oval_69"/>
          <p:cNvSpPr/>
          <p:nvPr/>
        </p:nvSpPr>
        <p:spPr>
          <a:xfrm>
            <a:off x="11013308" y="2545500"/>
            <a:ext cx="27432" cy="27432"/>
          </a:xfrm>
          <a:prstGeom prst="ellipse">
            <a:avLst/>
          </a:prstGeom>
          <a:gradFill rotWithShape="1">
            <a:gsLst>
              <a:gs pos="0">
                <a:srgbClr val="EAE2F2"/>
              </a:gs>
              <a:gs pos="30000">
                <a:srgbClr val="C0A6D9"/>
              </a:gs>
              <a:gs pos="67000">
                <a:srgbClr val="AB89CC"/>
              </a:gs>
              <a:gs pos="100000">
                <a:srgbClr val="906BB7"/>
              </a:gs>
            </a:gsLst>
            <a:lin ang="3300000" scaled="1"/>
          </a:gradFill>
          <a:ln w="12382">
            <a:solidFill>
              <a:srgbClr val="8058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7" name="pg_source_component_oval_70"/>
          <p:cNvSpPr/>
          <p:nvPr/>
        </p:nvSpPr>
        <p:spPr>
          <a:xfrm>
            <a:off x="11019892" y="2550575"/>
            <a:ext cx="7132" cy="5075"/>
          </a:xfrm>
          <a:prstGeom prst="ellipse">
            <a:avLst/>
          </a:prstGeom>
          <a:solidFill>
            <a:srgbClr val="E9E0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8" name="pg_source_component_path_71"/>
          <p:cNvSpPr/>
          <p:nvPr/>
        </p:nvSpPr>
        <p:spPr>
          <a:xfrm>
            <a:off x="11063328" y="2466734"/>
            <a:ext cx="31425" cy="43100"/>
          </a:xfrm>
          <a:custGeom>
            <a:avLst/>
            <a:gdLst/>
            <a:ahLst/>
            <a:cxnLst/>
            <a:rect l="0" t="0" r="r" b="b"/>
            <a:pathLst>
              <a:path w="31425" h="43100">
                <a:moveTo>
                  <a:pt x="0" y="0"/>
                </a:moveTo>
                <a:lnTo>
                  <a:pt x="31425" y="43100"/>
                </a:lnTo>
              </a:path>
            </a:pathLst>
          </a:custGeom>
          <a:noFill/>
          <a:ln w="1428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9" name="pg_source_component_path_72"/>
          <p:cNvSpPr/>
          <p:nvPr/>
        </p:nvSpPr>
        <p:spPr>
          <a:xfrm>
            <a:off x="11078751" y="2498404"/>
            <a:ext cx="32004" cy="22860"/>
          </a:xfrm>
          <a:custGeom>
            <a:avLst/>
            <a:gdLst/>
            <a:ahLst/>
            <a:cxnLst/>
            <a:rect l="0" t="0" r="r" b="b"/>
            <a:pathLst>
              <a:path w="32004" h="22860">
                <a:moveTo>
                  <a:pt x="0" y="0"/>
                </a:moveTo>
                <a:lnTo>
                  <a:pt x="32004" y="22860"/>
                </a:lnTo>
              </a:path>
            </a:pathLst>
          </a:custGeom>
          <a:noFill/>
          <a:ln w="1047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0" name="pg_source_component_oval_73"/>
          <p:cNvSpPr/>
          <p:nvPr/>
        </p:nvSpPr>
        <p:spPr>
          <a:xfrm>
            <a:off x="11081037" y="2496118"/>
            <a:ext cx="27432" cy="27432"/>
          </a:xfrm>
          <a:prstGeom prst="ellipse">
            <a:avLst/>
          </a:prstGeom>
          <a:gradFill rotWithShape="1">
            <a:gsLst>
              <a:gs pos="0">
                <a:srgbClr val="EAE2F2"/>
              </a:gs>
              <a:gs pos="30000">
                <a:srgbClr val="C0A6D9"/>
              </a:gs>
              <a:gs pos="67000">
                <a:srgbClr val="AB89CC"/>
              </a:gs>
              <a:gs pos="100000">
                <a:srgbClr val="906BB7"/>
              </a:gs>
            </a:gsLst>
            <a:lin ang="3300000" scaled="1"/>
          </a:gradFill>
          <a:ln w="12382">
            <a:solidFill>
              <a:srgbClr val="8058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1" name="pg_source_component_oval_74"/>
          <p:cNvSpPr/>
          <p:nvPr/>
        </p:nvSpPr>
        <p:spPr>
          <a:xfrm>
            <a:off x="11087621" y="2501193"/>
            <a:ext cx="7132" cy="5075"/>
          </a:xfrm>
          <a:prstGeom prst="ellipse">
            <a:avLst/>
          </a:prstGeom>
          <a:solidFill>
            <a:srgbClr val="E9E0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2" name="pg_source_component_path_75"/>
          <p:cNvSpPr/>
          <p:nvPr/>
        </p:nvSpPr>
        <p:spPr>
          <a:xfrm>
            <a:off x="11082828" y="2377073"/>
            <a:ext cx="44893" cy="61572"/>
          </a:xfrm>
          <a:custGeom>
            <a:avLst/>
            <a:gdLst/>
            <a:ahLst/>
            <a:cxnLst/>
            <a:rect l="0" t="0" r="r" b="b"/>
            <a:pathLst>
              <a:path w="44893" h="61572">
                <a:moveTo>
                  <a:pt x="0" y="0"/>
                </a:moveTo>
                <a:lnTo>
                  <a:pt x="44893" y="61572"/>
                </a:lnTo>
              </a:path>
            </a:pathLst>
          </a:custGeom>
          <a:noFill/>
          <a:ln w="1428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3" name="pg_source_component_path_76"/>
          <p:cNvSpPr/>
          <p:nvPr/>
        </p:nvSpPr>
        <p:spPr>
          <a:xfrm>
            <a:off x="11111719" y="2427214"/>
            <a:ext cx="32004" cy="22860"/>
          </a:xfrm>
          <a:custGeom>
            <a:avLst/>
            <a:gdLst/>
            <a:ahLst/>
            <a:cxnLst/>
            <a:rect l="0" t="0" r="r" b="b"/>
            <a:pathLst>
              <a:path w="32004" h="22860">
                <a:moveTo>
                  <a:pt x="0" y="0"/>
                </a:moveTo>
                <a:lnTo>
                  <a:pt x="32004" y="22860"/>
                </a:lnTo>
              </a:path>
            </a:pathLst>
          </a:custGeom>
          <a:noFill/>
          <a:ln w="1047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4" name="pg_source_component_oval_77"/>
          <p:cNvSpPr/>
          <p:nvPr/>
        </p:nvSpPr>
        <p:spPr>
          <a:xfrm>
            <a:off x="11114005" y="2424928"/>
            <a:ext cx="27432" cy="27432"/>
          </a:xfrm>
          <a:prstGeom prst="ellipse">
            <a:avLst/>
          </a:prstGeom>
          <a:gradFill rotWithShape="1">
            <a:gsLst>
              <a:gs pos="0">
                <a:srgbClr val="EAE2F2"/>
              </a:gs>
              <a:gs pos="30000">
                <a:srgbClr val="C0A6D9"/>
              </a:gs>
              <a:gs pos="67000">
                <a:srgbClr val="AB89CC"/>
              </a:gs>
              <a:gs pos="100000">
                <a:srgbClr val="906BB7"/>
              </a:gs>
            </a:gsLst>
            <a:lin ang="3300000" scaled="1"/>
          </a:gradFill>
          <a:ln w="12382">
            <a:solidFill>
              <a:srgbClr val="8058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5" name="pg_source_component_oval_78"/>
          <p:cNvSpPr/>
          <p:nvPr/>
        </p:nvSpPr>
        <p:spPr>
          <a:xfrm>
            <a:off x="11120589" y="2430003"/>
            <a:ext cx="7132" cy="5075"/>
          </a:xfrm>
          <a:prstGeom prst="ellipse">
            <a:avLst/>
          </a:prstGeom>
          <a:solidFill>
            <a:srgbClr val="E9E0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6" name="pg_source_component_path_79"/>
          <p:cNvSpPr/>
          <p:nvPr/>
        </p:nvSpPr>
        <p:spPr>
          <a:xfrm>
            <a:off x="10467000" y="2186463"/>
            <a:ext cx="607740" cy="534353"/>
          </a:xfrm>
          <a:custGeom>
            <a:avLst/>
            <a:gdLst/>
            <a:ahLst/>
            <a:cxnLst/>
            <a:rect l="0" t="0" r="r" b="b"/>
            <a:pathLst>
              <a:path w="607740" h="534353">
                <a:moveTo>
                  <a:pt x="80871" y="245876"/>
                </a:moveTo>
                <a:lnTo>
                  <a:pt x="351787" y="48348"/>
                </a:lnTo>
                <a:cubicBezTo>
                  <a:pt x="418097" y="0"/>
                  <a:pt x="511045" y="14561"/>
                  <a:pt x="559393" y="80871"/>
                </a:cubicBezTo>
                <a:cubicBezTo>
                  <a:pt x="607740" y="147181"/>
                  <a:pt x="593179" y="240130"/>
                  <a:pt x="526869" y="288477"/>
                </a:cubicBezTo>
                <a:lnTo>
                  <a:pt x="255953" y="486006"/>
                </a:lnTo>
                <a:cubicBezTo>
                  <a:pt x="189643" y="534353"/>
                  <a:pt x="96695" y="519792"/>
                  <a:pt x="48348" y="453482"/>
                </a:cubicBezTo>
                <a:cubicBezTo>
                  <a:pt x="0" y="387172"/>
                  <a:pt x="14561" y="294224"/>
                  <a:pt x="80871" y="245876"/>
                </a:cubicBezTo>
                <a:close/>
              </a:path>
            </a:pathLst>
          </a:custGeom>
          <a:gradFill rotWithShape="1">
            <a:gsLst>
              <a:gs pos="0">
                <a:srgbClr val="E1D3EE"/>
              </a:gs>
              <a:gs pos="35000">
                <a:srgbClr val="CFB8E4"/>
              </a:gs>
              <a:gs pos="100000">
                <a:srgbClr val="A686C7"/>
              </a:gs>
            </a:gsLst>
            <a:lin ang="4200000" scaled="1"/>
          </a:gradFill>
          <a:ln w="10953" cap="rnd">
            <a:solidFill>
              <a:srgbClr val="7651A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7" name="pg_source_component_path_80"/>
          <p:cNvSpPr/>
          <p:nvPr/>
        </p:nvSpPr>
        <p:spPr>
          <a:xfrm>
            <a:off x="10484273" y="2203736"/>
            <a:ext cx="573194" cy="499807"/>
          </a:xfrm>
          <a:custGeom>
            <a:avLst/>
            <a:gdLst/>
            <a:ahLst/>
            <a:cxnLst/>
            <a:rect l="0" t="0" r="r" b="b"/>
            <a:pathLst>
              <a:path w="573194" h="499807">
                <a:moveTo>
                  <a:pt x="72577" y="240917"/>
                </a:moveTo>
                <a:lnTo>
                  <a:pt x="343492" y="43389"/>
                </a:lnTo>
                <a:cubicBezTo>
                  <a:pt x="403001" y="0"/>
                  <a:pt x="486416" y="13068"/>
                  <a:pt x="529805" y="72577"/>
                </a:cubicBezTo>
                <a:cubicBezTo>
                  <a:pt x="573194" y="132086"/>
                  <a:pt x="560126" y="215501"/>
                  <a:pt x="500617" y="258890"/>
                </a:cubicBezTo>
                <a:lnTo>
                  <a:pt x="229702" y="456418"/>
                </a:lnTo>
                <a:cubicBezTo>
                  <a:pt x="170193" y="499807"/>
                  <a:pt x="86778" y="486739"/>
                  <a:pt x="43389" y="427230"/>
                </a:cubicBezTo>
                <a:cubicBezTo>
                  <a:pt x="0" y="367721"/>
                  <a:pt x="13068" y="284306"/>
                  <a:pt x="72577" y="240917"/>
                </a:cubicBezTo>
                <a:close/>
              </a:path>
            </a:pathLst>
          </a:custGeom>
          <a:noFill/>
          <a:ln w="6191" cap="rnd">
            <a:solidFill>
              <a:srgbClr val="A686C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8" name="pg_source_component_path_81"/>
          <p:cNvSpPr/>
          <p:nvPr/>
        </p:nvSpPr>
        <p:spPr>
          <a:xfrm>
            <a:off x="10606057" y="2344092"/>
            <a:ext cx="178866" cy="130414"/>
          </a:xfrm>
          <a:custGeom>
            <a:avLst/>
            <a:gdLst/>
            <a:ahLst/>
            <a:cxnLst/>
            <a:rect l="0" t="0" r="r" b="b"/>
            <a:pathLst>
              <a:path w="178866" h="130414">
                <a:moveTo>
                  <a:pt x="0" y="130414"/>
                </a:moveTo>
                <a:lnTo>
                  <a:pt x="178866" y="0"/>
                </a:lnTo>
              </a:path>
            </a:pathLst>
          </a:custGeom>
          <a:noFill/>
          <a:ln w="12382" cap="rnd">
            <a:solidFill>
              <a:srgbClr val="ECE3F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9" name="pg_source_component_oval_82"/>
          <p:cNvSpPr/>
          <p:nvPr/>
        </p:nvSpPr>
        <p:spPr>
          <a:xfrm>
            <a:off x="10663502" y="2577593"/>
            <a:ext cx="15240" cy="15240"/>
          </a:xfrm>
          <a:prstGeom prst="ellipse">
            <a:avLst/>
          </a:prstGeom>
          <a:solidFill>
            <a:srgbClr val="A686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0" name="pg_source_component_oval_83"/>
          <p:cNvSpPr/>
          <p:nvPr/>
        </p:nvSpPr>
        <p:spPr>
          <a:xfrm>
            <a:off x="10849371" y="2456785"/>
            <a:ext cx="15240" cy="15240"/>
          </a:xfrm>
          <a:prstGeom prst="ellipse">
            <a:avLst/>
          </a:prstGeom>
          <a:solidFill>
            <a:srgbClr val="A686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1" name="pg_source_component_oval_84"/>
          <p:cNvSpPr/>
          <p:nvPr/>
        </p:nvSpPr>
        <p:spPr>
          <a:xfrm>
            <a:off x="10904308" y="2317428"/>
            <a:ext cx="15240" cy="15240"/>
          </a:xfrm>
          <a:prstGeom prst="ellipse">
            <a:avLst/>
          </a:prstGeom>
          <a:solidFill>
            <a:srgbClr val="A686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2" name="pg_source_component_oval_85"/>
          <p:cNvSpPr/>
          <p:nvPr/>
        </p:nvSpPr>
        <p:spPr>
          <a:xfrm>
            <a:off x="10661656" y="2435503"/>
            <a:ext cx="15240" cy="15240"/>
          </a:xfrm>
          <a:prstGeom prst="ellipse">
            <a:avLst/>
          </a:prstGeom>
          <a:solidFill>
            <a:srgbClr val="A686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3" name="pg_source_component_oval_86"/>
          <p:cNvSpPr/>
          <p:nvPr/>
        </p:nvSpPr>
        <p:spPr>
          <a:xfrm>
            <a:off x="10652666" y="2670084"/>
            <a:ext cx="16002" cy="16002"/>
          </a:xfrm>
          <a:prstGeom prst="ellipse">
            <a:avLst/>
          </a:prstGeom>
          <a:solidFill>
            <a:srgbClr val="9F7D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4" name="pg_source_component_oval_87"/>
          <p:cNvSpPr/>
          <p:nvPr/>
        </p:nvSpPr>
        <p:spPr>
          <a:xfrm>
            <a:off x="10780427" y="2576932"/>
            <a:ext cx="16002" cy="16002"/>
          </a:xfrm>
          <a:prstGeom prst="ellipse">
            <a:avLst/>
          </a:prstGeom>
          <a:solidFill>
            <a:srgbClr val="9F7D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5" name="pg_source_component_oval_88"/>
          <p:cNvSpPr/>
          <p:nvPr/>
        </p:nvSpPr>
        <p:spPr>
          <a:xfrm>
            <a:off x="10918410" y="2476327"/>
            <a:ext cx="16002" cy="16002"/>
          </a:xfrm>
          <a:prstGeom prst="ellipse">
            <a:avLst/>
          </a:prstGeom>
          <a:solidFill>
            <a:srgbClr val="9F7D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6" name="pg_source_component_oval_89"/>
          <p:cNvSpPr/>
          <p:nvPr/>
        </p:nvSpPr>
        <p:spPr>
          <a:xfrm>
            <a:off x="11020619" y="2401805"/>
            <a:ext cx="16002" cy="16002"/>
          </a:xfrm>
          <a:prstGeom prst="ellipse">
            <a:avLst/>
          </a:prstGeom>
          <a:solidFill>
            <a:srgbClr val="9F7D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7" name="scfa_capillary_component_path_1"/>
          <p:cNvSpPr/>
          <p:nvPr/>
        </p:nvSpPr>
        <p:spPr>
          <a:xfrm>
            <a:off x="2753402" y="6567488"/>
            <a:ext cx="273434" cy="95"/>
          </a:xfrm>
          <a:custGeom>
            <a:avLst/>
            <a:gdLst/>
            <a:ahLst/>
            <a:cxnLst/>
            <a:rect l="0" t="0" r="r" b="b"/>
            <a:pathLst>
              <a:path w="273434" h="95">
                <a:moveTo>
                  <a:pt x="0" y="0"/>
                </a:moveTo>
                <a:lnTo>
                  <a:pt x="273434" y="0"/>
                </a:lnTo>
              </a:path>
            </a:pathLst>
          </a:custGeom>
          <a:noFill/>
          <a:ln w="148110" cap="rnd">
            <a:solidFill>
              <a:srgbClr val="5F784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8" name="scfa_capillary_component_path_2"/>
          <p:cNvSpPr/>
          <p:nvPr/>
        </p:nvSpPr>
        <p:spPr>
          <a:xfrm>
            <a:off x="2753402" y="6561544"/>
            <a:ext cx="273434" cy="95"/>
          </a:xfrm>
          <a:custGeom>
            <a:avLst/>
            <a:gdLst/>
            <a:ahLst/>
            <a:cxnLst/>
            <a:rect l="0" t="0" r="r" b="b"/>
            <a:pathLst>
              <a:path w="273434" h="95">
                <a:moveTo>
                  <a:pt x="0" y="0"/>
                </a:moveTo>
                <a:lnTo>
                  <a:pt x="273434" y="0"/>
                </a:lnTo>
              </a:path>
            </a:pathLst>
          </a:custGeom>
          <a:noFill/>
          <a:ln w="79751" cap="rnd">
            <a:solidFill>
              <a:srgbClr val="BBD49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9" name="scfa_capillary_component_path_3"/>
          <p:cNvSpPr/>
          <p:nvPr/>
        </p:nvSpPr>
        <p:spPr>
          <a:xfrm>
            <a:off x="3026836" y="6567488"/>
            <a:ext cx="282549" cy="95"/>
          </a:xfrm>
          <a:custGeom>
            <a:avLst/>
            <a:gdLst/>
            <a:ahLst/>
            <a:cxnLst/>
            <a:rect l="0" t="0" r="r" b="b"/>
            <a:pathLst>
              <a:path w="282549" h="95">
                <a:moveTo>
                  <a:pt x="0" y="0"/>
                </a:moveTo>
                <a:lnTo>
                  <a:pt x="282549" y="0"/>
                </a:lnTo>
              </a:path>
            </a:pathLst>
          </a:custGeom>
          <a:noFill/>
          <a:ln w="148110" cap="rnd">
            <a:solidFill>
              <a:srgbClr val="5F784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0" name="scfa_capillary_component_path_4"/>
          <p:cNvSpPr/>
          <p:nvPr/>
        </p:nvSpPr>
        <p:spPr>
          <a:xfrm>
            <a:off x="3026836" y="6561544"/>
            <a:ext cx="282549" cy="95"/>
          </a:xfrm>
          <a:custGeom>
            <a:avLst/>
            <a:gdLst/>
            <a:ahLst/>
            <a:cxnLst/>
            <a:rect l="0" t="0" r="r" b="b"/>
            <a:pathLst>
              <a:path w="282549" h="95">
                <a:moveTo>
                  <a:pt x="0" y="0"/>
                </a:moveTo>
                <a:lnTo>
                  <a:pt x="282549" y="0"/>
                </a:lnTo>
              </a:path>
            </a:pathLst>
          </a:custGeom>
          <a:noFill/>
          <a:ln w="79751" cap="rnd">
            <a:solidFill>
              <a:srgbClr val="BBD49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1" name="scfa_capillary_component_oval_5"/>
          <p:cNvSpPr/>
          <p:nvPr/>
        </p:nvSpPr>
        <p:spPr>
          <a:xfrm>
            <a:off x="2620331" y="6448616"/>
            <a:ext cx="266143" cy="237744"/>
          </a:xfrm>
          <a:prstGeom prst="ellipse">
            <a:avLst/>
          </a:prstGeom>
          <a:gradFill rotWithShape="1">
            <a:gsLst>
              <a:gs pos="0">
                <a:srgbClr val="E1ECC8"/>
              </a:gs>
              <a:gs pos="33000">
                <a:srgbClr val="AEC88E"/>
              </a:gs>
              <a:gs pos="72000">
                <a:srgbClr val="8AAE6A"/>
              </a:gs>
              <a:gs pos="100000">
                <a:srgbClr val="66864F"/>
              </a:gs>
            </a:gsLst>
            <a:lin ang="3300000" scaled="1"/>
          </a:gradFill>
          <a:ln w="17089">
            <a:solidFill>
              <a:srgbClr val="53734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2" name="scfa_capillary_component_oval_6"/>
          <p:cNvSpPr/>
          <p:nvPr/>
        </p:nvSpPr>
        <p:spPr>
          <a:xfrm>
            <a:off x="2680486" y="6485763"/>
            <a:ext cx="54687" cy="59436"/>
          </a:xfrm>
          <a:prstGeom prst="ellipse">
            <a:avLst/>
          </a:prstGeom>
          <a:solidFill>
            <a:srgbClr val="EAF1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3" name="scfa_capillary_component_oval_7"/>
          <p:cNvSpPr/>
          <p:nvPr/>
        </p:nvSpPr>
        <p:spPr>
          <a:xfrm>
            <a:off x="2893765" y="6448616"/>
            <a:ext cx="266143" cy="237744"/>
          </a:xfrm>
          <a:prstGeom prst="ellipse">
            <a:avLst/>
          </a:prstGeom>
          <a:gradFill rotWithShape="1">
            <a:gsLst>
              <a:gs pos="0">
                <a:srgbClr val="E1ECC8"/>
              </a:gs>
              <a:gs pos="33000">
                <a:srgbClr val="AEC88E"/>
              </a:gs>
              <a:gs pos="72000">
                <a:srgbClr val="8AAE6A"/>
              </a:gs>
              <a:gs pos="100000">
                <a:srgbClr val="66864F"/>
              </a:gs>
            </a:gsLst>
            <a:lin ang="3300000" scaled="1"/>
          </a:gradFill>
          <a:ln w="17089">
            <a:solidFill>
              <a:srgbClr val="53734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4" name="scfa_capillary_component_oval_8"/>
          <p:cNvSpPr/>
          <p:nvPr/>
        </p:nvSpPr>
        <p:spPr>
          <a:xfrm>
            <a:off x="2953921" y="6485763"/>
            <a:ext cx="54687" cy="59436"/>
          </a:xfrm>
          <a:prstGeom prst="ellipse">
            <a:avLst/>
          </a:prstGeom>
          <a:solidFill>
            <a:srgbClr val="EAF1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5" name="scfa_capillary_component_oval_9"/>
          <p:cNvSpPr/>
          <p:nvPr/>
        </p:nvSpPr>
        <p:spPr>
          <a:xfrm>
            <a:off x="3176314" y="6448616"/>
            <a:ext cx="266143" cy="237744"/>
          </a:xfrm>
          <a:prstGeom prst="ellipse">
            <a:avLst/>
          </a:prstGeom>
          <a:gradFill rotWithShape="1">
            <a:gsLst>
              <a:gs pos="0">
                <a:srgbClr val="E1ECC8"/>
              </a:gs>
              <a:gs pos="33000">
                <a:srgbClr val="AEC88E"/>
              </a:gs>
              <a:gs pos="72000">
                <a:srgbClr val="8AAE6A"/>
              </a:gs>
              <a:gs pos="100000">
                <a:srgbClr val="66864F"/>
              </a:gs>
            </a:gsLst>
            <a:lin ang="3300000" scaled="1"/>
          </a:gradFill>
          <a:ln w="17089">
            <a:solidFill>
              <a:srgbClr val="53734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6" name="scfa_capillary_component_oval_10"/>
          <p:cNvSpPr/>
          <p:nvPr/>
        </p:nvSpPr>
        <p:spPr>
          <a:xfrm>
            <a:off x="3236469" y="6485763"/>
            <a:ext cx="54687" cy="59436"/>
          </a:xfrm>
          <a:prstGeom prst="ellipse">
            <a:avLst/>
          </a:prstGeom>
          <a:solidFill>
            <a:srgbClr val="EAF1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7" name="secondary_ba_capillary_component_path_1"/>
          <p:cNvSpPr/>
          <p:nvPr/>
        </p:nvSpPr>
        <p:spPr>
          <a:xfrm>
            <a:off x="4207603" y="6551657"/>
            <a:ext cx="203365" cy="244431"/>
          </a:xfrm>
          <a:custGeom>
            <a:avLst/>
            <a:gdLst/>
            <a:ahLst/>
            <a:cxnLst/>
            <a:rect l="0" t="0" r="r" b="b"/>
            <a:pathLst>
              <a:path w="203365" h="244431">
                <a:moveTo>
                  <a:pt x="0" y="62408"/>
                </a:moveTo>
                <a:lnTo>
                  <a:pt x="105449" y="0"/>
                </a:lnTo>
                <a:lnTo>
                  <a:pt x="203365" y="62408"/>
                </a:lnTo>
                <a:lnTo>
                  <a:pt x="203365" y="182023"/>
                </a:lnTo>
                <a:lnTo>
                  <a:pt x="105449" y="244431"/>
                </a:lnTo>
                <a:lnTo>
                  <a:pt x="0" y="182023"/>
                </a:lnTo>
                <a:close/>
              </a:path>
            </a:pathLst>
          </a:custGeom>
          <a:gradFill rotWithShape="1">
            <a:gsLst>
              <a:gs pos="0">
                <a:srgbClr val="FFF1CF"/>
              </a:gs>
              <a:gs pos="55000">
                <a:srgbClr val="F5D19A"/>
              </a:gs>
              <a:gs pos="100000">
                <a:srgbClr val="E9AE62"/>
              </a:gs>
            </a:gsLst>
            <a:lin ang="4500000" scaled="1"/>
          </a:gradFill>
          <a:ln w="16925" cap="rnd">
            <a:solidFill>
              <a:srgbClr val="BD792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8" name="secondary_ba_capillary_component_path_2"/>
          <p:cNvSpPr/>
          <p:nvPr/>
        </p:nvSpPr>
        <p:spPr>
          <a:xfrm>
            <a:off x="4218604" y="6564039"/>
            <a:ext cx="94447" cy="58074"/>
          </a:xfrm>
          <a:custGeom>
            <a:avLst/>
            <a:gdLst/>
            <a:ahLst/>
            <a:cxnLst/>
            <a:rect l="0" t="0" r="r" b="b"/>
            <a:pathLst>
              <a:path w="94447" h="58074">
                <a:moveTo>
                  <a:pt x="0" y="58074"/>
                </a:moveTo>
                <a:lnTo>
                  <a:pt x="94447" y="0"/>
                </a:lnTo>
              </a:path>
            </a:pathLst>
          </a:custGeom>
          <a:noFill/>
          <a:ln w="16925" cap="rnd">
            <a:solidFill>
              <a:srgbClr val="FFEBC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9" name="secondary_ba_capillary_component_path_3"/>
          <p:cNvSpPr/>
          <p:nvPr/>
        </p:nvSpPr>
        <p:spPr>
          <a:xfrm>
            <a:off x="4410968" y="6551657"/>
            <a:ext cx="195833" cy="244431"/>
          </a:xfrm>
          <a:custGeom>
            <a:avLst/>
            <a:gdLst/>
            <a:ahLst/>
            <a:cxnLst/>
            <a:rect l="0" t="0" r="r" b="b"/>
            <a:pathLst>
              <a:path w="195833" h="244431">
                <a:moveTo>
                  <a:pt x="0" y="62408"/>
                </a:moveTo>
                <a:lnTo>
                  <a:pt x="97916" y="0"/>
                </a:lnTo>
                <a:lnTo>
                  <a:pt x="195833" y="62408"/>
                </a:lnTo>
                <a:lnTo>
                  <a:pt x="195833" y="182023"/>
                </a:lnTo>
                <a:lnTo>
                  <a:pt x="97916" y="244431"/>
                </a:lnTo>
                <a:lnTo>
                  <a:pt x="0" y="182023"/>
                </a:lnTo>
                <a:close/>
              </a:path>
            </a:pathLst>
          </a:custGeom>
          <a:gradFill rotWithShape="1">
            <a:gsLst>
              <a:gs pos="0">
                <a:srgbClr val="FFF1CF"/>
              </a:gs>
              <a:gs pos="55000">
                <a:srgbClr val="F5D19A"/>
              </a:gs>
              <a:gs pos="100000">
                <a:srgbClr val="E9AE62"/>
              </a:gs>
            </a:gsLst>
            <a:lin ang="4500000" scaled="1"/>
          </a:gradFill>
          <a:ln w="16925" cap="rnd">
            <a:solidFill>
              <a:srgbClr val="BD792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0" name="secondary_ba_capillary_component_path_4"/>
          <p:cNvSpPr/>
          <p:nvPr/>
        </p:nvSpPr>
        <p:spPr>
          <a:xfrm>
            <a:off x="4421969" y="6564039"/>
            <a:ext cx="86915" cy="58074"/>
          </a:xfrm>
          <a:custGeom>
            <a:avLst/>
            <a:gdLst/>
            <a:ahLst/>
            <a:cxnLst/>
            <a:rect l="0" t="0" r="r" b="b"/>
            <a:pathLst>
              <a:path w="86915" h="58074">
                <a:moveTo>
                  <a:pt x="0" y="58074"/>
                </a:moveTo>
                <a:lnTo>
                  <a:pt x="86915" y="0"/>
                </a:lnTo>
              </a:path>
            </a:pathLst>
          </a:custGeom>
          <a:noFill/>
          <a:ln w="16925" cap="rnd">
            <a:solidFill>
              <a:srgbClr val="FFEBC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1" name="secondary_ba_capillary_component_path_5"/>
          <p:cNvSpPr/>
          <p:nvPr/>
        </p:nvSpPr>
        <p:spPr>
          <a:xfrm>
            <a:off x="4410968" y="6421641"/>
            <a:ext cx="210897" cy="254832"/>
          </a:xfrm>
          <a:custGeom>
            <a:avLst/>
            <a:gdLst/>
            <a:ahLst/>
            <a:cxnLst/>
            <a:rect l="0" t="0" r="r" b="b"/>
            <a:pathLst>
              <a:path w="210897" h="254832">
                <a:moveTo>
                  <a:pt x="0" y="67608"/>
                </a:moveTo>
                <a:lnTo>
                  <a:pt x="112981" y="0"/>
                </a:lnTo>
                <a:lnTo>
                  <a:pt x="210897" y="67608"/>
                </a:lnTo>
                <a:lnTo>
                  <a:pt x="210897" y="187223"/>
                </a:lnTo>
                <a:lnTo>
                  <a:pt x="112981" y="254832"/>
                </a:lnTo>
                <a:lnTo>
                  <a:pt x="0" y="192424"/>
                </a:lnTo>
                <a:close/>
              </a:path>
            </a:pathLst>
          </a:custGeom>
          <a:gradFill rotWithShape="1">
            <a:gsLst>
              <a:gs pos="0">
                <a:srgbClr val="FFF1CF"/>
              </a:gs>
              <a:gs pos="55000">
                <a:srgbClr val="F5D19A"/>
              </a:gs>
              <a:gs pos="100000">
                <a:srgbClr val="E9AE62"/>
              </a:gs>
            </a:gsLst>
            <a:lin ang="4500000" scaled="1"/>
          </a:gradFill>
          <a:ln w="16925" cap="rnd">
            <a:solidFill>
              <a:srgbClr val="BD792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2" name="secondary_ba_capillary_component_path_6"/>
          <p:cNvSpPr/>
          <p:nvPr/>
        </p:nvSpPr>
        <p:spPr>
          <a:xfrm>
            <a:off x="4421969" y="6434023"/>
            <a:ext cx="101979" cy="63275"/>
          </a:xfrm>
          <a:custGeom>
            <a:avLst/>
            <a:gdLst/>
            <a:ahLst/>
            <a:cxnLst/>
            <a:rect l="0" t="0" r="r" b="b"/>
            <a:pathLst>
              <a:path w="101979" h="63275">
                <a:moveTo>
                  <a:pt x="0" y="63275"/>
                </a:moveTo>
                <a:lnTo>
                  <a:pt x="101979" y="0"/>
                </a:lnTo>
              </a:path>
            </a:pathLst>
          </a:custGeom>
          <a:noFill/>
          <a:ln w="16925" cap="rnd">
            <a:solidFill>
              <a:srgbClr val="FFEBC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3" name="secondary_ba_capillary_component_path_7"/>
          <p:cNvSpPr/>
          <p:nvPr/>
        </p:nvSpPr>
        <p:spPr>
          <a:xfrm>
            <a:off x="4621865" y="6416440"/>
            <a:ext cx="195833" cy="260032"/>
          </a:xfrm>
          <a:custGeom>
            <a:avLst/>
            <a:gdLst/>
            <a:ahLst/>
            <a:cxnLst/>
            <a:rect l="0" t="0" r="r" b="b"/>
            <a:pathLst>
              <a:path w="195833" h="260032">
                <a:moveTo>
                  <a:pt x="0" y="67608"/>
                </a:moveTo>
                <a:lnTo>
                  <a:pt x="97916" y="0"/>
                </a:lnTo>
                <a:lnTo>
                  <a:pt x="195833" y="67608"/>
                </a:lnTo>
                <a:lnTo>
                  <a:pt x="195833" y="192424"/>
                </a:lnTo>
                <a:lnTo>
                  <a:pt x="97916" y="260032"/>
                </a:lnTo>
                <a:lnTo>
                  <a:pt x="0" y="192424"/>
                </a:lnTo>
                <a:close/>
              </a:path>
            </a:pathLst>
          </a:custGeom>
          <a:gradFill rotWithShape="1">
            <a:gsLst>
              <a:gs pos="0">
                <a:srgbClr val="FFF1CF"/>
              </a:gs>
              <a:gs pos="55000">
                <a:srgbClr val="F5D19A"/>
              </a:gs>
              <a:gs pos="100000">
                <a:srgbClr val="E9AE62"/>
              </a:gs>
            </a:gsLst>
            <a:lin ang="4500000" scaled="1"/>
          </a:gradFill>
          <a:ln w="16925" cap="rnd">
            <a:solidFill>
              <a:srgbClr val="BD792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4" name="secondary_ba_capillary_component_path_8"/>
          <p:cNvSpPr/>
          <p:nvPr/>
        </p:nvSpPr>
        <p:spPr>
          <a:xfrm>
            <a:off x="4632867" y="6428823"/>
            <a:ext cx="86915" cy="63275"/>
          </a:xfrm>
          <a:custGeom>
            <a:avLst/>
            <a:gdLst/>
            <a:ahLst/>
            <a:cxnLst/>
            <a:rect l="0" t="0" r="r" b="b"/>
            <a:pathLst>
              <a:path w="86915" h="63275">
                <a:moveTo>
                  <a:pt x="0" y="63275"/>
                </a:moveTo>
                <a:lnTo>
                  <a:pt x="86915" y="0"/>
                </a:lnTo>
              </a:path>
            </a:pathLst>
          </a:custGeom>
          <a:noFill/>
          <a:ln w="16925" cap="rnd">
            <a:solidFill>
              <a:srgbClr val="FFEBC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5" name="secondary_ba_capillary_component_path_9"/>
          <p:cNvSpPr/>
          <p:nvPr/>
        </p:nvSpPr>
        <p:spPr>
          <a:xfrm>
            <a:off x="4817698" y="6421641"/>
            <a:ext cx="158173" cy="187223"/>
          </a:xfrm>
          <a:custGeom>
            <a:avLst/>
            <a:gdLst/>
            <a:ahLst/>
            <a:cxnLst/>
            <a:rect l="0" t="0" r="r" b="b"/>
            <a:pathLst>
              <a:path w="158173" h="187223">
                <a:moveTo>
                  <a:pt x="0" y="57207"/>
                </a:moveTo>
                <a:lnTo>
                  <a:pt x="82852" y="0"/>
                </a:lnTo>
                <a:lnTo>
                  <a:pt x="158173" y="57207"/>
                </a:lnTo>
                <a:lnTo>
                  <a:pt x="158173" y="171621"/>
                </a:lnTo>
                <a:lnTo>
                  <a:pt x="0" y="187223"/>
                </a:lnTo>
                <a:close/>
              </a:path>
            </a:pathLst>
          </a:custGeom>
          <a:gradFill rotWithShape="1">
            <a:gsLst>
              <a:gs pos="0">
                <a:srgbClr val="FFF1CF"/>
              </a:gs>
              <a:gs pos="55000">
                <a:srgbClr val="F5D19A"/>
              </a:gs>
              <a:gs pos="100000">
                <a:srgbClr val="E9AE62"/>
              </a:gs>
            </a:gsLst>
            <a:lin ang="4500000" scaled="1"/>
          </a:gradFill>
          <a:ln w="16925" cap="rnd">
            <a:solidFill>
              <a:srgbClr val="BD792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6" name="secondary_ba_capillary_component_path_10"/>
          <p:cNvSpPr/>
          <p:nvPr/>
        </p:nvSpPr>
        <p:spPr>
          <a:xfrm>
            <a:off x="4828699" y="6434023"/>
            <a:ext cx="71851" cy="52873"/>
          </a:xfrm>
          <a:custGeom>
            <a:avLst/>
            <a:gdLst/>
            <a:ahLst/>
            <a:cxnLst/>
            <a:rect l="0" t="0" r="r" b="b"/>
            <a:pathLst>
              <a:path w="71851" h="52873">
                <a:moveTo>
                  <a:pt x="0" y="52873"/>
                </a:moveTo>
                <a:lnTo>
                  <a:pt x="71851" y="0"/>
                </a:lnTo>
              </a:path>
            </a:pathLst>
          </a:custGeom>
          <a:noFill/>
          <a:ln w="16925" cap="rnd">
            <a:solidFill>
              <a:srgbClr val="FFEBC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7" name="secondary_ba_capillary_component_path_11"/>
          <p:cNvSpPr/>
          <p:nvPr/>
        </p:nvSpPr>
        <p:spPr>
          <a:xfrm>
            <a:off x="4900550" y="6333230"/>
            <a:ext cx="95" cy="88411"/>
          </a:xfrm>
          <a:custGeom>
            <a:avLst/>
            <a:gdLst/>
            <a:ahLst/>
            <a:cxnLst/>
            <a:rect l="0" t="0" r="r" b="b"/>
            <a:pathLst>
              <a:path w="95" h="88411">
                <a:moveTo>
                  <a:pt x="0" y="88411"/>
                </a:moveTo>
                <a:lnTo>
                  <a:pt x="0" y="0"/>
                </a:lnTo>
              </a:path>
            </a:pathLst>
          </a:custGeom>
          <a:noFill/>
          <a:ln w="19041" cap="rnd">
            <a:solidFill>
              <a:srgbClr val="B87A3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8" name="secondary_ba_capillary_component_path_12"/>
          <p:cNvSpPr/>
          <p:nvPr/>
        </p:nvSpPr>
        <p:spPr>
          <a:xfrm>
            <a:off x="4486288" y="6582861"/>
            <a:ext cx="37660" cy="20803"/>
          </a:xfrm>
          <a:custGeom>
            <a:avLst/>
            <a:gdLst/>
            <a:ahLst/>
            <a:cxnLst/>
            <a:rect l="0" t="0" r="r" b="b"/>
            <a:pathLst>
              <a:path w="37660" h="20803">
                <a:moveTo>
                  <a:pt x="0" y="20803"/>
                </a:moveTo>
                <a:lnTo>
                  <a:pt x="37660" y="0"/>
                </a:lnTo>
              </a:path>
            </a:pathLst>
          </a:custGeom>
          <a:noFill/>
          <a:ln w="25388" cap="rnd">
            <a:solidFill>
              <a:srgbClr val="CE8C3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9" name="indole_capillary_component_path_1"/>
          <p:cNvSpPr/>
          <p:nvPr/>
        </p:nvSpPr>
        <p:spPr>
          <a:xfrm>
            <a:off x="5798950" y="6302689"/>
            <a:ext cx="361197" cy="438542"/>
          </a:xfrm>
          <a:custGeom>
            <a:avLst/>
            <a:gdLst/>
            <a:ahLst/>
            <a:cxnLst/>
            <a:rect l="0" t="0" r="r" b="b"/>
            <a:pathLst>
              <a:path w="361197" h="438542">
                <a:moveTo>
                  <a:pt x="0" y="111023"/>
                </a:moveTo>
                <a:lnTo>
                  <a:pt x="187287" y="0"/>
                </a:lnTo>
                <a:lnTo>
                  <a:pt x="361197" y="111023"/>
                </a:lnTo>
                <a:lnTo>
                  <a:pt x="361197" y="327519"/>
                </a:lnTo>
                <a:lnTo>
                  <a:pt x="187287" y="438542"/>
                </a:lnTo>
                <a:lnTo>
                  <a:pt x="0" y="327519"/>
                </a:lnTo>
                <a:close/>
              </a:path>
            </a:pathLst>
          </a:custGeom>
          <a:gradFill rotWithShape="1">
            <a:gsLst>
              <a:gs pos="0">
                <a:srgbClr val="E8DCF0"/>
              </a:gs>
              <a:gs pos="100000">
                <a:srgbClr val="BCA2D8"/>
              </a:gs>
            </a:gsLst>
            <a:lin ang="3900000" scaled="1"/>
          </a:gradFill>
          <a:ln w="18052" cap="rnd">
            <a:solidFill>
              <a:srgbClr val="60419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0" name="indole_capillary_component_path_2"/>
          <p:cNvSpPr/>
          <p:nvPr/>
        </p:nvSpPr>
        <p:spPr>
          <a:xfrm>
            <a:off x="6160147" y="6352649"/>
            <a:ext cx="300998" cy="349724"/>
          </a:xfrm>
          <a:custGeom>
            <a:avLst/>
            <a:gdLst/>
            <a:ahLst/>
            <a:cxnLst/>
            <a:rect l="0" t="0" r="r" b="b"/>
            <a:pathLst>
              <a:path w="300998" h="349724">
                <a:moveTo>
                  <a:pt x="0" y="61063"/>
                </a:moveTo>
                <a:lnTo>
                  <a:pt x="180599" y="0"/>
                </a:lnTo>
                <a:lnTo>
                  <a:pt x="300998" y="183189"/>
                </a:lnTo>
                <a:lnTo>
                  <a:pt x="173910" y="349724"/>
                </a:lnTo>
                <a:lnTo>
                  <a:pt x="0" y="277558"/>
                </a:lnTo>
                <a:close/>
              </a:path>
            </a:pathLst>
          </a:custGeom>
          <a:gradFill rotWithShape="1">
            <a:gsLst>
              <a:gs pos="0">
                <a:srgbClr val="E8DCF0"/>
              </a:gs>
              <a:gs pos="100000">
                <a:srgbClr val="BCA2D8"/>
              </a:gs>
            </a:gsLst>
            <a:lin ang="3900000" scaled="1"/>
          </a:gradFill>
          <a:ln w="18052" cap="rnd">
            <a:solidFill>
              <a:srgbClr val="60419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1" name="indole_capillary_component_path_3"/>
          <p:cNvSpPr/>
          <p:nvPr/>
        </p:nvSpPr>
        <p:spPr>
          <a:xfrm>
            <a:off x="5839083" y="6358200"/>
            <a:ext cx="127088" cy="77716"/>
          </a:xfrm>
          <a:custGeom>
            <a:avLst/>
            <a:gdLst/>
            <a:ahLst/>
            <a:cxnLst/>
            <a:rect l="0" t="0" r="r" b="b"/>
            <a:pathLst>
              <a:path w="127088" h="77716">
                <a:moveTo>
                  <a:pt x="0" y="77716"/>
                </a:moveTo>
                <a:lnTo>
                  <a:pt x="127088" y="0"/>
                </a:lnTo>
              </a:path>
            </a:pathLst>
          </a:custGeom>
          <a:noFill/>
          <a:ln w="16152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2" name="indole_capillary_component_path_4"/>
          <p:cNvSpPr/>
          <p:nvPr/>
        </p:nvSpPr>
        <p:spPr>
          <a:xfrm>
            <a:off x="6026371" y="6358200"/>
            <a:ext cx="93644" cy="66614"/>
          </a:xfrm>
          <a:custGeom>
            <a:avLst/>
            <a:gdLst/>
            <a:ahLst/>
            <a:cxnLst/>
            <a:rect l="0" t="0" r="r" b="b"/>
            <a:pathLst>
              <a:path w="93644" h="66614">
                <a:moveTo>
                  <a:pt x="0" y="0"/>
                </a:moveTo>
                <a:lnTo>
                  <a:pt x="93644" y="66614"/>
                </a:lnTo>
              </a:path>
            </a:pathLst>
          </a:custGeom>
          <a:noFill/>
          <a:ln w="16152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3" name="indole_capillary_component_path_5"/>
          <p:cNvSpPr/>
          <p:nvPr/>
        </p:nvSpPr>
        <p:spPr>
          <a:xfrm>
            <a:off x="5839083" y="6480326"/>
            <a:ext cx="95" cy="127677"/>
          </a:xfrm>
          <a:custGeom>
            <a:avLst/>
            <a:gdLst/>
            <a:ahLst/>
            <a:cxnLst/>
            <a:rect l="0" t="0" r="r" b="b"/>
            <a:pathLst>
              <a:path w="95" h="127677">
                <a:moveTo>
                  <a:pt x="0" y="0"/>
                </a:moveTo>
                <a:lnTo>
                  <a:pt x="0" y="127677"/>
                </a:lnTo>
              </a:path>
            </a:pathLst>
          </a:custGeom>
          <a:noFill/>
          <a:ln w="16152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4" name="indole_capillary_component_path_6"/>
          <p:cNvSpPr/>
          <p:nvPr/>
        </p:nvSpPr>
        <p:spPr>
          <a:xfrm>
            <a:off x="6026371" y="6635759"/>
            <a:ext cx="93644" cy="55512"/>
          </a:xfrm>
          <a:custGeom>
            <a:avLst/>
            <a:gdLst/>
            <a:ahLst/>
            <a:cxnLst/>
            <a:rect l="0" t="0" r="r" b="b"/>
            <a:pathLst>
              <a:path w="93644" h="55512">
                <a:moveTo>
                  <a:pt x="0" y="55512"/>
                </a:moveTo>
                <a:lnTo>
                  <a:pt x="93644" y="0"/>
                </a:lnTo>
              </a:path>
            </a:pathLst>
          </a:custGeom>
          <a:noFill/>
          <a:ln w="16152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5" name="indole_capillary_component_path_7"/>
          <p:cNvSpPr/>
          <p:nvPr/>
        </p:nvSpPr>
        <p:spPr>
          <a:xfrm>
            <a:off x="6334057" y="6419263"/>
            <a:ext cx="73577" cy="111023"/>
          </a:xfrm>
          <a:custGeom>
            <a:avLst/>
            <a:gdLst/>
            <a:ahLst/>
            <a:cxnLst/>
            <a:rect l="0" t="0" r="r" b="b"/>
            <a:pathLst>
              <a:path w="73577" h="111023">
                <a:moveTo>
                  <a:pt x="0" y="0"/>
                </a:moveTo>
                <a:lnTo>
                  <a:pt x="73577" y="111023"/>
                </a:lnTo>
              </a:path>
            </a:pathLst>
          </a:custGeom>
          <a:noFill/>
          <a:ln w="16152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6" name="indole_capillary_component_path_8"/>
          <p:cNvSpPr/>
          <p:nvPr/>
        </p:nvSpPr>
        <p:spPr>
          <a:xfrm>
            <a:off x="6347435" y="6585798"/>
            <a:ext cx="53511" cy="77716"/>
          </a:xfrm>
          <a:custGeom>
            <a:avLst/>
            <a:gdLst/>
            <a:ahLst/>
            <a:cxnLst/>
            <a:rect l="0" t="0" r="r" b="b"/>
            <a:pathLst>
              <a:path w="53511" h="77716">
                <a:moveTo>
                  <a:pt x="53511" y="0"/>
                </a:moveTo>
                <a:lnTo>
                  <a:pt x="0" y="77716"/>
                </a:lnTo>
              </a:path>
            </a:pathLst>
          </a:custGeom>
          <a:noFill/>
          <a:ln w="16152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7" name="indole_capillary_component_atom_9"/>
          <p:cNvSpPr txBox="1"/>
          <p:nvPr/>
        </p:nvSpPr>
        <p:spPr>
          <a:xfrm>
            <a:off x="6314599" y="6694932"/>
            <a:ext cx="136817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488" b="0" i="0">
                <a:solidFill>
                  <a:srgbClr val="57388E"/>
                </a:solidFill>
                <a:latin typeface="Arial"/>
              </a:rPr>
              <a:t>N</a:t>
            </a:r>
          </a:p>
        </p:txBody>
      </p:sp>
      <p:sp>
        <p:nvSpPr>
          <p:cNvPr id="638" name="tma_capillary_component_path_1"/>
          <p:cNvSpPr/>
          <p:nvPr/>
        </p:nvSpPr>
        <p:spPr>
          <a:xfrm>
            <a:off x="7848600" y="6311316"/>
            <a:ext cx="95" cy="300166"/>
          </a:xfrm>
          <a:custGeom>
            <a:avLst/>
            <a:gdLst/>
            <a:ahLst/>
            <a:cxnLst/>
            <a:rect l="0" t="0" r="r" b="b"/>
            <a:pathLst>
              <a:path w="95" h="300166">
                <a:moveTo>
                  <a:pt x="0" y="300166"/>
                </a:moveTo>
                <a:lnTo>
                  <a:pt x="0" y="0"/>
                </a:lnTo>
              </a:path>
            </a:pathLst>
          </a:custGeom>
          <a:noFill/>
          <a:ln w="114300" cap="rnd">
            <a:solidFill>
              <a:srgbClr val="A8671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9" name="tma_capillary_component_path_2"/>
          <p:cNvSpPr/>
          <p:nvPr/>
        </p:nvSpPr>
        <p:spPr>
          <a:xfrm>
            <a:off x="7848600" y="6311316"/>
            <a:ext cx="95" cy="300166"/>
          </a:xfrm>
          <a:custGeom>
            <a:avLst/>
            <a:gdLst/>
            <a:ahLst/>
            <a:cxnLst/>
            <a:rect l="0" t="0" r="r" b="b"/>
            <a:pathLst>
              <a:path w="95" h="300166">
                <a:moveTo>
                  <a:pt x="0" y="300166"/>
                </a:moveTo>
                <a:lnTo>
                  <a:pt x="0" y="0"/>
                </a:lnTo>
              </a:path>
            </a:pathLst>
          </a:custGeom>
          <a:noFill/>
          <a:ln w="87630" cap="rnd">
            <a:solidFill>
              <a:srgbClr val="EE8D0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0" name="tma_capillary_component_path_3"/>
          <p:cNvSpPr/>
          <p:nvPr/>
        </p:nvSpPr>
        <p:spPr>
          <a:xfrm>
            <a:off x="7836408" y="6311316"/>
            <a:ext cx="6096" cy="286825"/>
          </a:xfrm>
          <a:custGeom>
            <a:avLst/>
            <a:gdLst/>
            <a:ahLst/>
            <a:cxnLst/>
            <a:rect l="0" t="0" r="r" b="b"/>
            <a:pathLst>
              <a:path w="6096" h="286825">
                <a:moveTo>
                  <a:pt x="0" y="286825"/>
                </a:moveTo>
                <a:lnTo>
                  <a:pt x="6096" y="0"/>
                </a:lnTo>
              </a:path>
            </a:pathLst>
          </a:custGeom>
          <a:noFill/>
          <a:ln w="19050" cap="rnd">
            <a:solidFill>
              <a:srgbClr val="FFE3A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1" name="tma_capillary_component_path_4"/>
          <p:cNvSpPr/>
          <p:nvPr/>
        </p:nvSpPr>
        <p:spPr>
          <a:xfrm>
            <a:off x="7653528" y="6611483"/>
            <a:ext cx="195072" cy="140078"/>
          </a:xfrm>
          <a:custGeom>
            <a:avLst/>
            <a:gdLst/>
            <a:ahLst/>
            <a:cxnLst/>
            <a:rect l="0" t="0" r="r" b="b"/>
            <a:pathLst>
              <a:path w="195072" h="140078">
                <a:moveTo>
                  <a:pt x="195072" y="0"/>
                </a:moveTo>
                <a:lnTo>
                  <a:pt x="0" y="140078"/>
                </a:lnTo>
              </a:path>
            </a:pathLst>
          </a:custGeom>
          <a:noFill/>
          <a:ln w="114300" cap="rnd">
            <a:solidFill>
              <a:srgbClr val="A8671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2" name="tma_capillary_component_path_5"/>
          <p:cNvSpPr/>
          <p:nvPr/>
        </p:nvSpPr>
        <p:spPr>
          <a:xfrm>
            <a:off x="7653528" y="6611483"/>
            <a:ext cx="195072" cy="140078"/>
          </a:xfrm>
          <a:custGeom>
            <a:avLst/>
            <a:gdLst/>
            <a:ahLst/>
            <a:cxnLst/>
            <a:rect l="0" t="0" r="r" b="b"/>
            <a:pathLst>
              <a:path w="195072" h="140078">
                <a:moveTo>
                  <a:pt x="195072" y="0"/>
                </a:moveTo>
                <a:lnTo>
                  <a:pt x="0" y="140078"/>
                </a:lnTo>
              </a:path>
            </a:pathLst>
          </a:custGeom>
          <a:noFill/>
          <a:ln w="87630" cap="rnd">
            <a:solidFill>
              <a:srgbClr val="EE8D0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3" name="tma_capillary_component_path_6"/>
          <p:cNvSpPr/>
          <p:nvPr/>
        </p:nvSpPr>
        <p:spPr>
          <a:xfrm>
            <a:off x="7647432" y="6598142"/>
            <a:ext cx="188976" cy="153418"/>
          </a:xfrm>
          <a:custGeom>
            <a:avLst/>
            <a:gdLst/>
            <a:ahLst/>
            <a:cxnLst/>
            <a:rect l="0" t="0" r="r" b="b"/>
            <a:pathLst>
              <a:path w="188976" h="153418">
                <a:moveTo>
                  <a:pt x="188976" y="0"/>
                </a:moveTo>
                <a:lnTo>
                  <a:pt x="0" y="153418"/>
                </a:lnTo>
              </a:path>
            </a:pathLst>
          </a:custGeom>
          <a:noFill/>
          <a:ln w="19050" cap="rnd">
            <a:solidFill>
              <a:srgbClr val="FFE3A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4" name="tma_capillary_component_path_7"/>
          <p:cNvSpPr/>
          <p:nvPr/>
        </p:nvSpPr>
        <p:spPr>
          <a:xfrm>
            <a:off x="7848600" y="6611483"/>
            <a:ext cx="195072" cy="140078"/>
          </a:xfrm>
          <a:custGeom>
            <a:avLst/>
            <a:gdLst/>
            <a:ahLst/>
            <a:cxnLst/>
            <a:rect l="0" t="0" r="r" b="b"/>
            <a:pathLst>
              <a:path w="195072" h="140078">
                <a:moveTo>
                  <a:pt x="0" y="0"/>
                </a:moveTo>
                <a:lnTo>
                  <a:pt x="195072" y="140078"/>
                </a:lnTo>
              </a:path>
            </a:pathLst>
          </a:custGeom>
          <a:noFill/>
          <a:ln w="114300" cap="rnd">
            <a:solidFill>
              <a:srgbClr val="A8671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5" name="tma_capillary_component_path_8"/>
          <p:cNvSpPr/>
          <p:nvPr/>
        </p:nvSpPr>
        <p:spPr>
          <a:xfrm>
            <a:off x="7848600" y="6611483"/>
            <a:ext cx="195072" cy="140078"/>
          </a:xfrm>
          <a:custGeom>
            <a:avLst/>
            <a:gdLst/>
            <a:ahLst/>
            <a:cxnLst/>
            <a:rect l="0" t="0" r="r" b="b"/>
            <a:pathLst>
              <a:path w="195072" h="140078">
                <a:moveTo>
                  <a:pt x="0" y="0"/>
                </a:moveTo>
                <a:lnTo>
                  <a:pt x="195072" y="140078"/>
                </a:lnTo>
              </a:path>
            </a:pathLst>
          </a:custGeom>
          <a:noFill/>
          <a:ln w="87630" cap="rnd">
            <a:solidFill>
              <a:srgbClr val="EE8D0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6" name="tma_capillary_component_path_9"/>
          <p:cNvSpPr/>
          <p:nvPr/>
        </p:nvSpPr>
        <p:spPr>
          <a:xfrm>
            <a:off x="7836408" y="6598142"/>
            <a:ext cx="201168" cy="153418"/>
          </a:xfrm>
          <a:custGeom>
            <a:avLst/>
            <a:gdLst/>
            <a:ahLst/>
            <a:cxnLst/>
            <a:rect l="0" t="0" r="r" b="b"/>
            <a:pathLst>
              <a:path w="201168" h="153418">
                <a:moveTo>
                  <a:pt x="0" y="0"/>
                </a:moveTo>
                <a:lnTo>
                  <a:pt x="201168" y="153418"/>
                </a:lnTo>
              </a:path>
            </a:pathLst>
          </a:custGeom>
          <a:noFill/>
          <a:ln w="19050" cap="rnd">
            <a:solidFill>
              <a:srgbClr val="FFE3A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7" name="tma_capillary_component_oval_10"/>
          <p:cNvSpPr/>
          <p:nvPr/>
        </p:nvSpPr>
        <p:spPr>
          <a:xfrm>
            <a:off x="7757160" y="6511427"/>
            <a:ext cx="182880" cy="200111"/>
          </a:xfrm>
          <a:prstGeom prst="ellipse">
            <a:avLst/>
          </a:prstGeom>
          <a:gradFill rotWithShape="1">
            <a:gsLst>
              <a:gs pos="0">
                <a:srgbClr val="FBE2C1"/>
              </a:gs>
              <a:gs pos="30000">
                <a:srgbClr val="F2AA44"/>
              </a:gs>
              <a:gs pos="67000">
                <a:srgbClr val="EE8D06"/>
              </a:gs>
              <a:gs pos="100000">
                <a:srgbClr val="C37511"/>
              </a:gs>
            </a:gsLst>
            <a:lin ang="3300000" scaled="1"/>
          </a:gradFill>
          <a:ln w="9906">
            <a:solidFill>
              <a:srgbClr val="A867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8" name="tma_capillary_component_oval_11"/>
          <p:cNvSpPr/>
          <p:nvPr/>
        </p:nvSpPr>
        <p:spPr>
          <a:xfrm>
            <a:off x="7801051" y="6548448"/>
            <a:ext cx="47549" cy="37020"/>
          </a:xfrm>
          <a:prstGeom prst="ellipse">
            <a:avLst/>
          </a:prstGeom>
          <a:solidFill>
            <a:srgbClr val="FBE1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9" name="tma_capillary_component_oval_12"/>
          <p:cNvSpPr/>
          <p:nvPr/>
        </p:nvSpPr>
        <p:spPr>
          <a:xfrm>
            <a:off x="7772400" y="6227937"/>
            <a:ext cx="152400" cy="166759"/>
          </a:xfrm>
          <a:prstGeom prst="ellipse">
            <a:avLst/>
          </a:prstGeom>
          <a:gradFill rotWithShape="1">
            <a:gsLst>
              <a:gs pos="0">
                <a:srgbClr val="FBE2C1"/>
              </a:gs>
              <a:gs pos="30000">
                <a:srgbClr val="F2AA44"/>
              </a:gs>
              <a:gs pos="67000">
                <a:srgbClr val="EE8D06"/>
              </a:gs>
              <a:gs pos="100000">
                <a:srgbClr val="C37511"/>
              </a:gs>
            </a:gsLst>
            <a:lin ang="3300000" scaled="1"/>
          </a:gradFill>
          <a:ln w="9906">
            <a:solidFill>
              <a:srgbClr val="A867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0" name="tma_capillary_component_oval_13"/>
          <p:cNvSpPr/>
          <p:nvPr/>
        </p:nvSpPr>
        <p:spPr>
          <a:xfrm>
            <a:off x="7808976" y="6258787"/>
            <a:ext cx="39624" cy="30850"/>
          </a:xfrm>
          <a:prstGeom prst="ellipse">
            <a:avLst/>
          </a:prstGeom>
          <a:solidFill>
            <a:srgbClr val="FBE1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1" name="tma_capillary_component_oval_14"/>
          <p:cNvSpPr/>
          <p:nvPr/>
        </p:nvSpPr>
        <p:spPr>
          <a:xfrm>
            <a:off x="7577328" y="6668181"/>
            <a:ext cx="152400" cy="166759"/>
          </a:xfrm>
          <a:prstGeom prst="ellipse">
            <a:avLst/>
          </a:prstGeom>
          <a:gradFill rotWithShape="1">
            <a:gsLst>
              <a:gs pos="0">
                <a:srgbClr val="FBE2C1"/>
              </a:gs>
              <a:gs pos="30000">
                <a:srgbClr val="F2AA44"/>
              </a:gs>
              <a:gs pos="67000">
                <a:srgbClr val="EE8D06"/>
              </a:gs>
              <a:gs pos="100000">
                <a:srgbClr val="C37511"/>
              </a:gs>
            </a:gsLst>
            <a:lin ang="3300000" scaled="1"/>
          </a:gradFill>
          <a:ln w="9906">
            <a:solidFill>
              <a:srgbClr val="A867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2" name="tma_capillary_component_oval_15"/>
          <p:cNvSpPr/>
          <p:nvPr/>
        </p:nvSpPr>
        <p:spPr>
          <a:xfrm>
            <a:off x="7613904" y="6699031"/>
            <a:ext cx="39624" cy="30850"/>
          </a:xfrm>
          <a:prstGeom prst="ellipse">
            <a:avLst/>
          </a:prstGeom>
          <a:solidFill>
            <a:srgbClr val="FBE1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3" name="tma_capillary_component_oval_16"/>
          <p:cNvSpPr/>
          <p:nvPr/>
        </p:nvSpPr>
        <p:spPr>
          <a:xfrm>
            <a:off x="7967472" y="6668181"/>
            <a:ext cx="152400" cy="166759"/>
          </a:xfrm>
          <a:prstGeom prst="ellipse">
            <a:avLst/>
          </a:prstGeom>
          <a:gradFill rotWithShape="1">
            <a:gsLst>
              <a:gs pos="0">
                <a:srgbClr val="FBE2C1"/>
              </a:gs>
              <a:gs pos="30000">
                <a:srgbClr val="F2AA44"/>
              </a:gs>
              <a:gs pos="67000">
                <a:srgbClr val="EE8D06"/>
              </a:gs>
              <a:gs pos="100000">
                <a:srgbClr val="C37511"/>
              </a:gs>
            </a:gsLst>
            <a:lin ang="3300000" scaled="1"/>
          </a:gradFill>
          <a:ln w="9906">
            <a:solidFill>
              <a:srgbClr val="A867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4" name="tma_capillary_component_oval_17"/>
          <p:cNvSpPr/>
          <p:nvPr/>
        </p:nvSpPr>
        <p:spPr>
          <a:xfrm>
            <a:off x="8004048" y="6699031"/>
            <a:ext cx="39624" cy="30850"/>
          </a:xfrm>
          <a:prstGeom prst="ellipse">
            <a:avLst/>
          </a:prstGeom>
          <a:solidFill>
            <a:srgbClr val="FBE1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5" name="tma_capillary_component_atom_18"/>
          <p:cNvSpPr txBox="1"/>
          <p:nvPr/>
        </p:nvSpPr>
        <p:spPr>
          <a:xfrm>
            <a:off x="7757160" y="6491416"/>
            <a:ext cx="182880" cy="226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2170" b="0" i="0">
                <a:solidFill>
                  <a:srgbClr val="FFFFFF"/>
                </a:solidFill>
                <a:latin typeface="Arial"/>
              </a:rPr>
              <a:t>N</a:t>
            </a:r>
          </a:p>
        </p:txBody>
      </p:sp>
      <p:sp>
        <p:nvSpPr>
          <p:cNvPr id="656" name="tma_liver_component_path_1"/>
          <p:cNvSpPr/>
          <p:nvPr/>
        </p:nvSpPr>
        <p:spPr>
          <a:xfrm>
            <a:off x="9844088" y="6862242"/>
            <a:ext cx="95" cy="248731"/>
          </a:xfrm>
          <a:custGeom>
            <a:avLst/>
            <a:gdLst/>
            <a:ahLst/>
            <a:cxnLst/>
            <a:rect l="0" t="0" r="r" b="b"/>
            <a:pathLst>
              <a:path w="95" h="248731">
                <a:moveTo>
                  <a:pt x="0" y="248731"/>
                </a:moveTo>
                <a:lnTo>
                  <a:pt x="0" y="0"/>
                </a:lnTo>
              </a:path>
            </a:pathLst>
          </a:custGeom>
          <a:noFill/>
          <a:ln w="94654" cap="rnd">
            <a:solidFill>
              <a:srgbClr val="A8671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7" name="tma_liver_component_path_2"/>
          <p:cNvSpPr/>
          <p:nvPr/>
        </p:nvSpPr>
        <p:spPr>
          <a:xfrm>
            <a:off x="9844088" y="6862242"/>
            <a:ext cx="95" cy="248731"/>
          </a:xfrm>
          <a:custGeom>
            <a:avLst/>
            <a:gdLst/>
            <a:ahLst/>
            <a:cxnLst/>
            <a:rect l="0" t="0" r="r" b="b"/>
            <a:pathLst>
              <a:path w="95" h="248731">
                <a:moveTo>
                  <a:pt x="0" y="248731"/>
                </a:moveTo>
                <a:lnTo>
                  <a:pt x="0" y="0"/>
                </a:lnTo>
              </a:path>
            </a:pathLst>
          </a:custGeom>
          <a:noFill/>
          <a:ln w="72568" cap="rnd">
            <a:solidFill>
              <a:srgbClr val="EE8D0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8" name="tma_liver_component_path_3"/>
          <p:cNvSpPr/>
          <p:nvPr/>
        </p:nvSpPr>
        <p:spPr>
          <a:xfrm>
            <a:off x="9833991" y="6862242"/>
            <a:ext cx="5048" cy="237676"/>
          </a:xfrm>
          <a:custGeom>
            <a:avLst/>
            <a:gdLst/>
            <a:ahLst/>
            <a:cxnLst/>
            <a:rect l="0" t="0" r="r" b="b"/>
            <a:pathLst>
              <a:path w="5048" h="237676">
                <a:moveTo>
                  <a:pt x="0" y="237676"/>
                </a:moveTo>
                <a:lnTo>
                  <a:pt x="5048" y="0"/>
                </a:lnTo>
              </a:path>
            </a:pathLst>
          </a:custGeom>
          <a:noFill/>
          <a:ln w="15775" cap="rnd">
            <a:solidFill>
              <a:srgbClr val="FFE3A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9" name="tma_liver_component_path_4"/>
          <p:cNvSpPr/>
          <p:nvPr/>
        </p:nvSpPr>
        <p:spPr>
          <a:xfrm>
            <a:off x="9682544" y="7110974"/>
            <a:ext cx="161544" cy="116075"/>
          </a:xfrm>
          <a:custGeom>
            <a:avLst/>
            <a:gdLst/>
            <a:ahLst/>
            <a:cxnLst/>
            <a:rect l="0" t="0" r="r" b="b"/>
            <a:pathLst>
              <a:path w="161544" h="116075">
                <a:moveTo>
                  <a:pt x="161544" y="0"/>
                </a:moveTo>
                <a:lnTo>
                  <a:pt x="0" y="116075"/>
                </a:lnTo>
              </a:path>
            </a:pathLst>
          </a:custGeom>
          <a:noFill/>
          <a:ln w="94654" cap="rnd">
            <a:solidFill>
              <a:srgbClr val="A8671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0" name="tma_liver_component_path_5"/>
          <p:cNvSpPr/>
          <p:nvPr/>
        </p:nvSpPr>
        <p:spPr>
          <a:xfrm>
            <a:off x="9682544" y="7110974"/>
            <a:ext cx="161544" cy="116075"/>
          </a:xfrm>
          <a:custGeom>
            <a:avLst/>
            <a:gdLst/>
            <a:ahLst/>
            <a:cxnLst/>
            <a:rect l="0" t="0" r="r" b="b"/>
            <a:pathLst>
              <a:path w="161544" h="116075">
                <a:moveTo>
                  <a:pt x="161544" y="0"/>
                </a:moveTo>
                <a:lnTo>
                  <a:pt x="0" y="116075"/>
                </a:lnTo>
              </a:path>
            </a:pathLst>
          </a:custGeom>
          <a:noFill/>
          <a:ln w="72568" cap="rnd">
            <a:solidFill>
              <a:srgbClr val="EE8D0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1" name="tma_liver_component_path_6"/>
          <p:cNvSpPr/>
          <p:nvPr/>
        </p:nvSpPr>
        <p:spPr>
          <a:xfrm>
            <a:off x="9677495" y="7099919"/>
            <a:ext cx="156496" cy="127129"/>
          </a:xfrm>
          <a:custGeom>
            <a:avLst/>
            <a:gdLst/>
            <a:ahLst/>
            <a:cxnLst/>
            <a:rect l="0" t="0" r="r" b="b"/>
            <a:pathLst>
              <a:path w="156496" h="127129">
                <a:moveTo>
                  <a:pt x="156496" y="0"/>
                </a:moveTo>
                <a:lnTo>
                  <a:pt x="0" y="127129"/>
                </a:lnTo>
              </a:path>
            </a:pathLst>
          </a:custGeom>
          <a:noFill/>
          <a:ln w="15775" cap="rnd">
            <a:solidFill>
              <a:srgbClr val="FFE3A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2" name="tma_liver_component_path_7"/>
          <p:cNvSpPr/>
          <p:nvPr/>
        </p:nvSpPr>
        <p:spPr>
          <a:xfrm>
            <a:off x="9844088" y="7110974"/>
            <a:ext cx="161544" cy="116075"/>
          </a:xfrm>
          <a:custGeom>
            <a:avLst/>
            <a:gdLst/>
            <a:ahLst/>
            <a:cxnLst/>
            <a:rect l="0" t="0" r="r" b="b"/>
            <a:pathLst>
              <a:path w="161544" h="116075">
                <a:moveTo>
                  <a:pt x="0" y="0"/>
                </a:moveTo>
                <a:lnTo>
                  <a:pt x="161544" y="116075"/>
                </a:lnTo>
              </a:path>
            </a:pathLst>
          </a:custGeom>
          <a:noFill/>
          <a:ln w="94654" cap="rnd">
            <a:solidFill>
              <a:srgbClr val="A8671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3" name="tma_liver_component_path_8"/>
          <p:cNvSpPr/>
          <p:nvPr/>
        </p:nvSpPr>
        <p:spPr>
          <a:xfrm>
            <a:off x="9844088" y="7110974"/>
            <a:ext cx="161544" cy="116075"/>
          </a:xfrm>
          <a:custGeom>
            <a:avLst/>
            <a:gdLst/>
            <a:ahLst/>
            <a:cxnLst/>
            <a:rect l="0" t="0" r="r" b="b"/>
            <a:pathLst>
              <a:path w="161544" h="116075">
                <a:moveTo>
                  <a:pt x="0" y="0"/>
                </a:moveTo>
                <a:lnTo>
                  <a:pt x="161544" y="116075"/>
                </a:lnTo>
              </a:path>
            </a:pathLst>
          </a:custGeom>
          <a:noFill/>
          <a:ln w="72568" cap="rnd">
            <a:solidFill>
              <a:srgbClr val="EE8D0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4" name="tma_liver_component_path_9"/>
          <p:cNvSpPr/>
          <p:nvPr/>
        </p:nvSpPr>
        <p:spPr>
          <a:xfrm>
            <a:off x="9833991" y="7099919"/>
            <a:ext cx="166592" cy="127129"/>
          </a:xfrm>
          <a:custGeom>
            <a:avLst/>
            <a:gdLst/>
            <a:ahLst/>
            <a:cxnLst/>
            <a:rect l="0" t="0" r="r" b="b"/>
            <a:pathLst>
              <a:path w="166592" h="127129">
                <a:moveTo>
                  <a:pt x="0" y="0"/>
                </a:moveTo>
                <a:lnTo>
                  <a:pt x="166592" y="127129"/>
                </a:lnTo>
              </a:path>
            </a:pathLst>
          </a:custGeom>
          <a:noFill/>
          <a:ln w="15775" cap="rnd">
            <a:solidFill>
              <a:srgbClr val="FFE3A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5" name="tma_liver_component_oval_10"/>
          <p:cNvSpPr/>
          <p:nvPr/>
        </p:nvSpPr>
        <p:spPr>
          <a:xfrm>
            <a:off x="9768364" y="7028063"/>
            <a:ext cx="151448" cy="165821"/>
          </a:xfrm>
          <a:prstGeom prst="ellipse">
            <a:avLst/>
          </a:prstGeom>
          <a:gradFill rotWithShape="1">
            <a:gsLst>
              <a:gs pos="0">
                <a:srgbClr val="FBE2C1"/>
              </a:gs>
              <a:gs pos="30000">
                <a:srgbClr val="F2AA44"/>
              </a:gs>
              <a:gs pos="67000">
                <a:srgbClr val="EE8D06"/>
              </a:gs>
              <a:gs pos="100000">
                <a:srgbClr val="C37511"/>
              </a:gs>
            </a:gsLst>
            <a:lin ang="3300000" scaled="1"/>
          </a:gradFill>
          <a:ln w="8203">
            <a:solidFill>
              <a:srgbClr val="A867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6" name="tma_liver_component_oval_11"/>
          <p:cNvSpPr/>
          <p:nvPr/>
        </p:nvSpPr>
        <p:spPr>
          <a:xfrm>
            <a:off x="9804711" y="7058740"/>
            <a:ext cx="39376" cy="30677"/>
          </a:xfrm>
          <a:prstGeom prst="ellipse">
            <a:avLst/>
          </a:prstGeom>
          <a:solidFill>
            <a:srgbClr val="FBE1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7" name="tma_liver_component_oval_12"/>
          <p:cNvSpPr/>
          <p:nvPr/>
        </p:nvSpPr>
        <p:spPr>
          <a:xfrm>
            <a:off x="9780984" y="6793150"/>
            <a:ext cx="126206" cy="138184"/>
          </a:xfrm>
          <a:prstGeom prst="ellipse">
            <a:avLst/>
          </a:prstGeom>
          <a:gradFill rotWithShape="1">
            <a:gsLst>
              <a:gs pos="0">
                <a:srgbClr val="FBE2C1"/>
              </a:gs>
              <a:gs pos="30000">
                <a:srgbClr val="F2AA44"/>
              </a:gs>
              <a:gs pos="67000">
                <a:srgbClr val="EE8D06"/>
              </a:gs>
              <a:gs pos="100000">
                <a:srgbClr val="C37511"/>
              </a:gs>
            </a:gsLst>
            <a:lin ang="3300000" scaled="1"/>
          </a:gradFill>
          <a:ln w="8203">
            <a:solidFill>
              <a:srgbClr val="A867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8" name="tma_liver_component_oval_13"/>
          <p:cNvSpPr/>
          <p:nvPr/>
        </p:nvSpPr>
        <p:spPr>
          <a:xfrm>
            <a:off x="9811274" y="6818714"/>
            <a:ext cx="32814" cy="25564"/>
          </a:xfrm>
          <a:prstGeom prst="ellipse">
            <a:avLst/>
          </a:prstGeom>
          <a:solidFill>
            <a:srgbClr val="FBE1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9" name="tma_liver_component_oval_14"/>
          <p:cNvSpPr/>
          <p:nvPr/>
        </p:nvSpPr>
        <p:spPr>
          <a:xfrm>
            <a:off x="9619440" y="7157956"/>
            <a:ext cx="126206" cy="138184"/>
          </a:xfrm>
          <a:prstGeom prst="ellipse">
            <a:avLst/>
          </a:prstGeom>
          <a:gradFill rotWithShape="1">
            <a:gsLst>
              <a:gs pos="0">
                <a:srgbClr val="FBE2C1"/>
              </a:gs>
              <a:gs pos="30000">
                <a:srgbClr val="F2AA44"/>
              </a:gs>
              <a:gs pos="67000">
                <a:srgbClr val="EE8D06"/>
              </a:gs>
              <a:gs pos="100000">
                <a:srgbClr val="C37511"/>
              </a:gs>
            </a:gsLst>
            <a:lin ang="3300000" scaled="1"/>
          </a:gradFill>
          <a:ln w="8203">
            <a:solidFill>
              <a:srgbClr val="A867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0" name="tma_liver_component_oval_15"/>
          <p:cNvSpPr/>
          <p:nvPr/>
        </p:nvSpPr>
        <p:spPr>
          <a:xfrm>
            <a:off x="9649730" y="7183520"/>
            <a:ext cx="32814" cy="25564"/>
          </a:xfrm>
          <a:prstGeom prst="ellipse">
            <a:avLst/>
          </a:prstGeom>
          <a:solidFill>
            <a:srgbClr val="FBE1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1" name="tma_liver_component_oval_16"/>
          <p:cNvSpPr/>
          <p:nvPr/>
        </p:nvSpPr>
        <p:spPr>
          <a:xfrm>
            <a:off x="9942528" y="7157956"/>
            <a:ext cx="126206" cy="138184"/>
          </a:xfrm>
          <a:prstGeom prst="ellipse">
            <a:avLst/>
          </a:prstGeom>
          <a:gradFill rotWithShape="1">
            <a:gsLst>
              <a:gs pos="0">
                <a:srgbClr val="FBE2C1"/>
              </a:gs>
              <a:gs pos="30000">
                <a:srgbClr val="F2AA44"/>
              </a:gs>
              <a:gs pos="67000">
                <a:srgbClr val="EE8D06"/>
              </a:gs>
              <a:gs pos="100000">
                <a:srgbClr val="C37511"/>
              </a:gs>
            </a:gsLst>
            <a:lin ang="3300000" scaled="1"/>
          </a:gradFill>
          <a:ln w="8203">
            <a:solidFill>
              <a:srgbClr val="A867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2" name="tma_liver_component_oval_17"/>
          <p:cNvSpPr/>
          <p:nvPr/>
        </p:nvSpPr>
        <p:spPr>
          <a:xfrm>
            <a:off x="9972818" y="7183520"/>
            <a:ext cx="32814" cy="25564"/>
          </a:xfrm>
          <a:prstGeom prst="ellipse">
            <a:avLst/>
          </a:prstGeom>
          <a:solidFill>
            <a:srgbClr val="FBE1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3" name="tma_liver_component_atom_18"/>
          <p:cNvSpPr txBox="1"/>
          <p:nvPr/>
        </p:nvSpPr>
        <p:spPr>
          <a:xfrm>
            <a:off x="9768364" y="7011481"/>
            <a:ext cx="151448" cy="1879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798" b="0" i="0">
                <a:solidFill>
                  <a:srgbClr val="FFFFFF"/>
                </a:solidFill>
                <a:latin typeface="Arial"/>
              </a:rPr>
              <a:t>N</a:t>
            </a:r>
          </a:p>
        </p:txBody>
      </p:sp>
      <p:sp>
        <p:nvSpPr>
          <p:cNvPr id="674" name="tmao_liver_component_path_1"/>
          <p:cNvSpPr/>
          <p:nvPr/>
        </p:nvSpPr>
        <p:spPr>
          <a:xfrm>
            <a:off x="11149012" y="6863100"/>
            <a:ext cx="95" cy="250874"/>
          </a:xfrm>
          <a:custGeom>
            <a:avLst/>
            <a:gdLst/>
            <a:ahLst/>
            <a:cxnLst/>
            <a:rect l="0" t="0" r="r" b="b"/>
            <a:pathLst>
              <a:path w="95" h="250874">
                <a:moveTo>
                  <a:pt x="0" y="250874"/>
                </a:moveTo>
                <a:lnTo>
                  <a:pt x="0" y="0"/>
                </a:lnTo>
              </a:path>
            </a:pathLst>
          </a:custGeom>
          <a:noFill/>
          <a:ln w="94654" cap="rnd">
            <a:solidFill>
              <a:srgbClr val="087D9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5" name="tmao_liver_component_path_2"/>
          <p:cNvSpPr/>
          <p:nvPr/>
        </p:nvSpPr>
        <p:spPr>
          <a:xfrm>
            <a:off x="11149012" y="6863100"/>
            <a:ext cx="95" cy="250874"/>
          </a:xfrm>
          <a:custGeom>
            <a:avLst/>
            <a:gdLst/>
            <a:ahLst/>
            <a:cxnLst/>
            <a:rect l="0" t="0" r="r" b="b"/>
            <a:pathLst>
              <a:path w="95" h="250874">
                <a:moveTo>
                  <a:pt x="0" y="250874"/>
                </a:moveTo>
                <a:lnTo>
                  <a:pt x="0" y="0"/>
                </a:lnTo>
              </a:path>
            </a:pathLst>
          </a:custGeom>
          <a:noFill/>
          <a:ln w="72568" cap="rnd">
            <a:solidFill>
              <a:srgbClr val="00B6D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6" name="tmao_liver_component_path_3"/>
          <p:cNvSpPr/>
          <p:nvPr/>
        </p:nvSpPr>
        <p:spPr>
          <a:xfrm>
            <a:off x="11138916" y="6863100"/>
            <a:ext cx="5048" cy="239724"/>
          </a:xfrm>
          <a:custGeom>
            <a:avLst/>
            <a:gdLst/>
            <a:ahLst/>
            <a:cxnLst/>
            <a:rect l="0" t="0" r="r" b="b"/>
            <a:pathLst>
              <a:path w="5048" h="239724">
                <a:moveTo>
                  <a:pt x="0" y="239724"/>
                </a:moveTo>
                <a:lnTo>
                  <a:pt x="5048" y="0"/>
                </a:lnTo>
              </a:path>
            </a:pathLst>
          </a:custGeom>
          <a:noFill/>
          <a:ln w="15775" cap="rnd">
            <a:solidFill>
              <a:srgbClr val="A8F0F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7" name="tmao_liver_component_path_4"/>
          <p:cNvSpPr/>
          <p:nvPr/>
        </p:nvSpPr>
        <p:spPr>
          <a:xfrm>
            <a:off x="10987468" y="7113974"/>
            <a:ext cx="161544" cy="117075"/>
          </a:xfrm>
          <a:custGeom>
            <a:avLst/>
            <a:gdLst/>
            <a:ahLst/>
            <a:cxnLst/>
            <a:rect l="0" t="0" r="r" b="b"/>
            <a:pathLst>
              <a:path w="161544" h="117075">
                <a:moveTo>
                  <a:pt x="161544" y="0"/>
                </a:moveTo>
                <a:lnTo>
                  <a:pt x="0" y="117075"/>
                </a:lnTo>
              </a:path>
            </a:pathLst>
          </a:custGeom>
          <a:noFill/>
          <a:ln w="94654" cap="rnd">
            <a:solidFill>
              <a:srgbClr val="087D9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8" name="tmao_liver_component_path_5"/>
          <p:cNvSpPr/>
          <p:nvPr/>
        </p:nvSpPr>
        <p:spPr>
          <a:xfrm>
            <a:off x="10987468" y="7113974"/>
            <a:ext cx="161544" cy="117075"/>
          </a:xfrm>
          <a:custGeom>
            <a:avLst/>
            <a:gdLst/>
            <a:ahLst/>
            <a:cxnLst/>
            <a:rect l="0" t="0" r="r" b="b"/>
            <a:pathLst>
              <a:path w="161544" h="117075">
                <a:moveTo>
                  <a:pt x="161544" y="0"/>
                </a:moveTo>
                <a:lnTo>
                  <a:pt x="0" y="117075"/>
                </a:lnTo>
              </a:path>
            </a:pathLst>
          </a:custGeom>
          <a:noFill/>
          <a:ln w="72568" cap="rnd">
            <a:solidFill>
              <a:srgbClr val="00B6D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9" name="tmao_liver_component_path_6"/>
          <p:cNvSpPr/>
          <p:nvPr/>
        </p:nvSpPr>
        <p:spPr>
          <a:xfrm>
            <a:off x="10982420" y="7102824"/>
            <a:ext cx="156496" cy="128225"/>
          </a:xfrm>
          <a:custGeom>
            <a:avLst/>
            <a:gdLst/>
            <a:ahLst/>
            <a:cxnLst/>
            <a:rect l="0" t="0" r="r" b="b"/>
            <a:pathLst>
              <a:path w="156496" h="128225">
                <a:moveTo>
                  <a:pt x="156496" y="0"/>
                </a:moveTo>
                <a:lnTo>
                  <a:pt x="0" y="128225"/>
                </a:lnTo>
              </a:path>
            </a:pathLst>
          </a:custGeom>
          <a:noFill/>
          <a:ln w="15775" cap="rnd">
            <a:solidFill>
              <a:srgbClr val="A8F0F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0" name="tmao_liver_component_path_7"/>
          <p:cNvSpPr/>
          <p:nvPr/>
        </p:nvSpPr>
        <p:spPr>
          <a:xfrm>
            <a:off x="11149012" y="7113974"/>
            <a:ext cx="161544" cy="117075"/>
          </a:xfrm>
          <a:custGeom>
            <a:avLst/>
            <a:gdLst/>
            <a:ahLst/>
            <a:cxnLst/>
            <a:rect l="0" t="0" r="r" b="b"/>
            <a:pathLst>
              <a:path w="161544" h="117075">
                <a:moveTo>
                  <a:pt x="0" y="0"/>
                </a:moveTo>
                <a:lnTo>
                  <a:pt x="161544" y="117075"/>
                </a:lnTo>
              </a:path>
            </a:pathLst>
          </a:custGeom>
          <a:noFill/>
          <a:ln w="94654" cap="rnd">
            <a:solidFill>
              <a:srgbClr val="087D9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1" name="tmao_liver_component_path_8"/>
          <p:cNvSpPr/>
          <p:nvPr/>
        </p:nvSpPr>
        <p:spPr>
          <a:xfrm>
            <a:off x="11149012" y="7113974"/>
            <a:ext cx="161544" cy="117075"/>
          </a:xfrm>
          <a:custGeom>
            <a:avLst/>
            <a:gdLst/>
            <a:ahLst/>
            <a:cxnLst/>
            <a:rect l="0" t="0" r="r" b="b"/>
            <a:pathLst>
              <a:path w="161544" h="117075">
                <a:moveTo>
                  <a:pt x="0" y="0"/>
                </a:moveTo>
                <a:lnTo>
                  <a:pt x="161544" y="117075"/>
                </a:lnTo>
              </a:path>
            </a:pathLst>
          </a:custGeom>
          <a:noFill/>
          <a:ln w="72568" cap="rnd">
            <a:solidFill>
              <a:srgbClr val="00B6D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2" name="tmao_liver_component_path_9"/>
          <p:cNvSpPr/>
          <p:nvPr/>
        </p:nvSpPr>
        <p:spPr>
          <a:xfrm>
            <a:off x="11138916" y="7102824"/>
            <a:ext cx="166592" cy="128225"/>
          </a:xfrm>
          <a:custGeom>
            <a:avLst/>
            <a:gdLst/>
            <a:ahLst/>
            <a:cxnLst/>
            <a:rect l="0" t="0" r="r" b="b"/>
            <a:pathLst>
              <a:path w="166592" h="128225">
                <a:moveTo>
                  <a:pt x="0" y="0"/>
                </a:moveTo>
                <a:lnTo>
                  <a:pt x="166592" y="128225"/>
                </a:lnTo>
              </a:path>
            </a:pathLst>
          </a:custGeom>
          <a:noFill/>
          <a:ln w="15775" cap="rnd">
            <a:solidFill>
              <a:srgbClr val="A8F0F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3" name="tmao_liver_component_oval_10"/>
          <p:cNvSpPr/>
          <p:nvPr/>
        </p:nvSpPr>
        <p:spPr>
          <a:xfrm>
            <a:off x="11073289" y="7030349"/>
            <a:ext cx="151448" cy="167249"/>
          </a:xfrm>
          <a:prstGeom prst="ellipse">
            <a:avLst/>
          </a:prstGeom>
          <a:gradFill rotWithShape="1">
            <a:gsLst>
              <a:gs pos="0">
                <a:srgbClr val="BFEDF6"/>
              </a:gs>
              <a:gs pos="30000">
                <a:srgbClr val="40C8E2"/>
              </a:gs>
              <a:gs pos="67000">
                <a:srgbClr val="00B6D9"/>
              </a:gs>
              <a:gs pos="100000">
                <a:srgbClr val="0593B4"/>
              </a:gs>
            </a:gsLst>
            <a:lin ang="3300000" scaled="1"/>
          </a:gradFill>
          <a:ln w="8203">
            <a:solidFill>
              <a:srgbClr val="087D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4" name="tmao_liver_component_oval_11"/>
          <p:cNvSpPr/>
          <p:nvPr/>
        </p:nvSpPr>
        <p:spPr>
          <a:xfrm>
            <a:off x="11109636" y="7061290"/>
            <a:ext cx="39376" cy="30941"/>
          </a:xfrm>
          <a:prstGeom prst="ellipse">
            <a:avLst/>
          </a:prstGeom>
          <a:solidFill>
            <a:srgbClr val="BD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5" name="tmao_liver_component_oval_12"/>
          <p:cNvSpPr/>
          <p:nvPr/>
        </p:nvSpPr>
        <p:spPr>
          <a:xfrm>
            <a:off x="11085909" y="6793412"/>
            <a:ext cx="126206" cy="139375"/>
          </a:xfrm>
          <a:prstGeom prst="ellipse">
            <a:avLst/>
          </a:prstGeom>
          <a:gradFill rotWithShape="1">
            <a:gsLst>
              <a:gs pos="0">
                <a:srgbClr val="BFEDF6"/>
              </a:gs>
              <a:gs pos="30000">
                <a:srgbClr val="40C8E2"/>
              </a:gs>
              <a:gs pos="67000">
                <a:srgbClr val="00B6D9"/>
              </a:gs>
              <a:gs pos="100000">
                <a:srgbClr val="0593B4"/>
              </a:gs>
            </a:gsLst>
            <a:lin ang="3300000" scaled="1"/>
          </a:gradFill>
          <a:ln w="8203">
            <a:solidFill>
              <a:srgbClr val="087D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6" name="tmao_liver_component_oval_13"/>
          <p:cNvSpPr/>
          <p:nvPr/>
        </p:nvSpPr>
        <p:spPr>
          <a:xfrm>
            <a:off x="11116199" y="6819197"/>
            <a:ext cx="32814" cy="25784"/>
          </a:xfrm>
          <a:prstGeom prst="ellipse">
            <a:avLst/>
          </a:prstGeom>
          <a:solidFill>
            <a:srgbClr val="BD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7" name="tmao_liver_component_oval_14"/>
          <p:cNvSpPr/>
          <p:nvPr/>
        </p:nvSpPr>
        <p:spPr>
          <a:xfrm>
            <a:off x="10924365" y="7161361"/>
            <a:ext cx="126206" cy="139375"/>
          </a:xfrm>
          <a:prstGeom prst="ellipse">
            <a:avLst/>
          </a:prstGeom>
          <a:gradFill rotWithShape="1">
            <a:gsLst>
              <a:gs pos="0">
                <a:srgbClr val="BFEDF6"/>
              </a:gs>
              <a:gs pos="30000">
                <a:srgbClr val="40C8E2"/>
              </a:gs>
              <a:gs pos="67000">
                <a:srgbClr val="00B6D9"/>
              </a:gs>
              <a:gs pos="100000">
                <a:srgbClr val="0593B4"/>
              </a:gs>
            </a:gsLst>
            <a:lin ang="3300000" scaled="1"/>
          </a:gradFill>
          <a:ln w="8203">
            <a:solidFill>
              <a:srgbClr val="087D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8" name="tmao_liver_component_oval_15"/>
          <p:cNvSpPr/>
          <p:nvPr/>
        </p:nvSpPr>
        <p:spPr>
          <a:xfrm>
            <a:off x="10954655" y="7187146"/>
            <a:ext cx="32814" cy="25784"/>
          </a:xfrm>
          <a:prstGeom prst="ellipse">
            <a:avLst/>
          </a:prstGeom>
          <a:solidFill>
            <a:srgbClr val="BD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9" name="tmao_liver_component_oval_16"/>
          <p:cNvSpPr/>
          <p:nvPr/>
        </p:nvSpPr>
        <p:spPr>
          <a:xfrm>
            <a:off x="11247453" y="7161361"/>
            <a:ext cx="126206" cy="139375"/>
          </a:xfrm>
          <a:prstGeom prst="ellipse">
            <a:avLst/>
          </a:prstGeom>
          <a:gradFill rotWithShape="1">
            <a:gsLst>
              <a:gs pos="0">
                <a:srgbClr val="BFEDF6"/>
              </a:gs>
              <a:gs pos="30000">
                <a:srgbClr val="40C8E2"/>
              </a:gs>
              <a:gs pos="67000">
                <a:srgbClr val="00B6D9"/>
              </a:gs>
              <a:gs pos="100000">
                <a:srgbClr val="0593B4"/>
              </a:gs>
            </a:gsLst>
            <a:lin ang="3300000" scaled="1"/>
          </a:gradFill>
          <a:ln w="8203">
            <a:solidFill>
              <a:srgbClr val="087D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0" name="tmao_liver_component_oval_17"/>
          <p:cNvSpPr/>
          <p:nvPr/>
        </p:nvSpPr>
        <p:spPr>
          <a:xfrm>
            <a:off x="11277743" y="7187146"/>
            <a:ext cx="32814" cy="25784"/>
          </a:xfrm>
          <a:prstGeom prst="ellipse">
            <a:avLst/>
          </a:prstGeom>
          <a:solidFill>
            <a:srgbClr val="BD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1" name="tmao_liver_component_atom_18"/>
          <p:cNvSpPr txBox="1"/>
          <p:nvPr/>
        </p:nvSpPr>
        <p:spPr>
          <a:xfrm>
            <a:off x="11073289" y="7013624"/>
            <a:ext cx="151448" cy="1895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814" b="0" i="0">
                <a:solidFill>
                  <a:srgbClr val="FFFFFF"/>
                </a:solidFill>
                <a:latin typeface="Arial"/>
              </a:rPr>
              <a:t>N</a:t>
            </a:r>
          </a:p>
        </p:txBody>
      </p:sp>
      <p:sp>
        <p:nvSpPr>
          <p:cNvPr id="692" name="scfa_systemic_component_path_1"/>
          <p:cNvSpPr/>
          <p:nvPr/>
        </p:nvSpPr>
        <p:spPr>
          <a:xfrm>
            <a:off x="13473494" y="7348061"/>
            <a:ext cx="188595" cy="95"/>
          </a:xfrm>
          <a:custGeom>
            <a:avLst/>
            <a:gdLst/>
            <a:ahLst/>
            <a:cxnLst/>
            <a:rect l="0" t="0" r="r" b="b"/>
            <a:pathLst>
              <a:path w="188595" h="95">
                <a:moveTo>
                  <a:pt x="0" y="0"/>
                </a:moveTo>
                <a:lnTo>
                  <a:pt x="188595" y="0"/>
                </a:lnTo>
              </a:path>
            </a:pathLst>
          </a:custGeom>
          <a:noFill/>
          <a:ln w="102155" cap="rnd">
            <a:solidFill>
              <a:srgbClr val="5F784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3" name="scfa_systemic_component_path_2"/>
          <p:cNvSpPr/>
          <p:nvPr/>
        </p:nvSpPr>
        <p:spPr>
          <a:xfrm>
            <a:off x="13473494" y="7343962"/>
            <a:ext cx="188595" cy="95"/>
          </a:xfrm>
          <a:custGeom>
            <a:avLst/>
            <a:gdLst/>
            <a:ahLst/>
            <a:cxnLst/>
            <a:rect l="0" t="0" r="r" b="b"/>
            <a:pathLst>
              <a:path w="188595" h="95">
                <a:moveTo>
                  <a:pt x="0" y="0"/>
                </a:moveTo>
                <a:lnTo>
                  <a:pt x="188595" y="0"/>
                </a:lnTo>
              </a:path>
            </a:pathLst>
          </a:custGeom>
          <a:noFill/>
          <a:ln w="55006" cap="rnd">
            <a:solidFill>
              <a:srgbClr val="BBD49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4" name="scfa_systemic_component_path_3"/>
          <p:cNvSpPr/>
          <p:nvPr/>
        </p:nvSpPr>
        <p:spPr>
          <a:xfrm>
            <a:off x="13662088" y="7348061"/>
            <a:ext cx="194882" cy="95"/>
          </a:xfrm>
          <a:custGeom>
            <a:avLst/>
            <a:gdLst/>
            <a:ahLst/>
            <a:cxnLst/>
            <a:rect l="0" t="0" r="r" b="b"/>
            <a:pathLst>
              <a:path w="194882" h="95">
                <a:moveTo>
                  <a:pt x="0" y="0"/>
                </a:moveTo>
                <a:lnTo>
                  <a:pt x="194882" y="0"/>
                </a:lnTo>
              </a:path>
            </a:pathLst>
          </a:custGeom>
          <a:noFill/>
          <a:ln w="102155" cap="rnd">
            <a:solidFill>
              <a:srgbClr val="5F784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5" name="scfa_systemic_component_path_4"/>
          <p:cNvSpPr/>
          <p:nvPr/>
        </p:nvSpPr>
        <p:spPr>
          <a:xfrm>
            <a:off x="13662088" y="7343962"/>
            <a:ext cx="194882" cy="95"/>
          </a:xfrm>
          <a:custGeom>
            <a:avLst/>
            <a:gdLst/>
            <a:ahLst/>
            <a:cxnLst/>
            <a:rect l="0" t="0" r="r" b="b"/>
            <a:pathLst>
              <a:path w="194882" h="95">
                <a:moveTo>
                  <a:pt x="0" y="0"/>
                </a:moveTo>
                <a:lnTo>
                  <a:pt x="194882" y="0"/>
                </a:lnTo>
              </a:path>
            </a:pathLst>
          </a:custGeom>
          <a:noFill/>
          <a:ln w="55006" cap="rnd">
            <a:solidFill>
              <a:srgbClr val="BBD49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6" name="scfa_systemic_component_oval_5"/>
          <p:cNvSpPr/>
          <p:nvPr/>
        </p:nvSpPr>
        <p:spPr>
          <a:xfrm>
            <a:off x="13381711" y="7266070"/>
            <a:ext cx="183566" cy="163982"/>
          </a:xfrm>
          <a:prstGeom prst="ellipse">
            <a:avLst/>
          </a:prstGeom>
          <a:gradFill rotWithShape="1">
            <a:gsLst>
              <a:gs pos="0">
                <a:srgbClr val="E1ECC8"/>
              </a:gs>
              <a:gs pos="33000">
                <a:srgbClr val="AEC88E"/>
              </a:gs>
              <a:gs pos="72000">
                <a:srgbClr val="8AAE6A"/>
              </a:gs>
              <a:gs pos="100000">
                <a:srgbClr val="66864F"/>
              </a:gs>
            </a:gsLst>
            <a:lin ang="3300000" scaled="1"/>
          </a:gradFill>
          <a:ln w="11787">
            <a:solidFill>
              <a:srgbClr val="53734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7" name="scfa_systemic_component_oval_6"/>
          <p:cNvSpPr/>
          <p:nvPr/>
        </p:nvSpPr>
        <p:spPr>
          <a:xfrm>
            <a:off x="13423202" y="7291692"/>
            <a:ext cx="37719" cy="40996"/>
          </a:xfrm>
          <a:prstGeom prst="ellipse">
            <a:avLst/>
          </a:prstGeom>
          <a:solidFill>
            <a:srgbClr val="EAF1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8" name="scfa_systemic_component_oval_7"/>
          <p:cNvSpPr/>
          <p:nvPr/>
        </p:nvSpPr>
        <p:spPr>
          <a:xfrm>
            <a:off x="13570306" y="7266070"/>
            <a:ext cx="183566" cy="163982"/>
          </a:xfrm>
          <a:prstGeom prst="ellipse">
            <a:avLst/>
          </a:prstGeom>
          <a:gradFill rotWithShape="1">
            <a:gsLst>
              <a:gs pos="0">
                <a:srgbClr val="E1ECC8"/>
              </a:gs>
              <a:gs pos="33000">
                <a:srgbClr val="AEC88E"/>
              </a:gs>
              <a:gs pos="72000">
                <a:srgbClr val="8AAE6A"/>
              </a:gs>
              <a:gs pos="100000">
                <a:srgbClr val="66864F"/>
              </a:gs>
            </a:gsLst>
            <a:lin ang="3300000" scaled="1"/>
          </a:gradFill>
          <a:ln w="11787">
            <a:solidFill>
              <a:srgbClr val="53734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9" name="scfa_systemic_component_oval_8"/>
          <p:cNvSpPr/>
          <p:nvPr/>
        </p:nvSpPr>
        <p:spPr>
          <a:xfrm>
            <a:off x="13611796" y="7291692"/>
            <a:ext cx="37719" cy="40996"/>
          </a:xfrm>
          <a:prstGeom prst="ellipse">
            <a:avLst/>
          </a:prstGeom>
          <a:solidFill>
            <a:srgbClr val="EAF1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0" name="scfa_systemic_component_oval_9"/>
          <p:cNvSpPr/>
          <p:nvPr/>
        </p:nvSpPr>
        <p:spPr>
          <a:xfrm>
            <a:off x="13765187" y="7266070"/>
            <a:ext cx="183566" cy="163982"/>
          </a:xfrm>
          <a:prstGeom prst="ellipse">
            <a:avLst/>
          </a:prstGeom>
          <a:gradFill rotWithShape="1">
            <a:gsLst>
              <a:gs pos="0">
                <a:srgbClr val="E1ECC8"/>
              </a:gs>
              <a:gs pos="33000">
                <a:srgbClr val="AEC88E"/>
              </a:gs>
              <a:gs pos="72000">
                <a:srgbClr val="8AAE6A"/>
              </a:gs>
              <a:gs pos="100000">
                <a:srgbClr val="66864F"/>
              </a:gs>
            </a:gsLst>
            <a:lin ang="3300000" scaled="1"/>
          </a:gradFill>
          <a:ln w="11787">
            <a:solidFill>
              <a:srgbClr val="53734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1" name="scfa_systemic_component_oval_10"/>
          <p:cNvSpPr/>
          <p:nvPr/>
        </p:nvSpPr>
        <p:spPr>
          <a:xfrm>
            <a:off x="13806678" y="7291692"/>
            <a:ext cx="37719" cy="40996"/>
          </a:xfrm>
          <a:prstGeom prst="ellipse">
            <a:avLst/>
          </a:prstGeom>
          <a:solidFill>
            <a:srgbClr val="EAF1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2" name="secondary_ba_systemic_component_path_1"/>
          <p:cNvSpPr/>
          <p:nvPr/>
        </p:nvSpPr>
        <p:spPr>
          <a:xfrm>
            <a:off x="14060195" y="7231173"/>
            <a:ext cx="137331" cy="165085"/>
          </a:xfrm>
          <a:custGeom>
            <a:avLst/>
            <a:gdLst/>
            <a:ahLst/>
            <a:cxnLst/>
            <a:rect l="0" t="0" r="r" b="b"/>
            <a:pathLst>
              <a:path w="137331" h="165085">
                <a:moveTo>
                  <a:pt x="0" y="42149"/>
                </a:moveTo>
                <a:lnTo>
                  <a:pt x="71209" y="0"/>
                </a:lnTo>
                <a:lnTo>
                  <a:pt x="137331" y="42149"/>
                </a:lnTo>
                <a:lnTo>
                  <a:pt x="137331" y="122935"/>
                </a:lnTo>
                <a:lnTo>
                  <a:pt x="71209" y="165085"/>
                </a:lnTo>
                <a:lnTo>
                  <a:pt x="0" y="122935"/>
                </a:lnTo>
                <a:close/>
              </a:path>
            </a:pathLst>
          </a:custGeom>
          <a:gradFill rotWithShape="1">
            <a:gsLst>
              <a:gs pos="0">
                <a:srgbClr val="FFF1CF"/>
              </a:gs>
              <a:gs pos="55000">
                <a:srgbClr val="F5D19A"/>
              </a:gs>
              <a:gs pos="100000">
                <a:srgbClr val="E9AE62"/>
              </a:gs>
            </a:gsLst>
            <a:lin ang="4500000" scaled="1"/>
          </a:gradFill>
          <a:ln w="11429" cap="rnd">
            <a:solidFill>
              <a:srgbClr val="BD792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3" name="secondary_ba_systemic_component_path_2"/>
          <p:cNvSpPr/>
          <p:nvPr/>
        </p:nvSpPr>
        <p:spPr>
          <a:xfrm>
            <a:off x="14067625" y="7239536"/>
            <a:ext cx="63779" cy="39222"/>
          </a:xfrm>
          <a:custGeom>
            <a:avLst/>
            <a:gdLst/>
            <a:ahLst/>
            <a:cxnLst/>
            <a:rect l="0" t="0" r="r" b="b"/>
            <a:pathLst>
              <a:path w="63779" h="39222">
                <a:moveTo>
                  <a:pt x="0" y="39222"/>
                </a:moveTo>
                <a:lnTo>
                  <a:pt x="63779" y="0"/>
                </a:lnTo>
              </a:path>
            </a:pathLst>
          </a:custGeom>
          <a:noFill/>
          <a:ln w="11429" cap="rnd">
            <a:solidFill>
              <a:srgbClr val="FFEBC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4" name="secondary_ba_systemic_component_path_3"/>
          <p:cNvSpPr/>
          <p:nvPr/>
        </p:nvSpPr>
        <p:spPr>
          <a:xfrm>
            <a:off x="14197527" y="7231173"/>
            <a:ext cx="132245" cy="165085"/>
          </a:xfrm>
          <a:custGeom>
            <a:avLst/>
            <a:gdLst/>
            <a:ahLst/>
            <a:cxnLst/>
            <a:rect l="0" t="0" r="r" b="b"/>
            <a:pathLst>
              <a:path w="132245" h="165085">
                <a:moveTo>
                  <a:pt x="0" y="42149"/>
                </a:moveTo>
                <a:lnTo>
                  <a:pt x="66123" y="0"/>
                </a:lnTo>
                <a:lnTo>
                  <a:pt x="132245" y="42149"/>
                </a:lnTo>
                <a:lnTo>
                  <a:pt x="132245" y="122935"/>
                </a:lnTo>
                <a:lnTo>
                  <a:pt x="66123" y="165085"/>
                </a:lnTo>
                <a:lnTo>
                  <a:pt x="0" y="122935"/>
                </a:lnTo>
                <a:close/>
              </a:path>
            </a:pathLst>
          </a:custGeom>
          <a:gradFill rotWithShape="1">
            <a:gsLst>
              <a:gs pos="0">
                <a:srgbClr val="FFF1CF"/>
              </a:gs>
              <a:gs pos="55000">
                <a:srgbClr val="F5D19A"/>
              </a:gs>
              <a:gs pos="100000">
                <a:srgbClr val="E9AE62"/>
              </a:gs>
            </a:gsLst>
            <a:lin ang="4500000" scaled="1"/>
          </a:gradFill>
          <a:ln w="11429" cap="rnd">
            <a:solidFill>
              <a:srgbClr val="BD792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5" name="secondary_ba_systemic_component_path_4"/>
          <p:cNvSpPr/>
          <p:nvPr/>
        </p:nvSpPr>
        <p:spPr>
          <a:xfrm>
            <a:off x="14204956" y="7239536"/>
            <a:ext cx="58693" cy="39222"/>
          </a:xfrm>
          <a:custGeom>
            <a:avLst/>
            <a:gdLst/>
            <a:ahLst/>
            <a:cxnLst/>
            <a:rect l="0" t="0" r="r" b="b"/>
            <a:pathLst>
              <a:path w="58693" h="39222">
                <a:moveTo>
                  <a:pt x="0" y="39222"/>
                </a:moveTo>
                <a:lnTo>
                  <a:pt x="58693" y="0"/>
                </a:lnTo>
              </a:path>
            </a:pathLst>
          </a:custGeom>
          <a:noFill/>
          <a:ln w="11429" cap="rnd">
            <a:solidFill>
              <a:srgbClr val="FFEBC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6" name="secondary_ba_systemic_component_path_5"/>
          <p:cNvSpPr/>
          <p:nvPr/>
        </p:nvSpPr>
        <p:spPr>
          <a:xfrm>
            <a:off x="14197527" y="7143362"/>
            <a:ext cx="142418" cy="172110"/>
          </a:xfrm>
          <a:custGeom>
            <a:avLst/>
            <a:gdLst/>
            <a:ahLst/>
            <a:cxnLst/>
            <a:rect l="0" t="0" r="r" b="b"/>
            <a:pathLst>
              <a:path w="142418" h="172110">
                <a:moveTo>
                  <a:pt x="0" y="45662"/>
                </a:moveTo>
                <a:lnTo>
                  <a:pt x="76295" y="0"/>
                </a:lnTo>
                <a:lnTo>
                  <a:pt x="142418" y="45662"/>
                </a:lnTo>
                <a:lnTo>
                  <a:pt x="142418" y="126448"/>
                </a:lnTo>
                <a:lnTo>
                  <a:pt x="76295" y="172110"/>
                </a:lnTo>
                <a:lnTo>
                  <a:pt x="0" y="129960"/>
                </a:lnTo>
                <a:close/>
              </a:path>
            </a:pathLst>
          </a:custGeom>
          <a:gradFill rotWithShape="1">
            <a:gsLst>
              <a:gs pos="0">
                <a:srgbClr val="FFF1CF"/>
              </a:gs>
              <a:gs pos="55000">
                <a:srgbClr val="F5D19A"/>
              </a:gs>
              <a:gs pos="100000">
                <a:srgbClr val="E9AE62"/>
              </a:gs>
            </a:gsLst>
            <a:lin ang="4500000" scaled="1"/>
          </a:gradFill>
          <a:ln w="11429" cap="rnd">
            <a:solidFill>
              <a:srgbClr val="BD792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7" name="secondary_ba_systemic_component_path_6"/>
          <p:cNvSpPr/>
          <p:nvPr/>
        </p:nvSpPr>
        <p:spPr>
          <a:xfrm>
            <a:off x="14204956" y="7151725"/>
            <a:ext cx="68866" cy="42735"/>
          </a:xfrm>
          <a:custGeom>
            <a:avLst/>
            <a:gdLst/>
            <a:ahLst/>
            <a:cxnLst/>
            <a:rect l="0" t="0" r="r" b="b"/>
            <a:pathLst>
              <a:path w="68866" h="42735">
                <a:moveTo>
                  <a:pt x="0" y="42735"/>
                </a:moveTo>
                <a:lnTo>
                  <a:pt x="68866" y="0"/>
                </a:lnTo>
              </a:path>
            </a:pathLst>
          </a:custGeom>
          <a:noFill/>
          <a:ln w="11429" cap="rnd">
            <a:solidFill>
              <a:srgbClr val="FFEBC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8" name="secondary_ba_systemic_component_path_7"/>
          <p:cNvSpPr/>
          <p:nvPr/>
        </p:nvSpPr>
        <p:spPr>
          <a:xfrm>
            <a:off x="14339945" y="7139850"/>
            <a:ext cx="132245" cy="175622"/>
          </a:xfrm>
          <a:custGeom>
            <a:avLst/>
            <a:gdLst/>
            <a:ahLst/>
            <a:cxnLst/>
            <a:rect l="0" t="0" r="r" b="b"/>
            <a:pathLst>
              <a:path w="132245" h="175622">
                <a:moveTo>
                  <a:pt x="0" y="45662"/>
                </a:moveTo>
                <a:lnTo>
                  <a:pt x="66123" y="0"/>
                </a:lnTo>
                <a:lnTo>
                  <a:pt x="132245" y="45662"/>
                </a:lnTo>
                <a:lnTo>
                  <a:pt x="132245" y="129960"/>
                </a:lnTo>
                <a:lnTo>
                  <a:pt x="66123" y="175622"/>
                </a:lnTo>
                <a:lnTo>
                  <a:pt x="0" y="129960"/>
                </a:lnTo>
                <a:close/>
              </a:path>
            </a:pathLst>
          </a:custGeom>
          <a:gradFill rotWithShape="1">
            <a:gsLst>
              <a:gs pos="0">
                <a:srgbClr val="FFF1CF"/>
              </a:gs>
              <a:gs pos="55000">
                <a:srgbClr val="F5D19A"/>
              </a:gs>
              <a:gs pos="100000">
                <a:srgbClr val="E9AE62"/>
              </a:gs>
            </a:gsLst>
            <a:lin ang="4500000" scaled="1"/>
          </a:gradFill>
          <a:ln w="11429" cap="rnd">
            <a:solidFill>
              <a:srgbClr val="BD792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9" name="secondary_ba_systemic_component_path_8"/>
          <p:cNvSpPr/>
          <p:nvPr/>
        </p:nvSpPr>
        <p:spPr>
          <a:xfrm>
            <a:off x="14347374" y="7148213"/>
            <a:ext cx="58693" cy="42735"/>
          </a:xfrm>
          <a:custGeom>
            <a:avLst/>
            <a:gdLst/>
            <a:ahLst/>
            <a:cxnLst/>
            <a:rect l="0" t="0" r="r" b="b"/>
            <a:pathLst>
              <a:path w="58693" h="42735">
                <a:moveTo>
                  <a:pt x="0" y="42735"/>
                </a:moveTo>
                <a:lnTo>
                  <a:pt x="58693" y="0"/>
                </a:lnTo>
              </a:path>
            </a:pathLst>
          </a:custGeom>
          <a:noFill/>
          <a:ln w="11429" cap="rnd">
            <a:solidFill>
              <a:srgbClr val="FFEBC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0" name="secondary_ba_systemic_component_path_9"/>
          <p:cNvSpPr/>
          <p:nvPr/>
        </p:nvSpPr>
        <p:spPr>
          <a:xfrm>
            <a:off x="14472190" y="7143362"/>
            <a:ext cx="106813" cy="126448"/>
          </a:xfrm>
          <a:custGeom>
            <a:avLst/>
            <a:gdLst/>
            <a:ahLst/>
            <a:cxnLst/>
            <a:rect l="0" t="0" r="r" b="b"/>
            <a:pathLst>
              <a:path w="106813" h="126448">
                <a:moveTo>
                  <a:pt x="0" y="38637"/>
                </a:moveTo>
                <a:lnTo>
                  <a:pt x="55950" y="0"/>
                </a:lnTo>
                <a:lnTo>
                  <a:pt x="106813" y="38637"/>
                </a:lnTo>
                <a:lnTo>
                  <a:pt x="106813" y="115910"/>
                </a:lnTo>
                <a:lnTo>
                  <a:pt x="0" y="126448"/>
                </a:lnTo>
                <a:close/>
              </a:path>
            </a:pathLst>
          </a:custGeom>
          <a:gradFill rotWithShape="1">
            <a:gsLst>
              <a:gs pos="0">
                <a:srgbClr val="FFF1CF"/>
              </a:gs>
              <a:gs pos="55000">
                <a:srgbClr val="F5D19A"/>
              </a:gs>
              <a:gs pos="100000">
                <a:srgbClr val="E9AE62"/>
              </a:gs>
            </a:gsLst>
            <a:lin ang="4500000" scaled="1"/>
          </a:gradFill>
          <a:ln w="11429" cap="rnd">
            <a:solidFill>
              <a:srgbClr val="BD792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1" name="secondary_ba_systemic_component_path_10"/>
          <p:cNvSpPr/>
          <p:nvPr/>
        </p:nvSpPr>
        <p:spPr>
          <a:xfrm>
            <a:off x="14479619" y="7151725"/>
            <a:ext cx="48520" cy="35710"/>
          </a:xfrm>
          <a:custGeom>
            <a:avLst/>
            <a:gdLst/>
            <a:ahLst/>
            <a:cxnLst/>
            <a:rect l="0" t="0" r="r" b="b"/>
            <a:pathLst>
              <a:path w="48520" h="35710">
                <a:moveTo>
                  <a:pt x="0" y="35710"/>
                </a:moveTo>
                <a:lnTo>
                  <a:pt x="48520" y="0"/>
                </a:lnTo>
              </a:path>
            </a:pathLst>
          </a:custGeom>
          <a:noFill/>
          <a:ln w="11429" cap="rnd">
            <a:solidFill>
              <a:srgbClr val="FFEBC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2" name="secondary_ba_systemic_component_path_11"/>
          <p:cNvSpPr/>
          <p:nvPr/>
        </p:nvSpPr>
        <p:spPr>
          <a:xfrm>
            <a:off x="14528140" y="7083651"/>
            <a:ext cx="95" cy="59711"/>
          </a:xfrm>
          <a:custGeom>
            <a:avLst/>
            <a:gdLst/>
            <a:ahLst/>
            <a:cxnLst/>
            <a:rect l="0" t="0" r="r" b="b"/>
            <a:pathLst>
              <a:path w="95" h="59711">
                <a:moveTo>
                  <a:pt x="0" y="59711"/>
                </a:moveTo>
                <a:lnTo>
                  <a:pt x="0" y="0"/>
                </a:lnTo>
              </a:path>
            </a:pathLst>
          </a:custGeom>
          <a:noFill/>
          <a:ln w="12858" cap="rnd">
            <a:solidFill>
              <a:srgbClr val="B87A3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3" name="secondary_ba_systemic_component_path_12"/>
          <p:cNvSpPr/>
          <p:nvPr/>
        </p:nvSpPr>
        <p:spPr>
          <a:xfrm>
            <a:off x="14248390" y="7252248"/>
            <a:ext cx="25432" cy="14050"/>
          </a:xfrm>
          <a:custGeom>
            <a:avLst/>
            <a:gdLst/>
            <a:ahLst/>
            <a:cxnLst/>
            <a:rect l="0" t="0" r="r" b="b"/>
            <a:pathLst>
              <a:path w="25432" h="14050">
                <a:moveTo>
                  <a:pt x="0" y="14050"/>
                </a:moveTo>
                <a:lnTo>
                  <a:pt x="25432" y="0"/>
                </a:lnTo>
              </a:path>
            </a:pathLst>
          </a:custGeom>
          <a:noFill/>
          <a:ln w="17145" cap="rnd">
            <a:solidFill>
              <a:srgbClr val="CE8C3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4" name="indole_systemic_component_path_1"/>
          <p:cNvSpPr/>
          <p:nvPr/>
        </p:nvSpPr>
        <p:spPr>
          <a:xfrm>
            <a:off x="13284034" y="7526385"/>
            <a:ext cx="167472" cy="202649"/>
          </a:xfrm>
          <a:custGeom>
            <a:avLst/>
            <a:gdLst/>
            <a:ahLst/>
            <a:cxnLst/>
            <a:rect l="0" t="0" r="r" b="b"/>
            <a:pathLst>
              <a:path w="167472" h="202649">
                <a:moveTo>
                  <a:pt x="0" y="51304"/>
                </a:moveTo>
                <a:lnTo>
                  <a:pt x="86838" y="0"/>
                </a:lnTo>
                <a:lnTo>
                  <a:pt x="167472" y="51304"/>
                </a:lnTo>
                <a:lnTo>
                  <a:pt x="167472" y="151345"/>
                </a:lnTo>
                <a:lnTo>
                  <a:pt x="86838" y="202649"/>
                </a:lnTo>
                <a:lnTo>
                  <a:pt x="0" y="151345"/>
                </a:lnTo>
                <a:close/>
              </a:path>
            </a:pathLst>
          </a:custGeom>
          <a:gradFill rotWithShape="1">
            <a:gsLst>
              <a:gs pos="0">
                <a:srgbClr val="E8DCF0"/>
              </a:gs>
              <a:gs pos="100000">
                <a:srgbClr val="BCA2D8"/>
              </a:gs>
            </a:gsLst>
            <a:lin ang="3900000" scaled="1"/>
          </a:gradFill>
          <a:ln w="8370" cap="rnd">
            <a:solidFill>
              <a:srgbClr val="60419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5" name="indole_systemic_component_path_2"/>
          <p:cNvSpPr/>
          <p:nvPr/>
        </p:nvSpPr>
        <p:spPr>
          <a:xfrm>
            <a:off x="13451506" y="7549472"/>
            <a:ext cx="139560" cy="161606"/>
          </a:xfrm>
          <a:custGeom>
            <a:avLst/>
            <a:gdLst/>
            <a:ahLst/>
            <a:cxnLst/>
            <a:rect l="0" t="0" r="r" b="b"/>
            <a:pathLst>
              <a:path w="139560" h="161606">
                <a:moveTo>
                  <a:pt x="0" y="28217"/>
                </a:moveTo>
                <a:lnTo>
                  <a:pt x="83736" y="0"/>
                </a:lnTo>
                <a:lnTo>
                  <a:pt x="139560" y="84651"/>
                </a:lnTo>
                <a:lnTo>
                  <a:pt x="80635" y="161606"/>
                </a:lnTo>
                <a:lnTo>
                  <a:pt x="0" y="128259"/>
                </a:lnTo>
                <a:close/>
              </a:path>
            </a:pathLst>
          </a:custGeom>
          <a:gradFill rotWithShape="1">
            <a:gsLst>
              <a:gs pos="0">
                <a:srgbClr val="E8DCF0"/>
              </a:gs>
              <a:gs pos="100000">
                <a:srgbClr val="BCA2D8"/>
              </a:gs>
            </a:gsLst>
            <a:lin ang="3900000" scaled="1"/>
          </a:gradFill>
          <a:ln w="8370" cap="rnd">
            <a:solidFill>
              <a:srgbClr val="60419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6" name="indole_systemic_component_path_3"/>
          <p:cNvSpPr/>
          <p:nvPr/>
        </p:nvSpPr>
        <p:spPr>
          <a:xfrm>
            <a:off x="13302642" y="7552037"/>
            <a:ext cx="58925" cy="35912"/>
          </a:xfrm>
          <a:custGeom>
            <a:avLst/>
            <a:gdLst/>
            <a:ahLst/>
            <a:cxnLst/>
            <a:rect l="0" t="0" r="r" b="b"/>
            <a:pathLst>
              <a:path w="58925" h="35912">
                <a:moveTo>
                  <a:pt x="0" y="35912"/>
                </a:moveTo>
                <a:lnTo>
                  <a:pt x="58925" y="0"/>
                </a:lnTo>
              </a:path>
            </a:pathLst>
          </a:custGeom>
          <a:noFill/>
          <a:ln w="7489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7" name="indole_systemic_component_path_4"/>
          <p:cNvSpPr/>
          <p:nvPr/>
        </p:nvSpPr>
        <p:spPr>
          <a:xfrm>
            <a:off x="13389479" y="7552037"/>
            <a:ext cx="43419" cy="30782"/>
          </a:xfrm>
          <a:custGeom>
            <a:avLst/>
            <a:gdLst/>
            <a:ahLst/>
            <a:cxnLst/>
            <a:rect l="0" t="0" r="r" b="b"/>
            <a:pathLst>
              <a:path w="43419" h="30782">
                <a:moveTo>
                  <a:pt x="0" y="0"/>
                </a:moveTo>
                <a:lnTo>
                  <a:pt x="43419" y="30782"/>
                </a:lnTo>
              </a:path>
            </a:pathLst>
          </a:custGeom>
          <a:noFill/>
          <a:ln w="7489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8" name="indole_systemic_component_path_5"/>
          <p:cNvSpPr/>
          <p:nvPr/>
        </p:nvSpPr>
        <p:spPr>
          <a:xfrm>
            <a:off x="13302642" y="7608471"/>
            <a:ext cx="95" cy="58999"/>
          </a:xfrm>
          <a:custGeom>
            <a:avLst/>
            <a:gdLst/>
            <a:ahLst/>
            <a:cxnLst/>
            <a:rect l="0" t="0" r="r" b="b"/>
            <a:pathLst>
              <a:path w="95" h="58999">
                <a:moveTo>
                  <a:pt x="0" y="0"/>
                </a:moveTo>
                <a:lnTo>
                  <a:pt x="0" y="58999"/>
                </a:lnTo>
              </a:path>
            </a:pathLst>
          </a:custGeom>
          <a:noFill/>
          <a:ln w="7489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9" name="indole_systemic_component_path_6"/>
          <p:cNvSpPr/>
          <p:nvPr/>
        </p:nvSpPr>
        <p:spPr>
          <a:xfrm>
            <a:off x="13389479" y="7680296"/>
            <a:ext cx="43419" cy="25652"/>
          </a:xfrm>
          <a:custGeom>
            <a:avLst/>
            <a:gdLst/>
            <a:ahLst/>
            <a:cxnLst/>
            <a:rect l="0" t="0" r="r" b="b"/>
            <a:pathLst>
              <a:path w="43419" h="25652">
                <a:moveTo>
                  <a:pt x="0" y="25652"/>
                </a:moveTo>
                <a:lnTo>
                  <a:pt x="43419" y="0"/>
                </a:lnTo>
              </a:path>
            </a:pathLst>
          </a:custGeom>
          <a:noFill/>
          <a:ln w="7489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0" name="indole_systemic_component_path_7"/>
          <p:cNvSpPr/>
          <p:nvPr/>
        </p:nvSpPr>
        <p:spPr>
          <a:xfrm>
            <a:off x="13532141" y="7580254"/>
            <a:ext cx="34115" cy="51304"/>
          </a:xfrm>
          <a:custGeom>
            <a:avLst/>
            <a:gdLst/>
            <a:ahLst/>
            <a:cxnLst/>
            <a:rect l="0" t="0" r="r" b="b"/>
            <a:pathLst>
              <a:path w="34115" h="51304">
                <a:moveTo>
                  <a:pt x="0" y="0"/>
                </a:moveTo>
                <a:lnTo>
                  <a:pt x="34115" y="51304"/>
                </a:lnTo>
              </a:path>
            </a:pathLst>
          </a:custGeom>
          <a:noFill/>
          <a:ln w="7489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1" name="indole_systemic_component_path_8"/>
          <p:cNvSpPr/>
          <p:nvPr/>
        </p:nvSpPr>
        <p:spPr>
          <a:xfrm>
            <a:off x="13538344" y="7657209"/>
            <a:ext cx="24811" cy="35912"/>
          </a:xfrm>
          <a:custGeom>
            <a:avLst/>
            <a:gdLst/>
            <a:ahLst/>
            <a:cxnLst/>
            <a:rect l="0" t="0" r="r" b="b"/>
            <a:pathLst>
              <a:path w="24811" h="35912">
                <a:moveTo>
                  <a:pt x="24811" y="0"/>
                </a:moveTo>
                <a:lnTo>
                  <a:pt x="0" y="35912"/>
                </a:lnTo>
              </a:path>
            </a:pathLst>
          </a:custGeom>
          <a:noFill/>
          <a:ln w="7489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2" name="indole_systemic_component_atom_9"/>
          <p:cNvSpPr txBox="1"/>
          <p:nvPr/>
        </p:nvSpPr>
        <p:spPr>
          <a:xfrm>
            <a:off x="13523119" y="7707640"/>
            <a:ext cx="63436" cy="654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687" b="0" i="0">
                <a:solidFill>
                  <a:srgbClr val="57388E"/>
                </a:solidFill>
                <a:latin typeface="Arial"/>
              </a:rPr>
              <a:t>N</a:t>
            </a:r>
          </a:p>
        </p:txBody>
      </p:sp>
      <p:sp>
        <p:nvSpPr>
          <p:cNvPr id="723" name="tmao_systemic_component_path_1"/>
          <p:cNvSpPr/>
          <p:nvPr/>
        </p:nvSpPr>
        <p:spPr>
          <a:xfrm>
            <a:off x="14454188" y="7467190"/>
            <a:ext cx="95" cy="165664"/>
          </a:xfrm>
          <a:custGeom>
            <a:avLst/>
            <a:gdLst/>
            <a:ahLst/>
            <a:cxnLst/>
            <a:rect l="0" t="0" r="r" b="b"/>
            <a:pathLst>
              <a:path w="95" h="165664">
                <a:moveTo>
                  <a:pt x="0" y="165664"/>
                </a:moveTo>
                <a:lnTo>
                  <a:pt x="0" y="0"/>
                </a:lnTo>
              </a:path>
            </a:pathLst>
          </a:custGeom>
          <a:noFill/>
          <a:ln w="62507" cap="rnd">
            <a:solidFill>
              <a:srgbClr val="087D9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4" name="tmao_systemic_component_path_2"/>
          <p:cNvSpPr/>
          <p:nvPr/>
        </p:nvSpPr>
        <p:spPr>
          <a:xfrm>
            <a:off x="14454188" y="7467190"/>
            <a:ext cx="95" cy="165664"/>
          </a:xfrm>
          <a:custGeom>
            <a:avLst/>
            <a:gdLst/>
            <a:ahLst/>
            <a:cxnLst/>
            <a:rect l="0" t="0" r="r" b="b"/>
            <a:pathLst>
              <a:path w="95" h="165664">
                <a:moveTo>
                  <a:pt x="0" y="165664"/>
                </a:moveTo>
                <a:lnTo>
                  <a:pt x="0" y="0"/>
                </a:lnTo>
              </a:path>
            </a:pathLst>
          </a:custGeom>
          <a:noFill/>
          <a:ln w="47922" cap="rnd">
            <a:solidFill>
              <a:srgbClr val="00B6D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5" name="tmao_systemic_component_path_3"/>
          <p:cNvSpPr/>
          <p:nvPr/>
        </p:nvSpPr>
        <p:spPr>
          <a:xfrm>
            <a:off x="14447520" y="7467190"/>
            <a:ext cx="3334" cy="158301"/>
          </a:xfrm>
          <a:custGeom>
            <a:avLst/>
            <a:gdLst/>
            <a:ahLst/>
            <a:cxnLst/>
            <a:rect l="0" t="0" r="r" b="b"/>
            <a:pathLst>
              <a:path w="3334" h="158301">
                <a:moveTo>
                  <a:pt x="0" y="158301"/>
                </a:moveTo>
                <a:lnTo>
                  <a:pt x="3334" y="0"/>
                </a:lnTo>
              </a:path>
            </a:pathLst>
          </a:custGeom>
          <a:noFill/>
          <a:ln w="10417" cap="rnd">
            <a:solidFill>
              <a:srgbClr val="A8F0F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6" name="tmao_systemic_component_path_4"/>
          <p:cNvSpPr/>
          <p:nvPr/>
        </p:nvSpPr>
        <p:spPr>
          <a:xfrm>
            <a:off x="14347508" y="7632854"/>
            <a:ext cx="106680" cy="77310"/>
          </a:xfrm>
          <a:custGeom>
            <a:avLst/>
            <a:gdLst/>
            <a:ahLst/>
            <a:cxnLst/>
            <a:rect l="0" t="0" r="r" b="b"/>
            <a:pathLst>
              <a:path w="106680" h="77310">
                <a:moveTo>
                  <a:pt x="106680" y="0"/>
                </a:moveTo>
                <a:lnTo>
                  <a:pt x="0" y="77310"/>
                </a:lnTo>
              </a:path>
            </a:pathLst>
          </a:custGeom>
          <a:noFill/>
          <a:ln w="62507" cap="rnd">
            <a:solidFill>
              <a:srgbClr val="087D9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7" name="tmao_systemic_component_path_5"/>
          <p:cNvSpPr/>
          <p:nvPr/>
        </p:nvSpPr>
        <p:spPr>
          <a:xfrm>
            <a:off x="14347508" y="7632854"/>
            <a:ext cx="106680" cy="77310"/>
          </a:xfrm>
          <a:custGeom>
            <a:avLst/>
            <a:gdLst/>
            <a:ahLst/>
            <a:cxnLst/>
            <a:rect l="0" t="0" r="r" b="b"/>
            <a:pathLst>
              <a:path w="106680" h="77310">
                <a:moveTo>
                  <a:pt x="106680" y="0"/>
                </a:moveTo>
                <a:lnTo>
                  <a:pt x="0" y="77310"/>
                </a:lnTo>
              </a:path>
            </a:pathLst>
          </a:custGeom>
          <a:noFill/>
          <a:ln w="47922" cap="rnd">
            <a:solidFill>
              <a:srgbClr val="00B6D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8" name="tmao_systemic_component_path_6"/>
          <p:cNvSpPr/>
          <p:nvPr/>
        </p:nvSpPr>
        <p:spPr>
          <a:xfrm>
            <a:off x="14344174" y="7625491"/>
            <a:ext cx="103346" cy="84672"/>
          </a:xfrm>
          <a:custGeom>
            <a:avLst/>
            <a:gdLst/>
            <a:ahLst/>
            <a:cxnLst/>
            <a:rect l="0" t="0" r="r" b="b"/>
            <a:pathLst>
              <a:path w="103346" h="84672">
                <a:moveTo>
                  <a:pt x="103346" y="0"/>
                </a:moveTo>
                <a:lnTo>
                  <a:pt x="0" y="84672"/>
                </a:lnTo>
              </a:path>
            </a:pathLst>
          </a:custGeom>
          <a:noFill/>
          <a:ln w="10417" cap="rnd">
            <a:solidFill>
              <a:srgbClr val="A8F0F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9" name="tmao_systemic_component_path_7"/>
          <p:cNvSpPr/>
          <p:nvPr/>
        </p:nvSpPr>
        <p:spPr>
          <a:xfrm>
            <a:off x="14454188" y="7632854"/>
            <a:ext cx="106680" cy="77310"/>
          </a:xfrm>
          <a:custGeom>
            <a:avLst/>
            <a:gdLst/>
            <a:ahLst/>
            <a:cxnLst/>
            <a:rect l="0" t="0" r="r" b="b"/>
            <a:pathLst>
              <a:path w="106680" h="77310">
                <a:moveTo>
                  <a:pt x="0" y="0"/>
                </a:moveTo>
                <a:lnTo>
                  <a:pt x="106680" y="77310"/>
                </a:lnTo>
              </a:path>
            </a:pathLst>
          </a:custGeom>
          <a:noFill/>
          <a:ln w="62507" cap="rnd">
            <a:solidFill>
              <a:srgbClr val="087D9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0" name="tmao_systemic_component_path_8"/>
          <p:cNvSpPr/>
          <p:nvPr/>
        </p:nvSpPr>
        <p:spPr>
          <a:xfrm>
            <a:off x="14454188" y="7632854"/>
            <a:ext cx="106680" cy="77310"/>
          </a:xfrm>
          <a:custGeom>
            <a:avLst/>
            <a:gdLst/>
            <a:ahLst/>
            <a:cxnLst/>
            <a:rect l="0" t="0" r="r" b="b"/>
            <a:pathLst>
              <a:path w="106680" h="77310">
                <a:moveTo>
                  <a:pt x="0" y="0"/>
                </a:moveTo>
                <a:lnTo>
                  <a:pt x="106680" y="77310"/>
                </a:lnTo>
              </a:path>
            </a:pathLst>
          </a:custGeom>
          <a:noFill/>
          <a:ln w="47922" cap="rnd">
            <a:solidFill>
              <a:srgbClr val="00B6D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1" name="tmao_systemic_component_path_9"/>
          <p:cNvSpPr/>
          <p:nvPr/>
        </p:nvSpPr>
        <p:spPr>
          <a:xfrm>
            <a:off x="14447520" y="7625491"/>
            <a:ext cx="110014" cy="84672"/>
          </a:xfrm>
          <a:custGeom>
            <a:avLst/>
            <a:gdLst/>
            <a:ahLst/>
            <a:cxnLst/>
            <a:rect l="0" t="0" r="r" b="b"/>
            <a:pathLst>
              <a:path w="110014" h="84672">
                <a:moveTo>
                  <a:pt x="0" y="0"/>
                </a:moveTo>
                <a:lnTo>
                  <a:pt x="110014" y="84672"/>
                </a:lnTo>
              </a:path>
            </a:pathLst>
          </a:custGeom>
          <a:noFill/>
          <a:ln w="10417" cap="rnd">
            <a:solidFill>
              <a:srgbClr val="A8F0F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2" name="tmao_systemic_component_oval_10"/>
          <p:cNvSpPr/>
          <p:nvPr/>
        </p:nvSpPr>
        <p:spPr>
          <a:xfrm>
            <a:off x="14404181" y="7577633"/>
            <a:ext cx="100012" cy="110442"/>
          </a:xfrm>
          <a:prstGeom prst="ellipse">
            <a:avLst/>
          </a:prstGeom>
          <a:gradFill rotWithShape="1">
            <a:gsLst>
              <a:gs pos="0">
                <a:srgbClr val="BFEDF6"/>
              </a:gs>
              <a:gs pos="30000">
                <a:srgbClr val="40C8E2"/>
              </a:gs>
              <a:gs pos="67000">
                <a:srgbClr val="00B6D9"/>
              </a:gs>
              <a:gs pos="100000">
                <a:srgbClr val="0593B4"/>
              </a:gs>
            </a:gsLst>
            <a:lin ang="3300000" scaled="1"/>
          </a:gradFill>
          <a:ln w="5417">
            <a:solidFill>
              <a:srgbClr val="087D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3" name="tmao_systemic_component_oval_11"/>
          <p:cNvSpPr/>
          <p:nvPr/>
        </p:nvSpPr>
        <p:spPr>
          <a:xfrm>
            <a:off x="14428184" y="7598065"/>
            <a:ext cx="26003" cy="20432"/>
          </a:xfrm>
          <a:prstGeom prst="ellipse">
            <a:avLst/>
          </a:prstGeom>
          <a:solidFill>
            <a:srgbClr val="BD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4" name="tmao_systemic_component_oval_12"/>
          <p:cNvSpPr/>
          <p:nvPr/>
        </p:nvSpPr>
        <p:spPr>
          <a:xfrm>
            <a:off x="14412516" y="7421173"/>
            <a:ext cx="83344" cy="92035"/>
          </a:xfrm>
          <a:prstGeom prst="ellipse">
            <a:avLst/>
          </a:prstGeom>
          <a:gradFill rotWithShape="1">
            <a:gsLst>
              <a:gs pos="0">
                <a:srgbClr val="BFEDF6"/>
              </a:gs>
              <a:gs pos="30000">
                <a:srgbClr val="40C8E2"/>
              </a:gs>
              <a:gs pos="67000">
                <a:srgbClr val="00B6D9"/>
              </a:gs>
              <a:gs pos="100000">
                <a:srgbClr val="0593B4"/>
              </a:gs>
            </a:gsLst>
            <a:lin ang="3300000" scaled="1"/>
          </a:gradFill>
          <a:ln w="5417">
            <a:solidFill>
              <a:srgbClr val="087D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5" name="tmao_systemic_component_oval_13"/>
          <p:cNvSpPr/>
          <p:nvPr/>
        </p:nvSpPr>
        <p:spPr>
          <a:xfrm>
            <a:off x="14432518" y="7438199"/>
            <a:ext cx="21669" cy="17027"/>
          </a:xfrm>
          <a:prstGeom prst="ellipse">
            <a:avLst/>
          </a:prstGeom>
          <a:solidFill>
            <a:srgbClr val="BD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6" name="tmao_systemic_component_oval_14"/>
          <p:cNvSpPr/>
          <p:nvPr/>
        </p:nvSpPr>
        <p:spPr>
          <a:xfrm>
            <a:off x="14305836" y="7664146"/>
            <a:ext cx="83344" cy="92035"/>
          </a:xfrm>
          <a:prstGeom prst="ellipse">
            <a:avLst/>
          </a:prstGeom>
          <a:gradFill rotWithShape="1">
            <a:gsLst>
              <a:gs pos="0">
                <a:srgbClr val="BFEDF6"/>
              </a:gs>
              <a:gs pos="30000">
                <a:srgbClr val="40C8E2"/>
              </a:gs>
              <a:gs pos="67000">
                <a:srgbClr val="00B6D9"/>
              </a:gs>
              <a:gs pos="100000">
                <a:srgbClr val="0593B4"/>
              </a:gs>
            </a:gsLst>
            <a:lin ang="3300000" scaled="1"/>
          </a:gradFill>
          <a:ln w="5417">
            <a:solidFill>
              <a:srgbClr val="087D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7" name="tmao_systemic_component_oval_15"/>
          <p:cNvSpPr/>
          <p:nvPr/>
        </p:nvSpPr>
        <p:spPr>
          <a:xfrm>
            <a:off x="14325838" y="7681173"/>
            <a:ext cx="21669" cy="17027"/>
          </a:xfrm>
          <a:prstGeom prst="ellipse">
            <a:avLst/>
          </a:prstGeom>
          <a:solidFill>
            <a:srgbClr val="BD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8" name="tmao_systemic_component_oval_16"/>
          <p:cNvSpPr/>
          <p:nvPr/>
        </p:nvSpPr>
        <p:spPr>
          <a:xfrm>
            <a:off x="14519196" y="7664146"/>
            <a:ext cx="83344" cy="92035"/>
          </a:xfrm>
          <a:prstGeom prst="ellipse">
            <a:avLst/>
          </a:prstGeom>
          <a:gradFill rotWithShape="1">
            <a:gsLst>
              <a:gs pos="0">
                <a:srgbClr val="BFEDF6"/>
              </a:gs>
              <a:gs pos="30000">
                <a:srgbClr val="40C8E2"/>
              </a:gs>
              <a:gs pos="67000">
                <a:srgbClr val="00B6D9"/>
              </a:gs>
              <a:gs pos="100000">
                <a:srgbClr val="0593B4"/>
              </a:gs>
            </a:gsLst>
            <a:lin ang="3300000" scaled="1"/>
          </a:gradFill>
          <a:ln w="5417">
            <a:solidFill>
              <a:srgbClr val="087D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9" name="tmao_systemic_component_oval_17"/>
          <p:cNvSpPr/>
          <p:nvPr/>
        </p:nvSpPr>
        <p:spPr>
          <a:xfrm>
            <a:off x="14539198" y="7681173"/>
            <a:ext cx="21669" cy="17027"/>
          </a:xfrm>
          <a:prstGeom prst="ellipse">
            <a:avLst/>
          </a:prstGeom>
          <a:solidFill>
            <a:srgbClr val="BD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0" name="tmao_systemic_component_atom_18"/>
          <p:cNvSpPr txBox="1"/>
          <p:nvPr/>
        </p:nvSpPr>
        <p:spPr>
          <a:xfrm>
            <a:off x="14404181" y="7566589"/>
            <a:ext cx="100012" cy="125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198" b="0" i="0">
                <a:solidFill>
                  <a:srgbClr val="FFFFFF"/>
                </a:solidFill>
                <a:latin typeface="Arial"/>
              </a:rPr>
              <a:t>N</a:t>
            </a:r>
          </a:p>
        </p:txBody>
      </p:sp>
      <p:sp>
        <p:nvSpPr>
          <p:cNvPr id="741" name="tma_generating_taxa_cluster_path_1"/>
          <p:cNvSpPr/>
          <p:nvPr/>
        </p:nvSpPr>
        <p:spPr>
          <a:xfrm>
            <a:off x="6674658" y="2234685"/>
            <a:ext cx="326298" cy="191239"/>
          </a:xfrm>
          <a:custGeom>
            <a:avLst/>
            <a:gdLst/>
            <a:ahLst/>
            <a:cxnLst/>
            <a:rect l="0" t="0" r="r" b="b"/>
            <a:pathLst>
              <a:path w="326298" h="191239">
                <a:moveTo>
                  <a:pt x="48466" y="79712"/>
                </a:moveTo>
                <a:lnTo>
                  <a:pt x="212031" y="14018"/>
                </a:lnTo>
                <a:cubicBezTo>
                  <a:pt x="246933" y="0"/>
                  <a:pt x="289957" y="10464"/>
                  <a:pt x="308127" y="37390"/>
                </a:cubicBezTo>
                <a:cubicBezTo>
                  <a:pt x="326298" y="64316"/>
                  <a:pt x="312734" y="97508"/>
                  <a:pt x="277832" y="111526"/>
                </a:cubicBezTo>
                <a:lnTo>
                  <a:pt x="114266" y="177220"/>
                </a:lnTo>
                <a:cubicBezTo>
                  <a:pt x="79364" y="191239"/>
                  <a:pt x="36341" y="180774"/>
                  <a:pt x="18170" y="153848"/>
                </a:cubicBezTo>
                <a:cubicBezTo>
                  <a:pt x="0" y="126922"/>
                  <a:pt x="13564" y="93730"/>
                  <a:pt x="48466" y="79712"/>
                </a:cubicBezTo>
                <a:close/>
              </a:path>
            </a:pathLst>
          </a:custGeom>
          <a:gradFill rotWithShape="1">
            <a:gsLst>
              <a:gs pos="0">
                <a:srgbClr val="D4E0C2"/>
              </a:gs>
              <a:gs pos="35000">
                <a:srgbClr val="B9CD9D"/>
              </a:gs>
              <a:gs pos="100000">
                <a:srgbClr val="91AC74"/>
              </a:gs>
            </a:gsLst>
            <a:lin ang="4200000" scaled="1"/>
          </a:gradFill>
          <a:ln w="12049" cap="rnd">
            <a:solidFill>
              <a:srgbClr val="68885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2" name="tma_generating_taxa_cluster_path_2"/>
          <p:cNvSpPr/>
          <p:nvPr/>
        </p:nvSpPr>
        <p:spPr>
          <a:xfrm>
            <a:off x="6693803" y="2249455"/>
            <a:ext cx="288008" cy="161699"/>
          </a:xfrm>
          <a:custGeom>
            <a:avLst/>
            <a:gdLst/>
            <a:ahLst/>
            <a:cxnLst/>
            <a:rect l="0" t="0" r="r" b="b"/>
            <a:pathLst>
              <a:path w="288008" h="161699">
                <a:moveTo>
                  <a:pt x="37062" y="76414"/>
                </a:moveTo>
                <a:lnTo>
                  <a:pt x="200627" y="10720"/>
                </a:lnTo>
                <a:cubicBezTo>
                  <a:pt x="227317" y="0"/>
                  <a:pt x="260218" y="8002"/>
                  <a:pt x="274113" y="28593"/>
                </a:cubicBezTo>
                <a:cubicBezTo>
                  <a:pt x="288008" y="49183"/>
                  <a:pt x="277635" y="74565"/>
                  <a:pt x="250946" y="85285"/>
                </a:cubicBezTo>
                <a:lnTo>
                  <a:pt x="87380" y="150979"/>
                </a:lnTo>
                <a:cubicBezTo>
                  <a:pt x="60690" y="161699"/>
                  <a:pt x="27790" y="153697"/>
                  <a:pt x="13895" y="133106"/>
                </a:cubicBezTo>
                <a:cubicBezTo>
                  <a:pt x="0" y="112516"/>
                  <a:pt x="10372" y="87134"/>
                  <a:pt x="37062" y="76414"/>
                </a:cubicBezTo>
                <a:close/>
              </a:path>
            </a:pathLst>
          </a:custGeom>
          <a:noFill/>
          <a:ln w="6810" cap="rnd">
            <a:solidFill>
              <a:srgbClr val="91AC7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3" name="tma_generating_taxa_cluster_path_3"/>
          <p:cNvSpPr/>
          <p:nvPr/>
        </p:nvSpPr>
        <p:spPr>
          <a:xfrm>
            <a:off x="6753351" y="2290002"/>
            <a:ext cx="101485" cy="40760"/>
          </a:xfrm>
          <a:custGeom>
            <a:avLst/>
            <a:gdLst/>
            <a:ahLst/>
            <a:cxnLst/>
            <a:rect l="0" t="0" r="r" b="b"/>
            <a:pathLst>
              <a:path w="101485" h="40760">
                <a:moveTo>
                  <a:pt x="0" y="40760"/>
                </a:moveTo>
                <a:lnTo>
                  <a:pt x="101485" y="0"/>
                </a:lnTo>
              </a:path>
            </a:pathLst>
          </a:custGeom>
          <a:noFill/>
          <a:ln w="13620" cap="rnd">
            <a:solidFill>
              <a:srgbClr val="E4ECD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4" name="tma_generating_taxa_cluster_oval_4"/>
          <p:cNvSpPr/>
          <p:nvPr/>
        </p:nvSpPr>
        <p:spPr>
          <a:xfrm>
            <a:off x="6767464" y="2368554"/>
            <a:ext cx="16764" cy="12933"/>
          </a:xfrm>
          <a:prstGeom prst="ellipse">
            <a:avLst/>
          </a:prstGeom>
          <a:solidFill>
            <a:srgbClr val="91AC7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5" name="tma_generating_taxa_cluster_oval_5"/>
          <p:cNvSpPr/>
          <p:nvPr/>
        </p:nvSpPr>
        <p:spPr>
          <a:xfrm>
            <a:off x="6871581" y="2331694"/>
            <a:ext cx="16764" cy="12933"/>
          </a:xfrm>
          <a:prstGeom prst="ellipse">
            <a:avLst/>
          </a:prstGeom>
          <a:solidFill>
            <a:srgbClr val="91AC7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6" name="tma_generating_taxa_cluster_oval_6"/>
          <p:cNvSpPr/>
          <p:nvPr/>
        </p:nvSpPr>
        <p:spPr>
          <a:xfrm>
            <a:off x="6911806" y="2282075"/>
            <a:ext cx="16764" cy="12933"/>
          </a:xfrm>
          <a:prstGeom prst="ellipse">
            <a:avLst/>
          </a:prstGeom>
          <a:solidFill>
            <a:srgbClr val="91AC7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7" name="tma_generating_taxa_cluster_oval_7"/>
          <p:cNvSpPr/>
          <p:nvPr/>
        </p:nvSpPr>
        <p:spPr>
          <a:xfrm>
            <a:off x="6779496" y="2315386"/>
            <a:ext cx="16764" cy="12933"/>
          </a:xfrm>
          <a:prstGeom prst="ellipse">
            <a:avLst/>
          </a:prstGeom>
          <a:solidFill>
            <a:srgbClr val="91AC7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8" name="tma_generating_taxa_cluster_oval_8"/>
          <p:cNvSpPr/>
          <p:nvPr/>
        </p:nvSpPr>
        <p:spPr>
          <a:xfrm>
            <a:off x="6679704" y="2321667"/>
            <a:ext cx="18440" cy="12933"/>
          </a:xfrm>
          <a:prstGeom prst="ellipse">
            <a:avLst/>
          </a:prstGeom>
          <a:solidFill>
            <a:srgbClr val="ACC48A"/>
          </a:solidFill>
          <a:ln w="5238">
            <a:solidFill>
              <a:srgbClr val="6888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9" name="tma_generating_taxa_cluster_oval_9"/>
          <p:cNvSpPr/>
          <p:nvPr/>
        </p:nvSpPr>
        <p:spPr>
          <a:xfrm>
            <a:off x="6795686" y="2275084"/>
            <a:ext cx="18440" cy="12933"/>
          </a:xfrm>
          <a:prstGeom prst="ellipse">
            <a:avLst/>
          </a:prstGeom>
          <a:solidFill>
            <a:srgbClr val="ACC48A"/>
          </a:solidFill>
          <a:ln w="5238">
            <a:solidFill>
              <a:srgbClr val="6888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0" name="tma_generating_taxa_cluster_oval_10"/>
          <p:cNvSpPr/>
          <p:nvPr/>
        </p:nvSpPr>
        <p:spPr>
          <a:xfrm>
            <a:off x="6897171" y="2234324"/>
            <a:ext cx="18440" cy="12933"/>
          </a:xfrm>
          <a:prstGeom prst="ellipse">
            <a:avLst/>
          </a:prstGeom>
          <a:solidFill>
            <a:srgbClr val="ACC48A"/>
          </a:solidFill>
          <a:ln w="5238">
            <a:solidFill>
              <a:srgbClr val="6888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1" name="tma_generating_taxa_cluster_path_11"/>
          <p:cNvSpPr/>
          <p:nvPr/>
        </p:nvSpPr>
        <p:spPr>
          <a:xfrm>
            <a:off x="7085376" y="2267018"/>
            <a:ext cx="326298" cy="191239"/>
          </a:xfrm>
          <a:custGeom>
            <a:avLst/>
            <a:gdLst/>
            <a:ahLst/>
            <a:cxnLst/>
            <a:rect l="0" t="0" r="r" b="b"/>
            <a:pathLst>
              <a:path w="326298" h="191239">
                <a:moveTo>
                  <a:pt x="48466" y="79712"/>
                </a:moveTo>
                <a:lnTo>
                  <a:pt x="212031" y="14018"/>
                </a:lnTo>
                <a:cubicBezTo>
                  <a:pt x="246933" y="0"/>
                  <a:pt x="289957" y="10464"/>
                  <a:pt x="308127" y="37390"/>
                </a:cubicBezTo>
                <a:cubicBezTo>
                  <a:pt x="326298" y="64316"/>
                  <a:pt x="312734" y="97508"/>
                  <a:pt x="277832" y="111526"/>
                </a:cubicBezTo>
                <a:lnTo>
                  <a:pt x="114266" y="177220"/>
                </a:lnTo>
                <a:cubicBezTo>
                  <a:pt x="79364" y="191239"/>
                  <a:pt x="36341" y="180774"/>
                  <a:pt x="18170" y="153848"/>
                </a:cubicBezTo>
                <a:cubicBezTo>
                  <a:pt x="0" y="126922"/>
                  <a:pt x="13564" y="93730"/>
                  <a:pt x="48466" y="79712"/>
                </a:cubicBezTo>
                <a:close/>
              </a:path>
            </a:pathLst>
          </a:custGeom>
          <a:gradFill rotWithShape="1">
            <a:gsLst>
              <a:gs pos="0">
                <a:srgbClr val="DACAEB"/>
              </a:gs>
              <a:gs pos="35000">
                <a:srgbClr val="C3AADE"/>
              </a:gs>
              <a:gs pos="100000">
                <a:srgbClr val="9C7DC0"/>
              </a:gs>
            </a:gsLst>
            <a:lin ang="4200000" scaled="1"/>
          </a:gradFill>
          <a:ln w="12049" cap="rnd">
            <a:solidFill>
              <a:srgbClr val="74519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2" name="tma_generating_taxa_cluster_path_12"/>
          <p:cNvSpPr/>
          <p:nvPr/>
        </p:nvSpPr>
        <p:spPr>
          <a:xfrm>
            <a:off x="7104521" y="2281788"/>
            <a:ext cx="288008" cy="161699"/>
          </a:xfrm>
          <a:custGeom>
            <a:avLst/>
            <a:gdLst/>
            <a:ahLst/>
            <a:cxnLst/>
            <a:rect l="0" t="0" r="r" b="b"/>
            <a:pathLst>
              <a:path w="288008" h="161699">
                <a:moveTo>
                  <a:pt x="37062" y="76414"/>
                </a:moveTo>
                <a:lnTo>
                  <a:pt x="200627" y="10720"/>
                </a:lnTo>
                <a:cubicBezTo>
                  <a:pt x="227317" y="0"/>
                  <a:pt x="260218" y="8002"/>
                  <a:pt x="274113" y="28593"/>
                </a:cubicBezTo>
                <a:cubicBezTo>
                  <a:pt x="288008" y="49183"/>
                  <a:pt x="277635" y="74565"/>
                  <a:pt x="250946" y="85285"/>
                </a:cubicBezTo>
                <a:lnTo>
                  <a:pt x="87380" y="150979"/>
                </a:lnTo>
                <a:cubicBezTo>
                  <a:pt x="60690" y="161699"/>
                  <a:pt x="27790" y="153697"/>
                  <a:pt x="13895" y="133106"/>
                </a:cubicBezTo>
                <a:cubicBezTo>
                  <a:pt x="0" y="112516"/>
                  <a:pt x="10372" y="87134"/>
                  <a:pt x="37062" y="76414"/>
                </a:cubicBezTo>
                <a:close/>
              </a:path>
            </a:pathLst>
          </a:custGeom>
          <a:noFill/>
          <a:ln w="6810" cap="rnd">
            <a:solidFill>
              <a:srgbClr val="9C7DC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3" name="tma_generating_taxa_cluster_path_13"/>
          <p:cNvSpPr/>
          <p:nvPr/>
        </p:nvSpPr>
        <p:spPr>
          <a:xfrm>
            <a:off x="7164069" y="2322335"/>
            <a:ext cx="101485" cy="40760"/>
          </a:xfrm>
          <a:custGeom>
            <a:avLst/>
            <a:gdLst/>
            <a:ahLst/>
            <a:cxnLst/>
            <a:rect l="0" t="0" r="r" b="b"/>
            <a:pathLst>
              <a:path w="101485" h="40760">
                <a:moveTo>
                  <a:pt x="0" y="40760"/>
                </a:moveTo>
                <a:lnTo>
                  <a:pt x="101485" y="0"/>
                </a:lnTo>
              </a:path>
            </a:pathLst>
          </a:custGeom>
          <a:noFill/>
          <a:ln w="13620" cap="rnd">
            <a:solidFill>
              <a:srgbClr val="E7DEF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4" name="tma_generating_taxa_cluster_oval_14"/>
          <p:cNvSpPr/>
          <p:nvPr/>
        </p:nvSpPr>
        <p:spPr>
          <a:xfrm>
            <a:off x="7178182" y="2400887"/>
            <a:ext cx="16764" cy="12933"/>
          </a:xfrm>
          <a:prstGeom prst="ellipse">
            <a:avLst/>
          </a:prstGeom>
          <a:solidFill>
            <a:srgbClr val="9C7D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5" name="tma_generating_taxa_cluster_oval_15"/>
          <p:cNvSpPr/>
          <p:nvPr/>
        </p:nvSpPr>
        <p:spPr>
          <a:xfrm>
            <a:off x="7282299" y="2364026"/>
            <a:ext cx="16764" cy="12933"/>
          </a:xfrm>
          <a:prstGeom prst="ellipse">
            <a:avLst/>
          </a:prstGeom>
          <a:solidFill>
            <a:srgbClr val="9C7D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6" name="tma_generating_taxa_cluster_oval_16"/>
          <p:cNvSpPr/>
          <p:nvPr/>
        </p:nvSpPr>
        <p:spPr>
          <a:xfrm>
            <a:off x="7322524" y="2314408"/>
            <a:ext cx="16764" cy="12933"/>
          </a:xfrm>
          <a:prstGeom prst="ellipse">
            <a:avLst/>
          </a:prstGeom>
          <a:solidFill>
            <a:srgbClr val="9C7D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7" name="tma_generating_taxa_cluster_oval_17"/>
          <p:cNvSpPr/>
          <p:nvPr/>
        </p:nvSpPr>
        <p:spPr>
          <a:xfrm>
            <a:off x="7190214" y="2347719"/>
            <a:ext cx="16764" cy="12933"/>
          </a:xfrm>
          <a:prstGeom prst="ellipse">
            <a:avLst/>
          </a:prstGeom>
          <a:solidFill>
            <a:srgbClr val="9C7D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8" name="tma_generating_taxa_cluster_oval_18"/>
          <p:cNvSpPr/>
          <p:nvPr/>
        </p:nvSpPr>
        <p:spPr>
          <a:xfrm>
            <a:off x="7090422" y="2354000"/>
            <a:ext cx="18440" cy="12933"/>
          </a:xfrm>
          <a:prstGeom prst="ellipse">
            <a:avLst/>
          </a:prstGeom>
          <a:solidFill>
            <a:srgbClr val="B79AD8"/>
          </a:solidFill>
          <a:ln w="5238">
            <a:solidFill>
              <a:srgbClr val="7451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9" name="tma_generating_taxa_cluster_oval_19"/>
          <p:cNvSpPr/>
          <p:nvPr/>
        </p:nvSpPr>
        <p:spPr>
          <a:xfrm>
            <a:off x="7206404" y="2307417"/>
            <a:ext cx="18440" cy="12933"/>
          </a:xfrm>
          <a:prstGeom prst="ellipse">
            <a:avLst/>
          </a:prstGeom>
          <a:solidFill>
            <a:srgbClr val="B79AD8"/>
          </a:solidFill>
          <a:ln w="5238">
            <a:solidFill>
              <a:srgbClr val="7451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0" name="tma_generating_taxa_cluster_oval_20"/>
          <p:cNvSpPr/>
          <p:nvPr/>
        </p:nvSpPr>
        <p:spPr>
          <a:xfrm>
            <a:off x="7307889" y="2266656"/>
            <a:ext cx="18440" cy="12933"/>
          </a:xfrm>
          <a:prstGeom prst="ellipse">
            <a:avLst/>
          </a:prstGeom>
          <a:solidFill>
            <a:srgbClr val="B79AD8"/>
          </a:solidFill>
          <a:ln w="5238">
            <a:solidFill>
              <a:srgbClr val="7451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1" name="tma_generating_taxa_cluster_path_21"/>
          <p:cNvSpPr/>
          <p:nvPr/>
        </p:nvSpPr>
        <p:spPr>
          <a:xfrm>
            <a:off x="6678141" y="2578099"/>
            <a:ext cx="302569" cy="163997"/>
          </a:xfrm>
          <a:custGeom>
            <a:avLst/>
            <a:gdLst/>
            <a:ahLst/>
            <a:cxnLst/>
            <a:rect l="0" t="0" r="r" b="b"/>
            <a:pathLst>
              <a:path w="302569" h="163997">
                <a:moveTo>
                  <a:pt x="104850" y="10409"/>
                </a:moveTo>
                <a:lnTo>
                  <a:pt x="246579" y="50322"/>
                </a:lnTo>
                <a:cubicBezTo>
                  <a:pt x="283542" y="60731"/>
                  <a:pt x="302569" y="92286"/>
                  <a:pt x="289076" y="120802"/>
                </a:cubicBezTo>
                <a:cubicBezTo>
                  <a:pt x="275584" y="149318"/>
                  <a:pt x="234681" y="163997"/>
                  <a:pt x="197718" y="153588"/>
                </a:cubicBezTo>
                <a:lnTo>
                  <a:pt x="55990" y="113675"/>
                </a:lnTo>
                <a:cubicBezTo>
                  <a:pt x="19027" y="103266"/>
                  <a:pt x="0" y="71711"/>
                  <a:pt x="13493" y="43195"/>
                </a:cubicBezTo>
                <a:cubicBezTo>
                  <a:pt x="26985" y="14679"/>
                  <a:pt x="67887" y="0"/>
                  <a:pt x="104850" y="10409"/>
                </a:cubicBezTo>
                <a:close/>
              </a:path>
            </a:pathLst>
          </a:custGeom>
          <a:gradFill rotWithShape="1">
            <a:gsLst>
              <a:gs pos="0">
                <a:srgbClr val="B5DEF1"/>
              </a:gs>
              <a:gs pos="35000">
                <a:srgbClr val="88C9E9"/>
              </a:gs>
              <a:gs pos="100000">
                <a:srgbClr val="5CA7CE"/>
              </a:gs>
            </a:gsLst>
            <a:lin ang="4200000" scaled="1"/>
          </a:gradFill>
          <a:ln w="12049" cap="rnd">
            <a:solidFill>
              <a:srgbClr val="3C84A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2" name="tma_generating_taxa_cluster_path_22"/>
          <p:cNvSpPr/>
          <p:nvPr/>
        </p:nvSpPr>
        <p:spPr>
          <a:xfrm>
            <a:off x="6697063" y="2592697"/>
            <a:ext cx="264724" cy="134801"/>
          </a:xfrm>
          <a:custGeom>
            <a:avLst/>
            <a:gdLst/>
            <a:ahLst/>
            <a:cxnLst/>
            <a:rect l="0" t="0" r="r" b="b"/>
            <a:pathLst>
              <a:path w="264724" h="134801">
                <a:moveTo>
                  <a:pt x="80180" y="7960"/>
                </a:moveTo>
                <a:lnTo>
                  <a:pt x="221909" y="47872"/>
                </a:lnTo>
                <a:cubicBezTo>
                  <a:pt x="250174" y="55832"/>
                  <a:pt x="264724" y="79963"/>
                  <a:pt x="254406" y="101769"/>
                </a:cubicBezTo>
                <a:cubicBezTo>
                  <a:pt x="244088" y="123576"/>
                  <a:pt x="212810" y="134801"/>
                  <a:pt x="184544" y="126841"/>
                </a:cubicBezTo>
                <a:lnTo>
                  <a:pt x="42816" y="86928"/>
                </a:lnTo>
                <a:cubicBezTo>
                  <a:pt x="14550" y="78968"/>
                  <a:pt x="0" y="54838"/>
                  <a:pt x="10318" y="33031"/>
                </a:cubicBezTo>
                <a:cubicBezTo>
                  <a:pt x="20636" y="11225"/>
                  <a:pt x="51914" y="0"/>
                  <a:pt x="80180" y="7960"/>
                </a:cubicBezTo>
                <a:close/>
              </a:path>
            </a:pathLst>
          </a:custGeom>
          <a:noFill/>
          <a:ln w="6810" cap="rnd">
            <a:solidFill>
              <a:srgbClr val="5CA7C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3" name="tma_generating_taxa_cluster_path_23"/>
          <p:cNvSpPr/>
          <p:nvPr/>
        </p:nvSpPr>
        <p:spPr>
          <a:xfrm>
            <a:off x="6779233" y="2614366"/>
            <a:ext cx="96454" cy="27163"/>
          </a:xfrm>
          <a:custGeom>
            <a:avLst/>
            <a:gdLst/>
            <a:ahLst/>
            <a:cxnLst/>
            <a:rect l="0" t="0" r="r" b="b"/>
            <a:pathLst>
              <a:path w="96454" h="27163">
                <a:moveTo>
                  <a:pt x="0" y="0"/>
                </a:moveTo>
                <a:lnTo>
                  <a:pt x="96454" y="27163"/>
                </a:lnTo>
              </a:path>
            </a:pathLst>
          </a:custGeom>
          <a:noFill/>
          <a:ln w="13620" cap="rnd">
            <a:solidFill>
              <a:srgbClr val="D0EAF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4" name="tma_generating_taxa_cluster_oval_24"/>
          <p:cNvSpPr/>
          <p:nvPr/>
        </p:nvSpPr>
        <p:spPr>
          <a:xfrm>
            <a:off x="6744329" y="2650751"/>
            <a:ext cx="16764" cy="12933"/>
          </a:xfrm>
          <a:prstGeom prst="ellipse">
            <a:avLst/>
          </a:prstGeom>
          <a:solidFill>
            <a:srgbClr val="5CA7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5" name="tma_generating_taxa_cluster_oval_25"/>
          <p:cNvSpPr/>
          <p:nvPr/>
        </p:nvSpPr>
        <p:spPr>
          <a:xfrm>
            <a:off x="6838829" y="2682045"/>
            <a:ext cx="16764" cy="12933"/>
          </a:xfrm>
          <a:prstGeom prst="ellipse">
            <a:avLst/>
          </a:prstGeom>
          <a:solidFill>
            <a:srgbClr val="5CA7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6" name="tma_generating_taxa_cluster_oval_26"/>
          <p:cNvSpPr/>
          <p:nvPr/>
        </p:nvSpPr>
        <p:spPr>
          <a:xfrm>
            <a:off x="6907138" y="2669684"/>
            <a:ext cx="16764" cy="12933"/>
          </a:xfrm>
          <a:prstGeom prst="ellipse">
            <a:avLst/>
          </a:prstGeom>
          <a:solidFill>
            <a:srgbClr val="5CA7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7" name="tma_generating_taxa_cluster_oval_27"/>
          <p:cNvSpPr/>
          <p:nvPr/>
        </p:nvSpPr>
        <p:spPr>
          <a:xfrm>
            <a:off x="6799211" y="2620567"/>
            <a:ext cx="16764" cy="12933"/>
          </a:xfrm>
          <a:prstGeom prst="ellipse">
            <a:avLst/>
          </a:prstGeom>
          <a:solidFill>
            <a:srgbClr val="5CA7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8" name="tma_generating_taxa_cluster_oval_28"/>
          <p:cNvSpPr/>
          <p:nvPr/>
        </p:nvSpPr>
        <p:spPr>
          <a:xfrm>
            <a:off x="6734402" y="2570955"/>
            <a:ext cx="18440" cy="12933"/>
          </a:xfrm>
          <a:prstGeom prst="ellipse">
            <a:avLst/>
          </a:prstGeom>
          <a:solidFill>
            <a:srgbClr val="71BFE5"/>
          </a:solidFill>
          <a:ln w="5238">
            <a:solidFill>
              <a:srgbClr val="3C84A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9" name="tma_generating_taxa_cluster_oval_29"/>
          <p:cNvSpPr/>
          <p:nvPr/>
        </p:nvSpPr>
        <p:spPr>
          <a:xfrm>
            <a:off x="6844635" y="2601998"/>
            <a:ext cx="18440" cy="12933"/>
          </a:xfrm>
          <a:prstGeom prst="ellipse">
            <a:avLst/>
          </a:prstGeom>
          <a:solidFill>
            <a:srgbClr val="71BFE5"/>
          </a:solidFill>
          <a:ln w="5238">
            <a:solidFill>
              <a:srgbClr val="3C84A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0" name="tma_generating_taxa_cluster_oval_30"/>
          <p:cNvSpPr/>
          <p:nvPr/>
        </p:nvSpPr>
        <p:spPr>
          <a:xfrm>
            <a:off x="6941090" y="2629160"/>
            <a:ext cx="18440" cy="12933"/>
          </a:xfrm>
          <a:prstGeom prst="ellipse">
            <a:avLst/>
          </a:prstGeom>
          <a:solidFill>
            <a:srgbClr val="71BFE5"/>
          </a:solidFill>
          <a:ln w="5238">
            <a:solidFill>
              <a:srgbClr val="3C84A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1" name="tma_generating_taxa_cluster_path_31"/>
          <p:cNvSpPr/>
          <p:nvPr/>
        </p:nvSpPr>
        <p:spPr>
          <a:xfrm>
            <a:off x="7100246" y="2576917"/>
            <a:ext cx="296558" cy="179294"/>
          </a:xfrm>
          <a:custGeom>
            <a:avLst/>
            <a:gdLst/>
            <a:ahLst/>
            <a:cxnLst/>
            <a:rect l="0" t="0" r="r" b="b"/>
            <a:pathLst>
              <a:path w="296558" h="179294">
                <a:moveTo>
                  <a:pt x="48466" y="67768"/>
                </a:moveTo>
                <a:lnTo>
                  <a:pt x="182292" y="14018"/>
                </a:lnTo>
                <a:cubicBezTo>
                  <a:pt x="217194" y="0"/>
                  <a:pt x="260218" y="10464"/>
                  <a:pt x="278388" y="37390"/>
                </a:cubicBezTo>
                <a:cubicBezTo>
                  <a:pt x="296558" y="64316"/>
                  <a:pt x="282995" y="97508"/>
                  <a:pt x="248093" y="111526"/>
                </a:cubicBezTo>
                <a:lnTo>
                  <a:pt x="114266" y="165276"/>
                </a:lnTo>
                <a:cubicBezTo>
                  <a:pt x="79364" y="179294"/>
                  <a:pt x="36341" y="168830"/>
                  <a:pt x="18170" y="141904"/>
                </a:cubicBezTo>
                <a:cubicBezTo>
                  <a:pt x="0" y="114978"/>
                  <a:pt x="13564" y="81786"/>
                  <a:pt x="48466" y="67768"/>
                </a:cubicBezTo>
                <a:close/>
              </a:path>
            </a:pathLst>
          </a:custGeom>
          <a:gradFill rotWithShape="1">
            <a:gsLst>
              <a:gs pos="0">
                <a:srgbClr val="FAD7AF"/>
              </a:gs>
              <a:gs pos="35000">
                <a:srgbClr val="F7BE7E"/>
              </a:gs>
              <a:gs pos="100000">
                <a:srgbClr val="DE9A53"/>
              </a:gs>
            </a:gsLst>
            <a:lin ang="4200000" scaled="1"/>
          </a:gradFill>
          <a:ln w="12049" cap="rnd">
            <a:solidFill>
              <a:srgbClr val="BB753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2" name="tma_generating_taxa_cluster_path_32"/>
          <p:cNvSpPr/>
          <p:nvPr/>
        </p:nvSpPr>
        <p:spPr>
          <a:xfrm>
            <a:off x="7119391" y="2591687"/>
            <a:ext cx="258269" cy="149754"/>
          </a:xfrm>
          <a:custGeom>
            <a:avLst/>
            <a:gdLst/>
            <a:ahLst/>
            <a:cxnLst/>
            <a:rect l="0" t="0" r="r" b="b"/>
            <a:pathLst>
              <a:path w="258269" h="149754">
                <a:moveTo>
                  <a:pt x="37062" y="64470"/>
                </a:moveTo>
                <a:lnTo>
                  <a:pt x="170888" y="10720"/>
                </a:lnTo>
                <a:cubicBezTo>
                  <a:pt x="197578" y="0"/>
                  <a:pt x="230479" y="8002"/>
                  <a:pt x="244374" y="28593"/>
                </a:cubicBezTo>
                <a:cubicBezTo>
                  <a:pt x="258269" y="49183"/>
                  <a:pt x="247896" y="74565"/>
                  <a:pt x="221207" y="85285"/>
                </a:cubicBezTo>
                <a:lnTo>
                  <a:pt x="87380" y="139035"/>
                </a:lnTo>
                <a:cubicBezTo>
                  <a:pt x="60690" y="149754"/>
                  <a:pt x="27790" y="141752"/>
                  <a:pt x="13895" y="121162"/>
                </a:cubicBezTo>
                <a:cubicBezTo>
                  <a:pt x="0" y="100571"/>
                  <a:pt x="10372" y="75189"/>
                  <a:pt x="37062" y="64470"/>
                </a:cubicBezTo>
                <a:close/>
              </a:path>
            </a:pathLst>
          </a:custGeom>
          <a:noFill/>
          <a:ln w="6810" cap="rnd">
            <a:solidFill>
              <a:srgbClr val="DE9A5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3" name="tma_generating_taxa_cluster_path_33"/>
          <p:cNvSpPr/>
          <p:nvPr/>
        </p:nvSpPr>
        <p:spPr>
          <a:xfrm>
            <a:off x="7170909" y="2627695"/>
            <a:ext cx="91076" cy="36580"/>
          </a:xfrm>
          <a:custGeom>
            <a:avLst/>
            <a:gdLst/>
            <a:ahLst/>
            <a:cxnLst/>
            <a:rect l="0" t="0" r="r" b="b"/>
            <a:pathLst>
              <a:path w="91076" h="36580">
                <a:moveTo>
                  <a:pt x="0" y="36580"/>
                </a:moveTo>
                <a:lnTo>
                  <a:pt x="91076" y="0"/>
                </a:lnTo>
              </a:path>
            </a:pathLst>
          </a:custGeom>
          <a:noFill/>
          <a:ln w="13620" cap="rnd">
            <a:solidFill>
              <a:srgbClr val="FCE6C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4" name="tma_generating_taxa_cluster_oval_34"/>
          <p:cNvSpPr/>
          <p:nvPr/>
        </p:nvSpPr>
        <p:spPr>
          <a:xfrm>
            <a:off x="7185617" y="2701827"/>
            <a:ext cx="16764" cy="12933"/>
          </a:xfrm>
          <a:prstGeom prst="ellipse">
            <a:avLst/>
          </a:prstGeom>
          <a:solidFill>
            <a:srgbClr val="DE9A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5" name="tma_generating_taxa_cluster_oval_35"/>
          <p:cNvSpPr/>
          <p:nvPr/>
        </p:nvSpPr>
        <p:spPr>
          <a:xfrm>
            <a:off x="7279325" y="2669147"/>
            <a:ext cx="16764" cy="12933"/>
          </a:xfrm>
          <a:prstGeom prst="ellipse">
            <a:avLst/>
          </a:prstGeom>
          <a:solidFill>
            <a:srgbClr val="DE9A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6" name="tma_generating_taxa_cluster_oval_36"/>
          <p:cNvSpPr/>
          <p:nvPr/>
        </p:nvSpPr>
        <p:spPr>
          <a:xfrm>
            <a:off x="7313602" y="2621918"/>
            <a:ext cx="16764" cy="12933"/>
          </a:xfrm>
          <a:prstGeom prst="ellipse">
            <a:avLst/>
          </a:prstGeom>
          <a:solidFill>
            <a:srgbClr val="DE9A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7" name="tma_generating_taxa_cluster_oval_37"/>
          <p:cNvSpPr/>
          <p:nvPr/>
        </p:nvSpPr>
        <p:spPr>
          <a:xfrm>
            <a:off x="7193783" y="2650212"/>
            <a:ext cx="16764" cy="12933"/>
          </a:xfrm>
          <a:prstGeom prst="ellipse">
            <a:avLst/>
          </a:prstGeom>
          <a:solidFill>
            <a:srgbClr val="DE9A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8" name="tma_generating_taxa_cluster_oval_38"/>
          <p:cNvSpPr/>
          <p:nvPr/>
        </p:nvSpPr>
        <p:spPr>
          <a:xfrm>
            <a:off x="7102317" y="2653149"/>
            <a:ext cx="18440" cy="12933"/>
          </a:xfrm>
          <a:prstGeom prst="ellipse">
            <a:avLst/>
          </a:prstGeom>
          <a:solidFill>
            <a:srgbClr val="F5B266"/>
          </a:solidFill>
          <a:ln w="5238">
            <a:solidFill>
              <a:srgbClr val="BB753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9" name="tma_generating_taxa_cluster_oval_39"/>
          <p:cNvSpPr/>
          <p:nvPr/>
        </p:nvSpPr>
        <p:spPr>
          <a:xfrm>
            <a:off x="7206404" y="2611343"/>
            <a:ext cx="18440" cy="12933"/>
          </a:xfrm>
          <a:prstGeom prst="ellipse">
            <a:avLst/>
          </a:prstGeom>
          <a:solidFill>
            <a:srgbClr val="F5B266"/>
          </a:solidFill>
          <a:ln w="5238">
            <a:solidFill>
              <a:srgbClr val="BB753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0" name="tma_generating_taxa_cluster_oval_40"/>
          <p:cNvSpPr/>
          <p:nvPr/>
        </p:nvSpPr>
        <p:spPr>
          <a:xfrm>
            <a:off x="7297481" y="2574763"/>
            <a:ext cx="18440" cy="12933"/>
          </a:xfrm>
          <a:prstGeom prst="ellipse">
            <a:avLst/>
          </a:prstGeom>
          <a:solidFill>
            <a:srgbClr val="F5B266"/>
          </a:solidFill>
          <a:ln w="5238">
            <a:solidFill>
              <a:srgbClr val="BB753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1" name="Section bracket"/>
          <p:cNvSpPr/>
          <p:nvPr/>
        </p:nvSpPr>
        <p:spPr>
          <a:xfrm>
            <a:off x="2080260" y="1352550"/>
            <a:ext cx="5825490" cy="635"/>
          </a:xfrm>
          <a:custGeom>
            <a:avLst/>
            <a:gdLst/>
            <a:ahLst/>
            <a:cxnLst/>
            <a:rect l="0" t="0" r="r" b="b"/>
            <a:pathLst>
              <a:path w="5825490" h="635">
                <a:moveTo>
                  <a:pt x="0" y="0"/>
                </a:moveTo>
                <a:lnTo>
                  <a:pt x="5825490" y="635"/>
                </a:lnTo>
              </a:path>
            </a:pathLst>
          </a:custGeom>
          <a:noFill/>
          <a:ln w="20955" cap="rnd">
            <a:solidFill>
              <a:srgbClr val="0086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2" name="Section bracket"/>
          <p:cNvSpPr/>
          <p:nvPr/>
        </p:nvSpPr>
        <p:spPr>
          <a:xfrm>
            <a:off x="2075815" y="1353185"/>
            <a:ext cx="95" cy="133350"/>
          </a:xfrm>
          <a:custGeom>
            <a:avLst/>
            <a:gdLst/>
            <a:ahLst/>
            <a:cxnLst/>
            <a:rect l="0" t="0" r="r" b="b"/>
            <a:pathLst>
              <a:path w="95" h="133350">
                <a:moveTo>
                  <a:pt x="0" y="0"/>
                </a:moveTo>
                <a:lnTo>
                  <a:pt x="95" y="133350"/>
                </a:lnTo>
              </a:path>
            </a:pathLst>
          </a:custGeom>
          <a:noFill/>
          <a:ln w="20955" cap="rnd">
            <a:solidFill>
              <a:srgbClr val="0086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3" name="Section bracket"/>
          <p:cNvSpPr/>
          <p:nvPr/>
        </p:nvSpPr>
        <p:spPr>
          <a:xfrm>
            <a:off x="7905750" y="1353185"/>
            <a:ext cx="95" cy="133350"/>
          </a:xfrm>
          <a:custGeom>
            <a:avLst/>
            <a:gdLst/>
            <a:ahLst/>
            <a:cxnLst/>
            <a:rect l="0" t="0" r="r" b="b"/>
            <a:pathLst>
              <a:path w="95" h="133350">
                <a:moveTo>
                  <a:pt x="0" y="0"/>
                </a:moveTo>
                <a:lnTo>
                  <a:pt x="95" y="133350"/>
                </a:lnTo>
              </a:path>
            </a:pathLst>
          </a:custGeom>
          <a:noFill/>
          <a:ln w="20955" cap="rnd">
            <a:solidFill>
              <a:srgbClr val="0086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4" name="Section bracket"/>
          <p:cNvSpPr/>
          <p:nvPr/>
        </p:nvSpPr>
        <p:spPr>
          <a:xfrm>
            <a:off x="8305800" y="1353185"/>
            <a:ext cx="3857625" cy="95"/>
          </a:xfrm>
          <a:custGeom>
            <a:avLst/>
            <a:gdLst/>
            <a:ahLst/>
            <a:cxnLst/>
            <a:rect l="0" t="0" r="r" b="b"/>
            <a:pathLst>
              <a:path w="3857625" h="95">
                <a:moveTo>
                  <a:pt x="0" y="0"/>
                </a:moveTo>
                <a:lnTo>
                  <a:pt x="3857625" y="95"/>
                </a:lnTo>
              </a:path>
            </a:pathLst>
          </a:custGeom>
          <a:noFill/>
          <a:ln w="20955" cap="rnd">
            <a:solidFill>
              <a:srgbClr val="C23D3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5" name="Section bracket"/>
          <p:cNvSpPr/>
          <p:nvPr/>
        </p:nvSpPr>
        <p:spPr>
          <a:xfrm>
            <a:off x="8305800" y="1334135"/>
            <a:ext cx="95" cy="133350"/>
          </a:xfrm>
          <a:custGeom>
            <a:avLst/>
            <a:gdLst/>
            <a:ahLst/>
            <a:cxnLst/>
            <a:rect l="0" t="0" r="r" b="b"/>
            <a:pathLst>
              <a:path w="95" h="133350">
                <a:moveTo>
                  <a:pt x="0" y="0"/>
                </a:moveTo>
                <a:lnTo>
                  <a:pt x="95" y="133350"/>
                </a:lnTo>
              </a:path>
            </a:pathLst>
          </a:custGeom>
          <a:noFill/>
          <a:ln w="20955" cap="rnd">
            <a:solidFill>
              <a:srgbClr val="C23D3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6" name="Section bracket"/>
          <p:cNvSpPr/>
          <p:nvPr/>
        </p:nvSpPr>
        <p:spPr>
          <a:xfrm>
            <a:off x="12163425" y="1352550"/>
            <a:ext cx="95" cy="133350"/>
          </a:xfrm>
          <a:custGeom>
            <a:avLst/>
            <a:gdLst/>
            <a:ahLst/>
            <a:cxnLst/>
            <a:rect l="0" t="0" r="r" b="b"/>
            <a:pathLst>
              <a:path w="95" h="133350">
                <a:moveTo>
                  <a:pt x="0" y="0"/>
                </a:moveTo>
                <a:lnTo>
                  <a:pt x="95" y="133350"/>
                </a:lnTo>
              </a:path>
            </a:pathLst>
          </a:custGeom>
          <a:noFill/>
          <a:ln w="20955" cap="rnd">
            <a:solidFill>
              <a:srgbClr val="C23D3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7" name="Text 785"/>
          <p:cNvSpPr txBox="1"/>
          <p:nvPr/>
        </p:nvSpPr>
        <p:spPr>
          <a:xfrm>
            <a:off x="8953500" y="1552575"/>
            <a:ext cx="2809875" cy="2095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275" b="0" i="1">
                <a:solidFill>
                  <a:srgbClr val="8B4B47"/>
                </a:solidFill>
                <a:latin typeface="Times New Roman"/>
              </a:rPr>
              <a:t>Representative MAMPs</a:t>
            </a:r>
          </a:p>
        </p:txBody>
      </p:sp>
      <p:sp>
        <p:nvSpPr>
          <p:cNvPr id="788" name="Text 786"/>
          <p:cNvSpPr txBox="1"/>
          <p:nvPr/>
        </p:nvSpPr>
        <p:spPr>
          <a:xfrm>
            <a:off x="2505075" y="2038350"/>
            <a:ext cx="106680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390" b="1" i="0">
                <a:solidFill>
                  <a:srgbClr val="23364A"/>
                </a:solidFill>
                <a:latin typeface="Times New Roman"/>
              </a:rPr>
              <a:t>SCFAs</a:t>
            </a:r>
          </a:p>
        </p:txBody>
      </p:sp>
      <p:sp>
        <p:nvSpPr>
          <p:cNvPr id="789" name="Text 787"/>
          <p:cNvSpPr txBox="1"/>
          <p:nvPr/>
        </p:nvSpPr>
        <p:spPr>
          <a:xfrm>
            <a:off x="3867150" y="2038350"/>
            <a:ext cx="150495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390" b="1" i="0">
                <a:solidFill>
                  <a:srgbClr val="23364A"/>
                </a:solidFill>
                <a:latin typeface="Times New Roman"/>
              </a:rPr>
              <a:t>Secondary BAs</a:t>
            </a:r>
          </a:p>
        </p:txBody>
      </p:sp>
      <p:sp>
        <p:nvSpPr>
          <p:cNvPr id="790" name="Text 788"/>
          <p:cNvSpPr txBox="1"/>
          <p:nvPr/>
        </p:nvSpPr>
        <p:spPr>
          <a:xfrm>
            <a:off x="5248275" y="2038350"/>
            <a:ext cx="175260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275" b="1" i="0">
                <a:solidFill>
                  <a:srgbClr val="23364A"/>
                </a:solidFill>
                <a:latin typeface="Times New Roman"/>
              </a:rPr>
              <a:t>Indole metabolites</a:t>
            </a:r>
          </a:p>
        </p:txBody>
      </p:sp>
      <p:sp>
        <p:nvSpPr>
          <p:cNvPr id="791" name="Text 789"/>
          <p:cNvSpPr txBox="1"/>
          <p:nvPr/>
        </p:nvSpPr>
        <p:spPr>
          <a:xfrm>
            <a:off x="1866900" y="381000"/>
            <a:ext cx="174307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350" b="1" i="0">
                <a:solidFill>
                  <a:srgbClr val="23364A"/>
                </a:solidFill>
                <a:latin typeface="Times New Roman"/>
              </a:rPr>
              <a:t>Altered gut microbial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350" b="1" i="0">
                <a:solidFill>
                  <a:srgbClr val="23364A"/>
                </a:solidFill>
                <a:latin typeface="Times New Roman"/>
              </a:rPr>
              <a:t>composition</a:t>
            </a:r>
          </a:p>
        </p:txBody>
      </p:sp>
      <p:sp>
        <p:nvSpPr>
          <p:cNvPr id="792" name="Text 790"/>
          <p:cNvSpPr txBox="1"/>
          <p:nvPr/>
        </p:nvSpPr>
        <p:spPr>
          <a:xfrm>
            <a:off x="1866900" y="942975"/>
            <a:ext cx="1743075" cy="3905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275" b="0" i="0">
                <a:solidFill>
                  <a:srgbClr val="23364A"/>
                </a:solidFill>
                <a:latin typeface="Times New Roman"/>
              </a:rPr>
              <a:t>Cohort-dependent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275" b="0" i="0">
                <a:solidFill>
                  <a:srgbClr val="23364A"/>
                </a:solidFill>
                <a:latin typeface="Times New Roman"/>
              </a:rPr>
              <a:t>differences</a:t>
            </a:r>
          </a:p>
        </p:txBody>
      </p:sp>
      <p:sp>
        <p:nvSpPr>
          <p:cNvPr id="793" name="Text 791"/>
          <p:cNvSpPr txBox="1"/>
          <p:nvPr/>
        </p:nvSpPr>
        <p:spPr>
          <a:xfrm>
            <a:off x="285750" y="1952625"/>
            <a:ext cx="2305050" cy="314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800" b="1" i="0">
                <a:solidFill>
                  <a:srgbClr val="23364A"/>
                </a:solidFill>
                <a:latin typeface="Times New Roman"/>
              </a:rPr>
              <a:t>Intestinal lumen</a:t>
            </a:r>
          </a:p>
        </p:txBody>
      </p:sp>
      <p:sp>
        <p:nvSpPr>
          <p:cNvPr id="794" name="Text 792"/>
          <p:cNvSpPr txBox="1"/>
          <p:nvPr/>
        </p:nvSpPr>
        <p:spPr>
          <a:xfrm>
            <a:off x="3638550" y="619125"/>
            <a:ext cx="428625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875" b="1" i="0">
                <a:solidFill>
                  <a:srgbClr val="23364A"/>
                </a:solidFill>
                <a:latin typeface="Times New Roman"/>
              </a:rPr>
              <a:t>Metabolite absorption across a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875" b="1" i="0">
                <a:solidFill>
                  <a:srgbClr val="23364A"/>
                </a:solidFill>
                <a:latin typeface="Times New Roman"/>
              </a:rPr>
              <a:t>relatively intact barrier</a:t>
            </a:r>
          </a:p>
        </p:txBody>
      </p:sp>
      <p:sp>
        <p:nvSpPr>
          <p:cNvPr id="795" name="Text 793"/>
          <p:cNvSpPr txBox="1"/>
          <p:nvPr/>
        </p:nvSpPr>
        <p:spPr>
          <a:xfrm>
            <a:off x="8591550" y="619125"/>
            <a:ext cx="356235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875" b="1" i="0">
                <a:solidFill>
                  <a:srgbClr val="A82D2A"/>
                </a:solidFill>
                <a:latin typeface="Times New Roman"/>
              </a:rPr>
              <a:t>MAMP uptake and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875" b="1" i="0">
                <a:solidFill>
                  <a:srgbClr val="A82D2A"/>
                </a:solidFill>
                <a:latin typeface="Times New Roman"/>
              </a:rPr>
              <a:t>translocation</a:t>
            </a:r>
          </a:p>
        </p:txBody>
      </p:sp>
      <p:sp>
        <p:nvSpPr>
          <p:cNvPr id="796" name="Text 794"/>
          <p:cNvSpPr txBox="1"/>
          <p:nvPr/>
        </p:nvSpPr>
        <p:spPr>
          <a:xfrm>
            <a:off x="6600825" y="1504950"/>
            <a:ext cx="1990725" cy="4476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390" b="1" i="0">
                <a:solidFill>
                  <a:srgbClr val="23364A"/>
                </a:solidFill>
                <a:latin typeface="Times New Roman"/>
              </a:rPr>
              <a:t>Some TMA-producing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390" b="1" i="0">
                <a:solidFill>
                  <a:srgbClr val="23364A"/>
                </a:solidFill>
                <a:latin typeface="Times New Roman"/>
              </a:rPr>
              <a:t>taxa ↑</a:t>
            </a:r>
          </a:p>
        </p:txBody>
      </p:sp>
      <p:sp>
        <p:nvSpPr>
          <p:cNvPr id="797" name="Text 795"/>
          <p:cNvSpPr txBox="1"/>
          <p:nvPr/>
        </p:nvSpPr>
        <p:spPr>
          <a:xfrm>
            <a:off x="7572375" y="2019300"/>
            <a:ext cx="55245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390" b="1" i="0">
                <a:solidFill>
                  <a:srgbClr val="C76A0B"/>
                </a:solidFill>
                <a:latin typeface="Times New Roman"/>
              </a:rPr>
              <a:t>TMA</a:t>
            </a:r>
          </a:p>
        </p:txBody>
      </p:sp>
      <p:sp>
        <p:nvSpPr>
          <p:cNvPr id="798" name="Text 796"/>
          <p:cNvSpPr txBox="1"/>
          <p:nvPr/>
        </p:nvSpPr>
        <p:spPr>
          <a:xfrm>
            <a:off x="4800600" y="4800600"/>
            <a:ext cx="114300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500" b="1" i="0">
                <a:solidFill>
                  <a:srgbClr val="00868A"/>
                </a:solidFill>
                <a:latin typeface="Times New Roman"/>
              </a:rPr>
              <a:t>Intestinal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500" b="1" i="0">
                <a:solidFill>
                  <a:srgbClr val="00868A"/>
                </a:solidFill>
                <a:latin typeface="Times New Roman"/>
              </a:rPr>
              <a:t>absorption</a:t>
            </a:r>
          </a:p>
        </p:txBody>
      </p:sp>
      <p:sp>
        <p:nvSpPr>
          <p:cNvPr id="799" name="Text 797"/>
          <p:cNvSpPr txBox="1"/>
          <p:nvPr/>
        </p:nvSpPr>
        <p:spPr>
          <a:xfrm>
            <a:off x="266700" y="7077075"/>
            <a:ext cx="13144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614" b="1" i="0">
                <a:solidFill>
                  <a:srgbClr val="23364A"/>
                </a:solidFill>
                <a:latin typeface="Times New Roman"/>
              </a:rPr>
              <a:t>Mucosal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614" b="1" i="0">
                <a:solidFill>
                  <a:srgbClr val="23364A"/>
                </a:solidFill>
                <a:latin typeface="Times New Roman"/>
              </a:rPr>
              <a:t>capillary</a:t>
            </a:r>
          </a:p>
        </p:txBody>
      </p:sp>
      <p:sp>
        <p:nvSpPr>
          <p:cNvPr id="800" name="Text 798"/>
          <p:cNvSpPr txBox="1"/>
          <p:nvPr/>
        </p:nvSpPr>
        <p:spPr>
          <a:xfrm>
            <a:off x="7038975" y="7048500"/>
            <a:ext cx="2124075" cy="295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425" b="1" i="0">
                <a:solidFill>
                  <a:srgbClr val="00868A"/>
                </a:solidFill>
                <a:latin typeface="Times New Roman"/>
              </a:rPr>
              <a:t>Portal circulation</a:t>
            </a:r>
          </a:p>
        </p:txBody>
      </p:sp>
      <p:sp>
        <p:nvSpPr>
          <p:cNvPr id="801" name="Text 799"/>
          <p:cNvSpPr txBox="1"/>
          <p:nvPr/>
        </p:nvSpPr>
        <p:spPr>
          <a:xfrm>
            <a:off x="9296400" y="1943100"/>
            <a:ext cx="59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390" b="1" i="0">
                <a:solidFill>
                  <a:srgbClr val="A82D2A"/>
                </a:solidFill>
                <a:latin typeface="Times New Roman"/>
              </a:rPr>
              <a:t>LPS</a:t>
            </a:r>
          </a:p>
        </p:txBody>
      </p:sp>
      <p:sp>
        <p:nvSpPr>
          <p:cNvPr id="802" name="Molecular marker"/>
          <p:cNvSpPr/>
          <p:nvPr/>
        </p:nvSpPr>
        <p:spPr>
          <a:xfrm>
            <a:off x="9417844" y="2426494"/>
            <a:ext cx="80963" cy="80963"/>
          </a:xfrm>
          <a:prstGeom prst="ellipse">
            <a:avLst/>
          </a:prstGeom>
          <a:solidFill>
            <a:srgbClr val="C23D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3" name="Molecular marker"/>
          <p:cNvSpPr/>
          <p:nvPr/>
        </p:nvSpPr>
        <p:spPr>
          <a:xfrm>
            <a:off x="9417844" y="2569369"/>
            <a:ext cx="80963" cy="80963"/>
          </a:xfrm>
          <a:prstGeom prst="ellipse">
            <a:avLst/>
          </a:prstGeom>
          <a:solidFill>
            <a:srgbClr val="C23D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4" name="Molecular marker"/>
          <p:cNvSpPr/>
          <p:nvPr/>
        </p:nvSpPr>
        <p:spPr>
          <a:xfrm>
            <a:off x="9867900" y="4924425"/>
            <a:ext cx="76200" cy="76200"/>
          </a:xfrm>
          <a:prstGeom prst="ellipse">
            <a:avLst/>
          </a:prstGeom>
          <a:solidFill>
            <a:srgbClr val="C23D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5" name="Molecular marker"/>
          <p:cNvSpPr/>
          <p:nvPr/>
        </p:nvSpPr>
        <p:spPr>
          <a:xfrm>
            <a:off x="9248775" y="5629275"/>
            <a:ext cx="76200" cy="76200"/>
          </a:xfrm>
          <a:prstGeom prst="ellipse">
            <a:avLst/>
          </a:prstGeom>
          <a:solidFill>
            <a:srgbClr val="C23D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6" name="Molecular marker"/>
          <p:cNvSpPr/>
          <p:nvPr/>
        </p:nvSpPr>
        <p:spPr>
          <a:xfrm>
            <a:off x="8896350" y="6515100"/>
            <a:ext cx="76200" cy="76200"/>
          </a:xfrm>
          <a:prstGeom prst="ellipse">
            <a:avLst/>
          </a:prstGeom>
          <a:solidFill>
            <a:srgbClr val="C23D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7" name="Molecular marker"/>
          <p:cNvSpPr/>
          <p:nvPr/>
        </p:nvSpPr>
        <p:spPr>
          <a:xfrm>
            <a:off x="11010900" y="4972050"/>
            <a:ext cx="76200" cy="76200"/>
          </a:xfrm>
          <a:prstGeom prst="ellipse">
            <a:avLst/>
          </a:prstGeom>
          <a:solidFill>
            <a:srgbClr val="C23D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8" name="Molecular marker"/>
          <p:cNvSpPr/>
          <p:nvPr/>
        </p:nvSpPr>
        <p:spPr>
          <a:xfrm>
            <a:off x="11991975" y="5086350"/>
            <a:ext cx="76200" cy="76200"/>
          </a:xfrm>
          <a:prstGeom prst="ellipse">
            <a:avLst/>
          </a:prstGeom>
          <a:solidFill>
            <a:srgbClr val="C23D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9" name="Text 807"/>
          <p:cNvSpPr txBox="1"/>
          <p:nvPr/>
        </p:nvSpPr>
        <p:spPr>
          <a:xfrm>
            <a:off x="10172700" y="1790700"/>
            <a:ext cx="27813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390" b="1" i="0">
                <a:solidFill>
                  <a:srgbClr val="7254A8"/>
                </a:solidFill>
                <a:latin typeface="Times New Roman"/>
              </a:rPr>
              <a:t>Peptidoglycan fragments</a:t>
            </a:r>
          </a:p>
        </p:txBody>
      </p:sp>
      <p:sp>
        <p:nvSpPr>
          <p:cNvPr id="810" name="Molecular marker"/>
          <p:cNvSpPr/>
          <p:nvPr/>
        </p:nvSpPr>
        <p:spPr>
          <a:xfrm>
            <a:off x="11253788" y="2486025"/>
            <a:ext cx="85725" cy="57150"/>
          </a:xfrm>
          <a:prstGeom prst="roundRect">
            <a:avLst>
              <a:gd name="adj" fmla="val 50000"/>
            </a:avLst>
          </a:prstGeom>
          <a:solidFill>
            <a:srgbClr val="725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1" name="Molecular marker"/>
          <p:cNvSpPr/>
          <p:nvPr/>
        </p:nvSpPr>
        <p:spPr>
          <a:xfrm>
            <a:off x="11244263" y="2619375"/>
            <a:ext cx="85725" cy="57150"/>
          </a:xfrm>
          <a:prstGeom prst="roundRect">
            <a:avLst>
              <a:gd name="adj" fmla="val 50000"/>
            </a:avLst>
          </a:prstGeom>
          <a:solidFill>
            <a:srgbClr val="725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2" name="Molecular marker"/>
          <p:cNvSpPr/>
          <p:nvPr/>
        </p:nvSpPr>
        <p:spPr>
          <a:xfrm>
            <a:off x="11168063" y="3286125"/>
            <a:ext cx="85725" cy="57150"/>
          </a:xfrm>
          <a:prstGeom prst="roundRect">
            <a:avLst>
              <a:gd name="adj" fmla="val 50000"/>
            </a:avLst>
          </a:prstGeom>
          <a:solidFill>
            <a:srgbClr val="725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3" name="Molecular marker"/>
          <p:cNvSpPr/>
          <p:nvPr/>
        </p:nvSpPr>
        <p:spPr>
          <a:xfrm>
            <a:off x="11244263" y="3752850"/>
            <a:ext cx="85725" cy="57150"/>
          </a:xfrm>
          <a:prstGeom prst="roundRect">
            <a:avLst>
              <a:gd name="adj" fmla="val 50000"/>
            </a:avLst>
          </a:prstGeom>
          <a:solidFill>
            <a:srgbClr val="725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4" name="Text 812"/>
          <p:cNvSpPr txBox="1"/>
          <p:nvPr/>
        </p:nvSpPr>
        <p:spPr>
          <a:xfrm>
            <a:off x="9477375" y="5819775"/>
            <a:ext cx="2333625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500" b="1" i="0">
                <a:solidFill>
                  <a:srgbClr val="23364A"/>
                </a:solidFill>
                <a:latin typeface="Times New Roman"/>
              </a:rPr>
              <a:t>Hepatic processing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500" b="1" i="0">
                <a:solidFill>
                  <a:srgbClr val="23364A"/>
                </a:solidFill>
                <a:latin typeface="Times New Roman"/>
              </a:rPr>
              <a:t>of metabolites</a:t>
            </a:r>
          </a:p>
        </p:txBody>
      </p:sp>
      <p:sp>
        <p:nvSpPr>
          <p:cNvPr id="815" name="Text 813"/>
          <p:cNvSpPr txBox="1"/>
          <p:nvPr/>
        </p:nvSpPr>
        <p:spPr>
          <a:xfrm>
            <a:off x="9515475" y="7372350"/>
            <a:ext cx="68580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350" b="1" i="0">
                <a:solidFill>
                  <a:srgbClr val="23364A"/>
                </a:solidFill>
                <a:latin typeface="Times New Roman"/>
              </a:rPr>
              <a:t>TMA</a:t>
            </a:r>
          </a:p>
        </p:txBody>
      </p:sp>
      <p:sp>
        <p:nvSpPr>
          <p:cNvPr id="816" name="Text 814"/>
          <p:cNvSpPr txBox="1"/>
          <p:nvPr/>
        </p:nvSpPr>
        <p:spPr>
          <a:xfrm>
            <a:off x="10829925" y="7372350"/>
            <a:ext cx="83820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350" b="1" i="0">
                <a:solidFill>
                  <a:srgbClr val="23364A"/>
                </a:solidFill>
                <a:latin typeface="Times New Roman"/>
              </a:rPr>
              <a:t>TMAO</a:t>
            </a:r>
          </a:p>
        </p:txBody>
      </p:sp>
      <p:sp>
        <p:nvSpPr>
          <p:cNvPr id="817" name="Text 815"/>
          <p:cNvSpPr txBox="1"/>
          <p:nvPr/>
        </p:nvSpPr>
        <p:spPr>
          <a:xfrm>
            <a:off x="10220325" y="6705600"/>
            <a:ext cx="64770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315" b="1" i="0">
                <a:solidFill>
                  <a:srgbClr val="23364A"/>
                </a:solidFill>
                <a:latin typeface="Times New Roman"/>
              </a:rPr>
              <a:t>FMO3</a:t>
            </a:r>
          </a:p>
        </p:txBody>
      </p:sp>
      <p:sp>
        <p:nvSpPr>
          <p:cNvPr id="818" name="Chemical bond"/>
          <p:cNvSpPr/>
          <p:nvPr/>
        </p:nvSpPr>
        <p:spPr>
          <a:xfrm>
            <a:off x="11176453" y="7037894"/>
            <a:ext cx="236673" cy="95"/>
          </a:xfrm>
          <a:custGeom>
            <a:avLst/>
            <a:gdLst/>
            <a:ahLst/>
            <a:cxnLst/>
            <a:rect l="0" t="0" r="r" b="b"/>
            <a:pathLst>
              <a:path w="236673" h="95">
                <a:moveTo>
                  <a:pt x="0" y="0"/>
                </a:moveTo>
                <a:lnTo>
                  <a:pt x="236673" y="0"/>
                </a:lnTo>
              </a:path>
            </a:pathLst>
          </a:custGeom>
          <a:noFill/>
          <a:ln w="30288" cap="rnd">
            <a:solidFill>
              <a:srgbClr val="12AEC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9" name="Molecular marker"/>
          <p:cNvSpPr/>
          <p:nvPr/>
        </p:nvSpPr>
        <p:spPr>
          <a:xfrm>
            <a:off x="11382746" y="6866413"/>
            <a:ext cx="138322" cy="138322"/>
          </a:xfrm>
          <a:prstGeom prst="ellipse">
            <a:avLst/>
          </a:prstGeom>
          <a:solidFill>
            <a:srgbClr val="CF5148"/>
          </a:solidFill>
          <a:ln w="8573">
            <a:solidFill>
              <a:srgbClr val="9D322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0" name="Text 818"/>
          <p:cNvSpPr txBox="1"/>
          <p:nvPr/>
        </p:nvSpPr>
        <p:spPr>
          <a:xfrm>
            <a:off x="11382746" y="6866413"/>
            <a:ext cx="138322" cy="1383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875" b="1" i="0">
                <a:solidFill>
                  <a:srgbClr val="FFFFFF"/>
                </a:solidFill>
                <a:latin typeface="Times New Roman"/>
              </a:rPr>
              <a:t>O</a:t>
            </a:r>
          </a:p>
        </p:txBody>
      </p:sp>
      <p:sp>
        <p:nvSpPr>
          <p:cNvPr id="821" name="Text 819"/>
          <p:cNvSpPr txBox="1"/>
          <p:nvPr/>
        </p:nvSpPr>
        <p:spPr>
          <a:xfrm>
            <a:off x="11511544" y="6809263"/>
            <a:ext cx="85725" cy="114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825" b="1" i="0">
                <a:solidFill>
                  <a:srgbClr val="23364A"/>
                </a:solidFill>
                <a:latin typeface="Times New Roman"/>
              </a:rPr>
              <a:t>−</a:t>
            </a:r>
          </a:p>
        </p:txBody>
      </p:sp>
      <p:sp>
        <p:nvSpPr>
          <p:cNvPr id="822" name="Text 820"/>
          <p:cNvSpPr txBox="1"/>
          <p:nvPr/>
        </p:nvSpPr>
        <p:spPr>
          <a:xfrm>
            <a:off x="11225746" y="7011952"/>
            <a:ext cx="85725" cy="114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825" b="1" i="0">
                <a:solidFill>
                  <a:srgbClr val="23364A"/>
                </a:solidFill>
                <a:latin typeface="Times New Roman"/>
              </a:rPr>
              <a:t>+</a:t>
            </a:r>
          </a:p>
        </p:txBody>
      </p:sp>
      <p:sp>
        <p:nvSpPr>
          <p:cNvPr id="823" name="Text 821"/>
          <p:cNvSpPr txBox="1"/>
          <p:nvPr/>
        </p:nvSpPr>
        <p:spPr>
          <a:xfrm>
            <a:off x="12601575" y="7972425"/>
            <a:ext cx="2571750" cy="295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575" b="1" i="0">
                <a:solidFill>
                  <a:srgbClr val="23364A"/>
                </a:solidFill>
                <a:latin typeface="Times New Roman"/>
              </a:rPr>
              <a:t>Systemic circulation</a:t>
            </a:r>
          </a:p>
        </p:txBody>
      </p:sp>
      <p:sp>
        <p:nvSpPr>
          <p:cNvPr id="824" name="Molecular marker"/>
          <p:cNvSpPr/>
          <p:nvPr/>
        </p:nvSpPr>
        <p:spPr>
          <a:xfrm>
            <a:off x="13482638" y="6167438"/>
            <a:ext cx="85725" cy="85725"/>
          </a:xfrm>
          <a:prstGeom prst="ellipse">
            <a:avLst/>
          </a:prstGeom>
          <a:solidFill>
            <a:srgbClr val="C23D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5" name="Molecular marker"/>
          <p:cNvSpPr/>
          <p:nvPr/>
        </p:nvSpPr>
        <p:spPr>
          <a:xfrm>
            <a:off x="13668375" y="6176963"/>
            <a:ext cx="95250" cy="66675"/>
          </a:xfrm>
          <a:prstGeom prst="roundRect">
            <a:avLst>
              <a:gd name="adj" fmla="val 50000"/>
            </a:avLst>
          </a:prstGeom>
          <a:solidFill>
            <a:srgbClr val="725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6" name="Chemical bond"/>
          <p:cNvSpPr/>
          <p:nvPr/>
        </p:nvSpPr>
        <p:spPr>
          <a:xfrm>
            <a:off x="14482715" y="7579526"/>
            <a:ext cx="144968" cy="95"/>
          </a:xfrm>
          <a:custGeom>
            <a:avLst/>
            <a:gdLst/>
            <a:ahLst/>
            <a:cxnLst/>
            <a:rect l="0" t="0" r="r" b="b"/>
            <a:pathLst>
              <a:path w="144968" h="95">
                <a:moveTo>
                  <a:pt x="0" y="0"/>
                </a:moveTo>
                <a:lnTo>
                  <a:pt x="144968" y="0"/>
                </a:lnTo>
              </a:path>
            </a:pathLst>
          </a:custGeom>
          <a:noFill/>
          <a:ln w="20003" cap="rnd">
            <a:solidFill>
              <a:srgbClr val="12AEC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7" name="Molecular marker"/>
          <p:cNvSpPr/>
          <p:nvPr/>
        </p:nvSpPr>
        <p:spPr>
          <a:xfrm>
            <a:off x="14608540" y="7469376"/>
            <a:ext cx="91345" cy="91345"/>
          </a:xfrm>
          <a:prstGeom prst="ellipse">
            <a:avLst/>
          </a:prstGeom>
          <a:solidFill>
            <a:srgbClr val="CF5148"/>
          </a:solidFill>
          <a:ln w="8573">
            <a:solidFill>
              <a:srgbClr val="9D322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8" name="Text 826"/>
          <p:cNvSpPr txBox="1"/>
          <p:nvPr/>
        </p:nvSpPr>
        <p:spPr>
          <a:xfrm>
            <a:off x="14608540" y="7469376"/>
            <a:ext cx="91345" cy="9134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580" b="1" i="0">
                <a:solidFill>
                  <a:srgbClr val="FFFFFF"/>
                </a:solidFill>
                <a:latin typeface="Times New Roman"/>
              </a:rPr>
              <a:t>O</a:t>
            </a:r>
          </a:p>
        </p:txBody>
      </p:sp>
      <p:sp>
        <p:nvSpPr>
          <p:cNvPr id="829" name="Text 827"/>
          <p:cNvSpPr txBox="1"/>
          <p:nvPr/>
        </p:nvSpPr>
        <p:spPr>
          <a:xfrm>
            <a:off x="14690360" y="7412226"/>
            <a:ext cx="85725" cy="114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825" b="1" i="0">
                <a:solidFill>
                  <a:srgbClr val="23364A"/>
                </a:solidFill>
                <a:latin typeface="Times New Roman"/>
              </a:rPr>
              <a:t>−</a:t>
            </a:r>
          </a:p>
        </p:txBody>
      </p:sp>
      <p:sp>
        <p:nvSpPr>
          <p:cNvPr id="830" name="Text 828"/>
          <p:cNvSpPr txBox="1"/>
          <p:nvPr/>
        </p:nvSpPr>
        <p:spPr>
          <a:xfrm>
            <a:off x="14504861" y="7565484"/>
            <a:ext cx="85725" cy="114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825" b="1" i="0">
                <a:solidFill>
                  <a:srgbClr val="23364A"/>
                </a:solidFill>
                <a:latin typeface="Times New Roman"/>
              </a:rPr>
              <a:t>+</a:t>
            </a:r>
          </a:p>
        </p:txBody>
      </p:sp>
      <p:sp>
        <p:nvSpPr>
          <p:cNvPr id="831" name="Text 829"/>
          <p:cNvSpPr txBox="1"/>
          <p:nvPr/>
        </p:nvSpPr>
        <p:spPr>
          <a:xfrm>
            <a:off x="2019300" y="1476375"/>
            <a:ext cx="1895475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390" b="1" i="0">
                <a:solidFill>
                  <a:srgbClr val="23364A"/>
                </a:solidFill>
                <a:latin typeface="Times New Roman"/>
              </a:rPr>
              <a:t>SCFA synthesis–related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390" b="1" i="0">
                <a:solidFill>
                  <a:srgbClr val="23364A"/>
                </a:solidFill>
                <a:latin typeface="Times New Roman"/>
              </a:rPr>
              <a:t>gene abundance ↓</a:t>
            </a:r>
          </a:p>
        </p:txBody>
      </p:sp>
      <p:sp>
        <p:nvSpPr>
          <p:cNvPr id="832" name="Text 830"/>
          <p:cNvSpPr txBox="1"/>
          <p:nvPr/>
        </p:nvSpPr>
        <p:spPr>
          <a:xfrm>
            <a:off x="4235450" y="1485900"/>
            <a:ext cx="2047875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390" b="1" i="0">
                <a:solidFill>
                  <a:srgbClr val="23364A"/>
                </a:solidFill>
                <a:latin typeface="Times New Roman"/>
              </a:rPr>
              <a:t>BA deconjugation–related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390" b="1" i="0">
                <a:solidFill>
                  <a:srgbClr val="23364A"/>
                </a:solidFill>
                <a:latin typeface="Times New Roman"/>
              </a:rPr>
              <a:t>gene abundance ↓</a:t>
            </a:r>
          </a:p>
        </p:txBody>
      </p:sp>
      <p:sp>
        <p:nvSpPr>
          <p:cNvPr id="833" name="Molecular marker"/>
          <p:cNvSpPr/>
          <p:nvPr/>
        </p:nvSpPr>
        <p:spPr>
          <a:xfrm>
            <a:off x="9424988" y="3262313"/>
            <a:ext cx="66675" cy="66675"/>
          </a:xfrm>
          <a:prstGeom prst="ellipse">
            <a:avLst/>
          </a:prstGeom>
          <a:solidFill>
            <a:srgbClr val="C23D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4" name="Molecular marker"/>
          <p:cNvSpPr/>
          <p:nvPr/>
        </p:nvSpPr>
        <p:spPr>
          <a:xfrm>
            <a:off x="9424988" y="3614738"/>
            <a:ext cx="66675" cy="66675"/>
          </a:xfrm>
          <a:prstGeom prst="ellipse">
            <a:avLst/>
          </a:prstGeom>
          <a:solidFill>
            <a:srgbClr val="C23D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5" name="Molecular marker"/>
          <p:cNvSpPr/>
          <p:nvPr/>
        </p:nvSpPr>
        <p:spPr>
          <a:xfrm>
            <a:off x="9424988" y="3967163"/>
            <a:ext cx="66675" cy="66675"/>
          </a:xfrm>
          <a:prstGeom prst="ellipse">
            <a:avLst/>
          </a:prstGeom>
          <a:solidFill>
            <a:srgbClr val="C23D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6" name="Molecular marker"/>
          <p:cNvSpPr/>
          <p:nvPr/>
        </p:nvSpPr>
        <p:spPr>
          <a:xfrm>
            <a:off x="9420225" y="4352925"/>
            <a:ext cx="76200" cy="76200"/>
          </a:xfrm>
          <a:prstGeom prst="ellipse">
            <a:avLst/>
          </a:prstGeom>
          <a:solidFill>
            <a:srgbClr val="C23D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7" name="Molecular marker"/>
          <p:cNvSpPr/>
          <p:nvPr/>
        </p:nvSpPr>
        <p:spPr>
          <a:xfrm>
            <a:off x="11244263" y="4667250"/>
            <a:ext cx="85725" cy="57150"/>
          </a:xfrm>
          <a:prstGeom prst="roundRect">
            <a:avLst>
              <a:gd name="adj" fmla="val 50000"/>
            </a:avLst>
          </a:prstGeom>
          <a:solidFill>
            <a:srgbClr val="725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8" name="Text 836"/>
          <p:cNvSpPr txBox="1"/>
          <p:nvPr/>
        </p:nvSpPr>
        <p:spPr>
          <a:xfrm>
            <a:off x="9639300" y="4400550"/>
            <a:ext cx="1524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350" b="0" i="1">
                <a:solidFill>
                  <a:srgbClr val="4E5F70"/>
                </a:solidFill>
                <a:latin typeface="Times New Roman"/>
              </a:rPr>
              <a:t>Lamina propria</a:t>
            </a:r>
          </a:p>
        </p:txBody>
      </p:sp>
      <p:sp>
        <p:nvSpPr>
          <p:cNvPr id="839" name="Text 837"/>
          <p:cNvSpPr txBox="1"/>
          <p:nvPr/>
        </p:nvSpPr>
        <p:spPr>
          <a:xfrm>
            <a:off x="12230100" y="3209925"/>
            <a:ext cx="276225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390" b="1" i="0">
                <a:solidFill>
                  <a:srgbClr val="7254A8"/>
                </a:solidFill>
                <a:latin typeface="Times New Roman"/>
              </a:rPr>
              <a:t>Active epithelial uptake</a:t>
            </a:r>
          </a:p>
        </p:txBody>
      </p:sp>
      <p:sp>
        <p:nvSpPr>
          <p:cNvPr id="840" name="Text 838"/>
          <p:cNvSpPr txBox="1"/>
          <p:nvPr/>
        </p:nvSpPr>
        <p:spPr>
          <a:xfrm>
            <a:off x="12230100" y="3571875"/>
            <a:ext cx="2286000" cy="2762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350" b="0" i="0">
                <a:solidFill>
                  <a:srgbClr val="7254A8"/>
                </a:solidFill>
                <a:latin typeface="Times New Roman"/>
              </a:rPr>
              <a:t>(steady state)</a:t>
            </a:r>
          </a:p>
        </p:txBody>
      </p:sp>
      <p:sp>
        <p:nvSpPr>
          <p:cNvPr id="841" name="Text 839"/>
          <p:cNvSpPr txBox="1"/>
          <p:nvPr/>
        </p:nvSpPr>
        <p:spPr>
          <a:xfrm>
            <a:off x="9544050" y="5143500"/>
            <a:ext cx="1019175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350" b="1" i="0">
                <a:solidFill>
                  <a:srgbClr val="A82D2A"/>
                </a:solidFill>
                <a:latin typeface="Times New Roman"/>
              </a:rPr>
              <a:t>Portal route</a:t>
            </a:r>
          </a:p>
        </p:txBody>
      </p:sp>
      <p:sp>
        <p:nvSpPr>
          <p:cNvPr id="842" name="Text 840"/>
          <p:cNvSpPr txBox="1"/>
          <p:nvPr/>
        </p:nvSpPr>
        <p:spPr>
          <a:xfrm>
            <a:off x="10382250" y="5286375"/>
            <a:ext cx="173355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350" b="1" i="0">
                <a:solidFill>
                  <a:srgbClr val="467D78"/>
                </a:solidFill>
                <a:latin typeface="Times New Roman"/>
              </a:rPr>
              <a:t>Lymphatic capillary</a:t>
            </a:r>
          </a:p>
        </p:txBody>
      </p:sp>
      <p:sp>
        <p:nvSpPr>
          <p:cNvPr id="843" name="Text 841"/>
          <p:cNvSpPr txBox="1"/>
          <p:nvPr/>
        </p:nvSpPr>
        <p:spPr>
          <a:xfrm>
            <a:off x="11972925" y="4648200"/>
            <a:ext cx="1857375" cy="295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390" b="1" i="0">
                <a:solidFill>
                  <a:srgbClr val="A82D2A"/>
                </a:solidFill>
                <a:latin typeface="Times New Roman"/>
              </a:rPr>
              <a:t>Lymphatic route</a:t>
            </a:r>
          </a:p>
        </p:txBody>
      </p:sp>
      <p:sp>
        <p:nvSpPr>
          <p:cNvPr id="844" name="Text 842"/>
          <p:cNvSpPr txBox="1"/>
          <p:nvPr/>
        </p:nvSpPr>
        <p:spPr>
          <a:xfrm>
            <a:off x="7943850" y="4257675"/>
            <a:ext cx="13716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500" b="1" i="0">
                <a:solidFill>
                  <a:srgbClr val="A82D2A"/>
                </a:solidFill>
                <a:latin typeface="Times New Roman"/>
              </a:rPr>
              <a:t>Barrier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500" b="1" i="0">
                <a:solidFill>
                  <a:srgbClr val="A82D2A"/>
                </a:solidFill>
                <a:latin typeface="Times New Roman"/>
              </a:rPr>
              <a:t>alterations</a:t>
            </a:r>
          </a:p>
        </p:txBody>
      </p:sp>
      <p:sp>
        <p:nvSpPr>
          <p:cNvPr id="845" name="Text 843"/>
          <p:cNvSpPr txBox="1"/>
          <p:nvPr/>
        </p:nvSpPr>
        <p:spPr>
          <a:xfrm>
            <a:off x="7915275" y="4695825"/>
            <a:ext cx="1390650" cy="2571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350" b="0" i="0">
                <a:solidFill>
                  <a:srgbClr val="A82D2A"/>
                </a:solidFill>
                <a:latin typeface="Times New Roman"/>
              </a:rPr>
              <a:t>Experimental PH</a:t>
            </a:r>
          </a:p>
        </p:txBody>
      </p:sp>
      <p:sp>
        <p:nvSpPr>
          <p:cNvPr id="846" name="Text 844"/>
          <p:cNvSpPr txBox="1"/>
          <p:nvPr/>
        </p:nvSpPr>
        <p:spPr>
          <a:xfrm>
            <a:off x="7924800" y="5010150"/>
            <a:ext cx="133350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350" b="1" i="0">
                <a:solidFill>
                  <a:srgbClr val="A82D2A"/>
                </a:solidFill>
                <a:latin typeface="Times New Roman"/>
              </a:rPr>
              <a:t>Goblet cells ↓</a:t>
            </a:r>
          </a:p>
        </p:txBody>
      </p:sp>
      <p:sp>
        <p:nvSpPr>
          <p:cNvPr id="847" name="Text 845"/>
          <p:cNvSpPr txBox="1"/>
          <p:nvPr/>
        </p:nvSpPr>
        <p:spPr>
          <a:xfrm>
            <a:off x="7905750" y="5286375"/>
            <a:ext cx="1381125" cy="3905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350" b="1" i="0">
                <a:solidFill>
                  <a:srgbClr val="A82D2A"/>
                </a:solidFill>
                <a:latin typeface="Times New Roman"/>
              </a:rPr>
              <a:t>Tight-junction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350" b="1" i="0">
                <a:solidFill>
                  <a:srgbClr val="A82D2A"/>
                </a:solidFill>
                <a:latin typeface="Times New Roman"/>
              </a:rPr>
              <a:t>alterations</a:t>
            </a:r>
          </a:p>
        </p:txBody>
      </p:sp>
      <p:sp>
        <p:nvSpPr>
          <p:cNvPr id="848" name="Text 846"/>
          <p:cNvSpPr txBox="1"/>
          <p:nvPr/>
        </p:nvSpPr>
        <p:spPr>
          <a:xfrm>
            <a:off x="7905750" y="5705475"/>
            <a:ext cx="1343025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350" b="1" i="0">
                <a:solidFill>
                  <a:srgbClr val="A82D2A"/>
                </a:solidFill>
                <a:latin typeface="Times New Roman"/>
              </a:rPr>
              <a:t>Permeability ↑</a:t>
            </a:r>
          </a:p>
        </p:txBody>
      </p:sp>
      <p:sp>
        <p:nvSpPr>
          <p:cNvPr id="849" name="Text 847"/>
          <p:cNvSpPr txBox="1"/>
          <p:nvPr/>
        </p:nvSpPr>
        <p:spPr>
          <a:xfrm>
            <a:off x="12896850" y="6324600"/>
            <a:ext cx="2038350" cy="2762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425" b="1" i="0">
                <a:solidFill>
                  <a:srgbClr val="A82D2A"/>
                </a:solidFill>
                <a:latin typeface="Times New Roman"/>
              </a:rPr>
              <a:t>Circulating MAMPs</a:t>
            </a:r>
          </a:p>
        </p:txBody>
      </p:sp>
      <p:sp>
        <p:nvSpPr>
          <p:cNvPr id="850" name="Text 848"/>
          <p:cNvSpPr txBox="1"/>
          <p:nvPr/>
        </p:nvSpPr>
        <p:spPr>
          <a:xfrm>
            <a:off x="12630150" y="6762750"/>
            <a:ext cx="2466975" cy="2762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390" b="1" i="0">
                <a:solidFill>
                  <a:srgbClr val="23364A"/>
                </a:solidFill>
                <a:latin typeface="Times New Roman"/>
              </a:rPr>
              <a:t>Microbiota-related metabolites</a:t>
            </a:r>
          </a:p>
        </p:txBody>
      </p:sp>
      <p:sp>
        <p:nvSpPr>
          <p:cNvPr id="851" name="Molecular marker"/>
          <p:cNvSpPr/>
          <p:nvPr/>
        </p:nvSpPr>
        <p:spPr>
          <a:xfrm>
            <a:off x="11339513" y="3514725"/>
            <a:ext cx="85725" cy="57150"/>
          </a:xfrm>
          <a:prstGeom prst="roundRect">
            <a:avLst>
              <a:gd name="adj" fmla="val 50000"/>
            </a:avLst>
          </a:prstGeom>
          <a:solidFill>
            <a:srgbClr val="725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2" name="Molecular marker"/>
          <p:cNvSpPr/>
          <p:nvPr/>
        </p:nvSpPr>
        <p:spPr>
          <a:xfrm>
            <a:off x="11371263" y="4794250"/>
            <a:ext cx="85725" cy="57150"/>
          </a:xfrm>
          <a:prstGeom prst="roundRect">
            <a:avLst>
              <a:gd name="adj" fmla="val 50000"/>
            </a:avLst>
          </a:prstGeom>
          <a:solidFill>
            <a:srgbClr val="725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3" name="Molecular marker"/>
          <p:cNvSpPr/>
          <p:nvPr/>
        </p:nvSpPr>
        <p:spPr>
          <a:xfrm>
            <a:off x="13795375" y="6303963"/>
            <a:ext cx="95250" cy="66675"/>
          </a:xfrm>
          <a:prstGeom prst="roundRect">
            <a:avLst>
              <a:gd name="adj" fmla="val 50000"/>
            </a:avLst>
          </a:prstGeom>
          <a:solidFill>
            <a:srgbClr val="725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4" name="Molecular marker"/>
          <p:cNvSpPr/>
          <p:nvPr/>
        </p:nvSpPr>
        <p:spPr>
          <a:xfrm>
            <a:off x="13609638" y="6294438"/>
            <a:ext cx="85725" cy="85725"/>
          </a:xfrm>
          <a:prstGeom prst="ellipse">
            <a:avLst/>
          </a:prstGeom>
          <a:solidFill>
            <a:srgbClr val="C23D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Barrier and circulating exposure</dc:title>
  <dc:subject/>
  <dc:creator/>
  <cp:keywords/>
  <dc:description/>
  <cp:lastModifiedBy/>
  <cp:revision>1</cp:revision>
  <dcterms:created xsi:type="dcterms:W3CDTF">2026-10-17T11:07:04Z</dcterms:created>
  <dcterms:modified xsi:type="dcterms:W3CDTF">2026-10-17T11:07:04Z</dcterms:modified>
  <cp:category/>
  <dc:identifier/>
  <cp:contentStatus/>
  <cp:version/>
</cp:coreProperties>
</file>