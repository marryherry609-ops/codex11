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240000" cy="8572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sh vector background"/>
          <p:cNvSpPr/>
          <p:nvPr/>
        </p:nvSpPr>
        <p:spPr>
          <a:xfrm>
            <a:off x="0" y="0"/>
            <a:ext cx="15240000" cy="8572500"/>
          </a:xfrm>
          <a:prstGeom prst="rect">
            <a:avLst/>
          </a:prstGeom>
          <a:gradFill rotWithShape="1">
            <a:gsLst>
              <a:gs pos="0">
                <a:srgbClr val="FFF5EA"/>
              </a:gs>
              <a:gs pos="54000">
                <a:srgbClr val="F8F1EC"/>
              </a:gs>
              <a:gs pos="100000">
                <a:srgbClr val="DAE8FC"/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tery_outer_wall_001"/>
          <p:cNvSpPr/>
          <p:nvPr/>
        </p:nvSpPr>
        <p:spPr>
          <a:xfrm>
            <a:off x="8753622" y="1079799"/>
            <a:ext cx="4574578" cy="5361802"/>
          </a:xfrm>
          <a:custGeom>
            <a:avLst/>
            <a:gdLst/>
            <a:ahLst/>
            <a:cxnLst/>
            <a:rect l="0" t="0" r="r" b="b"/>
            <a:pathLst>
              <a:path w="4574578" h="5361802">
                <a:moveTo>
                  <a:pt x="564074" y="30993"/>
                </a:moveTo>
                <a:cubicBezTo>
                  <a:pt x="1053764" y="0"/>
                  <a:pt x="1686023" y="384314"/>
                  <a:pt x="2398864" y="818217"/>
                </a:cubicBezTo>
                <a:cubicBezTo>
                  <a:pt x="3142698" y="1270716"/>
                  <a:pt x="3762559" y="1698420"/>
                  <a:pt x="4215058" y="2014550"/>
                </a:cubicBezTo>
                <a:cubicBezTo>
                  <a:pt x="4128277" y="2355474"/>
                  <a:pt x="4066291" y="2795575"/>
                  <a:pt x="4097284" y="3248074"/>
                </a:cubicBezTo>
                <a:cubicBezTo>
                  <a:pt x="4140675" y="3886531"/>
                  <a:pt x="4351428" y="4679954"/>
                  <a:pt x="4524989" y="5200638"/>
                </a:cubicBezTo>
                <a:cubicBezTo>
                  <a:pt x="4574578" y="5330809"/>
                  <a:pt x="4487797" y="5361802"/>
                  <a:pt x="4357626" y="5287418"/>
                </a:cubicBezTo>
                <a:cubicBezTo>
                  <a:pt x="3818347" y="4977488"/>
                  <a:pt x="3384444" y="4686153"/>
                  <a:pt x="2826568" y="4450605"/>
                </a:cubicBezTo>
                <a:cubicBezTo>
                  <a:pt x="2070337" y="4134476"/>
                  <a:pt x="1431880" y="3954716"/>
                  <a:pt x="1072360" y="3576601"/>
                </a:cubicBezTo>
                <a:cubicBezTo>
                  <a:pt x="849210" y="3328656"/>
                  <a:pt x="824416" y="2907150"/>
                  <a:pt x="657053" y="2609617"/>
                </a:cubicBezTo>
                <a:cubicBezTo>
                  <a:pt x="415307" y="2367871"/>
                  <a:pt x="347122" y="2070337"/>
                  <a:pt x="359520" y="1723215"/>
                </a:cubicBezTo>
                <a:cubicBezTo>
                  <a:pt x="365718" y="1574448"/>
                  <a:pt x="297534" y="1444277"/>
                  <a:pt x="185958" y="1295510"/>
                </a:cubicBezTo>
                <a:cubicBezTo>
                  <a:pt x="6199" y="1078559"/>
                  <a:pt x="0" y="787224"/>
                  <a:pt x="68185" y="533081"/>
                </a:cubicBezTo>
                <a:cubicBezTo>
                  <a:pt x="161164" y="204554"/>
                  <a:pt x="285136" y="43390"/>
                  <a:pt x="564074" y="30993"/>
                </a:cubicBezTo>
                <a:close/>
              </a:path>
            </a:pathLst>
          </a:custGeom>
          <a:gradFill rotWithShape="1">
            <a:gsLst>
              <a:gs pos="0">
                <a:srgbClr val="FFF2EC"/>
              </a:gs>
              <a:gs pos="42000">
                <a:srgbClr val="F8D8D3"/>
              </a:gs>
              <a:gs pos="100000">
                <a:srgbClr val="D7C8E1"/>
              </a:gs>
            </a:gsLst>
            <a:lin ang="2700000" scaled="1"/>
          </a:gradFill>
          <a:ln w="10537" cap="rnd">
            <a:solidFill>
              <a:srgbClr val="B3838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tery_adventitial_sheet_002"/>
          <p:cNvSpPr/>
          <p:nvPr/>
        </p:nvSpPr>
        <p:spPr>
          <a:xfrm>
            <a:off x="9404477" y="3658422"/>
            <a:ext cx="3867936" cy="2745986"/>
          </a:xfrm>
          <a:custGeom>
            <a:avLst/>
            <a:gdLst/>
            <a:ahLst/>
            <a:cxnLst/>
            <a:rect l="0" t="0" r="r" b="b"/>
            <a:pathLst>
              <a:path w="3867936" h="2745986">
                <a:moveTo>
                  <a:pt x="0" y="0"/>
                </a:moveTo>
                <a:cubicBezTo>
                  <a:pt x="619861" y="359520"/>
                  <a:pt x="1320305" y="799621"/>
                  <a:pt x="1921571" y="1165340"/>
                </a:cubicBezTo>
                <a:cubicBezTo>
                  <a:pt x="2584822" y="1580647"/>
                  <a:pt x="3142698" y="1995954"/>
                  <a:pt x="3508416" y="2374069"/>
                </a:cubicBezTo>
                <a:cubicBezTo>
                  <a:pt x="3644785" y="2510439"/>
                  <a:pt x="3774956" y="2597220"/>
                  <a:pt x="3867936" y="2665404"/>
                </a:cubicBezTo>
                <a:cubicBezTo>
                  <a:pt x="3582799" y="2745986"/>
                  <a:pt x="3142698" y="2417460"/>
                  <a:pt x="2727390" y="2212905"/>
                </a:cubicBezTo>
                <a:cubicBezTo>
                  <a:pt x="2002153" y="1847187"/>
                  <a:pt x="979381" y="1555852"/>
                  <a:pt x="514485" y="1103353"/>
                </a:cubicBezTo>
                <a:cubicBezTo>
                  <a:pt x="254143" y="855409"/>
                  <a:pt x="173561" y="347122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CFAFF"/>
              </a:gs>
              <a:gs pos="48000">
                <a:srgbClr val="F1EAF7"/>
              </a:gs>
              <a:gs pos="100000">
                <a:srgbClr val="D5C6E4"/>
              </a:gs>
            </a:gsLst>
            <a:lin ang="5700000" scaled="1"/>
          </a:gradFill>
          <a:ln w="6198" cap="rnd">
            <a:solidFill>
              <a:srgbClr val="B6A4C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artery_flowing_collagen_003"/>
          <p:cNvSpPr/>
          <p:nvPr/>
        </p:nvSpPr>
        <p:spPr>
          <a:xfrm>
            <a:off x="9517853" y="3753291"/>
            <a:ext cx="3572303" cy="2435380"/>
          </a:xfrm>
          <a:custGeom>
            <a:avLst/>
            <a:gdLst/>
            <a:ahLst/>
            <a:cxnLst/>
            <a:rect l="0" t="0" r="r" b="b"/>
            <a:pathLst>
              <a:path w="3572303" h="2435380">
                <a:moveTo>
                  <a:pt x="0" y="0"/>
                </a:moveTo>
                <a:cubicBezTo>
                  <a:pt x="43006" y="22519"/>
                  <a:pt x="172768" y="90832"/>
                  <a:pt x="258039" y="135113"/>
                </a:cubicBezTo>
                <a:cubicBezTo>
                  <a:pt x="343310" y="179394"/>
                  <a:pt x="426602" y="219654"/>
                  <a:pt x="511627" y="265686"/>
                </a:cubicBezTo>
                <a:cubicBezTo>
                  <a:pt x="596651" y="311718"/>
                  <a:pt x="683502" y="363842"/>
                  <a:pt x="768185" y="411307"/>
                </a:cubicBezTo>
                <a:cubicBezTo>
                  <a:pt x="852868" y="458772"/>
                  <a:pt x="936473" y="504572"/>
                  <a:pt x="1019724" y="550477"/>
                </a:cubicBezTo>
                <a:cubicBezTo>
                  <a:pt x="1102976" y="596381"/>
                  <a:pt x="1183688" y="636439"/>
                  <a:pt x="1267695" y="686734"/>
                </a:cubicBezTo>
                <a:cubicBezTo>
                  <a:pt x="1351701" y="737029"/>
                  <a:pt x="1438407" y="795877"/>
                  <a:pt x="1523762" y="852247"/>
                </a:cubicBezTo>
                <a:cubicBezTo>
                  <a:pt x="1609118" y="908617"/>
                  <a:pt x="1693961" y="964726"/>
                  <a:pt x="1779830" y="1024955"/>
                </a:cubicBezTo>
                <a:cubicBezTo>
                  <a:pt x="1865699" y="1085184"/>
                  <a:pt x="1952608" y="1149543"/>
                  <a:pt x="2038975" y="1213619"/>
                </a:cubicBezTo>
                <a:cubicBezTo>
                  <a:pt x="2125342" y="1277694"/>
                  <a:pt x="2212431" y="1345103"/>
                  <a:pt x="2298030" y="1409408"/>
                </a:cubicBezTo>
                <a:cubicBezTo>
                  <a:pt x="2383629" y="1473712"/>
                  <a:pt x="2467609" y="1534581"/>
                  <a:pt x="2552569" y="1599443"/>
                </a:cubicBezTo>
                <a:cubicBezTo>
                  <a:pt x="2637529" y="1664306"/>
                  <a:pt x="2722748" y="1731107"/>
                  <a:pt x="2807790" y="1798583"/>
                </a:cubicBezTo>
                <a:cubicBezTo>
                  <a:pt x="2892832" y="1866060"/>
                  <a:pt x="2978039" y="1935226"/>
                  <a:pt x="3062821" y="2004302"/>
                </a:cubicBezTo>
                <a:cubicBezTo>
                  <a:pt x="3147603" y="2073378"/>
                  <a:pt x="3231567" y="2141195"/>
                  <a:pt x="3316481" y="2213041"/>
                </a:cubicBezTo>
                <a:cubicBezTo>
                  <a:pt x="3401395" y="2284887"/>
                  <a:pt x="3529666" y="2398324"/>
                  <a:pt x="3572303" y="2435380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artery_flowing_collagen_004"/>
          <p:cNvSpPr/>
          <p:nvPr/>
        </p:nvSpPr>
        <p:spPr>
          <a:xfrm>
            <a:off x="9567359" y="3810469"/>
            <a:ext cx="3470682" cy="2333993"/>
          </a:xfrm>
          <a:custGeom>
            <a:avLst/>
            <a:gdLst/>
            <a:ahLst/>
            <a:cxnLst/>
            <a:rect l="0" t="0" r="r" b="b"/>
            <a:pathLst>
              <a:path w="3470682" h="2333993">
                <a:moveTo>
                  <a:pt x="0" y="0"/>
                </a:moveTo>
                <a:cubicBezTo>
                  <a:pt x="40310" y="17834"/>
                  <a:pt x="160997" y="69627"/>
                  <a:pt x="241859" y="107002"/>
                </a:cubicBezTo>
                <a:cubicBezTo>
                  <a:pt x="322721" y="144377"/>
                  <a:pt x="403914" y="183678"/>
                  <a:pt x="485171" y="224250"/>
                </a:cubicBezTo>
                <a:cubicBezTo>
                  <a:pt x="566428" y="264822"/>
                  <a:pt x="648379" y="308345"/>
                  <a:pt x="729401" y="350435"/>
                </a:cubicBezTo>
                <a:cubicBezTo>
                  <a:pt x="810424" y="392526"/>
                  <a:pt x="889345" y="429959"/>
                  <a:pt x="971305" y="476792"/>
                </a:cubicBezTo>
                <a:cubicBezTo>
                  <a:pt x="1053264" y="523626"/>
                  <a:pt x="1137184" y="576823"/>
                  <a:pt x="1221160" y="631435"/>
                </a:cubicBezTo>
                <a:cubicBezTo>
                  <a:pt x="1305135" y="686048"/>
                  <a:pt x="1389327" y="742328"/>
                  <a:pt x="1475157" y="804465"/>
                </a:cubicBezTo>
                <a:cubicBezTo>
                  <a:pt x="1560987" y="866603"/>
                  <a:pt x="1650854" y="941270"/>
                  <a:pt x="1736140" y="1004261"/>
                </a:cubicBezTo>
                <a:cubicBezTo>
                  <a:pt x="1821427" y="1067253"/>
                  <a:pt x="1904881" y="1126434"/>
                  <a:pt x="1986875" y="1182414"/>
                </a:cubicBezTo>
                <a:cubicBezTo>
                  <a:pt x="2068869" y="1238394"/>
                  <a:pt x="2147437" y="1285764"/>
                  <a:pt x="2228104" y="1340142"/>
                </a:cubicBezTo>
                <a:cubicBezTo>
                  <a:pt x="2308770" y="1394519"/>
                  <a:pt x="2388842" y="1448177"/>
                  <a:pt x="2470873" y="1508679"/>
                </a:cubicBezTo>
                <a:cubicBezTo>
                  <a:pt x="2552904" y="1569181"/>
                  <a:pt x="2636959" y="1636621"/>
                  <a:pt x="2720290" y="1703152"/>
                </a:cubicBezTo>
                <a:cubicBezTo>
                  <a:pt x="2803621" y="1769683"/>
                  <a:pt x="2887408" y="1838694"/>
                  <a:pt x="2970859" y="1907866"/>
                </a:cubicBezTo>
                <a:cubicBezTo>
                  <a:pt x="3054310" y="1977038"/>
                  <a:pt x="3137694" y="2047163"/>
                  <a:pt x="3220998" y="2118184"/>
                </a:cubicBezTo>
                <a:cubicBezTo>
                  <a:pt x="3304302" y="2189205"/>
                  <a:pt x="3429068" y="2298025"/>
                  <a:pt x="3470682" y="2333993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artery_flowing_collagen_005"/>
          <p:cNvSpPr/>
          <p:nvPr/>
        </p:nvSpPr>
        <p:spPr>
          <a:xfrm>
            <a:off x="9602917" y="3831490"/>
            <a:ext cx="3382446" cy="2267360"/>
          </a:xfrm>
          <a:custGeom>
            <a:avLst/>
            <a:gdLst/>
            <a:ahLst/>
            <a:cxnLst/>
            <a:rect l="0" t="0" r="r" b="b"/>
            <a:pathLst>
              <a:path w="3382446" h="2267360">
                <a:moveTo>
                  <a:pt x="0" y="0"/>
                </a:moveTo>
                <a:cubicBezTo>
                  <a:pt x="38550" y="15532"/>
                  <a:pt x="153185" y="58452"/>
                  <a:pt x="231300" y="93190"/>
                </a:cubicBezTo>
                <a:cubicBezTo>
                  <a:pt x="309415" y="127927"/>
                  <a:pt x="389002" y="167485"/>
                  <a:pt x="468690" y="208427"/>
                </a:cubicBezTo>
                <a:cubicBezTo>
                  <a:pt x="548378" y="249369"/>
                  <a:pt x="628527" y="292529"/>
                  <a:pt x="709426" y="338841"/>
                </a:cubicBezTo>
                <a:cubicBezTo>
                  <a:pt x="790325" y="385153"/>
                  <a:pt x="871488" y="433173"/>
                  <a:pt x="954087" y="486300"/>
                </a:cubicBezTo>
                <a:cubicBezTo>
                  <a:pt x="1036685" y="539427"/>
                  <a:pt x="1121443" y="599546"/>
                  <a:pt x="1205015" y="657605"/>
                </a:cubicBezTo>
                <a:cubicBezTo>
                  <a:pt x="1288586" y="715664"/>
                  <a:pt x="1373797" y="779501"/>
                  <a:pt x="1455514" y="834654"/>
                </a:cubicBezTo>
                <a:cubicBezTo>
                  <a:pt x="1537232" y="889808"/>
                  <a:pt x="1616819" y="940262"/>
                  <a:pt x="1695320" y="988525"/>
                </a:cubicBezTo>
                <a:cubicBezTo>
                  <a:pt x="1773822" y="1036787"/>
                  <a:pt x="1848553" y="1075437"/>
                  <a:pt x="1926524" y="1124229"/>
                </a:cubicBezTo>
                <a:cubicBezTo>
                  <a:pt x="2004494" y="1173021"/>
                  <a:pt x="2082753" y="1223510"/>
                  <a:pt x="2163143" y="1281276"/>
                </a:cubicBezTo>
                <a:cubicBezTo>
                  <a:pt x="2243532" y="1339042"/>
                  <a:pt x="2326315" y="1404664"/>
                  <a:pt x="2408859" y="1470823"/>
                </a:cubicBezTo>
                <a:cubicBezTo>
                  <a:pt x="2491403" y="1536982"/>
                  <a:pt x="2576153" y="1610704"/>
                  <a:pt x="2658405" y="1678229"/>
                </a:cubicBezTo>
                <a:cubicBezTo>
                  <a:pt x="2740657" y="1745755"/>
                  <a:pt x="2821782" y="1811163"/>
                  <a:pt x="2902370" y="1875975"/>
                </a:cubicBezTo>
                <a:cubicBezTo>
                  <a:pt x="2982959" y="1940787"/>
                  <a:pt x="3061923" y="2001871"/>
                  <a:pt x="3141935" y="2067102"/>
                </a:cubicBezTo>
                <a:cubicBezTo>
                  <a:pt x="3221948" y="2132333"/>
                  <a:pt x="3342361" y="2233984"/>
                  <a:pt x="3382446" y="2267360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artery_flowing_collagen_006"/>
          <p:cNvSpPr/>
          <p:nvPr/>
        </p:nvSpPr>
        <p:spPr>
          <a:xfrm>
            <a:off x="9636111" y="3846471"/>
            <a:ext cx="3455685" cy="2347173"/>
          </a:xfrm>
          <a:custGeom>
            <a:avLst/>
            <a:gdLst/>
            <a:ahLst/>
            <a:cxnLst/>
            <a:rect l="0" t="0" r="r" b="b"/>
            <a:pathLst>
              <a:path w="3455685" h="2347173">
                <a:moveTo>
                  <a:pt x="0" y="0"/>
                </a:moveTo>
                <a:cubicBezTo>
                  <a:pt x="40668" y="19465"/>
                  <a:pt x="163028" y="77726"/>
                  <a:pt x="244008" y="116788"/>
                </a:cubicBezTo>
                <a:cubicBezTo>
                  <a:pt x="324988" y="155849"/>
                  <a:pt x="405485" y="194732"/>
                  <a:pt x="485880" y="234371"/>
                </a:cubicBezTo>
                <a:cubicBezTo>
                  <a:pt x="566275" y="274011"/>
                  <a:pt x="644581" y="309030"/>
                  <a:pt x="726379" y="354623"/>
                </a:cubicBezTo>
                <a:cubicBezTo>
                  <a:pt x="808176" y="400215"/>
                  <a:pt x="891599" y="451154"/>
                  <a:pt x="976664" y="507925"/>
                </a:cubicBezTo>
                <a:cubicBezTo>
                  <a:pt x="1061730" y="564695"/>
                  <a:pt x="1150762" y="633494"/>
                  <a:pt x="1236772" y="695244"/>
                </a:cubicBezTo>
                <a:cubicBezTo>
                  <a:pt x="1322782" y="756994"/>
                  <a:pt x="1409355" y="821662"/>
                  <a:pt x="1492724" y="878424"/>
                </a:cubicBezTo>
                <a:cubicBezTo>
                  <a:pt x="1576092" y="935185"/>
                  <a:pt x="1656270" y="984284"/>
                  <a:pt x="1736980" y="1035813"/>
                </a:cubicBezTo>
                <a:cubicBezTo>
                  <a:pt x="1817691" y="1087343"/>
                  <a:pt x="1896360" y="1134162"/>
                  <a:pt x="1976986" y="1187600"/>
                </a:cubicBezTo>
                <a:cubicBezTo>
                  <a:pt x="2057611" y="1241038"/>
                  <a:pt x="2139111" y="1297992"/>
                  <a:pt x="2220733" y="1356441"/>
                </a:cubicBezTo>
                <a:cubicBezTo>
                  <a:pt x="2302355" y="1414890"/>
                  <a:pt x="2384861" y="1476976"/>
                  <a:pt x="2466719" y="1538294"/>
                </a:cubicBezTo>
                <a:cubicBezTo>
                  <a:pt x="2548577" y="1599611"/>
                  <a:pt x="2629948" y="1660602"/>
                  <a:pt x="2711881" y="1724346"/>
                </a:cubicBezTo>
                <a:cubicBezTo>
                  <a:pt x="2793814" y="1788090"/>
                  <a:pt x="2875735" y="1852871"/>
                  <a:pt x="2958315" y="1920756"/>
                </a:cubicBezTo>
                <a:cubicBezTo>
                  <a:pt x="3040896" y="1988641"/>
                  <a:pt x="3124467" y="2060588"/>
                  <a:pt x="3207362" y="2131658"/>
                </a:cubicBezTo>
                <a:cubicBezTo>
                  <a:pt x="3290257" y="2202727"/>
                  <a:pt x="3414298" y="2311254"/>
                  <a:pt x="3455685" y="2347173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artery_flowing_collagen_007"/>
          <p:cNvSpPr/>
          <p:nvPr/>
        </p:nvSpPr>
        <p:spPr>
          <a:xfrm>
            <a:off x="9536668" y="3802253"/>
            <a:ext cx="3503141" cy="2347557"/>
          </a:xfrm>
          <a:custGeom>
            <a:avLst/>
            <a:gdLst/>
            <a:ahLst/>
            <a:cxnLst/>
            <a:rect l="0" t="0" r="r" b="b"/>
            <a:pathLst>
              <a:path w="3503141" h="2347557">
                <a:moveTo>
                  <a:pt x="0" y="0"/>
                </a:moveTo>
                <a:cubicBezTo>
                  <a:pt x="41332" y="19537"/>
                  <a:pt x="165204" y="76692"/>
                  <a:pt x="247995" y="117223"/>
                </a:cubicBezTo>
                <a:cubicBezTo>
                  <a:pt x="330786" y="157753"/>
                  <a:pt x="413311" y="198675"/>
                  <a:pt x="496745" y="243184"/>
                </a:cubicBezTo>
                <a:cubicBezTo>
                  <a:pt x="580180" y="287692"/>
                  <a:pt x="663204" y="332150"/>
                  <a:pt x="748601" y="384275"/>
                </a:cubicBezTo>
                <a:cubicBezTo>
                  <a:pt x="833998" y="436401"/>
                  <a:pt x="922320" y="497564"/>
                  <a:pt x="1009128" y="555936"/>
                </a:cubicBezTo>
                <a:cubicBezTo>
                  <a:pt x="1095935" y="614308"/>
                  <a:pt x="1184932" y="680021"/>
                  <a:pt x="1269447" y="734507"/>
                </a:cubicBezTo>
                <a:cubicBezTo>
                  <a:pt x="1353963" y="788993"/>
                  <a:pt x="1435624" y="836966"/>
                  <a:pt x="1516222" y="882851"/>
                </a:cubicBezTo>
                <a:cubicBezTo>
                  <a:pt x="1596819" y="928736"/>
                  <a:pt x="1673181" y="963885"/>
                  <a:pt x="1753032" y="1009817"/>
                </a:cubicBezTo>
                <a:cubicBezTo>
                  <a:pt x="1832884" y="1055748"/>
                  <a:pt x="1912789" y="1102731"/>
                  <a:pt x="1995331" y="1158439"/>
                </a:cubicBezTo>
                <a:cubicBezTo>
                  <a:pt x="2077873" y="1214146"/>
                  <a:pt x="2163562" y="1279841"/>
                  <a:pt x="2248285" y="1344061"/>
                </a:cubicBezTo>
                <a:cubicBezTo>
                  <a:pt x="2333008" y="1408281"/>
                  <a:pt x="2419151" y="1477790"/>
                  <a:pt x="2503668" y="1543759"/>
                </a:cubicBezTo>
                <a:cubicBezTo>
                  <a:pt x="2588184" y="1609727"/>
                  <a:pt x="2671808" y="1674318"/>
                  <a:pt x="2755385" y="1739873"/>
                </a:cubicBezTo>
                <a:cubicBezTo>
                  <a:pt x="2838961" y="1805427"/>
                  <a:pt x="2921930" y="1870362"/>
                  <a:pt x="3005127" y="1937087"/>
                </a:cubicBezTo>
                <a:cubicBezTo>
                  <a:pt x="3088324" y="2003812"/>
                  <a:pt x="3171564" y="2071810"/>
                  <a:pt x="3254566" y="2140222"/>
                </a:cubicBezTo>
                <a:cubicBezTo>
                  <a:pt x="3337569" y="2208634"/>
                  <a:pt x="3461712" y="2313001"/>
                  <a:pt x="3503141" y="2347557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tery_flowing_collagen_008"/>
          <p:cNvSpPr/>
          <p:nvPr/>
        </p:nvSpPr>
        <p:spPr>
          <a:xfrm>
            <a:off x="9574959" y="3830276"/>
            <a:ext cx="3412222" cy="2274059"/>
          </a:xfrm>
          <a:custGeom>
            <a:avLst/>
            <a:gdLst/>
            <a:ahLst/>
            <a:cxnLst/>
            <a:rect l="0" t="0" r="r" b="b"/>
            <a:pathLst>
              <a:path w="3412222" h="2274059">
                <a:moveTo>
                  <a:pt x="0" y="0"/>
                </a:moveTo>
                <a:cubicBezTo>
                  <a:pt x="41121" y="21339"/>
                  <a:pt x="164189" y="83456"/>
                  <a:pt x="246727" y="128036"/>
                </a:cubicBezTo>
                <a:cubicBezTo>
                  <a:pt x="329265" y="172617"/>
                  <a:pt x="411910" y="218565"/>
                  <a:pt x="495227" y="267482"/>
                </a:cubicBezTo>
                <a:cubicBezTo>
                  <a:pt x="578544" y="316398"/>
                  <a:pt x="663284" y="370264"/>
                  <a:pt x="746630" y="421535"/>
                </a:cubicBezTo>
                <a:cubicBezTo>
                  <a:pt x="829976" y="472807"/>
                  <a:pt x="914362" y="528155"/>
                  <a:pt x="995303" y="575112"/>
                </a:cubicBezTo>
                <a:cubicBezTo>
                  <a:pt x="1076245" y="622069"/>
                  <a:pt x="1154520" y="662969"/>
                  <a:pt x="1232278" y="703279"/>
                </a:cubicBezTo>
                <a:cubicBezTo>
                  <a:pt x="1310037" y="743589"/>
                  <a:pt x="1383965" y="774289"/>
                  <a:pt x="1461856" y="816972"/>
                </a:cubicBezTo>
                <a:cubicBezTo>
                  <a:pt x="1539748" y="859655"/>
                  <a:pt x="1618097" y="904424"/>
                  <a:pt x="1699627" y="959377"/>
                </a:cubicBezTo>
                <a:cubicBezTo>
                  <a:pt x="1781156" y="1014330"/>
                  <a:pt x="1866934" y="1082236"/>
                  <a:pt x="1951035" y="1146690"/>
                </a:cubicBezTo>
                <a:cubicBezTo>
                  <a:pt x="2035137" y="1211145"/>
                  <a:pt x="2121436" y="1283097"/>
                  <a:pt x="2204235" y="1346105"/>
                </a:cubicBezTo>
                <a:cubicBezTo>
                  <a:pt x="2287035" y="1409112"/>
                  <a:pt x="2367736" y="1467337"/>
                  <a:pt x="2447834" y="1524737"/>
                </a:cubicBezTo>
                <a:cubicBezTo>
                  <a:pt x="2527932" y="1582137"/>
                  <a:pt x="2605438" y="1633079"/>
                  <a:pt x="2684823" y="1690505"/>
                </a:cubicBezTo>
                <a:cubicBezTo>
                  <a:pt x="2764209" y="1747932"/>
                  <a:pt x="2843651" y="1806499"/>
                  <a:pt x="2924147" y="1869293"/>
                </a:cubicBezTo>
                <a:cubicBezTo>
                  <a:pt x="3004644" y="1932088"/>
                  <a:pt x="3086456" y="1999811"/>
                  <a:pt x="3167802" y="2067272"/>
                </a:cubicBezTo>
                <a:cubicBezTo>
                  <a:pt x="3249148" y="2134733"/>
                  <a:pt x="3371485" y="2239595"/>
                  <a:pt x="3412222" y="2274059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tery_flowing_collagen_009"/>
          <p:cNvSpPr/>
          <p:nvPr/>
        </p:nvSpPr>
        <p:spPr>
          <a:xfrm>
            <a:off x="9619791" y="3875537"/>
            <a:ext cx="3472729" cy="2320300"/>
          </a:xfrm>
          <a:custGeom>
            <a:avLst/>
            <a:gdLst/>
            <a:ahLst/>
            <a:cxnLst/>
            <a:rect l="0" t="0" r="r" b="b"/>
            <a:pathLst>
              <a:path w="3472729" h="2320300">
                <a:moveTo>
                  <a:pt x="0" y="0"/>
                </a:moveTo>
                <a:cubicBezTo>
                  <a:pt x="41482" y="20696"/>
                  <a:pt x="165060" y="79333"/>
                  <a:pt x="248892" y="124174"/>
                </a:cubicBezTo>
                <a:cubicBezTo>
                  <a:pt x="332725" y="169015"/>
                  <a:pt x="417301" y="216892"/>
                  <a:pt x="502995" y="269047"/>
                </a:cubicBezTo>
                <a:cubicBezTo>
                  <a:pt x="588689" y="321202"/>
                  <a:pt x="677720" y="383534"/>
                  <a:pt x="763056" y="437107"/>
                </a:cubicBezTo>
                <a:cubicBezTo>
                  <a:pt x="848391" y="490680"/>
                  <a:pt x="933413" y="544792"/>
                  <a:pt x="1015008" y="590485"/>
                </a:cubicBezTo>
                <a:cubicBezTo>
                  <a:pt x="1096604" y="636178"/>
                  <a:pt x="1173799" y="671044"/>
                  <a:pt x="1252627" y="711266"/>
                </a:cubicBezTo>
                <a:cubicBezTo>
                  <a:pt x="1331454" y="751488"/>
                  <a:pt x="1407979" y="786279"/>
                  <a:pt x="1487973" y="831816"/>
                </a:cubicBezTo>
                <a:cubicBezTo>
                  <a:pt x="1567967" y="877353"/>
                  <a:pt x="1650060" y="929684"/>
                  <a:pt x="1732591" y="984488"/>
                </a:cubicBezTo>
                <a:cubicBezTo>
                  <a:pt x="1815121" y="1039291"/>
                  <a:pt x="1899861" y="1101429"/>
                  <a:pt x="1983155" y="1160639"/>
                </a:cubicBezTo>
                <a:cubicBezTo>
                  <a:pt x="2066449" y="1219849"/>
                  <a:pt x="2149388" y="1279199"/>
                  <a:pt x="2232356" y="1339748"/>
                </a:cubicBezTo>
                <a:cubicBezTo>
                  <a:pt x="2315324" y="1400298"/>
                  <a:pt x="2397745" y="1460386"/>
                  <a:pt x="2480963" y="1523935"/>
                </a:cubicBezTo>
                <a:cubicBezTo>
                  <a:pt x="2564181" y="1587485"/>
                  <a:pt x="2648254" y="1654659"/>
                  <a:pt x="2731664" y="1721048"/>
                </a:cubicBezTo>
                <a:cubicBezTo>
                  <a:pt x="2815075" y="1787436"/>
                  <a:pt x="2898801" y="1855939"/>
                  <a:pt x="2981428" y="1922268"/>
                </a:cubicBezTo>
                <a:cubicBezTo>
                  <a:pt x="3064054" y="1988597"/>
                  <a:pt x="3145540" y="2052684"/>
                  <a:pt x="3227423" y="2119023"/>
                </a:cubicBezTo>
                <a:cubicBezTo>
                  <a:pt x="3309307" y="2185361"/>
                  <a:pt x="3431845" y="2286754"/>
                  <a:pt x="3472729" y="2320300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artery_flowing_collagen_010"/>
          <p:cNvSpPr/>
          <p:nvPr/>
        </p:nvSpPr>
        <p:spPr>
          <a:xfrm>
            <a:off x="9668706" y="3931685"/>
            <a:ext cx="3371025" cy="2217886"/>
          </a:xfrm>
          <a:custGeom>
            <a:avLst/>
            <a:gdLst/>
            <a:ahLst/>
            <a:cxnLst/>
            <a:rect l="0" t="0" r="r" b="b"/>
            <a:pathLst>
              <a:path w="3371025" h="2217886">
                <a:moveTo>
                  <a:pt x="0" y="0"/>
                </a:moveTo>
                <a:cubicBezTo>
                  <a:pt x="41135" y="22188"/>
                  <a:pt x="164148" y="86590"/>
                  <a:pt x="246810" y="133130"/>
                </a:cubicBezTo>
                <a:cubicBezTo>
                  <a:pt x="329472" y="179671"/>
                  <a:pt x="414201" y="232865"/>
                  <a:pt x="495973" y="279243"/>
                </a:cubicBezTo>
                <a:cubicBezTo>
                  <a:pt x="577746" y="325621"/>
                  <a:pt x="659145" y="372270"/>
                  <a:pt x="737444" y="411399"/>
                </a:cubicBezTo>
                <a:cubicBezTo>
                  <a:pt x="815743" y="450529"/>
                  <a:pt x="889837" y="479371"/>
                  <a:pt x="965765" y="514020"/>
                </a:cubicBezTo>
                <a:cubicBezTo>
                  <a:pt x="1041694" y="548668"/>
                  <a:pt x="1115049" y="577094"/>
                  <a:pt x="1193014" y="619288"/>
                </a:cubicBezTo>
                <a:cubicBezTo>
                  <a:pt x="1270978" y="661483"/>
                  <a:pt x="1351600" y="711833"/>
                  <a:pt x="1433553" y="767187"/>
                </a:cubicBezTo>
                <a:cubicBezTo>
                  <a:pt x="1515506" y="822540"/>
                  <a:pt x="1601455" y="890121"/>
                  <a:pt x="1684733" y="951409"/>
                </a:cubicBezTo>
                <a:cubicBezTo>
                  <a:pt x="1768011" y="1012696"/>
                  <a:pt x="1851705" y="1076392"/>
                  <a:pt x="1933222" y="1134914"/>
                </a:cubicBezTo>
                <a:cubicBezTo>
                  <a:pt x="2014739" y="1193435"/>
                  <a:pt x="2094079" y="1246915"/>
                  <a:pt x="2173833" y="1302538"/>
                </a:cubicBezTo>
                <a:cubicBezTo>
                  <a:pt x="2253587" y="1358162"/>
                  <a:pt x="2332251" y="1411692"/>
                  <a:pt x="2411747" y="1468654"/>
                </a:cubicBezTo>
                <a:cubicBezTo>
                  <a:pt x="2491243" y="1525617"/>
                  <a:pt x="2571096" y="1584643"/>
                  <a:pt x="2650809" y="1644313"/>
                </a:cubicBezTo>
                <a:cubicBezTo>
                  <a:pt x="2730522" y="1703982"/>
                  <a:pt x="2810237" y="1764695"/>
                  <a:pt x="2890027" y="1826672"/>
                </a:cubicBezTo>
                <a:cubicBezTo>
                  <a:pt x="2969816" y="1888650"/>
                  <a:pt x="3049378" y="1950975"/>
                  <a:pt x="3129544" y="2016177"/>
                </a:cubicBezTo>
                <a:cubicBezTo>
                  <a:pt x="3209710" y="2081380"/>
                  <a:pt x="3330778" y="2184268"/>
                  <a:pt x="3371025" y="2217886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artery_flowing_collagen_011"/>
          <p:cNvSpPr/>
          <p:nvPr/>
        </p:nvSpPr>
        <p:spPr>
          <a:xfrm>
            <a:off x="9582450" y="3921387"/>
            <a:ext cx="3407600" cy="2191610"/>
          </a:xfrm>
          <a:custGeom>
            <a:avLst/>
            <a:gdLst/>
            <a:ahLst/>
            <a:cxnLst/>
            <a:rect l="0" t="0" r="r" b="b"/>
            <a:pathLst>
              <a:path w="3407600" h="2191610">
                <a:moveTo>
                  <a:pt x="0" y="0"/>
                </a:moveTo>
                <a:cubicBezTo>
                  <a:pt x="41588" y="21766"/>
                  <a:pt x="167027" y="87719"/>
                  <a:pt x="249528" y="130593"/>
                </a:cubicBezTo>
                <a:cubicBezTo>
                  <a:pt x="332029" y="173467"/>
                  <a:pt x="414949" y="218689"/>
                  <a:pt x="495005" y="257243"/>
                </a:cubicBezTo>
                <a:cubicBezTo>
                  <a:pt x="575062" y="295797"/>
                  <a:pt x="652431" y="328349"/>
                  <a:pt x="729866" y="361918"/>
                </a:cubicBezTo>
                <a:cubicBezTo>
                  <a:pt x="807301" y="395487"/>
                  <a:pt x="881143" y="420267"/>
                  <a:pt x="959617" y="458657"/>
                </a:cubicBezTo>
                <a:cubicBezTo>
                  <a:pt x="1038092" y="497048"/>
                  <a:pt x="1117802" y="539593"/>
                  <a:pt x="1200712" y="592260"/>
                </a:cubicBezTo>
                <a:cubicBezTo>
                  <a:pt x="1283622" y="644928"/>
                  <a:pt x="1371740" y="712982"/>
                  <a:pt x="1457079" y="774662"/>
                </a:cubicBezTo>
                <a:cubicBezTo>
                  <a:pt x="1542418" y="836342"/>
                  <a:pt x="1629885" y="905286"/>
                  <a:pt x="1712747" y="962342"/>
                </a:cubicBezTo>
                <a:cubicBezTo>
                  <a:pt x="1795609" y="1019398"/>
                  <a:pt x="1875093" y="1068243"/>
                  <a:pt x="1954249" y="1116998"/>
                </a:cubicBezTo>
                <a:cubicBezTo>
                  <a:pt x="2033405" y="1165752"/>
                  <a:pt x="2108990" y="1205375"/>
                  <a:pt x="2187684" y="1254870"/>
                </a:cubicBezTo>
                <a:cubicBezTo>
                  <a:pt x="2266378" y="1304364"/>
                  <a:pt x="2345574" y="1356205"/>
                  <a:pt x="2426411" y="1413963"/>
                </a:cubicBezTo>
                <a:cubicBezTo>
                  <a:pt x="2507248" y="1471721"/>
                  <a:pt x="2590458" y="1537381"/>
                  <a:pt x="2672706" y="1601416"/>
                </a:cubicBezTo>
                <a:cubicBezTo>
                  <a:pt x="2754954" y="1665452"/>
                  <a:pt x="2837942" y="1732788"/>
                  <a:pt x="2919899" y="1798174"/>
                </a:cubicBezTo>
                <a:cubicBezTo>
                  <a:pt x="3001856" y="1863560"/>
                  <a:pt x="3083166" y="1928161"/>
                  <a:pt x="3164450" y="1993734"/>
                </a:cubicBezTo>
                <a:cubicBezTo>
                  <a:pt x="3245733" y="2059306"/>
                  <a:pt x="3367075" y="2158631"/>
                  <a:pt x="3407600" y="2191610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artery_flowing_collagen_012"/>
          <p:cNvSpPr/>
          <p:nvPr/>
        </p:nvSpPr>
        <p:spPr>
          <a:xfrm>
            <a:off x="9630121" y="3974044"/>
            <a:ext cx="3462860" cy="2223189"/>
          </a:xfrm>
          <a:custGeom>
            <a:avLst/>
            <a:gdLst/>
            <a:ahLst/>
            <a:cxnLst/>
            <a:rect l="0" t="0" r="r" b="b"/>
            <a:pathLst>
              <a:path w="3462860" h="2223189">
                <a:moveTo>
                  <a:pt x="0" y="0"/>
                </a:moveTo>
                <a:cubicBezTo>
                  <a:pt x="42156" y="21689"/>
                  <a:pt x="169821" y="88773"/>
                  <a:pt x="252939" y="130132"/>
                </a:cubicBezTo>
                <a:cubicBezTo>
                  <a:pt x="336056" y="171491"/>
                  <a:pt x="418837" y="213256"/>
                  <a:pt x="498704" y="248153"/>
                </a:cubicBezTo>
                <a:cubicBezTo>
                  <a:pt x="578572" y="283049"/>
                  <a:pt x="653982" y="307135"/>
                  <a:pt x="732144" y="339512"/>
                </a:cubicBezTo>
                <a:cubicBezTo>
                  <a:pt x="810307" y="371889"/>
                  <a:pt x="886668" y="400231"/>
                  <a:pt x="967677" y="442414"/>
                </a:cubicBezTo>
                <a:cubicBezTo>
                  <a:pt x="1048686" y="484598"/>
                  <a:pt x="1133368" y="537713"/>
                  <a:pt x="1218198" y="592611"/>
                </a:cubicBezTo>
                <a:cubicBezTo>
                  <a:pt x="1303027" y="647509"/>
                  <a:pt x="1391322" y="713159"/>
                  <a:pt x="1476653" y="771801"/>
                </a:cubicBezTo>
                <a:cubicBezTo>
                  <a:pt x="1561984" y="830443"/>
                  <a:pt x="1646526" y="888162"/>
                  <a:pt x="1730184" y="944464"/>
                </a:cubicBezTo>
                <a:cubicBezTo>
                  <a:pt x="1813842" y="1000766"/>
                  <a:pt x="1895675" y="1053094"/>
                  <a:pt x="1978601" y="1109612"/>
                </a:cubicBezTo>
                <a:cubicBezTo>
                  <a:pt x="2061526" y="1166131"/>
                  <a:pt x="2144778" y="1224705"/>
                  <a:pt x="2227737" y="1283574"/>
                </a:cubicBezTo>
                <a:cubicBezTo>
                  <a:pt x="2310696" y="1342442"/>
                  <a:pt x="2394152" y="1403910"/>
                  <a:pt x="2476358" y="1462822"/>
                </a:cubicBezTo>
                <a:cubicBezTo>
                  <a:pt x="2558563" y="1521735"/>
                  <a:pt x="2639548" y="1578228"/>
                  <a:pt x="2720971" y="1637049"/>
                </a:cubicBezTo>
                <a:cubicBezTo>
                  <a:pt x="2802395" y="1695870"/>
                  <a:pt x="2882925" y="1753111"/>
                  <a:pt x="2964898" y="1815748"/>
                </a:cubicBezTo>
                <a:cubicBezTo>
                  <a:pt x="3046871" y="1878385"/>
                  <a:pt x="3129816" y="1944965"/>
                  <a:pt x="3212810" y="2012872"/>
                </a:cubicBezTo>
                <a:cubicBezTo>
                  <a:pt x="3295803" y="2080779"/>
                  <a:pt x="3421185" y="2188136"/>
                  <a:pt x="3462860" y="2223189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rtery_flowing_collagen_013"/>
          <p:cNvSpPr/>
          <p:nvPr/>
        </p:nvSpPr>
        <p:spPr>
          <a:xfrm>
            <a:off x="9674019" y="4017089"/>
            <a:ext cx="3369415" cy="2143681"/>
          </a:xfrm>
          <a:custGeom>
            <a:avLst/>
            <a:gdLst/>
            <a:ahLst/>
            <a:cxnLst/>
            <a:rect l="0" t="0" r="r" b="b"/>
            <a:pathLst>
              <a:path w="3369415" h="2143681">
                <a:moveTo>
                  <a:pt x="0" y="0"/>
                </a:moveTo>
                <a:cubicBezTo>
                  <a:pt x="39494" y="17042"/>
                  <a:pt x="159519" y="71275"/>
                  <a:pt x="236962" y="102252"/>
                </a:cubicBezTo>
                <a:cubicBezTo>
                  <a:pt x="314404" y="133229"/>
                  <a:pt x="388223" y="155625"/>
                  <a:pt x="464655" y="185861"/>
                </a:cubicBezTo>
                <a:cubicBezTo>
                  <a:pt x="541086" y="216098"/>
                  <a:pt x="615824" y="242575"/>
                  <a:pt x="695552" y="283670"/>
                </a:cubicBezTo>
                <a:cubicBezTo>
                  <a:pt x="775279" y="324766"/>
                  <a:pt x="858912" y="377264"/>
                  <a:pt x="943019" y="432432"/>
                </a:cubicBezTo>
                <a:cubicBezTo>
                  <a:pt x="1027126" y="487601"/>
                  <a:pt x="1115811" y="556464"/>
                  <a:pt x="1200191" y="614682"/>
                </a:cubicBezTo>
                <a:cubicBezTo>
                  <a:pt x="1284571" y="672900"/>
                  <a:pt x="1368370" y="730856"/>
                  <a:pt x="1449298" y="781740"/>
                </a:cubicBezTo>
                <a:cubicBezTo>
                  <a:pt x="1530225" y="832625"/>
                  <a:pt x="1607347" y="874061"/>
                  <a:pt x="1685757" y="919987"/>
                </a:cubicBezTo>
                <a:cubicBezTo>
                  <a:pt x="1764167" y="965914"/>
                  <a:pt x="1840977" y="1008302"/>
                  <a:pt x="1919755" y="1057299"/>
                </a:cubicBezTo>
                <a:cubicBezTo>
                  <a:pt x="1998534" y="1106296"/>
                  <a:pt x="2078466" y="1159543"/>
                  <a:pt x="2158426" y="1213972"/>
                </a:cubicBezTo>
                <a:cubicBezTo>
                  <a:pt x="2238386" y="1268401"/>
                  <a:pt x="2319119" y="1326088"/>
                  <a:pt x="2399515" y="1383874"/>
                </a:cubicBezTo>
                <a:cubicBezTo>
                  <a:pt x="2479910" y="1441660"/>
                  <a:pt x="2560082" y="1499837"/>
                  <a:pt x="2640797" y="1560686"/>
                </a:cubicBezTo>
                <a:cubicBezTo>
                  <a:pt x="2721512" y="1621536"/>
                  <a:pt x="2802641" y="1684652"/>
                  <a:pt x="2883806" y="1748974"/>
                </a:cubicBezTo>
                <a:cubicBezTo>
                  <a:pt x="2964970" y="1813295"/>
                  <a:pt x="3046848" y="1880833"/>
                  <a:pt x="3127783" y="1946617"/>
                </a:cubicBezTo>
                <a:cubicBezTo>
                  <a:pt x="3208718" y="2012402"/>
                  <a:pt x="3329143" y="2110837"/>
                  <a:pt x="3369415" y="2143681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tery_flowing_collagen_014"/>
          <p:cNvSpPr/>
          <p:nvPr/>
        </p:nvSpPr>
        <p:spPr>
          <a:xfrm>
            <a:off x="9708275" y="4035134"/>
            <a:ext cx="3282367" cy="2079645"/>
          </a:xfrm>
          <a:custGeom>
            <a:avLst/>
            <a:gdLst/>
            <a:ahLst/>
            <a:cxnLst/>
            <a:rect l="0" t="0" r="r" b="b"/>
            <a:pathLst>
              <a:path w="3282367" h="2079645">
                <a:moveTo>
                  <a:pt x="0" y="0"/>
                </a:moveTo>
                <a:cubicBezTo>
                  <a:pt x="37060" y="12935"/>
                  <a:pt x="147415" y="48651"/>
                  <a:pt x="222362" y="77613"/>
                </a:cubicBezTo>
                <a:cubicBezTo>
                  <a:pt x="297309" y="106575"/>
                  <a:pt x="371232" y="133558"/>
                  <a:pt x="449681" y="173769"/>
                </a:cubicBezTo>
                <a:cubicBezTo>
                  <a:pt x="528130" y="213980"/>
                  <a:pt x="610551" y="265654"/>
                  <a:pt x="693059" y="318881"/>
                </a:cubicBezTo>
                <a:cubicBezTo>
                  <a:pt x="775566" y="372108"/>
                  <a:pt x="862674" y="438950"/>
                  <a:pt x="944727" y="493132"/>
                </a:cubicBezTo>
                <a:cubicBezTo>
                  <a:pt x="1026780" y="547315"/>
                  <a:pt x="1107899" y="600272"/>
                  <a:pt x="1185376" y="643975"/>
                </a:cubicBezTo>
                <a:cubicBezTo>
                  <a:pt x="1262853" y="687679"/>
                  <a:pt x="1335201" y="718317"/>
                  <a:pt x="1409587" y="755355"/>
                </a:cubicBezTo>
                <a:cubicBezTo>
                  <a:pt x="1483973" y="792393"/>
                  <a:pt x="1555776" y="823024"/>
                  <a:pt x="1631690" y="866202"/>
                </a:cubicBezTo>
                <a:cubicBezTo>
                  <a:pt x="1707604" y="909379"/>
                  <a:pt x="1785871" y="959982"/>
                  <a:pt x="1865072" y="1014420"/>
                </a:cubicBezTo>
                <a:cubicBezTo>
                  <a:pt x="1944272" y="1068858"/>
                  <a:pt x="2026587" y="1133159"/>
                  <a:pt x="2106895" y="1192830"/>
                </a:cubicBezTo>
                <a:cubicBezTo>
                  <a:pt x="2187203" y="1252500"/>
                  <a:pt x="2267768" y="1314026"/>
                  <a:pt x="2346921" y="1372442"/>
                </a:cubicBezTo>
                <a:cubicBezTo>
                  <a:pt x="2426074" y="1430858"/>
                  <a:pt x="2503825" y="1486273"/>
                  <a:pt x="2581814" y="1543325"/>
                </a:cubicBezTo>
                <a:cubicBezTo>
                  <a:pt x="2659803" y="1600376"/>
                  <a:pt x="2737108" y="1656421"/>
                  <a:pt x="2814856" y="1714750"/>
                </a:cubicBezTo>
                <a:cubicBezTo>
                  <a:pt x="2892605" y="1773080"/>
                  <a:pt x="2970385" y="1832485"/>
                  <a:pt x="3048304" y="1893301"/>
                </a:cubicBezTo>
                <a:cubicBezTo>
                  <a:pt x="3126222" y="1954116"/>
                  <a:pt x="3243356" y="2048588"/>
                  <a:pt x="3282367" y="2079645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tery_flowing_collagen_015"/>
          <p:cNvSpPr/>
          <p:nvPr/>
        </p:nvSpPr>
        <p:spPr>
          <a:xfrm>
            <a:off x="9613250" y="4001534"/>
            <a:ext cx="3481953" cy="2202431"/>
          </a:xfrm>
          <a:custGeom>
            <a:avLst/>
            <a:gdLst/>
            <a:ahLst/>
            <a:cxnLst/>
            <a:rect l="0" t="0" r="r" b="b"/>
            <a:pathLst>
              <a:path w="3481953" h="2202431">
                <a:moveTo>
                  <a:pt x="0" y="0"/>
                </a:moveTo>
                <a:cubicBezTo>
                  <a:pt x="39483" y="13730"/>
                  <a:pt x="157123" y="51757"/>
                  <a:pt x="236900" y="82377"/>
                </a:cubicBezTo>
                <a:cubicBezTo>
                  <a:pt x="316677" y="112998"/>
                  <a:pt x="395257" y="141299"/>
                  <a:pt x="478662" y="183724"/>
                </a:cubicBezTo>
                <a:cubicBezTo>
                  <a:pt x="562066" y="226148"/>
                  <a:pt x="650053" y="281768"/>
                  <a:pt x="737326" y="336925"/>
                </a:cubicBezTo>
                <a:cubicBezTo>
                  <a:pt x="824599" y="392083"/>
                  <a:pt x="915835" y="459257"/>
                  <a:pt x="1002299" y="514670"/>
                </a:cubicBezTo>
                <a:cubicBezTo>
                  <a:pt x="1088763" y="570084"/>
                  <a:pt x="1173266" y="621551"/>
                  <a:pt x="1256111" y="669407"/>
                </a:cubicBezTo>
                <a:cubicBezTo>
                  <a:pt x="1338957" y="717263"/>
                  <a:pt x="1418135" y="756181"/>
                  <a:pt x="1499373" y="801808"/>
                </a:cubicBezTo>
                <a:cubicBezTo>
                  <a:pt x="1580610" y="847435"/>
                  <a:pt x="1661674" y="893618"/>
                  <a:pt x="1743539" y="943171"/>
                </a:cubicBezTo>
                <a:cubicBezTo>
                  <a:pt x="1825404" y="992724"/>
                  <a:pt x="1908561" y="1047017"/>
                  <a:pt x="1990560" y="1099129"/>
                </a:cubicBezTo>
                <a:cubicBezTo>
                  <a:pt x="2072560" y="1151241"/>
                  <a:pt x="2153882" y="1202530"/>
                  <a:pt x="2235537" y="1255844"/>
                </a:cubicBezTo>
                <a:cubicBezTo>
                  <a:pt x="2317191" y="1309157"/>
                  <a:pt x="2397942" y="1360900"/>
                  <a:pt x="2480490" y="1419009"/>
                </a:cubicBezTo>
                <a:cubicBezTo>
                  <a:pt x="2563037" y="1477117"/>
                  <a:pt x="2646869" y="1540014"/>
                  <a:pt x="2730821" y="1604494"/>
                </a:cubicBezTo>
                <a:cubicBezTo>
                  <a:pt x="2814774" y="1668975"/>
                  <a:pt x="2900247" y="1739093"/>
                  <a:pt x="2984207" y="1805892"/>
                </a:cubicBezTo>
                <a:cubicBezTo>
                  <a:pt x="3068167" y="1872690"/>
                  <a:pt x="3151623" y="1939196"/>
                  <a:pt x="3234581" y="2005286"/>
                </a:cubicBezTo>
                <a:cubicBezTo>
                  <a:pt x="3317538" y="2071376"/>
                  <a:pt x="3440724" y="2169574"/>
                  <a:pt x="3481953" y="2202431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tery_flowing_collagen_016"/>
          <p:cNvSpPr/>
          <p:nvPr/>
        </p:nvSpPr>
        <p:spPr>
          <a:xfrm>
            <a:off x="9643116" y="4007913"/>
            <a:ext cx="3399522" cy="2150453"/>
          </a:xfrm>
          <a:custGeom>
            <a:avLst/>
            <a:gdLst/>
            <a:ahLst/>
            <a:cxnLst/>
            <a:rect l="0" t="0" r="r" b="b"/>
            <a:pathLst>
              <a:path w="3399522" h="2150453">
                <a:moveTo>
                  <a:pt x="0" y="0"/>
                </a:moveTo>
                <a:cubicBezTo>
                  <a:pt x="39598" y="16333"/>
                  <a:pt x="155720" y="57193"/>
                  <a:pt x="237586" y="97998"/>
                </a:cubicBezTo>
                <a:cubicBezTo>
                  <a:pt x="319451" y="138803"/>
                  <a:pt x="405610" y="191881"/>
                  <a:pt x="491194" y="244828"/>
                </a:cubicBezTo>
                <a:cubicBezTo>
                  <a:pt x="576777" y="297774"/>
                  <a:pt x="666751" y="363741"/>
                  <a:pt x="751087" y="415677"/>
                </a:cubicBezTo>
                <a:cubicBezTo>
                  <a:pt x="835423" y="467613"/>
                  <a:pt x="917827" y="515741"/>
                  <a:pt x="997210" y="556443"/>
                </a:cubicBezTo>
                <a:cubicBezTo>
                  <a:pt x="1076593" y="597145"/>
                  <a:pt x="1150611" y="624327"/>
                  <a:pt x="1227384" y="659890"/>
                </a:cubicBezTo>
                <a:cubicBezTo>
                  <a:pt x="1304157" y="695453"/>
                  <a:pt x="1379306" y="727384"/>
                  <a:pt x="1457849" y="769821"/>
                </a:cubicBezTo>
                <a:cubicBezTo>
                  <a:pt x="1536391" y="812258"/>
                  <a:pt x="1617539" y="862852"/>
                  <a:pt x="1698639" y="914513"/>
                </a:cubicBezTo>
                <a:cubicBezTo>
                  <a:pt x="1779738" y="966174"/>
                  <a:pt x="1862721" y="1024202"/>
                  <a:pt x="1944445" y="1079786"/>
                </a:cubicBezTo>
                <a:cubicBezTo>
                  <a:pt x="2026169" y="1135371"/>
                  <a:pt x="2107502" y="1190947"/>
                  <a:pt x="2188982" y="1248019"/>
                </a:cubicBezTo>
                <a:cubicBezTo>
                  <a:pt x="2270462" y="1305090"/>
                  <a:pt x="2351800" y="1362839"/>
                  <a:pt x="2433323" y="1422216"/>
                </a:cubicBezTo>
                <a:cubicBezTo>
                  <a:pt x="2514846" y="1481592"/>
                  <a:pt x="2597004" y="1543926"/>
                  <a:pt x="2678122" y="1604277"/>
                </a:cubicBezTo>
                <a:cubicBezTo>
                  <a:pt x="2759240" y="1664627"/>
                  <a:pt x="2839888" y="1724723"/>
                  <a:pt x="2920030" y="1784319"/>
                </a:cubicBezTo>
                <a:cubicBezTo>
                  <a:pt x="3000172" y="1843915"/>
                  <a:pt x="3079056" y="1900831"/>
                  <a:pt x="3158972" y="1961853"/>
                </a:cubicBezTo>
                <a:cubicBezTo>
                  <a:pt x="3238887" y="2022876"/>
                  <a:pt x="3359430" y="2119020"/>
                  <a:pt x="3399522" y="2150453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rtery_flowing_collagen_017"/>
          <p:cNvSpPr/>
          <p:nvPr/>
        </p:nvSpPr>
        <p:spPr>
          <a:xfrm>
            <a:off x="9681968" y="4037838"/>
            <a:ext cx="3310814" cy="2083401"/>
          </a:xfrm>
          <a:custGeom>
            <a:avLst/>
            <a:gdLst/>
            <a:ahLst/>
            <a:cxnLst/>
            <a:rect l="0" t="0" r="r" b="b"/>
            <a:pathLst>
              <a:path w="3310814" h="2083401">
                <a:moveTo>
                  <a:pt x="0" y="0"/>
                </a:moveTo>
                <a:cubicBezTo>
                  <a:pt x="41288" y="23141"/>
                  <a:pt x="164303" y="89175"/>
                  <a:pt x="247727" y="138848"/>
                </a:cubicBezTo>
                <a:cubicBezTo>
                  <a:pt x="331152" y="188522"/>
                  <a:pt x="418833" y="250704"/>
                  <a:pt x="500547" y="298039"/>
                </a:cubicBezTo>
                <a:cubicBezTo>
                  <a:pt x="582261" y="345374"/>
                  <a:pt x="661840" y="388359"/>
                  <a:pt x="738013" y="422857"/>
                </a:cubicBezTo>
                <a:cubicBezTo>
                  <a:pt x="814185" y="457356"/>
                  <a:pt x="884121" y="476041"/>
                  <a:pt x="957582" y="505031"/>
                </a:cubicBezTo>
                <a:cubicBezTo>
                  <a:pt x="1031042" y="534020"/>
                  <a:pt x="1102285" y="557654"/>
                  <a:pt x="1178776" y="596795"/>
                </a:cubicBezTo>
                <a:cubicBezTo>
                  <a:pt x="1255267" y="635937"/>
                  <a:pt x="1335690" y="686691"/>
                  <a:pt x="1416528" y="739881"/>
                </a:cubicBezTo>
                <a:cubicBezTo>
                  <a:pt x="1497366" y="793072"/>
                  <a:pt x="1582283" y="858704"/>
                  <a:pt x="1663804" y="915938"/>
                </a:cubicBezTo>
                <a:cubicBezTo>
                  <a:pt x="1745324" y="973173"/>
                  <a:pt x="1826483" y="1030594"/>
                  <a:pt x="1905652" y="1083290"/>
                </a:cubicBezTo>
                <a:cubicBezTo>
                  <a:pt x="1984821" y="1135985"/>
                  <a:pt x="2061427" y="1182482"/>
                  <a:pt x="2138818" y="1232111"/>
                </a:cubicBezTo>
                <a:cubicBezTo>
                  <a:pt x="2216208" y="1281741"/>
                  <a:pt x="2292580" y="1329409"/>
                  <a:pt x="2369993" y="1381065"/>
                </a:cubicBezTo>
                <a:cubicBezTo>
                  <a:pt x="2447407" y="1432720"/>
                  <a:pt x="2525285" y="1486674"/>
                  <a:pt x="2603298" y="1542045"/>
                </a:cubicBezTo>
                <a:cubicBezTo>
                  <a:pt x="2681311" y="1597416"/>
                  <a:pt x="2759626" y="1654645"/>
                  <a:pt x="2838073" y="1713290"/>
                </a:cubicBezTo>
                <a:cubicBezTo>
                  <a:pt x="2916520" y="1771935"/>
                  <a:pt x="2995190" y="1832231"/>
                  <a:pt x="3073981" y="1893916"/>
                </a:cubicBezTo>
                <a:cubicBezTo>
                  <a:pt x="3152771" y="1955601"/>
                  <a:pt x="3271342" y="2051821"/>
                  <a:pt x="3310814" y="2083401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tery_flowing_collagen_018"/>
          <p:cNvSpPr/>
          <p:nvPr/>
        </p:nvSpPr>
        <p:spPr>
          <a:xfrm>
            <a:off x="9732057" y="4097309"/>
            <a:ext cx="3363098" cy="2106512"/>
          </a:xfrm>
          <a:custGeom>
            <a:avLst/>
            <a:gdLst/>
            <a:ahLst/>
            <a:cxnLst/>
            <a:rect l="0" t="0" r="r" b="b"/>
            <a:pathLst>
              <a:path w="3363098" h="2106512">
                <a:moveTo>
                  <a:pt x="0" y="0"/>
                </a:moveTo>
                <a:cubicBezTo>
                  <a:pt x="42786" y="25540"/>
                  <a:pt x="172394" y="104291"/>
                  <a:pt x="256716" y="153238"/>
                </a:cubicBezTo>
                <a:cubicBezTo>
                  <a:pt x="341037" y="202184"/>
                  <a:pt x="425759" y="253572"/>
                  <a:pt x="505930" y="293681"/>
                </a:cubicBezTo>
                <a:cubicBezTo>
                  <a:pt x="586101" y="333791"/>
                  <a:pt x="661424" y="362130"/>
                  <a:pt x="737742" y="393896"/>
                </a:cubicBezTo>
                <a:cubicBezTo>
                  <a:pt x="814061" y="425663"/>
                  <a:pt x="887089" y="449415"/>
                  <a:pt x="963842" y="484280"/>
                </a:cubicBezTo>
                <a:cubicBezTo>
                  <a:pt x="1040595" y="519146"/>
                  <a:pt x="1119025" y="559439"/>
                  <a:pt x="1198258" y="603086"/>
                </a:cubicBezTo>
                <a:cubicBezTo>
                  <a:pt x="1277491" y="646734"/>
                  <a:pt x="1359091" y="697923"/>
                  <a:pt x="1439240" y="746167"/>
                </a:cubicBezTo>
                <a:cubicBezTo>
                  <a:pt x="1519389" y="794412"/>
                  <a:pt x="1599148" y="842619"/>
                  <a:pt x="1679152" y="892554"/>
                </a:cubicBezTo>
                <a:cubicBezTo>
                  <a:pt x="1759155" y="942488"/>
                  <a:pt x="1838459" y="991446"/>
                  <a:pt x="1919263" y="1045775"/>
                </a:cubicBezTo>
                <a:cubicBezTo>
                  <a:pt x="2000066" y="1100103"/>
                  <a:pt x="2082244" y="1159389"/>
                  <a:pt x="2163972" y="1218524"/>
                </a:cubicBezTo>
                <a:cubicBezTo>
                  <a:pt x="2245700" y="1277658"/>
                  <a:pt x="2328663" y="1341498"/>
                  <a:pt x="2409630" y="1400584"/>
                </a:cubicBezTo>
                <a:cubicBezTo>
                  <a:pt x="2490597" y="1459669"/>
                  <a:pt x="2570436" y="1516612"/>
                  <a:pt x="2649776" y="1573037"/>
                </a:cubicBezTo>
                <a:cubicBezTo>
                  <a:pt x="2729115" y="1629463"/>
                  <a:pt x="2806791" y="1682024"/>
                  <a:pt x="2885669" y="1739137"/>
                </a:cubicBezTo>
                <a:cubicBezTo>
                  <a:pt x="2964547" y="1796249"/>
                  <a:pt x="3043474" y="1854483"/>
                  <a:pt x="3123046" y="1915712"/>
                </a:cubicBezTo>
                <a:cubicBezTo>
                  <a:pt x="3202617" y="1976941"/>
                  <a:pt x="3323090" y="2074712"/>
                  <a:pt x="3363098" y="2106512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tery_flowing_collagen_019"/>
          <p:cNvSpPr/>
          <p:nvPr/>
        </p:nvSpPr>
        <p:spPr>
          <a:xfrm>
            <a:off x="9651864" y="4102014"/>
            <a:ext cx="3393577" cy="2064827"/>
          </a:xfrm>
          <a:custGeom>
            <a:avLst/>
            <a:gdLst/>
            <a:ahLst/>
            <a:cxnLst/>
            <a:rect l="0" t="0" r="r" b="b"/>
            <a:pathLst>
              <a:path w="3393577" h="2064827">
                <a:moveTo>
                  <a:pt x="0" y="0"/>
                </a:moveTo>
                <a:cubicBezTo>
                  <a:pt x="43001" y="24507"/>
                  <a:pt x="174881" y="104469"/>
                  <a:pt x="258004" y="147042"/>
                </a:cubicBezTo>
                <a:cubicBezTo>
                  <a:pt x="341128" y="189615"/>
                  <a:pt x="421226" y="225609"/>
                  <a:pt x="498740" y="255436"/>
                </a:cubicBezTo>
                <a:cubicBezTo>
                  <a:pt x="576255" y="285262"/>
                  <a:pt x="647442" y="299238"/>
                  <a:pt x="723091" y="326002"/>
                </a:cubicBezTo>
                <a:cubicBezTo>
                  <a:pt x="798741" y="352765"/>
                  <a:pt x="873338" y="377410"/>
                  <a:pt x="952639" y="416016"/>
                </a:cubicBezTo>
                <a:cubicBezTo>
                  <a:pt x="1031939" y="454623"/>
                  <a:pt x="1115751" y="506384"/>
                  <a:pt x="1198894" y="557639"/>
                </a:cubicBezTo>
                <a:cubicBezTo>
                  <a:pt x="1282037" y="608894"/>
                  <a:pt x="1368182" y="669570"/>
                  <a:pt x="1451496" y="723545"/>
                </a:cubicBezTo>
                <a:cubicBezTo>
                  <a:pt x="1534810" y="777521"/>
                  <a:pt x="1617029" y="829656"/>
                  <a:pt x="1698779" y="881491"/>
                </a:cubicBezTo>
                <a:cubicBezTo>
                  <a:pt x="1780528" y="933326"/>
                  <a:pt x="1860951" y="982545"/>
                  <a:pt x="1941994" y="1034557"/>
                </a:cubicBezTo>
                <a:cubicBezTo>
                  <a:pt x="2023038" y="1086570"/>
                  <a:pt x="2104410" y="1140615"/>
                  <a:pt x="2185038" y="1193566"/>
                </a:cubicBezTo>
                <a:cubicBezTo>
                  <a:pt x="2265665" y="1246517"/>
                  <a:pt x="2346005" y="1299739"/>
                  <a:pt x="2425761" y="1352263"/>
                </a:cubicBezTo>
                <a:cubicBezTo>
                  <a:pt x="2505516" y="1404788"/>
                  <a:pt x="2583906" y="1454370"/>
                  <a:pt x="2663573" y="1508712"/>
                </a:cubicBezTo>
                <a:cubicBezTo>
                  <a:pt x="2743240" y="1563054"/>
                  <a:pt x="2822917" y="1618397"/>
                  <a:pt x="2903763" y="1678317"/>
                </a:cubicBezTo>
                <a:cubicBezTo>
                  <a:pt x="2984608" y="1738237"/>
                  <a:pt x="3067011" y="1803813"/>
                  <a:pt x="3148647" y="1868232"/>
                </a:cubicBezTo>
                <a:cubicBezTo>
                  <a:pt x="3230282" y="1932650"/>
                  <a:pt x="3352756" y="2032061"/>
                  <a:pt x="3393577" y="2064827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tery_flowing_collagen_020"/>
          <p:cNvSpPr/>
          <p:nvPr/>
        </p:nvSpPr>
        <p:spPr>
          <a:xfrm>
            <a:off x="9708260" y="4177693"/>
            <a:ext cx="3287463" cy="1952422"/>
          </a:xfrm>
          <a:custGeom>
            <a:avLst/>
            <a:gdLst/>
            <a:ahLst/>
            <a:cxnLst/>
            <a:rect l="0" t="0" r="r" b="b"/>
            <a:pathLst>
              <a:path w="3287463" h="1952422">
                <a:moveTo>
                  <a:pt x="0" y="0"/>
                </a:moveTo>
                <a:cubicBezTo>
                  <a:pt x="38943" y="16252"/>
                  <a:pt x="158725" y="71890"/>
                  <a:pt x="233659" y="97511"/>
                </a:cubicBezTo>
                <a:cubicBezTo>
                  <a:pt x="308593" y="123132"/>
                  <a:pt x="376614" y="131462"/>
                  <a:pt x="449602" y="153724"/>
                </a:cubicBezTo>
                <a:cubicBezTo>
                  <a:pt x="522589" y="175985"/>
                  <a:pt x="594021" y="194704"/>
                  <a:pt x="671583" y="231080"/>
                </a:cubicBezTo>
                <a:cubicBezTo>
                  <a:pt x="749145" y="267456"/>
                  <a:pt x="832300" y="319681"/>
                  <a:pt x="914975" y="371982"/>
                </a:cubicBezTo>
                <a:cubicBezTo>
                  <a:pt x="997649" y="424282"/>
                  <a:pt x="1085162" y="490945"/>
                  <a:pt x="1167632" y="544883"/>
                </a:cubicBezTo>
                <a:cubicBezTo>
                  <a:pt x="1250102" y="598820"/>
                  <a:pt x="1331162" y="650170"/>
                  <a:pt x="1409794" y="695609"/>
                </a:cubicBezTo>
                <a:cubicBezTo>
                  <a:pt x="1488427" y="741049"/>
                  <a:pt x="1563044" y="776394"/>
                  <a:pt x="1639428" y="817522"/>
                </a:cubicBezTo>
                <a:cubicBezTo>
                  <a:pt x="1715812" y="858650"/>
                  <a:pt x="1790984" y="897263"/>
                  <a:pt x="1868099" y="942377"/>
                </a:cubicBezTo>
                <a:cubicBezTo>
                  <a:pt x="1945214" y="987492"/>
                  <a:pt x="2023622" y="1037188"/>
                  <a:pt x="2102119" y="1088210"/>
                </a:cubicBezTo>
                <a:cubicBezTo>
                  <a:pt x="2180616" y="1139233"/>
                  <a:pt x="2259963" y="1193677"/>
                  <a:pt x="2339081" y="1248513"/>
                </a:cubicBezTo>
                <a:cubicBezTo>
                  <a:pt x="2418200" y="1303349"/>
                  <a:pt x="2497456" y="1359597"/>
                  <a:pt x="2576829" y="1417225"/>
                </a:cubicBezTo>
                <a:cubicBezTo>
                  <a:pt x="2656201" y="1474853"/>
                  <a:pt x="2736010" y="1534797"/>
                  <a:pt x="2815316" y="1594282"/>
                </a:cubicBezTo>
                <a:cubicBezTo>
                  <a:pt x="2894623" y="1653768"/>
                  <a:pt x="2973975" y="1714448"/>
                  <a:pt x="3052666" y="1774138"/>
                </a:cubicBezTo>
                <a:cubicBezTo>
                  <a:pt x="3131358" y="1833828"/>
                  <a:pt x="3248331" y="1922708"/>
                  <a:pt x="3287463" y="1952422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artery_flowing_collagen_021"/>
          <p:cNvSpPr/>
          <p:nvPr/>
        </p:nvSpPr>
        <p:spPr>
          <a:xfrm>
            <a:off x="9749940" y="4215268"/>
            <a:ext cx="3346779" cy="1993294"/>
          </a:xfrm>
          <a:custGeom>
            <a:avLst/>
            <a:gdLst/>
            <a:ahLst/>
            <a:cxnLst/>
            <a:rect l="0" t="0" r="r" b="b"/>
            <a:pathLst>
              <a:path w="3346779" h="1993294">
                <a:moveTo>
                  <a:pt x="0" y="0"/>
                </a:moveTo>
                <a:cubicBezTo>
                  <a:pt x="37447" y="10693"/>
                  <a:pt x="150026" y="42515"/>
                  <a:pt x="224682" y="64156"/>
                </a:cubicBezTo>
                <a:cubicBezTo>
                  <a:pt x="299339" y="85797"/>
                  <a:pt x="370926" y="100064"/>
                  <a:pt x="447941" y="129844"/>
                </a:cubicBezTo>
                <a:cubicBezTo>
                  <a:pt x="524957" y="159625"/>
                  <a:pt x="605350" y="199189"/>
                  <a:pt x="686775" y="242838"/>
                </a:cubicBezTo>
                <a:cubicBezTo>
                  <a:pt x="768201" y="286486"/>
                  <a:pt x="853766" y="342374"/>
                  <a:pt x="936495" y="391735"/>
                </a:cubicBezTo>
                <a:cubicBezTo>
                  <a:pt x="1019224" y="441097"/>
                  <a:pt x="1101680" y="490898"/>
                  <a:pt x="1183149" y="539007"/>
                </a:cubicBezTo>
                <a:cubicBezTo>
                  <a:pt x="1264618" y="587117"/>
                  <a:pt x="1344291" y="631359"/>
                  <a:pt x="1425310" y="680391"/>
                </a:cubicBezTo>
                <a:cubicBezTo>
                  <a:pt x="1506328" y="729423"/>
                  <a:pt x="1587964" y="781245"/>
                  <a:pt x="1669258" y="833200"/>
                </a:cubicBezTo>
                <a:cubicBezTo>
                  <a:pt x="1750552" y="885154"/>
                  <a:pt x="1832894" y="941212"/>
                  <a:pt x="1913074" y="992120"/>
                </a:cubicBezTo>
                <a:cubicBezTo>
                  <a:pt x="1993253" y="1043027"/>
                  <a:pt x="2071939" y="1090798"/>
                  <a:pt x="2150336" y="1138644"/>
                </a:cubicBezTo>
                <a:cubicBezTo>
                  <a:pt x="2228732" y="1186490"/>
                  <a:pt x="2305078" y="1229404"/>
                  <a:pt x="2383453" y="1279194"/>
                </a:cubicBezTo>
                <a:cubicBezTo>
                  <a:pt x="2461828" y="1328985"/>
                  <a:pt x="2540648" y="1380991"/>
                  <a:pt x="2620585" y="1437388"/>
                </a:cubicBezTo>
                <a:cubicBezTo>
                  <a:pt x="2700522" y="1493785"/>
                  <a:pt x="2782195" y="1556296"/>
                  <a:pt x="2863075" y="1617575"/>
                </a:cubicBezTo>
                <a:cubicBezTo>
                  <a:pt x="2943955" y="1678855"/>
                  <a:pt x="3025247" y="1742445"/>
                  <a:pt x="3105864" y="1805064"/>
                </a:cubicBezTo>
                <a:cubicBezTo>
                  <a:pt x="3186482" y="1867684"/>
                  <a:pt x="3306627" y="1961922"/>
                  <a:pt x="3346779" y="1993294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artery_flowing_collagen_022"/>
          <p:cNvSpPr/>
          <p:nvPr/>
        </p:nvSpPr>
        <p:spPr>
          <a:xfrm>
            <a:off x="9772801" y="4203830"/>
            <a:ext cx="3273988" cy="1967087"/>
          </a:xfrm>
          <a:custGeom>
            <a:avLst/>
            <a:gdLst/>
            <a:ahLst/>
            <a:cxnLst/>
            <a:rect l="0" t="0" r="r" b="b"/>
            <a:pathLst>
              <a:path w="3273988" h="1967087">
                <a:moveTo>
                  <a:pt x="0" y="0"/>
                </a:moveTo>
                <a:cubicBezTo>
                  <a:pt x="35905" y="8869"/>
                  <a:pt x="140547" y="26456"/>
                  <a:pt x="215429" y="53215"/>
                </a:cubicBezTo>
                <a:cubicBezTo>
                  <a:pt x="290311" y="79974"/>
                  <a:pt x="368748" y="116792"/>
                  <a:pt x="449290" y="160555"/>
                </a:cubicBezTo>
                <a:cubicBezTo>
                  <a:pt x="529832" y="204317"/>
                  <a:pt x="616144" y="264525"/>
                  <a:pt x="698681" y="315791"/>
                </a:cubicBezTo>
                <a:cubicBezTo>
                  <a:pt x="781218" y="367057"/>
                  <a:pt x="864586" y="421829"/>
                  <a:pt x="944513" y="468152"/>
                </a:cubicBezTo>
                <a:cubicBezTo>
                  <a:pt x="1024439" y="514476"/>
                  <a:pt x="1101106" y="553047"/>
                  <a:pt x="1178240" y="593731"/>
                </a:cubicBezTo>
                <a:cubicBezTo>
                  <a:pt x="1255374" y="634415"/>
                  <a:pt x="1330661" y="670972"/>
                  <a:pt x="1407315" y="712258"/>
                </a:cubicBezTo>
                <a:cubicBezTo>
                  <a:pt x="1483969" y="753544"/>
                  <a:pt x="1561251" y="797523"/>
                  <a:pt x="1638167" y="841448"/>
                </a:cubicBezTo>
                <a:cubicBezTo>
                  <a:pt x="1715082" y="885372"/>
                  <a:pt x="1792065" y="930452"/>
                  <a:pt x="1868810" y="975804"/>
                </a:cubicBezTo>
                <a:cubicBezTo>
                  <a:pt x="1945555" y="1021156"/>
                  <a:pt x="2021365" y="1064761"/>
                  <a:pt x="2098638" y="1113559"/>
                </a:cubicBezTo>
                <a:cubicBezTo>
                  <a:pt x="2175911" y="1162358"/>
                  <a:pt x="2253660" y="1213425"/>
                  <a:pt x="2332449" y="1268594"/>
                </a:cubicBezTo>
                <a:cubicBezTo>
                  <a:pt x="2411239" y="1323764"/>
                  <a:pt x="2491885" y="1385330"/>
                  <a:pt x="2571375" y="1444578"/>
                </a:cubicBezTo>
                <a:cubicBezTo>
                  <a:pt x="2650864" y="1503826"/>
                  <a:pt x="2730867" y="1565667"/>
                  <a:pt x="2809386" y="1624081"/>
                </a:cubicBezTo>
                <a:cubicBezTo>
                  <a:pt x="2887905" y="1682495"/>
                  <a:pt x="2965054" y="1737892"/>
                  <a:pt x="3042488" y="1795060"/>
                </a:cubicBezTo>
                <a:cubicBezTo>
                  <a:pt x="3119922" y="1852228"/>
                  <a:pt x="3235405" y="1938415"/>
                  <a:pt x="3273988" y="1967087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artery_flowing_collagen_023"/>
          <p:cNvSpPr/>
          <p:nvPr/>
        </p:nvSpPr>
        <p:spPr>
          <a:xfrm>
            <a:off x="9674084" y="4159836"/>
            <a:ext cx="3320948" cy="1968194"/>
          </a:xfrm>
          <a:custGeom>
            <a:avLst/>
            <a:gdLst/>
            <a:ahLst/>
            <a:cxnLst/>
            <a:rect l="0" t="0" r="r" b="b"/>
            <a:pathLst>
              <a:path w="3320948" h="1968194">
                <a:moveTo>
                  <a:pt x="0" y="0"/>
                </a:moveTo>
                <a:cubicBezTo>
                  <a:pt x="37369" y="11114"/>
                  <a:pt x="145282" y="32408"/>
                  <a:pt x="224211" y="66683"/>
                </a:cubicBezTo>
                <a:cubicBezTo>
                  <a:pt x="303141" y="100957"/>
                  <a:pt x="389143" y="154659"/>
                  <a:pt x="473576" y="205647"/>
                </a:cubicBezTo>
                <a:cubicBezTo>
                  <a:pt x="558009" y="256635"/>
                  <a:pt x="647787" y="323151"/>
                  <a:pt x="730808" y="372611"/>
                </a:cubicBezTo>
                <a:cubicBezTo>
                  <a:pt x="813829" y="422072"/>
                  <a:pt x="894089" y="465478"/>
                  <a:pt x="971701" y="502413"/>
                </a:cubicBezTo>
                <a:cubicBezTo>
                  <a:pt x="1049313" y="539348"/>
                  <a:pt x="1121304" y="562027"/>
                  <a:pt x="1196482" y="594223"/>
                </a:cubicBezTo>
                <a:cubicBezTo>
                  <a:pt x="1271660" y="626419"/>
                  <a:pt x="1345678" y="656219"/>
                  <a:pt x="1422769" y="695588"/>
                </a:cubicBezTo>
                <a:cubicBezTo>
                  <a:pt x="1499860" y="734956"/>
                  <a:pt x="1579536" y="782376"/>
                  <a:pt x="1659029" y="830434"/>
                </a:cubicBezTo>
                <a:cubicBezTo>
                  <a:pt x="1738522" y="878492"/>
                  <a:pt x="1819622" y="932080"/>
                  <a:pt x="1899728" y="983936"/>
                </a:cubicBezTo>
                <a:cubicBezTo>
                  <a:pt x="1979835" y="1035793"/>
                  <a:pt x="2059804" y="1088319"/>
                  <a:pt x="2139668" y="1141573"/>
                </a:cubicBezTo>
                <a:cubicBezTo>
                  <a:pt x="2219532" y="1194827"/>
                  <a:pt x="2299445" y="1249284"/>
                  <a:pt x="2378912" y="1303459"/>
                </a:cubicBezTo>
                <a:cubicBezTo>
                  <a:pt x="2458378" y="1357634"/>
                  <a:pt x="2537854" y="1412910"/>
                  <a:pt x="2616466" y="1466624"/>
                </a:cubicBezTo>
                <a:cubicBezTo>
                  <a:pt x="2695077" y="1520338"/>
                  <a:pt x="2772641" y="1572011"/>
                  <a:pt x="2850581" y="1625743"/>
                </a:cubicBezTo>
                <a:cubicBezTo>
                  <a:pt x="2928521" y="1679474"/>
                  <a:pt x="3005710" y="1731940"/>
                  <a:pt x="3084105" y="1789015"/>
                </a:cubicBezTo>
                <a:cubicBezTo>
                  <a:pt x="3162499" y="1846090"/>
                  <a:pt x="3281474" y="1938331"/>
                  <a:pt x="3320948" y="1968194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artery_flowing_collagen_024"/>
          <p:cNvSpPr/>
          <p:nvPr/>
        </p:nvSpPr>
        <p:spPr>
          <a:xfrm>
            <a:off x="9701968" y="4161294"/>
            <a:ext cx="3396135" cy="2051460"/>
          </a:xfrm>
          <a:custGeom>
            <a:avLst/>
            <a:gdLst/>
            <a:ahLst/>
            <a:cxnLst/>
            <a:rect l="0" t="0" r="r" b="b"/>
            <a:pathLst>
              <a:path w="3396135" h="2051460">
                <a:moveTo>
                  <a:pt x="0" y="0"/>
                </a:moveTo>
                <a:cubicBezTo>
                  <a:pt x="41323" y="19853"/>
                  <a:pt x="163424" y="73317"/>
                  <a:pt x="247935" y="119117"/>
                </a:cubicBezTo>
                <a:cubicBezTo>
                  <a:pt x="332446" y="164917"/>
                  <a:pt x="422202" y="225758"/>
                  <a:pt x="507065" y="274801"/>
                </a:cubicBezTo>
                <a:cubicBezTo>
                  <a:pt x="591927" y="323844"/>
                  <a:pt x="675714" y="371369"/>
                  <a:pt x="757110" y="413376"/>
                </a:cubicBezTo>
                <a:cubicBezTo>
                  <a:pt x="838506" y="455383"/>
                  <a:pt x="916065" y="488185"/>
                  <a:pt x="995441" y="526843"/>
                </a:cubicBezTo>
                <a:cubicBezTo>
                  <a:pt x="1074817" y="565501"/>
                  <a:pt x="1153721" y="603872"/>
                  <a:pt x="1233367" y="645325"/>
                </a:cubicBezTo>
                <a:cubicBezTo>
                  <a:pt x="1313013" y="686778"/>
                  <a:pt x="1394042" y="733105"/>
                  <a:pt x="1473318" y="775560"/>
                </a:cubicBezTo>
                <a:cubicBezTo>
                  <a:pt x="1552593" y="818015"/>
                  <a:pt x="1630844" y="858673"/>
                  <a:pt x="1709021" y="900054"/>
                </a:cubicBezTo>
                <a:cubicBezTo>
                  <a:pt x="1787198" y="941435"/>
                  <a:pt x="1863484" y="978415"/>
                  <a:pt x="1942381" y="1023846"/>
                </a:cubicBezTo>
                <a:cubicBezTo>
                  <a:pt x="2021277" y="1069276"/>
                  <a:pt x="2101196" y="1118521"/>
                  <a:pt x="2182399" y="1172637"/>
                </a:cubicBezTo>
                <a:cubicBezTo>
                  <a:pt x="2263601" y="1226753"/>
                  <a:pt x="2347400" y="1289398"/>
                  <a:pt x="2429594" y="1348543"/>
                </a:cubicBezTo>
                <a:cubicBezTo>
                  <a:pt x="2511788" y="1407688"/>
                  <a:pt x="2594410" y="1469241"/>
                  <a:pt x="2675562" y="1527508"/>
                </a:cubicBezTo>
                <a:cubicBezTo>
                  <a:pt x="2756713" y="1585775"/>
                  <a:pt x="2836439" y="1640963"/>
                  <a:pt x="2916503" y="1698143"/>
                </a:cubicBezTo>
                <a:cubicBezTo>
                  <a:pt x="2996568" y="1755322"/>
                  <a:pt x="3076012" y="1811696"/>
                  <a:pt x="3155950" y="1870583"/>
                </a:cubicBezTo>
                <a:cubicBezTo>
                  <a:pt x="3235889" y="1929469"/>
                  <a:pt x="3356104" y="2021314"/>
                  <a:pt x="3396135" y="2051460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artery_flowing_collagen_025"/>
          <p:cNvSpPr/>
          <p:nvPr/>
        </p:nvSpPr>
        <p:spPr>
          <a:xfrm>
            <a:off x="9750373" y="4216397"/>
            <a:ext cx="3296802" cy="1955687"/>
          </a:xfrm>
          <a:custGeom>
            <a:avLst/>
            <a:gdLst/>
            <a:ahLst/>
            <a:cxnLst/>
            <a:rect l="0" t="0" r="r" b="b"/>
            <a:pathLst>
              <a:path w="3296802" h="1955687">
                <a:moveTo>
                  <a:pt x="0" y="0"/>
                </a:moveTo>
                <a:cubicBezTo>
                  <a:pt x="42707" y="25901"/>
                  <a:pt x="172540" y="106969"/>
                  <a:pt x="256242" y="155406"/>
                </a:cubicBezTo>
                <a:cubicBezTo>
                  <a:pt x="339944" y="203844"/>
                  <a:pt x="423294" y="252742"/>
                  <a:pt x="502210" y="290625"/>
                </a:cubicBezTo>
                <a:cubicBezTo>
                  <a:pt x="581126" y="328509"/>
                  <a:pt x="654671" y="353205"/>
                  <a:pt x="729738" y="382706"/>
                </a:cubicBezTo>
                <a:cubicBezTo>
                  <a:pt x="804805" y="412208"/>
                  <a:pt x="877175" y="435287"/>
                  <a:pt x="952613" y="467634"/>
                </a:cubicBezTo>
                <a:cubicBezTo>
                  <a:pt x="1028050" y="499981"/>
                  <a:pt x="1105097" y="537558"/>
                  <a:pt x="1182363" y="576790"/>
                </a:cubicBezTo>
                <a:cubicBezTo>
                  <a:pt x="1259628" y="616022"/>
                  <a:pt x="1338249" y="659937"/>
                  <a:pt x="1416204" y="703025"/>
                </a:cubicBezTo>
                <a:cubicBezTo>
                  <a:pt x="1494159" y="746112"/>
                  <a:pt x="1571588" y="788686"/>
                  <a:pt x="1650095" y="835315"/>
                </a:cubicBezTo>
                <a:cubicBezTo>
                  <a:pt x="1728602" y="881943"/>
                  <a:pt x="1807507" y="930640"/>
                  <a:pt x="1887244" y="982796"/>
                </a:cubicBezTo>
                <a:cubicBezTo>
                  <a:pt x="1966980" y="1034952"/>
                  <a:pt x="2048566" y="1093418"/>
                  <a:pt x="2128517" y="1148251"/>
                </a:cubicBezTo>
                <a:cubicBezTo>
                  <a:pt x="2208467" y="1203085"/>
                  <a:pt x="2288675" y="1259790"/>
                  <a:pt x="2366947" y="1311799"/>
                </a:cubicBezTo>
                <a:cubicBezTo>
                  <a:pt x="2445218" y="1363808"/>
                  <a:pt x="2521416" y="1410842"/>
                  <a:pt x="2598145" y="1460304"/>
                </a:cubicBezTo>
                <a:cubicBezTo>
                  <a:pt x="2674873" y="1509767"/>
                  <a:pt x="2750241" y="1556153"/>
                  <a:pt x="2827320" y="1608573"/>
                </a:cubicBezTo>
                <a:cubicBezTo>
                  <a:pt x="2904399" y="1660993"/>
                  <a:pt x="2982371" y="1716973"/>
                  <a:pt x="3060618" y="1774825"/>
                </a:cubicBezTo>
                <a:cubicBezTo>
                  <a:pt x="3138865" y="1832677"/>
                  <a:pt x="3257438" y="1925543"/>
                  <a:pt x="3296802" y="1955687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artery_flowing_collagen_026"/>
          <p:cNvSpPr/>
          <p:nvPr/>
        </p:nvSpPr>
        <p:spPr>
          <a:xfrm>
            <a:off x="9814304" y="4312335"/>
            <a:ext cx="3185592" cy="1830371"/>
          </a:xfrm>
          <a:custGeom>
            <a:avLst/>
            <a:gdLst/>
            <a:ahLst/>
            <a:cxnLst/>
            <a:rect l="0" t="0" r="r" b="b"/>
            <a:pathLst>
              <a:path w="3185592" h="1830371">
                <a:moveTo>
                  <a:pt x="0" y="0"/>
                </a:moveTo>
                <a:cubicBezTo>
                  <a:pt x="40217" y="21787"/>
                  <a:pt x="164779" y="96538"/>
                  <a:pt x="241300" y="130724"/>
                </a:cubicBezTo>
                <a:cubicBezTo>
                  <a:pt x="317821" y="164911"/>
                  <a:pt x="387783" y="182896"/>
                  <a:pt x="459127" y="205118"/>
                </a:cubicBezTo>
                <a:cubicBezTo>
                  <a:pt x="530472" y="227340"/>
                  <a:pt x="597298" y="238215"/>
                  <a:pt x="669367" y="264057"/>
                </a:cubicBezTo>
                <a:cubicBezTo>
                  <a:pt x="741435" y="289899"/>
                  <a:pt x="815443" y="321627"/>
                  <a:pt x="891539" y="360169"/>
                </a:cubicBezTo>
                <a:cubicBezTo>
                  <a:pt x="967635" y="398710"/>
                  <a:pt x="1047658" y="448843"/>
                  <a:pt x="1125944" y="495308"/>
                </a:cubicBezTo>
                <a:cubicBezTo>
                  <a:pt x="1204229" y="541774"/>
                  <a:pt x="1283527" y="592071"/>
                  <a:pt x="1361252" y="638961"/>
                </a:cubicBezTo>
                <a:cubicBezTo>
                  <a:pt x="1438977" y="685850"/>
                  <a:pt x="1515673" y="730900"/>
                  <a:pt x="1592295" y="776645"/>
                </a:cubicBezTo>
                <a:cubicBezTo>
                  <a:pt x="1668917" y="822390"/>
                  <a:pt x="1745102" y="867891"/>
                  <a:pt x="1820984" y="913433"/>
                </a:cubicBezTo>
                <a:cubicBezTo>
                  <a:pt x="1896867" y="958976"/>
                  <a:pt x="1972542" y="1004900"/>
                  <a:pt x="2047591" y="1049900"/>
                </a:cubicBezTo>
                <a:cubicBezTo>
                  <a:pt x="2122640" y="1094899"/>
                  <a:pt x="2196617" y="1137740"/>
                  <a:pt x="2271276" y="1183431"/>
                </a:cubicBezTo>
                <a:cubicBezTo>
                  <a:pt x="2345936" y="1229123"/>
                  <a:pt x="2419982" y="1273886"/>
                  <a:pt x="2495546" y="1324048"/>
                </a:cubicBezTo>
                <a:cubicBezTo>
                  <a:pt x="2571109" y="1374211"/>
                  <a:pt x="2647839" y="1428668"/>
                  <a:pt x="2724657" y="1484408"/>
                </a:cubicBezTo>
                <a:cubicBezTo>
                  <a:pt x="2801476" y="1540148"/>
                  <a:pt x="2879635" y="1600828"/>
                  <a:pt x="2956457" y="1658489"/>
                </a:cubicBezTo>
                <a:cubicBezTo>
                  <a:pt x="3033279" y="1716149"/>
                  <a:pt x="3147403" y="1801724"/>
                  <a:pt x="3185592" y="1830371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artery_flowing_collagen_027"/>
          <p:cNvSpPr/>
          <p:nvPr/>
        </p:nvSpPr>
        <p:spPr>
          <a:xfrm>
            <a:off x="9734313" y="4316563"/>
            <a:ext cx="3363917" cy="1896575"/>
          </a:xfrm>
          <a:custGeom>
            <a:avLst/>
            <a:gdLst/>
            <a:ahLst/>
            <a:cxnLst/>
            <a:rect l="0" t="0" r="r" b="b"/>
            <a:pathLst>
              <a:path w="3363917" h="1896575">
                <a:moveTo>
                  <a:pt x="0" y="0"/>
                </a:moveTo>
                <a:cubicBezTo>
                  <a:pt x="41124" y="18665"/>
                  <a:pt x="167414" y="81330"/>
                  <a:pt x="246742" y="111990"/>
                </a:cubicBezTo>
                <a:cubicBezTo>
                  <a:pt x="326070" y="142650"/>
                  <a:pt x="399385" y="158571"/>
                  <a:pt x="475969" y="183957"/>
                </a:cubicBezTo>
                <a:cubicBezTo>
                  <a:pt x="552554" y="209344"/>
                  <a:pt x="628026" y="232606"/>
                  <a:pt x="706248" y="264310"/>
                </a:cubicBezTo>
                <a:cubicBezTo>
                  <a:pt x="784470" y="296015"/>
                  <a:pt x="865512" y="336249"/>
                  <a:pt x="945299" y="374183"/>
                </a:cubicBezTo>
                <a:cubicBezTo>
                  <a:pt x="1025086" y="412117"/>
                  <a:pt x="1105325" y="452323"/>
                  <a:pt x="1184969" y="491913"/>
                </a:cubicBezTo>
                <a:cubicBezTo>
                  <a:pt x="1264613" y="531503"/>
                  <a:pt x="1342686" y="567734"/>
                  <a:pt x="1423162" y="611723"/>
                </a:cubicBezTo>
                <a:cubicBezTo>
                  <a:pt x="1503637" y="655711"/>
                  <a:pt x="1585190" y="703652"/>
                  <a:pt x="1667822" y="755846"/>
                </a:cubicBezTo>
                <a:cubicBezTo>
                  <a:pt x="1750453" y="808041"/>
                  <a:pt x="1835950" y="869430"/>
                  <a:pt x="1918953" y="924891"/>
                </a:cubicBezTo>
                <a:cubicBezTo>
                  <a:pt x="2001955" y="980351"/>
                  <a:pt x="2084984" y="1037124"/>
                  <a:pt x="2165838" y="1088610"/>
                </a:cubicBezTo>
                <a:cubicBezTo>
                  <a:pt x="2246691" y="1140097"/>
                  <a:pt x="2324951" y="1185245"/>
                  <a:pt x="2404073" y="1233810"/>
                </a:cubicBezTo>
                <a:cubicBezTo>
                  <a:pt x="2483194" y="1282374"/>
                  <a:pt x="2561151" y="1328534"/>
                  <a:pt x="2640567" y="1379998"/>
                </a:cubicBezTo>
                <a:cubicBezTo>
                  <a:pt x="2719982" y="1431462"/>
                  <a:pt x="2800295" y="1486544"/>
                  <a:pt x="2880566" y="1542591"/>
                </a:cubicBezTo>
                <a:cubicBezTo>
                  <a:pt x="2960837" y="1598639"/>
                  <a:pt x="3041635" y="1657285"/>
                  <a:pt x="3122194" y="1716283"/>
                </a:cubicBezTo>
                <a:cubicBezTo>
                  <a:pt x="3202752" y="1775280"/>
                  <a:pt x="3323630" y="1866526"/>
                  <a:pt x="3363917" y="1896575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artery_flowing_collagen_028"/>
          <p:cNvSpPr/>
          <p:nvPr/>
        </p:nvSpPr>
        <p:spPr>
          <a:xfrm>
            <a:off x="9782596" y="4371432"/>
            <a:ext cx="3267525" cy="1809559"/>
          </a:xfrm>
          <a:custGeom>
            <a:avLst/>
            <a:gdLst/>
            <a:ahLst/>
            <a:cxnLst/>
            <a:rect l="0" t="0" r="r" b="b"/>
            <a:pathLst>
              <a:path w="3267525" h="1809559">
                <a:moveTo>
                  <a:pt x="0" y="0"/>
                </a:moveTo>
                <a:cubicBezTo>
                  <a:pt x="36570" y="9045"/>
                  <a:pt x="146549" y="36061"/>
                  <a:pt x="219419" y="54270"/>
                </a:cubicBezTo>
                <a:cubicBezTo>
                  <a:pt x="292289" y="72479"/>
                  <a:pt x="362207" y="83604"/>
                  <a:pt x="437218" y="109256"/>
                </a:cubicBezTo>
                <a:cubicBezTo>
                  <a:pt x="512229" y="134908"/>
                  <a:pt x="590638" y="170357"/>
                  <a:pt x="669485" y="208182"/>
                </a:cubicBezTo>
                <a:cubicBezTo>
                  <a:pt x="748332" y="246006"/>
                  <a:pt x="830284" y="293185"/>
                  <a:pt x="910299" y="336203"/>
                </a:cubicBezTo>
                <a:cubicBezTo>
                  <a:pt x="990313" y="379221"/>
                  <a:pt x="1069895" y="422118"/>
                  <a:pt x="1149571" y="466289"/>
                </a:cubicBezTo>
                <a:cubicBezTo>
                  <a:pt x="1229248" y="510461"/>
                  <a:pt x="1308470" y="554401"/>
                  <a:pt x="1388356" y="601234"/>
                </a:cubicBezTo>
                <a:cubicBezTo>
                  <a:pt x="1468242" y="648067"/>
                  <a:pt x="1549413" y="699554"/>
                  <a:pt x="1628888" y="747288"/>
                </a:cubicBezTo>
                <a:cubicBezTo>
                  <a:pt x="1708362" y="795022"/>
                  <a:pt x="1787764" y="843681"/>
                  <a:pt x="1865202" y="887638"/>
                </a:cubicBezTo>
                <a:cubicBezTo>
                  <a:pt x="1942641" y="931596"/>
                  <a:pt x="2017531" y="969318"/>
                  <a:pt x="2093517" y="1011031"/>
                </a:cubicBezTo>
                <a:cubicBezTo>
                  <a:pt x="2169502" y="1052744"/>
                  <a:pt x="2244035" y="1091133"/>
                  <a:pt x="2321117" y="1137916"/>
                </a:cubicBezTo>
                <a:cubicBezTo>
                  <a:pt x="2398199" y="1184698"/>
                  <a:pt x="2476920" y="1237111"/>
                  <a:pt x="2556010" y="1291724"/>
                </a:cubicBezTo>
                <a:cubicBezTo>
                  <a:pt x="2635101" y="1346337"/>
                  <a:pt x="2716137" y="1407673"/>
                  <a:pt x="2795662" y="1465594"/>
                </a:cubicBezTo>
                <a:cubicBezTo>
                  <a:pt x="2875187" y="1523516"/>
                  <a:pt x="2954515" y="1581926"/>
                  <a:pt x="3033159" y="1639254"/>
                </a:cubicBezTo>
                <a:cubicBezTo>
                  <a:pt x="3111802" y="1696581"/>
                  <a:pt x="3228464" y="1781175"/>
                  <a:pt x="3267525" y="1809559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artery_flowing_collagen_029"/>
          <p:cNvSpPr/>
          <p:nvPr/>
        </p:nvSpPr>
        <p:spPr>
          <a:xfrm>
            <a:off x="9807953" y="4366701"/>
            <a:ext cx="3191205" cy="1773781"/>
          </a:xfrm>
          <a:custGeom>
            <a:avLst/>
            <a:gdLst/>
            <a:ahLst/>
            <a:cxnLst/>
            <a:rect l="0" t="0" r="r" b="b"/>
            <a:pathLst>
              <a:path w="3191205" h="1773781">
                <a:moveTo>
                  <a:pt x="0" y="0"/>
                </a:moveTo>
                <a:cubicBezTo>
                  <a:pt x="34502" y="5843"/>
                  <a:pt x="134900" y="14343"/>
                  <a:pt x="207014" y="35056"/>
                </a:cubicBezTo>
                <a:cubicBezTo>
                  <a:pt x="279129" y="55769"/>
                  <a:pt x="354899" y="86714"/>
                  <a:pt x="432685" y="124279"/>
                </a:cubicBezTo>
                <a:cubicBezTo>
                  <a:pt x="510471" y="161843"/>
                  <a:pt x="593747" y="214992"/>
                  <a:pt x="673731" y="260446"/>
                </a:cubicBezTo>
                <a:cubicBezTo>
                  <a:pt x="753714" y="305900"/>
                  <a:pt x="834470" y="354585"/>
                  <a:pt x="912585" y="397002"/>
                </a:cubicBezTo>
                <a:cubicBezTo>
                  <a:pt x="990701" y="439420"/>
                  <a:pt x="1066476" y="476531"/>
                  <a:pt x="1142426" y="514951"/>
                </a:cubicBezTo>
                <a:cubicBezTo>
                  <a:pt x="1218376" y="553372"/>
                  <a:pt x="1293139" y="589483"/>
                  <a:pt x="1368285" y="627526"/>
                </a:cubicBezTo>
                <a:cubicBezTo>
                  <a:pt x="1443432" y="665569"/>
                  <a:pt x="1518512" y="704354"/>
                  <a:pt x="1593303" y="743209"/>
                </a:cubicBezTo>
                <a:cubicBezTo>
                  <a:pt x="1668093" y="782063"/>
                  <a:pt x="1742129" y="819680"/>
                  <a:pt x="1817029" y="860652"/>
                </a:cubicBezTo>
                <a:cubicBezTo>
                  <a:pt x="1891929" y="901625"/>
                  <a:pt x="1966450" y="942350"/>
                  <a:pt x="2042703" y="989044"/>
                </a:cubicBezTo>
                <a:cubicBezTo>
                  <a:pt x="2118957" y="1035737"/>
                  <a:pt x="2196779" y="1087820"/>
                  <a:pt x="2274551" y="1140815"/>
                </a:cubicBezTo>
                <a:cubicBezTo>
                  <a:pt x="2352323" y="1193811"/>
                  <a:pt x="2431814" y="1252811"/>
                  <a:pt x="2509334" y="1307018"/>
                </a:cubicBezTo>
                <a:cubicBezTo>
                  <a:pt x="2586854" y="1361225"/>
                  <a:pt x="2663733" y="1414603"/>
                  <a:pt x="2739671" y="1466059"/>
                </a:cubicBezTo>
                <a:cubicBezTo>
                  <a:pt x="2815609" y="1517516"/>
                  <a:pt x="2889705" y="1564470"/>
                  <a:pt x="2964961" y="1615757"/>
                </a:cubicBezTo>
                <a:cubicBezTo>
                  <a:pt x="3040217" y="1667044"/>
                  <a:pt x="3153498" y="1747444"/>
                  <a:pt x="3191205" y="1773781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artery_flowing_collagen_030"/>
          <p:cNvSpPr/>
          <p:nvPr/>
        </p:nvSpPr>
        <p:spPr>
          <a:xfrm>
            <a:off x="9829245" y="4351397"/>
            <a:ext cx="3271044" cy="1867983"/>
          </a:xfrm>
          <a:custGeom>
            <a:avLst/>
            <a:gdLst/>
            <a:ahLst/>
            <a:cxnLst/>
            <a:rect l="0" t="0" r="r" b="b"/>
            <a:pathLst>
              <a:path w="3271044" h="1867983">
                <a:moveTo>
                  <a:pt x="0" y="0"/>
                </a:moveTo>
                <a:cubicBezTo>
                  <a:pt x="37911" y="13130"/>
                  <a:pt x="149603" y="46147"/>
                  <a:pt x="227465" y="78783"/>
                </a:cubicBezTo>
                <a:cubicBezTo>
                  <a:pt x="305326" y="111418"/>
                  <a:pt x="387547" y="156519"/>
                  <a:pt x="467167" y="195813"/>
                </a:cubicBezTo>
                <a:cubicBezTo>
                  <a:pt x="546788" y="235107"/>
                  <a:pt x="626355" y="275330"/>
                  <a:pt x="705188" y="314546"/>
                </a:cubicBezTo>
                <a:cubicBezTo>
                  <a:pt x="784020" y="353763"/>
                  <a:pt x="861168" y="389409"/>
                  <a:pt x="940164" y="431113"/>
                </a:cubicBezTo>
                <a:cubicBezTo>
                  <a:pt x="1019160" y="472817"/>
                  <a:pt x="1099296" y="518619"/>
                  <a:pt x="1179164" y="564768"/>
                </a:cubicBezTo>
                <a:cubicBezTo>
                  <a:pt x="1259032" y="610918"/>
                  <a:pt x="1340729" y="663239"/>
                  <a:pt x="1419373" y="708010"/>
                </a:cubicBezTo>
                <a:cubicBezTo>
                  <a:pt x="1498017" y="752781"/>
                  <a:pt x="1575156" y="794473"/>
                  <a:pt x="1651028" y="833392"/>
                </a:cubicBezTo>
                <a:cubicBezTo>
                  <a:pt x="1726901" y="872311"/>
                  <a:pt x="1799664" y="903390"/>
                  <a:pt x="1874610" y="941522"/>
                </a:cubicBezTo>
                <a:cubicBezTo>
                  <a:pt x="1949556" y="979654"/>
                  <a:pt x="2024112" y="1017484"/>
                  <a:pt x="2100703" y="1062183"/>
                </a:cubicBezTo>
                <a:cubicBezTo>
                  <a:pt x="2177294" y="1106882"/>
                  <a:pt x="2255941" y="1158391"/>
                  <a:pt x="2334156" y="1209716"/>
                </a:cubicBezTo>
                <a:cubicBezTo>
                  <a:pt x="2412370" y="1261040"/>
                  <a:pt x="2491664" y="1316507"/>
                  <a:pt x="2569989" y="1370131"/>
                </a:cubicBezTo>
                <a:cubicBezTo>
                  <a:pt x="2648313" y="1423755"/>
                  <a:pt x="2726160" y="1476981"/>
                  <a:pt x="2804103" y="1531462"/>
                </a:cubicBezTo>
                <a:cubicBezTo>
                  <a:pt x="2882047" y="1585942"/>
                  <a:pt x="2959827" y="1640925"/>
                  <a:pt x="3037651" y="1697012"/>
                </a:cubicBezTo>
                <a:cubicBezTo>
                  <a:pt x="3115474" y="1753099"/>
                  <a:pt x="3232146" y="1839487"/>
                  <a:pt x="3271044" y="1867983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artery_flowing_collagen_031"/>
          <p:cNvSpPr/>
          <p:nvPr/>
        </p:nvSpPr>
        <p:spPr>
          <a:xfrm>
            <a:off x="9733917" y="4315532"/>
            <a:ext cx="3316498" cy="1866350"/>
          </a:xfrm>
          <a:custGeom>
            <a:avLst/>
            <a:gdLst/>
            <a:ahLst/>
            <a:cxnLst/>
            <a:rect l="0" t="0" r="r" b="b"/>
            <a:pathLst>
              <a:path w="3316498" h="1866350">
                <a:moveTo>
                  <a:pt x="0" y="0"/>
                </a:moveTo>
                <a:cubicBezTo>
                  <a:pt x="39774" y="16425"/>
                  <a:pt x="157207" y="59644"/>
                  <a:pt x="238643" y="98549"/>
                </a:cubicBezTo>
                <a:cubicBezTo>
                  <a:pt x="320079" y="137453"/>
                  <a:pt x="406376" y="190244"/>
                  <a:pt x="488617" y="233427"/>
                </a:cubicBezTo>
                <a:cubicBezTo>
                  <a:pt x="570858" y="276611"/>
                  <a:pt x="652078" y="318285"/>
                  <a:pt x="732090" y="357649"/>
                </a:cubicBezTo>
                <a:cubicBezTo>
                  <a:pt x="812103" y="397012"/>
                  <a:pt x="889880" y="431437"/>
                  <a:pt x="968690" y="469608"/>
                </a:cubicBezTo>
                <a:cubicBezTo>
                  <a:pt x="1047500" y="507780"/>
                  <a:pt x="1126699" y="548044"/>
                  <a:pt x="1204953" y="586678"/>
                </a:cubicBezTo>
                <a:cubicBezTo>
                  <a:pt x="1283207" y="625313"/>
                  <a:pt x="1361505" y="665136"/>
                  <a:pt x="1438214" y="701415"/>
                </a:cubicBezTo>
                <a:cubicBezTo>
                  <a:pt x="1514923" y="737694"/>
                  <a:pt x="1589272" y="768363"/>
                  <a:pt x="1665206" y="804353"/>
                </a:cubicBezTo>
                <a:cubicBezTo>
                  <a:pt x="1741140" y="840343"/>
                  <a:pt x="1815929" y="873922"/>
                  <a:pt x="1893817" y="917355"/>
                </a:cubicBezTo>
                <a:cubicBezTo>
                  <a:pt x="1971705" y="960788"/>
                  <a:pt x="2052076" y="1012154"/>
                  <a:pt x="2132533" y="1064952"/>
                </a:cubicBezTo>
                <a:cubicBezTo>
                  <a:pt x="2212991" y="1117749"/>
                  <a:pt x="2296053" y="1179109"/>
                  <a:pt x="2376563" y="1234141"/>
                </a:cubicBezTo>
                <a:cubicBezTo>
                  <a:pt x="2457073" y="1289173"/>
                  <a:pt x="2536928" y="1343449"/>
                  <a:pt x="2615591" y="1395144"/>
                </a:cubicBezTo>
                <a:cubicBezTo>
                  <a:pt x="2694253" y="1446839"/>
                  <a:pt x="2770908" y="1493676"/>
                  <a:pt x="2848539" y="1544313"/>
                </a:cubicBezTo>
                <a:cubicBezTo>
                  <a:pt x="2926169" y="1594949"/>
                  <a:pt x="3003381" y="1645292"/>
                  <a:pt x="3081374" y="1698965"/>
                </a:cubicBezTo>
                <a:cubicBezTo>
                  <a:pt x="3159368" y="1752638"/>
                  <a:pt x="3277311" y="1838453"/>
                  <a:pt x="3316498" y="1866350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artery_flowing_collagen_032"/>
          <p:cNvSpPr/>
          <p:nvPr/>
        </p:nvSpPr>
        <p:spPr>
          <a:xfrm>
            <a:off x="9775001" y="4351639"/>
            <a:ext cx="3227119" cy="1797780"/>
          </a:xfrm>
          <a:custGeom>
            <a:avLst/>
            <a:gdLst/>
            <a:ahLst/>
            <a:cxnLst/>
            <a:rect l="0" t="0" r="r" b="b"/>
            <a:pathLst>
              <a:path w="3227119" h="1797780">
                <a:moveTo>
                  <a:pt x="0" y="0"/>
                </a:moveTo>
                <a:cubicBezTo>
                  <a:pt x="41373" y="22982"/>
                  <a:pt x="166639" y="93860"/>
                  <a:pt x="248236" y="137894"/>
                </a:cubicBezTo>
                <a:cubicBezTo>
                  <a:pt x="329834" y="181927"/>
                  <a:pt x="411597" y="227670"/>
                  <a:pt x="489584" y="264201"/>
                </a:cubicBezTo>
                <a:cubicBezTo>
                  <a:pt x="567572" y="300731"/>
                  <a:pt x="641438" y="327386"/>
                  <a:pt x="716162" y="357077"/>
                </a:cubicBezTo>
                <a:cubicBezTo>
                  <a:pt x="790886" y="386768"/>
                  <a:pt x="863622" y="411998"/>
                  <a:pt x="937928" y="442347"/>
                </a:cubicBezTo>
                <a:cubicBezTo>
                  <a:pt x="1012234" y="472696"/>
                  <a:pt x="1087054" y="505301"/>
                  <a:pt x="1161996" y="539171"/>
                </a:cubicBezTo>
                <a:cubicBezTo>
                  <a:pt x="1236938" y="573041"/>
                  <a:pt x="1311897" y="607819"/>
                  <a:pt x="1387581" y="645568"/>
                </a:cubicBezTo>
                <a:cubicBezTo>
                  <a:pt x="1463265" y="683316"/>
                  <a:pt x="1538894" y="721754"/>
                  <a:pt x="1616102" y="765660"/>
                </a:cubicBezTo>
                <a:cubicBezTo>
                  <a:pt x="1693310" y="809565"/>
                  <a:pt x="1772273" y="859322"/>
                  <a:pt x="1850831" y="909003"/>
                </a:cubicBezTo>
                <a:cubicBezTo>
                  <a:pt x="1929388" y="958684"/>
                  <a:pt x="2009721" y="1014473"/>
                  <a:pt x="2087448" y="1063746"/>
                </a:cubicBezTo>
                <a:cubicBezTo>
                  <a:pt x="2165174" y="1113018"/>
                  <a:pt x="2241771" y="1160130"/>
                  <a:pt x="2317190" y="1204639"/>
                </a:cubicBezTo>
                <a:cubicBezTo>
                  <a:pt x="2392609" y="1249148"/>
                  <a:pt x="2465404" y="1286977"/>
                  <a:pt x="2539963" y="1330799"/>
                </a:cubicBezTo>
                <a:cubicBezTo>
                  <a:pt x="2614521" y="1374622"/>
                  <a:pt x="2688668" y="1418060"/>
                  <a:pt x="2764539" y="1467574"/>
                </a:cubicBezTo>
                <a:cubicBezTo>
                  <a:pt x="2840411" y="1517087"/>
                  <a:pt x="2918093" y="1572844"/>
                  <a:pt x="2995190" y="1627878"/>
                </a:cubicBezTo>
                <a:cubicBezTo>
                  <a:pt x="3072286" y="1682912"/>
                  <a:pt x="3188464" y="1769463"/>
                  <a:pt x="3227119" y="1797780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artery_flowing_collagen_033"/>
          <p:cNvSpPr/>
          <p:nvPr/>
        </p:nvSpPr>
        <p:spPr>
          <a:xfrm>
            <a:off x="9831024" y="4426923"/>
            <a:ext cx="3269873" cy="1794297"/>
          </a:xfrm>
          <a:custGeom>
            <a:avLst/>
            <a:gdLst/>
            <a:ahLst/>
            <a:cxnLst/>
            <a:rect l="0" t="0" r="r" b="b"/>
            <a:pathLst>
              <a:path w="3269873" h="1794297">
                <a:moveTo>
                  <a:pt x="0" y="0"/>
                </a:moveTo>
                <a:cubicBezTo>
                  <a:pt x="40804" y="19962"/>
                  <a:pt x="165080" y="83734"/>
                  <a:pt x="244826" y="119773"/>
                </a:cubicBezTo>
                <a:cubicBezTo>
                  <a:pt x="324571" y="155812"/>
                  <a:pt x="400655" y="183279"/>
                  <a:pt x="478472" y="216236"/>
                </a:cubicBezTo>
                <a:cubicBezTo>
                  <a:pt x="556289" y="249193"/>
                  <a:pt x="633743" y="282144"/>
                  <a:pt x="711728" y="317515"/>
                </a:cubicBezTo>
                <a:cubicBezTo>
                  <a:pt x="789713" y="352887"/>
                  <a:pt x="869329" y="393707"/>
                  <a:pt x="946384" y="428465"/>
                </a:cubicBezTo>
                <a:cubicBezTo>
                  <a:pt x="1023438" y="463222"/>
                  <a:pt x="1099124" y="495292"/>
                  <a:pt x="1174053" y="526060"/>
                </a:cubicBezTo>
                <a:cubicBezTo>
                  <a:pt x="1248981" y="556829"/>
                  <a:pt x="1320901" y="580147"/>
                  <a:pt x="1395954" y="613075"/>
                </a:cubicBezTo>
                <a:cubicBezTo>
                  <a:pt x="1471007" y="646003"/>
                  <a:pt x="1546438" y="680739"/>
                  <a:pt x="1624370" y="723630"/>
                </a:cubicBezTo>
                <a:cubicBezTo>
                  <a:pt x="1702303" y="766520"/>
                  <a:pt x="1783544" y="819653"/>
                  <a:pt x="1863549" y="870417"/>
                </a:cubicBezTo>
                <a:cubicBezTo>
                  <a:pt x="1943553" y="921182"/>
                  <a:pt x="2025027" y="977225"/>
                  <a:pt x="2104397" y="1028218"/>
                </a:cubicBezTo>
                <a:cubicBezTo>
                  <a:pt x="2183767" y="1079211"/>
                  <a:pt x="2261785" y="1127390"/>
                  <a:pt x="2339766" y="1176375"/>
                </a:cubicBezTo>
                <a:cubicBezTo>
                  <a:pt x="2417747" y="1225360"/>
                  <a:pt x="2494681" y="1272287"/>
                  <a:pt x="2572285" y="1322128"/>
                </a:cubicBezTo>
                <a:cubicBezTo>
                  <a:pt x="2649889" y="1371968"/>
                  <a:pt x="2727781" y="1423629"/>
                  <a:pt x="2805388" y="1475418"/>
                </a:cubicBezTo>
                <a:cubicBezTo>
                  <a:pt x="2882996" y="1527207"/>
                  <a:pt x="2960516" y="1579716"/>
                  <a:pt x="3037930" y="1632863"/>
                </a:cubicBezTo>
                <a:cubicBezTo>
                  <a:pt x="3115344" y="1686010"/>
                  <a:pt x="3231216" y="1767392"/>
                  <a:pt x="3269873" y="1794297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artery_flowing_collagen_034"/>
          <p:cNvSpPr/>
          <p:nvPr/>
        </p:nvSpPr>
        <p:spPr>
          <a:xfrm>
            <a:off x="9888104" y="4505277"/>
            <a:ext cx="3163890" cy="1681380"/>
          </a:xfrm>
          <a:custGeom>
            <a:avLst/>
            <a:gdLst/>
            <a:ahLst/>
            <a:cxnLst/>
            <a:rect l="0" t="0" r="r" b="b"/>
            <a:pathLst>
              <a:path w="3163890" h="1681380">
                <a:moveTo>
                  <a:pt x="0" y="0"/>
                </a:moveTo>
                <a:cubicBezTo>
                  <a:pt x="37745" y="14296"/>
                  <a:pt x="152077" y="59199"/>
                  <a:pt x="226470" y="85778"/>
                </a:cubicBezTo>
                <a:cubicBezTo>
                  <a:pt x="300863" y="112356"/>
                  <a:pt x="372632" y="132888"/>
                  <a:pt x="446360" y="159470"/>
                </a:cubicBezTo>
                <a:cubicBezTo>
                  <a:pt x="520088" y="186052"/>
                  <a:pt x="594735" y="215946"/>
                  <a:pt x="668837" y="245269"/>
                </a:cubicBezTo>
                <a:cubicBezTo>
                  <a:pt x="742940" y="274593"/>
                  <a:pt x="817210" y="305266"/>
                  <a:pt x="890975" y="335413"/>
                </a:cubicBezTo>
                <a:cubicBezTo>
                  <a:pt x="964740" y="365559"/>
                  <a:pt x="1036924" y="392201"/>
                  <a:pt x="1111427" y="426149"/>
                </a:cubicBezTo>
                <a:cubicBezTo>
                  <a:pt x="1185930" y="460096"/>
                  <a:pt x="1260856" y="495975"/>
                  <a:pt x="1337994" y="539097"/>
                </a:cubicBezTo>
                <a:cubicBezTo>
                  <a:pt x="1415132" y="582219"/>
                  <a:pt x="1495466" y="635175"/>
                  <a:pt x="1574254" y="684881"/>
                </a:cubicBezTo>
                <a:cubicBezTo>
                  <a:pt x="1653043" y="734588"/>
                  <a:pt x="1733513" y="790144"/>
                  <a:pt x="1810724" y="837336"/>
                </a:cubicBezTo>
                <a:cubicBezTo>
                  <a:pt x="1887934" y="884529"/>
                  <a:pt x="1963043" y="926814"/>
                  <a:pt x="2037518" y="968036"/>
                </a:cubicBezTo>
                <a:cubicBezTo>
                  <a:pt x="2111993" y="1009258"/>
                  <a:pt x="2183813" y="1043737"/>
                  <a:pt x="2257573" y="1084668"/>
                </a:cubicBezTo>
                <a:cubicBezTo>
                  <a:pt x="2331333" y="1125599"/>
                  <a:pt x="2405091" y="1167330"/>
                  <a:pt x="2480079" y="1213623"/>
                </a:cubicBezTo>
                <a:cubicBezTo>
                  <a:pt x="2555067" y="1259916"/>
                  <a:pt x="2631497" y="1311308"/>
                  <a:pt x="2707502" y="1362427"/>
                </a:cubicBezTo>
                <a:cubicBezTo>
                  <a:pt x="2783506" y="1413546"/>
                  <a:pt x="2860043" y="1467177"/>
                  <a:pt x="2936108" y="1520336"/>
                </a:cubicBezTo>
                <a:cubicBezTo>
                  <a:pt x="3012173" y="1573495"/>
                  <a:pt x="3125927" y="1654540"/>
                  <a:pt x="3163890" y="1681380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artery_flowing_collagen_035"/>
          <p:cNvSpPr/>
          <p:nvPr/>
        </p:nvSpPr>
        <p:spPr>
          <a:xfrm>
            <a:off x="9807066" y="4505880"/>
            <a:ext cx="3197309" cy="1650342"/>
          </a:xfrm>
          <a:custGeom>
            <a:avLst/>
            <a:gdLst/>
            <a:ahLst/>
            <a:cxnLst/>
            <a:rect l="0" t="0" r="r" b="b"/>
            <a:pathLst>
              <a:path w="3197309" h="1650342">
                <a:moveTo>
                  <a:pt x="0" y="0"/>
                </a:moveTo>
                <a:cubicBezTo>
                  <a:pt x="36935" y="10631"/>
                  <a:pt x="148502" y="43687"/>
                  <a:pt x="221610" y="63783"/>
                </a:cubicBezTo>
                <a:cubicBezTo>
                  <a:pt x="294718" y="83879"/>
                  <a:pt x="365071" y="97514"/>
                  <a:pt x="438648" y="120576"/>
                </a:cubicBezTo>
                <a:cubicBezTo>
                  <a:pt x="512224" y="143638"/>
                  <a:pt x="587422" y="171782"/>
                  <a:pt x="663070" y="202153"/>
                </a:cubicBezTo>
                <a:cubicBezTo>
                  <a:pt x="738719" y="232525"/>
                  <a:pt x="815599" y="267077"/>
                  <a:pt x="892539" y="302808"/>
                </a:cubicBezTo>
                <a:cubicBezTo>
                  <a:pt x="969479" y="338538"/>
                  <a:pt x="1046573" y="375587"/>
                  <a:pt x="1124709" y="416538"/>
                </a:cubicBezTo>
                <a:cubicBezTo>
                  <a:pt x="1202845" y="457489"/>
                  <a:pt x="1282462" y="503484"/>
                  <a:pt x="1361353" y="548515"/>
                </a:cubicBezTo>
                <a:cubicBezTo>
                  <a:pt x="1440244" y="593547"/>
                  <a:pt x="1520629" y="643832"/>
                  <a:pt x="1598055" y="686727"/>
                </a:cubicBezTo>
                <a:cubicBezTo>
                  <a:pt x="1675481" y="729623"/>
                  <a:pt x="1751236" y="768913"/>
                  <a:pt x="1825909" y="805889"/>
                </a:cubicBezTo>
                <a:cubicBezTo>
                  <a:pt x="1900581" y="842866"/>
                  <a:pt x="1972030" y="871575"/>
                  <a:pt x="2046089" y="908586"/>
                </a:cubicBezTo>
                <a:cubicBezTo>
                  <a:pt x="2120148" y="945596"/>
                  <a:pt x="2193972" y="982688"/>
                  <a:pt x="2270261" y="1027951"/>
                </a:cubicBezTo>
                <a:cubicBezTo>
                  <a:pt x="2346551" y="1073213"/>
                  <a:pt x="2425628" y="1127424"/>
                  <a:pt x="2503828" y="1180160"/>
                </a:cubicBezTo>
                <a:cubicBezTo>
                  <a:pt x="2582028" y="1232896"/>
                  <a:pt x="2661779" y="1291209"/>
                  <a:pt x="2739459" y="1344366"/>
                </a:cubicBezTo>
                <a:cubicBezTo>
                  <a:pt x="2817139" y="1397524"/>
                  <a:pt x="2893601" y="1448108"/>
                  <a:pt x="2969909" y="1499104"/>
                </a:cubicBezTo>
                <a:cubicBezTo>
                  <a:pt x="3046217" y="1550100"/>
                  <a:pt x="3159409" y="1625136"/>
                  <a:pt x="3197309" y="1650342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artery_flowing_collagen_036"/>
          <p:cNvSpPr/>
          <p:nvPr/>
        </p:nvSpPr>
        <p:spPr>
          <a:xfrm>
            <a:off x="9841851" y="4525865"/>
            <a:ext cx="3259638" cy="1697148"/>
          </a:xfrm>
          <a:custGeom>
            <a:avLst/>
            <a:gdLst/>
            <a:ahLst/>
            <a:cxnLst/>
            <a:rect l="0" t="0" r="r" b="b"/>
            <a:pathLst>
              <a:path w="3259638" h="1697148">
                <a:moveTo>
                  <a:pt x="0" y="0"/>
                </a:moveTo>
                <a:cubicBezTo>
                  <a:pt x="37211" y="9720"/>
                  <a:pt x="147662" y="34852"/>
                  <a:pt x="223268" y="58318"/>
                </a:cubicBezTo>
                <a:cubicBezTo>
                  <a:pt x="298874" y="81784"/>
                  <a:pt x="377028" y="112847"/>
                  <a:pt x="453638" y="140794"/>
                </a:cubicBezTo>
                <a:cubicBezTo>
                  <a:pt x="530247" y="168741"/>
                  <a:pt x="606987" y="198007"/>
                  <a:pt x="682925" y="226001"/>
                </a:cubicBezTo>
                <a:cubicBezTo>
                  <a:pt x="758863" y="253995"/>
                  <a:pt x="832485" y="276592"/>
                  <a:pt x="909267" y="308758"/>
                </a:cubicBezTo>
                <a:cubicBezTo>
                  <a:pt x="986048" y="340925"/>
                  <a:pt x="1063674" y="376183"/>
                  <a:pt x="1143615" y="419000"/>
                </a:cubicBezTo>
                <a:cubicBezTo>
                  <a:pt x="1223556" y="461818"/>
                  <a:pt x="1307415" y="516437"/>
                  <a:pt x="1388914" y="565664"/>
                </a:cubicBezTo>
                <a:cubicBezTo>
                  <a:pt x="1470413" y="614891"/>
                  <a:pt x="1553143" y="668750"/>
                  <a:pt x="1632609" y="714363"/>
                </a:cubicBezTo>
                <a:cubicBezTo>
                  <a:pt x="1712075" y="759976"/>
                  <a:pt x="1788818" y="799038"/>
                  <a:pt x="1865710" y="839341"/>
                </a:cubicBezTo>
                <a:cubicBezTo>
                  <a:pt x="1942603" y="879644"/>
                  <a:pt x="2017408" y="914942"/>
                  <a:pt x="2093965" y="956182"/>
                </a:cubicBezTo>
                <a:cubicBezTo>
                  <a:pt x="2170522" y="997421"/>
                  <a:pt x="2247708" y="1041374"/>
                  <a:pt x="2325051" y="1086780"/>
                </a:cubicBezTo>
                <a:cubicBezTo>
                  <a:pt x="2402394" y="1132186"/>
                  <a:pt x="2480466" y="1180669"/>
                  <a:pt x="2558023" y="1228616"/>
                </a:cubicBezTo>
                <a:cubicBezTo>
                  <a:pt x="2635579" y="1276563"/>
                  <a:pt x="2712711" y="1324217"/>
                  <a:pt x="2790389" y="1374461"/>
                </a:cubicBezTo>
                <a:cubicBezTo>
                  <a:pt x="2868067" y="1424705"/>
                  <a:pt x="2945882" y="1476299"/>
                  <a:pt x="3024090" y="1530080"/>
                </a:cubicBezTo>
                <a:cubicBezTo>
                  <a:pt x="3102298" y="1583861"/>
                  <a:pt x="3220380" y="1669304"/>
                  <a:pt x="3259638" y="1697148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artery_flowing_collagen_037"/>
          <p:cNvSpPr/>
          <p:nvPr/>
        </p:nvSpPr>
        <p:spPr>
          <a:xfrm>
            <a:off x="9867494" y="4522120"/>
            <a:ext cx="3186860" cy="1671673"/>
          </a:xfrm>
          <a:custGeom>
            <a:avLst/>
            <a:gdLst/>
            <a:ahLst/>
            <a:cxnLst/>
            <a:rect l="0" t="0" r="r" b="b"/>
            <a:pathLst>
              <a:path w="3186860" h="1671673">
                <a:moveTo>
                  <a:pt x="0" y="0"/>
                </a:moveTo>
                <a:cubicBezTo>
                  <a:pt x="36786" y="10848"/>
                  <a:pt x="146122" y="39804"/>
                  <a:pt x="220719" y="65089"/>
                </a:cubicBezTo>
                <a:cubicBezTo>
                  <a:pt x="295315" y="90374"/>
                  <a:pt x="371962" y="121929"/>
                  <a:pt x="447578" y="151710"/>
                </a:cubicBezTo>
                <a:cubicBezTo>
                  <a:pt x="523194" y="181490"/>
                  <a:pt x="598058" y="210138"/>
                  <a:pt x="674414" y="243772"/>
                </a:cubicBezTo>
                <a:cubicBezTo>
                  <a:pt x="750771" y="277406"/>
                  <a:pt x="827443" y="312740"/>
                  <a:pt x="905714" y="353513"/>
                </a:cubicBezTo>
                <a:cubicBezTo>
                  <a:pt x="983986" y="394286"/>
                  <a:pt x="1065141" y="443919"/>
                  <a:pt x="1144044" y="488408"/>
                </a:cubicBezTo>
                <a:cubicBezTo>
                  <a:pt x="1222947" y="532898"/>
                  <a:pt x="1302877" y="581373"/>
                  <a:pt x="1379133" y="620449"/>
                </a:cubicBezTo>
                <a:cubicBezTo>
                  <a:pt x="1455389" y="659526"/>
                  <a:pt x="1528471" y="690813"/>
                  <a:pt x="1601581" y="722869"/>
                </a:cubicBezTo>
                <a:cubicBezTo>
                  <a:pt x="1674692" y="754925"/>
                  <a:pt x="1744633" y="778861"/>
                  <a:pt x="1817796" y="812784"/>
                </a:cubicBezTo>
                <a:cubicBezTo>
                  <a:pt x="1890958" y="846707"/>
                  <a:pt x="1964905" y="883591"/>
                  <a:pt x="2040559" y="926408"/>
                </a:cubicBezTo>
                <a:cubicBezTo>
                  <a:pt x="2116212" y="969225"/>
                  <a:pt x="2194527" y="1020566"/>
                  <a:pt x="2271717" y="1069686"/>
                </a:cubicBezTo>
                <a:cubicBezTo>
                  <a:pt x="2348906" y="1118806"/>
                  <a:pt x="2426902" y="1171263"/>
                  <a:pt x="2503694" y="1221127"/>
                </a:cubicBezTo>
                <a:cubicBezTo>
                  <a:pt x="2580486" y="1270991"/>
                  <a:pt x="2656446" y="1319394"/>
                  <a:pt x="2732467" y="1368871"/>
                </a:cubicBezTo>
                <a:cubicBezTo>
                  <a:pt x="2808489" y="1418348"/>
                  <a:pt x="2884091" y="1467522"/>
                  <a:pt x="2959823" y="1517989"/>
                </a:cubicBezTo>
                <a:cubicBezTo>
                  <a:pt x="3035556" y="1568456"/>
                  <a:pt x="3149021" y="1646059"/>
                  <a:pt x="3186860" y="1671673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artery_flowing_collagen_038"/>
          <p:cNvSpPr/>
          <p:nvPr/>
        </p:nvSpPr>
        <p:spPr>
          <a:xfrm>
            <a:off x="9896296" y="4526695"/>
            <a:ext cx="3108331" cy="1630288"/>
          </a:xfrm>
          <a:custGeom>
            <a:avLst/>
            <a:gdLst/>
            <a:ahLst/>
            <a:cxnLst/>
            <a:rect l="0" t="0" r="r" b="b"/>
            <a:pathLst>
              <a:path w="3108331" h="1630288">
                <a:moveTo>
                  <a:pt x="0" y="0"/>
                </a:moveTo>
                <a:cubicBezTo>
                  <a:pt x="37229" y="14284"/>
                  <a:pt x="148344" y="54714"/>
                  <a:pt x="223375" y="85706"/>
                </a:cubicBezTo>
                <a:cubicBezTo>
                  <a:pt x="298406" y="116698"/>
                  <a:pt x="374550" y="151523"/>
                  <a:pt x="450186" y="185950"/>
                </a:cubicBezTo>
                <a:cubicBezTo>
                  <a:pt x="525821" y="220377"/>
                  <a:pt x="601394" y="255554"/>
                  <a:pt x="677189" y="292269"/>
                </a:cubicBezTo>
                <a:cubicBezTo>
                  <a:pt x="752984" y="328984"/>
                  <a:pt x="829789" y="369397"/>
                  <a:pt x="904957" y="406240"/>
                </a:cubicBezTo>
                <a:cubicBezTo>
                  <a:pt x="980124" y="443083"/>
                  <a:pt x="1055398" y="481244"/>
                  <a:pt x="1128194" y="513325"/>
                </a:cubicBezTo>
                <a:cubicBezTo>
                  <a:pt x="1200990" y="545406"/>
                  <a:pt x="1271060" y="570890"/>
                  <a:pt x="1341732" y="598724"/>
                </a:cubicBezTo>
                <a:cubicBezTo>
                  <a:pt x="1412403" y="626559"/>
                  <a:pt x="1480521" y="647985"/>
                  <a:pt x="1552222" y="680332"/>
                </a:cubicBezTo>
                <a:cubicBezTo>
                  <a:pt x="1623924" y="712679"/>
                  <a:pt x="1697002" y="749576"/>
                  <a:pt x="1771940" y="792806"/>
                </a:cubicBezTo>
                <a:cubicBezTo>
                  <a:pt x="1846878" y="836036"/>
                  <a:pt x="1925399" y="890327"/>
                  <a:pt x="2001850" y="939713"/>
                </a:cubicBezTo>
                <a:cubicBezTo>
                  <a:pt x="2078301" y="989099"/>
                  <a:pt x="2155810" y="1042565"/>
                  <a:pt x="2230645" y="1089120"/>
                </a:cubicBezTo>
                <a:cubicBezTo>
                  <a:pt x="2305480" y="1135674"/>
                  <a:pt x="2378136" y="1176890"/>
                  <a:pt x="2450859" y="1219040"/>
                </a:cubicBezTo>
                <a:cubicBezTo>
                  <a:pt x="2523581" y="1261191"/>
                  <a:pt x="2594449" y="1298740"/>
                  <a:pt x="2666981" y="1342024"/>
                </a:cubicBezTo>
                <a:cubicBezTo>
                  <a:pt x="2739512" y="1385307"/>
                  <a:pt x="2812487" y="1430699"/>
                  <a:pt x="2886046" y="1478743"/>
                </a:cubicBezTo>
                <a:cubicBezTo>
                  <a:pt x="2959604" y="1526787"/>
                  <a:pt x="3071283" y="1605031"/>
                  <a:pt x="3108331" y="1630288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artery_flowing_collagen_039"/>
          <p:cNvSpPr/>
          <p:nvPr/>
        </p:nvSpPr>
        <p:spPr>
          <a:xfrm>
            <a:off x="9809786" y="4512958"/>
            <a:ext cx="3294111" cy="1717352"/>
          </a:xfrm>
          <a:custGeom>
            <a:avLst/>
            <a:gdLst/>
            <a:ahLst/>
            <a:cxnLst/>
            <a:rect l="0" t="0" r="r" b="b"/>
            <a:pathLst>
              <a:path w="3294111" h="1717352">
                <a:moveTo>
                  <a:pt x="0" y="0"/>
                </a:moveTo>
                <a:cubicBezTo>
                  <a:pt x="39768" y="15480"/>
                  <a:pt x="159681" y="62522"/>
                  <a:pt x="238606" y="92879"/>
                </a:cubicBezTo>
                <a:cubicBezTo>
                  <a:pt x="317532" y="123235"/>
                  <a:pt x="394574" y="149614"/>
                  <a:pt x="473554" y="182139"/>
                </a:cubicBezTo>
                <a:cubicBezTo>
                  <a:pt x="552533" y="214665"/>
                  <a:pt x="631565" y="248235"/>
                  <a:pt x="712483" y="288031"/>
                </a:cubicBezTo>
                <a:cubicBezTo>
                  <a:pt x="793401" y="327828"/>
                  <a:pt x="877733" y="377896"/>
                  <a:pt x="959064" y="420916"/>
                </a:cubicBezTo>
                <a:cubicBezTo>
                  <a:pt x="1040394" y="463936"/>
                  <a:pt x="1122348" y="509901"/>
                  <a:pt x="1200467" y="546152"/>
                </a:cubicBezTo>
                <a:cubicBezTo>
                  <a:pt x="1278585" y="582403"/>
                  <a:pt x="1352738" y="608822"/>
                  <a:pt x="1427775" y="638421"/>
                </a:cubicBezTo>
                <a:cubicBezTo>
                  <a:pt x="1502812" y="668020"/>
                  <a:pt x="1575109" y="690817"/>
                  <a:pt x="1650688" y="723749"/>
                </a:cubicBezTo>
                <a:cubicBezTo>
                  <a:pt x="1726266" y="756680"/>
                  <a:pt x="1803423" y="794860"/>
                  <a:pt x="1881247" y="836012"/>
                </a:cubicBezTo>
                <a:cubicBezTo>
                  <a:pt x="1959070" y="877165"/>
                  <a:pt x="2038976" y="925193"/>
                  <a:pt x="2117628" y="970663"/>
                </a:cubicBezTo>
                <a:cubicBezTo>
                  <a:pt x="2196280" y="1016133"/>
                  <a:pt x="2274704" y="1061950"/>
                  <a:pt x="2353158" y="1108831"/>
                </a:cubicBezTo>
                <a:cubicBezTo>
                  <a:pt x="2431612" y="1155712"/>
                  <a:pt x="2509653" y="1202361"/>
                  <a:pt x="2588352" y="1251947"/>
                </a:cubicBezTo>
                <a:cubicBezTo>
                  <a:pt x="2667051" y="1301534"/>
                  <a:pt x="2746541" y="1354444"/>
                  <a:pt x="2825353" y="1406350"/>
                </a:cubicBezTo>
                <a:cubicBezTo>
                  <a:pt x="2904164" y="1458256"/>
                  <a:pt x="2983094" y="1511549"/>
                  <a:pt x="3061221" y="1563383"/>
                </a:cubicBezTo>
                <a:cubicBezTo>
                  <a:pt x="3139347" y="1615217"/>
                  <a:pt x="3255296" y="1691690"/>
                  <a:pt x="3294111" y="1717352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artery_flowing_collagen_040"/>
          <p:cNvSpPr/>
          <p:nvPr/>
        </p:nvSpPr>
        <p:spPr>
          <a:xfrm>
            <a:off x="9854169" y="4557970"/>
            <a:ext cx="3200101" cy="1635568"/>
          </a:xfrm>
          <a:custGeom>
            <a:avLst/>
            <a:gdLst/>
            <a:ahLst/>
            <a:cxnLst/>
            <a:rect l="0" t="0" r="r" b="b"/>
            <a:pathLst>
              <a:path w="3200101" h="1635568">
                <a:moveTo>
                  <a:pt x="0" y="0"/>
                </a:moveTo>
                <a:cubicBezTo>
                  <a:pt x="39064" y="15975"/>
                  <a:pt x="156473" y="63493"/>
                  <a:pt x="234382" y="95849"/>
                </a:cubicBezTo>
                <a:cubicBezTo>
                  <a:pt x="312290" y="128204"/>
                  <a:pt x="389297" y="159141"/>
                  <a:pt x="467454" y="194134"/>
                </a:cubicBezTo>
                <a:cubicBezTo>
                  <a:pt x="545611" y="229127"/>
                  <a:pt x="625536" y="269859"/>
                  <a:pt x="703323" y="305807"/>
                </a:cubicBezTo>
                <a:cubicBezTo>
                  <a:pt x="781110" y="341756"/>
                  <a:pt x="859337" y="380020"/>
                  <a:pt x="934176" y="409826"/>
                </a:cubicBezTo>
                <a:cubicBezTo>
                  <a:pt x="1009015" y="439632"/>
                  <a:pt x="1080218" y="460515"/>
                  <a:pt x="1152357" y="484643"/>
                </a:cubicBezTo>
                <a:cubicBezTo>
                  <a:pt x="1224496" y="508771"/>
                  <a:pt x="1293569" y="525164"/>
                  <a:pt x="1367011" y="554595"/>
                </a:cubicBezTo>
                <a:cubicBezTo>
                  <a:pt x="1440452" y="584027"/>
                  <a:pt x="1515846" y="619578"/>
                  <a:pt x="1593008" y="661233"/>
                </a:cubicBezTo>
                <a:cubicBezTo>
                  <a:pt x="1670170" y="702887"/>
                  <a:pt x="1751241" y="756464"/>
                  <a:pt x="1829982" y="804524"/>
                </a:cubicBezTo>
                <a:cubicBezTo>
                  <a:pt x="1908724" y="852584"/>
                  <a:pt x="1988182" y="903767"/>
                  <a:pt x="2065460" y="949594"/>
                </a:cubicBezTo>
                <a:cubicBezTo>
                  <a:pt x="2142737" y="995420"/>
                  <a:pt x="2218037" y="1036586"/>
                  <a:pt x="2293647" y="1079481"/>
                </a:cubicBezTo>
                <a:cubicBezTo>
                  <a:pt x="2369257" y="1122377"/>
                  <a:pt x="2443787" y="1163049"/>
                  <a:pt x="2519121" y="1206965"/>
                </a:cubicBezTo>
                <a:cubicBezTo>
                  <a:pt x="2594456" y="1250881"/>
                  <a:pt x="2670080" y="1296543"/>
                  <a:pt x="2745653" y="1342978"/>
                </a:cubicBezTo>
                <a:cubicBezTo>
                  <a:pt x="2821226" y="1389413"/>
                  <a:pt x="2896819" y="1436810"/>
                  <a:pt x="2972560" y="1485575"/>
                </a:cubicBezTo>
                <a:cubicBezTo>
                  <a:pt x="3048301" y="1534340"/>
                  <a:pt x="3162177" y="1610569"/>
                  <a:pt x="3200101" y="1635568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artery_flowing_collagen_041"/>
          <p:cNvSpPr/>
          <p:nvPr/>
        </p:nvSpPr>
        <p:spPr>
          <a:xfrm>
            <a:off x="9903603" y="4616378"/>
            <a:ext cx="3104482" cy="1551042"/>
          </a:xfrm>
          <a:custGeom>
            <a:avLst/>
            <a:gdLst/>
            <a:ahLst/>
            <a:cxnLst/>
            <a:rect l="0" t="0" r="r" b="b"/>
            <a:pathLst>
              <a:path w="3104482" h="1551042">
                <a:moveTo>
                  <a:pt x="0" y="0"/>
                </a:moveTo>
                <a:cubicBezTo>
                  <a:pt x="37925" y="15340"/>
                  <a:pt x="152152" y="61638"/>
                  <a:pt x="227551" y="92043"/>
                </a:cubicBezTo>
                <a:cubicBezTo>
                  <a:pt x="302949" y="122448"/>
                  <a:pt x="378247" y="153565"/>
                  <a:pt x="452390" y="182429"/>
                </a:cubicBezTo>
                <a:cubicBezTo>
                  <a:pt x="526533" y="211293"/>
                  <a:pt x="600421" y="240459"/>
                  <a:pt x="672408" y="265228"/>
                </a:cubicBezTo>
                <a:cubicBezTo>
                  <a:pt x="744396" y="289998"/>
                  <a:pt x="813726" y="308459"/>
                  <a:pt x="884314" y="331047"/>
                </a:cubicBezTo>
                <a:cubicBezTo>
                  <a:pt x="954903" y="353636"/>
                  <a:pt x="1023375" y="371113"/>
                  <a:pt x="1095939" y="400759"/>
                </a:cubicBezTo>
                <a:cubicBezTo>
                  <a:pt x="1168504" y="430405"/>
                  <a:pt x="1243356" y="467027"/>
                  <a:pt x="1319702" y="508924"/>
                </a:cubicBezTo>
                <a:cubicBezTo>
                  <a:pt x="1396049" y="550822"/>
                  <a:pt x="1476658" y="605528"/>
                  <a:pt x="1554019" y="652145"/>
                </a:cubicBezTo>
                <a:cubicBezTo>
                  <a:pt x="1631379" y="698762"/>
                  <a:pt x="1709326" y="748146"/>
                  <a:pt x="1783864" y="788625"/>
                </a:cubicBezTo>
                <a:cubicBezTo>
                  <a:pt x="1858402" y="829104"/>
                  <a:pt x="1929512" y="860831"/>
                  <a:pt x="2001245" y="895017"/>
                </a:cubicBezTo>
                <a:cubicBezTo>
                  <a:pt x="2072979" y="929203"/>
                  <a:pt x="2142254" y="957099"/>
                  <a:pt x="2214265" y="993741"/>
                </a:cubicBezTo>
                <a:cubicBezTo>
                  <a:pt x="2286277" y="1030384"/>
                  <a:pt x="2359344" y="1070819"/>
                  <a:pt x="2433317" y="1114872"/>
                </a:cubicBezTo>
                <a:cubicBezTo>
                  <a:pt x="2507290" y="1158924"/>
                  <a:pt x="2583233" y="1209602"/>
                  <a:pt x="2658103" y="1258056"/>
                </a:cubicBezTo>
                <a:cubicBezTo>
                  <a:pt x="2732972" y="1306510"/>
                  <a:pt x="2808137" y="1356765"/>
                  <a:pt x="2882533" y="1405595"/>
                </a:cubicBezTo>
                <a:cubicBezTo>
                  <a:pt x="2956930" y="1454426"/>
                  <a:pt x="3067491" y="1526801"/>
                  <a:pt x="3104482" y="1551042"/>
                </a:cubicBezTo>
              </a:path>
            </a:pathLst>
          </a:custGeom>
          <a:noFill/>
          <a:ln w="4834" cap="rnd">
            <a:solidFill>
              <a:srgbClr val="D5C7E5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artery_flowing_collagen_042"/>
          <p:cNvSpPr/>
          <p:nvPr/>
        </p:nvSpPr>
        <p:spPr>
          <a:xfrm>
            <a:off x="9948029" y="4661944"/>
            <a:ext cx="3155150" cy="1566191"/>
          </a:xfrm>
          <a:custGeom>
            <a:avLst/>
            <a:gdLst/>
            <a:ahLst/>
            <a:cxnLst/>
            <a:rect l="0" t="0" r="r" b="b"/>
            <a:pathLst>
              <a:path w="3155150" h="1566191">
                <a:moveTo>
                  <a:pt x="0" y="0"/>
                </a:moveTo>
                <a:cubicBezTo>
                  <a:pt x="38265" y="14654"/>
                  <a:pt x="152823" y="57045"/>
                  <a:pt x="229588" y="87926"/>
                </a:cubicBezTo>
                <a:cubicBezTo>
                  <a:pt x="306353" y="118807"/>
                  <a:pt x="385237" y="156331"/>
                  <a:pt x="460591" y="185288"/>
                </a:cubicBezTo>
                <a:cubicBezTo>
                  <a:pt x="535945" y="214244"/>
                  <a:pt x="609643" y="239826"/>
                  <a:pt x="681712" y="261666"/>
                </a:cubicBezTo>
                <a:cubicBezTo>
                  <a:pt x="753781" y="283507"/>
                  <a:pt x="821709" y="294961"/>
                  <a:pt x="893004" y="316329"/>
                </a:cubicBezTo>
                <a:cubicBezTo>
                  <a:pt x="964298" y="337697"/>
                  <a:pt x="1035116" y="358393"/>
                  <a:pt x="1109478" y="389876"/>
                </a:cubicBezTo>
                <a:cubicBezTo>
                  <a:pt x="1183841" y="421358"/>
                  <a:pt x="1261842" y="463663"/>
                  <a:pt x="1339177" y="505224"/>
                </a:cubicBezTo>
                <a:cubicBezTo>
                  <a:pt x="1416511" y="546785"/>
                  <a:pt x="1496183" y="595863"/>
                  <a:pt x="1573486" y="639243"/>
                </a:cubicBezTo>
                <a:cubicBezTo>
                  <a:pt x="1650789" y="682622"/>
                  <a:pt x="1727015" y="723983"/>
                  <a:pt x="1802994" y="765500"/>
                </a:cubicBezTo>
                <a:cubicBezTo>
                  <a:pt x="1878972" y="807017"/>
                  <a:pt x="1953746" y="846028"/>
                  <a:pt x="2029357" y="888343"/>
                </a:cubicBezTo>
                <a:cubicBezTo>
                  <a:pt x="2104969" y="930658"/>
                  <a:pt x="2181084" y="975345"/>
                  <a:pt x="2256664" y="1019389"/>
                </a:cubicBezTo>
                <a:cubicBezTo>
                  <a:pt x="2332243" y="1063434"/>
                  <a:pt x="2407990" y="1108917"/>
                  <a:pt x="2482834" y="1152612"/>
                </a:cubicBezTo>
                <a:cubicBezTo>
                  <a:pt x="2557679" y="1196307"/>
                  <a:pt x="2631398" y="1237597"/>
                  <a:pt x="2705733" y="1281561"/>
                </a:cubicBezTo>
                <a:cubicBezTo>
                  <a:pt x="2780067" y="1325525"/>
                  <a:pt x="2853939" y="1368957"/>
                  <a:pt x="2928842" y="1416396"/>
                </a:cubicBezTo>
                <a:cubicBezTo>
                  <a:pt x="3003745" y="1463834"/>
                  <a:pt x="3117432" y="1541225"/>
                  <a:pt x="3155150" y="1566191"/>
                </a:cubicBezTo>
              </a:path>
            </a:pathLst>
          </a:custGeom>
          <a:noFill/>
          <a:ln w="4834" cap="rnd">
            <a:solidFill>
              <a:srgbClr val="FFFFFF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artery_flowing_collagen_043"/>
          <p:cNvSpPr/>
          <p:nvPr/>
        </p:nvSpPr>
        <p:spPr>
          <a:xfrm>
            <a:off x="9868133" y="4664789"/>
            <a:ext cx="3188853" cy="1536964"/>
          </a:xfrm>
          <a:custGeom>
            <a:avLst/>
            <a:gdLst/>
            <a:ahLst/>
            <a:cxnLst/>
            <a:rect l="0" t="0" r="r" b="b"/>
            <a:pathLst>
              <a:path w="3188853" h="1536964">
                <a:moveTo>
                  <a:pt x="0" y="0"/>
                </a:moveTo>
                <a:cubicBezTo>
                  <a:pt x="38175" y="12890"/>
                  <a:pt x="153202" y="51966"/>
                  <a:pt x="229050" y="77340"/>
                </a:cubicBezTo>
                <a:cubicBezTo>
                  <a:pt x="304898" y="102715"/>
                  <a:pt x="381269" y="130490"/>
                  <a:pt x="455089" y="152248"/>
                </a:cubicBezTo>
                <a:cubicBezTo>
                  <a:pt x="528908" y="174006"/>
                  <a:pt x="599677" y="188544"/>
                  <a:pt x="671965" y="207888"/>
                </a:cubicBezTo>
                <a:cubicBezTo>
                  <a:pt x="744253" y="227232"/>
                  <a:pt x="814092" y="240643"/>
                  <a:pt x="888817" y="268311"/>
                </a:cubicBezTo>
                <a:cubicBezTo>
                  <a:pt x="963541" y="295980"/>
                  <a:pt x="1041267" y="332512"/>
                  <a:pt x="1120314" y="373900"/>
                </a:cubicBezTo>
                <a:cubicBezTo>
                  <a:pt x="1199361" y="415287"/>
                  <a:pt x="1283768" y="472483"/>
                  <a:pt x="1363099" y="516635"/>
                </a:cubicBezTo>
                <a:cubicBezTo>
                  <a:pt x="1442430" y="560788"/>
                  <a:pt x="1519508" y="599796"/>
                  <a:pt x="1596298" y="638816"/>
                </a:cubicBezTo>
                <a:cubicBezTo>
                  <a:pt x="1673089" y="677835"/>
                  <a:pt x="1748817" y="714889"/>
                  <a:pt x="1823842" y="750752"/>
                </a:cubicBezTo>
                <a:cubicBezTo>
                  <a:pt x="1898867" y="786615"/>
                  <a:pt x="1971708" y="817150"/>
                  <a:pt x="2046449" y="853995"/>
                </a:cubicBezTo>
                <a:cubicBezTo>
                  <a:pt x="2121190" y="890840"/>
                  <a:pt x="2196601" y="930449"/>
                  <a:pt x="2272289" y="971822"/>
                </a:cubicBezTo>
                <a:cubicBezTo>
                  <a:pt x="2347978" y="1013194"/>
                  <a:pt x="2424443" y="1057719"/>
                  <a:pt x="2500580" y="1102230"/>
                </a:cubicBezTo>
                <a:cubicBezTo>
                  <a:pt x="2576718" y="1146741"/>
                  <a:pt x="2652724" y="1191778"/>
                  <a:pt x="2729112" y="1238888"/>
                </a:cubicBezTo>
                <a:cubicBezTo>
                  <a:pt x="2805500" y="1285998"/>
                  <a:pt x="2882285" y="1335210"/>
                  <a:pt x="2958909" y="1384889"/>
                </a:cubicBezTo>
                <a:cubicBezTo>
                  <a:pt x="3035533" y="1434569"/>
                  <a:pt x="3150529" y="1511618"/>
                  <a:pt x="3188853" y="1536964"/>
                </a:cubicBezTo>
              </a:path>
            </a:pathLst>
          </a:custGeom>
          <a:noFill/>
          <a:ln w="6198" cap="rnd">
            <a:solidFill>
              <a:srgbClr val="B5A4CD">
                <a:alpha val="4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artery_flowing_collagen_044"/>
          <p:cNvSpPr/>
          <p:nvPr/>
        </p:nvSpPr>
        <p:spPr>
          <a:xfrm>
            <a:off x="9902319" y="4683461"/>
            <a:ext cx="3106802" cy="1487085"/>
          </a:xfrm>
          <a:custGeom>
            <a:avLst/>
            <a:gdLst/>
            <a:ahLst/>
            <a:cxnLst/>
            <a:rect l="0" t="0" r="r" b="b"/>
            <a:pathLst>
              <a:path w="3106802" h="1487085">
                <a:moveTo>
                  <a:pt x="0" y="0"/>
                </a:moveTo>
                <a:cubicBezTo>
                  <a:pt x="36906" y="11833"/>
                  <a:pt x="149150" y="50533"/>
                  <a:pt x="221436" y="71000"/>
                </a:cubicBezTo>
                <a:cubicBezTo>
                  <a:pt x="293723" y="91466"/>
                  <a:pt x="362565" y="103697"/>
                  <a:pt x="433717" y="122797"/>
                </a:cubicBezTo>
                <a:cubicBezTo>
                  <a:pt x="504870" y="141896"/>
                  <a:pt x="574565" y="157754"/>
                  <a:pt x="648352" y="185594"/>
                </a:cubicBezTo>
                <a:cubicBezTo>
                  <a:pt x="722140" y="213435"/>
                  <a:pt x="799550" y="251786"/>
                  <a:pt x="876442" y="289838"/>
                </a:cubicBezTo>
                <a:cubicBezTo>
                  <a:pt x="953334" y="327891"/>
                  <a:pt x="1033837" y="376820"/>
                  <a:pt x="1109704" y="413909"/>
                </a:cubicBezTo>
                <a:cubicBezTo>
                  <a:pt x="1185571" y="450997"/>
                  <a:pt x="1257665" y="478678"/>
                  <a:pt x="1331645" y="512369"/>
                </a:cubicBezTo>
                <a:cubicBezTo>
                  <a:pt x="1405625" y="546060"/>
                  <a:pt x="1481097" y="584861"/>
                  <a:pt x="1553586" y="616056"/>
                </a:cubicBezTo>
                <a:cubicBezTo>
                  <a:pt x="1626074" y="647251"/>
                  <a:pt x="1694300" y="667255"/>
                  <a:pt x="1766576" y="699538"/>
                </a:cubicBezTo>
                <a:cubicBezTo>
                  <a:pt x="1838852" y="731821"/>
                  <a:pt x="1912319" y="768191"/>
                  <a:pt x="1987241" y="809752"/>
                </a:cubicBezTo>
                <a:cubicBezTo>
                  <a:pt x="2062163" y="851314"/>
                  <a:pt x="2140424" y="903353"/>
                  <a:pt x="2216109" y="948906"/>
                </a:cubicBezTo>
                <a:cubicBezTo>
                  <a:pt x="2291793" y="994458"/>
                  <a:pt x="2366819" y="1039069"/>
                  <a:pt x="2441349" y="1083065"/>
                </a:cubicBezTo>
                <a:cubicBezTo>
                  <a:pt x="2515879" y="1127061"/>
                  <a:pt x="2589309" y="1168739"/>
                  <a:pt x="2663290" y="1212883"/>
                </a:cubicBezTo>
                <a:cubicBezTo>
                  <a:pt x="2737270" y="1257027"/>
                  <a:pt x="2811312" y="1302227"/>
                  <a:pt x="2885230" y="1347927"/>
                </a:cubicBezTo>
                <a:cubicBezTo>
                  <a:pt x="2959149" y="1393628"/>
                  <a:pt x="3069874" y="1463892"/>
                  <a:pt x="3106802" y="1487085"/>
                </a:cubicBezTo>
              </a:path>
            </a:pathLst>
          </a:custGeom>
          <a:noFill/>
          <a:ln w="4834" cap="rnd">
            <a:solidFill>
              <a:srgbClr val="CAB8DE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artery_curved_collagen_wisp_045"/>
          <p:cNvSpPr/>
          <p:nvPr/>
        </p:nvSpPr>
        <p:spPr>
          <a:xfrm>
            <a:off x="9613690" y="3901359"/>
            <a:ext cx="630362" cy="760533"/>
          </a:xfrm>
          <a:custGeom>
            <a:avLst/>
            <a:gdLst/>
            <a:ahLst/>
            <a:cxnLst/>
            <a:rect l="0" t="0" r="r" b="b"/>
            <a:pathLst>
              <a:path w="630362" h="760533">
                <a:moveTo>
                  <a:pt x="137658" y="0"/>
                </a:moveTo>
                <a:cubicBezTo>
                  <a:pt x="0" y="117180"/>
                  <a:pt x="630362" y="589680"/>
                  <a:pt x="471751" y="760533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artery_curved_collagen_wisp_046"/>
          <p:cNvSpPr/>
          <p:nvPr/>
        </p:nvSpPr>
        <p:spPr>
          <a:xfrm>
            <a:off x="9833552" y="4017369"/>
            <a:ext cx="624597" cy="720953"/>
          </a:xfrm>
          <a:custGeom>
            <a:avLst/>
            <a:gdLst/>
            <a:ahLst/>
            <a:cxnLst/>
            <a:rect l="0" t="0" r="r" b="b"/>
            <a:pathLst>
              <a:path w="624597" h="720953">
                <a:moveTo>
                  <a:pt x="142961" y="0"/>
                </a:moveTo>
                <a:cubicBezTo>
                  <a:pt x="0" y="100055"/>
                  <a:pt x="624597" y="572371"/>
                  <a:pt x="458838" y="720953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artery_curved_collagen_wisp_047"/>
          <p:cNvSpPr/>
          <p:nvPr/>
        </p:nvSpPr>
        <p:spPr>
          <a:xfrm>
            <a:off x="10053415" y="4138935"/>
            <a:ext cx="618832" cy="680385"/>
          </a:xfrm>
          <a:custGeom>
            <a:avLst/>
            <a:gdLst/>
            <a:ahLst/>
            <a:cxnLst/>
            <a:rect l="0" t="0" r="r" b="b"/>
            <a:pathLst>
              <a:path w="618832" h="680385">
                <a:moveTo>
                  <a:pt x="148265" y="0"/>
                </a:moveTo>
                <a:cubicBezTo>
                  <a:pt x="0" y="82644"/>
                  <a:pt x="618832" y="554462"/>
                  <a:pt x="445925" y="680385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artery_curved_collagen_wisp_048"/>
          <p:cNvSpPr/>
          <p:nvPr/>
        </p:nvSpPr>
        <p:spPr>
          <a:xfrm>
            <a:off x="10273277" y="4266057"/>
            <a:ext cx="613068" cy="638830"/>
          </a:xfrm>
          <a:custGeom>
            <a:avLst/>
            <a:gdLst/>
            <a:ahLst/>
            <a:cxnLst/>
            <a:rect l="0" t="0" r="r" b="b"/>
            <a:pathLst>
              <a:path w="613068" h="638830">
                <a:moveTo>
                  <a:pt x="153568" y="0"/>
                </a:moveTo>
                <a:cubicBezTo>
                  <a:pt x="0" y="64945"/>
                  <a:pt x="613068" y="535953"/>
                  <a:pt x="433012" y="638830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artery_curved_collagen_wisp_049"/>
          <p:cNvSpPr/>
          <p:nvPr/>
        </p:nvSpPr>
        <p:spPr>
          <a:xfrm>
            <a:off x="10493140" y="4398734"/>
            <a:ext cx="607303" cy="596288"/>
          </a:xfrm>
          <a:custGeom>
            <a:avLst/>
            <a:gdLst/>
            <a:ahLst/>
            <a:cxnLst/>
            <a:rect l="0" t="0" r="r" b="b"/>
            <a:pathLst>
              <a:path w="607303" h="596288">
                <a:moveTo>
                  <a:pt x="158872" y="0"/>
                </a:moveTo>
                <a:cubicBezTo>
                  <a:pt x="0" y="46959"/>
                  <a:pt x="607303" y="516844"/>
                  <a:pt x="420099" y="596288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artery_curved_collagen_wisp_050"/>
          <p:cNvSpPr/>
          <p:nvPr/>
        </p:nvSpPr>
        <p:spPr>
          <a:xfrm>
            <a:off x="10713002" y="4536967"/>
            <a:ext cx="601538" cy="552758"/>
          </a:xfrm>
          <a:custGeom>
            <a:avLst/>
            <a:gdLst/>
            <a:ahLst/>
            <a:cxnLst/>
            <a:rect l="0" t="0" r="r" b="b"/>
            <a:pathLst>
              <a:path w="601538" h="552758">
                <a:moveTo>
                  <a:pt x="164175" y="0"/>
                </a:moveTo>
                <a:cubicBezTo>
                  <a:pt x="0" y="28685"/>
                  <a:pt x="601538" y="497135"/>
                  <a:pt x="407186" y="552758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artery_curved_collagen_wisp_051"/>
          <p:cNvSpPr/>
          <p:nvPr/>
        </p:nvSpPr>
        <p:spPr>
          <a:xfrm>
            <a:off x="10932864" y="4680755"/>
            <a:ext cx="595774" cy="508242"/>
          </a:xfrm>
          <a:custGeom>
            <a:avLst/>
            <a:gdLst/>
            <a:ahLst/>
            <a:cxnLst/>
            <a:rect l="0" t="0" r="r" b="b"/>
            <a:pathLst>
              <a:path w="595774" h="508242">
                <a:moveTo>
                  <a:pt x="169479" y="0"/>
                </a:moveTo>
                <a:cubicBezTo>
                  <a:pt x="0" y="10124"/>
                  <a:pt x="595774" y="476827"/>
                  <a:pt x="394273" y="508242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artery_curved_collagen_wisp_052"/>
          <p:cNvSpPr/>
          <p:nvPr/>
        </p:nvSpPr>
        <p:spPr>
          <a:xfrm>
            <a:off x="11152727" y="4821374"/>
            <a:ext cx="590009" cy="471463"/>
          </a:xfrm>
          <a:custGeom>
            <a:avLst/>
            <a:gdLst/>
            <a:ahLst/>
            <a:cxnLst/>
            <a:rect l="0" t="0" r="r" b="b"/>
            <a:pathLst>
              <a:path w="590009" h="471463">
                <a:moveTo>
                  <a:pt x="174782" y="8725"/>
                </a:moveTo>
                <a:cubicBezTo>
                  <a:pt x="0" y="0"/>
                  <a:pt x="590009" y="464644"/>
                  <a:pt x="381360" y="471463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artery_curved_collagen_wisp_053"/>
          <p:cNvSpPr/>
          <p:nvPr/>
        </p:nvSpPr>
        <p:spPr>
          <a:xfrm>
            <a:off x="11372589" y="4957138"/>
            <a:ext cx="584244" cy="462271"/>
          </a:xfrm>
          <a:custGeom>
            <a:avLst/>
            <a:gdLst/>
            <a:ahLst/>
            <a:cxnLst/>
            <a:rect l="0" t="0" r="r" b="b"/>
            <a:pathLst>
              <a:path w="584244" h="462271">
                <a:moveTo>
                  <a:pt x="180086" y="27861"/>
                </a:moveTo>
                <a:cubicBezTo>
                  <a:pt x="0" y="0"/>
                  <a:pt x="584244" y="462271"/>
                  <a:pt x="368447" y="444108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artery_curved_collagen_wisp_054"/>
          <p:cNvSpPr/>
          <p:nvPr/>
        </p:nvSpPr>
        <p:spPr>
          <a:xfrm>
            <a:off x="11592451" y="5098169"/>
            <a:ext cx="578480" cy="459587"/>
          </a:xfrm>
          <a:custGeom>
            <a:avLst/>
            <a:gdLst/>
            <a:ahLst/>
            <a:cxnLst/>
            <a:rect l="0" t="0" r="r" b="b"/>
            <a:pathLst>
              <a:path w="578480" h="459587">
                <a:moveTo>
                  <a:pt x="185389" y="47284"/>
                </a:moveTo>
                <a:cubicBezTo>
                  <a:pt x="0" y="0"/>
                  <a:pt x="578480" y="459587"/>
                  <a:pt x="355534" y="416053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artery_curved_collagen_wisp_055"/>
          <p:cNvSpPr/>
          <p:nvPr/>
        </p:nvSpPr>
        <p:spPr>
          <a:xfrm>
            <a:off x="11812314" y="5244469"/>
            <a:ext cx="572715" cy="456590"/>
          </a:xfrm>
          <a:custGeom>
            <a:avLst/>
            <a:gdLst/>
            <a:ahLst/>
            <a:cxnLst/>
            <a:rect l="0" t="0" r="r" b="b"/>
            <a:pathLst>
              <a:path w="572715" h="456590">
                <a:moveTo>
                  <a:pt x="190693" y="66995"/>
                </a:moveTo>
                <a:cubicBezTo>
                  <a:pt x="0" y="0"/>
                  <a:pt x="572715" y="456590"/>
                  <a:pt x="342621" y="387298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artery_curved_collagen_wisp_056"/>
          <p:cNvSpPr/>
          <p:nvPr/>
        </p:nvSpPr>
        <p:spPr>
          <a:xfrm>
            <a:off x="12032176" y="5396036"/>
            <a:ext cx="566950" cy="453281"/>
          </a:xfrm>
          <a:custGeom>
            <a:avLst/>
            <a:gdLst/>
            <a:ahLst/>
            <a:cxnLst/>
            <a:rect l="0" t="0" r="r" b="b"/>
            <a:pathLst>
              <a:path w="566950" h="453281">
                <a:moveTo>
                  <a:pt x="195996" y="86993"/>
                </a:moveTo>
                <a:cubicBezTo>
                  <a:pt x="0" y="0"/>
                  <a:pt x="566950" y="453281"/>
                  <a:pt x="329708" y="357844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artery_curved_collagen_wisp_057"/>
          <p:cNvSpPr/>
          <p:nvPr/>
        </p:nvSpPr>
        <p:spPr>
          <a:xfrm>
            <a:off x="12252039" y="5552872"/>
            <a:ext cx="561185" cy="449659"/>
          </a:xfrm>
          <a:custGeom>
            <a:avLst/>
            <a:gdLst/>
            <a:ahLst/>
            <a:cxnLst/>
            <a:rect l="0" t="0" r="r" b="b"/>
            <a:pathLst>
              <a:path w="561185" h="449659">
                <a:moveTo>
                  <a:pt x="201300" y="107279"/>
                </a:moveTo>
                <a:cubicBezTo>
                  <a:pt x="0" y="0"/>
                  <a:pt x="561185" y="449659"/>
                  <a:pt x="316795" y="327689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artery_curved_collagen_wisp_058"/>
          <p:cNvSpPr/>
          <p:nvPr/>
        </p:nvSpPr>
        <p:spPr>
          <a:xfrm>
            <a:off x="12471901" y="5714976"/>
            <a:ext cx="555421" cy="445725"/>
          </a:xfrm>
          <a:custGeom>
            <a:avLst/>
            <a:gdLst/>
            <a:ahLst/>
            <a:cxnLst/>
            <a:rect l="0" t="0" r="r" b="b"/>
            <a:pathLst>
              <a:path w="555421" h="445725">
                <a:moveTo>
                  <a:pt x="206604" y="127852"/>
                </a:moveTo>
                <a:cubicBezTo>
                  <a:pt x="0" y="0"/>
                  <a:pt x="555421" y="445725"/>
                  <a:pt x="303882" y="296835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artery_curved_collagen_wisp_059"/>
          <p:cNvSpPr/>
          <p:nvPr/>
        </p:nvSpPr>
        <p:spPr>
          <a:xfrm>
            <a:off x="12691763" y="5882348"/>
            <a:ext cx="549656" cy="441478"/>
          </a:xfrm>
          <a:custGeom>
            <a:avLst/>
            <a:gdLst/>
            <a:ahLst/>
            <a:cxnLst/>
            <a:rect l="0" t="0" r="r" b="b"/>
            <a:pathLst>
              <a:path w="549656" h="441478">
                <a:moveTo>
                  <a:pt x="211907" y="148713"/>
                </a:moveTo>
                <a:cubicBezTo>
                  <a:pt x="0" y="0"/>
                  <a:pt x="549656" y="441478"/>
                  <a:pt x="290969" y="265281"/>
                </a:cubicBezTo>
              </a:path>
            </a:pathLst>
          </a:custGeom>
          <a:noFill/>
          <a:ln w="4958" cap="rnd">
            <a:solidFill>
              <a:srgbClr val="B8A5D2">
                <a:alpha val="52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artery_fibroblast_cell_060"/>
          <p:cNvSpPr/>
          <p:nvPr/>
        </p:nvSpPr>
        <p:spPr>
          <a:xfrm>
            <a:off x="10021718" y="4394558"/>
            <a:ext cx="460804" cy="310816"/>
          </a:xfrm>
          <a:custGeom>
            <a:avLst/>
            <a:gdLst/>
            <a:ahLst/>
            <a:cxnLst/>
            <a:rect l="0" t="0" r="r" b="b"/>
            <a:pathLst>
              <a:path w="460804" h="310816">
                <a:moveTo>
                  <a:pt x="0" y="0"/>
                </a:moveTo>
                <a:cubicBezTo>
                  <a:pt x="182122" y="27513"/>
                  <a:pt x="360989" y="154516"/>
                  <a:pt x="460804" y="310816"/>
                </a:cubicBezTo>
                <a:cubicBezTo>
                  <a:pt x="273803" y="263489"/>
                  <a:pt x="104128" y="156668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9F5FE"/>
              </a:gs>
              <a:gs pos="55000">
                <a:srgbClr val="E3D8EF"/>
              </a:gs>
              <a:gs pos="100000">
                <a:srgbClr val="D5C9E5"/>
              </a:gs>
            </a:gsLst>
            <a:lin ang="57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artery_fibroblast_nucleus_061"/>
          <p:cNvSpPr/>
          <p:nvPr/>
        </p:nvSpPr>
        <p:spPr>
          <a:xfrm>
            <a:off x="10080679" y="4421179"/>
            <a:ext cx="346016" cy="259688"/>
          </a:xfrm>
          <a:custGeom>
            <a:avLst/>
            <a:gdLst/>
            <a:ahLst/>
            <a:cxnLst/>
            <a:rect l="0" t="0" r="r" b="b"/>
            <a:pathLst>
              <a:path w="346016" h="259688">
                <a:moveTo>
                  <a:pt x="16272" y="24124"/>
                </a:moveTo>
                <a:cubicBezTo>
                  <a:pt x="32544" y="0"/>
                  <a:pt x="115908" y="27776"/>
                  <a:pt x="202471" y="86163"/>
                </a:cubicBezTo>
                <a:cubicBezTo>
                  <a:pt x="289034" y="144551"/>
                  <a:pt x="346016" y="211440"/>
                  <a:pt x="329744" y="235564"/>
                </a:cubicBezTo>
                <a:cubicBezTo>
                  <a:pt x="313472" y="259688"/>
                  <a:pt x="230108" y="231912"/>
                  <a:pt x="143545" y="173524"/>
                </a:cubicBezTo>
                <a:cubicBezTo>
                  <a:pt x="56982" y="115137"/>
                  <a:pt x="0" y="48248"/>
                  <a:pt x="16272" y="24124"/>
                </a:cubicBezTo>
                <a:close/>
              </a:path>
            </a:pathLst>
          </a:custGeom>
          <a:gradFill rotWithShape="1">
            <a:gsLst>
              <a:gs pos="0">
                <a:srgbClr val="DFD5EF"/>
              </a:gs>
              <a:gs pos="28000">
                <a:srgbClr val="C5B5DF"/>
              </a:gs>
              <a:gs pos="70000">
                <a:srgbClr val="A58EC5"/>
              </a:gs>
              <a:gs pos="100000">
                <a:srgbClr val="907BAC"/>
              </a:gs>
            </a:gsLst>
            <a:path path="circle">
              <a:fillToRect l="28000" t="25000" r="72000" b="75000"/>
            </a:path>
            <a:tileRect/>
          </a:gradFill>
          <a:ln w="4029" cap="rnd">
            <a:solidFill>
              <a:srgbClr val="9583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artery_fibroblast_reflection_062"/>
          <p:cNvSpPr/>
          <p:nvPr/>
        </p:nvSpPr>
        <p:spPr>
          <a:xfrm>
            <a:off x="10135685" y="4477995"/>
            <a:ext cx="136827" cy="96468"/>
          </a:xfrm>
          <a:custGeom>
            <a:avLst/>
            <a:gdLst/>
            <a:ahLst/>
            <a:cxnLst/>
            <a:rect l="0" t="0" r="r" b="b"/>
            <a:pathLst>
              <a:path w="136827" h="96468">
                <a:moveTo>
                  <a:pt x="2584" y="3831"/>
                </a:moveTo>
                <a:cubicBezTo>
                  <a:pt x="5169" y="0"/>
                  <a:pt x="36736" y="16774"/>
                  <a:pt x="73093" y="41296"/>
                </a:cubicBezTo>
                <a:cubicBezTo>
                  <a:pt x="109449" y="65819"/>
                  <a:pt x="136827" y="88805"/>
                  <a:pt x="134243" y="92636"/>
                </a:cubicBezTo>
                <a:cubicBezTo>
                  <a:pt x="131658" y="96468"/>
                  <a:pt x="100090" y="79694"/>
                  <a:pt x="63734" y="55171"/>
                </a:cubicBezTo>
                <a:cubicBezTo>
                  <a:pt x="27378" y="30649"/>
                  <a:pt x="0" y="7663"/>
                  <a:pt x="2584" y="3831"/>
                </a:cubicBezTo>
                <a:close/>
              </a:path>
            </a:pathLst>
          </a:custGeom>
          <a:solidFill>
            <a:srgbClr val="FFF8FF">
              <a:alpha val="6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artery_fibroblast_cell_063"/>
          <p:cNvSpPr/>
          <p:nvPr/>
        </p:nvSpPr>
        <p:spPr>
          <a:xfrm>
            <a:off x="10574591" y="4701195"/>
            <a:ext cx="507681" cy="305046"/>
          </a:xfrm>
          <a:custGeom>
            <a:avLst/>
            <a:gdLst/>
            <a:ahLst/>
            <a:cxnLst/>
            <a:rect l="0" t="0" r="r" b="b"/>
            <a:pathLst>
              <a:path w="507681" h="305046">
                <a:moveTo>
                  <a:pt x="0" y="0"/>
                </a:moveTo>
                <a:cubicBezTo>
                  <a:pt x="192664" y="23562"/>
                  <a:pt x="390259" y="148437"/>
                  <a:pt x="507681" y="305046"/>
                </a:cubicBezTo>
                <a:cubicBezTo>
                  <a:pt x="308258" y="261440"/>
                  <a:pt x="121961" y="156878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9F5FE"/>
              </a:gs>
              <a:gs pos="55000">
                <a:srgbClr val="E3D8EF"/>
              </a:gs>
              <a:gs pos="100000">
                <a:srgbClr val="D5C9E5"/>
              </a:gs>
            </a:gsLst>
            <a:lin ang="57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artery_fibroblast_nucleus_064"/>
          <p:cNvSpPr/>
          <p:nvPr/>
        </p:nvSpPr>
        <p:spPr>
          <a:xfrm>
            <a:off x="10642491" y="4726055"/>
            <a:ext cx="375335" cy="257399"/>
          </a:xfrm>
          <a:custGeom>
            <a:avLst/>
            <a:gdLst/>
            <a:ahLst/>
            <a:cxnLst/>
            <a:rect l="0" t="0" r="r" b="b"/>
            <a:pathLst>
              <a:path w="375335" h="257399">
                <a:moveTo>
                  <a:pt x="14987" y="24943"/>
                </a:moveTo>
                <a:cubicBezTo>
                  <a:pt x="29974" y="0"/>
                  <a:pt x="119435" y="26234"/>
                  <a:pt x="214804" y="83537"/>
                </a:cubicBezTo>
                <a:cubicBezTo>
                  <a:pt x="310173" y="140840"/>
                  <a:pt x="375335" y="207514"/>
                  <a:pt x="360348" y="232457"/>
                </a:cubicBezTo>
                <a:cubicBezTo>
                  <a:pt x="345361" y="257399"/>
                  <a:pt x="255900" y="231166"/>
                  <a:pt x="160531" y="173862"/>
                </a:cubicBezTo>
                <a:cubicBezTo>
                  <a:pt x="65162" y="116559"/>
                  <a:pt x="0" y="49885"/>
                  <a:pt x="14987" y="24943"/>
                </a:cubicBezTo>
                <a:close/>
              </a:path>
            </a:pathLst>
          </a:custGeom>
          <a:gradFill rotWithShape="1">
            <a:gsLst>
              <a:gs pos="0">
                <a:srgbClr val="DFD5EF"/>
              </a:gs>
              <a:gs pos="28000">
                <a:srgbClr val="C5B5DF"/>
              </a:gs>
              <a:gs pos="70000">
                <a:srgbClr val="A58EC5"/>
              </a:gs>
              <a:gs pos="100000">
                <a:srgbClr val="907BAC"/>
              </a:gs>
            </a:gsLst>
            <a:path path="circle">
              <a:fillToRect l="28000" t="25000" r="72000" b="75000"/>
            </a:path>
            <a:tileRect/>
          </a:gradFill>
          <a:ln w="4029" cap="rnd">
            <a:solidFill>
              <a:srgbClr val="9583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artery_fibroblast_reflection_065"/>
          <p:cNvSpPr/>
          <p:nvPr/>
        </p:nvSpPr>
        <p:spPr>
          <a:xfrm>
            <a:off x="10705663" y="4782421"/>
            <a:ext cx="149812" cy="95079"/>
          </a:xfrm>
          <a:custGeom>
            <a:avLst/>
            <a:gdLst/>
            <a:ahLst/>
            <a:cxnLst/>
            <a:rect l="0" t="0" r="r" b="b"/>
            <a:pathLst>
              <a:path w="149812" h="95079">
                <a:moveTo>
                  <a:pt x="2380" y="3961"/>
                </a:moveTo>
                <a:cubicBezTo>
                  <a:pt x="4761" y="0"/>
                  <a:pt x="39161" y="16299"/>
                  <a:pt x="79216" y="40367"/>
                </a:cubicBezTo>
                <a:cubicBezTo>
                  <a:pt x="119271" y="64434"/>
                  <a:pt x="149812" y="87156"/>
                  <a:pt x="147432" y="91117"/>
                </a:cubicBezTo>
                <a:cubicBezTo>
                  <a:pt x="145052" y="95079"/>
                  <a:pt x="110651" y="78780"/>
                  <a:pt x="70596" y="54712"/>
                </a:cubicBezTo>
                <a:cubicBezTo>
                  <a:pt x="30541" y="30645"/>
                  <a:pt x="0" y="7923"/>
                  <a:pt x="2380" y="3961"/>
                </a:cubicBezTo>
                <a:close/>
              </a:path>
            </a:pathLst>
          </a:custGeom>
          <a:solidFill>
            <a:srgbClr val="FFF8FF">
              <a:alpha val="6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artery_fibroblast_cell_066"/>
          <p:cNvSpPr/>
          <p:nvPr/>
        </p:nvSpPr>
        <p:spPr>
          <a:xfrm>
            <a:off x="11171650" y="5063570"/>
            <a:ext cx="479098" cy="299374"/>
          </a:xfrm>
          <a:custGeom>
            <a:avLst/>
            <a:gdLst/>
            <a:ahLst/>
            <a:cxnLst/>
            <a:rect l="0" t="0" r="r" b="b"/>
            <a:pathLst>
              <a:path w="479098" h="299374">
                <a:moveTo>
                  <a:pt x="0" y="0"/>
                </a:moveTo>
                <a:cubicBezTo>
                  <a:pt x="182821" y="26528"/>
                  <a:pt x="369225" y="148853"/>
                  <a:pt x="479098" y="299374"/>
                </a:cubicBezTo>
                <a:cubicBezTo>
                  <a:pt x="290073" y="253766"/>
                  <a:pt x="114184" y="150875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9F5FE"/>
              </a:gs>
              <a:gs pos="55000">
                <a:srgbClr val="E3D8EF"/>
              </a:gs>
              <a:gs pos="100000">
                <a:srgbClr val="D5C9E5"/>
              </a:gs>
            </a:gsLst>
            <a:lin ang="57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artery_fibroblast_nucleus_067"/>
          <p:cNvSpPr/>
          <p:nvPr/>
        </p:nvSpPr>
        <p:spPr>
          <a:xfrm>
            <a:off x="11235357" y="5089221"/>
            <a:ext cx="354943" cy="250107"/>
          </a:xfrm>
          <a:custGeom>
            <a:avLst/>
            <a:gdLst/>
            <a:ahLst/>
            <a:cxnLst/>
            <a:rect l="0" t="0" r="r" b="b"/>
            <a:pathLst>
              <a:path w="354943" h="250107">
                <a:moveTo>
                  <a:pt x="14513" y="23226"/>
                </a:moveTo>
                <a:cubicBezTo>
                  <a:pt x="29026" y="0"/>
                  <a:pt x="113750" y="26762"/>
                  <a:pt x="203750" y="83000"/>
                </a:cubicBezTo>
                <a:cubicBezTo>
                  <a:pt x="293749" y="139238"/>
                  <a:pt x="354943" y="203655"/>
                  <a:pt x="340430" y="226881"/>
                </a:cubicBezTo>
                <a:cubicBezTo>
                  <a:pt x="325917" y="250107"/>
                  <a:pt x="241193" y="223345"/>
                  <a:pt x="151193" y="167107"/>
                </a:cubicBezTo>
                <a:cubicBezTo>
                  <a:pt x="61194" y="110869"/>
                  <a:pt x="0" y="46451"/>
                  <a:pt x="14513" y="23226"/>
                </a:cubicBezTo>
                <a:close/>
              </a:path>
            </a:pathLst>
          </a:custGeom>
          <a:gradFill rotWithShape="1">
            <a:gsLst>
              <a:gs pos="0">
                <a:srgbClr val="DFD5EF"/>
              </a:gs>
              <a:gs pos="28000">
                <a:srgbClr val="C5B5DF"/>
              </a:gs>
              <a:gs pos="70000">
                <a:srgbClr val="A58EC5"/>
              </a:gs>
              <a:gs pos="100000">
                <a:srgbClr val="907BAC"/>
              </a:gs>
            </a:gsLst>
            <a:path path="circle">
              <a:fillToRect l="28000" t="25000" r="72000" b="75000"/>
            </a:path>
            <a:tileRect/>
          </a:gradFill>
          <a:ln w="4029" cap="rnd">
            <a:solidFill>
              <a:srgbClr val="9583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artery_fibroblast_reflection_068"/>
          <p:cNvSpPr/>
          <p:nvPr/>
        </p:nvSpPr>
        <p:spPr>
          <a:xfrm>
            <a:off x="11292347" y="5142793"/>
            <a:ext cx="141783" cy="93374"/>
          </a:xfrm>
          <a:custGeom>
            <a:avLst/>
            <a:gdLst/>
            <a:ahLst/>
            <a:cxnLst/>
            <a:rect l="0" t="0" r="r" b="b"/>
            <a:pathLst>
              <a:path w="141783" h="93374">
                <a:moveTo>
                  <a:pt x="2449" y="3919"/>
                </a:moveTo>
                <a:cubicBezTo>
                  <a:pt x="4898" y="0"/>
                  <a:pt x="37526" y="15970"/>
                  <a:pt x="75326" y="39590"/>
                </a:cubicBezTo>
                <a:cubicBezTo>
                  <a:pt x="113126" y="63210"/>
                  <a:pt x="141783" y="85535"/>
                  <a:pt x="139334" y="89455"/>
                </a:cubicBezTo>
                <a:cubicBezTo>
                  <a:pt x="136885" y="93374"/>
                  <a:pt x="104257" y="77403"/>
                  <a:pt x="66457" y="53784"/>
                </a:cubicBezTo>
                <a:cubicBezTo>
                  <a:pt x="28657" y="30164"/>
                  <a:pt x="0" y="7839"/>
                  <a:pt x="2449" y="3919"/>
                </a:cubicBezTo>
                <a:close/>
              </a:path>
            </a:pathLst>
          </a:custGeom>
          <a:solidFill>
            <a:srgbClr val="FFF8FF">
              <a:alpha val="6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artery_fibroblast_cell_069"/>
          <p:cNvSpPr/>
          <p:nvPr/>
        </p:nvSpPr>
        <p:spPr>
          <a:xfrm>
            <a:off x="11769309" y="5447894"/>
            <a:ext cx="498575" cy="336293"/>
          </a:xfrm>
          <a:custGeom>
            <a:avLst/>
            <a:gdLst/>
            <a:ahLst/>
            <a:cxnLst/>
            <a:rect l="0" t="0" r="r" b="b"/>
            <a:pathLst>
              <a:path w="498575" h="336293">
                <a:moveTo>
                  <a:pt x="0" y="0"/>
                </a:moveTo>
                <a:cubicBezTo>
                  <a:pt x="193428" y="35138"/>
                  <a:pt x="387198" y="172193"/>
                  <a:pt x="498575" y="336293"/>
                </a:cubicBezTo>
                <a:cubicBezTo>
                  <a:pt x="299241" y="280647"/>
                  <a:pt x="115947" y="16464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9F5FE"/>
              </a:gs>
              <a:gs pos="55000">
                <a:srgbClr val="E3D8EF"/>
              </a:gs>
              <a:gs pos="100000">
                <a:srgbClr val="D5C9E5"/>
              </a:gs>
            </a:gsLst>
            <a:lin ang="57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artery_fibroblast_nucleus_070"/>
          <p:cNvSpPr/>
          <p:nvPr/>
        </p:nvSpPr>
        <p:spPr>
          <a:xfrm>
            <a:off x="11834437" y="5478675"/>
            <a:ext cx="371710" cy="277019"/>
          </a:xfrm>
          <a:custGeom>
            <a:avLst/>
            <a:gdLst/>
            <a:ahLst/>
            <a:cxnLst/>
            <a:rect l="0" t="0" r="r" b="b"/>
            <a:pathLst>
              <a:path w="371710" h="277019">
                <a:moveTo>
                  <a:pt x="16272" y="24124"/>
                </a:moveTo>
                <a:cubicBezTo>
                  <a:pt x="32544" y="0"/>
                  <a:pt x="121660" y="31656"/>
                  <a:pt x="215318" y="94829"/>
                </a:cubicBezTo>
                <a:cubicBezTo>
                  <a:pt x="308976" y="158002"/>
                  <a:pt x="371710" y="228771"/>
                  <a:pt x="355438" y="252895"/>
                </a:cubicBezTo>
                <a:cubicBezTo>
                  <a:pt x="339166" y="277019"/>
                  <a:pt x="250050" y="245363"/>
                  <a:pt x="156392" y="182190"/>
                </a:cubicBezTo>
                <a:cubicBezTo>
                  <a:pt x="62734" y="119017"/>
                  <a:pt x="0" y="48248"/>
                  <a:pt x="16272" y="24124"/>
                </a:cubicBezTo>
                <a:close/>
              </a:path>
            </a:pathLst>
          </a:custGeom>
          <a:gradFill rotWithShape="1">
            <a:gsLst>
              <a:gs pos="0">
                <a:srgbClr val="DFD5EF"/>
              </a:gs>
              <a:gs pos="28000">
                <a:srgbClr val="C5B5DF"/>
              </a:gs>
              <a:gs pos="70000">
                <a:srgbClr val="A58EC5"/>
              </a:gs>
              <a:gs pos="100000">
                <a:srgbClr val="907BAC"/>
              </a:gs>
            </a:gsLst>
            <a:path path="circle">
              <a:fillToRect l="28000" t="25000" r="72000" b="75000"/>
            </a:path>
            <a:tileRect/>
          </a:gradFill>
          <a:ln w="4029" cap="rnd">
            <a:solidFill>
              <a:srgbClr val="9583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artery_fibroblast_reflection_071"/>
          <p:cNvSpPr/>
          <p:nvPr/>
        </p:nvSpPr>
        <p:spPr>
          <a:xfrm>
            <a:off x="11896894" y="5540517"/>
            <a:ext cx="147619" cy="103747"/>
          </a:xfrm>
          <a:custGeom>
            <a:avLst/>
            <a:gdLst/>
            <a:ahLst/>
            <a:cxnLst/>
            <a:rect l="0" t="0" r="r" b="b"/>
            <a:pathLst>
              <a:path w="147619" h="103747">
                <a:moveTo>
                  <a:pt x="2584" y="3831"/>
                </a:moveTo>
                <a:cubicBezTo>
                  <a:pt x="5169" y="0"/>
                  <a:pt x="39152" y="18403"/>
                  <a:pt x="78489" y="44936"/>
                </a:cubicBezTo>
                <a:cubicBezTo>
                  <a:pt x="117825" y="71469"/>
                  <a:pt x="147619" y="96084"/>
                  <a:pt x="145034" y="99915"/>
                </a:cubicBezTo>
                <a:cubicBezTo>
                  <a:pt x="142450" y="103747"/>
                  <a:pt x="108466" y="85344"/>
                  <a:pt x="69130" y="58811"/>
                </a:cubicBezTo>
                <a:cubicBezTo>
                  <a:pt x="29793" y="32278"/>
                  <a:pt x="0" y="7663"/>
                  <a:pt x="2584" y="3831"/>
                </a:cubicBezTo>
                <a:close/>
              </a:path>
            </a:pathLst>
          </a:custGeom>
          <a:solidFill>
            <a:srgbClr val="FFF8FF">
              <a:alpha val="6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artery_fibroblast_cell_072"/>
          <p:cNvSpPr/>
          <p:nvPr/>
        </p:nvSpPr>
        <p:spPr>
          <a:xfrm>
            <a:off x="12341006" y="5841677"/>
            <a:ext cx="409551" cy="255916"/>
          </a:xfrm>
          <a:custGeom>
            <a:avLst/>
            <a:gdLst/>
            <a:ahLst/>
            <a:cxnLst/>
            <a:rect l="0" t="0" r="r" b="b"/>
            <a:pathLst>
              <a:path w="409551" h="255916">
                <a:moveTo>
                  <a:pt x="0" y="0"/>
                </a:moveTo>
                <a:cubicBezTo>
                  <a:pt x="154613" y="25348"/>
                  <a:pt x="314070" y="129738"/>
                  <a:pt x="409551" y="255916"/>
                </a:cubicBezTo>
                <a:cubicBezTo>
                  <a:pt x="249345" y="214721"/>
                  <a:pt x="99122" y="126552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9F5FE"/>
              </a:gs>
              <a:gs pos="55000">
                <a:srgbClr val="E3D8EF"/>
              </a:gs>
              <a:gs pos="100000">
                <a:srgbClr val="D5C9E5"/>
              </a:gs>
            </a:gsLst>
            <a:lin ang="57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artery_fibroblast_nucleus_073"/>
          <p:cNvSpPr/>
          <p:nvPr/>
        </p:nvSpPr>
        <p:spPr>
          <a:xfrm>
            <a:off x="12396079" y="5864589"/>
            <a:ext cx="302190" cy="211834"/>
          </a:xfrm>
          <a:custGeom>
            <a:avLst/>
            <a:gdLst/>
            <a:ahLst/>
            <a:cxnLst/>
            <a:rect l="0" t="0" r="r" b="b"/>
            <a:pathLst>
              <a:path w="302190" h="211834">
                <a:moveTo>
                  <a:pt x="11792" y="18871"/>
                </a:moveTo>
                <a:cubicBezTo>
                  <a:pt x="23584" y="0"/>
                  <a:pt x="95511" y="23674"/>
                  <a:pt x="172446" y="71748"/>
                </a:cubicBezTo>
                <a:cubicBezTo>
                  <a:pt x="249381" y="119823"/>
                  <a:pt x="302190" y="174093"/>
                  <a:pt x="290398" y="192963"/>
                </a:cubicBezTo>
                <a:cubicBezTo>
                  <a:pt x="278606" y="211834"/>
                  <a:pt x="206679" y="188160"/>
                  <a:pt x="129744" y="140086"/>
                </a:cubicBezTo>
                <a:cubicBezTo>
                  <a:pt x="52809" y="92012"/>
                  <a:pt x="0" y="37742"/>
                  <a:pt x="11792" y="18871"/>
                </a:cubicBezTo>
                <a:close/>
              </a:path>
            </a:pathLst>
          </a:custGeom>
          <a:gradFill rotWithShape="1">
            <a:gsLst>
              <a:gs pos="0">
                <a:srgbClr val="DFD5EF"/>
              </a:gs>
              <a:gs pos="28000">
                <a:srgbClr val="C5B5DF"/>
              </a:gs>
              <a:gs pos="70000">
                <a:srgbClr val="A58EC5"/>
              </a:gs>
              <a:gs pos="100000">
                <a:srgbClr val="907BAC"/>
              </a:gs>
            </a:gsLst>
            <a:path path="circle">
              <a:fillToRect l="28000" t="25000" r="72000" b="75000"/>
            </a:path>
            <a:tileRect/>
          </a:gradFill>
          <a:ln w="4029" cap="rnd">
            <a:solidFill>
              <a:srgbClr val="9583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artery_fibroblast_reflection_074"/>
          <p:cNvSpPr/>
          <p:nvPr/>
        </p:nvSpPr>
        <p:spPr>
          <a:xfrm>
            <a:off x="12436629" y="5905232"/>
            <a:ext cx="121913" cy="80958"/>
          </a:xfrm>
          <a:custGeom>
            <a:avLst/>
            <a:gdLst/>
            <a:ahLst/>
            <a:cxnLst/>
            <a:rect l="0" t="0" r="r" b="b"/>
            <a:pathLst>
              <a:path w="121913" h="80958">
                <a:moveTo>
                  <a:pt x="2449" y="3919"/>
                </a:moveTo>
                <a:cubicBezTo>
                  <a:pt x="4898" y="0"/>
                  <a:pt x="33078" y="13191"/>
                  <a:pt x="65391" y="33382"/>
                </a:cubicBezTo>
                <a:cubicBezTo>
                  <a:pt x="97704" y="53573"/>
                  <a:pt x="121913" y="73119"/>
                  <a:pt x="119464" y="77038"/>
                </a:cubicBezTo>
                <a:cubicBezTo>
                  <a:pt x="117015" y="80958"/>
                  <a:pt x="88835" y="67767"/>
                  <a:pt x="56522" y="47575"/>
                </a:cubicBezTo>
                <a:cubicBezTo>
                  <a:pt x="24209" y="27384"/>
                  <a:pt x="0" y="7839"/>
                  <a:pt x="2449" y="3919"/>
                </a:cubicBezTo>
                <a:close/>
              </a:path>
            </a:pathLst>
          </a:custGeom>
          <a:solidFill>
            <a:srgbClr val="FFF8FF">
              <a:alpha val="6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artery_media_base_075"/>
          <p:cNvSpPr/>
          <p:nvPr/>
        </p:nvSpPr>
        <p:spPr>
          <a:xfrm>
            <a:off x="9131738" y="2542672"/>
            <a:ext cx="4109682" cy="3781155"/>
          </a:xfrm>
          <a:custGeom>
            <a:avLst/>
            <a:gdLst/>
            <a:ahLst/>
            <a:cxnLst/>
            <a:rect l="0" t="0" r="r" b="b"/>
            <a:pathLst>
              <a:path w="4109682" h="3781155">
                <a:moveTo>
                  <a:pt x="0" y="0"/>
                </a:moveTo>
                <a:cubicBezTo>
                  <a:pt x="774827" y="359520"/>
                  <a:pt x="1450476" y="762430"/>
                  <a:pt x="2113728" y="1152942"/>
                </a:cubicBezTo>
                <a:cubicBezTo>
                  <a:pt x="2634411" y="1462873"/>
                  <a:pt x="3062116" y="1661229"/>
                  <a:pt x="3458827" y="1816194"/>
                </a:cubicBezTo>
                <a:cubicBezTo>
                  <a:pt x="3341053" y="2064139"/>
                  <a:pt x="3285266" y="2386467"/>
                  <a:pt x="3328656" y="2677802"/>
                </a:cubicBezTo>
                <a:cubicBezTo>
                  <a:pt x="3458827" y="3117903"/>
                  <a:pt x="3818347" y="3533210"/>
                  <a:pt x="4109682" y="3781155"/>
                </a:cubicBezTo>
                <a:cubicBezTo>
                  <a:pt x="3613792" y="3539409"/>
                  <a:pt x="3285266" y="3223280"/>
                  <a:pt x="2913349" y="2969136"/>
                </a:cubicBezTo>
                <a:cubicBezTo>
                  <a:pt x="2051741" y="2423658"/>
                  <a:pt x="1190134" y="1884379"/>
                  <a:pt x="576471" y="1400887"/>
                </a:cubicBezTo>
                <a:cubicBezTo>
                  <a:pt x="185958" y="1097155"/>
                  <a:pt x="37192" y="812019"/>
                  <a:pt x="18596" y="502088"/>
                </a:cubicBezTo>
                <a:cubicBezTo>
                  <a:pt x="6199" y="328527"/>
                  <a:pt x="55788" y="154965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6C0B7"/>
              </a:gs>
              <a:gs pos="55000">
                <a:srgbClr val="DB807A"/>
              </a:gs>
              <a:gs pos="100000">
                <a:srgbClr val="F8C6BA"/>
              </a:gs>
            </a:gsLst>
            <a:lin ang="8100000" scaled="1"/>
          </a:gradFill>
          <a:ln w="7128" cap="rnd">
            <a:solidFill>
              <a:srgbClr val="BA6F7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artery_smooth_muscle_cell_076"/>
          <p:cNvSpPr/>
          <p:nvPr/>
        </p:nvSpPr>
        <p:spPr>
          <a:xfrm>
            <a:off x="9167961" y="2653247"/>
            <a:ext cx="682310" cy="466896"/>
          </a:xfrm>
          <a:custGeom>
            <a:avLst/>
            <a:gdLst/>
            <a:ahLst/>
            <a:cxnLst/>
            <a:rect l="0" t="0" r="r" b="b"/>
            <a:pathLst>
              <a:path w="682310" h="466896">
                <a:moveTo>
                  <a:pt x="0" y="0"/>
                </a:moveTo>
                <a:cubicBezTo>
                  <a:pt x="172149" y="43798"/>
                  <a:pt x="270764" y="26242"/>
                  <a:pt x="405719" y="113883"/>
                </a:cubicBezTo>
                <a:cubicBezTo>
                  <a:pt x="551391" y="211883"/>
                  <a:pt x="584471" y="348961"/>
                  <a:pt x="682310" y="466896"/>
                </a:cubicBezTo>
                <a:cubicBezTo>
                  <a:pt x="534776" y="425484"/>
                  <a:pt x="414575" y="449421"/>
                  <a:pt x="278066" y="364171"/>
                </a:cubicBezTo>
                <a:cubicBezTo>
                  <a:pt x="124708" y="264579"/>
                  <a:pt x="102266" y="15140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artery_muscle_surface_light_077"/>
          <p:cNvSpPr/>
          <p:nvPr/>
        </p:nvSpPr>
        <p:spPr>
          <a:xfrm>
            <a:off x="9221617" y="2691491"/>
            <a:ext cx="547432" cy="365706"/>
          </a:xfrm>
          <a:custGeom>
            <a:avLst/>
            <a:gdLst/>
            <a:ahLst/>
            <a:cxnLst/>
            <a:rect l="0" t="0" r="r" b="b"/>
            <a:pathLst>
              <a:path w="547432" h="365706">
                <a:moveTo>
                  <a:pt x="0" y="0"/>
                </a:moveTo>
                <a:cubicBezTo>
                  <a:pt x="184573" y="24667"/>
                  <a:pt x="255312" y="36607"/>
                  <a:pt x="353384" y="113895"/>
                </a:cubicBezTo>
                <a:cubicBezTo>
                  <a:pt x="456114" y="184009"/>
                  <a:pt x="474130" y="263705"/>
                  <a:pt x="547432" y="365706"/>
                </a:cubicBezTo>
                <a:cubicBezTo>
                  <a:pt x="443536" y="230238"/>
                  <a:pt x="391433" y="189602"/>
                  <a:pt x="300970" y="127455"/>
                </a:cubicBezTo>
                <a:cubicBezTo>
                  <a:pt x="181312" y="56548"/>
                  <a:pt x="119736" y="57358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artery_muscle_rim_light_078"/>
          <p:cNvSpPr/>
          <p:nvPr/>
        </p:nvSpPr>
        <p:spPr>
          <a:xfrm>
            <a:off x="9223092" y="2698620"/>
            <a:ext cx="378076" cy="106761"/>
          </a:xfrm>
          <a:custGeom>
            <a:avLst/>
            <a:gdLst/>
            <a:ahLst/>
            <a:cxnLst/>
            <a:rect l="0" t="0" r="r" b="b"/>
            <a:pathLst>
              <a:path w="378076" h="106761">
                <a:moveTo>
                  <a:pt x="0" y="4029"/>
                </a:moveTo>
                <a:cubicBezTo>
                  <a:pt x="203208" y="0"/>
                  <a:pt x="298407" y="41424"/>
                  <a:pt x="378076" y="106761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artery_muscle_nucleus_079"/>
          <p:cNvSpPr/>
          <p:nvPr/>
        </p:nvSpPr>
        <p:spPr>
          <a:xfrm>
            <a:off x="9432351" y="2829974"/>
            <a:ext cx="173600" cy="144434"/>
          </a:xfrm>
          <a:custGeom>
            <a:avLst/>
            <a:gdLst/>
            <a:ahLst/>
            <a:cxnLst/>
            <a:rect l="0" t="0" r="r" b="b"/>
            <a:pathLst>
              <a:path w="173600" h="144434">
                <a:moveTo>
                  <a:pt x="14086" y="19387"/>
                </a:moveTo>
                <a:cubicBezTo>
                  <a:pt x="28171" y="0"/>
                  <a:pt x="72145" y="7936"/>
                  <a:pt x="112304" y="37114"/>
                </a:cubicBezTo>
                <a:cubicBezTo>
                  <a:pt x="152463" y="66291"/>
                  <a:pt x="173600" y="105660"/>
                  <a:pt x="159514" y="125047"/>
                </a:cubicBezTo>
                <a:cubicBezTo>
                  <a:pt x="145429" y="144434"/>
                  <a:pt x="101455" y="136498"/>
                  <a:pt x="61296" y="107321"/>
                </a:cubicBezTo>
                <a:cubicBezTo>
                  <a:pt x="21137" y="78143"/>
                  <a:pt x="0" y="38774"/>
                  <a:pt x="14086" y="19387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artery_muscle_nucleus_glint_080"/>
          <p:cNvSpPr/>
          <p:nvPr/>
        </p:nvSpPr>
        <p:spPr>
          <a:xfrm>
            <a:off x="9461261" y="2862712"/>
            <a:ext cx="59992" cy="46725"/>
          </a:xfrm>
          <a:custGeom>
            <a:avLst/>
            <a:gdLst/>
            <a:ahLst/>
            <a:cxnLst/>
            <a:rect l="0" t="0" r="r" b="b"/>
            <a:pathLst>
              <a:path w="59992" h="46725">
                <a:moveTo>
                  <a:pt x="2415" y="3324"/>
                </a:moveTo>
                <a:cubicBezTo>
                  <a:pt x="4829" y="0"/>
                  <a:pt x="19135" y="6278"/>
                  <a:pt x="34368" y="17345"/>
                </a:cubicBezTo>
                <a:cubicBezTo>
                  <a:pt x="49601" y="28412"/>
                  <a:pt x="59992" y="40078"/>
                  <a:pt x="57577" y="43402"/>
                </a:cubicBezTo>
                <a:cubicBezTo>
                  <a:pt x="55163" y="46725"/>
                  <a:pt x="40857" y="40447"/>
                  <a:pt x="25624" y="29380"/>
                </a:cubicBezTo>
                <a:cubicBezTo>
                  <a:pt x="10391" y="18313"/>
                  <a:pt x="0" y="6647"/>
                  <a:pt x="2415" y="3324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artery_smooth_muscle_cell_081"/>
          <p:cNvSpPr/>
          <p:nvPr/>
        </p:nvSpPr>
        <p:spPr>
          <a:xfrm>
            <a:off x="9775713" y="2969563"/>
            <a:ext cx="652948" cy="472158"/>
          </a:xfrm>
          <a:custGeom>
            <a:avLst/>
            <a:gdLst/>
            <a:ahLst/>
            <a:cxnLst/>
            <a:rect l="0" t="0" r="r" b="b"/>
            <a:pathLst>
              <a:path w="652948" h="472158">
                <a:moveTo>
                  <a:pt x="0" y="0"/>
                </a:moveTo>
                <a:cubicBezTo>
                  <a:pt x="168677" y="43853"/>
                  <a:pt x="267572" y="25595"/>
                  <a:pt x="396970" y="114196"/>
                </a:cubicBezTo>
                <a:cubicBezTo>
                  <a:pt x="536462" y="213291"/>
                  <a:pt x="562031" y="352591"/>
                  <a:pt x="652948" y="472158"/>
                </a:cubicBezTo>
                <a:cubicBezTo>
                  <a:pt x="508595" y="430632"/>
                  <a:pt x="387919" y="455467"/>
                  <a:pt x="256850" y="369305"/>
                </a:cubicBezTo>
                <a:cubicBezTo>
                  <a:pt x="109807" y="268622"/>
                  <a:pt x="93534" y="153598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artery_muscle_surface_light_082"/>
          <p:cNvSpPr/>
          <p:nvPr/>
        </p:nvSpPr>
        <p:spPr>
          <a:xfrm>
            <a:off x="9826979" y="3008248"/>
            <a:ext cx="524347" cy="369775"/>
          </a:xfrm>
          <a:custGeom>
            <a:avLst/>
            <a:gdLst/>
            <a:ahLst/>
            <a:cxnLst/>
            <a:rect l="0" t="0" r="r" b="b"/>
            <a:pathLst>
              <a:path w="524347" h="369775">
                <a:moveTo>
                  <a:pt x="0" y="0"/>
                </a:moveTo>
                <a:cubicBezTo>
                  <a:pt x="182036" y="24343"/>
                  <a:pt x="251671" y="36201"/>
                  <a:pt x="344981" y="114420"/>
                </a:cubicBezTo>
                <a:cubicBezTo>
                  <a:pt x="443301" y="185323"/>
                  <a:pt x="456957" y="266317"/>
                  <a:pt x="524347" y="369775"/>
                </a:cubicBezTo>
                <a:cubicBezTo>
                  <a:pt x="428346" y="232398"/>
                  <a:pt x="378750" y="191275"/>
                  <a:pt x="292194" y="128426"/>
                </a:cubicBezTo>
                <a:cubicBezTo>
                  <a:pt x="177101" y="56785"/>
                  <a:pt x="115891" y="5785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artery_muscle_rim_light_083"/>
          <p:cNvSpPr/>
          <p:nvPr/>
        </p:nvSpPr>
        <p:spPr>
          <a:xfrm>
            <a:off x="9827851" y="3014669"/>
            <a:ext cx="370103" cy="107887"/>
          </a:xfrm>
          <a:custGeom>
            <a:avLst/>
            <a:gdLst/>
            <a:ahLst/>
            <a:cxnLst/>
            <a:rect l="0" t="0" r="r" b="b"/>
            <a:pathLst>
              <a:path w="370103" h="107887">
                <a:moveTo>
                  <a:pt x="0" y="4923"/>
                </a:moveTo>
                <a:cubicBezTo>
                  <a:pt x="202075" y="0"/>
                  <a:pt x="294438" y="41750"/>
                  <a:pt x="370103" y="107887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artery_muscle_nucleus_084"/>
          <p:cNvSpPr/>
          <p:nvPr/>
        </p:nvSpPr>
        <p:spPr>
          <a:xfrm>
            <a:off x="10025964" y="3147604"/>
            <a:ext cx="171914" cy="147256"/>
          </a:xfrm>
          <a:custGeom>
            <a:avLst/>
            <a:gdLst/>
            <a:ahLst/>
            <a:cxnLst/>
            <a:rect l="0" t="0" r="r" b="b"/>
            <a:pathLst>
              <a:path w="171914" h="147256">
                <a:moveTo>
                  <a:pt x="14555" y="19037"/>
                </a:moveTo>
                <a:cubicBezTo>
                  <a:pt x="29110" y="0"/>
                  <a:pt x="72877" y="9008"/>
                  <a:pt x="112311" y="39158"/>
                </a:cubicBezTo>
                <a:cubicBezTo>
                  <a:pt x="151745" y="69308"/>
                  <a:pt x="171914" y="109182"/>
                  <a:pt x="157359" y="128219"/>
                </a:cubicBezTo>
                <a:cubicBezTo>
                  <a:pt x="142804" y="147256"/>
                  <a:pt x="99037" y="138248"/>
                  <a:pt x="59603" y="108098"/>
                </a:cubicBezTo>
                <a:cubicBezTo>
                  <a:pt x="20169" y="77948"/>
                  <a:pt x="0" y="38074"/>
                  <a:pt x="14555" y="19037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artery_muscle_nucleus_glint_085"/>
          <p:cNvSpPr/>
          <p:nvPr/>
        </p:nvSpPr>
        <p:spPr>
          <a:xfrm>
            <a:off x="10054449" y="3181145"/>
            <a:ext cx="59157" cy="47941"/>
          </a:xfrm>
          <a:custGeom>
            <a:avLst/>
            <a:gdLst/>
            <a:ahLst/>
            <a:cxnLst/>
            <a:rect l="0" t="0" r="r" b="b"/>
            <a:pathLst>
              <a:path w="59157" h="47941">
                <a:moveTo>
                  <a:pt x="2495" y="3264"/>
                </a:moveTo>
                <a:cubicBezTo>
                  <a:pt x="4990" y="0"/>
                  <a:pt x="19139" y="6625"/>
                  <a:pt x="34097" y="18061"/>
                </a:cubicBezTo>
                <a:cubicBezTo>
                  <a:pt x="49054" y="29497"/>
                  <a:pt x="59157" y="41414"/>
                  <a:pt x="56662" y="44677"/>
                </a:cubicBezTo>
                <a:cubicBezTo>
                  <a:pt x="54167" y="47941"/>
                  <a:pt x="40019" y="41316"/>
                  <a:pt x="25061" y="29880"/>
                </a:cubicBezTo>
                <a:cubicBezTo>
                  <a:pt x="10103" y="18443"/>
                  <a:pt x="0" y="6527"/>
                  <a:pt x="2495" y="3264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artery_smooth_muscle_cell_086"/>
          <p:cNvSpPr/>
          <p:nvPr/>
        </p:nvSpPr>
        <p:spPr>
          <a:xfrm>
            <a:off x="10337782" y="3301725"/>
            <a:ext cx="646634" cy="444669"/>
          </a:xfrm>
          <a:custGeom>
            <a:avLst/>
            <a:gdLst/>
            <a:ahLst/>
            <a:cxnLst/>
            <a:rect l="0" t="0" r="r" b="b"/>
            <a:pathLst>
              <a:path w="646634" h="444669">
                <a:moveTo>
                  <a:pt x="0" y="0"/>
                </a:moveTo>
                <a:cubicBezTo>
                  <a:pt x="166203" y="37248"/>
                  <a:pt x="263172" y="15398"/>
                  <a:pt x="391265" y="98583"/>
                </a:cubicBezTo>
                <a:cubicBezTo>
                  <a:pt x="529389" y="191816"/>
                  <a:pt x="556015" y="329272"/>
                  <a:pt x="646634" y="444669"/>
                </a:cubicBezTo>
                <a:cubicBezTo>
                  <a:pt x="504355" y="408821"/>
                  <a:pt x="386056" y="438024"/>
                  <a:pt x="256348" y="357325"/>
                </a:cubicBezTo>
                <a:cubicBezTo>
                  <a:pt x="110787" y="262797"/>
                  <a:pt x="93557" y="149113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artery_muscle_surface_light_087"/>
          <p:cNvSpPr/>
          <p:nvPr/>
        </p:nvSpPr>
        <p:spPr>
          <a:xfrm>
            <a:off x="10388569" y="3338241"/>
            <a:ext cx="519175" cy="347759"/>
          </a:xfrm>
          <a:custGeom>
            <a:avLst/>
            <a:gdLst/>
            <a:ahLst/>
            <a:cxnLst/>
            <a:rect l="0" t="0" r="r" b="b"/>
            <a:pathLst>
              <a:path w="519175" h="347759">
                <a:moveTo>
                  <a:pt x="0" y="0"/>
                </a:moveTo>
                <a:cubicBezTo>
                  <a:pt x="179118" y="17361"/>
                  <a:pt x="247663" y="26532"/>
                  <a:pt x="340187" y="100755"/>
                </a:cubicBezTo>
                <a:cubicBezTo>
                  <a:pt x="437554" y="167520"/>
                  <a:pt x="451846" y="247487"/>
                  <a:pt x="519175" y="347759"/>
                </a:cubicBezTo>
                <a:cubicBezTo>
                  <a:pt x="423369" y="214857"/>
                  <a:pt x="374196" y="175855"/>
                  <a:pt x="288474" y="116652"/>
                </a:cubicBezTo>
                <a:cubicBezTo>
                  <a:pt x="174619" y="49782"/>
                  <a:pt x="114490" y="53145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artery_muscle_rim_light_088"/>
          <p:cNvSpPr/>
          <p:nvPr/>
        </p:nvSpPr>
        <p:spPr>
          <a:xfrm>
            <a:off x="10389548" y="3337010"/>
            <a:ext cx="364747" cy="100900"/>
          </a:xfrm>
          <a:custGeom>
            <a:avLst/>
            <a:gdLst/>
            <a:ahLst/>
            <a:cxnLst/>
            <a:rect l="0" t="0" r="r" b="b"/>
            <a:pathLst>
              <a:path w="364747" h="100900">
                <a:moveTo>
                  <a:pt x="0" y="12470"/>
                </a:moveTo>
                <a:cubicBezTo>
                  <a:pt x="198490" y="0"/>
                  <a:pt x="289690" y="38020"/>
                  <a:pt x="364747" y="100900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artery_muscle_nucleus_089"/>
          <p:cNvSpPr/>
          <p:nvPr/>
        </p:nvSpPr>
        <p:spPr>
          <a:xfrm>
            <a:off x="10584086" y="3467379"/>
            <a:ext cx="173600" cy="144434"/>
          </a:xfrm>
          <a:custGeom>
            <a:avLst/>
            <a:gdLst/>
            <a:ahLst/>
            <a:cxnLst/>
            <a:rect l="0" t="0" r="r" b="b"/>
            <a:pathLst>
              <a:path w="173600" h="144434">
                <a:moveTo>
                  <a:pt x="14086" y="19387"/>
                </a:moveTo>
                <a:cubicBezTo>
                  <a:pt x="28171" y="0"/>
                  <a:pt x="72145" y="7936"/>
                  <a:pt x="112304" y="37114"/>
                </a:cubicBezTo>
                <a:cubicBezTo>
                  <a:pt x="152463" y="66291"/>
                  <a:pt x="173600" y="105660"/>
                  <a:pt x="159514" y="125047"/>
                </a:cubicBezTo>
                <a:cubicBezTo>
                  <a:pt x="145429" y="144434"/>
                  <a:pt x="101455" y="136498"/>
                  <a:pt x="61296" y="107321"/>
                </a:cubicBezTo>
                <a:cubicBezTo>
                  <a:pt x="21137" y="78143"/>
                  <a:pt x="0" y="38774"/>
                  <a:pt x="14086" y="19387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artery_muscle_nucleus_glint_090"/>
          <p:cNvSpPr/>
          <p:nvPr/>
        </p:nvSpPr>
        <p:spPr>
          <a:xfrm>
            <a:off x="10612996" y="3500118"/>
            <a:ext cx="59992" cy="46725"/>
          </a:xfrm>
          <a:custGeom>
            <a:avLst/>
            <a:gdLst/>
            <a:ahLst/>
            <a:cxnLst/>
            <a:rect l="0" t="0" r="r" b="b"/>
            <a:pathLst>
              <a:path w="59992" h="46725">
                <a:moveTo>
                  <a:pt x="2415" y="3324"/>
                </a:moveTo>
                <a:cubicBezTo>
                  <a:pt x="4829" y="0"/>
                  <a:pt x="19135" y="6278"/>
                  <a:pt x="34368" y="17345"/>
                </a:cubicBezTo>
                <a:cubicBezTo>
                  <a:pt x="49601" y="28412"/>
                  <a:pt x="59992" y="40078"/>
                  <a:pt x="57577" y="43402"/>
                </a:cubicBezTo>
                <a:cubicBezTo>
                  <a:pt x="55163" y="46725"/>
                  <a:pt x="40857" y="40447"/>
                  <a:pt x="25624" y="29380"/>
                </a:cubicBezTo>
                <a:cubicBezTo>
                  <a:pt x="10391" y="18313"/>
                  <a:pt x="0" y="6647"/>
                  <a:pt x="2415" y="3324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artery_smooth_muscle_cell_091"/>
          <p:cNvSpPr/>
          <p:nvPr/>
        </p:nvSpPr>
        <p:spPr>
          <a:xfrm>
            <a:off x="10902830" y="3633248"/>
            <a:ext cx="670630" cy="483528"/>
          </a:xfrm>
          <a:custGeom>
            <a:avLst/>
            <a:gdLst/>
            <a:ahLst/>
            <a:cxnLst/>
            <a:rect l="0" t="0" r="r" b="b"/>
            <a:pathLst>
              <a:path w="670630" h="483528">
                <a:moveTo>
                  <a:pt x="0" y="0"/>
                </a:moveTo>
                <a:cubicBezTo>
                  <a:pt x="171225" y="47702"/>
                  <a:pt x="270477" y="32215"/>
                  <a:pt x="403251" y="123127"/>
                </a:cubicBezTo>
                <a:cubicBezTo>
                  <a:pt x="546474" y="224671"/>
                  <a:pt x="575859" y="363007"/>
                  <a:pt x="670630" y="483528"/>
                </a:cubicBezTo>
                <a:cubicBezTo>
                  <a:pt x="523993" y="438755"/>
                  <a:pt x="402947" y="460180"/>
                  <a:pt x="268552" y="371635"/>
                </a:cubicBezTo>
                <a:cubicBezTo>
                  <a:pt x="117672" y="268326"/>
                  <a:pt x="98289" y="154223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artery_muscle_surface_light_092"/>
          <p:cNvSpPr/>
          <p:nvPr/>
        </p:nvSpPr>
        <p:spPr>
          <a:xfrm>
            <a:off x="10955525" y="3672806"/>
            <a:ext cx="538304" cy="379015"/>
          </a:xfrm>
          <a:custGeom>
            <a:avLst/>
            <a:gdLst/>
            <a:ahLst/>
            <a:cxnLst/>
            <a:rect l="0" t="0" r="r" b="b"/>
            <a:pathLst>
              <a:path w="538304" h="379015">
                <a:moveTo>
                  <a:pt x="0" y="0"/>
                </a:moveTo>
                <a:cubicBezTo>
                  <a:pt x="184192" y="28765"/>
                  <a:pt x="254717" y="42285"/>
                  <a:pt x="350831" y="122004"/>
                </a:cubicBezTo>
                <a:cubicBezTo>
                  <a:pt x="451809" y="194621"/>
                  <a:pt x="467674" y="275023"/>
                  <a:pt x="538304" y="379015"/>
                </a:cubicBezTo>
                <a:cubicBezTo>
                  <a:pt x="437946" y="240760"/>
                  <a:pt x="386871" y="198835"/>
                  <a:pt x="297964" y="134482"/>
                </a:cubicBezTo>
                <a:cubicBezTo>
                  <a:pt x="180054" y="60701"/>
                  <a:pt x="118358" y="6018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artery_muscle_rim_light_093"/>
          <p:cNvSpPr/>
          <p:nvPr/>
        </p:nvSpPr>
        <p:spPr>
          <a:xfrm>
            <a:off x="10956698" y="3684040"/>
            <a:ext cx="375868" cy="111332"/>
          </a:xfrm>
          <a:custGeom>
            <a:avLst/>
            <a:gdLst/>
            <a:ahLst/>
            <a:cxnLst/>
            <a:rect l="0" t="0" r="r" b="b"/>
            <a:pathLst>
              <a:path w="375868" h="111332">
                <a:moveTo>
                  <a:pt x="0" y="0"/>
                </a:moveTo>
                <a:cubicBezTo>
                  <a:pt x="203642" y="359"/>
                  <a:pt x="297859" y="44010"/>
                  <a:pt x="375868" y="111332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artery_muscle_nucleus_094"/>
          <p:cNvSpPr/>
          <p:nvPr/>
        </p:nvSpPr>
        <p:spPr>
          <a:xfrm>
            <a:off x="11162072" y="3816919"/>
            <a:ext cx="171914" cy="147256"/>
          </a:xfrm>
          <a:custGeom>
            <a:avLst/>
            <a:gdLst/>
            <a:ahLst/>
            <a:cxnLst/>
            <a:rect l="0" t="0" r="r" b="b"/>
            <a:pathLst>
              <a:path w="171914" h="147256">
                <a:moveTo>
                  <a:pt x="14555" y="19037"/>
                </a:moveTo>
                <a:cubicBezTo>
                  <a:pt x="29110" y="0"/>
                  <a:pt x="72877" y="9008"/>
                  <a:pt x="112311" y="39158"/>
                </a:cubicBezTo>
                <a:cubicBezTo>
                  <a:pt x="151745" y="69308"/>
                  <a:pt x="171914" y="109182"/>
                  <a:pt x="157359" y="128219"/>
                </a:cubicBezTo>
                <a:cubicBezTo>
                  <a:pt x="142804" y="147256"/>
                  <a:pt x="99037" y="138248"/>
                  <a:pt x="59603" y="108098"/>
                </a:cubicBezTo>
                <a:cubicBezTo>
                  <a:pt x="20169" y="77948"/>
                  <a:pt x="0" y="38074"/>
                  <a:pt x="14555" y="19037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artery_muscle_nucleus_glint_095"/>
          <p:cNvSpPr/>
          <p:nvPr/>
        </p:nvSpPr>
        <p:spPr>
          <a:xfrm>
            <a:off x="11190556" y="3850460"/>
            <a:ext cx="59157" cy="47941"/>
          </a:xfrm>
          <a:custGeom>
            <a:avLst/>
            <a:gdLst/>
            <a:ahLst/>
            <a:cxnLst/>
            <a:rect l="0" t="0" r="r" b="b"/>
            <a:pathLst>
              <a:path w="59157" h="47941">
                <a:moveTo>
                  <a:pt x="2495" y="3264"/>
                </a:moveTo>
                <a:cubicBezTo>
                  <a:pt x="4990" y="0"/>
                  <a:pt x="19139" y="6625"/>
                  <a:pt x="34097" y="18061"/>
                </a:cubicBezTo>
                <a:cubicBezTo>
                  <a:pt x="49054" y="29497"/>
                  <a:pt x="59157" y="41414"/>
                  <a:pt x="56662" y="44677"/>
                </a:cubicBezTo>
                <a:cubicBezTo>
                  <a:pt x="54167" y="47941"/>
                  <a:pt x="40019" y="41316"/>
                  <a:pt x="25061" y="29880"/>
                </a:cubicBezTo>
                <a:cubicBezTo>
                  <a:pt x="10103" y="18443"/>
                  <a:pt x="0" y="6527"/>
                  <a:pt x="2495" y="3264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artery_smooth_muscle_cell_096"/>
          <p:cNvSpPr/>
          <p:nvPr/>
        </p:nvSpPr>
        <p:spPr>
          <a:xfrm>
            <a:off x="11501961" y="4003335"/>
            <a:ext cx="665044" cy="454901"/>
          </a:xfrm>
          <a:custGeom>
            <a:avLst/>
            <a:gdLst/>
            <a:ahLst/>
            <a:cxnLst/>
            <a:rect l="0" t="0" r="r" b="b"/>
            <a:pathLst>
              <a:path w="665044" h="454901">
                <a:moveTo>
                  <a:pt x="0" y="0"/>
                </a:moveTo>
                <a:cubicBezTo>
                  <a:pt x="167540" y="43042"/>
                  <a:pt x="263369" y="26362"/>
                  <a:pt x="394893" y="111775"/>
                </a:cubicBezTo>
                <a:cubicBezTo>
                  <a:pt x="536873" y="207266"/>
                  <a:pt x="569507" y="340250"/>
                  <a:pt x="665044" y="454901"/>
                </a:cubicBezTo>
                <a:cubicBezTo>
                  <a:pt x="521447" y="414255"/>
                  <a:pt x="404650" y="437046"/>
                  <a:pt x="271624" y="353946"/>
                </a:cubicBezTo>
                <a:cubicBezTo>
                  <a:pt x="122164" y="256886"/>
                  <a:pt x="99956" y="147112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artery_muscle_surface_light_097"/>
          <p:cNvSpPr/>
          <p:nvPr/>
        </p:nvSpPr>
        <p:spPr>
          <a:xfrm>
            <a:off x="11554265" y="4040589"/>
            <a:ext cx="533549" cy="356355"/>
          </a:xfrm>
          <a:custGeom>
            <a:avLst/>
            <a:gdLst/>
            <a:ahLst/>
            <a:cxnLst/>
            <a:rect l="0" t="0" r="r" b="b"/>
            <a:pathLst>
              <a:path w="533549" h="356355">
                <a:moveTo>
                  <a:pt x="0" y="0"/>
                </a:moveTo>
                <a:cubicBezTo>
                  <a:pt x="179555" y="24541"/>
                  <a:pt x="248379" y="36356"/>
                  <a:pt x="344004" y="111607"/>
                </a:cubicBezTo>
                <a:cubicBezTo>
                  <a:pt x="444135" y="179921"/>
                  <a:pt x="461925" y="257234"/>
                  <a:pt x="533549" y="356355"/>
                </a:cubicBezTo>
                <a:cubicBezTo>
                  <a:pt x="432062" y="224688"/>
                  <a:pt x="381260" y="185121"/>
                  <a:pt x="293086" y="124573"/>
                </a:cubicBezTo>
                <a:cubicBezTo>
                  <a:pt x="176493" y="55432"/>
                  <a:pt x="116622" y="56007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artery_muscle_rim_light_098"/>
          <p:cNvSpPr/>
          <p:nvPr/>
        </p:nvSpPr>
        <p:spPr>
          <a:xfrm>
            <a:off x="11555737" y="4048198"/>
            <a:ext cx="367976" cy="104082"/>
          </a:xfrm>
          <a:custGeom>
            <a:avLst/>
            <a:gdLst/>
            <a:ahLst/>
            <a:cxnLst/>
            <a:rect l="0" t="0" r="r" b="b"/>
            <a:pathLst>
              <a:path w="367976" h="104082">
                <a:moveTo>
                  <a:pt x="0" y="3211"/>
                </a:moveTo>
                <a:cubicBezTo>
                  <a:pt x="197577" y="0"/>
                  <a:pt x="290286" y="40478"/>
                  <a:pt x="367976" y="104082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artery_muscle_nucleus_099"/>
          <p:cNvSpPr/>
          <p:nvPr/>
        </p:nvSpPr>
        <p:spPr>
          <a:xfrm>
            <a:off x="11757718" y="4173896"/>
            <a:ext cx="173600" cy="144434"/>
          </a:xfrm>
          <a:custGeom>
            <a:avLst/>
            <a:gdLst/>
            <a:ahLst/>
            <a:cxnLst/>
            <a:rect l="0" t="0" r="r" b="b"/>
            <a:pathLst>
              <a:path w="173600" h="144434">
                <a:moveTo>
                  <a:pt x="14086" y="19387"/>
                </a:moveTo>
                <a:cubicBezTo>
                  <a:pt x="28171" y="0"/>
                  <a:pt x="72145" y="7936"/>
                  <a:pt x="112304" y="37114"/>
                </a:cubicBezTo>
                <a:cubicBezTo>
                  <a:pt x="152463" y="66291"/>
                  <a:pt x="173600" y="105660"/>
                  <a:pt x="159514" y="125047"/>
                </a:cubicBezTo>
                <a:cubicBezTo>
                  <a:pt x="145429" y="144434"/>
                  <a:pt x="101455" y="136498"/>
                  <a:pt x="61296" y="107321"/>
                </a:cubicBezTo>
                <a:cubicBezTo>
                  <a:pt x="21137" y="78143"/>
                  <a:pt x="0" y="38774"/>
                  <a:pt x="14086" y="19387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artery_muscle_nucleus_glint_100"/>
          <p:cNvSpPr/>
          <p:nvPr/>
        </p:nvSpPr>
        <p:spPr>
          <a:xfrm>
            <a:off x="11786628" y="4206634"/>
            <a:ext cx="59992" cy="46725"/>
          </a:xfrm>
          <a:custGeom>
            <a:avLst/>
            <a:gdLst/>
            <a:ahLst/>
            <a:cxnLst/>
            <a:rect l="0" t="0" r="r" b="b"/>
            <a:pathLst>
              <a:path w="59992" h="46725">
                <a:moveTo>
                  <a:pt x="2415" y="3324"/>
                </a:moveTo>
                <a:cubicBezTo>
                  <a:pt x="4829" y="0"/>
                  <a:pt x="19135" y="6278"/>
                  <a:pt x="34368" y="17345"/>
                </a:cubicBezTo>
                <a:cubicBezTo>
                  <a:pt x="49601" y="28412"/>
                  <a:pt x="59992" y="40078"/>
                  <a:pt x="57577" y="43402"/>
                </a:cubicBezTo>
                <a:cubicBezTo>
                  <a:pt x="55163" y="46725"/>
                  <a:pt x="40857" y="40447"/>
                  <a:pt x="25624" y="29380"/>
                </a:cubicBezTo>
                <a:cubicBezTo>
                  <a:pt x="10391" y="18313"/>
                  <a:pt x="0" y="6647"/>
                  <a:pt x="2415" y="3324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artery_smooth_muscle_cell_101"/>
          <p:cNvSpPr/>
          <p:nvPr/>
        </p:nvSpPr>
        <p:spPr>
          <a:xfrm>
            <a:off x="12046700" y="4320402"/>
            <a:ext cx="458527" cy="492215"/>
          </a:xfrm>
          <a:custGeom>
            <a:avLst/>
            <a:gdLst/>
            <a:ahLst/>
            <a:cxnLst/>
            <a:rect l="0" t="0" r="r" b="b"/>
            <a:pathLst>
              <a:path w="458527" h="492215">
                <a:moveTo>
                  <a:pt x="0" y="0"/>
                </a:moveTo>
                <a:cubicBezTo>
                  <a:pt x="135012" y="59079"/>
                  <a:pt x="223490" y="55403"/>
                  <a:pt x="315412" y="148617"/>
                </a:cubicBezTo>
                <a:cubicBezTo>
                  <a:pt x="413745" y="252225"/>
                  <a:pt x="406091" y="376776"/>
                  <a:pt x="458527" y="492215"/>
                </a:cubicBezTo>
                <a:cubicBezTo>
                  <a:pt x="343831" y="438172"/>
                  <a:pt x="235324" y="444887"/>
                  <a:pt x="141456" y="353590"/>
                </a:cubicBezTo>
                <a:cubicBezTo>
                  <a:pt x="36999" y="247665"/>
                  <a:pt x="47460" y="145417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artery_muscle_surface_light_102"/>
          <p:cNvSpPr/>
          <p:nvPr/>
        </p:nvSpPr>
        <p:spPr>
          <a:xfrm>
            <a:off x="12082359" y="4360454"/>
            <a:ext cx="370209" cy="387089"/>
          </a:xfrm>
          <a:custGeom>
            <a:avLst/>
            <a:gdLst/>
            <a:ahLst/>
            <a:cxnLst/>
            <a:rect l="0" t="0" r="r" b="b"/>
            <a:pathLst>
              <a:path w="370209" h="387089">
                <a:moveTo>
                  <a:pt x="0" y="0"/>
                </a:moveTo>
                <a:cubicBezTo>
                  <a:pt x="150577" y="43730"/>
                  <a:pt x="207638" y="62677"/>
                  <a:pt x="270886" y="142381"/>
                </a:cubicBezTo>
                <a:cubicBezTo>
                  <a:pt x="339971" y="216330"/>
                  <a:pt x="334486" y="288598"/>
                  <a:pt x="370209" y="387089"/>
                </a:cubicBezTo>
                <a:cubicBezTo>
                  <a:pt x="317198" y="255502"/>
                  <a:pt x="283485" y="213531"/>
                  <a:pt x="222756" y="148057"/>
                </a:cubicBezTo>
                <a:cubicBezTo>
                  <a:pt x="139478" y="71391"/>
                  <a:pt x="86883" y="64755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artery_muscle_rim_light_103"/>
          <p:cNvSpPr/>
          <p:nvPr/>
        </p:nvSpPr>
        <p:spPr>
          <a:xfrm>
            <a:off x="12080701" y="4370447"/>
            <a:ext cx="294807" cy="135507"/>
          </a:xfrm>
          <a:custGeom>
            <a:avLst/>
            <a:gdLst/>
            <a:ahLst/>
            <a:cxnLst/>
            <a:rect l="0" t="0" r="r" b="b"/>
            <a:pathLst>
              <a:path w="294807" h="135507">
                <a:moveTo>
                  <a:pt x="0" y="0"/>
                </a:moveTo>
                <a:cubicBezTo>
                  <a:pt x="173924" y="20707"/>
                  <a:pt x="244094" y="68514"/>
                  <a:pt x="294807" y="135507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artery_muscle_nucleus_104"/>
          <p:cNvSpPr/>
          <p:nvPr/>
        </p:nvSpPr>
        <p:spPr>
          <a:xfrm>
            <a:off x="12219687" y="4512162"/>
            <a:ext cx="129490" cy="138522"/>
          </a:xfrm>
          <a:custGeom>
            <a:avLst/>
            <a:gdLst/>
            <a:ahLst/>
            <a:cxnLst/>
            <a:rect l="0" t="0" r="r" b="b"/>
            <a:pathLst>
              <a:path w="129490" h="138522">
                <a:moveTo>
                  <a:pt x="15360" y="13637"/>
                </a:moveTo>
                <a:cubicBezTo>
                  <a:pt x="30720" y="0"/>
                  <a:pt x="65282" y="13848"/>
                  <a:pt x="92557" y="44569"/>
                </a:cubicBezTo>
                <a:cubicBezTo>
                  <a:pt x="119832" y="75289"/>
                  <a:pt x="129490" y="111247"/>
                  <a:pt x="114130" y="124885"/>
                </a:cubicBezTo>
                <a:cubicBezTo>
                  <a:pt x="98770" y="138522"/>
                  <a:pt x="64208" y="124674"/>
                  <a:pt x="36933" y="93954"/>
                </a:cubicBezTo>
                <a:cubicBezTo>
                  <a:pt x="9659" y="63233"/>
                  <a:pt x="0" y="27275"/>
                  <a:pt x="15360" y="13637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artery_muscle_nucleus_glint_105"/>
          <p:cNvSpPr/>
          <p:nvPr/>
        </p:nvSpPr>
        <p:spPr>
          <a:xfrm>
            <a:off x="12230831" y="4537085"/>
            <a:ext cx="51414" cy="56443"/>
          </a:xfrm>
          <a:custGeom>
            <a:avLst/>
            <a:gdLst/>
            <a:ahLst/>
            <a:cxnLst/>
            <a:rect l="0" t="0" r="r" b="b"/>
            <a:pathLst>
              <a:path w="51414" h="56443">
                <a:moveTo>
                  <a:pt x="3072" y="2727"/>
                </a:moveTo>
                <a:cubicBezTo>
                  <a:pt x="6144" y="0"/>
                  <a:pt x="18768" y="9203"/>
                  <a:pt x="31269" y="23283"/>
                </a:cubicBezTo>
                <a:cubicBezTo>
                  <a:pt x="43770" y="37363"/>
                  <a:pt x="51414" y="50988"/>
                  <a:pt x="48342" y="53716"/>
                </a:cubicBezTo>
                <a:cubicBezTo>
                  <a:pt x="45270" y="56443"/>
                  <a:pt x="32645" y="47240"/>
                  <a:pt x="20144" y="33160"/>
                </a:cubicBezTo>
                <a:cubicBezTo>
                  <a:pt x="7644" y="19080"/>
                  <a:pt x="0" y="5455"/>
                  <a:pt x="3072" y="2727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artery_smooth_muscle_cell_106"/>
          <p:cNvSpPr/>
          <p:nvPr/>
        </p:nvSpPr>
        <p:spPr>
          <a:xfrm>
            <a:off x="9191903" y="2988347"/>
            <a:ext cx="675318" cy="476984"/>
          </a:xfrm>
          <a:custGeom>
            <a:avLst/>
            <a:gdLst/>
            <a:ahLst/>
            <a:cxnLst/>
            <a:rect l="0" t="0" r="r" b="b"/>
            <a:pathLst>
              <a:path w="675318" h="476984">
                <a:moveTo>
                  <a:pt x="0" y="0"/>
                </a:moveTo>
                <a:cubicBezTo>
                  <a:pt x="172682" y="44463"/>
                  <a:pt x="272924" y="26206"/>
                  <a:pt x="406643" y="115723"/>
                </a:cubicBezTo>
                <a:cubicBezTo>
                  <a:pt x="550874" y="215834"/>
                  <a:pt x="580064" y="356307"/>
                  <a:pt x="675318" y="476984"/>
                </a:cubicBezTo>
                <a:cubicBezTo>
                  <a:pt x="527448" y="434903"/>
                  <a:pt x="405184" y="459760"/>
                  <a:pt x="269821" y="372699"/>
                </a:cubicBezTo>
                <a:cubicBezTo>
                  <a:pt x="117868" y="270975"/>
                  <a:pt x="98691" y="15498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artery_muscle_surface_light_107"/>
          <p:cNvSpPr/>
          <p:nvPr/>
        </p:nvSpPr>
        <p:spPr>
          <a:xfrm>
            <a:off x="9244962" y="3027423"/>
            <a:ext cx="542098" cy="373574"/>
          </a:xfrm>
          <a:custGeom>
            <a:avLst/>
            <a:gdLst/>
            <a:ahLst/>
            <a:cxnLst/>
            <a:rect l="0" t="0" r="r" b="b"/>
            <a:pathLst>
              <a:path w="542098" h="373574">
                <a:moveTo>
                  <a:pt x="0" y="0"/>
                </a:moveTo>
                <a:cubicBezTo>
                  <a:pt x="185835" y="24814"/>
                  <a:pt x="256981" y="36874"/>
                  <a:pt x="353732" y="115870"/>
                </a:cubicBezTo>
                <a:cubicBezTo>
                  <a:pt x="455416" y="187499"/>
                  <a:pt x="471156" y="269173"/>
                  <a:pt x="542098" y="373574"/>
                </a:cubicBezTo>
                <a:cubicBezTo>
                  <a:pt x="441264" y="234934"/>
                  <a:pt x="389850" y="193402"/>
                  <a:pt x="300322" y="129911"/>
                </a:cubicBezTo>
                <a:cubicBezTo>
                  <a:pt x="181549" y="57513"/>
                  <a:pt x="119272" y="58504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artery_muscle_rim_light_108"/>
          <p:cNvSpPr/>
          <p:nvPr/>
        </p:nvSpPr>
        <p:spPr>
          <a:xfrm>
            <a:off x="9246107" y="3034201"/>
            <a:ext cx="379042" cy="109018"/>
          </a:xfrm>
          <a:custGeom>
            <a:avLst/>
            <a:gdLst/>
            <a:ahLst/>
            <a:cxnLst/>
            <a:rect l="0" t="0" r="r" b="b"/>
            <a:pathLst>
              <a:path w="379042" h="109018">
                <a:moveTo>
                  <a:pt x="0" y="4659"/>
                </a:moveTo>
                <a:cubicBezTo>
                  <a:pt x="205566" y="0"/>
                  <a:pt x="300525" y="42229"/>
                  <a:pt x="379042" y="109018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artery_muscle_nucleus_109"/>
          <p:cNvSpPr/>
          <p:nvPr/>
        </p:nvSpPr>
        <p:spPr>
          <a:xfrm>
            <a:off x="9453108" y="3169446"/>
            <a:ext cx="172649" cy="146058"/>
          </a:xfrm>
          <a:custGeom>
            <a:avLst/>
            <a:gdLst/>
            <a:ahLst/>
            <a:cxnLst/>
            <a:rect l="0" t="0" r="r" b="b"/>
            <a:pathLst>
              <a:path w="172649" h="146058">
                <a:moveTo>
                  <a:pt x="14355" y="19189"/>
                </a:moveTo>
                <a:cubicBezTo>
                  <a:pt x="28710" y="0"/>
                  <a:pt x="72569" y="8550"/>
                  <a:pt x="112316" y="38285"/>
                </a:cubicBezTo>
                <a:cubicBezTo>
                  <a:pt x="152064" y="68020"/>
                  <a:pt x="172649" y="107680"/>
                  <a:pt x="158294" y="126869"/>
                </a:cubicBezTo>
                <a:cubicBezTo>
                  <a:pt x="143939" y="146058"/>
                  <a:pt x="100080" y="137508"/>
                  <a:pt x="60333" y="107773"/>
                </a:cubicBezTo>
                <a:cubicBezTo>
                  <a:pt x="20585" y="78038"/>
                  <a:pt x="0" y="38377"/>
                  <a:pt x="14355" y="19189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artery_muscle_nucleus_glint_110"/>
          <p:cNvSpPr/>
          <p:nvPr/>
        </p:nvSpPr>
        <p:spPr>
          <a:xfrm>
            <a:off x="9481779" y="3202647"/>
            <a:ext cx="59519" cy="47423"/>
          </a:xfrm>
          <a:custGeom>
            <a:avLst/>
            <a:gdLst/>
            <a:ahLst/>
            <a:cxnLst/>
            <a:rect l="0" t="0" r="r" b="b"/>
            <a:pathLst>
              <a:path w="59519" h="47423">
                <a:moveTo>
                  <a:pt x="2461" y="3289"/>
                </a:moveTo>
                <a:cubicBezTo>
                  <a:pt x="4922" y="0"/>
                  <a:pt x="19139" y="6477"/>
                  <a:pt x="34215" y="17755"/>
                </a:cubicBezTo>
                <a:cubicBezTo>
                  <a:pt x="49292" y="29034"/>
                  <a:pt x="59519" y="40844"/>
                  <a:pt x="57059" y="44134"/>
                </a:cubicBezTo>
                <a:cubicBezTo>
                  <a:pt x="54598" y="47423"/>
                  <a:pt x="40381" y="40947"/>
                  <a:pt x="25304" y="29668"/>
                </a:cubicBezTo>
                <a:cubicBezTo>
                  <a:pt x="10227" y="18389"/>
                  <a:pt x="0" y="6579"/>
                  <a:pt x="2461" y="3289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artery_smooth_muscle_cell_111"/>
          <p:cNvSpPr/>
          <p:nvPr/>
        </p:nvSpPr>
        <p:spPr>
          <a:xfrm>
            <a:off x="9762254" y="3297965"/>
            <a:ext cx="646258" cy="481277"/>
          </a:xfrm>
          <a:custGeom>
            <a:avLst/>
            <a:gdLst/>
            <a:ahLst/>
            <a:cxnLst/>
            <a:rect l="0" t="0" r="r" b="b"/>
            <a:pathLst>
              <a:path w="646258" h="481277">
                <a:moveTo>
                  <a:pt x="0" y="0"/>
                </a:moveTo>
                <a:cubicBezTo>
                  <a:pt x="168146" y="46066"/>
                  <a:pt x="267401" y="29026"/>
                  <a:pt x="395550" y="119425"/>
                </a:cubicBezTo>
                <a:cubicBezTo>
                  <a:pt x="533640" y="220465"/>
                  <a:pt x="557097" y="360342"/>
                  <a:pt x="646258" y="481277"/>
                </a:cubicBezTo>
                <a:cubicBezTo>
                  <a:pt x="502422" y="437849"/>
                  <a:pt x="381265" y="461203"/>
                  <a:pt x="251407" y="373227"/>
                </a:cubicBezTo>
                <a:cubicBezTo>
                  <a:pt x="105784" y="270500"/>
                  <a:pt x="91259" y="15506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artery_muscle_surface_light_112"/>
          <p:cNvSpPr/>
          <p:nvPr/>
        </p:nvSpPr>
        <p:spPr>
          <a:xfrm>
            <a:off x="9812969" y="3337369"/>
            <a:ext cx="519119" cy="377080"/>
          </a:xfrm>
          <a:custGeom>
            <a:avLst/>
            <a:gdLst/>
            <a:ahLst/>
            <a:cxnLst/>
            <a:rect l="0" t="0" r="r" b="b"/>
            <a:pathLst>
              <a:path w="519119" h="377080">
                <a:moveTo>
                  <a:pt x="0" y="0"/>
                </a:moveTo>
                <a:cubicBezTo>
                  <a:pt x="181814" y="26689"/>
                  <a:pt x="251325" y="39450"/>
                  <a:pt x="343514" y="118992"/>
                </a:cubicBezTo>
                <a:cubicBezTo>
                  <a:pt x="440830" y="191268"/>
                  <a:pt x="453257" y="272582"/>
                  <a:pt x="519119" y="377080"/>
                </a:cubicBezTo>
                <a:cubicBezTo>
                  <a:pt x="425142" y="238239"/>
                  <a:pt x="376135" y="196414"/>
                  <a:pt x="290469" y="132356"/>
                </a:cubicBezTo>
                <a:cubicBezTo>
                  <a:pt x="176378" y="59128"/>
                  <a:pt x="115101" y="5943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artery_muscle_rim_light_113"/>
          <p:cNvSpPr/>
          <p:nvPr/>
        </p:nvSpPr>
        <p:spPr>
          <a:xfrm>
            <a:off x="9813669" y="3346368"/>
            <a:ext cx="368833" cy="110209"/>
          </a:xfrm>
          <a:custGeom>
            <a:avLst/>
            <a:gdLst/>
            <a:ahLst/>
            <a:cxnLst/>
            <a:rect l="0" t="0" r="r" b="b"/>
            <a:pathLst>
              <a:path w="368833" h="110209">
                <a:moveTo>
                  <a:pt x="0" y="2376"/>
                </a:moveTo>
                <a:cubicBezTo>
                  <a:pt x="202318" y="0"/>
                  <a:pt x="294118" y="42994"/>
                  <a:pt x="368833" y="110209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artery_muscle_nucleus_114"/>
          <p:cNvSpPr/>
          <p:nvPr/>
        </p:nvSpPr>
        <p:spPr>
          <a:xfrm>
            <a:off x="10009578" y="3479794"/>
            <a:ext cx="170904" cy="148829"/>
          </a:xfrm>
          <a:custGeom>
            <a:avLst/>
            <a:gdLst/>
            <a:ahLst/>
            <a:cxnLst/>
            <a:rect l="0" t="0" r="r" b="b"/>
            <a:pathLst>
              <a:path w="170904" h="148829">
                <a:moveTo>
                  <a:pt x="14819" y="18832"/>
                </a:moveTo>
                <a:cubicBezTo>
                  <a:pt x="29639" y="0"/>
                  <a:pt x="73276" y="9619"/>
                  <a:pt x="112285" y="40316"/>
                </a:cubicBezTo>
                <a:cubicBezTo>
                  <a:pt x="151294" y="71013"/>
                  <a:pt x="170904" y="111165"/>
                  <a:pt x="156085" y="129997"/>
                </a:cubicBezTo>
                <a:cubicBezTo>
                  <a:pt x="141265" y="148829"/>
                  <a:pt x="97629" y="139211"/>
                  <a:pt x="58619" y="108513"/>
                </a:cubicBezTo>
                <a:cubicBezTo>
                  <a:pt x="19610" y="77816"/>
                  <a:pt x="0" y="37664"/>
                  <a:pt x="14819" y="18832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artery_muscle_nucleus_glint_115"/>
          <p:cNvSpPr/>
          <p:nvPr/>
        </p:nvSpPr>
        <p:spPr>
          <a:xfrm>
            <a:off x="10037804" y="3513781"/>
            <a:ext cx="58664" cy="48623"/>
          </a:xfrm>
          <a:custGeom>
            <a:avLst/>
            <a:gdLst/>
            <a:ahLst/>
            <a:cxnLst/>
            <a:rect l="0" t="0" r="r" b="b"/>
            <a:pathLst>
              <a:path w="58664" h="48623">
                <a:moveTo>
                  <a:pt x="2540" y="3228"/>
                </a:moveTo>
                <a:cubicBezTo>
                  <a:pt x="5081" y="0"/>
                  <a:pt x="19135" y="6822"/>
                  <a:pt x="33932" y="18466"/>
                </a:cubicBezTo>
                <a:cubicBezTo>
                  <a:pt x="48729" y="30110"/>
                  <a:pt x="58664" y="42166"/>
                  <a:pt x="56124" y="45394"/>
                </a:cubicBezTo>
                <a:cubicBezTo>
                  <a:pt x="53583" y="48623"/>
                  <a:pt x="39529" y="41801"/>
                  <a:pt x="24732" y="30157"/>
                </a:cubicBezTo>
                <a:cubicBezTo>
                  <a:pt x="9936" y="18513"/>
                  <a:pt x="0" y="6457"/>
                  <a:pt x="2540" y="3228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artery_smooth_muscle_cell_116"/>
          <p:cNvSpPr/>
          <p:nvPr/>
        </p:nvSpPr>
        <p:spPr>
          <a:xfrm>
            <a:off x="10312911" y="3653729"/>
            <a:ext cx="640733" cy="453100"/>
          </a:xfrm>
          <a:custGeom>
            <a:avLst/>
            <a:gdLst/>
            <a:ahLst/>
            <a:cxnLst/>
            <a:rect l="0" t="0" r="r" b="b"/>
            <a:pathLst>
              <a:path w="640733" h="453100">
                <a:moveTo>
                  <a:pt x="0" y="0"/>
                </a:moveTo>
                <a:cubicBezTo>
                  <a:pt x="164607" y="41148"/>
                  <a:pt x="260600" y="22553"/>
                  <a:pt x="387520" y="107518"/>
                </a:cubicBezTo>
                <a:cubicBezTo>
                  <a:pt x="524381" y="202591"/>
                  <a:pt x="550887" y="337715"/>
                  <a:pt x="640733" y="453100"/>
                </a:cubicBezTo>
                <a:cubicBezTo>
                  <a:pt x="499817" y="414002"/>
                  <a:pt x="382710" y="439177"/>
                  <a:pt x="254195" y="356596"/>
                </a:cubicBezTo>
                <a:cubicBezTo>
                  <a:pt x="109968" y="260045"/>
                  <a:pt x="92790" y="148427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artery_muscle_surface_light_117"/>
          <p:cNvSpPr/>
          <p:nvPr/>
        </p:nvSpPr>
        <p:spPr>
          <a:xfrm>
            <a:off x="10363236" y="3690871"/>
            <a:ext cx="514428" cy="354737"/>
          </a:xfrm>
          <a:custGeom>
            <a:avLst/>
            <a:gdLst/>
            <a:ahLst/>
            <a:cxnLst/>
            <a:rect l="0" t="0" r="r" b="b"/>
            <a:pathLst>
              <a:path w="514428" h="354737">
                <a:moveTo>
                  <a:pt x="0" y="0"/>
                </a:moveTo>
                <a:cubicBezTo>
                  <a:pt x="177375" y="22076"/>
                  <a:pt x="245256" y="32995"/>
                  <a:pt x="336946" y="108185"/>
                </a:cubicBezTo>
                <a:cubicBezTo>
                  <a:pt x="433424" y="176224"/>
                  <a:pt x="447658" y="254800"/>
                  <a:pt x="514428" y="354737"/>
                </a:cubicBezTo>
                <a:cubicBezTo>
                  <a:pt x="419427" y="222092"/>
                  <a:pt x="370698" y="182566"/>
                  <a:pt x="285758" y="122251"/>
                </a:cubicBezTo>
                <a:cubicBezTo>
                  <a:pt x="172953" y="53640"/>
                  <a:pt x="113419" y="55213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artery_muscle_rim_light_118"/>
          <p:cNvSpPr/>
          <p:nvPr/>
        </p:nvSpPr>
        <p:spPr>
          <a:xfrm>
            <a:off x="10364218" y="3695353"/>
            <a:ext cx="361252" cy="103370"/>
          </a:xfrm>
          <a:custGeom>
            <a:avLst/>
            <a:gdLst/>
            <a:ahLst/>
            <a:cxnLst/>
            <a:rect l="0" t="0" r="r" b="b"/>
            <a:pathLst>
              <a:path w="361252" h="103370">
                <a:moveTo>
                  <a:pt x="0" y="6532"/>
                </a:moveTo>
                <a:cubicBezTo>
                  <a:pt x="196526" y="0"/>
                  <a:pt x="286868" y="39765"/>
                  <a:pt x="361252" y="103370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artery_muscle_nucleus_119"/>
          <p:cNvSpPr/>
          <p:nvPr/>
        </p:nvSpPr>
        <p:spPr>
          <a:xfrm>
            <a:off x="10556741" y="3822675"/>
            <a:ext cx="172649" cy="146058"/>
          </a:xfrm>
          <a:custGeom>
            <a:avLst/>
            <a:gdLst/>
            <a:ahLst/>
            <a:cxnLst/>
            <a:rect l="0" t="0" r="r" b="b"/>
            <a:pathLst>
              <a:path w="172649" h="146058">
                <a:moveTo>
                  <a:pt x="14355" y="19189"/>
                </a:moveTo>
                <a:cubicBezTo>
                  <a:pt x="28710" y="0"/>
                  <a:pt x="72569" y="8550"/>
                  <a:pt x="112316" y="38285"/>
                </a:cubicBezTo>
                <a:cubicBezTo>
                  <a:pt x="152064" y="68020"/>
                  <a:pt x="172649" y="107680"/>
                  <a:pt x="158294" y="126869"/>
                </a:cubicBezTo>
                <a:cubicBezTo>
                  <a:pt x="143939" y="146058"/>
                  <a:pt x="100080" y="137508"/>
                  <a:pt x="60333" y="107773"/>
                </a:cubicBezTo>
                <a:cubicBezTo>
                  <a:pt x="20585" y="78038"/>
                  <a:pt x="0" y="38377"/>
                  <a:pt x="14355" y="19189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artery_muscle_nucleus_glint_120"/>
          <p:cNvSpPr/>
          <p:nvPr/>
        </p:nvSpPr>
        <p:spPr>
          <a:xfrm>
            <a:off x="10585412" y="3855875"/>
            <a:ext cx="59519" cy="47423"/>
          </a:xfrm>
          <a:custGeom>
            <a:avLst/>
            <a:gdLst/>
            <a:ahLst/>
            <a:cxnLst/>
            <a:rect l="0" t="0" r="r" b="b"/>
            <a:pathLst>
              <a:path w="59519" h="47423">
                <a:moveTo>
                  <a:pt x="2461" y="3289"/>
                </a:moveTo>
                <a:cubicBezTo>
                  <a:pt x="4922" y="0"/>
                  <a:pt x="19139" y="6477"/>
                  <a:pt x="34215" y="17755"/>
                </a:cubicBezTo>
                <a:cubicBezTo>
                  <a:pt x="49292" y="29034"/>
                  <a:pt x="59519" y="40844"/>
                  <a:pt x="57059" y="44134"/>
                </a:cubicBezTo>
                <a:cubicBezTo>
                  <a:pt x="54598" y="47423"/>
                  <a:pt x="40381" y="40947"/>
                  <a:pt x="25304" y="29668"/>
                </a:cubicBezTo>
                <a:cubicBezTo>
                  <a:pt x="10227" y="18389"/>
                  <a:pt x="0" y="6579"/>
                  <a:pt x="2461" y="3289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artery_smooth_muscle_cell_121"/>
          <p:cNvSpPr/>
          <p:nvPr/>
        </p:nvSpPr>
        <p:spPr>
          <a:xfrm>
            <a:off x="10908482" y="3994030"/>
            <a:ext cx="664263" cy="492208"/>
          </a:xfrm>
          <a:custGeom>
            <a:avLst/>
            <a:gdLst/>
            <a:ahLst/>
            <a:cxnLst/>
            <a:rect l="0" t="0" r="r" b="b"/>
            <a:pathLst>
              <a:path w="664263" h="492208">
                <a:moveTo>
                  <a:pt x="0" y="0"/>
                </a:moveTo>
                <a:cubicBezTo>
                  <a:pt x="169259" y="51907"/>
                  <a:pt x="267177" y="39990"/>
                  <a:pt x="398669" y="132747"/>
                </a:cubicBezTo>
                <a:cubicBezTo>
                  <a:pt x="540525" y="236190"/>
                  <a:pt x="570157" y="371830"/>
                  <a:pt x="664263" y="492208"/>
                </a:cubicBezTo>
                <a:cubicBezTo>
                  <a:pt x="519292" y="443936"/>
                  <a:pt x="399883" y="460941"/>
                  <a:pt x="266802" y="370437"/>
                </a:cubicBezTo>
                <a:cubicBezTo>
                  <a:pt x="117380" y="265031"/>
                  <a:pt x="97730" y="153306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artery_muscle_surface_light_122"/>
          <p:cNvSpPr/>
          <p:nvPr/>
        </p:nvSpPr>
        <p:spPr>
          <a:xfrm>
            <a:off x="10960685" y="4034230"/>
            <a:ext cx="533152" cy="386221"/>
          </a:xfrm>
          <a:custGeom>
            <a:avLst/>
            <a:gdLst/>
            <a:ahLst/>
            <a:cxnLst/>
            <a:rect l="0" t="0" r="r" b="b"/>
            <a:pathLst>
              <a:path w="533152" h="386221">
                <a:moveTo>
                  <a:pt x="0" y="0"/>
                </a:moveTo>
                <a:cubicBezTo>
                  <a:pt x="181976" y="33881"/>
                  <a:pt x="251663" y="49294"/>
                  <a:pt x="346912" y="129983"/>
                </a:cubicBezTo>
                <a:cubicBezTo>
                  <a:pt x="446930" y="203912"/>
                  <a:pt x="462954" y="282708"/>
                  <a:pt x="533152" y="386221"/>
                </a:cubicBezTo>
                <a:cubicBezTo>
                  <a:pt x="433451" y="248398"/>
                  <a:pt x="382838" y="205945"/>
                  <a:pt x="294774" y="140448"/>
                </a:cubicBezTo>
                <a:cubicBezTo>
                  <a:pt x="178034" y="64846"/>
                  <a:pt x="117121" y="62372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artery_muscle_rim_light_123"/>
          <p:cNvSpPr/>
          <p:nvPr/>
        </p:nvSpPr>
        <p:spPr>
          <a:xfrm>
            <a:off x="10961893" y="4045206"/>
            <a:ext cx="371582" cy="120389"/>
          </a:xfrm>
          <a:custGeom>
            <a:avLst/>
            <a:gdLst/>
            <a:ahLst/>
            <a:cxnLst/>
            <a:rect l="0" t="0" r="r" b="b"/>
            <a:pathLst>
              <a:path w="371582" h="120389">
                <a:moveTo>
                  <a:pt x="0" y="0"/>
                </a:moveTo>
                <a:cubicBezTo>
                  <a:pt x="201050" y="6841"/>
                  <a:pt x="294264" y="52348"/>
                  <a:pt x="371582" y="120389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artery_muscle_nucleus_124"/>
          <p:cNvSpPr/>
          <p:nvPr/>
        </p:nvSpPr>
        <p:spPr>
          <a:xfrm>
            <a:off x="11165063" y="4181126"/>
            <a:ext cx="170904" cy="148829"/>
          </a:xfrm>
          <a:custGeom>
            <a:avLst/>
            <a:gdLst/>
            <a:ahLst/>
            <a:cxnLst/>
            <a:rect l="0" t="0" r="r" b="b"/>
            <a:pathLst>
              <a:path w="170904" h="148829">
                <a:moveTo>
                  <a:pt x="14819" y="18832"/>
                </a:moveTo>
                <a:cubicBezTo>
                  <a:pt x="29639" y="0"/>
                  <a:pt x="73276" y="9619"/>
                  <a:pt x="112285" y="40316"/>
                </a:cubicBezTo>
                <a:cubicBezTo>
                  <a:pt x="151294" y="71013"/>
                  <a:pt x="170904" y="111165"/>
                  <a:pt x="156085" y="129997"/>
                </a:cubicBezTo>
                <a:cubicBezTo>
                  <a:pt x="141265" y="148829"/>
                  <a:pt x="97629" y="139211"/>
                  <a:pt x="58619" y="108513"/>
                </a:cubicBezTo>
                <a:cubicBezTo>
                  <a:pt x="19610" y="77816"/>
                  <a:pt x="0" y="37664"/>
                  <a:pt x="14819" y="18832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artery_muscle_nucleus_glint_125"/>
          <p:cNvSpPr/>
          <p:nvPr/>
        </p:nvSpPr>
        <p:spPr>
          <a:xfrm>
            <a:off x="11193289" y="4215112"/>
            <a:ext cx="58664" cy="48623"/>
          </a:xfrm>
          <a:custGeom>
            <a:avLst/>
            <a:gdLst/>
            <a:ahLst/>
            <a:cxnLst/>
            <a:rect l="0" t="0" r="r" b="b"/>
            <a:pathLst>
              <a:path w="58664" h="48623">
                <a:moveTo>
                  <a:pt x="2540" y="3228"/>
                </a:moveTo>
                <a:cubicBezTo>
                  <a:pt x="5081" y="0"/>
                  <a:pt x="19135" y="6822"/>
                  <a:pt x="33932" y="18466"/>
                </a:cubicBezTo>
                <a:cubicBezTo>
                  <a:pt x="48729" y="30110"/>
                  <a:pt x="58664" y="42166"/>
                  <a:pt x="56124" y="45394"/>
                </a:cubicBezTo>
                <a:cubicBezTo>
                  <a:pt x="53583" y="48623"/>
                  <a:pt x="39529" y="41801"/>
                  <a:pt x="24732" y="30157"/>
                </a:cubicBezTo>
                <a:cubicBezTo>
                  <a:pt x="9936" y="18513"/>
                  <a:pt x="0" y="6457"/>
                  <a:pt x="2540" y="3228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artery_smooth_muscle_cell_126"/>
          <p:cNvSpPr/>
          <p:nvPr/>
        </p:nvSpPr>
        <p:spPr>
          <a:xfrm>
            <a:off x="11482842" y="4376399"/>
            <a:ext cx="658726" cy="463996"/>
          </a:xfrm>
          <a:custGeom>
            <a:avLst/>
            <a:gdLst/>
            <a:ahLst/>
            <a:cxnLst/>
            <a:rect l="0" t="0" r="r" b="b"/>
            <a:pathLst>
              <a:path w="658726" h="463996">
                <a:moveTo>
                  <a:pt x="0" y="0"/>
                </a:moveTo>
                <a:cubicBezTo>
                  <a:pt x="166644" y="45794"/>
                  <a:pt x="262362" y="30953"/>
                  <a:pt x="392681" y="118194"/>
                </a:cubicBezTo>
                <a:cubicBezTo>
                  <a:pt x="533327" y="215637"/>
                  <a:pt x="564575" y="348356"/>
                  <a:pt x="658726" y="463996"/>
                </a:cubicBezTo>
                <a:cubicBezTo>
                  <a:pt x="515933" y="421017"/>
                  <a:pt x="399248" y="441550"/>
                  <a:pt x="267408" y="356580"/>
                </a:cubicBezTo>
                <a:cubicBezTo>
                  <a:pt x="119319" y="257442"/>
                  <a:pt x="98241" y="147973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artery_muscle_surface_light_127"/>
          <p:cNvSpPr/>
          <p:nvPr/>
        </p:nvSpPr>
        <p:spPr>
          <a:xfrm>
            <a:off x="11534634" y="4414359"/>
            <a:ext cx="528563" cy="363707"/>
          </a:xfrm>
          <a:custGeom>
            <a:avLst/>
            <a:gdLst/>
            <a:ahLst/>
            <a:cxnLst/>
            <a:rect l="0" t="0" r="r" b="b"/>
            <a:pathLst>
              <a:path w="528563" h="363707">
                <a:moveTo>
                  <a:pt x="0" y="0"/>
                </a:moveTo>
                <a:cubicBezTo>
                  <a:pt x="178805" y="27628"/>
                  <a:pt x="247318" y="40611"/>
                  <a:pt x="341938" y="117107"/>
                </a:cubicBezTo>
                <a:cubicBezTo>
                  <a:pt x="441120" y="186792"/>
                  <a:pt x="458107" y="263929"/>
                  <a:pt x="528563" y="363707"/>
                </a:cubicBezTo>
                <a:cubicBezTo>
                  <a:pt x="428646" y="231053"/>
                  <a:pt x="378373" y="190822"/>
                  <a:pt x="291040" y="129069"/>
                </a:cubicBezTo>
                <a:cubicBezTo>
                  <a:pt x="175451" y="58266"/>
                  <a:pt x="115745" y="57755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artery_muscle_rim_light_128"/>
          <p:cNvSpPr/>
          <p:nvPr/>
        </p:nvSpPr>
        <p:spPr>
          <a:xfrm>
            <a:off x="11535998" y="4425136"/>
            <a:ext cx="365946" cy="106873"/>
          </a:xfrm>
          <a:custGeom>
            <a:avLst/>
            <a:gdLst/>
            <a:ahLst/>
            <a:cxnLst/>
            <a:rect l="0" t="0" r="r" b="b"/>
            <a:pathLst>
              <a:path w="365946" h="106873">
                <a:moveTo>
                  <a:pt x="0" y="0"/>
                </a:moveTo>
                <a:cubicBezTo>
                  <a:pt x="197045" y="381"/>
                  <a:pt x="289096" y="42274"/>
                  <a:pt x="365946" y="106873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artery_muscle_nucleus_129"/>
          <p:cNvSpPr/>
          <p:nvPr/>
        </p:nvSpPr>
        <p:spPr>
          <a:xfrm>
            <a:off x="11735860" y="4550674"/>
            <a:ext cx="172649" cy="146058"/>
          </a:xfrm>
          <a:custGeom>
            <a:avLst/>
            <a:gdLst/>
            <a:ahLst/>
            <a:cxnLst/>
            <a:rect l="0" t="0" r="r" b="b"/>
            <a:pathLst>
              <a:path w="172649" h="146058">
                <a:moveTo>
                  <a:pt x="14355" y="19189"/>
                </a:moveTo>
                <a:cubicBezTo>
                  <a:pt x="28710" y="0"/>
                  <a:pt x="72569" y="8550"/>
                  <a:pt x="112316" y="38285"/>
                </a:cubicBezTo>
                <a:cubicBezTo>
                  <a:pt x="152064" y="68020"/>
                  <a:pt x="172649" y="107680"/>
                  <a:pt x="158294" y="126869"/>
                </a:cubicBezTo>
                <a:cubicBezTo>
                  <a:pt x="143939" y="146058"/>
                  <a:pt x="100080" y="137508"/>
                  <a:pt x="60333" y="107773"/>
                </a:cubicBezTo>
                <a:cubicBezTo>
                  <a:pt x="20585" y="78038"/>
                  <a:pt x="0" y="38377"/>
                  <a:pt x="14355" y="19189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artery_muscle_nucleus_glint_130"/>
          <p:cNvSpPr/>
          <p:nvPr/>
        </p:nvSpPr>
        <p:spPr>
          <a:xfrm>
            <a:off x="11764531" y="4583875"/>
            <a:ext cx="59519" cy="47423"/>
          </a:xfrm>
          <a:custGeom>
            <a:avLst/>
            <a:gdLst/>
            <a:ahLst/>
            <a:cxnLst/>
            <a:rect l="0" t="0" r="r" b="b"/>
            <a:pathLst>
              <a:path w="59519" h="47423">
                <a:moveTo>
                  <a:pt x="2461" y="3289"/>
                </a:moveTo>
                <a:cubicBezTo>
                  <a:pt x="4922" y="0"/>
                  <a:pt x="19139" y="6477"/>
                  <a:pt x="34215" y="17755"/>
                </a:cubicBezTo>
                <a:cubicBezTo>
                  <a:pt x="49292" y="29034"/>
                  <a:pt x="59519" y="40844"/>
                  <a:pt x="57059" y="44134"/>
                </a:cubicBezTo>
                <a:cubicBezTo>
                  <a:pt x="54598" y="47423"/>
                  <a:pt x="40381" y="40947"/>
                  <a:pt x="25304" y="29668"/>
                </a:cubicBezTo>
                <a:cubicBezTo>
                  <a:pt x="10227" y="18389"/>
                  <a:pt x="0" y="6579"/>
                  <a:pt x="2461" y="3289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artery_smooth_muscle_cell_131"/>
          <p:cNvSpPr/>
          <p:nvPr/>
        </p:nvSpPr>
        <p:spPr>
          <a:xfrm>
            <a:off x="11966345" y="4673396"/>
            <a:ext cx="451184" cy="498977"/>
          </a:xfrm>
          <a:custGeom>
            <a:avLst/>
            <a:gdLst/>
            <a:ahLst/>
            <a:cxnLst/>
            <a:rect l="0" t="0" r="r" b="b"/>
            <a:pathLst>
              <a:path w="451184" h="498977">
                <a:moveTo>
                  <a:pt x="0" y="0"/>
                </a:moveTo>
                <a:cubicBezTo>
                  <a:pt x="135390" y="59792"/>
                  <a:pt x="225370" y="55952"/>
                  <a:pt x="315981" y="150441"/>
                </a:cubicBezTo>
                <a:cubicBezTo>
                  <a:pt x="412797" y="255470"/>
                  <a:pt x="401338" y="381885"/>
                  <a:pt x="451184" y="498977"/>
                </a:cubicBezTo>
                <a:cubicBezTo>
                  <a:pt x="336282" y="444271"/>
                  <a:pt x="225867" y="451219"/>
                  <a:pt x="133222" y="358680"/>
                </a:cubicBezTo>
                <a:cubicBezTo>
                  <a:pt x="30254" y="251306"/>
                  <a:pt x="43905" y="147523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artery_muscle_surface_light_132"/>
          <p:cNvSpPr/>
          <p:nvPr/>
        </p:nvSpPr>
        <p:spPr>
          <a:xfrm>
            <a:off x="12001381" y="4714000"/>
            <a:ext cx="364585" cy="392395"/>
          </a:xfrm>
          <a:custGeom>
            <a:avLst/>
            <a:gdLst/>
            <a:ahLst/>
            <a:cxnLst/>
            <a:rect l="0" t="0" r="r" b="b"/>
            <a:pathLst>
              <a:path w="364585" h="392395">
                <a:moveTo>
                  <a:pt x="0" y="0"/>
                </a:moveTo>
                <a:cubicBezTo>
                  <a:pt x="151654" y="44196"/>
                  <a:pt x="209053" y="63355"/>
                  <a:pt x="270939" y="144167"/>
                </a:cubicBezTo>
                <a:cubicBezTo>
                  <a:pt x="338924" y="219131"/>
                  <a:pt x="331214" y="292482"/>
                  <a:pt x="364585" y="392395"/>
                </a:cubicBezTo>
                <a:cubicBezTo>
                  <a:pt x="314634" y="258914"/>
                  <a:pt x="281631" y="216361"/>
                  <a:pt x="221883" y="149987"/>
                </a:cubicBezTo>
                <a:cubicBezTo>
                  <a:pt x="139562" y="72282"/>
                  <a:pt x="86335" y="65612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artery_muscle_rim_light_133"/>
          <p:cNvSpPr/>
          <p:nvPr/>
        </p:nvSpPr>
        <p:spPr>
          <a:xfrm>
            <a:off x="11999401" y="4724144"/>
            <a:ext cx="295440" cy="137161"/>
          </a:xfrm>
          <a:custGeom>
            <a:avLst/>
            <a:gdLst/>
            <a:ahLst/>
            <a:cxnLst/>
            <a:rect l="0" t="0" r="r" b="b"/>
            <a:pathLst>
              <a:path w="295440" h="137161">
                <a:moveTo>
                  <a:pt x="0" y="0"/>
                </a:moveTo>
                <a:cubicBezTo>
                  <a:pt x="176050" y="20801"/>
                  <a:pt x="245910" y="69233"/>
                  <a:pt x="295440" y="137161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artery_muscle_nucleus_134"/>
          <p:cNvSpPr/>
          <p:nvPr/>
        </p:nvSpPr>
        <p:spPr>
          <a:xfrm>
            <a:off x="12136092" y="4868145"/>
            <a:ext cx="128305" cy="139459"/>
          </a:xfrm>
          <a:custGeom>
            <a:avLst/>
            <a:gdLst/>
            <a:ahLst/>
            <a:cxnLst/>
            <a:rect l="0" t="0" r="r" b="b"/>
            <a:pathLst>
              <a:path w="128305" h="139459">
                <a:moveTo>
                  <a:pt x="15549" y="13422"/>
                </a:moveTo>
                <a:cubicBezTo>
                  <a:pt x="31098" y="0"/>
                  <a:pt x="65463" y="14330"/>
                  <a:pt x="92307" y="45428"/>
                </a:cubicBezTo>
                <a:cubicBezTo>
                  <a:pt x="119150" y="76526"/>
                  <a:pt x="128305" y="112616"/>
                  <a:pt x="112756" y="126037"/>
                </a:cubicBezTo>
                <a:cubicBezTo>
                  <a:pt x="97207" y="139459"/>
                  <a:pt x="62842" y="125129"/>
                  <a:pt x="35999" y="94031"/>
                </a:cubicBezTo>
                <a:cubicBezTo>
                  <a:pt x="9156" y="62933"/>
                  <a:pt x="0" y="26843"/>
                  <a:pt x="15549" y="13422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artery_muscle_nucleus_glint_135"/>
          <p:cNvSpPr/>
          <p:nvPr/>
        </p:nvSpPr>
        <p:spPr>
          <a:xfrm>
            <a:off x="12146965" y="4893266"/>
            <a:ext cx="50773" cy="56984"/>
          </a:xfrm>
          <a:custGeom>
            <a:avLst/>
            <a:gdLst/>
            <a:ahLst/>
            <a:cxnLst/>
            <a:rect l="0" t="0" r="r" b="b"/>
            <a:pathLst>
              <a:path w="50773" h="56984">
                <a:moveTo>
                  <a:pt x="3110" y="2684"/>
                </a:moveTo>
                <a:cubicBezTo>
                  <a:pt x="6220" y="0"/>
                  <a:pt x="18714" y="9378"/>
                  <a:pt x="31017" y="23632"/>
                </a:cubicBezTo>
                <a:cubicBezTo>
                  <a:pt x="43320" y="37885"/>
                  <a:pt x="50773" y="51616"/>
                  <a:pt x="47663" y="54300"/>
                </a:cubicBezTo>
                <a:cubicBezTo>
                  <a:pt x="44553" y="56984"/>
                  <a:pt x="32059" y="47606"/>
                  <a:pt x="19756" y="33352"/>
                </a:cubicBezTo>
                <a:cubicBezTo>
                  <a:pt x="7453" y="19099"/>
                  <a:pt x="0" y="5369"/>
                  <a:pt x="3110" y="2684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artery_smooth_muscle_cell_136"/>
          <p:cNvSpPr/>
          <p:nvPr/>
        </p:nvSpPr>
        <p:spPr>
          <a:xfrm>
            <a:off x="9270888" y="3322706"/>
            <a:ext cx="668559" cy="486415"/>
          </a:xfrm>
          <a:custGeom>
            <a:avLst/>
            <a:gdLst/>
            <a:ahLst/>
            <a:cxnLst/>
            <a:rect l="0" t="0" r="r" b="b"/>
            <a:pathLst>
              <a:path w="668559" h="486415">
                <a:moveTo>
                  <a:pt x="0" y="0"/>
                </a:moveTo>
                <a:cubicBezTo>
                  <a:pt x="172139" y="46732"/>
                  <a:pt x="272742" y="29709"/>
                  <a:pt x="405198" y="121084"/>
                </a:cubicBezTo>
                <a:cubicBezTo>
                  <a:pt x="548012" y="223206"/>
                  <a:pt x="575075" y="364309"/>
                  <a:pt x="668559" y="486415"/>
                </a:cubicBezTo>
                <a:cubicBezTo>
                  <a:pt x="521215" y="442384"/>
                  <a:pt x="398472" y="465739"/>
                  <a:pt x="264333" y="376804"/>
                </a:cubicBezTo>
                <a:cubicBezTo>
                  <a:pt x="113815" y="272968"/>
                  <a:pt x="96398" y="156525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artery_muscle_surface_light_137"/>
          <p:cNvSpPr/>
          <p:nvPr/>
        </p:nvSpPr>
        <p:spPr>
          <a:xfrm>
            <a:off x="9323392" y="3362526"/>
            <a:ext cx="536815" cy="381127"/>
          </a:xfrm>
          <a:custGeom>
            <a:avLst/>
            <a:gdLst/>
            <a:ahLst/>
            <a:cxnLst/>
            <a:rect l="0" t="0" r="r" b="b"/>
            <a:pathLst>
              <a:path w="536815" h="381127">
                <a:moveTo>
                  <a:pt x="0" y="0"/>
                </a:moveTo>
                <a:cubicBezTo>
                  <a:pt x="185604" y="27213"/>
                  <a:pt x="256622" y="40195"/>
                  <a:pt x="352242" y="120562"/>
                </a:cubicBezTo>
                <a:cubicBezTo>
                  <a:pt x="452911" y="193610"/>
                  <a:pt x="467414" y="275635"/>
                  <a:pt x="536815" y="381127"/>
                </a:cubicBezTo>
                <a:cubicBezTo>
                  <a:pt x="438022" y="240955"/>
                  <a:pt x="387202" y="198694"/>
                  <a:pt x="298574" y="133953"/>
                </a:cubicBezTo>
                <a:cubicBezTo>
                  <a:pt x="180815" y="59918"/>
                  <a:pt x="118472" y="60122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artery_muscle_rim_light_138"/>
          <p:cNvSpPr/>
          <p:nvPr/>
        </p:nvSpPr>
        <p:spPr>
          <a:xfrm>
            <a:off x="9324363" y="3371934"/>
            <a:ext cx="377749" cy="111416"/>
          </a:xfrm>
          <a:custGeom>
            <a:avLst/>
            <a:gdLst/>
            <a:ahLst/>
            <a:cxnLst/>
            <a:rect l="0" t="0" r="r" b="b"/>
            <a:pathLst>
              <a:path w="377749" h="111416">
                <a:moveTo>
                  <a:pt x="0" y="2065"/>
                </a:moveTo>
                <a:cubicBezTo>
                  <a:pt x="205802" y="0"/>
                  <a:pt x="300191" y="43509"/>
                  <a:pt x="377749" y="111416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artery_muscle_nucleus_139"/>
          <p:cNvSpPr/>
          <p:nvPr/>
        </p:nvSpPr>
        <p:spPr>
          <a:xfrm>
            <a:off x="9529119" y="3507741"/>
            <a:ext cx="171665" cy="147652"/>
          </a:xfrm>
          <a:custGeom>
            <a:avLst/>
            <a:gdLst/>
            <a:ahLst/>
            <a:cxnLst/>
            <a:rect l="0" t="0" r="r" b="b"/>
            <a:pathLst>
              <a:path w="171665" h="147652">
                <a:moveTo>
                  <a:pt x="14621" y="18986"/>
                </a:moveTo>
                <a:cubicBezTo>
                  <a:pt x="29243" y="0"/>
                  <a:pt x="72978" y="9161"/>
                  <a:pt x="112307" y="39448"/>
                </a:cubicBezTo>
                <a:cubicBezTo>
                  <a:pt x="151635" y="69736"/>
                  <a:pt x="171665" y="109680"/>
                  <a:pt x="157043" y="128666"/>
                </a:cubicBezTo>
                <a:cubicBezTo>
                  <a:pt x="142422" y="147652"/>
                  <a:pt x="98687" y="138491"/>
                  <a:pt x="59358" y="108204"/>
                </a:cubicBezTo>
                <a:cubicBezTo>
                  <a:pt x="20029" y="77917"/>
                  <a:pt x="0" y="37973"/>
                  <a:pt x="14621" y="18986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artery_muscle_nucleus_glint_140"/>
          <p:cNvSpPr/>
          <p:nvPr/>
        </p:nvSpPr>
        <p:spPr>
          <a:xfrm>
            <a:off x="9557540" y="3541395"/>
            <a:ext cx="59035" cy="48112"/>
          </a:xfrm>
          <a:custGeom>
            <a:avLst/>
            <a:gdLst/>
            <a:ahLst/>
            <a:cxnLst/>
            <a:rect l="0" t="0" r="r" b="b"/>
            <a:pathLst>
              <a:path w="59035" h="48112">
                <a:moveTo>
                  <a:pt x="2507" y="3255"/>
                </a:moveTo>
                <a:cubicBezTo>
                  <a:pt x="5013" y="0"/>
                  <a:pt x="19138" y="6675"/>
                  <a:pt x="34056" y="18163"/>
                </a:cubicBezTo>
                <a:cubicBezTo>
                  <a:pt x="48974" y="29651"/>
                  <a:pt x="59035" y="41603"/>
                  <a:pt x="56529" y="44857"/>
                </a:cubicBezTo>
                <a:cubicBezTo>
                  <a:pt x="54022" y="48112"/>
                  <a:pt x="39897" y="41438"/>
                  <a:pt x="24979" y="29949"/>
                </a:cubicBezTo>
                <a:cubicBezTo>
                  <a:pt x="10061" y="18461"/>
                  <a:pt x="0" y="6510"/>
                  <a:pt x="2507" y="3255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artery_smooth_muscle_cell_141"/>
          <p:cNvSpPr/>
          <p:nvPr/>
        </p:nvSpPr>
        <p:spPr>
          <a:xfrm>
            <a:off x="9805385" y="3653480"/>
            <a:ext cx="639867" cy="489714"/>
          </a:xfrm>
          <a:custGeom>
            <a:avLst/>
            <a:gdLst/>
            <a:ahLst/>
            <a:cxnLst/>
            <a:rect l="0" t="0" r="r" b="b"/>
            <a:pathLst>
              <a:path w="639867" h="489714">
                <a:moveTo>
                  <a:pt x="0" y="0"/>
                </a:moveTo>
                <a:cubicBezTo>
                  <a:pt x="166366" y="49950"/>
                  <a:pt x="264507" y="36147"/>
                  <a:pt x="391381" y="128326"/>
                </a:cubicBezTo>
                <a:cubicBezTo>
                  <a:pt x="528103" y="231207"/>
                  <a:pt x="551508" y="368779"/>
                  <a:pt x="639867" y="489714"/>
                </a:cubicBezTo>
                <a:cubicBezTo>
                  <a:pt x="497547" y="443049"/>
                  <a:pt x="377755" y="462398"/>
                  <a:pt x="249194" y="372540"/>
                </a:cubicBezTo>
                <a:cubicBezTo>
                  <a:pt x="105019" y="267791"/>
                  <a:pt x="90484" y="154393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artery_muscle_surface_light_142"/>
          <p:cNvSpPr/>
          <p:nvPr/>
        </p:nvSpPr>
        <p:spPr>
          <a:xfrm>
            <a:off x="9855602" y="3693510"/>
            <a:ext cx="513971" cy="384060"/>
          </a:xfrm>
          <a:custGeom>
            <a:avLst/>
            <a:gdLst/>
            <a:ahLst/>
            <a:cxnLst/>
            <a:rect l="0" t="0" r="r" b="b"/>
            <a:pathLst>
              <a:path w="513971" h="384060">
                <a:moveTo>
                  <a:pt x="0" y="0"/>
                </a:moveTo>
                <a:cubicBezTo>
                  <a:pt x="179857" y="31383"/>
                  <a:pt x="248622" y="45883"/>
                  <a:pt x="339916" y="126396"/>
                </a:cubicBezTo>
                <a:cubicBezTo>
                  <a:pt x="436269" y="199947"/>
                  <a:pt x="448680" y="279886"/>
                  <a:pt x="513971" y="384060"/>
                </a:cubicBezTo>
                <a:cubicBezTo>
                  <a:pt x="420823" y="245462"/>
                  <a:pt x="372292" y="203110"/>
                  <a:pt x="287474" y="137940"/>
                </a:cubicBezTo>
                <a:cubicBezTo>
                  <a:pt x="174528" y="62972"/>
                  <a:pt x="113924" y="61494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artery_muscle_rim_light_143"/>
          <p:cNvSpPr/>
          <p:nvPr/>
        </p:nvSpPr>
        <p:spPr>
          <a:xfrm>
            <a:off x="9856310" y="3704663"/>
            <a:ext cx="364941" cy="116208"/>
          </a:xfrm>
          <a:custGeom>
            <a:avLst/>
            <a:gdLst/>
            <a:ahLst/>
            <a:cxnLst/>
            <a:rect l="0" t="0" r="r" b="b"/>
            <a:pathLst>
              <a:path w="364941" h="116208">
                <a:moveTo>
                  <a:pt x="0" y="0"/>
                </a:moveTo>
                <a:cubicBezTo>
                  <a:pt x="200092" y="3531"/>
                  <a:pt x="290948" y="48265"/>
                  <a:pt x="364941" y="116208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artery_muscle_nucleus_144"/>
          <p:cNvSpPr/>
          <p:nvPr/>
        </p:nvSpPr>
        <p:spPr>
          <a:xfrm>
            <a:off x="10050040" y="3838644"/>
            <a:ext cx="169861" cy="150373"/>
          </a:xfrm>
          <a:custGeom>
            <a:avLst/>
            <a:gdLst/>
            <a:ahLst/>
            <a:cxnLst/>
            <a:rect l="0" t="0" r="r" b="b"/>
            <a:pathLst>
              <a:path w="169861" h="150373">
                <a:moveTo>
                  <a:pt x="15081" y="18623"/>
                </a:moveTo>
                <a:cubicBezTo>
                  <a:pt x="30162" y="0"/>
                  <a:pt x="73660" y="10227"/>
                  <a:pt x="112237" y="41466"/>
                </a:cubicBezTo>
                <a:cubicBezTo>
                  <a:pt x="150814" y="72705"/>
                  <a:pt x="169861" y="113127"/>
                  <a:pt x="154781" y="131750"/>
                </a:cubicBezTo>
                <a:cubicBezTo>
                  <a:pt x="139700" y="150373"/>
                  <a:pt x="96201" y="140146"/>
                  <a:pt x="57624" y="108907"/>
                </a:cubicBezTo>
                <a:cubicBezTo>
                  <a:pt x="19047" y="77668"/>
                  <a:pt x="0" y="37247"/>
                  <a:pt x="15081" y="18623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artery_muscle_nucleus_glint_145"/>
          <p:cNvSpPr/>
          <p:nvPr/>
        </p:nvSpPr>
        <p:spPr>
          <a:xfrm>
            <a:off x="10077997" y="3873067"/>
            <a:ext cx="58160" cy="49295"/>
          </a:xfrm>
          <a:custGeom>
            <a:avLst/>
            <a:gdLst/>
            <a:ahLst/>
            <a:cxnLst/>
            <a:rect l="0" t="0" r="r" b="b"/>
            <a:pathLst>
              <a:path w="58160" h="49295">
                <a:moveTo>
                  <a:pt x="2585" y="3193"/>
                </a:moveTo>
                <a:cubicBezTo>
                  <a:pt x="5171" y="0"/>
                  <a:pt x="19129" y="7018"/>
                  <a:pt x="33761" y="18867"/>
                </a:cubicBezTo>
                <a:cubicBezTo>
                  <a:pt x="48394" y="30716"/>
                  <a:pt x="58160" y="42910"/>
                  <a:pt x="55575" y="46103"/>
                </a:cubicBezTo>
                <a:cubicBezTo>
                  <a:pt x="52990" y="49295"/>
                  <a:pt x="39032" y="42278"/>
                  <a:pt x="24399" y="30428"/>
                </a:cubicBezTo>
                <a:cubicBezTo>
                  <a:pt x="9766" y="18579"/>
                  <a:pt x="0" y="6385"/>
                  <a:pt x="2585" y="3193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artery_smooth_muscle_cell_146"/>
          <p:cNvSpPr/>
          <p:nvPr/>
        </p:nvSpPr>
        <p:spPr>
          <a:xfrm>
            <a:off x="10377719" y="4031457"/>
            <a:ext cx="634787" cy="461360"/>
          </a:xfrm>
          <a:custGeom>
            <a:avLst/>
            <a:gdLst/>
            <a:ahLst/>
            <a:cxnLst/>
            <a:rect l="0" t="0" r="r" b="b"/>
            <a:pathLst>
              <a:path w="634787" h="461360">
                <a:moveTo>
                  <a:pt x="0" y="0"/>
                </a:moveTo>
                <a:cubicBezTo>
                  <a:pt x="162752" y="45275"/>
                  <a:pt x="257479" y="30221"/>
                  <a:pt x="383199" y="116950"/>
                </a:cubicBezTo>
                <a:cubicBezTo>
                  <a:pt x="518784" y="213833"/>
                  <a:pt x="545549" y="346199"/>
                  <a:pt x="634787" y="461360"/>
                </a:cubicBezTo>
                <a:cubicBezTo>
                  <a:pt x="495442" y="418833"/>
                  <a:pt x="379891" y="439621"/>
                  <a:pt x="252604" y="355162"/>
                </a:cubicBezTo>
                <a:cubicBezTo>
                  <a:pt x="109740" y="256607"/>
                  <a:pt x="92289" y="147417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artery_muscle_surface_light_147"/>
          <p:cNvSpPr/>
          <p:nvPr/>
        </p:nvSpPr>
        <p:spPr>
          <a:xfrm>
            <a:off x="10427584" y="4069207"/>
            <a:ext cx="509615" cy="361610"/>
          </a:xfrm>
          <a:custGeom>
            <a:avLst/>
            <a:gdLst/>
            <a:ahLst/>
            <a:cxnLst/>
            <a:rect l="0" t="0" r="r" b="b"/>
            <a:pathLst>
              <a:path w="509615" h="361610">
                <a:moveTo>
                  <a:pt x="0" y="0"/>
                </a:moveTo>
                <a:cubicBezTo>
                  <a:pt x="175279" y="27116"/>
                  <a:pt x="242369" y="39898"/>
                  <a:pt x="333253" y="115995"/>
                </a:cubicBezTo>
                <a:cubicBezTo>
                  <a:pt x="428836" y="185282"/>
                  <a:pt x="443235" y="262217"/>
                  <a:pt x="509615" y="361610"/>
                </a:cubicBezTo>
                <a:cubicBezTo>
                  <a:pt x="415211" y="229484"/>
                  <a:pt x="366912" y="189465"/>
                  <a:pt x="282759" y="128061"/>
                </a:cubicBezTo>
                <a:cubicBezTo>
                  <a:pt x="171050" y="57699"/>
                  <a:pt x="112258" y="57341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artery_muscle_rim_light_148"/>
          <p:cNvSpPr/>
          <p:nvPr/>
        </p:nvSpPr>
        <p:spPr>
          <a:xfrm>
            <a:off x="10428601" y="4079837"/>
            <a:ext cx="357209" cy="105843"/>
          </a:xfrm>
          <a:custGeom>
            <a:avLst/>
            <a:gdLst/>
            <a:ahLst/>
            <a:cxnLst/>
            <a:rect l="0" t="0" r="r" b="b"/>
            <a:pathLst>
              <a:path w="357209" h="105843">
                <a:moveTo>
                  <a:pt x="0" y="122"/>
                </a:moveTo>
                <a:cubicBezTo>
                  <a:pt x="194069" y="0"/>
                  <a:pt x="283469" y="41572"/>
                  <a:pt x="357209" y="105843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artery_muscle_nucleus_149"/>
          <p:cNvSpPr/>
          <p:nvPr/>
        </p:nvSpPr>
        <p:spPr>
          <a:xfrm>
            <a:off x="10619086" y="4203605"/>
            <a:ext cx="171665" cy="147652"/>
          </a:xfrm>
          <a:custGeom>
            <a:avLst/>
            <a:gdLst/>
            <a:ahLst/>
            <a:cxnLst/>
            <a:rect l="0" t="0" r="r" b="b"/>
            <a:pathLst>
              <a:path w="171665" h="147652">
                <a:moveTo>
                  <a:pt x="14621" y="18986"/>
                </a:moveTo>
                <a:cubicBezTo>
                  <a:pt x="29243" y="0"/>
                  <a:pt x="72978" y="9161"/>
                  <a:pt x="112307" y="39448"/>
                </a:cubicBezTo>
                <a:cubicBezTo>
                  <a:pt x="151635" y="69736"/>
                  <a:pt x="171665" y="109680"/>
                  <a:pt x="157043" y="128666"/>
                </a:cubicBezTo>
                <a:cubicBezTo>
                  <a:pt x="142422" y="147652"/>
                  <a:pt x="98687" y="138491"/>
                  <a:pt x="59358" y="108204"/>
                </a:cubicBezTo>
                <a:cubicBezTo>
                  <a:pt x="20029" y="77917"/>
                  <a:pt x="0" y="37973"/>
                  <a:pt x="14621" y="18986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artery_muscle_nucleus_glint_150"/>
          <p:cNvSpPr/>
          <p:nvPr/>
        </p:nvSpPr>
        <p:spPr>
          <a:xfrm>
            <a:off x="10647507" y="4237258"/>
            <a:ext cx="59035" cy="48112"/>
          </a:xfrm>
          <a:custGeom>
            <a:avLst/>
            <a:gdLst/>
            <a:ahLst/>
            <a:cxnLst/>
            <a:rect l="0" t="0" r="r" b="b"/>
            <a:pathLst>
              <a:path w="59035" h="48112">
                <a:moveTo>
                  <a:pt x="2507" y="3255"/>
                </a:moveTo>
                <a:cubicBezTo>
                  <a:pt x="5013" y="0"/>
                  <a:pt x="19138" y="6675"/>
                  <a:pt x="34056" y="18163"/>
                </a:cubicBezTo>
                <a:cubicBezTo>
                  <a:pt x="48974" y="29651"/>
                  <a:pt x="59035" y="41603"/>
                  <a:pt x="56529" y="44857"/>
                </a:cubicBezTo>
                <a:cubicBezTo>
                  <a:pt x="54022" y="48112"/>
                  <a:pt x="39897" y="41438"/>
                  <a:pt x="24979" y="29949"/>
                </a:cubicBezTo>
                <a:cubicBezTo>
                  <a:pt x="10061" y="18461"/>
                  <a:pt x="0" y="6510"/>
                  <a:pt x="2507" y="3255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artery_smooth_muscle_cell_151"/>
          <p:cNvSpPr/>
          <p:nvPr/>
        </p:nvSpPr>
        <p:spPr>
          <a:xfrm>
            <a:off x="10956037" y="4380832"/>
            <a:ext cx="657429" cy="501293"/>
          </a:xfrm>
          <a:custGeom>
            <a:avLst/>
            <a:gdLst/>
            <a:ahLst/>
            <a:cxnLst/>
            <a:rect l="0" t="0" r="r" b="b"/>
            <a:pathLst>
              <a:path w="657429" h="501293">
                <a:moveTo>
                  <a:pt x="0" y="0"/>
                </a:moveTo>
                <a:cubicBezTo>
                  <a:pt x="168224" y="54671"/>
                  <a:pt x="265945" y="44609"/>
                  <a:pt x="396128" y="139193"/>
                </a:cubicBezTo>
                <a:cubicBezTo>
                  <a:pt x="536541" y="244586"/>
                  <a:pt x="564777" y="379937"/>
                  <a:pt x="657429" y="501293"/>
                </a:cubicBezTo>
                <a:cubicBezTo>
                  <a:pt x="513382" y="450677"/>
                  <a:pt x="394189" y="465404"/>
                  <a:pt x="262399" y="373031"/>
                </a:cubicBezTo>
                <a:cubicBezTo>
                  <a:pt x="114463" y="265549"/>
                  <a:pt x="95948" y="154149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artery_muscle_surface_light_152"/>
          <p:cNvSpPr/>
          <p:nvPr/>
        </p:nvSpPr>
        <p:spPr>
          <a:xfrm>
            <a:off x="11007688" y="4421736"/>
            <a:ext cx="527752" cy="393567"/>
          </a:xfrm>
          <a:custGeom>
            <a:avLst/>
            <a:gdLst/>
            <a:ahLst/>
            <a:cxnLst/>
            <a:rect l="0" t="0" r="r" b="b"/>
            <a:pathLst>
              <a:path w="527752" h="393567">
                <a:moveTo>
                  <a:pt x="0" y="0"/>
                </a:moveTo>
                <a:cubicBezTo>
                  <a:pt x="181072" y="36986"/>
                  <a:pt x="250391" y="53573"/>
                  <a:pt x="344563" y="135503"/>
                </a:cubicBezTo>
                <a:cubicBezTo>
                  <a:pt x="443553" y="210802"/>
                  <a:pt x="458770" y="289408"/>
                  <a:pt x="527752" y="393567"/>
                </a:cubicBezTo>
                <a:cubicBezTo>
                  <a:pt x="429690" y="254770"/>
                  <a:pt x="379645" y="211655"/>
                  <a:pt x="292490" y="144956"/>
                </a:cubicBezTo>
                <a:cubicBezTo>
                  <a:pt x="176846" y="67691"/>
                  <a:pt x="116151" y="64123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artery_muscle_rim_light_153"/>
          <p:cNvSpPr/>
          <p:nvPr/>
        </p:nvSpPr>
        <p:spPr>
          <a:xfrm>
            <a:off x="11008787" y="4432668"/>
            <a:ext cx="369246" cy="126417"/>
          </a:xfrm>
          <a:custGeom>
            <a:avLst/>
            <a:gdLst/>
            <a:ahLst/>
            <a:cxnLst/>
            <a:rect l="0" t="0" r="r" b="b"/>
            <a:pathLst>
              <a:path w="369246" h="126417">
                <a:moveTo>
                  <a:pt x="0" y="0"/>
                </a:moveTo>
                <a:cubicBezTo>
                  <a:pt x="200346" y="10458"/>
                  <a:pt x="292827" y="57384"/>
                  <a:pt x="369246" y="126417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artery_muscle_nucleus_154"/>
          <p:cNvSpPr/>
          <p:nvPr/>
        </p:nvSpPr>
        <p:spPr>
          <a:xfrm>
            <a:off x="11209668" y="4571675"/>
            <a:ext cx="169861" cy="150373"/>
          </a:xfrm>
          <a:custGeom>
            <a:avLst/>
            <a:gdLst/>
            <a:ahLst/>
            <a:cxnLst/>
            <a:rect l="0" t="0" r="r" b="b"/>
            <a:pathLst>
              <a:path w="169861" h="150373">
                <a:moveTo>
                  <a:pt x="15081" y="18623"/>
                </a:moveTo>
                <a:cubicBezTo>
                  <a:pt x="30162" y="0"/>
                  <a:pt x="73660" y="10227"/>
                  <a:pt x="112237" y="41466"/>
                </a:cubicBezTo>
                <a:cubicBezTo>
                  <a:pt x="150814" y="72705"/>
                  <a:pt x="169861" y="113127"/>
                  <a:pt x="154781" y="131750"/>
                </a:cubicBezTo>
                <a:cubicBezTo>
                  <a:pt x="139700" y="150373"/>
                  <a:pt x="96201" y="140146"/>
                  <a:pt x="57624" y="108907"/>
                </a:cubicBezTo>
                <a:cubicBezTo>
                  <a:pt x="19047" y="77668"/>
                  <a:pt x="0" y="37247"/>
                  <a:pt x="15081" y="18623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artery_muscle_nucleus_glint_155"/>
          <p:cNvSpPr/>
          <p:nvPr/>
        </p:nvSpPr>
        <p:spPr>
          <a:xfrm>
            <a:off x="11237625" y="4606098"/>
            <a:ext cx="58160" cy="49295"/>
          </a:xfrm>
          <a:custGeom>
            <a:avLst/>
            <a:gdLst/>
            <a:ahLst/>
            <a:cxnLst/>
            <a:rect l="0" t="0" r="r" b="b"/>
            <a:pathLst>
              <a:path w="58160" h="49295">
                <a:moveTo>
                  <a:pt x="2585" y="3193"/>
                </a:moveTo>
                <a:cubicBezTo>
                  <a:pt x="5171" y="0"/>
                  <a:pt x="19129" y="7018"/>
                  <a:pt x="33761" y="18867"/>
                </a:cubicBezTo>
                <a:cubicBezTo>
                  <a:pt x="48394" y="30716"/>
                  <a:pt x="58160" y="42910"/>
                  <a:pt x="55575" y="46103"/>
                </a:cubicBezTo>
                <a:cubicBezTo>
                  <a:pt x="52990" y="49295"/>
                  <a:pt x="39032" y="42278"/>
                  <a:pt x="24399" y="30428"/>
                </a:cubicBezTo>
                <a:cubicBezTo>
                  <a:pt x="9766" y="18579"/>
                  <a:pt x="0" y="6385"/>
                  <a:pt x="2585" y="3193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artery_smooth_muscle_cell_156"/>
          <p:cNvSpPr/>
          <p:nvPr/>
        </p:nvSpPr>
        <p:spPr>
          <a:xfrm>
            <a:off x="11499208" y="4749343"/>
            <a:ext cx="651848" cy="473634"/>
          </a:xfrm>
          <a:custGeom>
            <a:avLst/>
            <a:gdLst/>
            <a:ahLst/>
            <a:cxnLst/>
            <a:rect l="0" t="0" r="r" b="b"/>
            <a:pathLst>
              <a:path w="651848" h="473634">
                <a:moveTo>
                  <a:pt x="0" y="0"/>
                </a:moveTo>
                <a:cubicBezTo>
                  <a:pt x="166945" y="46729"/>
                  <a:pt x="264009" y="31562"/>
                  <a:pt x="393097" y="120614"/>
                </a:cubicBezTo>
                <a:cubicBezTo>
                  <a:pt x="532321" y="220080"/>
                  <a:pt x="560087" y="355580"/>
                  <a:pt x="651848" y="473634"/>
                </a:cubicBezTo>
                <a:cubicBezTo>
                  <a:pt x="508904" y="429774"/>
                  <a:pt x="390508" y="450757"/>
                  <a:pt x="259821" y="364023"/>
                </a:cubicBezTo>
                <a:cubicBezTo>
                  <a:pt x="113129" y="262827"/>
                  <a:pt x="94970" y="151064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artery_muscle_surface_light_157"/>
          <p:cNvSpPr/>
          <p:nvPr/>
        </p:nvSpPr>
        <p:spPr>
          <a:xfrm>
            <a:off x="11550417" y="4788091"/>
            <a:ext cx="523290" cy="371260"/>
          </a:xfrm>
          <a:custGeom>
            <a:avLst/>
            <a:gdLst/>
            <a:ahLst/>
            <a:cxnLst/>
            <a:rect l="0" t="0" r="r" b="b"/>
            <a:pathLst>
              <a:path w="523290" h="371260">
                <a:moveTo>
                  <a:pt x="0" y="0"/>
                </a:moveTo>
                <a:cubicBezTo>
                  <a:pt x="179741" y="28181"/>
                  <a:pt x="248544" y="41425"/>
                  <a:pt x="341896" y="119513"/>
                </a:cubicBezTo>
                <a:cubicBezTo>
                  <a:pt x="440047" y="190644"/>
                  <a:pt x="454999" y="269398"/>
                  <a:pt x="523290" y="371260"/>
                </a:cubicBezTo>
                <a:cubicBezTo>
                  <a:pt x="426191" y="235837"/>
                  <a:pt x="376581" y="194769"/>
                  <a:pt x="290166" y="131733"/>
                </a:cubicBezTo>
                <a:cubicBezTo>
                  <a:pt x="175482" y="59462"/>
                  <a:pt x="115214" y="5895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artery_muscle_rim_light_158"/>
          <p:cNvSpPr/>
          <p:nvPr/>
        </p:nvSpPr>
        <p:spPr>
          <a:xfrm>
            <a:off x="11551487" y="4799095"/>
            <a:ext cx="366427" cy="109060"/>
          </a:xfrm>
          <a:custGeom>
            <a:avLst/>
            <a:gdLst/>
            <a:ahLst/>
            <a:cxnLst/>
            <a:rect l="0" t="0" r="r" b="b"/>
            <a:pathLst>
              <a:path w="366427" h="109060">
                <a:moveTo>
                  <a:pt x="0" y="0"/>
                </a:moveTo>
                <a:cubicBezTo>
                  <a:pt x="198934" y="358"/>
                  <a:pt x="290678" y="43116"/>
                  <a:pt x="366427" y="109060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artery_muscle_nucleus_159"/>
          <p:cNvSpPr/>
          <p:nvPr/>
        </p:nvSpPr>
        <p:spPr>
          <a:xfrm>
            <a:off x="11749133" y="4927753"/>
            <a:ext cx="171665" cy="147652"/>
          </a:xfrm>
          <a:custGeom>
            <a:avLst/>
            <a:gdLst/>
            <a:ahLst/>
            <a:cxnLst/>
            <a:rect l="0" t="0" r="r" b="b"/>
            <a:pathLst>
              <a:path w="171665" h="147652">
                <a:moveTo>
                  <a:pt x="14621" y="18986"/>
                </a:moveTo>
                <a:cubicBezTo>
                  <a:pt x="29243" y="0"/>
                  <a:pt x="72978" y="9161"/>
                  <a:pt x="112307" y="39448"/>
                </a:cubicBezTo>
                <a:cubicBezTo>
                  <a:pt x="151635" y="69736"/>
                  <a:pt x="171665" y="109680"/>
                  <a:pt x="157043" y="128666"/>
                </a:cubicBezTo>
                <a:cubicBezTo>
                  <a:pt x="142422" y="147652"/>
                  <a:pt x="98687" y="138491"/>
                  <a:pt x="59358" y="108204"/>
                </a:cubicBezTo>
                <a:cubicBezTo>
                  <a:pt x="20029" y="77917"/>
                  <a:pt x="0" y="37973"/>
                  <a:pt x="14621" y="18986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artery_muscle_nucleus_glint_160"/>
          <p:cNvSpPr/>
          <p:nvPr/>
        </p:nvSpPr>
        <p:spPr>
          <a:xfrm>
            <a:off x="11777553" y="4961406"/>
            <a:ext cx="59035" cy="48112"/>
          </a:xfrm>
          <a:custGeom>
            <a:avLst/>
            <a:gdLst/>
            <a:ahLst/>
            <a:cxnLst/>
            <a:rect l="0" t="0" r="r" b="b"/>
            <a:pathLst>
              <a:path w="59035" h="48112">
                <a:moveTo>
                  <a:pt x="2507" y="3255"/>
                </a:moveTo>
                <a:cubicBezTo>
                  <a:pt x="5013" y="0"/>
                  <a:pt x="19138" y="6675"/>
                  <a:pt x="34056" y="18163"/>
                </a:cubicBezTo>
                <a:cubicBezTo>
                  <a:pt x="48974" y="29651"/>
                  <a:pt x="59035" y="41603"/>
                  <a:pt x="56529" y="44857"/>
                </a:cubicBezTo>
                <a:cubicBezTo>
                  <a:pt x="54022" y="48112"/>
                  <a:pt x="39897" y="41438"/>
                  <a:pt x="24979" y="29949"/>
                </a:cubicBezTo>
                <a:cubicBezTo>
                  <a:pt x="10061" y="18461"/>
                  <a:pt x="0" y="6510"/>
                  <a:pt x="2507" y="3255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artery_smooth_muscle_cell_161"/>
          <p:cNvSpPr/>
          <p:nvPr/>
        </p:nvSpPr>
        <p:spPr>
          <a:xfrm>
            <a:off x="11975112" y="5047022"/>
            <a:ext cx="443579" cy="505782"/>
          </a:xfrm>
          <a:custGeom>
            <a:avLst/>
            <a:gdLst/>
            <a:ahLst/>
            <a:cxnLst/>
            <a:rect l="0" t="0" r="r" b="b"/>
            <a:pathLst>
              <a:path w="443579" h="505782">
                <a:moveTo>
                  <a:pt x="0" y="0"/>
                </a:moveTo>
                <a:cubicBezTo>
                  <a:pt x="136240" y="60094"/>
                  <a:pt x="228302" y="55610"/>
                  <a:pt x="317586" y="151355"/>
                </a:cubicBezTo>
                <a:cubicBezTo>
                  <a:pt x="412841" y="257804"/>
                  <a:pt x="396731" y="386739"/>
                  <a:pt x="443579" y="505782"/>
                </a:cubicBezTo>
                <a:cubicBezTo>
                  <a:pt x="328093" y="450744"/>
                  <a:pt x="215045" y="458525"/>
                  <a:pt x="123617" y="364780"/>
                </a:cubicBezTo>
                <a:cubicBezTo>
                  <a:pt x="22158" y="255979"/>
                  <a:pt x="39719" y="150101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artery_muscle_surface_light_162"/>
          <p:cNvSpPr/>
          <p:nvPr/>
        </p:nvSpPr>
        <p:spPr>
          <a:xfrm>
            <a:off x="12009492" y="5088191"/>
            <a:ext cx="358816" cy="397685"/>
          </a:xfrm>
          <a:custGeom>
            <a:avLst/>
            <a:gdLst/>
            <a:ahLst/>
            <a:cxnLst/>
            <a:rect l="0" t="0" r="r" b="b"/>
            <a:pathLst>
              <a:path w="358816" h="397685">
                <a:moveTo>
                  <a:pt x="0" y="0"/>
                </a:moveTo>
                <a:cubicBezTo>
                  <a:pt x="153400" y="44092"/>
                  <a:pt x="211374" y="63259"/>
                  <a:pt x="271786" y="145244"/>
                </a:cubicBezTo>
                <a:cubicBezTo>
                  <a:pt x="338633" y="221229"/>
                  <a:pt x="328202" y="296049"/>
                  <a:pt x="358816" y="397685"/>
                </a:cubicBezTo>
                <a:cubicBezTo>
                  <a:pt x="312431" y="261936"/>
                  <a:pt x="280196" y="218767"/>
                  <a:pt x="221466" y="151487"/>
                </a:cubicBezTo>
                <a:cubicBezTo>
                  <a:pt x="140067" y="72798"/>
                  <a:pt x="85920" y="66336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artery_muscle_rim_light_163"/>
          <p:cNvSpPr/>
          <p:nvPr/>
        </p:nvSpPr>
        <p:spPr>
          <a:xfrm>
            <a:off x="12007116" y="5098543"/>
            <a:ext cx="297062" cy="137947"/>
          </a:xfrm>
          <a:custGeom>
            <a:avLst/>
            <a:gdLst/>
            <a:ahLst/>
            <a:cxnLst/>
            <a:rect l="0" t="0" r="r" b="b"/>
            <a:pathLst>
              <a:path w="297062" h="137947">
                <a:moveTo>
                  <a:pt x="0" y="0"/>
                </a:moveTo>
                <a:cubicBezTo>
                  <a:pt x="179139" y="20090"/>
                  <a:pt x="248825" y="69018"/>
                  <a:pt x="297062" y="137947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artery_muscle_nucleus_164"/>
          <p:cNvSpPr/>
          <p:nvPr/>
        </p:nvSpPr>
        <p:spPr>
          <a:xfrm>
            <a:off x="12141464" y="5244823"/>
            <a:ext cx="127095" cy="140368"/>
          </a:xfrm>
          <a:custGeom>
            <a:avLst/>
            <a:gdLst/>
            <a:ahLst/>
            <a:cxnLst/>
            <a:rect l="0" t="0" r="r" b="b"/>
            <a:pathLst>
              <a:path w="127095" h="140368">
                <a:moveTo>
                  <a:pt x="15735" y="13203"/>
                </a:moveTo>
                <a:cubicBezTo>
                  <a:pt x="31470" y="0"/>
                  <a:pt x="65632" y="14808"/>
                  <a:pt x="92038" y="46278"/>
                </a:cubicBezTo>
                <a:cubicBezTo>
                  <a:pt x="118444" y="77747"/>
                  <a:pt x="127095" y="113962"/>
                  <a:pt x="111360" y="127165"/>
                </a:cubicBezTo>
                <a:cubicBezTo>
                  <a:pt x="95625" y="140368"/>
                  <a:pt x="61463" y="125560"/>
                  <a:pt x="35057" y="94090"/>
                </a:cubicBezTo>
                <a:cubicBezTo>
                  <a:pt x="8651" y="62621"/>
                  <a:pt x="0" y="26406"/>
                  <a:pt x="15735" y="13203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artery_muscle_nucleus_glint_165"/>
          <p:cNvSpPr/>
          <p:nvPr/>
        </p:nvSpPr>
        <p:spPr>
          <a:xfrm>
            <a:off x="12152056" y="5270134"/>
            <a:ext cx="50122" cy="57514"/>
          </a:xfrm>
          <a:custGeom>
            <a:avLst/>
            <a:gdLst/>
            <a:ahLst/>
            <a:cxnLst/>
            <a:rect l="0" t="0" r="r" b="b"/>
            <a:pathLst>
              <a:path w="50122" h="57514">
                <a:moveTo>
                  <a:pt x="3147" y="2641"/>
                </a:moveTo>
                <a:cubicBezTo>
                  <a:pt x="6294" y="0"/>
                  <a:pt x="18656" y="9552"/>
                  <a:pt x="30759" y="23976"/>
                </a:cubicBezTo>
                <a:cubicBezTo>
                  <a:pt x="42862" y="38399"/>
                  <a:pt x="50122" y="52233"/>
                  <a:pt x="46975" y="54873"/>
                </a:cubicBezTo>
                <a:cubicBezTo>
                  <a:pt x="43828" y="57514"/>
                  <a:pt x="31466" y="47962"/>
                  <a:pt x="19363" y="33538"/>
                </a:cubicBezTo>
                <a:cubicBezTo>
                  <a:pt x="7260" y="19115"/>
                  <a:pt x="0" y="5281"/>
                  <a:pt x="3147" y="2641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artery_smooth_muscle_cell_166"/>
          <p:cNvSpPr/>
          <p:nvPr/>
        </p:nvSpPr>
        <p:spPr>
          <a:xfrm>
            <a:off x="12213441" y="5341159"/>
            <a:ext cx="457402" cy="530693"/>
          </a:xfrm>
          <a:custGeom>
            <a:avLst/>
            <a:gdLst/>
            <a:ahLst/>
            <a:cxnLst/>
            <a:rect l="0" t="0" r="r" b="b"/>
            <a:pathLst>
              <a:path w="457402" h="530693">
                <a:moveTo>
                  <a:pt x="0" y="0"/>
                </a:moveTo>
                <a:cubicBezTo>
                  <a:pt x="127642" y="76915"/>
                  <a:pt x="207813" y="88139"/>
                  <a:pt x="299062" y="189481"/>
                </a:cubicBezTo>
                <a:cubicBezTo>
                  <a:pt x="396994" y="301488"/>
                  <a:pt x="400245" y="415336"/>
                  <a:pt x="457402" y="530693"/>
                </a:cubicBezTo>
                <a:cubicBezTo>
                  <a:pt x="348652" y="461790"/>
                  <a:pt x="250512" y="450063"/>
                  <a:pt x="157651" y="350173"/>
                </a:cubicBezTo>
                <a:cubicBezTo>
                  <a:pt x="53959" y="235011"/>
                  <a:pt x="55090" y="142241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artery_muscle_surface_light_167"/>
          <p:cNvSpPr/>
          <p:nvPr/>
        </p:nvSpPr>
        <p:spPr>
          <a:xfrm>
            <a:off x="12249158" y="5384069"/>
            <a:ext cx="368455" cy="418937"/>
          </a:xfrm>
          <a:custGeom>
            <a:avLst/>
            <a:gdLst/>
            <a:ahLst/>
            <a:cxnLst/>
            <a:rect l="0" t="0" r="r" b="b"/>
            <a:pathLst>
              <a:path w="368455" h="418937">
                <a:moveTo>
                  <a:pt x="0" y="0"/>
                </a:moveTo>
                <a:cubicBezTo>
                  <a:pt x="140540" y="65301"/>
                  <a:pt x="193992" y="92243"/>
                  <a:pt x="258053" y="176360"/>
                </a:cubicBezTo>
                <a:cubicBezTo>
                  <a:pt x="326952" y="256121"/>
                  <a:pt x="327888" y="322007"/>
                  <a:pt x="368455" y="418937"/>
                </a:cubicBezTo>
                <a:cubicBezTo>
                  <a:pt x="309451" y="288561"/>
                  <a:pt x="275346" y="244200"/>
                  <a:pt x="214743" y="173651"/>
                </a:cubicBezTo>
                <a:cubicBezTo>
                  <a:pt x="132713" y="89031"/>
                  <a:pt x="84332" y="74206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artery_muscle_rim_light_168"/>
          <p:cNvSpPr/>
          <p:nvPr/>
        </p:nvSpPr>
        <p:spPr>
          <a:xfrm>
            <a:off x="12248469" y="5393030"/>
            <a:ext cx="279247" cy="173959"/>
          </a:xfrm>
          <a:custGeom>
            <a:avLst/>
            <a:gdLst/>
            <a:ahLst/>
            <a:cxnLst/>
            <a:rect l="0" t="0" r="r" b="b"/>
            <a:pathLst>
              <a:path w="279247" h="173959">
                <a:moveTo>
                  <a:pt x="0" y="0"/>
                </a:moveTo>
                <a:cubicBezTo>
                  <a:pt x="159887" y="47881"/>
                  <a:pt x="227628" y="103662"/>
                  <a:pt x="279247" y="173959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artery_muscle_nucleus_169"/>
          <p:cNvSpPr/>
          <p:nvPr/>
        </p:nvSpPr>
        <p:spPr>
          <a:xfrm>
            <a:off x="12388322" y="5550171"/>
            <a:ext cx="125548" cy="141466"/>
          </a:xfrm>
          <a:custGeom>
            <a:avLst/>
            <a:gdLst/>
            <a:ahLst/>
            <a:cxnLst/>
            <a:rect l="0" t="0" r="r" b="b"/>
            <a:pathLst>
              <a:path w="125548" h="141466">
                <a:moveTo>
                  <a:pt x="15963" y="12926"/>
                </a:moveTo>
                <a:cubicBezTo>
                  <a:pt x="31926" y="0"/>
                  <a:pt x="65824" y="15402"/>
                  <a:pt x="91677" y="47328"/>
                </a:cubicBezTo>
                <a:cubicBezTo>
                  <a:pt x="117530" y="79254"/>
                  <a:pt x="125548" y="115613"/>
                  <a:pt x="109585" y="128540"/>
                </a:cubicBezTo>
                <a:cubicBezTo>
                  <a:pt x="93622" y="141466"/>
                  <a:pt x="59723" y="126065"/>
                  <a:pt x="33870" y="94139"/>
                </a:cubicBezTo>
                <a:cubicBezTo>
                  <a:pt x="8018" y="62213"/>
                  <a:pt x="0" y="25853"/>
                  <a:pt x="15963" y="12926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artery_muscle_nucleus_glint_170"/>
          <p:cNvSpPr/>
          <p:nvPr/>
        </p:nvSpPr>
        <p:spPr>
          <a:xfrm>
            <a:off x="12398555" y="5575707"/>
            <a:ext cx="49295" cy="58160"/>
          </a:xfrm>
          <a:custGeom>
            <a:avLst/>
            <a:gdLst/>
            <a:ahLst/>
            <a:cxnLst/>
            <a:rect l="0" t="0" r="r" b="b"/>
            <a:pathLst>
              <a:path w="49295" h="58160">
                <a:moveTo>
                  <a:pt x="3193" y="2585"/>
                </a:moveTo>
                <a:cubicBezTo>
                  <a:pt x="6385" y="0"/>
                  <a:pt x="18579" y="9766"/>
                  <a:pt x="30428" y="24399"/>
                </a:cubicBezTo>
                <a:cubicBezTo>
                  <a:pt x="42278" y="39032"/>
                  <a:pt x="49295" y="52990"/>
                  <a:pt x="46103" y="55575"/>
                </a:cubicBezTo>
                <a:cubicBezTo>
                  <a:pt x="42910" y="58160"/>
                  <a:pt x="30716" y="48394"/>
                  <a:pt x="18867" y="33761"/>
                </a:cubicBezTo>
                <a:cubicBezTo>
                  <a:pt x="7018" y="19129"/>
                  <a:pt x="0" y="5171"/>
                  <a:pt x="3193" y="2585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artery_smooth_muscle_cell_171"/>
          <p:cNvSpPr/>
          <p:nvPr/>
        </p:nvSpPr>
        <p:spPr>
          <a:xfrm>
            <a:off x="12536263" y="5689301"/>
            <a:ext cx="394043" cy="455786"/>
          </a:xfrm>
          <a:custGeom>
            <a:avLst/>
            <a:gdLst/>
            <a:ahLst/>
            <a:cxnLst/>
            <a:rect l="0" t="0" r="r" b="b"/>
            <a:pathLst>
              <a:path w="394043" h="455786">
                <a:moveTo>
                  <a:pt x="0" y="0"/>
                </a:moveTo>
                <a:cubicBezTo>
                  <a:pt x="107837" y="67889"/>
                  <a:pt x="174463" y="79632"/>
                  <a:pt x="252937" y="166787"/>
                </a:cubicBezTo>
                <a:cubicBezTo>
                  <a:pt x="337255" y="263025"/>
                  <a:pt x="343340" y="357973"/>
                  <a:pt x="394043" y="455786"/>
                </a:cubicBezTo>
                <a:cubicBezTo>
                  <a:pt x="302066" y="395136"/>
                  <a:pt x="220568" y="382438"/>
                  <a:pt x="140804" y="296445"/>
                </a:cubicBezTo>
                <a:cubicBezTo>
                  <a:pt x="51628" y="197406"/>
                  <a:pt x="49796" y="12015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DACD"/>
              </a:gs>
              <a:gs pos="20000">
                <a:srgbClr val="F9C5B6"/>
              </a:gs>
              <a:gs pos="49000">
                <a:srgbClr val="EFA99B"/>
              </a:gs>
              <a:gs pos="76000">
                <a:srgbClr val="D98B82"/>
              </a:gs>
              <a:gs pos="100000">
                <a:srgbClr val="C67672"/>
              </a:gs>
            </a:gsLst>
            <a:path path="circle">
              <a:fillToRect l="38000" t="20000" r="62000" b="80000"/>
            </a:path>
            <a:tileRect/>
          </a:gradFill>
          <a:ln w="4648" cap="rnd">
            <a:solidFill>
              <a:srgbClr val="AD5F6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artery_muscle_surface_light_172"/>
          <p:cNvSpPr/>
          <p:nvPr/>
        </p:nvSpPr>
        <p:spPr>
          <a:xfrm>
            <a:off x="12567076" y="5726116"/>
            <a:ext cx="317161" cy="360025"/>
          </a:xfrm>
          <a:custGeom>
            <a:avLst/>
            <a:gdLst/>
            <a:ahLst/>
            <a:cxnLst/>
            <a:rect l="0" t="0" r="r" b="b"/>
            <a:pathLst>
              <a:path w="317161" h="360025">
                <a:moveTo>
                  <a:pt x="0" y="0"/>
                </a:moveTo>
                <a:cubicBezTo>
                  <a:pt x="118156" y="58598"/>
                  <a:pt x="163157" y="82639"/>
                  <a:pt x="218637" y="154631"/>
                </a:cubicBezTo>
                <a:cubicBezTo>
                  <a:pt x="277986" y="223139"/>
                  <a:pt x="280726" y="278058"/>
                  <a:pt x="317161" y="360025"/>
                </a:cubicBezTo>
                <a:cubicBezTo>
                  <a:pt x="264483" y="249643"/>
                  <a:pt x="234960" y="211667"/>
                  <a:pt x="182745" y="151082"/>
                </a:cubicBezTo>
                <a:cubicBezTo>
                  <a:pt x="112392" y="78135"/>
                  <a:pt x="71945" y="6434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rgbClr val="FFE6D7">
                  <a:alpha val="20000"/>
                </a:srgbClr>
              </a:gs>
              <a:gs pos="60000">
                <a:srgbClr val="F7CCBB">
                  <a:alpha val="20000"/>
                </a:srgbClr>
              </a:gs>
              <a:gs pos="100000">
                <a:srgbClr val="EAA591">
                  <a:alpha val="2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artery_muscle_rim_light_173"/>
          <p:cNvSpPr/>
          <p:nvPr/>
        </p:nvSpPr>
        <p:spPr>
          <a:xfrm>
            <a:off x="12566773" y="5733562"/>
            <a:ext cx="236089" cy="153263"/>
          </a:xfrm>
          <a:custGeom>
            <a:avLst/>
            <a:gdLst/>
            <a:ahLst/>
            <a:cxnLst/>
            <a:rect l="0" t="0" r="r" b="b"/>
            <a:pathLst>
              <a:path w="236089" h="153263">
                <a:moveTo>
                  <a:pt x="0" y="0"/>
                </a:moveTo>
                <a:cubicBezTo>
                  <a:pt x="133634" y="44662"/>
                  <a:pt x="191311" y="93156"/>
                  <a:pt x="236089" y="153263"/>
                </a:cubicBezTo>
              </a:path>
            </a:pathLst>
          </a:custGeom>
          <a:noFill/>
          <a:ln w="4029" cap="rnd">
            <a:solidFill>
              <a:srgbClr val="FFF1DE">
                <a:alpha val="40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artery_muscle_nucleus_174"/>
          <p:cNvSpPr/>
          <p:nvPr/>
        </p:nvSpPr>
        <p:spPr>
          <a:xfrm>
            <a:off x="12679657" y="5860101"/>
            <a:ext cx="125548" cy="141466"/>
          </a:xfrm>
          <a:custGeom>
            <a:avLst/>
            <a:gdLst/>
            <a:ahLst/>
            <a:cxnLst/>
            <a:rect l="0" t="0" r="r" b="b"/>
            <a:pathLst>
              <a:path w="125548" h="141466">
                <a:moveTo>
                  <a:pt x="15963" y="12926"/>
                </a:moveTo>
                <a:cubicBezTo>
                  <a:pt x="31926" y="0"/>
                  <a:pt x="65824" y="15402"/>
                  <a:pt x="91677" y="47328"/>
                </a:cubicBezTo>
                <a:cubicBezTo>
                  <a:pt x="117530" y="79254"/>
                  <a:pt x="125548" y="115613"/>
                  <a:pt x="109585" y="128540"/>
                </a:cubicBezTo>
                <a:cubicBezTo>
                  <a:pt x="93622" y="141466"/>
                  <a:pt x="59723" y="126065"/>
                  <a:pt x="33870" y="94139"/>
                </a:cubicBezTo>
                <a:cubicBezTo>
                  <a:pt x="8018" y="62213"/>
                  <a:pt x="0" y="25853"/>
                  <a:pt x="15963" y="12926"/>
                </a:cubicBezTo>
                <a:close/>
              </a:path>
            </a:pathLst>
          </a:custGeom>
          <a:gradFill rotWithShape="1">
            <a:gsLst>
              <a:gs pos="0">
                <a:srgbClr val="E3A293"/>
              </a:gs>
              <a:gs pos="28000">
                <a:srgbClr val="C97C70"/>
              </a:gs>
              <a:gs pos="65000">
                <a:srgbClr val="B45B55"/>
              </a:gs>
              <a:gs pos="100000">
                <a:srgbClr val="934246"/>
              </a:gs>
            </a:gsLst>
            <a:path path="circle">
              <a:fillToRect l="27000" t="22000" r="73000" b="78000"/>
            </a:path>
            <a:tileRect/>
          </a:gradFill>
          <a:ln w="4029" cap="rnd">
            <a:solidFill>
              <a:srgbClr val="93464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artery_muscle_nucleus_glint_175"/>
          <p:cNvSpPr/>
          <p:nvPr/>
        </p:nvSpPr>
        <p:spPr>
          <a:xfrm>
            <a:off x="12689889" y="5885638"/>
            <a:ext cx="49295" cy="58160"/>
          </a:xfrm>
          <a:custGeom>
            <a:avLst/>
            <a:gdLst/>
            <a:ahLst/>
            <a:cxnLst/>
            <a:rect l="0" t="0" r="r" b="b"/>
            <a:pathLst>
              <a:path w="49295" h="58160">
                <a:moveTo>
                  <a:pt x="3193" y="2585"/>
                </a:moveTo>
                <a:cubicBezTo>
                  <a:pt x="6385" y="0"/>
                  <a:pt x="18579" y="9766"/>
                  <a:pt x="30428" y="24399"/>
                </a:cubicBezTo>
                <a:cubicBezTo>
                  <a:pt x="42278" y="39032"/>
                  <a:pt x="49295" y="52990"/>
                  <a:pt x="46103" y="55575"/>
                </a:cubicBezTo>
                <a:cubicBezTo>
                  <a:pt x="42910" y="58160"/>
                  <a:pt x="30716" y="48394"/>
                  <a:pt x="18867" y="33761"/>
                </a:cubicBezTo>
                <a:cubicBezTo>
                  <a:pt x="7018" y="19129"/>
                  <a:pt x="0" y="5171"/>
                  <a:pt x="3193" y="2585"/>
                </a:cubicBezTo>
                <a:close/>
              </a:path>
            </a:pathLst>
          </a:custGeom>
          <a:solidFill>
            <a:srgbClr val="F5C2A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artery_far_rim_176"/>
          <p:cNvSpPr/>
          <p:nvPr/>
        </p:nvSpPr>
        <p:spPr>
          <a:xfrm>
            <a:off x="8766020" y="1104593"/>
            <a:ext cx="4202661" cy="2386467"/>
          </a:xfrm>
          <a:custGeom>
            <a:avLst/>
            <a:gdLst/>
            <a:ahLst/>
            <a:cxnLst/>
            <a:rect l="0" t="0" r="r" b="b"/>
            <a:pathLst>
              <a:path w="4202661" h="2386467">
                <a:moveTo>
                  <a:pt x="173561" y="1264517"/>
                </a:moveTo>
                <a:cubicBezTo>
                  <a:pt x="0" y="1047566"/>
                  <a:pt x="6199" y="737635"/>
                  <a:pt x="74383" y="514485"/>
                </a:cubicBezTo>
                <a:cubicBezTo>
                  <a:pt x="167363" y="223150"/>
                  <a:pt x="278938" y="49589"/>
                  <a:pt x="539279" y="18596"/>
                </a:cubicBezTo>
                <a:cubicBezTo>
                  <a:pt x="1078559" y="0"/>
                  <a:pt x="1679825" y="371917"/>
                  <a:pt x="2405063" y="812019"/>
                </a:cubicBezTo>
                <a:cubicBezTo>
                  <a:pt x="3124102" y="1245922"/>
                  <a:pt x="3756361" y="1686023"/>
                  <a:pt x="4202661" y="1989755"/>
                </a:cubicBezTo>
                <a:lnTo>
                  <a:pt x="3892730" y="2386467"/>
                </a:lnTo>
                <a:cubicBezTo>
                  <a:pt x="3421635" y="2057940"/>
                  <a:pt x="2975335" y="1655030"/>
                  <a:pt x="2367871" y="1283113"/>
                </a:cubicBezTo>
                <a:cubicBezTo>
                  <a:pt x="1630236" y="836813"/>
                  <a:pt x="886402" y="347122"/>
                  <a:pt x="477293" y="303732"/>
                </a:cubicBezTo>
                <a:cubicBezTo>
                  <a:pt x="216952" y="272739"/>
                  <a:pt x="92979" y="675649"/>
                  <a:pt x="154965" y="954587"/>
                </a:cubicBezTo>
                <a:cubicBezTo>
                  <a:pt x="179760" y="1109552"/>
                  <a:pt x="254143" y="1208730"/>
                  <a:pt x="340924" y="1326504"/>
                </a:cubicBezTo>
                <a:close/>
              </a:path>
            </a:pathLst>
          </a:custGeom>
          <a:gradFill rotWithShape="1">
            <a:gsLst>
              <a:gs pos="0">
                <a:srgbClr val="FFF8F0"/>
              </a:gs>
              <a:gs pos="45000">
                <a:srgbClr val="F8C8C2"/>
              </a:gs>
              <a:gs pos="100000">
                <a:srgbClr val="F2BDBB"/>
              </a:gs>
            </a:gsLst>
            <a:lin ang="5400000" scaled="1"/>
          </a:gradFill>
          <a:ln w="7438" cap="rnd">
            <a:solidFill>
              <a:srgbClr val="D592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artery_far_rim_fiber_177"/>
          <p:cNvSpPr/>
          <p:nvPr/>
        </p:nvSpPr>
        <p:spPr>
          <a:xfrm>
            <a:off x="8784615" y="1092196"/>
            <a:ext cx="4122079" cy="2033146"/>
          </a:xfrm>
          <a:custGeom>
            <a:avLst/>
            <a:gdLst/>
            <a:ahLst/>
            <a:cxnLst/>
            <a:rect l="0" t="0" r="r" b="b"/>
            <a:pathLst>
              <a:path w="4122079" h="2033146">
                <a:moveTo>
                  <a:pt x="148767" y="1159141"/>
                </a:moveTo>
                <a:cubicBezTo>
                  <a:pt x="0" y="793423"/>
                  <a:pt x="173561" y="254143"/>
                  <a:pt x="464896" y="123972"/>
                </a:cubicBezTo>
                <a:cubicBezTo>
                  <a:pt x="904998" y="0"/>
                  <a:pt x="1766605" y="564074"/>
                  <a:pt x="2436056" y="966984"/>
                </a:cubicBezTo>
                <a:cubicBezTo>
                  <a:pt x="3155095" y="1394688"/>
                  <a:pt x="3700573" y="1785201"/>
                  <a:pt x="4122079" y="2033146"/>
                </a:cubicBezTo>
              </a:path>
            </a:pathLst>
          </a:custGeom>
          <a:noFill/>
          <a:ln w="4339" cap="rnd">
            <a:solidFill>
              <a:srgbClr val="F8E4D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artery_far_rim_fiber_178"/>
          <p:cNvSpPr/>
          <p:nvPr/>
        </p:nvSpPr>
        <p:spPr>
          <a:xfrm>
            <a:off x="8798004" y="1108932"/>
            <a:ext cx="4096974" cy="2026451"/>
          </a:xfrm>
          <a:custGeom>
            <a:avLst/>
            <a:gdLst/>
            <a:ahLst/>
            <a:cxnLst/>
            <a:rect l="0" t="0" r="r" b="b"/>
            <a:pathLst>
              <a:path w="4096974" h="2026451">
                <a:moveTo>
                  <a:pt x="137219" y="1132363"/>
                </a:moveTo>
                <a:cubicBezTo>
                  <a:pt x="0" y="771666"/>
                  <a:pt x="173561" y="243265"/>
                  <a:pt x="451507" y="123972"/>
                </a:cubicBezTo>
                <a:cubicBezTo>
                  <a:pt x="891609" y="0"/>
                  <a:pt x="1753216" y="564074"/>
                  <a:pt x="2422667" y="966984"/>
                </a:cubicBezTo>
                <a:cubicBezTo>
                  <a:pt x="3141706" y="1394688"/>
                  <a:pt x="3687184" y="1776833"/>
                  <a:pt x="4096974" y="2026451"/>
                </a:cubicBezTo>
              </a:path>
            </a:pathLst>
          </a:custGeom>
          <a:noFill/>
          <a:ln w="4339" cap="rnd">
            <a:solidFill>
              <a:srgbClr val="ECA7A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artery_far_rim_fiber_179"/>
          <p:cNvSpPr/>
          <p:nvPr/>
        </p:nvSpPr>
        <p:spPr>
          <a:xfrm>
            <a:off x="8811393" y="1125668"/>
            <a:ext cx="4071870" cy="2019757"/>
          </a:xfrm>
          <a:custGeom>
            <a:avLst/>
            <a:gdLst/>
            <a:ahLst/>
            <a:cxnLst/>
            <a:rect l="0" t="0" r="r" b="b"/>
            <a:pathLst>
              <a:path w="4071870" h="2019757">
                <a:moveTo>
                  <a:pt x="125671" y="1105585"/>
                </a:moveTo>
                <a:cubicBezTo>
                  <a:pt x="0" y="749908"/>
                  <a:pt x="173561" y="232386"/>
                  <a:pt x="438118" y="123972"/>
                </a:cubicBezTo>
                <a:cubicBezTo>
                  <a:pt x="878220" y="0"/>
                  <a:pt x="1739827" y="564074"/>
                  <a:pt x="2409278" y="966984"/>
                </a:cubicBezTo>
                <a:cubicBezTo>
                  <a:pt x="3128317" y="1394688"/>
                  <a:pt x="3673795" y="1768465"/>
                  <a:pt x="4071870" y="2019757"/>
                </a:cubicBezTo>
              </a:path>
            </a:pathLst>
          </a:custGeom>
          <a:noFill/>
          <a:ln w="4339" cap="rnd">
            <a:solidFill>
              <a:srgbClr val="F1B7B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artery_far_rim_fiber_180"/>
          <p:cNvSpPr/>
          <p:nvPr/>
        </p:nvSpPr>
        <p:spPr>
          <a:xfrm>
            <a:off x="8824782" y="1142405"/>
            <a:ext cx="4046766" cy="2013062"/>
          </a:xfrm>
          <a:custGeom>
            <a:avLst/>
            <a:gdLst/>
            <a:ahLst/>
            <a:cxnLst/>
            <a:rect l="0" t="0" r="r" b="b"/>
            <a:pathLst>
              <a:path w="4046766" h="2013062">
                <a:moveTo>
                  <a:pt x="114123" y="1078807"/>
                </a:moveTo>
                <a:cubicBezTo>
                  <a:pt x="0" y="728151"/>
                  <a:pt x="173561" y="221507"/>
                  <a:pt x="424729" y="123972"/>
                </a:cubicBezTo>
                <a:cubicBezTo>
                  <a:pt x="864831" y="0"/>
                  <a:pt x="1726438" y="564074"/>
                  <a:pt x="2395889" y="966984"/>
                </a:cubicBezTo>
                <a:cubicBezTo>
                  <a:pt x="3114928" y="1394688"/>
                  <a:pt x="3660406" y="1760097"/>
                  <a:pt x="4046766" y="2013062"/>
                </a:cubicBezTo>
              </a:path>
            </a:pathLst>
          </a:custGeom>
          <a:noFill/>
          <a:ln w="4339" cap="rnd">
            <a:solidFill>
              <a:srgbClr val="FFF7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artery_far_rim_fiber_181"/>
          <p:cNvSpPr/>
          <p:nvPr/>
        </p:nvSpPr>
        <p:spPr>
          <a:xfrm>
            <a:off x="8838171" y="1159141"/>
            <a:ext cx="4021661" cy="2006368"/>
          </a:xfrm>
          <a:custGeom>
            <a:avLst/>
            <a:gdLst/>
            <a:ahLst/>
            <a:cxnLst/>
            <a:rect l="0" t="0" r="r" b="b"/>
            <a:pathLst>
              <a:path w="4021661" h="2006368">
                <a:moveTo>
                  <a:pt x="102575" y="1052029"/>
                </a:moveTo>
                <a:cubicBezTo>
                  <a:pt x="0" y="706394"/>
                  <a:pt x="173561" y="210629"/>
                  <a:pt x="411340" y="123972"/>
                </a:cubicBezTo>
                <a:cubicBezTo>
                  <a:pt x="851442" y="0"/>
                  <a:pt x="1713049" y="564074"/>
                  <a:pt x="2382500" y="966984"/>
                </a:cubicBezTo>
                <a:cubicBezTo>
                  <a:pt x="3101539" y="1394688"/>
                  <a:pt x="3647017" y="1751729"/>
                  <a:pt x="4021661" y="2006368"/>
                </a:cubicBezTo>
              </a:path>
            </a:pathLst>
          </a:custGeom>
          <a:noFill/>
          <a:ln w="4339" cap="rnd">
            <a:solidFill>
              <a:srgbClr val="F8E4D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artery_far_rim_fiber_182"/>
          <p:cNvSpPr/>
          <p:nvPr/>
        </p:nvSpPr>
        <p:spPr>
          <a:xfrm>
            <a:off x="8851560" y="1175877"/>
            <a:ext cx="3996557" cy="1999673"/>
          </a:xfrm>
          <a:custGeom>
            <a:avLst/>
            <a:gdLst/>
            <a:ahLst/>
            <a:cxnLst/>
            <a:rect l="0" t="0" r="r" b="b"/>
            <a:pathLst>
              <a:path w="3996557" h="1999673">
                <a:moveTo>
                  <a:pt x="91027" y="1025251"/>
                </a:moveTo>
                <a:cubicBezTo>
                  <a:pt x="0" y="684637"/>
                  <a:pt x="173561" y="199750"/>
                  <a:pt x="397951" y="123972"/>
                </a:cubicBezTo>
                <a:cubicBezTo>
                  <a:pt x="838053" y="0"/>
                  <a:pt x="1699660" y="564074"/>
                  <a:pt x="2369111" y="966984"/>
                </a:cubicBezTo>
                <a:cubicBezTo>
                  <a:pt x="3088150" y="1394688"/>
                  <a:pt x="3633628" y="1743360"/>
                  <a:pt x="3996557" y="1999673"/>
                </a:cubicBezTo>
              </a:path>
            </a:pathLst>
          </a:custGeom>
          <a:noFill/>
          <a:ln w="4339" cap="rnd">
            <a:solidFill>
              <a:srgbClr val="ECA7A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artery_far_rim_fiber_183"/>
          <p:cNvSpPr/>
          <p:nvPr/>
        </p:nvSpPr>
        <p:spPr>
          <a:xfrm>
            <a:off x="8864949" y="1192613"/>
            <a:ext cx="3971452" cy="1992979"/>
          </a:xfrm>
          <a:custGeom>
            <a:avLst/>
            <a:gdLst/>
            <a:ahLst/>
            <a:cxnLst/>
            <a:rect l="0" t="0" r="r" b="b"/>
            <a:pathLst>
              <a:path w="3971452" h="1992979">
                <a:moveTo>
                  <a:pt x="79479" y="998473"/>
                </a:moveTo>
                <a:cubicBezTo>
                  <a:pt x="0" y="662880"/>
                  <a:pt x="173561" y="188872"/>
                  <a:pt x="384562" y="123972"/>
                </a:cubicBezTo>
                <a:cubicBezTo>
                  <a:pt x="824664" y="0"/>
                  <a:pt x="1686271" y="564074"/>
                  <a:pt x="2355722" y="966984"/>
                </a:cubicBezTo>
                <a:cubicBezTo>
                  <a:pt x="3074761" y="1394688"/>
                  <a:pt x="3620239" y="1734992"/>
                  <a:pt x="3971452" y="1992979"/>
                </a:cubicBezTo>
              </a:path>
            </a:pathLst>
          </a:custGeom>
          <a:noFill/>
          <a:ln w="4339" cap="rnd">
            <a:solidFill>
              <a:srgbClr val="F1B7B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artery_far_rim_fiber_184"/>
          <p:cNvSpPr/>
          <p:nvPr/>
        </p:nvSpPr>
        <p:spPr>
          <a:xfrm>
            <a:off x="8878338" y="1209350"/>
            <a:ext cx="3946348" cy="1986284"/>
          </a:xfrm>
          <a:custGeom>
            <a:avLst/>
            <a:gdLst/>
            <a:ahLst/>
            <a:cxnLst/>
            <a:rect l="0" t="0" r="r" b="b"/>
            <a:pathLst>
              <a:path w="3946348" h="1986284">
                <a:moveTo>
                  <a:pt x="67931" y="971695"/>
                </a:moveTo>
                <a:cubicBezTo>
                  <a:pt x="0" y="641123"/>
                  <a:pt x="173561" y="177993"/>
                  <a:pt x="371173" y="123972"/>
                </a:cubicBezTo>
                <a:cubicBezTo>
                  <a:pt x="811275" y="0"/>
                  <a:pt x="1672882" y="564074"/>
                  <a:pt x="2342333" y="966984"/>
                </a:cubicBezTo>
                <a:cubicBezTo>
                  <a:pt x="3061372" y="1394688"/>
                  <a:pt x="3606850" y="1726624"/>
                  <a:pt x="3946348" y="1986284"/>
                </a:cubicBezTo>
              </a:path>
            </a:pathLst>
          </a:custGeom>
          <a:noFill/>
          <a:ln w="4339" cap="rnd">
            <a:solidFill>
              <a:srgbClr val="FFF7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artery_lumen_185"/>
          <p:cNvSpPr/>
          <p:nvPr/>
        </p:nvSpPr>
        <p:spPr>
          <a:xfrm>
            <a:off x="8970574" y="1420722"/>
            <a:ext cx="3731566" cy="2820370"/>
          </a:xfrm>
          <a:custGeom>
            <a:avLst/>
            <a:gdLst/>
            <a:ahLst/>
            <a:cxnLst/>
            <a:rect l="0" t="0" r="r" b="b"/>
            <a:pathLst>
              <a:path w="3731566" h="2820370">
                <a:moveTo>
                  <a:pt x="204554" y="68185"/>
                </a:moveTo>
                <a:cubicBezTo>
                  <a:pt x="551677" y="0"/>
                  <a:pt x="1196333" y="303732"/>
                  <a:pt x="1915372" y="743834"/>
                </a:cubicBezTo>
                <a:cubicBezTo>
                  <a:pt x="2646808" y="1190134"/>
                  <a:pt x="3272869" y="1741811"/>
                  <a:pt x="3731566" y="2070337"/>
                </a:cubicBezTo>
                <a:cubicBezTo>
                  <a:pt x="3657183" y="2318282"/>
                  <a:pt x="3601395" y="2572425"/>
                  <a:pt x="3570402" y="2820370"/>
                </a:cubicBezTo>
                <a:cubicBezTo>
                  <a:pt x="2714993" y="2405063"/>
                  <a:pt x="1357497" y="1580647"/>
                  <a:pt x="303732" y="1010374"/>
                </a:cubicBezTo>
                <a:cubicBezTo>
                  <a:pt x="92979" y="892601"/>
                  <a:pt x="0" y="675649"/>
                  <a:pt x="12397" y="415307"/>
                </a:cubicBezTo>
                <a:cubicBezTo>
                  <a:pt x="24794" y="247945"/>
                  <a:pt x="74383" y="123972"/>
                  <a:pt x="204554" y="68185"/>
                </a:cubicBezTo>
                <a:close/>
              </a:path>
            </a:pathLst>
          </a:custGeom>
          <a:gradFill rotWithShape="1">
            <a:gsLst>
              <a:gs pos="0">
                <a:srgbClr val="F8C7BB"/>
              </a:gs>
              <a:gs pos="28000">
                <a:srgbClr val="F0B4AA"/>
              </a:gs>
              <a:gs pos="64000">
                <a:srgbClr val="D98E89"/>
              </a:gs>
              <a:gs pos="100000">
                <a:srgbClr val="B7686C"/>
              </a:gs>
            </a:gsLst>
            <a:path path="circle">
              <a:fillToRect l="48000" t="54000" r="52000" b="46000"/>
            </a:path>
            <a:tileRect/>
          </a:gradFill>
          <a:ln w="5578" cap="rnd">
            <a:solidFill>
              <a:srgbClr val="B77B7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artery_elastic_lamina_186"/>
          <p:cNvSpPr/>
          <p:nvPr/>
        </p:nvSpPr>
        <p:spPr>
          <a:xfrm>
            <a:off x="9113142" y="2474487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4648" cap="rnd">
            <a:solidFill>
              <a:srgbClr val="A8A7C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artery_elastic_lamina_187"/>
          <p:cNvSpPr/>
          <p:nvPr/>
        </p:nvSpPr>
        <p:spPr>
          <a:xfrm>
            <a:off x="9113142" y="2493703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4648" cap="rnd">
            <a:solidFill>
              <a:srgbClr val="E3DEF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artery_elastic_lamina_188"/>
          <p:cNvSpPr/>
          <p:nvPr/>
        </p:nvSpPr>
        <p:spPr>
          <a:xfrm>
            <a:off x="9113142" y="2512918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4648" cap="rnd">
            <a:solidFill>
              <a:srgbClr val="A19EC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artery_elastic_lamina_189"/>
          <p:cNvSpPr/>
          <p:nvPr/>
        </p:nvSpPr>
        <p:spPr>
          <a:xfrm>
            <a:off x="9113142" y="2532134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4648" cap="rnd">
            <a:solidFill>
              <a:srgbClr val="A8A7C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artery_elastic_lamina_190"/>
          <p:cNvSpPr/>
          <p:nvPr/>
        </p:nvSpPr>
        <p:spPr>
          <a:xfrm>
            <a:off x="9113142" y="2551350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4648" cap="rnd">
            <a:solidFill>
              <a:srgbClr val="E3DEF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artery_elastic_lamina_191"/>
          <p:cNvSpPr/>
          <p:nvPr/>
        </p:nvSpPr>
        <p:spPr>
          <a:xfrm>
            <a:off x="9113142" y="2570566"/>
            <a:ext cx="3458827" cy="1884379"/>
          </a:xfrm>
          <a:custGeom>
            <a:avLst/>
            <a:gdLst/>
            <a:ahLst/>
            <a:cxnLst/>
            <a:rect l="0" t="0" r="r" b="b"/>
            <a:pathLst>
              <a:path w="3458827" h="1884379">
                <a:moveTo>
                  <a:pt x="0" y="0"/>
                </a:moveTo>
                <a:cubicBezTo>
                  <a:pt x="805820" y="390513"/>
                  <a:pt x="1648832" y="898799"/>
                  <a:pt x="2324481" y="1295510"/>
                </a:cubicBezTo>
                <a:cubicBezTo>
                  <a:pt x="2832767" y="1586845"/>
                  <a:pt x="3173691" y="1766605"/>
                  <a:pt x="3458827" y="1884379"/>
                </a:cubicBezTo>
              </a:path>
            </a:pathLst>
          </a:custGeom>
          <a:noFill/>
          <a:ln w="4648" cap="rnd">
            <a:solidFill>
              <a:srgbClr val="A19EC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artery_endothelial_cell_192"/>
          <p:cNvSpPr/>
          <p:nvPr/>
        </p:nvSpPr>
        <p:spPr>
          <a:xfrm>
            <a:off x="9002755" y="1272172"/>
            <a:ext cx="599078" cy="278204"/>
          </a:xfrm>
          <a:custGeom>
            <a:avLst/>
            <a:gdLst/>
            <a:ahLst/>
            <a:cxnLst/>
            <a:rect l="0" t="0" r="r" b="b"/>
            <a:pathLst>
              <a:path w="599078" h="278204">
                <a:moveTo>
                  <a:pt x="0" y="212909"/>
                </a:moveTo>
                <a:cubicBezTo>
                  <a:pt x="1580" y="137161"/>
                  <a:pt x="107286" y="52209"/>
                  <a:pt x="244369" y="31690"/>
                </a:cubicBezTo>
                <a:cubicBezTo>
                  <a:pt x="373183" y="0"/>
                  <a:pt x="547223" y="14717"/>
                  <a:pt x="582485" y="69706"/>
                </a:cubicBezTo>
                <a:cubicBezTo>
                  <a:pt x="599078" y="120044"/>
                  <a:pt x="483790" y="187642"/>
                  <a:pt x="346707" y="208161"/>
                </a:cubicBezTo>
                <a:cubicBezTo>
                  <a:pt x="210121" y="258740"/>
                  <a:pt x="37453" y="278204"/>
                  <a:pt x="0" y="212909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artery_endothelial_surface_glow_193"/>
          <p:cNvSpPr/>
          <p:nvPr/>
        </p:nvSpPr>
        <p:spPr>
          <a:xfrm>
            <a:off x="9055198" y="1320640"/>
            <a:ext cx="454109" cy="133901"/>
          </a:xfrm>
          <a:custGeom>
            <a:avLst/>
            <a:gdLst/>
            <a:ahLst/>
            <a:cxnLst/>
            <a:rect l="0" t="0" r="r" b="b"/>
            <a:pathLst>
              <a:path w="454109" h="133901">
                <a:moveTo>
                  <a:pt x="0" y="133901"/>
                </a:moveTo>
                <a:cubicBezTo>
                  <a:pt x="73569" y="36388"/>
                  <a:pt x="190668" y="5034"/>
                  <a:pt x="302186" y="2877"/>
                </a:cubicBezTo>
                <a:cubicBezTo>
                  <a:pt x="366403" y="0"/>
                  <a:pt x="416333" y="13088"/>
                  <a:pt x="454109" y="24450"/>
                </a:cubicBezTo>
                <a:cubicBezTo>
                  <a:pt x="293976" y="19704"/>
                  <a:pt x="117860" y="50675"/>
                  <a:pt x="0" y="133901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artery_endothelial_nucleus_194"/>
          <p:cNvSpPr/>
          <p:nvPr/>
        </p:nvSpPr>
        <p:spPr>
          <a:xfrm>
            <a:off x="9203142" y="1356828"/>
            <a:ext cx="179520" cy="102995"/>
          </a:xfrm>
          <a:custGeom>
            <a:avLst/>
            <a:gdLst/>
            <a:ahLst/>
            <a:cxnLst/>
            <a:rect l="0" t="0" r="r" b="b"/>
            <a:pathLst>
              <a:path w="179520" h="102995">
                <a:moveTo>
                  <a:pt x="4876" y="69540"/>
                </a:moveTo>
                <a:cubicBezTo>
                  <a:pt x="0" y="46602"/>
                  <a:pt x="34052" y="19929"/>
                  <a:pt x="80932" y="9965"/>
                </a:cubicBezTo>
                <a:cubicBezTo>
                  <a:pt x="127812" y="0"/>
                  <a:pt x="169768" y="10517"/>
                  <a:pt x="174644" y="33455"/>
                </a:cubicBezTo>
                <a:cubicBezTo>
                  <a:pt x="179520" y="56393"/>
                  <a:pt x="145468" y="83065"/>
                  <a:pt x="98588" y="93030"/>
                </a:cubicBezTo>
                <a:cubicBezTo>
                  <a:pt x="51708" y="102995"/>
                  <a:pt x="9751" y="92478"/>
                  <a:pt x="4876" y="69540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artery_endothelial_nuclear_glint_195"/>
          <p:cNvSpPr/>
          <p:nvPr/>
        </p:nvSpPr>
        <p:spPr>
          <a:xfrm>
            <a:off x="9230910" y="1384345"/>
            <a:ext cx="74395" cy="23167"/>
          </a:xfrm>
          <a:custGeom>
            <a:avLst/>
            <a:gdLst/>
            <a:ahLst/>
            <a:cxnLst/>
            <a:rect l="0" t="0" r="r" b="b"/>
            <a:pathLst>
              <a:path w="74395" h="23167">
                <a:moveTo>
                  <a:pt x="819" y="19316"/>
                </a:moveTo>
                <a:cubicBezTo>
                  <a:pt x="0" y="15465"/>
                  <a:pt x="15624" y="8881"/>
                  <a:pt x="35715" y="4611"/>
                </a:cubicBezTo>
                <a:cubicBezTo>
                  <a:pt x="55807" y="340"/>
                  <a:pt x="72758" y="0"/>
                  <a:pt x="73576" y="3851"/>
                </a:cubicBezTo>
                <a:cubicBezTo>
                  <a:pt x="74395" y="7702"/>
                  <a:pt x="58771" y="14286"/>
                  <a:pt x="38680" y="18556"/>
                </a:cubicBezTo>
                <a:cubicBezTo>
                  <a:pt x="18588" y="22827"/>
                  <a:pt x="1637" y="23167"/>
                  <a:pt x="819" y="19316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artery_endothelial_cell_196"/>
          <p:cNvSpPr/>
          <p:nvPr/>
        </p:nvSpPr>
        <p:spPr>
          <a:xfrm>
            <a:off x="9553438" y="1361663"/>
            <a:ext cx="566712" cy="304774"/>
          </a:xfrm>
          <a:custGeom>
            <a:avLst/>
            <a:gdLst/>
            <a:ahLst/>
            <a:cxnLst/>
            <a:rect l="0" t="0" r="r" b="b"/>
            <a:pathLst>
              <a:path w="566712" h="304774">
                <a:moveTo>
                  <a:pt x="0" y="93201"/>
                </a:moveTo>
                <a:cubicBezTo>
                  <a:pt x="38383" y="25534"/>
                  <a:pt x="170058" y="0"/>
                  <a:pt x="296983" y="47879"/>
                </a:cubicBezTo>
                <a:cubicBezTo>
                  <a:pt x="422320" y="81661"/>
                  <a:pt x="563530" y="179281"/>
                  <a:pt x="566712" y="246045"/>
                </a:cubicBezTo>
                <a:cubicBezTo>
                  <a:pt x="556249" y="299562"/>
                  <a:pt x="424889" y="304774"/>
                  <a:pt x="297964" y="256895"/>
                </a:cubicBezTo>
                <a:cubicBezTo>
                  <a:pt x="156764" y="236412"/>
                  <a:pt x="11" y="170338"/>
                  <a:pt x="0" y="93201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artery_endothelial_surface_glow_197"/>
          <p:cNvSpPr/>
          <p:nvPr/>
        </p:nvSpPr>
        <p:spPr>
          <a:xfrm>
            <a:off x="9613089" y="1400231"/>
            <a:ext cx="440741" cy="173588"/>
          </a:xfrm>
          <a:custGeom>
            <a:avLst/>
            <a:gdLst/>
            <a:ahLst/>
            <a:cxnLst/>
            <a:rect l="0" t="0" r="r" b="b"/>
            <a:pathLst>
              <a:path w="440741" h="173588">
                <a:moveTo>
                  <a:pt x="0" y="52452"/>
                </a:moveTo>
                <a:cubicBezTo>
                  <a:pt x="110412" y="0"/>
                  <a:pt x="225594" y="28409"/>
                  <a:pt x="321742" y="80491"/>
                </a:cubicBezTo>
                <a:cubicBezTo>
                  <a:pt x="377908" y="109005"/>
                  <a:pt x="414085" y="145021"/>
                  <a:pt x="440741" y="173588"/>
                </a:cubicBezTo>
                <a:cubicBezTo>
                  <a:pt x="306514" y="91715"/>
                  <a:pt x="141194" y="34366"/>
                  <a:pt x="0" y="52452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artery_endothelial_nucleus_198"/>
          <p:cNvSpPr/>
          <p:nvPr/>
        </p:nvSpPr>
        <p:spPr>
          <a:xfrm>
            <a:off x="9748535" y="1471481"/>
            <a:ext cx="179690" cy="109236"/>
          </a:xfrm>
          <a:custGeom>
            <a:avLst/>
            <a:gdLst/>
            <a:ahLst/>
            <a:cxnLst/>
            <a:rect l="0" t="0" r="r" b="b"/>
            <a:pathLst>
              <a:path w="179690" h="109236">
                <a:moveTo>
                  <a:pt x="6856" y="29246"/>
                </a:moveTo>
                <a:cubicBezTo>
                  <a:pt x="13712" y="6820"/>
                  <a:pt x="56426" y="0"/>
                  <a:pt x="102259" y="14013"/>
                </a:cubicBezTo>
                <a:cubicBezTo>
                  <a:pt x="148093" y="28025"/>
                  <a:pt x="179690" y="57564"/>
                  <a:pt x="172834" y="79990"/>
                </a:cubicBezTo>
                <a:cubicBezTo>
                  <a:pt x="165977" y="102416"/>
                  <a:pt x="123264" y="109236"/>
                  <a:pt x="77431" y="95223"/>
                </a:cubicBezTo>
                <a:cubicBezTo>
                  <a:pt x="31597" y="81210"/>
                  <a:pt x="0" y="51671"/>
                  <a:pt x="6856" y="29246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artery_endothelial_nuclear_glint_199"/>
          <p:cNvSpPr/>
          <p:nvPr/>
        </p:nvSpPr>
        <p:spPr>
          <a:xfrm>
            <a:off x="9776868" y="1499063"/>
            <a:ext cx="73435" cy="29277"/>
          </a:xfrm>
          <a:custGeom>
            <a:avLst/>
            <a:gdLst/>
            <a:ahLst/>
            <a:cxnLst/>
            <a:rect l="0" t="0" r="r" b="b"/>
            <a:pathLst>
              <a:path w="73435" h="29277">
                <a:moveTo>
                  <a:pt x="1151" y="3765"/>
                </a:moveTo>
                <a:cubicBezTo>
                  <a:pt x="2302" y="0"/>
                  <a:pt x="19159" y="1816"/>
                  <a:pt x="38802" y="7822"/>
                </a:cubicBezTo>
                <a:cubicBezTo>
                  <a:pt x="58445" y="13827"/>
                  <a:pt x="73435" y="21748"/>
                  <a:pt x="72284" y="25512"/>
                </a:cubicBezTo>
                <a:cubicBezTo>
                  <a:pt x="71133" y="29277"/>
                  <a:pt x="54276" y="27461"/>
                  <a:pt x="34633" y="21456"/>
                </a:cubicBezTo>
                <a:cubicBezTo>
                  <a:pt x="14991" y="15450"/>
                  <a:pt x="0" y="7530"/>
                  <a:pt x="1151" y="3765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artery_endothelial_cell_200"/>
          <p:cNvSpPr/>
          <p:nvPr/>
        </p:nvSpPr>
        <p:spPr>
          <a:xfrm>
            <a:off x="10097153" y="1587858"/>
            <a:ext cx="601362" cy="373770"/>
          </a:xfrm>
          <a:custGeom>
            <a:avLst/>
            <a:gdLst/>
            <a:ahLst/>
            <a:cxnLst/>
            <a:rect l="0" t="0" r="r" b="b"/>
            <a:pathLst>
              <a:path w="601362" h="373770">
                <a:moveTo>
                  <a:pt x="9127" y="58146"/>
                </a:moveTo>
                <a:cubicBezTo>
                  <a:pt x="58176" y="0"/>
                  <a:pt x="201966" y="2130"/>
                  <a:pt x="331981" y="74922"/>
                </a:cubicBezTo>
                <a:cubicBezTo>
                  <a:pt x="461968" y="133632"/>
                  <a:pt x="601362" y="257895"/>
                  <a:pt x="596855" y="323697"/>
                </a:cubicBezTo>
                <a:cubicBezTo>
                  <a:pt x="579329" y="373770"/>
                  <a:pt x="438283" y="351874"/>
                  <a:pt x="308268" y="279082"/>
                </a:cubicBezTo>
                <a:cubicBezTo>
                  <a:pt x="159747" y="230092"/>
                  <a:pt x="0" y="133419"/>
                  <a:pt x="9127" y="58146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artery_endothelial_surface_glow_201"/>
          <p:cNvSpPr/>
          <p:nvPr/>
        </p:nvSpPr>
        <p:spPr>
          <a:xfrm>
            <a:off x="10170308" y="1627625"/>
            <a:ext cx="456817" cy="237240"/>
          </a:xfrm>
          <a:custGeom>
            <a:avLst/>
            <a:gdLst/>
            <a:ahLst/>
            <a:cxnLst/>
            <a:rect l="0" t="0" r="r" b="b"/>
            <a:pathLst>
              <a:path w="456817" h="237240">
                <a:moveTo>
                  <a:pt x="0" y="28504"/>
                </a:moveTo>
                <a:cubicBezTo>
                  <a:pt x="124248" y="0"/>
                  <a:pt x="244016" y="51380"/>
                  <a:pt x="340632" y="121951"/>
                </a:cubicBezTo>
                <a:cubicBezTo>
                  <a:pt x="397297" y="161313"/>
                  <a:pt x="431704" y="203888"/>
                  <a:pt x="456817" y="237240"/>
                </a:cubicBezTo>
                <a:cubicBezTo>
                  <a:pt x="323022" y="129776"/>
                  <a:pt x="153084" y="39858"/>
                  <a:pt x="0" y="28504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artery_endothelial_nucleus_202"/>
          <p:cNvSpPr/>
          <p:nvPr/>
        </p:nvSpPr>
        <p:spPr>
          <a:xfrm>
            <a:off x="10314176" y="1714870"/>
            <a:ext cx="176556" cy="118347"/>
          </a:xfrm>
          <a:custGeom>
            <a:avLst/>
            <a:gdLst/>
            <a:ahLst/>
            <a:cxnLst/>
            <a:rect l="0" t="0" r="r" b="b"/>
            <a:pathLst>
              <a:path w="176556" h="118347">
                <a:moveTo>
                  <a:pt x="10280" y="21131"/>
                </a:moveTo>
                <a:cubicBezTo>
                  <a:pt x="20560" y="54"/>
                  <a:pt x="63814" y="0"/>
                  <a:pt x="106891" y="21010"/>
                </a:cubicBezTo>
                <a:cubicBezTo>
                  <a:pt x="149968" y="42020"/>
                  <a:pt x="176556" y="76138"/>
                  <a:pt x="166276" y="97215"/>
                </a:cubicBezTo>
                <a:cubicBezTo>
                  <a:pt x="155996" y="118292"/>
                  <a:pt x="112741" y="118347"/>
                  <a:pt x="69664" y="97337"/>
                </a:cubicBezTo>
                <a:cubicBezTo>
                  <a:pt x="26587" y="76327"/>
                  <a:pt x="0" y="42208"/>
                  <a:pt x="10280" y="21131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artery_endothelial_nuclear_glint_203"/>
          <p:cNvSpPr/>
          <p:nvPr/>
        </p:nvSpPr>
        <p:spPr>
          <a:xfrm>
            <a:off x="10342506" y="1741804"/>
            <a:ext cx="70307" cy="39684"/>
          </a:xfrm>
          <a:custGeom>
            <a:avLst/>
            <a:gdLst/>
            <a:ahLst/>
            <a:cxnLst/>
            <a:rect l="0" t="0" r="r" b="b"/>
            <a:pathLst>
              <a:path w="70307" h="39684">
                <a:moveTo>
                  <a:pt x="1726" y="3538"/>
                </a:moveTo>
                <a:cubicBezTo>
                  <a:pt x="3452" y="0"/>
                  <a:pt x="19817" y="4431"/>
                  <a:pt x="38278" y="13435"/>
                </a:cubicBezTo>
                <a:cubicBezTo>
                  <a:pt x="56740" y="22440"/>
                  <a:pt x="70307" y="32608"/>
                  <a:pt x="68581" y="36146"/>
                </a:cubicBezTo>
                <a:cubicBezTo>
                  <a:pt x="66855" y="39684"/>
                  <a:pt x="50490" y="35254"/>
                  <a:pt x="32029" y="26249"/>
                </a:cubicBezTo>
                <a:cubicBezTo>
                  <a:pt x="13567" y="17245"/>
                  <a:pt x="0" y="7077"/>
                  <a:pt x="1726" y="3538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artery_endothelial_cell_204"/>
          <p:cNvSpPr/>
          <p:nvPr/>
        </p:nvSpPr>
        <p:spPr>
          <a:xfrm>
            <a:off x="10673716" y="1888073"/>
            <a:ext cx="561747" cy="420722"/>
          </a:xfrm>
          <a:custGeom>
            <a:avLst/>
            <a:gdLst/>
            <a:ahLst/>
            <a:cxnLst/>
            <a:rect l="0" t="0" r="r" b="b"/>
            <a:pathLst>
              <a:path w="561747" h="420722">
                <a:moveTo>
                  <a:pt x="19064" y="52140"/>
                </a:moveTo>
                <a:cubicBezTo>
                  <a:pt x="74210" y="0"/>
                  <a:pt x="212302" y="16802"/>
                  <a:pt x="327486" y="101655"/>
                </a:cubicBezTo>
                <a:cubicBezTo>
                  <a:pt x="444567" y="172663"/>
                  <a:pt x="561747" y="309071"/>
                  <a:pt x="548422" y="373293"/>
                </a:cubicBezTo>
                <a:cubicBezTo>
                  <a:pt x="524717" y="420722"/>
                  <a:pt x="391966" y="384771"/>
                  <a:pt x="276782" y="299918"/>
                </a:cubicBezTo>
                <a:cubicBezTo>
                  <a:pt x="140537" y="236569"/>
                  <a:pt x="0" y="125200"/>
                  <a:pt x="19064" y="52140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artery_endothelial_surface_glow_205"/>
          <p:cNvSpPr/>
          <p:nvPr/>
        </p:nvSpPr>
        <p:spPr>
          <a:xfrm>
            <a:off x="10753017" y="1941405"/>
            <a:ext cx="411130" cy="267224"/>
          </a:xfrm>
          <a:custGeom>
            <a:avLst/>
            <a:gdLst/>
            <a:ahLst/>
            <a:cxnLst/>
            <a:rect l="0" t="0" r="r" b="b"/>
            <a:pathLst>
              <a:path w="411130" h="267224">
                <a:moveTo>
                  <a:pt x="0" y="15310"/>
                </a:moveTo>
                <a:cubicBezTo>
                  <a:pt x="123468" y="0"/>
                  <a:pt x="231716" y="62758"/>
                  <a:pt x="315060" y="142011"/>
                </a:cubicBezTo>
                <a:cubicBezTo>
                  <a:pt x="364218" y="186500"/>
                  <a:pt x="391517" y="231870"/>
                  <a:pt x="411130" y="267224"/>
                </a:cubicBezTo>
                <a:cubicBezTo>
                  <a:pt x="297043" y="147902"/>
                  <a:pt x="145777" y="42130"/>
                  <a:pt x="0" y="15310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artery_endothelial_nucleus_206"/>
          <p:cNvSpPr/>
          <p:nvPr/>
        </p:nvSpPr>
        <p:spPr>
          <a:xfrm>
            <a:off x="10874777" y="2029440"/>
            <a:ext cx="171105" cy="133862"/>
          </a:xfrm>
          <a:custGeom>
            <a:avLst/>
            <a:gdLst/>
            <a:ahLst/>
            <a:cxnLst/>
            <a:rect l="0" t="0" r="r" b="b"/>
            <a:pathLst>
              <a:path w="171105" h="133862">
                <a:moveTo>
                  <a:pt x="12772" y="19667"/>
                </a:moveTo>
                <a:cubicBezTo>
                  <a:pt x="25544" y="0"/>
                  <a:pt x="68482" y="5218"/>
                  <a:pt x="108678" y="31321"/>
                </a:cubicBezTo>
                <a:cubicBezTo>
                  <a:pt x="148873" y="57424"/>
                  <a:pt x="171105" y="94528"/>
                  <a:pt x="158333" y="114195"/>
                </a:cubicBezTo>
                <a:cubicBezTo>
                  <a:pt x="145561" y="133862"/>
                  <a:pt x="102622" y="128645"/>
                  <a:pt x="62427" y="102542"/>
                </a:cubicBezTo>
                <a:cubicBezTo>
                  <a:pt x="22231" y="76438"/>
                  <a:pt x="0" y="39334"/>
                  <a:pt x="12772" y="19667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artery_endothelial_nuclear_glint_207"/>
          <p:cNvSpPr/>
          <p:nvPr/>
        </p:nvSpPr>
        <p:spPr>
          <a:xfrm>
            <a:off x="10902199" y="2060416"/>
            <a:ext cx="66672" cy="47116"/>
          </a:xfrm>
          <a:custGeom>
            <a:avLst/>
            <a:gdLst/>
            <a:ahLst/>
            <a:cxnLst/>
            <a:rect l="0" t="0" r="r" b="b"/>
            <a:pathLst>
              <a:path w="66672" h="47116">
                <a:moveTo>
                  <a:pt x="2144" y="3302"/>
                </a:moveTo>
                <a:cubicBezTo>
                  <a:pt x="4288" y="0"/>
                  <a:pt x="19992" y="6392"/>
                  <a:pt x="37218" y="17579"/>
                </a:cubicBezTo>
                <a:cubicBezTo>
                  <a:pt x="54445" y="28767"/>
                  <a:pt x="66672" y="40512"/>
                  <a:pt x="64527" y="43814"/>
                </a:cubicBezTo>
                <a:cubicBezTo>
                  <a:pt x="62383" y="47116"/>
                  <a:pt x="46680" y="40723"/>
                  <a:pt x="29453" y="29536"/>
                </a:cubicBezTo>
                <a:cubicBezTo>
                  <a:pt x="12227" y="18349"/>
                  <a:pt x="0" y="6604"/>
                  <a:pt x="2144" y="3302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artery_endothelial_cell_208"/>
          <p:cNvSpPr/>
          <p:nvPr/>
        </p:nvSpPr>
        <p:spPr>
          <a:xfrm>
            <a:off x="11177114" y="2225214"/>
            <a:ext cx="521105" cy="429573"/>
          </a:xfrm>
          <a:custGeom>
            <a:avLst/>
            <a:gdLst/>
            <a:ahLst/>
            <a:cxnLst/>
            <a:rect l="0" t="0" r="r" b="b"/>
            <a:pathLst>
              <a:path w="521105" h="429573">
                <a:moveTo>
                  <a:pt x="23836" y="46993"/>
                </a:moveTo>
                <a:cubicBezTo>
                  <a:pt x="80437" y="0"/>
                  <a:pt x="210740" y="23913"/>
                  <a:pt x="313933" y="111920"/>
                </a:cubicBezTo>
                <a:cubicBezTo>
                  <a:pt x="420008" y="186730"/>
                  <a:pt x="521105" y="324383"/>
                  <a:pt x="503424" y="385338"/>
                </a:cubicBezTo>
                <a:cubicBezTo>
                  <a:pt x="477153" y="429573"/>
                  <a:pt x="353425" y="387563"/>
                  <a:pt x="250231" y="299556"/>
                </a:cubicBezTo>
                <a:cubicBezTo>
                  <a:pt x="125299" y="231026"/>
                  <a:pt x="0" y="116116"/>
                  <a:pt x="23836" y="46993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artery_endothelial_surface_glow_209"/>
          <p:cNvSpPr/>
          <p:nvPr/>
        </p:nvSpPr>
        <p:spPr>
          <a:xfrm>
            <a:off x="11257078" y="2283688"/>
            <a:ext cx="372283" cy="272931"/>
          </a:xfrm>
          <a:custGeom>
            <a:avLst/>
            <a:gdLst/>
            <a:ahLst/>
            <a:cxnLst/>
            <a:rect l="0" t="0" r="r" b="b"/>
            <a:pathLst>
              <a:path w="372283" h="272931">
                <a:moveTo>
                  <a:pt x="0" y="7764"/>
                </a:moveTo>
                <a:cubicBezTo>
                  <a:pt x="118858" y="0"/>
                  <a:pt x="217154" y="66387"/>
                  <a:pt x="290436" y="147223"/>
                </a:cubicBezTo>
                <a:cubicBezTo>
                  <a:pt x="333835" y="192732"/>
                  <a:pt x="356333" y="237860"/>
                  <a:pt x="372283" y="272931"/>
                </a:cubicBezTo>
                <a:cubicBezTo>
                  <a:pt x="272809" y="151869"/>
                  <a:pt x="136851" y="41733"/>
                  <a:pt x="0" y="7764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artery_endothelial_nucleus_210"/>
          <p:cNvSpPr/>
          <p:nvPr/>
        </p:nvSpPr>
        <p:spPr>
          <a:xfrm>
            <a:off x="11360402" y="2366341"/>
            <a:ext cx="166838" cy="141908"/>
          </a:xfrm>
          <a:custGeom>
            <a:avLst/>
            <a:gdLst/>
            <a:ahLst/>
            <a:cxnLst/>
            <a:rect l="0" t="0" r="r" b="b"/>
            <a:pathLst>
              <a:path w="166838" h="141908">
                <a:moveTo>
                  <a:pt x="14113" y="18728"/>
                </a:moveTo>
                <a:cubicBezTo>
                  <a:pt x="28225" y="0"/>
                  <a:pt x="70695" y="8200"/>
                  <a:pt x="108972" y="37044"/>
                </a:cubicBezTo>
                <a:cubicBezTo>
                  <a:pt x="147249" y="65887"/>
                  <a:pt x="166838" y="104452"/>
                  <a:pt x="152725" y="123180"/>
                </a:cubicBezTo>
                <a:cubicBezTo>
                  <a:pt x="138612" y="141908"/>
                  <a:pt x="96142" y="133708"/>
                  <a:pt x="57865" y="104865"/>
                </a:cubicBezTo>
                <a:cubicBezTo>
                  <a:pt x="19589" y="76021"/>
                  <a:pt x="0" y="37456"/>
                  <a:pt x="14113" y="18728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artery_endothelial_nuclear_glint_211"/>
          <p:cNvSpPr/>
          <p:nvPr/>
        </p:nvSpPr>
        <p:spPr>
          <a:xfrm>
            <a:off x="11386955" y="2399371"/>
            <a:ext cx="64144" cy="51053"/>
          </a:xfrm>
          <a:custGeom>
            <a:avLst/>
            <a:gdLst/>
            <a:ahLst/>
            <a:cxnLst/>
            <a:rect l="0" t="0" r="r" b="b"/>
            <a:pathLst>
              <a:path w="64144" h="51053">
                <a:moveTo>
                  <a:pt x="2369" y="3144"/>
                </a:moveTo>
                <a:cubicBezTo>
                  <a:pt x="4739" y="0"/>
                  <a:pt x="19958" y="7472"/>
                  <a:pt x="36362" y="19834"/>
                </a:cubicBezTo>
                <a:cubicBezTo>
                  <a:pt x="52766" y="32195"/>
                  <a:pt x="64144" y="44765"/>
                  <a:pt x="61774" y="47909"/>
                </a:cubicBezTo>
                <a:cubicBezTo>
                  <a:pt x="59405" y="51053"/>
                  <a:pt x="44186" y="43581"/>
                  <a:pt x="27782" y="31220"/>
                </a:cubicBezTo>
                <a:cubicBezTo>
                  <a:pt x="11378" y="18858"/>
                  <a:pt x="0" y="6288"/>
                  <a:pt x="2369" y="3144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artery_endothelial_cell_212"/>
          <p:cNvSpPr/>
          <p:nvPr/>
        </p:nvSpPr>
        <p:spPr>
          <a:xfrm>
            <a:off x="11647424" y="2560905"/>
            <a:ext cx="471617" cy="454877"/>
          </a:xfrm>
          <a:custGeom>
            <a:avLst/>
            <a:gdLst/>
            <a:ahLst/>
            <a:cxnLst/>
            <a:rect l="0" t="0" r="r" b="b"/>
            <a:pathLst>
              <a:path w="471617" h="454877">
                <a:moveTo>
                  <a:pt x="31331" y="38701"/>
                </a:moveTo>
                <a:cubicBezTo>
                  <a:pt x="91195" y="0"/>
                  <a:pt x="212619" y="37290"/>
                  <a:pt x="300209" y="132905"/>
                </a:cubicBezTo>
                <a:cubicBezTo>
                  <a:pt x="392188" y="216213"/>
                  <a:pt x="471617" y="359096"/>
                  <a:pt x="447175" y="415459"/>
                </a:cubicBezTo>
                <a:cubicBezTo>
                  <a:pt x="416607" y="454877"/>
                  <a:pt x="303705" y="400998"/>
                  <a:pt x="216115" y="305383"/>
                </a:cubicBezTo>
                <a:cubicBezTo>
                  <a:pt x="105354" y="225998"/>
                  <a:pt x="0" y="102199"/>
                  <a:pt x="31331" y="38701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artery_endothelial_surface_glow_213"/>
          <p:cNvSpPr/>
          <p:nvPr/>
        </p:nvSpPr>
        <p:spPr>
          <a:xfrm>
            <a:off x="11729949" y="2624226"/>
            <a:ext cx="322487" cy="294877"/>
          </a:xfrm>
          <a:custGeom>
            <a:avLst/>
            <a:gdLst/>
            <a:ahLst/>
            <a:cxnLst/>
            <a:rect l="0" t="0" r="r" b="b"/>
            <a:pathLst>
              <a:path w="322487" h="294877">
                <a:moveTo>
                  <a:pt x="0" y="0"/>
                </a:moveTo>
                <a:cubicBezTo>
                  <a:pt x="114428" y="5718"/>
                  <a:pt x="200026" y="80107"/>
                  <a:pt x="259953" y="165552"/>
                </a:cubicBezTo>
                <a:cubicBezTo>
                  <a:pt x="295735" y="213894"/>
                  <a:pt x="311612" y="259558"/>
                  <a:pt x="322487" y="294877"/>
                </a:cubicBezTo>
                <a:cubicBezTo>
                  <a:pt x="242549" y="168048"/>
                  <a:pt x="126426" y="47636"/>
                  <a:pt x="0" y="0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artery_endothelial_nucleus_214"/>
          <p:cNvSpPr/>
          <p:nvPr/>
        </p:nvSpPr>
        <p:spPr>
          <a:xfrm>
            <a:off x="11811407" y="2707266"/>
            <a:ext cx="157429" cy="154303"/>
          </a:xfrm>
          <a:custGeom>
            <a:avLst/>
            <a:gdLst/>
            <a:ahLst/>
            <a:cxnLst/>
            <a:rect l="0" t="0" r="r" b="b"/>
            <a:pathLst>
              <a:path w="157429" h="154303">
                <a:moveTo>
                  <a:pt x="16290" y="16869"/>
                </a:moveTo>
                <a:cubicBezTo>
                  <a:pt x="32580" y="0"/>
                  <a:pt x="73734" y="13315"/>
                  <a:pt x="108210" y="46608"/>
                </a:cubicBezTo>
                <a:cubicBezTo>
                  <a:pt x="142686" y="79901"/>
                  <a:pt x="157429" y="120566"/>
                  <a:pt x="141139" y="137434"/>
                </a:cubicBezTo>
                <a:cubicBezTo>
                  <a:pt x="124849" y="154303"/>
                  <a:pt x="83695" y="140988"/>
                  <a:pt x="49219" y="107695"/>
                </a:cubicBezTo>
                <a:cubicBezTo>
                  <a:pt x="14743" y="74402"/>
                  <a:pt x="0" y="33737"/>
                  <a:pt x="16290" y="16869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artery_endothelial_nuclear_glint_215"/>
          <p:cNvSpPr/>
          <p:nvPr/>
        </p:nvSpPr>
        <p:spPr>
          <a:xfrm>
            <a:off x="11835839" y="2743353"/>
            <a:ext cx="58977" cy="57335"/>
          </a:xfrm>
          <a:custGeom>
            <a:avLst/>
            <a:gdLst/>
            <a:ahLst/>
            <a:cxnLst/>
            <a:rect l="0" t="0" r="r" b="b"/>
            <a:pathLst>
              <a:path w="58977" h="57335">
                <a:moveTo>
                  <a:pt x="2735" y="2832"/>
                </a:moveTo>
                <a:cubicBezTo>
                  <a:pt x="5470" y="0"/>
                  <a:pt x="19665" y="9271"/>
                  <a:pt x="34440" y="23540"/>
                </a:cubicBezTo>
                <a:cubicBezTo>
                  <a:pt x="49216" y="37808"/>
                  <a:pt x="58977" y="51671"/>
                  <a:pt x="56242" y="54503"/>
                </a:cubicBezTo>
                <a:cubicBezTo>
                  <a:pt x="53507" y="57335"/>
                  <a:pt x="39312" y="48064"/>
                  <a:pt x="24536" y="33795"/>
                </a:cubicBezTo>
                <a:cubicBezTo>
                  <a:pt x="9761" y="19527"/>
                  <a:pt x="0" y="5664"/>
                  <a:pt x="2735" y="2832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artery_endothelial_cell_216"/>
          <p:cNvSpPr/>
          <p:nvPr/>
        </p:nvSpPr>
        <p:spPr>
          <a:xfrm>
            <a:off x="12068919" y="2923641"/>
            <a:ext cx="408928" cy="436488"/>
          </a:xfrm>
          <a:custGeom>
            <a:avLst/>
            <a:gdLst/>
            <a:ahLst/>
            <a:cxnLst/>
            <a:rect l="0" t="0" r="r" b="b"/>
            <a:pathLst>
              <a:path w="408928" h="436488">
                <a:moveTo>
                  <a:pt x="36620" y="33176"/>
                </a:moveTo>
                <a:cubicBezTo>
                  <a:pt x="96894" y="0"/>
                  <a:pt x="205562" y="40069"/>
                  <a:pt x="275889" y="132687"/>
                </a:cubicBezTo>
                <a:cubicBezTo>
                  <a:pt x="351745" y="214091"/>
                  <a:pt x="408928" y="350167"/>
                  <a:pt x="379559" y="401322"/>
                </a:cubicBezTo>
                <a:cubicBezTo>
                  <a:pt x="346475" y="436488"/>
                  <a:pt x="247687" y="381424"/>
                  <a:pt x="177360" y="288806"/>
                </a:cubicBezTo>
                <a:cubicBezTo>
                  <a:pt x="83558" y="210189"/>
                  <a:pt x="0" y="90635"/>
                  <a:pt x="36620" y="33176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artery_endothelial_surface_glow_217"/>
          <p:cNvSpPr/>
          <p:nvPr/>
        </p:nvSpPr>
        <p:spPr>
          <a:xfrm>
            <a:off x="12150311" y="2981961"/>
            <a:ext cx="265633" cy="288002"/>
          </a:xfrm>
          <a:custGeom>
            <a:avLst/>
            <a:gdLst/>
            <a:ahLst/>
            <a:cxnLst/>
            <a:rect l="0" t="0" r="r" b="b"/>
            <a:pathLst>
              <a:path w="265633" h="288002">
                <a:moveTo>
                  <a:pt x="0" y="0"/>
                </a:moveTo>
                <a:cubicBezTo>
                  <a:pt x="105861" y="10478"/>
                  <a:pt x="176823" y="83324"/>
                  <a:pt x="222589" y="165261"/>
                </a:cubicBezTo>
                <a:cubicBezTo>
                  <a:pt x="250229" y="211703"/>
                  <a:pt x="259653" y="254762"/>
                  <a:pt x="265633" y="288002"/>
                </a:cubicBezTo>
                <a:cubicBezTo>
                  <a:pt x="206093" y="166788"/>
                  <a:pt x="112112" y="49888"/>
                  <a:pt x="0" y="0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artery_endothelial_nucleus_218"/>
          <p:cNvSpPr/>
          <p:nvPr/>
        </p:nvSpPr>
        <p:spPr>
          <a:xfrm>
            <a:off x="12206003" y="3056860"/>
            <a:ext cx="149263" cy="161758"/>
          </a:xfrm>
          <a:custGeom>
            <a:avLst/>
            <a:gdLst/>
            <a:ahLst/>
            <a:cxnLst/>
            <a:rect l="0" t="0" r="r" b="b"/>
            <a:pathLst>
              <a:path w="149263" h="161758">
                <a:moveTo>
                  <a:pt x="17698" y="15385"/>
                </a:moveTo>
                <a:cubicBezTo>
                  <a:pt x="35396" y="0"/>
                  <a:pt x="75233" y="16851"/>
                  <a:pt x="106677" y="53022"/>
                </a:cubicBezTo>
                <a:cubicBezTo>
                  <a:pt x="138120" y="89194"/>
                  <a:pt x="149263" y="130988"/>
                  <a:pt x="131565" y="146373"/>
                </a:cubicBezTo>
                <a:cubicBezTo>
                  <a:pt x="113866" y="161758"/>
                  <a:pt x="74029" y="144907"/>
                  <a:pt x="42586" y="108736"/>
                </a:cubicBezTo>
                <a:cubicBezTo>
                  <a:pt x="11143" y="72564"/>
                  <a:pt x="0" y="30770"/>
                  <a:pt x="17698" y="15385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artery_endothelial_nuclear_glint_219"/>
          <p:cNvSpPr/>
          <p:nvPr/>
        </p:nvSpPr>
        <p:spPr>
          <a:xfrm>
            <a:off x="12228468" y="3094690"/>
            <a:ext cx="54742" cy="61304"/>
          </a:xfrm>
          <a:custGeom>
            <a:avLst/>
            <a:gdLst/>
            <a:ahLst/>
            <a:cxnLst/>
            <a:rect l="0" t="0" r="r" b="b"/>
            <a:pathLst>
              <a:path w="54742" h="61304">
                <a:moveTo>
                  <a:pt x="2971" y="2583"/>
                </a:moveTo>
                <a:cubicBezTo>
                  <a:pt x="5942" y="0"/>
                  <a:pt x="19275" y="10473"/>
                  <a:pt x="32751" y="25975"/>
                </a:cubicBezTo>
                <a:cubicBezTo>
                  <a:pt x="46227" y="41477"/>
                  <a:pt x="54742" y="56138"/>
                  <a:pt x="51771" y="58721"/>
                </a:cubicBezTo>
                <a:cubicBezTo>
                  <a:pt x="48800" y="61304"/>
                  <a:pt x="35467" y="50830"/>
                  <a:pt x="21991" y="35328"/>
                </a:cubicBezTo>
                <a:cubicBezTo>
                  <a:pt x="8516" y="19826"/>
                  <a:pt x="0" y="5166"/>
                  <a:pt x="2971" y="2583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artery_endothelial_cell_220"/>
          <p:cNvSpPr/>
          <p:nvPr/>
        </p:nvSpPr>
        <p:spPr>
          <a:xfrm>
            <a:off x="8946622" y="1519516"/>
            <a:ext cx="220674" cy="520319"/>
          </a:xfrm>
          <a:custGeom>
            <a:avLst/>
            <a:gdLst/>
            <a:ahLst/>
            <a:cxnLst/>
            <a:rect l="0" t="0" r="r" b="b"/>
            <a:pathLst>
              <a:path w="220674" h="520319">
                <a:moveTo>
                  <a:pt x="117233" y="0"/>
                </a:moveTo>
                <a:cubicBezTo>
                  <a:pt x="179998" y="22882"/>
                  <a:pt x="220674" y="134107"/>
                  <a:pt x="198606" y="252803"/>
                </a:cubicBezTo>
                <a:cubicBezTo>
                  <a:pt x="188224" y="367876"/>
                  <a:pt x="126181" y="506957"/>
                  <a:pt x="70208" y="520319"/>
                </a:cubicBezTo>
                <a:cubicBezTo>
                  <a:pt x="23453" y="519637"/>
                  <a:pt x="0" y="405468"/>
                  <a:pt x="22068" y="286772"/>
                </a:cubicBezTo>
                <a:cubicBezTo>
                  <a:pt x="18908" y="159919"/>
                  <a:pt x="52031" y="12229"/>
                  <a:pt x="117233" y="0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artery_endothelial_surface_glow_221"/>
          <p:cNvSpPr/>
          <p:nvPr/>
        </p:nvSpPr>
        <p:spPr>
          <a:xfrm>
            <a:off x="9035859" y="1571390"/>
            <a:ext cx="98836" cy="405019"/>
          </a:xfrm>
          <a:custGeom>
            <a:avLst/>
            <a:gdLst/>
            <a:ahLst/>
            <a:cxnLst/>
            <a:rect l="0" t="0" r="r" b="b"/>
            <a:pathLst>
              <a:path w="98836" h="405019">
                <a:moveTo>
                  <a:pt x="38489" y="0"/>
                </a:moveTo>
                <a:cubicBezTo>
                  <a:pt x="98836" y="88347"/>
                  <a:pt x="91524" y="193679"/>
                  <a:pt x="61440" y="286099"/>
                </a:cubicBezTo>
                <a:cubicBezTo>
                  <a:pt x="45481" y="339784"/>
                  <a:pt x="20283" y="377158"/>
                  <a:pt x="0" y="405019"/>
                </a:cubicBezTo>
                <a:cubicBezTo>
                  <a:pt x="49744" y="274545"/>
                  <a:pt x="74250" y="120738"/>
                  <a:pt x="38489" y="0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artery_endothelial_nucleus_222"/>
          <p:cNvSpPr/>
          <p:nvPr/>
        </p:nvSpPr>
        <p:spPr>
          <a:xfrm>
            <a:off x="8996972" y="1691251"/>
            <a:ext cx="95970" cy="177983"/>
          </a:xfrm>
          <a:custGeom>
            <a:avLst/>
            <a:gdLst/>
            <a:ahLst/>
            <a:cxnLst/>
            <a:rect l="0" t="0" r="r" b="b"/>
            <a:pathLst>
              <a:path w="95970" h="177983">
                <a:moveTo>
                  <a:pt x="58561" y="2858"/>
                </a:moveTo>
                <a:cubicBezTo>
                  <a:pt x="81836" y="5716"/>
                  <a:pt x="95970" y="46596"/>
                  <a:pt x="90129" y="94166"/>
                </a:cubicBezTo>
                <a:cubicBezTo>
                  <a:pt x="84288" y="141737"/>
                  <a:pt x="60685" y="177983"/>
                  <a:pt x="37409" y="175125"/>
                </a:cubicBezTo>
                <a:cubicBezTo>
                  <a:pt x="14134" y="172268"/>
                  <a:pt x="0" y="131387"/>
                  <a:pt x="5841" y="83817"/>
                </a:cubicBezTo>
                <a:cubicBezTo>
                  <a:pt x="11682" y="36247"/>
                  <a:pt x="35285" y="0"/>
                  <a:pt x="58561" y="2858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artery_endothelial_nuclear_glint_223"/>
          <p:cNvSpPr/>
          <p:nvPr/>
        </p:nvSpPr>
        <p:spPr>
          <a:xfrm>
            <a:off x="9010584" y="1730451"/>
            <a:ext cx="19157" cy="74789"/>
          </a:xfrm>
          <a:custGeom>
            <a:avLst/>
            <a:gdLst/>
            <a:ahLst/>
            <a:cxnLst/>
            <a:rect l="0" t="0" r="r" b="b"/>
            <a:pathLst>
              <a:path w="19157" h="74789">
                <a:moveTo>
                  <a:pt x="14111" y="480"/>
                </a:moveTo>
                <a:cubicBezTo>
                  <a:pt x="18019" y="960"/>
                  <a:pt x="19157" y="17876"/>
                  <a:pt x="16654" y="38263"/>
                </a:cubicBezTo>
                <a:cubicBezTo>
                  <a:pt x="14151" y="58650"/>
                  <a:pt x="8954" y="74789"/>
                  <a:pt x="5046" y="74309"/>
                </a:cubicBezTo>
                <a:cubicBezTo>
                  <a:pt x="1138" y="73829"/>
                  <a:pt x="0" y="56913"/>
                  <a:pt x="2503" y="36526"/>
                </a:cubicBezTo>
                <a:cubicBezTo>
                  <a:pt x="5006" y="16138"/>
                  <a:pt x="10203" y="0"/>
                  <a:pt x="14111" y="480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artery_endothelial_cell_224"/>
          <p:cNvSpPr/>
          <p:nvPr/>
        </p:nvSpPr>
        <p:spPr>
          <a:xfrm>
            <a:off x="8937251" y="1858522"/>
            <a:ext cx="295835" cy="529119"/>
          </a:xfrm>
          <a:custGeom>
            <a:avLst/>
            <a:gdLst/>
            <a:ahLst/>
            <a:cxnLst/>
            <a:rect l="0" t="0" r="r" b="b"/>
            <a:pathLst>
              <a:path w="295835" h="529119">
                <a:moveTo>
                  <a:pt x="57067" y="8009"/>
                </a:moveTo>
                <a:cubicBezTo>
                  <a:pt x="127734" y="0"/>
                  <a:pt x="217298" y="83428"/>
                  <a:pt x="249996" y="202760"/>
                </a:cubicBezTo>
                <a:cubicBezTo>
                  <a:pt x="292272" y="313353"/>
                  <a:pt x="295835" y="469924"/>
                  <a:pt x="248146" y="508110"/>
                </a:cubicBezTo>
                <a:cubicBezTo>
                  <a:pt x="202934" y="529119"/>
                  <a:pt x="128574" y="435015"/>
                  <a:pt x="95876" y="315682"/>
                </a:cubicBezTo>
                <a:cubicBezTo>
                  <a:pt x="35246" y="200526"/>
                  <a:pt x="0" y="49424"/>
                  <a:pt x="57067" y="8009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artery_endothelial_surface_glow_225"/>
          <p:cNvSpPr/>
          <p:nvPr/>
        </p:nvSpPr>
        <p:spPr>
          <a:xfrm>
            <a:off x="9027947" y="1909365"/>
            <a:ext cx="160988" cy="390154"/>
          </a:xfrm>
          <a:custGeom>
            <a:avLst/>
            <a:gdLst/>
            <a:ahLst/>
            <a:cxnLst/>
            <a:rect l="0" t="0" r="r" b="b"/>
            <a:pathLst>
              <a:path w="160988" h="390154">
                <a:moveTo>
                  <a:pt x="0" y="0"/>
                </a:moveTo>
                <a:cubicBezTo>
                  <a:pt x="98069" y="53293"/>
                  <a:pt x="138870" y="153511"/>
                  <a:pt x="151940" y="252396"/>
                </a:cubicBezTo>
                <a:cubicBezTo>
                  <a:pt x="160988" y="309135"/>
                  <a:pt x="153757" y="355155"/>
                  <a:pt x="146928" y="390154"/>
                </a:cubicBezTo>
                <a:cubicBezTo>
                  <a:pt x="135462" y="247187"/>
                  <a:pt x="89163" y="94449"/>
                  <a:pt x="0" y="0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artery_endothelial_nucleus_226"/>
          <p:cNvSpPr/>
          <p:nvPr/>
        </p:nvSpPr>
        <p:spPr>
          <a:xfrm>
            <a:off x="9038795" y="2025280"/>
            <a:ext cx="111502" cy="179375"/>
          </a:xfrm>
          <a:custGeom>
            <a:avLst/>
            <a:gdLst/>
            <a:ahLst/>
            <a:cxnLst/>
            <a:rect l="0" t="0" r="r" b="b"/>
            <a:pathLst>
              <a:path w="111502" h="179375">
                <a:moveTo>
                  <a:pt x="27498" y="7635"/>
                </a:moveTo>
                <a:cubicBezTo>
                  <a:pt x="49671" y="0"/>
                  <a:pt x="80294" y="30547"/>
                  <a:pt x="95898" y="75864"/>
                </a:cubicBezTo>
                <a:cubicBezTo>
                  <a:pt x="111502" y="121180"/>
                  <a:pt x="106177" y="164105"/>
                  <a:pt x="84004" y="171740"/>
                </a:cubicBezTo>
                <a:cubicBezTo>
                  <a:pt x="61831" y="179375"/>
                  <a:pt x="31207" y="148828"/>
                  <a:pt x="15604" y="103511"/>
                </a:cubicBezTo>
                <a:cubicBezTo>
                  <a:pt x="0" y="58195"/>
                  <a:pt x="5325" y="15269"/>
                  <a:pt x="27498" y="7635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artery_endothelial_nuclear_glint_227"/>
          <p:cNvSpPr/>
          <p:nvPr/>
        </p:nvSpPr>
        <p:spPr>
          <a:xfrm>
            <a:off x="9053921" y="2066123"/>
            <a:ext cx="31662" cy="72894"/>
          </a:xfrm>
          <a:custGeom>
            <a:avLst/>
            <a:gdLst/>
            <a:ahLst/>
            <a:cxnLst/>
            <a:rect l="0" t="0" r="r" b="b"/>
            <a:pathLst>
              <a:path w="31662" h="72894">
                <a:moveTo>
                  <a:pt x="3722" y="1282"/>
                </a:moveTo>
                <a:cubicBezTo>
                  <a:pt x="7445" y="0"/>
                  <a:pt x="15884" y="14705"/>
                  <a:pt x="22571" y="34126"/>
                </a:cubicBezTo>
                <a:cubicBezTo>
                  <a:pt x="29258" y="53548"/>
                  <a:pt x="31662" y="70331"/>
                  <a:pt x="27939" y="71613"/>
                </a:cubicBezTo>
                <a:cubicBezTo>
                  <a:pt x="24217" y="72894"/>
                  <a:pt x="15778" y="58189"/>
                  <a:pt x="9091" y="38768"/>
                </a:cubicBezTo>
                <a:cubicBezTo>
                  <a:pt x="2404" y="19347"/>
                  <a:pt x="0" y="2563"/>
                  <a:pt x="3722" y="1282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artery_endothelial_cell_228"/>
          <p:cNvSpPr/>
          <p:nvPr/>
        </p:nvSpPr>
        <p:spPr>
          <a:xfrm>
            <a:off x="9197797" y="2280333"/>
            <a:ext cx="552523" cy="365193"/>
          </a:xfrm>
          <a:custGeom>
            <a:avLst/>
            <a:gdLst/>
            <a:ahLst/>
            <a:cxnLst/>
            <a:rect l="0" t="0" r="r" b="b"/>
            <a:pathLst>
              <a:path w="552523" h="365193">
                <a:moveTo>
                  <a:pt x="12510" y="55182"/>
                </a:moveTo>
                <a:cubicBezTo>
                  <a:pt x="61227" y="0"/>
                  <a:pt x="194816" y="3846"/>
                  <a:pt x="311820" y="75324"/>
                </a:cubicBezTo>
                <a:cubicBezTo>
                  <a:pt x="429550" y="133289"/>
                  <a:pt x="552523" y="254277"/>
                  <a:pt x="544815" y="317363"/>
                </a:cubicBezTo>
                <a:cubicBezTo>
                  <a:pt x="525842" y="365193"/>
                  <a:pt x="395861" y="342415"/>
                  <a:pt x="278857" y="270936"/>
                </a:cubicBezTo>
                <a:cubicBezTo>
                  <a:pt x="143374" y="222066"/>
                  <a:pt x="0" y="127299"/>
                  <a:pt x="12510" y="55182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artery_endothelial_surface_glow_229"/>
          <p:cNvSpPr/>
          <p:nvPr/>
        </p:nvSpPr>
        <p:spPr>
          <a:xfrm>
            <a:off x="9269302" y="2320237"/>
            <a:ext cx="413614" cy="231818"/>
          </a:xfrm>
          <a:custGeom>
            <a:avLst/>
            <a:gdLst/>
            <a:ahLst/>
            <a:cxnLst/>
            <a:rect l="0" t="0" r="r" b="b"/>
            <a:pathLst>
              <a:path w="413614" h="231818">
                <a:moveTo>
                  <a:pt x="0" y="25796"/>
                </a:moveTo>
                <a:cubicBezTo>
                  <a:pt x="117056" y="0"/>
                  <a:pt x="225676" y="50804"/>
                  <a:pt x="311742" y="119733"/>
                </a:cubicBezTo>
                <a:cubicBezTo>
                  <a:pt x="362327" y="158214"/>
                  <a:pt x="392045" y="199499"/>
                  <a:pt x="413614" y="231818"/>
                </a:cubicBezTo>
                <a:cubicBezTo>
                  <a:pt x="294949" y="127022"/>
                  <a:pt x="141739" y="38608"/>
                  <a:pt x="0" y="25796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artery_endothelial_nucleus_230"/>
          <p:cNvSpPr/>
          <p:nvPr/>
        </p:nvSpPr>
        <p:spPr>
          <a:xfrm>
            <a:off x="9391228" y="2400643"/>
            <a:ext cx="175264" cy="122893"/>
          </a:xfrm>
          <a:custGeom>
            <a:avLst/>
            <a:gdLst/>
            <a:ahLst/>
            <a:cxnLst/>
            <a:rect l="0" t="0" r="r" b="b"/>
            <a:pathLst>
              <a:path w="175264" h="122893">
                <a:moveTo>
                  <a:pt x="11009" y="20705"/>
                </a:moveTo>
                <a:cubicBezTo>
                  <a:pt x="22018" y="0"/>
                  <a:pt x="65248" y="1455"/>
                  <a:pt x="107566" y="23956"/>
                </a:cubicBezTo>
                <a:cubicBezTo>
                  <a:pt x="149884" y="46457"/>
                  <a:pt x="175264" y="81482"/>
                  <a:pt x="164255" y="102187"/>
                </a:cubicBezTo>
                <a:cubicBezTo>
                  <a:pt x="153245" y="122893"/>
                  <a:pt x="110016" y="121437"/>
                  <a:pt x="67698" y="98937"/>
                </a:cubicBezTo>
                <a:cubicBezTo>
                  <a:pt x="25380" y="76436"/>
                  <a:pt x="0" y="41411"/>
                  <a:pt x="11009" y="20705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artery_endothelial_nuclear_glint_231"/>
          <p:cNvSpPr/>
          <p:nvPr/>
        </p:nvSpPr>
        <p:spPr>
          <a:xfrm>
            <a:off x="9419379" y="2428756"/>
            <a:ext cx="69373" cy="41873"/>
          </a:xfrm>
          <a:custGeom>
            <a:avLst/>
            <a:gdLst/>
            <a:ahLst/>
            <a:cxnLst/>
            <a:rect l="0" t="0" r="r" b="b"/>
            <a:pathLst>
              <a:path w="69373" h="41873">
                <a:moveTo>
                  <a:pt x="1848" y="3476"/>
                </a:moveTo>
                <a:cubicBezTo>
                  <a:pt x="3697" y="0"/>
                  <a:pt x="19897" y="4999"/>
                  <a:pt x="38033" y="14643"/>
                </a:cubicBezTo>
                <a:cubicBezTo>
                  <a:pt x="56169" y="24286"/>
                  <a:pt x="69373" y="34921"/>
                  <a:pt x="67525" y="38397"/>
                </a:cubicBezTo>
                <a:cubicBezTo>
                  <a:pt x="65677" y="41873"/>
                  <a:pt x="49476" y="36874"/>
                  <a:pt x="31340" y="27231"/>
                </a:cubicBezTo>
                <a:cubicBezTo>
                  <a:pt x="13204" y="17587"/>
                  <a:pt x="0" y="6952"/>
                  <a:pt x="1848" y="3476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artery_endothelial_cell_232"/>
          <p:cNvSpPr/>
          <p:nvPr/>
        </p:nvSpPr>
        <p:spPr>
          <a:xfrm>
            <a:off x="9710911" y="2552253"/>
            <a:ext cx="542855" cy="367416"/>
          </a:xfrm>
          <a:custGeom>
            <a:avLst/>
            <a:gdLst/>
            <a:ahLst/>
            <a:cxnLst/>
            <a:rect l="0" t="0" r="r" b="b"/>
            <a:pathLst>
              <a:path w="542855" h="367416">
                <a:moveTo>
                  <a:pt x="12962" y="52516"/>
                </a:moveTo>
                <a:cubicBezTo>
                  <a:pt x="61420" y="0"/>
                  <a:pt x="192911" y="7118"/>
                  <a:pt x="307469" y="79689"/>
                </a:cubicBezTo>
                <a:cubicBezTo>
                  <a:pt x="422863" y="139117"/>
                  <a:pt x="542855" y="260060"/>
                  <a:pt x="534701" y="321309"/>
                </a:cubicBezTo>
                <a:cubicBezTo>
                  <a:pt x="515593" y="367416"/>
                  <a:pt x="387823" y="341950"/>
                  <a:pt x="273266" y="269378"/>
                </a:cubicBezTo>
                <a:cubicBezTo>
                  <a:pt x="140312" y="218359"/>
                  <a:pt x="0" y="122440"/>
                  <a:pt x="12962" y="52516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artery_endothelial_surface_glow_233"/>
          <p:cNvSpPr/>
          <p:nvPr/>
        </p:nvSpPr>
        <p:spPr>
          <a:xfrm>
            <a:off x="9781863" y="2594333"/>
            <a:ext cx="405384" cy="233270"/>
          </a:xfrm>
          <a:custGeom>
            <a:avLst/>
            <a:gdLst/>
            <a:ahLst/>
            <a:cxnLst/>
            <a:rect l="0" t="0" r="r" b="b"/>
            <a:pathLst>
              <a:path w="405384" h="233270">
                <a:moveTo>
                  <a:pt x="0" y="22170"/>
                </a:moveTo>
                <a:cubicBezTo>
                  <a:pt x="115479" y="0"/>
                  <a:pt x="221967" y="52224"/>
                  <a:pt x="306087" y="121531"/>
                </a:cubicBezTo>
                <a:cubicBezTo>
                  <a:pt x="355547" y="160287"/>
                  <a:pt x="384437" y="201248"/>
                  <a:pt x="405384" y="233270"/>
                </a:cubicBezTo>
                <a:cubicBezTo>
                  <a:pt x="289489" y="128206"/>
                  <a:pt x="139435" y="38226"/>
                  <a:pt x="0" y="22170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artery_endothelial_nucleus_234"/>
          <p:cNvSpPr/>
          <p:nvPr/>
        </p:nvSpPr>
        <p:spPr>
          <a:xfrm>
            <a:off x="9899878" y="2672247"/>
            <a:ext cx="174538" cy="125164"/>
          </a:xfrm>
          <a:custGeom>
            <a:avLst/>
            <a:gdLst/>
            <a:ahLst/>
            <a:cxnLst/>
            <a:rect l="0" t="0" r="r" b="b"/>
            <a:pathLst>
              <a:path w="174538" h="125164">
                <a:moveTo>
                  <a:pt x="11369" y="20510"/>
                </a:moveTo>
                <a:cubicBezTo>
                  <a:pt x="22738" y="0"/>
                  <a:pt x="65936" y="2210"/>
                  <a:pt x="107854" y="25445"/>
                </a:cubicBezTo>
                <a:cubicBezTo>
                  <a:pt x="149773" y="48681"/>
                  <a:pt x="174538" y="84144"/>
                  <a:pt x="163169" y="104654"/>
                </a:cubicBezTo>
                <a:cubicBezTo>
                  <a:pt x="151800" y="125164"/>
                  <a:pt x="108602" y="122955"/>
                  <a:pt x="66684" y="99719"/>
                </a:cubicBezTo>
                <a:cubicBezTo>
                  <a:pt x="24765" y="76483"/>
                  <a:pt x="0" y="41020"/>
                  <a:pt x="11369" y="20510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artery_endothelial_nuclear_glint_235"/>
          <p:cNvSpPr/>
          <p:nvPr/>
        </p:nvSpPr>
        <p:spPr>
          <a:xfrm>
            <a:off x="9927915" y="2700957"/>
            <a:ext cx="68874" cy="42948"/>
          </a:xfrm>
          <a:custGeom>
            <a:avLst/>
            <a:gdLst/>
            <a:ahLst/>
            <a:cxnLst/>
            <a:rect l="0" t="0" r="r" b="b"/>
            <a:pathLst>
              <a:path w="68874" h="42948">
                <a:moveTo>
                  <a:pt x="1909" y="3443"/>
                </a:moveTo>
                <a:cubicBezTo>
                  <a:pt x="3817" y="0"/>
                  <a:pt x="19928" y="5281"/>
                  <a:pt x="37893" y="15240"/>
                </a:cubicBezTo>
                <a:cubicBezTo>
                  <a:pt x="55858" y="25198"/>
                  <a:pt x="68874" y="36062"/>
                  <a:pt x="66966" y="39505"/>
                </a:cubicBezTo>
                <a:cubicBezTo>
                  <a:pt x="65057" y="42948"/>
                  <a:pt x="48946" y="37667"/>
                  <a:pt x="30981" y="27709"/>
                </a:cubicBezTo>
                <a:cubicBezTo>
                  <a:pt x="13016" y="17751"/>
                  <a:pt x="0" y="6887"/>
                  <a:pt x="1909" y="3443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artery_endothelial_cell_236"/>
          <p:cNvSpPr/>
          <p:nvPr/>
        </p:nvSpPr>
        <p:spPr>
          <a:xfrm>
            <a:off x="10207615" y="2825311"/>
            <a:ext cx="553023" cy="392811"/>
          </a:xfrm>
          <a:custGeom>
            <a:avLst/>
            <a:gdLst/>
            <a:ahLst/>
            <a:cxnLst/>
            <a:rect l="0" t="0" r="r" b="b"/>
            <a:pathLst>
              <a:path w="553023" h="392811">
                <a:moveTo>
                  <a:pt x="14757" y="50505"/>
                </a:moveTo>
                <a:cubicBezTo>
                  <a:pt x="65496" y="0"/>
                  <a:pt x="200007" y="13713"/>
                  <a:pt x="315787" y="92538"/>
                </a:cubicBezTo>
                <a:cubicBezTo>
                  <a:pt x="432703" y="158160"/>
                  <a:pt x="553023" y="285993"/>
                  <a:pt x="543375" y="347304"/>
                </a:cubicBezTo>
                <a:cubicBezTo>
                  <a:pt x="522829" y="392811"/>
                  <a:pt x="392519" y="360795"/>
                  <a:pt x="276738" y="281970"/>
                </a:cubicBezTo>
                <a:cubicBezTo>
                  <a:pt x="141661" y="223949"/>
                  <a:pt x="0" y="120318"/>
                  <a:pt x="14757" y="50505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artery_endothelial_surface_glow_237"/>
          <p:cNvSpPr/>
          <p:nvPr/>
        </p:nvSpPr>
        <p:spPr>
          <a:xfrm>
            <a:off x="10281511" y="2873930"/>
            <a:ext cx="410680" cy="249471"/>
          </a:xfrm>
          <a:custGeom>
            <a:avLst/>
            <a:gdLst/>
            <a:ahLst/>
            <a:cxnLst/>
            <a:rect l="0" t="0" r="r" b="b"/>
            <a:pathLst>
              <a:path w="410680" h="249471">
                <a:moveTo>
                  <a:pt x="0" y="16594"/>
                </a:moveTo>
                <a:cubicBezTo>
                  <a:pt x="118732" y="0"/>
                  <a:pt x="226681" y="57920"/>
                  <a:pt x="311359" y="131941"/>
                </a:cubicBezTo>
                <a:cubicBezTo>
                  <a:pt x="361190" y="173452"/>
                  <a:pt x="389908" y="216163"/>
                  <a:pt x="410680" y="249471"/>
                </a:cubicBezTo>
                <a:cubicBezTo>
                  <a:pt x="294219" y="137840"/>
                  <a:pt x="142456" y="39709"/>
                  <a:pt x="0" y="16594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artery_endothelial_nucleus_238"/>
          <p:cNvSpPr/>
          <p:nvPr/>
        </p:nvSpPr>
        <p:spPr>
          <a:xfrm>
            <a:off x="10402771" y="2955169"/>
            <a:ext cx="172927" cy="129592"/>
          </a:xfrm>
          <a:custGeom>
            <a:avLst/>
            <a:gdLst/>
            <a:ahLst/>
            <a:cxnLst/>
            <a:rect l="0" t="0" r="r" b="b"/>
            <a:pathLst>
              <a:path w="172927" h="129592">
                <a:moveTo>
                  <a:pt x="12078" y="20101"/>
                </a:moveTo>
                <a:cubicBezTo>
                  <a:pt x="24156" y="0"/>
                  <a:pt x="67250" y="3716"/>
                  <a:pt x="108332" y="28400"/>
                </a:cubicBezTo>
                <a:cubicBezTo>
                  <a:pt x="149414" y="53085"/>
                  <a:pt x="172927" y="89391"/>
                  <a:pt x="160849" y="109491"/>
                </a:cubicBezTo>
                <a:cubicBezTo>
                  <a:pt x="148771" y="129592"/>
                  <a:pt x="105676" y="125876"/>
                  <a:pt x="64595" y="101192"/>
                </a:cubicBezTo>
                <a:cubicBezTo>
                  <a:pt x="23513" y="76507"/>
                  <a:pt x="0" y="40202"/>
                  <a:pt x="12078" y="20101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artery_endothelial_nuclear_glint_239"/>
          <p:cNvSpPr/>
          <p:nvPr/>
        </p:nvSpPr>
        <p:spPr>
          <a:xfrm>
            <a:off x="10430533" y="2985038"/>
            <a:ext cx="67814" cy="45059"/>
          </a:xfrm>
          <a:custGeom>
            <a:avLst/>
            <a:gdLst/>
            <a:ahLst/>
            <a:cxnLst/>
            <a:rect l="0" t="0" r="r" b="b"/>
            <a:pathLst>
              <a:path w="67814" h="45059">
                <a:moveTo>
                  <a:pt x="2028" y="3375"/>
                </a:moveTo>
                <a:cubicBezTo>
                  <a:pt x="4055" y="0"/>
                  <a:pt x="19972" y="5840"/>
                  <a:pt x="37579" y="16419"/>
                </a:cubicBezTo>
                <a:cubicBezTo>
                  <a:pt x="55185" y="26999"/>
                  <a:pt x="67814" y="38310"/>
                  <a:pt x="65787" y="41685"/>
                </a:cubicBezTo>
                <a:cubicBezTo>
                  <a:pt x="63759" y="45059"/>
                  <a:pt x="47842" y="39219"/>
                  <a:pt x="30236" y="28640"/>
                </a:cubicBezTo>
                <a:cubicBezTo>
                  <a:pt x="12629" y="18061"/>
                  <a:pt x="0" y="6749"/>
                  <a:pt x="2028" y="3375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artery_endothelial_cell_240"/>
          <p:cNvSpPr/>
          <p:nvPr/>
        </p:nvSpPr>
        <p:spPr>
          <a:xfrm>
            <a:off x="10684908" y="3110447"/>
            <a:ext cx="553023" cy="392811"/>
          </a:xfrm>
          <a:custGeom>
            <a:avLst/>
            <a:gdLst/>
            <a:ahLst/>
            <a:cxnLst/>
            <a:rect l="0" t="0" r="r" b="b"/>
            <a:pathLst>
              <a:path w="553023" h="392811">
                <a:moveTo>
                  <a:pt x="14757" y="50505"/>
                </a:moveTo>
                <a:cubicBezTo>
                  <a:pt x="65496" y="0"/>
                  <a:pt x="200007" y="13713"/>
                  <a:pt x="315787" y="92538"/>
                </a:cubicBezTo>
                <a:cubicBezTo>
                  <a:pt x="432703" y="158160"/>
                  <a:pt x="553023" y="285993"/>
                  <a:pt x="543375" y="347304"/>
                </a:cubicBezTo>
                <a:cubicBezTo>
                  <a:pt x="522829" y="392811"/>
                  <a:pt x="392519" y="360795"/>
                  <a:pt x="276738" y="281970"/>
                </a:cubicBezTo>
                <a:cubicBezTo>
                  <a:pt x="141661" y="223949"/>
                  <a:pt x="0" y="120318"/>
                  <a:pt x="14757" y="50505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artery_endothelial_surface_glow_241"/>
          <p:cNvSpPr/>
          <p:nvPr/>
        </p:nvSpPr>
        <p:spPr>
          <a:xfrm>
            <a:off x="10758804" y="3159067"/>
            <a:ext cx="410680" cy="249471"/>
          </a:xfrm>
          <a:custGeom>
            <a:avLst/>
            <a:gdLst/>
            <a:ahLst/>
            <a:cxnLst/>
            <a:rect l="0" t="0" r="r" b="b"/>
            <a:pathLst>
              <a:path w="410680" h="249471">
                <a:moveTo>
                  <a:pt x="0" y="16594"/>
                </a:moveTo>
                <a:cubicBezTo>
                  <a:pt x="118732" y="0"/>
                  <a:pt x="226681" y="57920"/>
                  <a:pt x="311359" y="131941"/>
                </a:cubicBezTo>
                <a:cubicBezTo>
                  <a:pt x="361190" y="173452"/>
                  <a:pt x="389908" y="216163"/>
                  <a:pt x="410680" y="249471"/>
                </a:cubicBezTo>
                <a:cubicBezTo>
                  <a:pt x="294219" y="137840"/>
                  <a:pt x="142456" y="39709"/>
                  <a:pt x="0" y="16594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artery_endothelial_nucleus_242"/>
          <p:cNvSpPr/>
          <p:nvPr/>
        </p:nvSpPr>
        <p:spPr>
          <a:xfrm>
            <a:off x="10880064" y="3240305"/>
            <a:ext cx="172927" cy="129592"/>
          </a:xfrm>
          <a:custGeom>
            <a:avLst/>
            <a:gdLst/>
            <a:ahLst/>
            <a:cxnLst/>
            <a:rect l="0" t="0" r="r" b="b"/>
            <a:pathLst>
              <a:path w="172927" h="129592">
                <a:moveTo>
                  <a:pt x="12078" y="20101"/>
                </a:moveTo>
                <a:cubicBezTo>
                  <a:pt x="24156" y="0"/>
                  <a:pt x="67250" y="3716"/>
                  <a:pt x="108332" y="28400"/>
                </a:cubicBezTo>
                <a:cubicBezTo>
                  <a:pt x="149414" y="53085"/>
                  <a:pt x="172927" y="89391"/>
                  <a:pt x="160849" y="109491"/>
                </a:cubicBezTo>
                <a:cubicBezTo>
                  <a:pt x="148771" y="129592"/>
                  <a:pt x="105676" y="125876"/>
                  <a:pt x="64595" y="101192"/>
                </a:cubicBezTo>
                <a:cubicBezTo>
                  <a:pt x="23513" y="76507"/>
                  <a:pt x="0" y="40202"/>
                  <a:pt x="12078" y="20101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artery_endothelial_nuclear_glint_243"/>
          <p:cNvSpPr/>
          <p:nvPr/>
        </p:nvSpPr>
        <p:spPr>
          <a:xfrm>
            <a:off x="10907826" y="3270174"/>
            <a:ext cx="67814" cy="45059"/>
          </a:xfrm>
          <a:custGeom>
            <a:avLst/>
            <a:gdLst/>
            <a:ahLst/>
            <a:cxnLst/>
            <a:rect l="0" t="0" r="r" b="b"/>
            <a:pathLst>
              <a:path w="67814" h="45059">
                <a:moveTo>
                  <a:pt x="2028" y="3375"/>
                </a:moveTo>
                <a:cubicBezTo>
                  <a:pt x="4055" y="0"/>
                  <a:pt x="19972" y="5840"/>
                  <a:pt x="37579" y="16419"/>
                </a:cubicBezTo>
                <a:cubicBezTo>
                  <a:pt x="55185" y="26999"/>
                  <a:pt x="67814" y="38310"/>
                  <a:pt x="65787" y="41685"/>
                </a:cubicBezTo>
                <a:cubicBezTo>
                  <a:pt x="63759" y="45059"/>
                  <a:pt x="47842" y="39219"/>
                  <a:pt x="30236" y="28640"/>
                </a:cubicBezTo>
                <a:cubicBezTo>
                  <a:pt x="12629" y="18061"/>
                  <a:pt x="0" y="6749"/>
                  <a:pt x="2028" y="3375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artery_endothelial_cell_244"/>
          <p:cNvSpPr/>
          <p:nvPr/>
        </p:nvSpPr>
        <p:spPr>
          <a:xfrm>
            <a:off x="11169852" y="3387879"/>
            <a:ext cx="537721" cy="383042"/>
          </a:xfrm>
          <a:custGeom>
            <a:avLst/>
            <a:gdLst/>
            <a:ahLst/>
            <a:cxnLst/>
            <a:rect l="0" t="0" r="r" b="b"/>
            <a:pathLst>
              <a:path w="537721" h="383042">
                <a:moveTo>
                  <a:pt x="15394" y="50793"/>
                </a:moveTo>
                <a:cubicBezTo>
                  <a:pt x="65656" y="0"/>
                  <a:pt x="196819" y="11702"/>
                  <a:pt x="308774" y="88228"/>
                </a:cubicBezTo>
                <a:cubicBezTo>
                  <a:pt x="422023" y="151647"/>
                  <a:pt x="537721" y="276703"/>
                  <a:pt x="527435" y="337631"/>
                </a:cubicBezTo>
                <a:cubicBezTo>
                  <a:pt x="506730" y="383042"/>
                  <a:pt x="379926" y="353133"/>
                  <a:pt x="267971" y="276607"/>
                </a:cubicBezTo>
                <a:cubicBezTo>
                  <a:pt x="136879" y="220980"/>
                  <a:pt x="0" y="120222"/>
                  <a:pt x="15394" y="50793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artery_endothelial_surface_glow_245"/>
          <p:cNvSpPr/>
          <p:nvPr/>
        </p:nvSpPr>
        <p:spPr>
          <a:xfrm>
            <a:off x="11242792" y="3434296"/>
            <a:ext cx="397769" cy="243245"/>
          </a:xfrm>
          <a:custGeom>
            <a:avLst/>
            <a:gdLst/>
            <a:ahLst/>
            <a:cxnLst/>
            <a:rect l="0" t="0" r="r" b="b"/>
            <a:pathLst>
              <a:path w="397769" h="243245">
                <a:moveTo>
                  <a:pt x="0" y="18126"/>
                </a:moveTo>
                <a:cubicBezTo>
                  <a:pt x="116182" y="0"/>
                  <a:pt x="220783" y="55908"/>
                  <a:pt x="302433" y="128110"/>
                </a:cubicBezTo>
                <a:cubicBezTo>
                  <a:pt x="350511" y="168568"/>
                  <a:pt x="377953" y="210512"/>
                  <a:pt x="397769" y="243245"/>
                </a:cubicBezTo>
                <a:cubicBezTo>
                  <a:pt x="285612" y="134201"/>
                  <a:pt x="138790" y="39039"/>
                  <a:pt x="0" y="18126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artery_endothelial_nucleus_246"/>
          <p:cNvSpPr/>
          <p:nvPr/>
        </p:nvSpPr>
        <p:spPr>
          <a:xfrm>
            <a:off x="11357358" y="3513044"/>
            <a:ext cx="172927" cy="129592"/>
          </a:xfrm>
          <a:custGeom>
            <a:avLst/>
            <a:gdLst/>
            <a:ahLst/>
            <a:cxnLst/>
            <a:rect l="0" t="0" r="r" b="b"/>
            <a:pathLst>
              <a:path w="172927" h="129592">
                <a:moveTo>
                  <a:pt x="12078" y="20101"/>
                </a:moveTo>
                <a:cubicBezTo>
                  <a:pt x="24156" y="0"/>
                  <a:pt x="67250" y="3716"/>
                  <a:pt x="108332" y="28400"/>
                </a:cubicBezTo>
                <a:cubicBezTo>
                  <a:pt x="149414" y="53085"/>
                  <a:pt x="172927" y="89391"/>
                  <a:pt x="160849" y="109491"/>
                </a:cubicBezTo>
                <a:cubicBezTo>
                  <a:pt x="148771" y="129592"/>
                  <a:pt x="105676" y="125876"/>
                  <a:pt x="64595" y="101192"/>
                </a:cubicBezTo>
                <a:cubicBezTo>
                  <a:pt x="23513" y="76507"/>
                  <a:pt x="0" y="40202"/>
                  <a:pt x="12078" y="20101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artery_endothelial_nuclear_glint_247"/>
          <p:cNvSpPr/>
          <p:nvPr/>
        </p:nvSpPr>
        <p:spPr>
          <a:xfrm>
            <a:off x="11385119" y="3542913"/>
            <a:ext cx="67814" cy="45059"/>
          </a:xfrm>
          <a:custGeom>
            <a:avLst/>
            <a:gdLst/>
            <a:ahLst/>
            <a:cxnLst/>
            <a:rect l="0" t="0" r="r" b="b"/>
            <a:pathLst>
              <a:path w="67814" h="45059">
                <a:moveTo>
                  <a:pt x="2028" y="3375"/>
                </a:moveTo>
                <a:cubicBezTo>
                  <a:pt x="4055" y="0"/>
                  <a:pt x="19972" y="5840"/>
                  <a:pt x="37579" y="16419"/>
                </a:cubicBezTo>
                <a:cubicBezTo>
                  <a:pt x="55185" y="26999"/>
                  <a:pt x="67814" y="38310"/>
                  <a:pt x="65787" y="41685"/>
                </a:cubicBezTo>
                <a:cubicBezTo>
                  <a:pt x="63759" y="45059"/>
                  <a:pt x="47842" y="39219"/>
                  <a:pt x="30236" y="28640"/>
                </a:cubicBezTo>
                <a:cubicBezTo>
                  <a:pt x="12629" y="18061"/>
                  <a:pt x="0" y="6749"/>
                  <a:pt x="2028" y="3375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artery_endothelial_cell_248"/>
          <p:cNvSpPr/>
          <p:nvPr/>
        </p:nvSpPr>
        <p:spPr>
          <a:xfrm>
            <a:off x="11627663" y="3655966"/>
            <a:ext cx="515020" cy="367307"/>
          </a:xfrm>
          <a:custGeom>
            <a:avLst/>
            <a:gdLst/>
            <a:ahLst/>
            <a:cxnLst/>
            <a:rect l="0" t="0" r="r" b="b"/>
            <a:pathLst>
              <a:path w="515020" h="367307">
                <a:moveTo>
                  <a:pt x="15159" y="49316"/>
                </a:moveTo>
                <a:cubicBezTo>
                  <a:pt x="63666" y="0"/>
                  <a:pt x="189439" y="10561"/>
                  <a:pt x="296421" y="83810"/>
                </a:cubicBezTo>
                <a:cubicBezTo>
                  <a:pt x="404719" y="144398"/>
                  <a:pt x="515020" y="264476"/>
                  <a:pt x="504809" y="323352"/>
                </a:cubicBezTo>
                <a:cubicBezTo>
                  <a:pt x="484690" y="367307"/>
                  <a:pt x="363200" y="339144"/>
                  <a:pt x="256218" y="265896"/>
                </a:cubicBezTo>
                <a:cubicBezTo>
                  <a:pt x="130758" y="212930"/>
                  <a:pt x="0" y="116428"/>
                  <a:pt x="15159" y="49316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artery_endothelial_surface_glow_249"/>
          <p:cNvSpPr/>
          <p:nvPr/>
        </p:nvSpPr>
        <p:spPr>
          <a:xfrm>
            <a:off x="11697955" y="3700083"/>
            <a:ext cx="380363" cy="233245"/>
          </a:xfrm>
          <a:custGeom>
            <a:avLst/>
            <a:gdLst/>
            <a:ahLst/>
            <a:cxnLst/>
            <a:rect l="0" t="0" r="r" b="b"/>
            <a:pathLst>
              <a:path w="380363" h="233245">
                <a:moveTo>
                  <a:pt x="0" y="18150"/>
                </a:moveTo>
                <a:cubicBezTo>
                  <a:pt x="111568" y="0"/>
                  <a:pt x="211610" y="53386"/>
                  <a:pt x="289542" y="122630"/>
                </a:cubicBezTo>
                <a:cubicBezTo>
                  <a:pt x="335441" y="161418"/>
                  <a:pt x="361535" y="201756"/>
                  <a:pt x="380363" y="233245"/>
                </a:cubicBezTo>
                <a:cubicBezTo>
                  <a:pt x="273369" y="128604"/>
                  <a:pt x="133040" y="37561"/>
                  <a:pt x="0" y="18150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artery_endothelial_nucleus_250"/>
          <p:cNvSpPr/>
          <p:nvPr/>
        </p:nvSpPr>
        <p:spPr>
          <a:xfrm>
            <a:off x="11803658" y="3773386"/>
            <a:ext cx="172927" cy="129592"/>
          </a:xfrm>
          <a:custGeom>
            <a:avLst/>
            <a:gdLst/>
            <a:ahLst/>
            <a:cxnLst/>
            <a:rect l="0" t="0" r="r" b="b"/>
            <a:pathLst>
              <a:path w="172927" h="129592">
                <a:moveTo>
                  <a:pt x="12078" y="20101"/>
                </a:moveTo>
                <a:cubicBezTo>
                  <a:pt x="24156" y="0"/>
                  <a:pt x="67250" y="3716"/>
                  <a:pt x="108332" y="28400"/>
                </a:cubicBezTo>
                <a:cubicBezTo>
                  <a:pt x="149414" y="53085"/>
                  <a:pt x="172927" y="89391"/>
                  <a:pt x="160849" y="109491"/>
                </a:cubicBezTo>
                <a:cubicBezTo>
                  <a:pt x="148771" y="129592"/>
                  <a:pt x="105676" y="125876"/>
                  <a:pt x="64595" y="101192"/>
                </a:cubicBezTo>
                <a:cubicBezTo>
                  <a:pt x="23513" y="76507"/>
                  <a:pt x="0" y="40202"/>
                  <a:pt x="12078" y="20101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artery_endothelial_nuclear_glint_251"/>
          <p:cNvSpPr/>
          <p:nvPr/>
        </p:nvSpPr>
        <p:spPr>
          <a:xfrm>
            <a:off x="11831420" y="3803255"/>
            <a:ext cx="67814" cy="45059"/>
          </a:xfrm>
          <a:custGeom>
            <a:avLst/>
            <a:gdLst/>
            <a:ahLst/>
            <a:cxnLst/>
            <a:rect l="0" t="0" r="r" b="b"/>
            <a:pathLst>
              <a:path w="67814" h="45059">
                <a:moveTo>
                  <a:pt x="2028" y="3375"/>
                </a:moveTo>
                <a:cubicBezTo>
                  <a:pt x="4055" y="0"/>
                  <a:pt x="19972" y="5840"/>
                  <a:pt x="37579" y="16419"/>
                </a:cubicBezTo>
                <a:cubicBezTo>
                  <a:pt x="55185" y="26999"/>
                  <a:pt x="67814" y="38310"/>
                  <a:pt x="65787" y="41685"/>
                </a:cubicBezTo>
                <a:cubicBezTo>
                  <a:pt x="63759" y="45059"/>
                  <a:pt x="47842" y="39219"/>
                  <a:pt x="30236" y="28640"/>
                </a:cubicBezTo>
                <a:cubicBezTo>
                  <a:pt x="12629" y="18061"/>
                  <a:pt x="0" y="6749"/>
                  <a:pt x="2028" y="3375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artery_endothelial_cell_252"/>
          <p:cNvSpPr/>
          <p:nvPr/>
        </p:nvSpPr>
        <p:spPr>
          <a:xfrm>
            <a:off x="12030804" y="3902180"/>
            <a:ext cx="489807" cy="358516"/>
          </a:xfrm>
          <a:custGeom>
            <a:avLst/>
            <a:gdLst/>
            <a:ahLst/>
            <a:cxnLst/>
            <a:rect l="0" t="0" r="r" b="b"/>
            <a:pathLst>
              <a:path w="489807" h="358516">
                <a:moveTo>
                  <a:pt x="16052" y="47017"/>
                </a:moveTo>
                <a:cubicBezTo>
                  <a:pt x="63632" y="0"/>
                  <a:pt x="183834" y="11520"/>
                  <a:pt x="284606" y="83261"/>
                </a:cubicBezTo>
                <a:cubicBezTo>
                  <a:pt x="386928" y="142813"/>
                  <a:pt x="489807" y="259725"/>
                  <a:pt x="478682" y="316364"/>
                </a:cubicBezTo>
                <a:cubicBezTo>
                  <a:pt x="458409" y="358516"/>
                  <a:pt x="342712" y="330077"/>
                  <a:pt x="241940" y="258336"/>
                </a:cubicBezTo>
                <a:cubicBezTo>
                  <a:pt x="123009" y="205947"/>
                  <a:pt x="0" y="111541"/>
                  <a:pt x="16052" y="47017"/>
                </a:cubicBezTo>
                <a:close/>
              </a:path>
            </a:pathLst>
          </a:custGeom>
          <a:gradFill rotWithShape="1">
            <a:gsLst>
              <a:gs pos="0">
                <a:srgbClr val="F5FDFF"/>
              </a:gs>
              <a:gs pos="29000">
                <a:srgbClr val="E5F5FB"/>
              </a:gs>
              <a:gs pos="65000">
                <a:srgbClr val="B8DDF0"/>
              </a:gs>
              <a:gs pos="100000">
                <a:srgbClr val="81B4D6"/>
              </a:gs>
            </a:gsLst>
            <a:path path="circle">
              <a:fillToRect l="37000" t="19000" r="63000" b="81000"/>
            </a:path>
            <a:tileRect/>
          </a:gradFill>
          <a:ln w="6198" cap="rnd">
            <a:solidFill>
              <a:srgbClr val="5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artery_endothelial_surface_glow_253"/>
          <p:cNvSpPr/>
          <p:nvPr/>
        </p:nvSpPr>
        <p:spPr>
          <a:xfrm>
            <a:off x="12099356" y="3945962"/>
            <a:ext cx="359322" cy="227678"/>
          </a:xfrm>
          <a:custGeom>
            <a:avLst/>
            <a:gdLst/>
            <a:ahLst/>
            <a:cxnLst/>
            <a:rect l="0" t="0" r="r" b="b"/>
            <a:pathLst>
              <a:path w="359322" h="227678">
                <a:moveTo>
                  <a:pt x="0" y="16305"/>
                </a:moveTo>
                <a:cubicBezTo>
                  <a:pt x="107256" y="0"/>
                  <a:pt x="201837" y="52522"/>
                  <a:pt x="274881" y="120093"/>
                </a:cubicBezTo>
                <a:cubicBezTo>
                  <a:pt x="317948" y="157968"/>
                  <a:pt x="342012" y="197126"/>
                  <a:pt x="359322" y="227678"/>
                </a:cubicBezTo>
                <a:cubicBezTo>
                  <a:pt x="259257" y="125680"/>
                  <a:pt x="126957" y="36432"/>
                  <a:pt x="0" y="16305"/>
                </a:cubicBezTo>
                <a:close/>
              </a:path>
            </a:pathLst>
          </a:custGeom>
          <a:solidFill>
            <a:srgbClr val="FFFFFF">
              <a:alpha val="6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artery_endothelial_nucleus_254"/>
          <p:cNvSpPr/>
          <p:nvPr/>
        </p:nvSpPr>
        <p:spPr>
          <a:xfrm>
            <a:off x="12194613" y="4014054"/>
            <a:ext cx="172042" cy="131747"/>
          </a:xfrm>
          <a:custGeom>
            <a:avLst/>
            <a:gdLst/>
            <a:ahLst/>
            <a:cxnLst/>
            <a:rect l="0" t="0" r="r" b="b"/>
            <a:pathLst>
              <a:path w="172042" h="131747">
                <a:moveTo>
                  <a:pt x="12427" y="19887"/>
                </a:moveTo>
                <a:cubicBezTo>
                  <a:pt x="24854" y="0"/>
                  <a:pt x="67877" y="4467"/>
                  <a:pt x="108522" y="29865"/>
                </a:cubicBezTo>
                <a:cubicBezTo>
                  <a:pt x="149166" y="55263"/>
                  <a:pt x="172042" y="91973"/>
                  <a:pt x="159615" y="111860"/>
                </a:cubicBezTo>
                <a:cubicBezTo>
                  <a:pt x="147188" y="131747"/>
                  <a:pt x="104165" y="127280"/>
                  <a:pt x="63520" y="101882"/>
                </a:cubicBezTo>
                <a:cubicBezTo>
                  <a:pt x="22875" y="76484"/>
                  <a:pt x="0" y="39774"/>
                  <a:pt x="12427" y="19887"/>
                </a:cubicBezTo>
                <a:close/>
              </a:path>
            </a:pathLst>
          </a:custGeom>
          <a:gradFill rotWithShape="1">
            <a:gsLst>
              <a:gs pos="0">
                <a:srgbClr val="A6D2EB"/>
              </a:gs>
              <a:gs pos="25000">
                <a:srgbClr val="7FB9DE"/>
              </a:gs>
              <a:gs pos="61000">
                <a:srgbClr val="4A91C0"/>
              </a:gs>
              <a:gs pos="100000">
                <a:srgbClr val="30699C"/>
              </a:gs>
            </a:gsLst>
            <a:path path="circle">
              <a:fillToRect l="28000" t="20000" r="72000" b="80000"/>
            </a:path>
            <a:tileRect/>
          </a:gradFill>
          <a:ln w="4029" cap="rnd">
            <a:solidFill>
              <a:srgbClr val="407A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artery_endothelial_nuclear_glint_255"/>
          <p:cNvSpPr/>
          <p:nvPr/>
        </p:nvSpPr>
        <p:spPr>
          <a:xfrm>
            <a:off x="12222213" y="4044484"/>
            <a:ext cx="67253" cy="46095"/>
          </a:xfrm>
          <a:custGeom>
            <a:avLst/>
            <a:gdLst/>
            <a:ahLst/>
            <a:cxnLst/>
            <a:rect l="0" t="0" r="r" b="b"/>
            <a:pathLst>
              <a:path w="67253" h="46095">
                <a:moveTo>
                  <a:pt x="2086" y="3339"/>
                </a:moveTo>
                <a:cubicBezTo>
                  <a:pt x="4172" y="0"/>
                  <a:pt x="19985" y="6117"/>
                  <a:pt x="37404" y="17002"/>
                </a:cubicBezTo>
                <a:cubicBezTo>
                  <a:pt x="54823" y="27887"/>
                  <a:pt x="67253" y="39417"/>
                  <a:pt x="65167" y="42756"/>
                </a:cubicBezTo>
                <a:cubicBezTo>
                  <a:pt x="63081" y="46095"/>
                  <a:pt x="47268" y="39977"/>
                  <a:pt x="29849" y="29093"/>
                </a:cubicBezTo>
                <a:cubicBezTo>
                  <a:pt x="12430" y="18208"/>
                  <a:pt x="0" y="6677"/>
                  <a:pt x="2086" y="3339"/>
                </a:cubicBezTo>
                <a:close/>
              </a:path>
            </a:pathLst>
          </a:custGeom>
          <a:solidFill>
            <a:srgbClr val="DFEEFA">
              <a:alpha val="5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artery_cut_adventitia_256"/>
          <p:cNvSpPr/>
          <p:nvPr/>
        </p:nvSpPr>
        <p:spPr>
          <a:xfrm>
            <a:off x="12361216" y="3094348"/>
            <a:ext cx="917395" cy="3260471"/>
          </a:xfrm>
          <a:custGeom>
            <a:avLst/>
            <a:gdLst/>
            <a:ahLst/>
            <a:cxnLst/>
            <a:rect l="0" t="0" r="r" b="b"/>
            <a:pathLst>
              <a:path w="917395" h="3260471">
                <a:moveTo>
                  <a:pt x="607464" y="0"/>
                </a:moveTo>
                <a:cubicBezTo>
                  <a:pt x="495889" y="508286"/>
                  <a:pt x="440102" y="997977"/>
                  <a:pt x="508286" y="1648832"/>
                </a:cubicBezTo>
                <a:cubicBezTo>
                  <a:pt x="582670" y="2281090"/>
                  <a:pt x="774827" y="2869959"/>
                  <a:pt x="917395" y="3186088"/>
                </a:cubicBezTo>
                <a:lnTo>
                  <a:pt x="861607" y="3260471"/>
                </a:lnTo>
                <a:cubicBezTo>
                  <a:pt x="545478" y="2950541"/>
                  <a:pt x="223150" y="2529035"/>
                  <a:pt x="111575" y="2150919"/>
                </a:cubicBezTo>
                <a:cubicBezTo>
                  <a:pt x="0" y="1772804"/>
                  <a:pt x="43390" y="1351298"/>
                  <a:pt x="167363" y="923594"/>
                </a:cubicBezTo>
                <a:cubicBezTo>
                  <a:pt x="241746" y="663252"/>
                  <a:pt x="272739" y="495889"/>
                  <a:pt x="297534" y="396711"/>
                </a:cubicBezTo>
                <a:close/>
              </a:path>
            </a:pathLst>
          </a:custGeom>
          <a:gradFill rotWithShape="1">
            <a:gsLst>
              <a:gs pos="0">
                <a:srgbClr val="FAF5FC"/>
              </a:gs>
              <a:gs pos="50000">
                <a:srgbClr val="E9DFF0"/>
              </a:gs>
              <a:gs pos="100000">
                <a:srgbClr val="CDBCE1"/>
              </a:gs>
            </a:gsLst>
            <a:lin ang="0" scaled="1"/>
          </a:gradFill>
          <a:ln w="5268" cap="rnd">
            <a:solidFill>
              <a:srgbClr val="AA94B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artery_cut_media_257"/>
          <p:cNvSpPr/>
          <p:nvPr/>
        </p:nvSpPr>
        <p:spPr>
          <a:xfrm>
            <a:off x="12274435" y="3491060"/>
            <a:ext cx="948388" cy="2863760"/>
          </a:xfrm>
          <a:custGeom>
            <a:avLst/>
            <a:gdLst/>
            <a:ahLst/>
            <a:cxnLst/>
            <a:rect l="0" t="0" r="r" b="b"/>
            <a:pathLst>
              <a:path w="948388" h="2863760">
                <a:moveTo>
                  <a:pt x="384314" y="0"/>
                </a:moveTo>
                <a:cubicBezTo>
                  <a:pt x="316129" y="266540"/>
                  <a:pt x="235547" y="539279"/>
                  <a:pt x="185958" y="843012"/>
                </a:cubicBezTo>
                <a:cubicBezTo>
                  <a:pt x="99178" y="1221127"/>
                  <a:pt x="92979" y="1500065"/>
                  <a:pt x="198356" y="1754208"/>
                </a:cubicBezTo>
                <a:cubicBezTo>
                  <a:pt x="328527" y="2132323"/>
                  <a:pt x="657053" y="2566226"/>
                  <a:pt x="948388" y="2863760"/>
                </a:cubicBezTo>
                <a:lnTo>
                  <a:pt x="818217" y="2764582"/>
                </a:lnTo>
                <a:cubicBezTo>
                  <a:pt x="520684" y="2460850"/>
                  <a:pt x="260342" y="2132323"/>
                  <a:pt x="130171" y="1809995"/>
                </a:cubicBezTo>
                <a:cubicBezTo>
                  <a:pt x="0" y="1481469"/>
                  <a:pt x="24794" y="1190134"/>
                  <a:pt x="99178" y="843012"/>
                </a:cubicBezTo>
                <a:cubicBezTo>
                  <a:pt x="173561" y="495889"/>
                  <a:pt x="254143" y="210753"/>
                  <a:pt x="309931" y="61986"/>
                </a:cubicBezTo>
                <a:close/>
              </a:path>
            </a:pathLst>
          </a:custGeom>
          <a:gradFill rotWithShape="1">
            <a:gsLst>
              <a:gs pos="0">
                <a:srgbClr val="FFE1CF"/>
              </a:gs>
              <a:gs pos="30000">
                <a:srgbClr val="F3B6A7"/>
              </a:gs>
              <a:gs pos="65000">
                <a:srgbClr val="DC8B82"/>
              </a:gs>
              <a:gs pos="100000">
                <a:srgbClr val="EFC0AF"/>
              </a:gs>
            </a:gsLst>
            <a:lin ang="0" scaled="1"/>
          </a:gradFill>
          <a:ln w="4339" cap="rnd">
            <a:solidFill>
              <a:srgbClr val="B6757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artery_cut_elastic_lamina_258"/>
          <p:cNvSpPr/>
          <p:nvPr/>
        </p:nvSpPr>
        <p:spPr>
          <a:xfrm>
            <a:off x="12367415" y="3491060"/>
            <a:ext cx="855409" cy="2863760"/>
          </a:xfrm>
          <a:custGeom>
            <a:avLst/>
            <a:gdLst/>
            <a:ahLst/>
            <a:cxnLst/>
            <a:rect l="0" t="0" r="r" b="b"/>
            <a:pathLst>
              <a:path w="855409" h="2863760">
                <a:moveTo>
                  <a:pt x="291335" y="0"/>
                </a:moveTo>
                <a:cubicBezTo>
                  <a:pt x="223150" y="266540"/>
                  <a:pt x="142568" y="539279"/>
                  <a:pt x="92979" y="843012"/>
                </a:cubicBezTo>
                <a:cubicBezTo>
                  <a:pt x="6199" y="1221127"/>
                  <a:pt x="0" y="1500065"/>
                  <a:pt x="105376" y="1754208"/>
                </a:cubicBezTo>
                <a:cubicBezTo>
                  <a:pt x="235547" y="2132323"/>
                  <a:pt x="564074" y="2566226"/>
                  <a:pt x="855409" y="2863760"/>
                </a:cubicBezTo>
              </a:path>
            </a:pathLst>
          </a:custGeom>
          <a:noFill/>
          <a:ln w="7748" cap="rnd">
            <a:solidFill>
              <a:srgbClr val="9C9AC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artery_cut_collagen_flow_259"/>
          <p:cNvSpPr/>
          <p:nvPr/>
        </p:nvSpPr>
        <p:spPr>
          <a:xfrm>
            <a:off x="12609593" y="3444767"/>
            <a:ext cx="582776" cy="2819264"/>
          </a:xfrm>
          <a:custGeom>
            <a:avLst/>
            <a:gdLst/>
            <a:ahLst/>
            <a:cxnLst/>
            <a:rect l="0" t="0" r="r" b="b"/>
            <a:pathLst>
              <a:path w="582776" h="2819264">
                <a:moveTo>
                  <a:pt x="108599" y="0"/>
                </a:moveTo>
                <a:cubicBezTo>
                  <a:pt x="102338" y="37016"/>
                  <a:pt x="82027" y="146442"/>
                  <a:pt x="71031" y="222097"/>
                </a:cubicBezTo>
                <a:cubicBezTo>
                  <a:pt x="60036" y="297751"/>
                  <a:pt x="51285" y="374989"/>
                  <a:pt x="42627" y="453925"/>
                </a:cubicBezTo>
                <a:cubicBezTo>
                  <a:pt x="33969" y="532862"/>
                  <a:pt x="25604" y="614307"/>
                  <a:pt x="19083" y="695716"/>
                </a:cubicBezTo>
                <a:cubicBezTo>
                  <a:pt x="12561" y="777125"/>
                  <a:pt x="5926" y="860506"/>
                  <a:pt x="3496" y="942381"/>
                </a:cubicBezTo>
                <a:cubicBezTo>
                  <a:pt x="1066" y="1024257"/>
                  <a:pt x="0" y="1106582"/>
                  <a:pt x="4501" y="1186970"/>
                </a:cubicBezTo>
                <a:cubicBezTo>
                  <a:pt x="9001" y="1267358"/>
                  <a:pt x="17237" y="1346655"/>
                  <a:pt x="30500" y="1424709"/>
                </a:cubicBezTo>
                <a:cubicBezTo>
                  <a:pt x="43762" y="1502763"/>
                  <a:pt x="62407" y="1579020"/>
                  <a:pt x="84077" y="1655293"/>
                </a:cubicBezTo>
                <a:cubicBezTo>
                  <a:pt x="105747" y="1731566"/>
                  <a:pt x="132623" y="1806442"/>
                  <a:pt x="160518" y="1882347"/>
                </a:cubicBezTo>
                <a:cubicBezTo>
                  <a:pt x="188414" y="1958252"/>
                  <a:pt x="219719" y="2033863"/>
                  <a:pt x="251448" y="2110724"/>
                </a:cubicBezTo>
                <a:cubicBezTo>
                  <a:pt x="283178" y="2187585"/>
                  <a:pt x="316246" y="2265205"/>
                  <a:pt x="350896" y="2343514"/>
                </a:cubicBezTo>
                <a:cubicBezTo>
                  <a:pt x="385546" y="2421822"/>
                  <a:pt x="420702" y="2501282"/>
                  <a:pt x="459349" y="2580573"/>
                </a:cubicBezTo>
                <a:cubicBezTo>
                  <a:pt x="497995" y="2659865"/>
                  <a:pt x="562205" y="2779482"/>
                  <a:pt x="582776" y="2819264"/>
                </a:cubicBezTo>
              </a:path>
            </a:pathLst>
          </a:custGeom>
          <a:noFill/>
          <a:ln w="4648" cap="rnd">
            <a:solidFill>
              <a:srgbClr val="AFA0CA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artery_cut_collagen_flow_260"/>
          <p:cNvSpPr/>
          <p:nvPr/>
        </p:nvSpPr>
        <p:spPr>
          <a:xfrm>
            <a:off x="12608639" y="3410227"/>
            <a:ext cx="582977" cy="2854583"/>
          </a:xfrm>
          <a:custGeom>
            <a:avLst/>
            <a:gdLst/>
            <a:ahLst/>
            <a:cxnLst/>
            <a:rect l="0" t="0" r="r" b="b"/>
            <a:pathLst>
              <a:path w="582977" h="2854583">
                <a:moveTo>
                  <a:pt x="137471" y="0"/>
                </a:moveTo>
                <a:cubicBezTo>
                  <a:pt x="129723" y="39438"/>
                  <a:pt x="106154" y="155658"/>
                  <a:pt x="90983" y="236629"/>
                </a:cubicBezTo>
                <a:cubicBezTo>
                  <a:pt x="75813" y="317599"/>
                  <a:pt x="59589" y="402468"/>
                  <a:pt x="46446" y="485825"/>
                </a:cubicBezTo>
                <a:cubicBezTo>
                  <a:pt x="33304" y="569183"/>
                  <a:pt x="19568" y="654593"/>
                  <a:pt x="12128" y="736773"/>
                </a:cubicBezTo>
                <a:cubicBezTo>
                  <a:pt x="4688" y="818953"/>
                  <a:pt x="0" y="900140"/>
                  <a:pt x="1807" y="978904"/>
                </a:cubicBezTo>
                <a:cubicBezTo>
                  <a:pt x="3613" y="1057669"/>
                  <a:pt x="11546" y="1133527"/>
                  <a:pt x="22968" y="1209361"/>
                </a:cubicBezTo>
                <a:cubicBezTo>
                  <a:pt x="34390" y="1285194"/>
                  <a:pt x="52402" y="1358553"/>
                  <a:pt x="70338" y="1433905"/>
                </a:cubicBezTo>
                <a:cubicBezTo>
                  <a:pt x="88274" y="1509258"/>
                  <a:pt x="109993" y="1584253"/>
                  <a:pt x="130583" y="1661474"/>
                </a:cubicBezTo>
                <a:cubicBezTo>
                  <a:pt x="151173" y="1738694"/>
                  <a:pt x="171995" y="1817558"/>
                  <a:pt x="193880" y="1897229"/>
                </a:cubicBezTo>
                <a:cubicBezTo>
                  <a:pt x="215764" y="1976901"/>
                  <a:pt x="236687" y="2058652"/>
                  <a:pt x="261891" y="2139502"/>
                </a:cubicBezTo>
                <a:cubicBezTo>
                  <a:pt x="287096" y="2220353"/>
                  <a:pt x="313354" y="2302115"/>
                  <a:pt x="345108" y="2382332"/>
                </a:cubicBezTo>
                <a:cubicBezTo>
                  <a:pt x="376861" y="2462549"/>
                  <a:pt x="412767" y="2542096"/>
                  <a:pt x="452412" y="2620805"/>
                </a:cubicBezTo>
                <a:cubicBezTo>
                  <a:pt x="492057" y="2699513"/>
                  <a:pt x="561216" y="2815620"/>
                  <a:pt x="582977" y="2854583"/>
                </a:cubicBezTo>
              </a:path>
            </a:pathLst>
          </a:custGeom>
          <a:noFill/>
          <a:ln w="4648" cap="rnd">
            <a:solidFill>
              <a:srgbClr val="D6C6E5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artery_cut_collagen_flow_261"/>
          <p:cNvSpPr/>
          <p:nvPr/>
        </p:nvSpPr>
        <p:spPr>
          <a:xfrm>
            <a:off x="12629816" y="3391827"/>
            <a:ext cx="573400" cy="2860980"/>
          </a:xfrm>
          <a:custGeom>
            <a:avLst/>
            <a:gdLst/>
            <a:ahLst/>
            <a:cxnLst/>
            <a:rect l="0" t="0" r="r" b="b"/>
            <a:pathLst>
              <a:path w="573400" h="2860980">
                <a:moveTo>
                  <a:pt x="131167" y="0"/>
                </a:moveTo>
                <a:cubicBezTo>
                  <a:pt x="121012" y="42429"/>
                  <a:pt x="88644" y="169840"/>
                  <a:pt x="70240" y="254573"/>
                </a:cubicBezTo>
                <a:cubicBezTo>
                  <a:pt x="51835" y="339306"/>
                  <a:pt x="32297" y="426332"/>
                  <a:pt x="20741" y="508399"/>
                </a:cubicBezTo>
                <a:cubicBezTo>
                  <a:pt x="9185" y="590465"/>
                  <a:pt x="1811" y="669822"/>
                  <a:pt x="905" y="746971"/>
                </a:cubicBezTo>
                <a:cubicBezTo>
                  <a:pt x="0" y="824120"/>
                  <a:pt x="7252" y="896651"/>
                  <a:pt x="15309" y="971295"/>
                </a:cubicBezTo>
                <a:cubicBezTo>
                  <a:pt x="23366" y="1045939"/>
                  <a:pt x="37805" y="1118450"/>
                  <a:pt x="49250" y="1194837"/>
                </a:cubicBezTo>
                <a:cubicBezTo>
                  <a:pt x="60694" y="1271224"/>
                  <a:pt x="72819" y="1349479"/>
                  <a:pt x="83974" y="1429616"/>
                </a:cubicBezTo>
                <a:cubicBezTo>
                  <a:pt x="95129" y="1509752"/>
                  <a:pt x="103425" y="1593421"/>
                  <a:pt x="116180" y="1675657"/>
                </a:cubicBezTo>
                <a:cubicBezTo>
                  <a:pt x="128934" y="1757893"/>
                  <a:pt x="141054" y="1841862"/>
                  <a:pt x="160503" y="1923030"/>
                </a:cubicBezTo>
                <a:cubicBezTo>
                  <a:pt x="179952" y="2004198"/>
                  <a:pt x="203977" y="2084099"/>
                  <a:pt x="232872" y="2162664"/>
                </a:cubicBezTo>
                <a:cubicBezTo>
                  <a:pt x="261768" y="2241229"/>
                  <a:pt x="297593" y="2317323"/>
                  <a:pt x="333878" y="2394421"/>
                </a:cubicBezTo>
                <a:cubicBezTo>
                  <a:pt x="370162" y="2471519"/>
                  <a:pt x="410659" y="2547492"/>
                  <a:pt x="450580" y="2625252"/>
                </a:cubicBezTo>
                <a:cubicBezTo>
                  <a:pt x="490500" y="2703012"/>
                  <a:pt x="552930" y="2821692"/>
                  <a:pt x="573400" y="2860980"/>
                </a:cubicBezTo>
              </a:path>
            </a:pathLst>
          </a:custGeom>
          <a:noFill/>
          <a:ln w="4648" cap="rnd">
            <a:solidFill>
              <a:srgbClr val="FFFFFF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artery_cut_collagen_flow_262"/>
          <p:cNvSpPr/>
          <p:nvPr/>
        </p:nvSpPr>
        <p:spPr>
          <a:xfrm>
            <a:off x="12649130" y="3388051"/>
            <a:ext cx="551022" cy="2867925"/>
          </a:xfrm>
          <a:custGeom>
            <a:avLst/>
            <a:gdLst/>
            <a:ahLst/>
            <a:cxnLst/>
            <a:rect l="0" t="0" r="r" b="b"/>
            <a:pathLst>
              <a:path w="551022" h="2867925">
                <a:moveTo>
                  <a:pt x="114904" y="0"/>
                </a:moveTo>
                <a:cubicBezTo>
                  <a:pt x="105036" y="42221"/>
                  <a:pt x="72288" y="170101"/>
                  <a:pt x="55696" y="253324"/>
                </a:cubicBezTo>
                <a:cubicBezTo>
                  <a:pt x="39104" y="336548"/>
                  <a:pt x="24532" y="419050"/>
                  <a:pt x="15353" y="499340"/>
                </a:cubicBezTo>
                <a:cubicBezTo>
                  <a:pt x="6175" y="579630"/>
                  <a:pt x="1253" y="657724"/>
                  <a:pt x="626" y="735063"/>
                </a:cubicBezTo>
                <a:cubicBezTo>
                  <a:pt x="0" y="812401"/>
                  <a:pt x="4803" y="887435"/>
                  <a:pt x="11595" y="963370"/>
                </a:cubicBezTo>
                <a:cubicBezTo>
                  <a:pt x="18387" y="1039306"/>
                  <a:pt x="29860" y="1114080"/>
                  <a:pt x="41378" y="1190674"/>
                </a:cubicBezTo>
                <a:cubicBezTo>
                  <a:pt x="52896" y="1267268"/>
                  <a:pt x="66913" y="1344303"/>
                  <a:pt x="80703" y="1422935"/>
                </a:cubicBezTo>
                <a:cubicBezTo>
                  <a:pt x="94493" y="1501567"/>
                  <a:pt x="108659" y="1581750"/>
                  <a:pt x="124118" y="1662466"/>
                </a:cubicBezTo>
                <a:cubicBezTo>
                  <a:pt x="139578" y="1743181"/>
                  <a:pt x="154789" y="1825520"/>
                  <a:pt x="173462" y="1907229"/>
                </a:cubicBezTo>
                <a:cubicBezTo>
                  <a:pt x="192135" y="1988938"/>
                  <a:pt x="211794" y="2071427"/>
                  <a:pt x="236157" y="2152718"/>
                </a:cubicBezTo>
                <a:cubicBezTo>
                  <a:pt x="260520" y="2234009"/>
                  <a:pt x="287995" y="2314961"/>
                  <a:pt x="319642" y="2394974"/>
                </a:cubicBezTo>
                <a:cubicBezTo>
                  <a:pt x="351288" y="2474988"/>
                  <a:pt x="387472" y="2553975"/>
                  <a:pt x="426035" y="2632800"/>
                </a:cubicBezTo>
                <a:cubicBezTo>
                  <a:pt x="464599" y="2711625"/>
                  <a:pt x="530191" y="2828738"/>
                  <a:pt x="551022" y="2867925"/>
                </a:cubicBezTo>
              </a:path>
            </a:pathLst>
          </a:custGeom>
          <a:noFill/>
          <a:ln w="4648" cap="rnd">
            <a:solidFill>
              <a:srgbClr val="C1ADD7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artery_cut_collagen_flow_263"/>
          <p:cNvSpPr/>
          <p:nvPr/>
        </p:nvSpPr>
        <p:spPr>
          <a:xfrm>
            <a:off x="12685843" y="3388717"/>
            <a:ext cx="524663" cy="2856546"/>
          </a:xfrm>
          <a:custGeom>
            <a:avLst/>
            <a:gdLst/>
            <a:ahLst/>
            <a:cxnLst/>
            <a:rect l="0" t="0" r="r" b="b"/>
            <a:pathLst>
              <a:path w="524663" h="2856546">
                <a:moveTo>
                  <a:pt x="77653" y="0"/>
                </a:moveTo>
                <a:cubicBezTo>
                  <a:pt x="69064" y="40857"/>
                  <a:pt x="38488" y="165840"/>
                  <a:pt x="26119" y="245143"/>
                </a:cubicBezTo>
                <a:cubicBezTo>
                  <a:pt x="13750" y="324446"/>
                  <a:pt x="6882" y="399984"/>
                  <a:pt x="3441" y="475819"/>
                </a:cubicBezTo>
                <a:cubicBezTo>
                  <a:pt x="0" y="551654"/>
                  <a:pt x="2876" y="624524"/>
                  <a:pt x="5472" y="700155"/>
                </a:cubicBezTo>
                <a:cubicBezTo>
                  <a:pt x="8068" y="775786"/>
                  <a:pt x="14433" y="851235"/>
                  <a:pt x="19017" y="929604"/>
                </a:cubicBezTo>
                <a:cubicBezTo>
                  <a:pt x="23600" y="1007973"/>
                  <a:pt x="28169" y="1088678"/>
                  <a:pt x="32971" y="1170371"/>
                </a:cubicBezTo>
                <a:cubicBezTo>
                  <a:pt x="37774" y="1252065"/>
                  <a:pt x="40820" y="1336578"/>
                  <a:pt x="47832" y="1419765"/>
                </a:cubicBezTo>
                <a:cubicBezTo>
                  <a:pt x="54844" y="1502953"/>
                  <a:pt x="61871" y="1587364"/>
                  <a:pt x="75041" y="1669498"/>
                </a:cubicBezTo>
                <a:cubicBezTo>
                  <a:pt x="88211" y="1751631"/>
                  <a:pt x="105032" y="1832800"/>
                  <a:pt x="126853" y="1912566"/>
                </a:cubicBezTo>
                <a:cubicBezTo>
                  <a:pt x="148674" y="1992332"/>
                  <a:pt x="176401" y="2070056"/>
                  <a:pt x="205966" y="2148092"/>
                </a:cubicBezTo>
                <a:cubicBezTo>
                  <a:pt x="235532" y="2226129"/>
                  <a:pt x="270018" y="2302756"/>
                  <a:pt x="304245" y="2380784"/>
                </a:cubicBezTo>
                <a:cubicBezTo>
                  <a:pt x="338473" y="2458812"/>
                  <a:pt x="374594" y="2536966"/>
                  <a:pt x="411331" y="2616260"/>
                </a:cubicBezTo>
                <a:cubicBezTo>
                  <a:pt x="448067" y="2695553"/>
                  <a:pt x="505774" y="2816498"/>
                  <a:pt x="524663" y="2856546"/>
                </a:cubicBezTo>
              </a:path>
            </a:pathLst>
          </a:custGeom>
          <a:noFill/>
          <a:ln w="4648" cap="rnd">
            <a:solidFill>
              <a:srgbClr val="AFA0CA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artery_cut_collagen_flow_264"/>
          <p:cNvSpPr/>
          <p:nvPr/>
        </p:nvSpPr>
        <p:spPr>
          <a:xfrm>
            <a:off x="12707037" y="3377094"/>
            <a:ext cx="498957" cy="2872837"/>
          </a:xfrm>
          <a:custGeom>
            <a:avLst/>
            <a:gdLst/>
            <a:ahLst/>
            <a:cxnLst/>
            <a:rect l="0" t="0" r="r" b="b"/>
            <a:pathLst>
              <a:path w="498957" h="2872837">
                <a:moveTo>
                  <a:pt x="65853" y="0"/>
                </a:moveTo>
                <a:cubicBezTo>
                  <a:pt x="60248" y="38003"/>
                  <a:pt x="39430" y="152975"/>
                  <a:pt x="32222" y="228016"/>
                </a:cubicBezTo>
                <a:cubicBezTo>
                  <a:pt x="25014" y="303058"/>
                  <a:pt x="24940" y="374282"/>
                  <a:pt x="22605" y="450249"/>
                </a:cubicBezTo>
                <a:cubicBezTo>
                  <a:pt x="20269" y="526216"/>
                  <a:pt x="20611" y="603287"/>
                  <a:pt x="18209" y="683820"/>
                </a:cubicBezTo>
                <a:cubicBezTo>
                  <a:pt x="15807" y="764353"/>
                  <a:pt x="10935" y="849261"/>
                  <a:pt x="8192" y="933449"/>
                </a:cubicBezTo>
                <a:cubicBezTo>
                  <a:pt x="5449" y="1017637"/>
                  <a:pt x="0" y="1105097"/>
                  <a:pt x="1751" y="1188949"/>
                </a:cubicBezTo>
                <a:cubicBezTo>
                  <a:pt x="3503" y="1272801"/>
                  <a:pt x="7539" y="1356076"/>
                  <a:pt x="18701" y="1436561"/>
                </a:cubicBezTo>
                <a:cubicBezTo>
                  <a:pt x="29862" y="1517046"/>
                  <a:pt x="48167" y="1594265"/>
                  <a:pt x="68722" y="1671859"/>
                </a:cubicBezTo>
                <a:cubicBezTo>
                  <a:pt x="89276" y="1749454"/>
                  <a:pt x="116617" y="1824503"/>
                  <a:pt x="142027" y="1902128"/>
                </a:cubicBezTo>
                <a:cubicBezTo>
                  <a:pt x="167438" y="1979752"/>
                  <a:pt x="194837" y="2057697"/>
                  <a:pt x="221185" y="2137606"/>
                </a:cubicBezTo>
                <a:cubicBezTo>
                  <a:pt x="247532" y="2217515"/>
                  <a:pt x="272188" y="2299699"/>
                  <a:pt x="300110" y="2381582"/>
                </a:cubicBezTo>
                <a:cubicBezTo>
                  <a:pt x="328032" y="2463466"/>
                  <a:pt x="355577" y="2547029"/>
                  <a:pt x="388718" y="2628905"/>
                </a:cubicBezTo>
                <a:cubicBezTo>
                  <a:pt x="421859" y="2710781"/>
                  <a:pt x="480584" y="2832182"/>
                  <a:pt x="498957" y="2872837"/>
                </a:cubicBezTo>
              </a:path>
            </a:pathLst>
          </a:custGeom>
          <a:noFill/>
          <a:ln w="4648" cap="rnd">
            <a:solidFill>
              <a:srgbClr val="D6C6E5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artery_cut_collagen_flow_265"/>
          <p:cNvSpPr/>
          <p:nvPr/>
        </p:nvSpPr>
        <p:spPr>
          <a:xfrm>
            <a:off x="12731996" y="3348776"/>
            <a:ext cx="485353" cy="2889406"/>
          </a:xfrm>
          <a:custGeom>
            <a:avLst/>
            <a:gdLst/>
            <a:ahLst/>
            <a:cxnLst/>
            <a:rect l="0" t="0" r="r" b="b"/>
            <a:pathLst>
              <a:path w="485353" h="2889406">
                <a:moveTo>
                  <a:pt x="63783" y="0"/>
                </a:moveTo>
                <a:cubicBezTo>
                  <a:pt x="59050" y="37786"/>
                  <a:pt x="42585" y="150480"/>
                  <a:pt x="35385" y="226718"/>
                </a:cubicBezTo>
                <a:cubicBezTo>
                  <a:pt x="28185" y="302956"/>
                  <a:pt x="24647" y="378963"/>
                  <a:pt x="20586" y="457427"/>
                </a:cubicBezTo>
                <a:cubicBezTo>
                  <a:pt x="16524" y="535890"/>
                  <a:pt x="13876" y="615968"/>
                  <a:pt x="11016" y="697501"/>
                </a:cubicBezTo>
                <a:cubicBezTo>
                  <a:pt x="8156" y="779033"/>
                  <a:pt x="4912" y="862922"/>
                  <a:pt x="3427" y="946623"/>
                </a:cubicBezTo>
                <a:cubicBezTo>
                  <a:pt x="1942" y="1030324"/>
                  <a:pt x="0" y="1115755"/>
                  <a:pt x="2106" y="1199707"/>
                </a:cubicBezTo>
                <a:cubicBezTo>
                  <a:pt x="4211" y="1283658"/>
                  <a:pt x="7588" y="1367873"/>
                  <a:pt x="16061" y="1450332"/>
                </a:cubicBezTo>
                <a:cubicBezTo>
                  <a:pt x="24534" y="1532792"/>
                  <a:pt x="36618" y="1614135"/>
                  <a:pt x="52944" y="1694462"/>
                </a:cubicBezTo>
                <a:cubicBezTo>
                  <a:pt x="69270" y="1774789"/>
                  <a:pt x="90555" y="1853466"/>
                  <a:pt x="114017" y="1932297"/>
                </a:cubicBezTo>
                <a:cubicBezTo>
                  <a:pt x="137479" y="2011128"/>
                  <a:pt x="165379" y="2088788"/>
                  <a:pt x="193718" y="2167447"/>
                </a:cubicBezTo>
                <a:cubicBezTo>
                  <a:pt x="222057" y="2246107"/>
                  <a:pt x="252912" y="2324643"/>
                  <a:pt x="284051" y="2404254"/>
                </a:cubicBezTo>
                <a:cubicBezTo>
                  <a:pt x="315190" y="2483864"/>
                  <a:pt x="347002" y="2564252"/>
                  <a:pt x="380553" y="2645110"/>
                </a:cubicBezTo>
                <a:cubicBezTo>
                  <a:pt x="414103" y="2725969"/>
                  <a:pt x="467886" y="2848690"/>
                  <a:pt x="485353" y="2889406"/>
                </a:cubicBezTo>
              </a:path>
            </a:pathLst>
          </a:custGeom>
          <a:noFill/>
          <a:ln w="4648" cap="rnd">
            <a:solidFill>
              <a:srgbClr val="FFFFFF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artery_cut_collagen_flow_266"/>
          <p:cNvSpPr/>
          <p:nvPr/>
        </p:nvSpPr>
        <p:spPr>
          <a:xfrm>
            <a:off x="12723702" y="3310647"/>
            <a:ext cx="489478" cy="2931847"/>
          </a:xfrm>
          <a:custGeom>
            <a:avLst/>
            <a:gdLst/>
            <a:ahLst/>
            <a:cxnLst/>
            <a:rect l="0" t="0" r="r" b="b"/>
            <a:pathLst>
              <a:path w="489478" h="2931847">
                <a:moveTo>
                  <a:pt x="102895" y="0"/>
                </a:moveTo>
                <a:cubicBezTo>
                  <a:pt x="98185" y="38708"/>
                  <a:pt x="83991" y="152399"/>
                  <a:pt x="74632" y="232247"/>
                </a:cubicBezTo>
                <a:cubicBezTo>
                  <a:pt x="65274" y="312096"/>
                  <a:pt x="56059" y="395117"/>
                  <a:pt x="46746" y="479091"/>
                </a:cubicBezTo>
                <a:cubicBezTo>
                  <a:pt x="37433" y="563064"/>
                  <a:pt x="26270" y="650552"/>
                  <a:pt x="18755" y="736087"/>
                </a:cubicBezTo>
                <a:cubicBezTo>
                  <a:pt x="11240" y="821622"/>
                  <a:pt x="3313" y="908491"/>
                  <a:pt x="1657" y="992299"/>
                </a:cubicBezTo>
                <a:cubicBezTo>
                  <a:pt x="0" y="1076107"/>
                  <a:pt x="1662" y="1158437"/>
                  <a:pt x="8815" y="1238935"/>
                </a:cubicBezTo>
                <a:cubicBezTo>
                  <a:pt x="15968" y="1319432"/>
                  <a:pt x="29245" y="1397111"/>
                  <a:pt x="44572" y="1475284"/>
                </a:cubicBezTo>
                <a:cubicBezTo>
                  <a:pt x="59899" y="1553457"/>
                  <a:pt x="80832" y="1629690"/>
                  <a:pt x="100777" y="1707974"/>
                </a:cubicBezTo>
                <a:cubicBezTo>
                  <a:pt x="120723" y="1786258"/>
                  <a:pt x="143000" y="1864710"/>
                  <a:pt x="164244" y="1944990"/>
                </a:cubicBezTo>
                <a:cubicBezTo>
                  <a:pt x="185488" y="2025269"/>
                  <a:pt x="206023" y="2107302"/>
                  <a:pt x="228242" y="2189650"/>
                </a:cubicBezTo>
                <a:cubicBezTo>
                  <a:pt x="250461" y="2271997"/>
                  <a:pt x="271804" y="2356079"/>
                  <a:pt x="297557" y="2439076"/>
                </a:cubicBezTo>
                <a:cubicBezTo>
                  <a:pt x="323309" y="2522073"/>
                  <a:pt x="350771" y="2605502"/>
                  <a:pt x="382758" y="2687630"/>
                </a:cubicBezTo>
                <a:cubicBezTo>
                  <a:pt x="414745" y="2769759"/>
                  <a:pt x="471692" y="2891145"/>
                  <a:pt x="489478" y="2931847"/>
                </a:cubicBezTo>
              </a:path>
            </a:pathLst>
          </a:custGeom>
          <a:noFill/>
          <a:ln w="4648" cap="rnd">
            <a:solidFill>
              <a:srgbClr val="C1ADD7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artery_cut_collagen_flow_267"/>
          <p:cNvSpPr/>
          <p:nvPr/>
        </p:nvSpPr>
        <p:spPr>
          <a:xfrm>
            <a:off x="12734173" y="3279450"/>
            <a:ext cx="490399" cy="2951256"/>
          </a:xfrm>
          <a:custGeom>
            <a:avLst/>
            <a:gdLst/>
            <a:ahLst/>
            <a:cxnLst/>
            <a:rect l="0" t="0" r="r" b="b"/>
            <a:pathLst>
              <a:path w="490399" h="2951256">
                <a:moveTo>
                  <a:pt x="117640" y="0"/>
                </a:moveTo>
                <a:cubicBezTo>
                  <a:pt x="110671" y="41860"/>
                  <a:pt x="90044" y="165506"/>
                  <a:pt x="75825" y="251160"/>
                </a:cubicBezTo>
                <a:cubicBezTo>
                  <a:pt x="61606" y="336815"/>
                  <a:pt x="44265" y="427344"/>
                  <a:pt x="32325" y="513927"/>
                </a:cubicBezTo>
                <a:cubicBezTo>
                  <a:pt x="20386" y="600510"/>
                  <a:pt x="8376" y="687732"/>
                  <a:pt x="4188" y="770659"/>
                </a:cubicBezTo>
                <a:cubicBezTo>
                  <a:pt x="0" y="853585"/>
                  <a:pt x="1431" y="932918"/>
                  <a:pt x="7198" y="1011487"/>
                </a:cubicBezTo>
                <a:cubicBezTo>
                  <a:pt x="12965" y="1090056"/>
                  <a:pt x="26570" y="1164616"/>
                  <a:pt x="38788" y="1242074"/>
                </a:cubicBezTo>
                <a:cubicBezTo>
                  <a:pt x="51007" y="1319532"/>
                  <a:pt x="67392" y="1396205"/>
                  <a:pt x="80507" y="1476235"/>
                </a:cubicBezTo>
                <a:cubicBezTo>
                  <a:pt x="93623" y="1556265"/>
                  <a:pt x="105323" y="1638896"/>
                  <a:pt x="117479" y="1722254"/>
                </a:cubicBezTo>
                <a:cubicBezTo>
                  <a:pt x="129636" y="1805612"/>
                  <a:pt x="138824" y="1892015"/>
                  <a:pt x="153446" y="1976385"/>
                </a:cubicBezTo>
                <a:cubicBezTo>
                  <a:pt x="168067" y="2060755"/>
                  <a:pt x="183516" y="2145791"/>
                  <a:pt x="205209" y="2228474"/>
                </a:cubicBezTo>
                <a:cubicBezTo>
                  <a:pt x="226902" y="2311157"/>
                  <a:pt x="253980" y="2392039"/>
                  <a:pt x="283604" y="2472482"/>
                </a:cubicBezTo>
                <a:cubicBezTo>
                  <a:pt x="313228" y="2552926"/>
                  <a:pt x="348486" y="2631339"/>
                  <a:pt x="382952" y="2711135"/>
                </a:cubicBezTo>
                <a:cubicBezTo>
                  <a:pt x="417418" y="2790930"/>
                  <a:pt x="472491" y="2911236"/>
                  <a:pt x="490399" y="2951256"/>
                </a:cubicBezTo>
              </a:path>
            </a:pathLst>
          </a:custGeom>
          <a:noFill/>
          <a:ln w="4648" cap="rnd">
            <a:solidFill>
              <a:srgbClr val="AFA0CA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artery_cut_collagen_flow_268"/>
          <p:cNvSpPr/>
          <p:nvPr/>
        </p:nvSpPr>
        <p:spPr>
          <a:xfrm>
            <a:off x="12752407" y="3264978"/>
            <a:ext cx="468428" cy="2969595"/>
          </a:xfrm>
          <a:custGeom>
            <a:avLst/>
            <a:gdLst/>
            <a:ahLst/>
            <a:cxnLst/>
            <a:rect l="0" t="0" r="r" b="b"/>
            <a:pathLst>
              <a:path w="468428" h="2969595">
                <a:moveTo>
                  <a:pt x="111103" y="0"/>
                </a:moveTo>
                <a:cubicBezTo>
                  <a:pt x="103148" y="43258"/>
                  <a:pt x="77822" y="173062"/>
                  <a:pt x="63370" y="259546"/>
                </a:cubicBezTo>
                <a:cubicBezTo>
                  <a:pt x="48918" y="346031"/>
                  <a:pt x="34430" y="433669"/>
                  <a:pt x="24390" y="518908"/>
                </a:cubicBezTo>
                <a:cubicBezTo>
                  <a:pt x="14350" y="604147"/>
                  <a:pt x="6260" y="688551"/>
                  <a:pt x="3130" y="770978"/>
                </a:cubicBezTo>
                <a:cubicBezTo>
                  <a:pt x="0" y="853406"/>
                  <a:pt x="1022" y="933715"/>
                  <a:pt x="5610" y="1013474"/>
                </a:cubicBezTo>
                <a:cubicBezTo>
                  <a:pt x="10198" y="1093234"/>
                  <a:pt x="19821" y="1170905"/>
                  <a:pt x="30660" y="1249535"/>
                </a:cubicBezTo>
                <a:cubicBezTo>
                  <a:pt x="41498" y="1328165"/>
                  <a:pt x="56310" y="1405861"/>
                  <a:pt x="70638" y="1485255"/>
                </a:cubicBezTo>
                <a:cubicBezTo>
                  <a:pt x="84967" y="1564649"/>
                  <a:pt x="101000" y="1644588"/>
                  <a:pt x="116631" y="1725902"/>
                </a:cubicBezTo>
                <a:cubicBezTo>
                  <a:pt x="132263" y="1807215"/>
                  <a:pt x="147691" y="1890004"/>
                  <a:pt x="164428" y="1973135"/>
                </a:cubicBezTo>
                <a:cubicBezTo>
                  <a:pt x="181165" y="2056265"/>
                  <a:pt x="197444" y="2140814"/>
                  <a:pt x="217051" y="2224684"/>
                </a:cubicBezTo>
                <a:cubicBezTo>
                  <a:pt x="236659" y="2308554"/>
                  <a:pt x="257289" y="2392994"/>
                  <a:pt x="282074" y="2476355"/>
                </a:cubicBezTo>
                <a:cubicBezTo>
                  <a:pt x="306859" y="2559717"/>
                  <a:pt x="334703" y="2642647"/>
                  <a:pt x="365762" y="2724854"/>
                </a:cubicBezTo>
                <a:cubicBezTo>
                  <a:pt x="396821" y="2807060"/>
                  <a:pt x="451317" y="2928804"/>
                  <a:pt x="468428" y="2969595"/>
                </a:cubicBezTo>
              </a:path>
            </a:pathLst>
          </a:custGeom>
          <a:noFill/>
          <a:ln w="4648" cap="rnd">
            <a:solidFill>
              <a:srgbClr val="D6C6E5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artery_cut_collagen_flow_269"/>
          <p:cNvSpPr/>
          <p:nvPr/>
        </p:nvSpPr>
        <p:spPr>
          <a:xfrm>
            <a:off x="12780868" y="3264487"/>
            <a:ext cx="451959" cy="2957677"/>
          </a:xfrm>
          <a:custGeom>
            <a:avLst/>
            <a:gdLst/>
            <a:ahLst/>
            <a:cxnLst/>
            <a:rect l="0" t="0" r="r" b="b"/>
            <a:pathLst>
              <a:path w="451959" h="2957677">
                <a:moveTo>
                  <a:pt x="83040" y="0"/>
                </a:moveTo>
                <a:cubicBezTo>
                  <a:pt x="74700" y="43674"/>
                  <a:pt x="46030" y="176853"/>
                  <a:pt x="33003" y="262045"/>
                </a:cubicBezTo>
                <a:cubicBezTo>
                  <a:pt x="19977" y="347237"/>
                  <a:pt x="9761" y="430236"/>
                  <a:pt x="4880" y="511151"/>
                </a:cubicBezTo>
                <a:cubicBezTo>
                  <a:pt x="0" y="592066"/>
                  <a:pt x="856" y="669346"/>
                  <a:pt x="3721" y="747533"/>
                </a:cubicBezTo>
                <a:cubicBezTo>
                  <a:pt x="6586" y="825720"/>
                  <a:pt x="15035" y="901583"/>
                  <a:pt x="22072" y="980274"/>
                </a:cubicBezTo>
                <a:cubicBezTo>
                  <a:pt x="29109" y="1058965"/>
                  <a:pt x="38509" y="1138096"/>
                  <a:pt x="45945" y="1219679"/>
                </a:cubicBezTo>
                <a:cubicBezTo>
                  <a:pt x="53381" y="1301262"/>
                  <a:pt x="59652" y="1385318"/>
                  <a:pt x="66689" y="1469771"/>
                </a:cubicBezTo>
                <a:cubicBezTo>
                  <a:pt x="73726" y="1554224"/>
                  <a:pt x="78802" y="1641097"/>
                  <a:pt x="88168" y="1726395"/>
                </a:cubicBezTo>
                <a:cubicBezTo>
                  <a:pt x="97534" y="1811693"/>
                  <a:pt x="107450" y="1897641"/>
                  <a:pt x="122886" y="1981562"/>
                </a:cubicBezTo>
                <a:cubicBezTo>
                  <a:pt x="138321" y="2065482"/>
                  <a:pt x="157762" y="2148151"/>
                  <a:pt x="180782" y="2229917"/>
                </a:cubicBezTo>
                <a:cubicBezTo>
                  <a:pt x="203802" y="2311683"/>
                  <a:pt x="232124" y="2391602"/>
                  <a:pt x="261005" y="2472157"/>
                </a:cubicBezTo>
                <a:cubicBezTo>
                  <a:pt x="289886" y="2552713"/>
                  <a:pt x="322244" y="2632330"/>
                  <a:pt x="354069" y="2713250"/>
                </a:cubicBezTo>
                <a:cubicBezTo>
                  <a:pt x="385895" y="2794170"/>
                  <a:pt x="435644" y="2916940"/>
                  <a:pt x="451959" y="2957677"/>
                </a:cubicBezTo>
              </a:path>
            </a:pathLst>
          </a:custGeom>
          <a:noFill/>
          <a:ln w="4648" cap="rnd">
            <a:solidFill>
              <a:srgbClr val="FFFFFF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artery_cut_collagen_flow_270"/>
          <p:cNvSpPr/>
          <p:nvPr/>
        </p:nvSpPr>
        <p:spPr>
          <a:xfrm>
            <a:off x="12820088" y="3263266"/>
            <a:ext cx="410380" cy="2961338"/>
          </a:xfrm>
          <a:custGeom>
            <a:avLst/>
            <a:gdLst/>
            <a:ahLst/>
            <a:cxnLst/>
            <a:rect l="0" t="0" r="r" b="b"/>
            <a:pathLst>
              <a:path w="410380" h="2961338">
                <a:moveTo>
                  <a:pt x="44806" y="0"/>
                </a:moveTo>
                <a:cubicBezTo>
                  <a:pt x="38661" y="41393"/>
                  <a:pt x="15402" y="168241"/>
                  <a:pt x="7937" y="248359"/>
                </a:cubicBezTo>
                <a:cubicBezTo>
                  <a:pt x="472" y="328477"/>
                  <a:pt x="36" y="403260"/>
                  <a:pt x="18" y="480709"/>
                </a:cubicBezTo>
                <a:cubicBezTo>
                  <a:pt x="0" y="558158"/>
                  <a:pt x="5736" y="633304"/>
                  <a:pt x="7830" y="713053"/>
                </a:cubicBezTo>
                <a:cubicBezTo>
                  <a:pt x="9924" y="792801"/>
                  <a:pt x="12236" y="874924"/>
                  <a:pt x="12579" y="959199"/>
                </a:cubicBezTo>
                <a:cubicBezTo>
                  <a:pt x="12922" y="1043475"/>
                  <a:pt x="9553" y="1132007"/>
                  <a:pt x="9888" y="1218705"/>
                </a:cubicBezTo>
                <a:cubicBezTo>
                  <a:pt x="10223" y="1305403"/>
                  <a:pt x="8748" y="1394151"/>
                  <a:pt x="14588" y="1479387"/>
                </a:cubicBezTo>
                <a:cubicBezTo>
                  <a:pt x="20428" y="1564622"/>
                  <a:pt x="30081" y="1648241"/>
                  <a:pt x="44928" y="1730118"/>
                </a:cubicBezTo>
                <a:cubicBezTo>
                  <a:pt x="59776" y="1811995"/>
                  <a:pt x="81710" y="1890699"/>
                  <a:pt x="103672" y="1970646"/>
                </a:cubicBezTo>
                <a:cubicBezTo>
                  <a:pt x="125634" y="2050594"/>
                  <a:pt x="152354" y="2128971"/>
                  <a:pt x="176702" y="2209801"/>
                </a:cubicBezTo>
                <a:cubicBezTo>
                  <a:pt x="201050" y="2290631"/>
                  <a:pt x="225278" y="2372568"/>
                  <a:pt x="249759" y="2455629"/>
                </a:cubicBezTo>
                <a:cubicBezTo>
                  <a:pt x="274240" y="2538690"/>
                  <a:pt x="296818" y="2623882"/>
                  <a:pt x="323589" y="2708167"/>
                </a:cubicBezTo>
                <a:cubicBezTo>
                  <a:pt x="350359" y="2792452"/>
                  <a:pt x="395915" y="2919143"/>
                  <a:pt x="410380" y="2961338"/>
                </a:cubicBezTo>
              </a:path>
            </a:pathLst>
          </a:custGeom>
          <a:noFill/>
          <a:ln w="4648" cap="rnd">
            <a:solidFill>
              <a:srgbClr val="C1ADD7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artery_cut_collagen_flow_271"/>
          <p:cNvSpPr/>
          <p:nvPr/>
        </p:nvSpPr>
        <p:spPr>
          <a:xfrm>
            <a:off x="12844304" y="3247338"/>
            <a:ext cx="396346" cy="2966730"/>
          </a:xfrm>
          <a:custGeom>
            <a:avLst/>
            <a:gdLst/>
            <a:ahLst/>
            <a:cxnLst/>
            <a:rect l="0" t="0" r="r" b="b"/>
            <a:pathLst>
              <a:path w="396346" h="2966730">
                <a:moveTo>
                  <a:pt x="33464" y="0"/>
                </a:moveTo>
                <a:cubicBezTo>
                  <a:pt x="29237" y="39769"/>
                  <a:pt x="13540" y="159682"/>
                  <a:pt x="8100" y="238611"/>
                </a:cubicBezTo>
                <a:cubicBezTo>
                  <a:pt x="2660" y="317541"/>
                  <a:pt x="1645" y="394535"/>
                  <a:pt x="822" y="473578"/>
                </a:cubicBezTo>
                <a:cubicBezTo>
                  <a:pt x="0" y="552621"/>
                  <a:pt x="2124" y="631618"/>
                  <a:pt x="3166" y="712871"/>
                </a:cubicBezTo>
                <a:cubicBezTo>
                  <a:pt x="4209" y="794123"/>
                  <a:pt x="5860" y="876998"/>
                  <a:pt x="7076" y="961092"/>
                </a:cubicBezTo>
                <a:cubicBezTo>
                  <a:pt x="8292" y="1045186"/>
                  <a:pt x="8531" y="1131471"/>
                  <a:pt x="10462" y="1217435"/>
                </a:cubicBezTo>
                <a:cubicBezTo>
                  <a:pt x="12393" y="1303399"/>
                  <a:pt x="13611" y="1390855"/>
                  <a:pt x="18661" y="1476877"/>
                </a:cubicBezTo>
                <a:cubicBezTo>
                  <a:pt x="23711" y="1562898"/>
                  <a:pt x="29972" y="1649013"/>
                  <a:pt x="40763" y="1733562"/>
                </a:cubicBezTo>
                <a:cubicBezTo>
                  <a:pt x="51554" y="1818112"/>
                  <a:pt x="65788" y="1901542"/>
                  <a:pt x="83409" y="1984177"/>
                </a:cubicBezTo>
                <a:cubicBezTo>
                  <a:pt x="101029" y="2066811"/>
                  <a:pt x="123093" y="2147954"/>
                  <a:pt x="146487" y="2229371"/>
                </a:cubicBezTo>
                <a:cubicBezTo>
                  <a:pt x="169880" y="2310789"/>
                  <a:pt x="196858" y="2391259"/>
                  <a:pt x="223771" y="2472680"/>
                </a:cubicBezTo>
                <a:cubicBezTo>
                  <a:pt x="250684" y="2554101"/>
                  <a:pt x="279202" y="2635556"/>
                  <a:pt x="307964" y="2717898"/>
                </a:cubicBezTo>
                <a:cubicBezTo>
                  <a:pt x="336727" y="2800239"/>
                  <a:pt x="381615" y="2925258"/>
                  <a:pt x="396346" y="2966730"/>
                </a:cubicBezTo>
              </a:path>
            </a:pathLst>
          </a:custGeom>
          <a:noFill/>
          <a:ln w="4648" cap="rnd">
            <a:solidFill>
              <a:srgbClr val="AFA0CA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artery_cut_collagen_flow_272"/>
          <p:cNvSpPr/>
          <p:nvPr/>
        </p:nvSpPr>
        <p:spPr>
          <a:xfrm>
            <a:off x="12840657" y="3214971"/>
            <a:ext cx="396164" cy="3003059"/>
          </a:xfrm>
          <a:custGeom>
            <a:avLst/>
            <a:gdLst/>
            <a:ahLst/>
            <a:cxnLst/>
            <a:rect l="0" t="0" r="r" b="b"/>
            <a:pathLst>
              <a:path w="396164" h="3003059">
                <a:moveTo>
                  <a:pt x="63272" y="0"/>
                </a:moveTo>
                <a:cubicBezTo>
                  <a:pt x="60680" y="38848"/>
                  <a:pt x="52085" y="153777"/>
                  <a:pt x="47722" y="233090"/>
                </a:cubicBezTo>
                <a:cubicBezTo>
                  <a:pt x="43360" y="312403"/>
                  <a:pt x="41317" y="392659"/>
                  <a:pt x="37095" y="475878"/>
                </a:cubicBezTo>
                <a:cubicBezTo>
                  <a:pt x="32872" y="559098"/>
                  <a:pt x="27470" y="645626"/>
                  <a:pt x="22387" y="732405"/>
                </a:cubicBezTo>
                <a:cubicBezTo>
                  <a:pt x="17305" y="819184"/>
                  <a:pt x="9891" y="908993"/>
                  <a:pt x="6599" y="996552"/>
                </a:cubicBezTo>
                <a:cubicBezTo>
                  <a:pt x="3306" y="1084112"/>
                  <a:pt x="0" y="1172324"/>
                  <a:pt x="2630" y="1257764"/>
                </a:cubicBezTo>
                <a:cubicBezTo>
                  <a:pt x="5261" y="1343205"/>
                  <a:pt x="11695" y="1426819"/>
                  <a:pt x="22381" y="1509196"/>
                </a:cubicBezTo>
                <a:cubicBezTo>
                  <a:pt x="33068" y="1591572"/>
                  <a:pt x="49573" y="1671344"/>
                  <a:pt x="66750" y="1752021"/>
                </a:cubicBezTo>
                <a:cubicBezTo>
                  <a:pt x="83927" y="1832698"/>
                  <a:pt x="105480" y="1911988"/>
                  <a:pt x="125444" y="1993258"/>
                </a:cubicBezTo>
                <a:cubicBezTo>
                  <a:pt x="145407" y="2074527"/>
                  <a:pt x="166301" y="2156393"/>
                  <a:pt x="186530" y="2239639"/>
                </a:cubicBezTo>
                <a:cubicBezTo>
                  <a:pt x="206760" y="2322886"/>
                  <a:pt x="225650" y="2407866"/>
                  <a:pt x="246822" y="2492736"/>
                </a:cubicBezTo>
                <a:cubicBezTo>
                  <a:pt x="267994" y="2577606"/>
                  <a:pt x="288670" y="2663805"/>
                  <a:pt x="313560" y="2748859"/>
                </a:cubicBezTo>
                <a:cubicBezTo>
                  <a:pt x="338450" y="2833913"/>
                  <a:pt x="382396" y="2960692"/>
                  <a:pt x="396164" y="3003059"/>
                </a:cubicBezTo>
              </a:path>
            </a:pathLst>
          </a:custGeom>
          <a:noFill/>
          <a:ln w="4648" cap="rnd">
            <a:solidFill>
              <a:srgbClr val="D6C6E5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artery_cut_collagen_flow_273"/>
          <p:cNvSpPr/>
          <p:nvPr/>
        </p:nvSpPr>
        <p:spPr>
          <a:xfrm>
            <a:off x="12843817" y="3177041"/>
            <a:ext cx="400560" cy="3033171"/>
          </a:xfrm>
          <a:custGeom>
            <a:avLst/>
            <a:gdLst/>
            <a:ahLst/>
            <a:cxnLst/>
            <a:rect l="0" t="0" r="r" b="b"/>
            <a:pathLst>
              <a:path w="400560" h="3033171">
                <a:moveTo>
                  <a:pt x="90771" y="0"/>
                </a:moveTo>
                <a:cubicBezTo>
                  <a:pt x="87255" y="40762"/>
                  <a:pt x="78024" y="159973"/>
                  <a:pt x="69674" y="244573"/>
                </a:cubicBezTo>
                <a:cubicBezTo>
                  <a:pt x="61324" y="329174"/>
                  <a:pt x="50361" y="418918"/>
                  <a:pt x="40672" y="507601"/>
                </a:cubicBezTo>
                <a:cubicBezTo>
                  <a:pt x="30982" y="596284"/>
                  <a:pt x="18019" y="688651"/>
                  <a:pt x="11536" y="776674"/>
                </a:cubicBezTo>
                <a:cubicBezTo>
                  <a:pt x="5052" y="864696"/>
                  <a:pt x="0" y="951854"/>
                  <a:pt x="1771" y="1035734"/>
                </a:cubicBezTo>
                <a:cubicBezTo>
                  <a:pt x="3543" y="1119614"/>
                  <a:pt x="11906" y="1199510"/>
                  <a:pt x="22164" y="1279952"/>
                </a:cubicBezTo>
                <a:cubicBezTo>
                  <a:pt x="32422" y="1360394"/>
                  <a:pt x="49371" y="1437770"/>
                  <a:pt x="63318" y="1518386"/>
                </a:cubicBezTo>
                <a:cubicBezTo>
                  <a:pt x="77264" y="1599002"/>
                  <a:pt x="92926" y="1680053"/>
                  <a:pt x="105841" y="1763647"/>
                </a:cubicBezTo>
                <a:cubicBezTo>
                  <a:pt x="118756" y="1847242"/>
                  <a:pt x="128793" y="1933748"/>
                  <a:pt x="140806" y="2019953"/>
                </a:cubicBezTo>
                <a:cubicBezTo>
                  <a:pt x="152819" y="2106159"/>
                  <a:pt x="162532" y="2194647"/>
                  <a:pt x="177917" y="2280881"/>
                </a:cubicBezTo>
                <a:cubicBezTo>
                  <a:pt x="193301" y="2367116"/>
                  <a:pt x="210987" y="2453075"/>
                  <a:pt x="233113" y="2537360"/>
                </a:cubicBezTo>
                <a:cubicBezTo>
                  <a:pt x="255238" y="2621646"/>
                  <a:pt x="282763" y="2703959"/>
                  <a:pt x="310671" y="2786594"/>
                </a:cubicBezTo>
                <a:cubicBezTo>
                  <a:pt x="338579" y="2869229"/>
                  <a:pt x="385578" y="2992075"/>
                  <a:pt x="400560" y="3033171"/>
                </a:cubicBezTo>
              </a:path>
            </a:pathLst>
          </a:custGeom>
          <a:noFill/>
          <a:ln w="4648" cap="rnd">
            <a:solidFill>
              <a:srgbClr val="FFFFFF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artery_cut_collagen_flow_274"/>
          <p:cNvSpPr/>
          <p:nvPr/>
        </p:nvSpPr>
        <p:spPr>
          <a:xfrm>
            <a:off x="12862739" y="3150000"/>
            <a:ext cx="380778" cy="3061102"/>
          </a:xfrm>
          <a:custGeom>
            <a:avLst/>
            <a:gdLst/>
            <a:ahLst/>
            <a:cxnLst/>
            <a:rect l="0" t="0" r="r" b="b"/>
            <a:pathLst>
              <a:path w="380778" h="3061102">
                <a:moveTo>
                  <a:pt x="93705" y="0"/>
                </a:moveTo>
                <a:cubicBezTo>
                  <a:pt x="88513" y="43198"/>
                  <a:pt x="72872" y="171622"/>
                  <a:pt x="62549" y="259190"/>
                </a:cubicBezTo>
                <a:cubicBezTo>
                  <a:pt x="52227" y="346758"/>
                  <a:pt x="40812" y="436807"/>
                  <a:pt x="31770" y="525408"/>
                </a:cubicBezTo>
                <a:cubicBezTo>
                  <a:pt x="22728" y="614008"/>
                  <a:pt x="13385" y="703531"/>
                  <a:pt x="8295" y="790795"/>
                </a:cubicBezTo>
                <a:cubicBezTo>
                  <a:pt x="3205" y="878058"/>
                  <a:pt x="0" y="964394"/>
                  <a:pt x="1229" y="1048990"/>
                </a:cubicBezTo>
                <a:cubicBezTo>
                  <a:pt x="2458" y="1133587"/>
                  <a:pt x="7668" y="1216158"/>
                  <a:pt x="15668" y="1298373"/>
                </a:cubicBezTo>
                <a:cubicBezTo>
                  <a:pt x="23668" y="1380587"/>
                  <a:pt x="36213" y="1460935"/>
                  <a:pt x="49229" y="1542277"/>
                </a:cubicBezTo>
                <a:cubicBezTo>
                  <a:pt x="62244" y="1623620"/>
                  <a:pt x="78465" y="1704242"/>
                  <a:pt x="93761" y="1786429"/>
                </a:cubicBezTo>
                <a:cubicBezTo>
                  <a:pt x="109057" y="1868615"/>
                  <a:pt x="125274" y="1951430"/>
                  <a:pt x="141006" y="2035395"/>
                </a:cubicBezTo>
                <a:cubicBezTo>
                  <a:pt x="156737" y="2119360"/>
                  <a:pt x="171765" y="2204709"/>
                  <a:pt x="188149" y="2290221"/>
                </a:cubicBezTo>
                <a:cubicBezTo>
                  <a:pt x="204532" y="2375732"/>
                  <a:pt x="220345" y="2462452"/>
                  <a:pt x="239307" y="2548465"/>
                </a:cubicBezTo>
                <a:cubicBezTo>
                  <a:pt x="258269" y="2634478"/>
                  <a:pt x="278340" y="2720860"/>
                  <a:pt x="301919" y="2806300"/>
                </a:cubicBezTo>
                <a:cubicBezTo>
                  <a:pt x="325497" y="2891739"/>
                  <a:pt x="367634" y="3018635"/>
                  <a:pt x="380778" y="3061102"/>
                </a:cubicBezTo>
              </a:path>
            </a:pathLst>
          </a:custGeom>
          <a:noFill/>
          <a:ln w="4648" cap="rnd">
            <a:solidFill>
              <a:srgbClr val="C1ADD7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artery_cut_collagen_flow_275"/>
          <p:cNvSpPr/>
          <p:nvPr/>
        </p:nvSpPr>
        <p:spPr>
          <a:xfrm>
            <a:off x="12881415" y="3149977"/>
            <a:ext cx="370479" cy="3052456"/>
          </a:xfrm>
          <a:custGeom>
            <a:avLst/>
            <a:gdLst/>
            <a:ahLst/>
            <a:cxnLst/>
            <a:rect l="0" t="0" r="r" b="b"/>
            <a:pathLst>
              <a:path w="370479" h="3052456">
                <a:moveTo>
                  <a:pt x="75047" y="0"/>
                </a:moveTo>
                <a:cubicBezTo>
                  <a:pt x="69470" y="43605"/>
                  <a:pt x="52391" y="173609"/>
                  <a:pt x="41580" y="261628"/>
                </a:cubicBezTo>
                <a:cubicBezTo>
                  <a:pt x="30770" y="349647"/>
                  <a:pt x="16963" y="441464"/>
                  <a:pt x="10182" y="528114"/>
                </a:cubicBezTo>
                <a:cubicBezTo>
                  <a:pt x="3401" y="614764"/>
                  <a:pt x="0" y="698835"/>
                  <a:pt x="892" y="781528"/>
                </a:cubicBezTo>
                <a:cubicBezTo>
                  <a:pt x="1785" y="864222"/>
                  <a:pt x="9810" y="942554"/>
                  <a:pt x="15536" y="1024276"/>
                </a:cubicBezTo>
                <a:cubicBezTo>
                  <a:pt x="21261" y="1105997"/>
                  <a:pt x="28634" y="1188198"/>
                  <a:pt x="35246" y="1271857"/>
                </a:cubicBezTo>
                <a:cubicBezTo>
                  <a:pt x="41859" y="1355515"/>
                  <a:pt x="47005" y="1441437"/>
                  <a:pt x="55211" y="1526228"/>
                </a:cubicBezTo>
                <a:cubicBezTo>
                  <a:pt x="63418" y="1611018"/>
                  <a:pt x="73838" y="1695407"/>
                  <a:pt x="84485" y="1780599"/>
                </a:cubicBezTo>
                <a:cubicBezTo>
                  <a:pt x="95132" y="1865792"/>
                  <a:pt x="107021" y="1951170"/>
                  <a:pt x="119091" y="2037382"/>
                </a:cubicBezTo>
                <a:cubicBezTo>
                  <a:pt x="131161" y="2123595"/>
                  <a:pt x="140872" y="2212125"/>
                  <a:pt x="156907" y="2297873"/>
                </a:cubicBezTo>
                <a:cubicBezTo>
                  <a:pt x="172941" y="2383621"/>
                  <a:pt x="193091" y="2467960"/>
                  <a:pt x="215300" y="2551870"/>
                </a:cubicBezTo>
                <a:cubicBezTo>
                  <a:pt x="237509" y="2635780"/>
                  <a:pt x="264298" y="2717901"/>
                  <a:pt x="290161" y="2801332"/>
                </a:cubicBezTo>
                <a:cubicBezTo>
                  <a:pt x="316024" y="2884763"/>
                  <a:pt x="357093" y="3010602"/>
                  <a:pt x="370479" y="3052456"/>
                </a:cubicBezTo>
              </a:path>
            </a:pathLst>
          </a:custGeom>
          <a:noFill/>
          <a:ln w="4648" cap="rnd">
            <a:solidFill>
              <a:srgbClr val="AFA0CA">
                <a:alpha val="59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artery_cut_collagen_wisp_276"/>
          <p:cNvSpPr/>
          <p:nvPr/>
        </p:nvSpPr>
        <p:spPr>
          <a:xfrm>
            <a:off x="12661435" y="3441159"/>
            <a:ext cx="252573" cy="234098"/>
          </a:xfrm>
          <a:custGeom>
            <a:avLst/>
            <a:gdLst/>
            <a:ahLst/>
            <a:cxnLst/>
            <a:rect l="0" t="0" r="r" b="b"/>
            <a:pathLst>
              <a:path w="252573" h="234098">
                <a:moveTo>
                  <a:pt x="0" y="234098"/>
                </a:moveTo>
                <a:cubicBezTo>
                  <a:pt x="92921" y="25887"/>
                  <a:pt x="164591" y="188398"/>
                  <a:pt x="252573" y="0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artery_cut_collagen_wisp_277"/>
          <p:cNvSpPr/>
          <p:nvPr/>
        </p:nvSpPr>
        <p:spPr>
          <a:xfrm>
            <a:off x="12621777" y="3738834"/>
            <a:ext cx="272912" cy="211677"/>
          </a:xfrm>
          <a:custGeom>
            <a:avLst/>
            <a:gdLst/>
            <a:ahLst/>
            <a:cxnLst/>
            <a:rect l="0" t="0" r="r" b="b"/>
            <a:pathLst>
              <a:path w="272912" h="211677">
                <a:moveTo>
                  <a:pt x="0" y="211677"/>
                </a:moveTo>
                <a:cubicBezTo>
                  <a:pt x="88277" y="9526"/>
                  <a:pt x="185763" y="181732"/>
                  <a:pt x="272912" y="0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artery_cut_collagen_wisp_278"/>
          <p:cNvSpPr/>
          <p:nvPr/>
        </p:nvSpPr>
        <p:spPr>
          <a:xfrm>
            <a:off x="12604881" y="4029672"/>
            <a:ext cx="283848" cy="196092"/>
          </a:xfrm>
          <a:custGeom>
            <a:avLst/>
            <a:gdLst/>
            <a:ahLst/>
            <a:cxnLst/>
            <a:rect l="0" t="0" r="r" b="b"/>
            <a:pathLst>
              <a:path w="283848" h="196092">
                <a:moveTo>
                  <a:pt x="0" y="196092"/>
                </a:moveTo>
                <a:cubicBezTo>
                  <a:pt x="81091" y="0"/>
                  <a:pt x="200327" y="181902"/>
                  <a:pt x="283848" y="6836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artery_cut_collagen_wisp_279"/>
          <p:cNvSpPr/>
          <p:nvPr/>
        </p:nvSpPr>
        <p:spPr>
          <a:xfrm>
            <a:off x="12610749" y="4310985"/>
            <a:ext cx="285381" cy="191598"/>
          </a:xfrm>
          <a:custGeom>
            <a:avLst/>
            <a:gdLst/>
            <a:ahLst/>
            <a:cxnLst/>
            <a:rect l="0" t="0" r="r" b="b"/>
            <a:pathLst>
              <a:path w="285381" h="191598">
                <a:moveTo>
                  <a:pt x="0" y="190032"/>
                </a:moveTo>
                <a:cubicBezTo>
                  <a:pt x="71364" y="0"/>
                  <a:pt x="208283" y="191598"/>
                  <a:pt x="285381" y="23197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artery_cut_collagen_wisp_280"/>
          <p:cNvSpPr/>
          <p:nvPr/>
        </p:nvSpPr>
        <p:spPr>
          <a:xfrm>
            <a:off x="12639379" y="4592298"/>
            <a:ext cx="277511" cy="201293"/>
          </a:xfrm>
          <a:custGeom>
            <a:avLst/>
            <a:gdLst/>
            <a:ahLst/>
            <a:cxnLst/>
            <a:rect l="0" t="0" r="r" b="b"/>
            <a:pathLst>
              <a:path w="277511" h="201293">
                <a:moveTo>
                  <a:pt x="0" y="183972"/>
                </a:moveTo>
                <a:cubicBezTo>
                  <a:pt x="59096" y="0"/>
                  <a:pt x="209632" y="201293"/>
                  <a:pt x="277511" y="39559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artery_cut_collagen_wisp_281"/>
          <p:cNvSpPr/>
          <p:nvPr/>
        </p:nvSpPr>
        <p:spPr>
          <a:xfrm>
            <a:off x="12690772" y="4873611"/>
            <a:ext cx="260238" cy="210989"/>
          </a:xfrm>
          <a:custGeom>
            <a:avLst/>
            <a:gdLst/>
            <a:ahLst/>
            <a:cxnLst/>
            <a:rect l="0" t="0" r="r" b="b"/>
            <a:pathLst>
              <a:path w="260238" h="210989">
                <a:moveTo>
                  <a:pt x="0" y="177913"/>
                </a:moveTo>
                <a:cubicBezTo>
                  <a:pt x="44286" y="0"/>
                  <a:pt x="204373" y="210989"/>
                  <a:pt x="260238" y="55920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artery_cut_collagen_wisp_282"/>
          <p:cNvSpPr/>
          <p:nvPr/>
        </p:nvSpPr>
        <p:spPr>
          <a:xfrm>
            <a:off x="12764928" y="5154924"/>
            <a:ext cx="233562" cy="220685"/>
          </a:xfrm>
          <a:custGeom>
            <a:avLst/>
            <a:gdLst/>
            <a:ahLst/>
            <a:cxnLst/>
            <a:rect l="0" t="0" r="r" b="b"/>
            <a:pathLst>
              <a:path w="233562" h="220685">
                <a:moveTo>
                  <a:pt x="0" y="171853"/>
                </a:moveTo>
                <a:cubicBezTo>
                  <a:pt x="26935" y="0"/>
                  <a:pt x="192507" y="220685"/>
                  <a:pt x="233562" y="72281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artery_cut_collagen_wisp_283"/>
          <p:cNvSpPr/>
          <p:nvPr/>
        </p:nvSpPr>
        <p:spPr>
          <a:xfrm>
            <a:off x="12861847" y="5436237"/>
            <a:ext cx="197483" cy="230380"/>
          </a:xfrm>
          <a:custGeom>
            <a:avLst/>
            <a:gdLst/>
            <a:ahLst/>
            <a:cxnLst/>
            <a:rect l="0" t="0" r="r" b="b"/>
            <a:pathLst>
              <a:path w="197483" h="230380">
                <a:moveTo>
                  <a:pt x="0" y="165793"/>
                </a:moveTo>
                <a:cubicBezTo>
                  <a:pt x="7042" y="0"/>
                  <a:pt x="174033" y="230380"/>
                  <a:pt x="197483" y="88643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artery_cut_collagen_wisp_284"/>
          <p:cNvSpPr/>
          <p:nvPr/>
        </p:nvSpPr>
        <p:spPr>
          <a:xfrm>
            <a:off x="12966136" y="5717550"/>
            <a:ext cx="167392" cy="240076"/>
          </a:xfrm>
          <a:custGeom>
            <a:avLst/>
            <a:gdLst/>
            <a:ahLst/>
            <a:cxnLst/>
            <a:rect l="0" t="0" r="r" b="b"/>
            <a:pathLst>
              <a:path w="167392" h="240076">
                <a:moveTo>
                  <a:pt x="15392" y="159733"/>
                </a:moveTo>
                <a:cubicBezTo>
                  <a:pt x="0" y="0"/>
                  <a:pt x="164344" y="240076"/>
                  <a:pt x="167392" y="105004"/>
                </a:cubicBezTo>
              </a:path>
            </a:pathLst>
          </a:custGeom>
          <a:noFill/>
          <a:ln w="4648" cap="rnd">
            <a:solidFill>
              <a:srgbClr val="C3AFD8">
                <a:alpha val="5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artery_cut_fibroblast_nucleus_285"/>
          <p:cNvSpPr/>
          <p:nvPr/>
        </p:nvSpPr>
        <p:spPr>
          <a:xfrm>
            <a:off x="12571024" y="4379590"/>
            <a:ext cx="63876" cy="194099"/>
          </a:xfrm>
          <a:custGeom>
            <a:avLst/>
            <a:gdLst/>
            <a:ahLst/>
            <a:cxnLst/>
            <a:rect l="0" t="0" r="r" b="b"/>
            <a:pathLst>
              <a:path w="63876" h="194099">
                <a:moveTo>
                  <a:pt x="18567" y="1906"/>
                </a:moveTo>
                <a:cubicBezTo>
                  <a:pt x="32127" y="0"/>
                  <a:pt x="49106" y="41052"/>
                  <a:pt x="56491" y="93599"/>
                </a:cubicBezTo>
                <a:cubicBezTo>
                  <a:pt x="63876" y="146145"/>
                  <a:pt x="58870" y="190287"/>
                  <a:pt x="45310" y="192193"/>
                </a:cubicBezTo>
                <a:cubicBezTo>
                  <a:pt x="31749" y="194099"/>
                  <a:pt x="14770" y="153046"/>
                  <a:pt x="7385" y="100500"/>
                </a:cubicBezTo>
                <a:cubicBezTo>
                  <a:pt x="0" y="47954"/>
                  <a:pt x="5006" y="3812"/>
                  <a:pt x="18567" y="1906"/>
                </a:cubicBezTo>
                <a:close/>
              </a:path>
            </a:pathLst>
          </a:custGeom>
          <a:gradFill rotWithShape="1">
            <a:gsLst>
              <a:gs pos="0">
                <a:srgbClr val="D9CEE9"/>
              </a:gs>
              <a:gs pos="43000">
                <a:srgbClr val="BBA6D3"/>
              </a:gs>
              <a:gs pos="100000">
                <a:srgbClr val="9680B1"/>
              </a:gs>
            </a:gsLst>
            <a:path path="circle">
              <a:fillToRect l="25000" t="26000" r="75000" b="74000"/>
            </a:path>
            <a:tileRect/>
          </a:gradFill>
          <a:ln w="3409" cap="rnd">
            <a:solidFill>
              <a:srgbClr val="9985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artery_cut_fibroblast_nucleus_286"/>
          <p:cNvSpPr/>
          <p:nvPr/>
        </p:nvSpPr>
        <p:spPr>
          <a:xfrm>
            <a:off x="12573637" y="4807438"/>
            <a:ext cx="58650" cy="193813"/>
          </a:xfrm>
          <a:custGeom>
            <a:avLst/>
            <a:gdLst/>
            <a:ahLst/>
            <a:cxnLst/>
            <a:rect l="0" t="0" r="r" b="b"/>
            <a:pathLst>
              <a:path w="58650" h="193813">
                <a:moveTo>
                  <a:pt x="20951" y="1193"/>
                </a:moveTo>
                <a:cubicBezTo>
                  <a:pt x="34593" y="0"/>
                  <a:pt x="49400" y="41885"/>
                  <a:pt x="54025" y="94745"/>
                </a:cubicBezTo>
                <a:cubicBezTo>
                  <a:pt x="58650" y="147606"/>
                  <a:pt x="51340" y="191426"/>
                  <a:pt x="37699" y="192619"/>
                </a:cubicBezTo>
                <a:cubicBezTo>
                  <a:pt x="24057" y="193813"/>
                  <a:pt x="9249" y="151928"/>
                  <a:pt x="4625" y="99067"/>
                </a:cubicBezTo>
                <a:cubicBezTo>
                  <a:pt x="0" y="46207"/>
                  <a:pt x="7310" y="2387"/>
                  <a:pt x="20951" y="1193"/>
                </a:cubicBezTo>
                <a:close/>
              </a:path>
            </a:pathLst>
          </a:custGeom>
          <a:gradFill rotWithShape="1">
            <a:gsLst>
              <a:gs pos="0">
                <a:srgbClr val="D9CEE9"/>
              </a:gs>
              <a:gs pos="43000">
                <a:srgbClr val="BBA6D3"/>
              </a:gs>
              <a:gs pos="100000">
                <a:srgbClr val="9680B1"/>
              </a:gs>
            </a:gsLst>
            <a:path path="circle">
              <a:fillToRect l="25000" t="26000" r="75000" b="74000"/>
            </a:path>
            <a:tileRect/>
          </a:gradFill>
          <a:ln w="3409" cap="rnd">
            <a:solidFill>
              <a:srgbClr val="9985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artery_cut_fibroblast_nucleus_287"/>
          <p:cNvSpPr/>
          <p:nvPr/>
        </p:nvSpPr>
        <p:spPr>
          <a:xfrm>
            <a:off x="12670309" y="5261541"/>
            <a:ext cx="88455" cy="190604"/>
          </a:xfrm>
          <a:custGeom>
            <a:avLst/>
            <a:gdLst/>
            <a:ahLst/>
            <a:cxnLst/>
            <a:rect l="0" t="0" r="r" b="b"/>
            <a:pathLst>
              <a:path w="88455" h="190604">
                <a:moveTo>
                  <a:pt x="12948" y="4458"/>
                </a:moveTo>
                <a:cubicBezTo>
                  <a:pt x="25895" y="0"/>
                  <a:pt x="50396" y="37058"/>
                  <a:pt x="67671" y="87230"/>
                </a:cubicBezTo>
                <a:cubicBezTo>
                  <a:pt x="84947" y="137402"/>
                  <a:pt x="88455" y="181688"/>
                  <a:pt x="75508" y="186146"/>
                </a:cubicBezTo>
                <a:cubicBezTo>
                  <a:pt x="62560" y="190604"/>
                  <a:pt x="38060" y="153546"/>
                  <a:pt x="20784" y="103375"/>
                </a:cubicBezTo>
                <a:cubicBezTo>
                  <a:pt x="3509" y="53203"/>
                  <a:pt x="0" y="8916"/>
                  <a:pt x="12948" y="4458"/>
                </a:cubicBezTo>
                <a:close/>
              </a:path>
            </a:pathLst>
          </a:custGeom>
          <a:gradFill rotWithShape="1">
            <a:gsLst>
              <a:gs pos="0">
                <a:srgbClr val="D9CEE9"/>
              </a:gs>
              <a:gs pos="43000">
                <a:srgbClr val="BBA6D3"/>
              </a:gs>
              <a:gs pos="100000">
                <a:srgbClr val="9680B1"/>
              </a:gs>
            </a:gsLst>
            <a:path path="circle">
              <a:fillToRect l="25000" t="26000" r="75000" b="74000"/>
            </a:path>
            <a:tileRect/>
          </a:gradFill>
          <a:ln w="3409" cap="rnd">
            <a:solidFill>
              <a:srgbClr val="9985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artery_cut_fibroblast_nucleus_288"/>
          <p:cNvSpPr/>
          <p:nvPr/>
        </p:nvSpPr>
        <p:spPr>
          <a:xfrm>
            <a:off x="12850874" y="5692724"/>
            <a:ext cx="111640" cy="183647"/>
          </a:xfrm>
          <a:custGeom>
            <a:avLst/>
            <a:gdLst/>
            <a:ahLst/>
            <a:cxnLst/>
            <a:rect l="0" t="0" r="r" b="b"/>
            <a:pathLst>
              <a:path w="111640" h="183647">
                <a:moveTo>
                  <a:pt x="12201" y="6217"/>
                </a:moveTo>
                <a:cubicBezTo>
                  <a:pt x="24402" y="0"/>
                  <a:pt x="53822" y="33288"/>
                  <a:pt x="77912" y="80567"/>
                </a:cubicBezTo>
                <a:cubicBezTo>
                  <a:pt x="102002" y="127846"/>
                  <a:pt x="111640" y="171213"/>
                  <a:pt x="99439" y="177430"/>
                </a:cubicBezTo>
                <a:cubicBezTo>
                  <a:pt x="87237" y="183647"/>
                  <a:pt x="57818" y="150359"/>
                  <a:pt x="33728" y="103080"/>
                </a:cubicBezTo>
                <a:cubicBezTo>
                  <a:pt x="9638" y="55801"/>
                  <a:pt x="0" y="12434"/>
                  <a:pt x="12201" y="6217"/>
                </a:cubicBezTo>
                <a:close/>
              </a:path>
            </a:pathLst>
          </a:custGeom>
          <a:gradFill rotWithShape="1">
            <a:gsLst>
              <a:gs pos="0">
                <a:srgbClr val="D9CEE9"/>
              </a:gs>
              <a:gs pos="43000">
                <a:srgbClr val="BBA6D3"/>
              </a:gs>
              <a:gs pos="100000">
                <a:srgbClr val="9680B1"/>
              </a:gs>
            </a:gsLst>
            <a:path path="circle">
              <a:fillToRect l="25000" t="26000" r="75000" b="74000"/>
            </a:path>
            <a:tileRect/>
          </a:gradFill>
          <a:ln w="3409" cap="rnd">
            <a:solidFill>
              <a:srgbClr val="9985B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artery_cut_top_lip_289"/>
          <p:cNvSpPr/>
          <p:nvPr/>
        </p:nvSpPr>
        <p:spPr>
          <a:xfrm>
            <a:off x="12658750" y="3094348"/>
            <a:ext cx="309931" cy="396711"/>
          </a:xfrm>
          <a:custGeom>
            <a:avLst/>
            <a:gdLst/>
            <a:ahLst/>
            <a:cxnLst/>
            <a:rect l="0" t="0" r="r" b="b"/>
            <a:pathLst>
              <a:path w="309931" h="396711">
                <a:moveTo>
                  <a:pt x="309931" y="0"/>
                </a:moveTo>
                <a:lnTo>
                  <a:pt x="0" y="396711"/>
                </a:lnTo>
              </a:path>
            </a:pathLst>
          </a:custGeom>
          <a:noFill/>
          <a:ln w="6508" cap="rnd">
            <a:solidFill>
              <a:srgbClr val="BA8C9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artery_cut_outer_light_290"/>
          <p:cNvSpPr/>
          <p:nvPr/>
        </p:nvSpPr>
        <p:spPr>
          <a:xfrm>
            <a:off x="12813715" y="3156335"/>
            <a:ext cx="130171" cy="1444277"/>
          </a:xfrm>
          <a:custGeom>
            <a:avLst/>
            <a:gdLst/>
            <a:ahLst/>
            <a:cxnLst/>
            <a:rect l="0" t="0" r="r" b="b"/>
            <a:pathLst>
              <a:path w="130171" h="1444277">
                <a:moveTo>
                  <a:pt x="130171" y="0"/>
                </a:moveTo>
                <a:cubicBezTo>
                  <a:pt x="24794" y="464896"/>
                  <a:pt x="0" y="904998"/>
                  <a:pt x="55788" y="1444277"/>
                </a:cubicBezTo>
              </a:path>
            </a:pathLst>
          </a:custGeom>
          <a:noFill/>
          <a:ln w="9297" cap="rnd">
            <a:solidFill>
              <a:srgbClr val="FFF7F5">
                <a:alpha val="75000"/>
              </a:srgbClr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circulating_lps_particle_1"/>
          <p:cNvSpPr/>
          <p:nvPr/>
        </p:nvSpPr>
        <p:spPr>
          <a:xfrm>
            <a:off x="1781175" y="885825"/>
            <a:ext cx="95250" cy="95250"/>
          </a:xfrm>
          <a:prstGeom prst="ellipse">
            <a:avLst/>
          </a:prstGeom>
          <a:solidFill>
            <a:srgbClr val="C23D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circulating_lps_particle_2"/>
          <p:cNvSpPr/>
          <p:nvPr/>
        </p:nvSpPr>
        <p:spPr>
          <a:xfrm>
            <a:off x="1952625" y="952500"/>
            <a:ext cx="95250" cy="95250"/>
          </a:xfrm>
          <a:prstGeom prst="ellipse">
            <a:avLst/>
          </a:prstGeom>
          <a:solidFill>
            <a:srgbClr val="C23D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circulating_lps_particle_3"/>
          <p:cNvSpPr/>
          <p:nvPr/>
        </p:nvSpPr>
        <p:spPr>
          <a:xfrm>
            <a:off x="2095500" y="1104900"/>
            <a:ext cx="95250" cy="95250"/>
          </a:xfrm>
          <a:prstGeom prst="ellipse">
            <a:avLst/>
          </a:prstGeom>
          <a:solidFill>
            <a:srgbClr val="C23D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circulating_lps_particle_4"/>
          <p:cNvSpPr/>
          <p:nvPr/>
        </p:nvSpPr>
        <p:spPr>
          <a:xfrm>
            <a:off x="1905000" y="1171575"/>
            <a:ext cx="95250" cy="95250"/>
          </a:xfrm>
          <a:prstGeom prst="ellipse">
            <a:avLst/>
          </a:prstGeom>
          <a:solidFill>
            <a:srgbClr val="C23D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route_lps"/>
          <p:cNvSpPr/>
          <p:nvPr/>
        </p:nvSpPr>
        <p:spPr>
          <a:xfrm>
            <a:off x="2228850" y="1104900"/>
            <a:ext cx="514350" cy="419100"/>
          </a:xfrm>
          <a:custGeom>
            <a:avLst/>
            <a:gdLst/>
            <a:ahLst/>
            <a:cxnLst/>
            <a:rect l="0" t="0" r="r" b="b"/>
            <a:pathLst>
              <a:path w="514350" h="419100">
                <a:moveTo>
                  <a:pt x="0" y="0"/>
                </a:moveTo>
                <a:lnTo>
                  <a:pt x="514350" y="41910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route_hmgb1"/>
          <p:cNvSpPr/>
          <p:nvPr/>
        </p:nvSpPr>
        <p:spPr>
          <a:xfrm>
            <a:off x="2295525" y="1524000"/>
            <a:ext cx="447675" cy="571500"/>
          </a:xfrm>
          <a:custGeom>
            <a:avLst/>
            <a:gdLst/>
            <a:ahLst/>
            <a:cxnLst/>
            <a:rect l="0" t="0" r="r" b="b"/>
            <a:pathLst>
              <a:path w="447675" h="571500">
                <a:moveTo>
                  <a:pt x="0" y="571500"/>
                </a:moveTo>
                <a:lnTo>
                  <a:pt x="447675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ligand_junction"/>
          <p:cNvSpPr/>
          <p:nvPr/>
        </p:nvSpPr>
        <p:spPr>
          <a:xfrm>
            <a:off x="2724150" y="1504950"/>
            <a:ext cx="38100" cy="38100"/>
          </a:xfrm>
          <a:prstGeom prst="ellipse">
            <a:avLst/>
          </a:pr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route_ligand_to_tlr4"/>
          <p:cNvSpPr/>
          <p:nvPr/>
        </p:nvSpPr>
        <p:spPr>
          <a:xfrm>
            <a:off x="2743200" y="1362075"/>
            <a:ext cx="342900" cy="161925"/>
          </a:xfrm>
          <a:custGeom>
            <a:avLst/>
            <a:gdLst/>
            <a:ahLst/>
            <a:cxnLst/>
            <a:rect l="0" t="0" r="r" b="b"/>
            <a:pathLst>
              <a:path w="342900" h="161925">
                <a:moveTo>
                  <a:pt x="0" y="161925"/>
                </a:moveTo>
                <a:lnTo>
                  <a:pt x="342900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route_ligand_to_tlr4_tip"/>
          <p:cNvSpPr/>
          <p:nvPr/>
        </p:nvSpPr>
        <p:spPr>
          <a:xfrm>
            <a:off x="2983701" y="1362075"/>
            <a:ext cx="102399" cy="75124"/>
          </a:xfrm>
          <a:custGeom>
            <a:avLst/>
            <a:gdLst/>
            <a:ahLst/>
            <a:cxnLst/>
            <a:rect l="0" t="0" r="r" b="b"/>
            <a:pathLst>
              <a:path w="102399" h="75124">
                <a:moveTo>
                  <a:pt x="102399" y="0"/>
                </a:moveTo>
                <a:lnTo>
                  <a:pt x="32538" y="75124"/>
                </a:lnTo>
                <a:lnTo>
                  <a:pt x="0" y="622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route_tlr4_to_myd88"/>
          <p:cNvSpPr/>
          <p:nvPr/>
        </p:nvSpPr>
        <p:spPr>
          <a:xfrm>
            <a:off x="3657600" y="1733550"/>
            <a:ext cx="95" cy="161925"/>
          </a:xfrm>
          <a:custGeom>
            <a:avLst/>
            <a:gdLst/>
            <a:ahLst/>
            <a:cxnLst/>
            <a:rect l="0" t="0" r="r" b="b"/>
            <a:pathLst>
              <a:path w="95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route_tlr4_to_myd88_tip"/>
          <p:cNvSpPr/>
          <p:nvPr/>
        </p:nvSpPr>
        <p:spPr>
          <a:xfrm>
            <a:off x="3619500" y="1800225"/>
            <a:ext cx="76200" cy="95250"/>
          </a:xfrm>
          <a:custGeom>
            <a:avLst/>
            <a:gdLst/>
            <a:ahLst/>
            <a:cxnLst/>
            <a:rect l="0" t="0" r="r" b="b"/>
            <a:pathLst>
              <a:path w="76200" h="95250">
                <a:moveTo>
                  <a:pt x="38100" y="9525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route_myd88_to_nfkb"/>
          <p:cNvSpPr/>
          <p:nvPr/>
        </p:nvSpPr>
        <p:spPr>
          <a:xfrm>
            <a:off x="3657600" y="2209800"/>
            <a:ext cx="95" cy="104775"/>
          </a:xfrm>
          <a:custGeom>
            <a:avLst/>
            <a:gdLst/>
            <a:ahLst/>
            <a:cxnLst/>
            <a:rect l="0" t="0" r="r" b="b"/>
            <a:pathLst>
              <a:path w="95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route_myd88_to_nfkb_tip"/>
          <p:cNvSpPr/>
          <p:nvPr/>
        </p:nvSpPr>
        <p:spPr>
          <a:xfrm>
            <a:off x="3619500" y="2219325"/>
            <a:ext cx="76200" cy="95250"/>
          </a:xfrm>
          <a:custGeom>
            <a:avLst/>
            <a:gdLst/>
            <a:ahLst/>
            <a:cxnLst/>
            <a:rect l="0" t="0" r="r" b="b"/>
            <a:pathLst>
              <a:path w="76200" h="95250">
                <a:moveTo>
                  <a:pt x="38100" y="9525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route_nfkb_to_cytokines"/>
          <p:cNvSpPr/>
          <p:nvPr/>
        </p:nvSpPr>
        <p:spPr>
          <a:xfrm>
            <a:off x="3657600" y="2628900"/>
            <a:ext cx="95" cy="66675"/>
          </a:xfrm>
          <a:custGeom>
            <a:avLst/>
            <a:gdLst/>
            <a:ahLst/>
            <a:cxnLst/>
            <a:rect l="0" t="0" r="r" b="b"/>
            <a:pathLst>
              <a:path w="95" h="66675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route_nfkb_to_cytokines_tip"/>
          <p:cNvSpPr/>
          <p:nvPr/>
        </p:nvSpPr>
        <p:spPr>
          <a:xfrm>
            <a:off x="3619500" y="2600325"/>
            <a:ext cx="76200" cy="95250"/>
          </a:xfrm>
          <a:custGeom>
            <a:avLst/>
            <a:gdLst/>
            <a:ahLst/>
            <a:cxnLst/>
            <a:rect l="0" t="0" r="r" b="b"/>
            <a:pathLst>
              <a:path w="76200" h="95250">
                <a:moveTo>
                  <a:pt x="38100" y="9525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route_cytokines_output"/>
          <p:cNvSpPr/>
          <p:nvPr/>
        </p:nvSpPr>
        <p:spPr>
          <a:xfrm>
            <a:off x="4610100" y="2914650"/>
            <a:ext cx="790575" cy="95"/>
          </a:xfrm>
          <a:custGeom>
            <a:avLst/>
            <a:gdLst/>
            <a:ahLst/>
            <a:cxnLst/>
            <a:rect l="0" t="0" r="r" b="b"/>
            <a:pathLst>
              <a:path w="790575" h="95">
                <a:moveTo>
                  <a:pt x="0" y="0"/>
                </a:moveTo>
                <a:lnTo>
                  <a:pt x="790575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route_cytokines_output_tip"/>
          <p:cNvSpPr/>
          <p:nvPr/>
        </p:nvSpPr>
        <p:spPr>
          <a:xfrm>
            <a:off x="5305425" y="2876550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route_inflammation_to_endothelium"/>
          <p:cNvSpPr/>
          <p:nvPr/>
        </p:nvSpPr>
        <p:spPr>
          <a:xfrm>
            <a:off x="8115300" y="2428875"/>
            <a:ext cx="1095375" cy="428625"/>
          </a:xfrm>
          <a:custGeom>
            <a:avLst/>
            <a:gdLst/>
            <a:ahLst/>
            <a:cxnLst/>
            <a:rect l="0" t="0" r="r" b="b"/>
            <a:pathLst>
              <a:path w="1095375" h="428625">
                <a:moveTo>
                  <a:pt x="0" y="428625"/>
                </a:moveTo>
                <a:lnTo>
                  <a:pt x="14796" y="422319"/>
                </a:lnTo>
                <a:lnTo>
                  <a:pt x="29716" y="415906"/>
                </a:lnTo>
                <a:lnTo>
                  <a:pt x="44756" y="409391"/>
                </a:lnTo>
                <a:lnTo>
                  <a:pt x="59915" y="402778"/>
                </a:lnTo>
                <a:lnTo>
                  <a:pt x="75190" y="396071"/>
                </a:lnTo>
                <a:lnTo>
                  <a:pt x="90578" y="389276"/>
                </a:lnTo>
                <a:lnTo>
                  <a:pt x="106077" y="382397"/>
                </a:lnTo>
                <a:lnTo>
                  <a:pt x="121686" y="375438"/>
                </a:lnTo>
                <a:lnTo>
                  <a:pt x="137400" y="368404"/>
                </a:lnTo>
                <a:lnTo>
                  <a:pt x="153219" y="361299"/>
                </a:lnTo>
                <a:lnTo>
                  <a:pt x="169139" y="354129"/>
                </a:lnTo>
                <a:lnTo>
                  <a:pt x="185158" y="346897"/>
                </a:lnTo>
                <a:lnTo>
                  <a:pt x="201275" y="339609"/>
                </a:lnTo>
                <a:lnTo>
                  <a:pt x="217485" y="332269"/>
                </a:lnTo>
                <a:lnTo>
                  <a:pt x="233788" y="324881"/>
                </a:lnTo>
                <a:lnTo>
                  <a:pt x="250180" y="317450"/>
                </a:lnTo>
                <a:lnTo>
                  <a:pt x="266659" y="309981"/>
                </a:lnTo>
                <a:lnTo>
                  <a:pt x="283224" y="302478"/>
                </a:lnTo>
                <a:lnTo>
                  <a:pt x="299870" y="294946"/>
                </a:lnTo>
                <a:lnTo>
                  <a:pt x="316597" y="287389"/>
                </a:lnTo>
                <a:lnTo>
                  <a:pt x="333401" y="279813"/>
                </a:lnTo>
                <a:lnTo>
                  <a:pt x="350281" y="272220"/>
                </a:lnTo>
                <a:lnTo>
                  <a:pt x="367233" y="264617"/>
                </a:lnTo>
                <a:lnTo>
                  <a:pt x="384256" y="257008"/>
                </a:lnTo>
                <a:lnTo>
                  <a:pt x="401346" y="249396"/>
                </a:lnTo>
                <a:lnTo>
                  <a:pt x="418503" y="241788"/>
                </a:lnTo>
                <a:lnTo>
                  <a:pt x="435722" y="234187"/>
                </a:lnTo>
                <a:lnTo>
                  <a:pt x="453003" y="226598"/>
                </a:lnTo>
                <a:lnTo>
                  <a:pt x="470341" y="219025"/>
                </a:lnTo>
                <a:lnTo>
                  <a:pt x="487736" y="211474"/>
                </a:lnTo>
                <a:lnTo>
                  <a:pt x="505185" y="203948"/>
                </a:lnTo>
                <a:lnTo>
                  <a:pt x="522684" y="196453"/>
                </a:lnTo>
                <a:lnTo>
                  <a:pt x="540233" y="188993"/>
                </a:lnTo>
                <a:lnTo>
                  <a:pt x="557828" y="181572"/>
                </a:lnTo>
                <a:lnTo>
                  <a:pt x="575467" y="174195"/>
                </a:lnTo>
                <a:lnTo>
                  <a:pt x="593148" y="166867"/>
                </a:lnTo>
                <a:lnTo>
                  <a:pt x="610867" y="159591"/>
                </a:lnTo>
                <a:lnTo>
                  <a:pt x="628624" y="152374"/>
                </a:lnTo>
                <a:lnTo>
                  <a:pt x="646415" y="145219"/>
                </a:lnTo>
                <a:lnTo>
                  <a:pt x="664239" y="138131"/>
                </a:lnTo>
                <a:lnTo>
                  <a:pt x="682091" y="131115"/>
                </a:lnTo>
                <a:lnTo>
                  <a:pt x="699972" y="124174"/>
                </a:lnTo>
                <a:lnTo>
                  <a:pt x="717876" y="117314"/>
                </a:lnTo>
                <a:lnTo>
                  <a:pt x="735804" y="110540"/>
                </a:lnTo>
                <a:lnTo>
                  <a:pt x="753751" y="103855"/>
                </a:lnTo>
                <a:lnTo>
                  <a:pt x="771717" y="97265"/>
                </a:lnTo>
                <a:lnTo>
                  <a:pt x="789697" y="90773"/>
                </a:lnTo>
                <a:lnTo>
                  <a:pt x="807690" y="84386"/>
                </a:lnTo>
                <a:lnTo>
                  <a:pt x="825694" y="78106"/>
                </a:lnTo>
                <a:lnTo>
                  <a:pt x="843706" y="71939"/>
                </a:lnTo>
                <a:lnTo>
                  <a:pt x="861723" y="65889"/>
                </a:lnTo>
                <a:lnTo>
                  <a:pt x="879744" y="59961"/>
                </a:lnTo>
                <a:lnTo>
                  <a:pt x="897766" y="54160"/>
                </a:lnTo>
                <a:lnTo>
                  <a:pt x="915786" y="48490"/>
                </a:lnTo>
                <a:lnTo>
                  <a:pt x="933802" y="42955"/>
                </a:lnTo>
                <a:lnTo>
                  <a:pt x="951812" y="37560"/>
                </a:lnTo>
                <a:lnTo>
                  <a:pt x="969813" y="32311"/>
                </a:lnTo>
                <a:lnTo>
                  <a:pt x="987803" y="27210"/>
                </a:lnTo>
                <a:lnTo>
                  <a:pt x="1005779" y="22264"/>
                </a:lnTo>
                <a:lnTo>
                  <a:pt x="1023740" y="17476"/>
                </a:lnTo>
                <a:lnTo>
                  <a:pt x="1041682" y="12851"/>
                </a:lnTo>
                <a:lnTo>
                  <a:pt x="1059604" y="8393"/>
                </a:lnTo>
                <a:lnTo>
                  <a:pt x="1077502" y="4108"/>
                </a:lnTo>
                <a:lnTo>
                  <a:pt x="1095375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route_inflammation_to_endothelium_tip"/>
          <p:cNvSpPr/>
          <p:nvPr/>
        </p:nvSpPr>
        <p:spPr>
          <a:xfrm>
            <a:off x="9109109" y="2414435"/>
            <a:ext cx="101566" cy="74029"/>
          </a:xfrm>
          <a:custGeom>
            <a:avLst/>
            <a:gdLst/>
            <a:ahLst/>
            <a:cxnLst/>
            <a:rect l="0" t="0" r="r" b="b"/>
            <a:pathLst>
              <a:path w="101566" h="74029">
                <a:moveTo>
                  <a:pt x="101566" y="14440"/>
                </a:moveTo>
                <a:lnTo>
                  <a:pt x="18060" y="74029"/>
                </a:lnTo>
                <a:lnTo>
                  <a:pt x="0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route_inflammation_to_perivascular"/>
          <p:cNvSpPr/>
          <p:nvPr/>
        </p:nvSpPr>
        <p:spPr>
          <a:xfrm>
            <a:off x="7900860" y="2857500"/>
            <a:ext cx="900240" cy="2447925"/>
          </a:xfrm>
          <a:custGeom>
            <a:avLst/>
            <a:gdLst/>
            <a:ahLst/>
            <a:cxnLst/>
            <a:rect l="0" t="0" r="r" b="b"/>
            <a:pathLst>
              <a:path w="900240" h="2447925">
                <a:moveTo>
                  <a:pt x="214440" y="0"/>
                </a:moveTo>
                <a:lnTo>
                  <a:pt x="220840" y="9363"/>
                </a:lnTo>
                <a:lnTo>
                  <a:pt x="226654" y="18701"/>
                </a:lnTo>
                <a:lnTo>
                  <a:pt x="231896" y="28018"/>
                </a:lnTo>
                <a:lnTo>
                  <a:pt x="236581" y="37316"/>
                </a:lnTo>
                <a:lnTo>
                  <a:pt x="240722" y="46600"/>
                </a:lnTo>
                <a:lnTo>
                  <a:pt x="244335" y="55872"/>
                </a:lnTo>
                <a:lnTo>
                  <a:pt x="247432" y="65136"/>
                </a:lnTo>
                <a:lnTo>
                  <a:pt x="250029" y="74395"/>
                </a:lnTo>
                <a:lnTo>
                  <a:pt x="252139" y="83653"/>
                </a:lnTo>
                <a:lnTo>
                  <a:pt x="253777" y="92911"/>
                </a:lnTo>
                <a:lnTo>
                  <a:pt x="254956" y="102175"/>
                </a:lnTo>
                <a:lnTo>
                  <a:pt x="255691" y="111447"/>
                </a:lnTo>
                <a:lnTo>
                  <a:pt x="255997" y="120730"/>
                </a:lnTo>
                <a:lnTo>
                  <a:pt x="255886" y="130027"/>
                </a:lnTo>
                <a:lnTo>
                  <a:pt x="255374" y="139343"/>
                </a:lnTo>
                <a:lnTo>
                  <a:pt x="254475" y="148679"/>
                </a:lnTo>
                <a:lnTo>
                  <a:pt x="253203" y="158040"/>
                </a:lnTo>
                <a:lnTo>
                  <a:pt x="251571" y="167429"/>
                </a:lnTo>
                <a:lnTo>
                  <a:pt x="249594" y="176849"/>
                </a:lnTo>
                <a:lnTo>
                  <a:pt x="247287" y="186303"/>
                </a:lnTo>
                <a:lnTo>
                  <a:pt x="244663" y="195794"/>
                </a:lnTo>
                <a:lnTo>
                  <a:pt x="241737" y="205326"/>
                </a:lnTo>
                <a:lnTo>
                  <a:pt x="238523" y="214902"/>
                </a:lnTo>
                <a:lnTo>
                  <a:pt x="235034" y="224526"/>
                </a:lnTo>
                <a:lnTo>
                  <a:pt x="231286" y="234200"/>
                </a:lnTo>
                <a:lnTo>
                  <a:pt x="227292" y="243928"/>
                </a:lnTo>
                <a:lnTo>
                  <a:pt x="223067" y="253713"/>
                </a:lnTo>
                <a:lnTo>
                  <a:pt x="218624" y="263558"/>
                </a:lnTo>
                <a:lnTo>
                  <a:pt x="213978" y="273467"/>
                </a:lnTo>
                <a:lnTo>
                  <a:pt x="209143" y="283443"/>
                </a:lnTo>
                <a:lnTo>
                  <a:pt x="204133" y="293490"/>
                </a:lnTo>
                <a:lnTo>
                  <a:pt x="198962" y="303609"/>
                </a:lnTo>
                <a:lnTo>
                  <a:pt x="193645" y="313806"/>
                </a:lnTo>
                <a:lnTo>
                  <a:pt x="188196" y="324082"/>
                </a:lnTo>
                <a:lnTo>
                  <a:pt x="182628" y="334442"/>
                </a:lnTo>
                <a:lnTo>
                  <a:pt x="176957" y="344888"/>
                </a:lnTo>
                <a:lnTo>
                  <a:pt x="171195" y="355424"/>
                </a:lnTo>
                <a:lnTo>
                  <a:pt x="165358" y="366054"/>
                </a:lnTo>
                <a:lnTo>
                  <a:pt x="159460" y="376779"/>
                </a:lnTo>
                <a:lnTo>
                  <a:pt x="153514" y="387604"/>
                </a:lnTo>
                <a:lnTo>
                  <a:pt x="147535" y="398532"/>
                </a:lnTo>
                <a:lnTo>
                  <a:pt x="141537" y="409567"/>
                </a:lnTo>
                <a:lnTo>
                  <a:pt x="135534" y="420710"/>
                </a:lnTo>
                <a:lnTo>
                  <a:pt x="129541" y="431967"/>
                </a:lnTo>
                <a:lnTo>
                  <a:pt x="123571" y="443339"/>
                </a:lnTo>
                <a:lnTo>
                  <a:pt x="117639" y="454831"/>
                </a:lnTo>
                <a:lnTo>
                  <a:pt x="111759" y="466445"/>
                </a:lnTo>
                <a:lnTo>
                  <a:pt x="105945" y="478185"/>
                </a:lnTo>
                <a:lnTo>
                  <a:pt x="100211" y="490054"/>
                </a:lnTo>
                <a:lnTo>
                  <a:pt x="94571" y="502055"/>
                </a:lnTo>
                <a:lnTo>
                  <a:pt x="89040" y="514192"/>
                </a:lnTo>
                <a:lnTo>
                  <a:pt x="83632" y="526468"/>
                </a:lnTo>
                <a:lnTo>
                  <a:pt x="78361" y="538886"/>
                </a:lnTo>
                <a:lnTo>
                  <a:pt x="73241" y="551449"/>
                </a:lnTo>
                <a:lnTo>
                  <a:pt x="68286" y="564161"/>
                </a:lnTo>
                <a:lnTo>
                  <a:pt x="63510" y="577025"/>
                </a:lnTo>
                <a:lnTo>
                  <a:pt x="58928" y="590044"/>
                </a:lnTo>
                <a:lnTo>
                  <a:pt x="54554" y="603222"/>
                </a:lnTo>
                <a:lnTo>
                  <a:pt x="50402" y="616562"/>
                </a:lnTo>
                <a:lnTo>
                  <a:pt x="46486" y="630066"/>
                </a:lnTo>
                <a:lnTo>
                  <a:pt x="42820" y="643739"/>
                </a:lnTo>
                <a:lnTo>
                  <a:pt x="39418" y="657583"/>
                </a:lnTo>
                <a:lnTo>
                  <a:pt x="36295" y="671603"/>
                </a:lnTo>
                <a:lnTo>
                  <a:pt x="33465" y="685800"/>
                </a:lnTo>
                <a:lnTo>
                  <a:pt x="28304" y="714443"/>
                </a:lnTo>
                <a:lnTo>
                  <a:pt x="23544" y="743218"/>
                </a:lnTo>
                <a:lnTo>
                  <a:pt x="19192" y="772117"/>
                </a:lnTo>
                <a:lnTo>
                  <a:pt x="15260" y="801130"/>
                </a:lnTo>
                <a:lnTo>
                  <a:pt x="11755" y="830251"/>
                </a:lnTo>
                <a:lnTo>
                  <a:pt x="8688" y="859471"/>
                </a:lnTo>
                <a:lnTo>
                  <a:pt x="6068" y="888782"/>
                </a:lnTo>
                <a:lnTo>
                  <a:pt x="3904" y="918177"/>
                </a:lnTo>
                <a:lnTo>
                  <a:pt x="2206" y="947646"/>
                </a:lnTo>
                <a:lnTo>
                  <a:pt x="983" y="977182"/>
                </a:lnTo>
                <a:lnTo>
                  <a:pt x="245" y="1006777"/>
                </a:lnTo>
                <a:lnTo>
                  <a:pt x="0" y="1036423"/>
                </a:lnTo>
                <a:lnTo>
                  <a:pt x="258" y="1066111"/>
                </a:lnTo>
                <a:lnTo>
                  <a:pt x="1029" y="1095835"/>
                </a:lnTo>
                <a:lnTo>
                  <a:pt x="2322" y="1125584"/>
                </a:lnTo>
                <a:lnTo>
                  <a:pt x="4146" y="1155353"/>
                </a:lnTo>
                <a:lnTo>
                  <a:pt x="6511" y="1185132"/>
                </a:lnTo>
                <a:lnTo>
                  <a:pt x="9426" y="1214913"/>
                </a:lnTo>
                <a:lnTo>
                  <a:pt x="12900" y="1244688"/>
                </a:lnTo>
                <a:lnTo>
                  <a:pt x="16943" y="1274450"/>
                </a:lnTo>
                <a:lnTo>
                  <a:pt x="21564" y="1304190"/>
                </a:lnTo>
                <a:lnTo>
                  <a:pt x="26773" y="1333900"/>
                </a:lnTo>
                <a:lnTo>
                  <a:pt x="32579" y="1363572"/>
                </a:lnTo>
                <a:lnTo>
                  <a:pt x="38991" y="1393199"/>
                </a:lnTo>
                <a:lnTo>
                  <a:pt x="46018" y="1422771"/>
                </a:lnTo>
                <a:lnTo>
                  <a:pt x="53671" y="1452281"/>
                </a:lnTo>
                <a:lnTo>
                  <a:pt x="61958" y="1481721"/>
                </a:lnTo>
                <a:lnTo>
                  <a:pt x="70889" y="1511082"/>
                </a:lnTo>
                <a:lnTo>
                  <a:pt x="80473" y="1540357"/>
                </a:lnTo>
                <a:lnTo>
                  <a:pt x="90719" y="1569538"/>
                </a:lnTo>
                <a:lnTo>
                  <a:pt x="101638" y="1598617"/>
                </a:lnTo>
                <a:lnTo>
                  <a:pt x="113237" y="1627584"/>
                </a:lnTo>
                <a:lnTo>
                  <a:pt x="125528" y="1656434"/>
                </a:lnTo>
                <a:lnTo>
                  <a:pt x="138518" y="1685156"/>
                </a:lnTo>
                <a:lnTo>
                  <a:pt x="152218" y="1713744"/>
                </a:lnTo>
                <a:lnTo>
                  <a:pt x="166636" y="1742189"/>
                </a:lnTo>
                <a:lnTo>
                  <a:pt x="181783" y="1770483"/>
                </a:lnTo>
                <a:lnTo>
                  <a:pt x="197667" y="1798618"/>
                </a:lnTo>
                <a:lnTo>
                  <a:pt x="214298" y="1826587"/>
                </a:lnTo>
                <a:lnTo>
                  <a:pt x="231686" y="1854380"/>
                </a:lnTo>
                <a:lnTo>
                  <a:pt x="249839" y="1881990"/>
                </a:lnTo>
                <a:lnTo>
                  <a:pt x="268767" y="1909409"/>
                </a:lnTo>
                <a:lnTo>
                  <a:pt x="288480" y="1936628"/>
                </a:lnTo>
                <a:lnTo>
                  <a:pt x="308986" y="1963641"/>
                </a:lnTo>
                <a:lnTo>
                  <a:pt x="330295" y="1990437"/>
                </a:lnTo>
                <a:lnTo>
                  <a:pt x="352417" y="2017011"/>
                </a:lnTo>
                <a:lnTo>
                  <a:pt x="375361" y="2043353"/>
                </a:lnTo>
                <a:lnTo>
                  <a:pt x="399136" y="2069455"/>
                </a:lnTo>
                <a:lnTo>
                  <a:pt x="423752" y="2095310"/>
                </a:lnTo>
                <a:lnTo>
                  <a:pt x="449218" y="2120909"/>
                </a:lnTo>
                <a:lnTo>
                  <a:pt x="475543" y="2146244"/>
                </a:lnTo>
                <a:lnTo>
                  <a:pt x="502737" y="2171307"/>
                </a:lnTo>
                <a:lnTo>
                  <a:pt x="530809" y="2196090"/>
                </a:lnTo>
                <a:lnTo>
                  <a:pt x="559768" y="2220586"/>
                </a:lnTo>
                <a:lnTo>
                  <a:pt x="589625" y="2244785"/>
                </a:lnTo>
                <a:lnTo>
                  <a:pt x="620388" y="2268680"/>
                </a:lnTo>
                <a:lnTo>
                  <a:pt x="652066" y="2292263"/>
                </a:lnTo>
                <a:lnTo>
                  <a:pt x="684670" y="2315526"/>
                </a:lnTo>
                <a:lnTo>
                  <a:pt x="718207" y="2338460"/>
                </a:lnTo>
                <a:lnTo>
                  <a:pt x="752689" y="2361058"/>
                </a:lnTo>
                <a:lnTo>
                  <a:pt x="788124" y="2383312"/>
                </a:lnTo>
                <a:lnTo>
                  <a:pt x="824521" y="2405213"/>
                </a:lnTo>
                <a:lnTo>
                  <a:pt x="861890" y="2426753"/>
                </a:lnTo>
                <a:lnTo>
                  <a:pt x="900240" y="2447925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route_inflammation_to_perivascular_tip"/>
          <p:cNvSpPr/>
          <p:nvPr/>
        </p:nvSpPr>
        <p:spPr>
          <a:xfrm>
            <a:off x="8699689" y="5224269"/>
            <a:ext cx="101411" cy="81156"/>
          </a:xfrm>
          <a:custGeom>
            <a:avLst/>
            <a:gdLst/>
            <a:ahLst/>
            <a:cxnLst/>
            <a:rect l="0" t="0" r="r" b="b"/>
            <a:pathLst>
              <a:path w="101411" h="81156">
                <a:moveTo>
                  <a:pt x="101411" y="81156"/>
                </a:moveTo>
                <a:lnTo>
                  <a:pt x="0" y="65665"/>
                </a:lnTo>
                <a:lnTo>
                  <a:pt x="38659" y="0"/>
                </a:lnTo>
                <a:close/>
              </a:path>
            </a:pathLst>
          </a:custGeom>
          <a:solidFill>
            <a:srgbClr val="A82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route_tmao_to_macrophage"/>
          <p:cNvSpPr/>
          <p:nvPr/>
        </p:nvSpPr>
        <p:spPr>
          <a:xfrm>
            <a:off x="1019175" y="4143375"/>
            <a:ext cx="1590675" cy="95"/>
          </a:xfrm>
          <a:custGeom>
            <a:avLst/>
            <a:gdLst/>
            <a:ahLst/>
            <a:cxnLst/>
            <a:rect l="0" t="0" r="r" b="b"/>
            <a:pathLst>
              <a:path w="1590675" h="95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22859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route_tmao_to_macrophage_tip"/>
          <p:cNvSpPr/>
          <p:nvPr/>
        </p:nvSpPr>
        <p:spPr>
          <a:xfrm>
            <a:off x="2514600" y="41052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route_macrophage_to_paracrine"/>
          <p:cNvSpPr/>
          <p:nvPr/>
        </p:nvSpPr>
        <p:spPr>
          <a:xfrm>
            <a:off x="3457575" y="4143375"/>
            <a:ext cx="876300" cy="95"/>
          </a:xfrm>
          <a:custGeom>
            <a:avLst/>
            <a:gdLst/>
            <a:ahLst/>
            <a:cxnLst/>
            <a:rect l="0" t="0" r="r" b="b"/>
            <a:pathLst>
              <a:path w="876300" h="95">
                <a:moveTo>
                  <a:pt x="0" y="0"/>
                </a:moveTo>
                <a:lnTo>
                  <a:pt x="876300" y="0"/>
                </a:lnTo>
              </a:path>
            </a:pathLst>
          </a:custGeom>
          <a:noFill/>
          <a:ln w="22859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route_macrophage_to_paracrine_tip"/>
          <p:cNvSpPr/>
          <p:nvPr/>
        </p:nvSpPr>
        <p:spPr>
          <a:xfrm>
            <a:off x="4238625" y="41052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route_paracrine_to_pasmsc"/>
          <p:cNvSpPr/>
          <p:nvPr/>
        </p:nvSpPr>
        <p:spPr>
          <a:xfrm>
            <a:off x="4981575" y="4181475"/>
            <a:ext cx="1047750" cy="95"/>
          </a:xfrm>
          <a:custGeom>
            <a:avLst/>
            <a:gdLst/>
            <a:ahLst/>
            <a:cxnLst/>
            <a:rect l="0" t="0" r="r" b="b"/>
            <a:pathLst>
              <a:path w="1047750" h="95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22859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route_paracrine_to_pasmsc_tip"/>
          <p:cNvSpPr/>
          <p:nvPr/>
        </p:nvSpPr>
        <p:spPr>
          <a:xfrm>
            <a:off x="5934075" y="41433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route_pasmsc_to_media"/>
          <p:cNvSpPr/>
          <p:nvPr/>
        </p:nvSpPr>
        <p:spPr>
          <a:xfrm>
            <a:off x="8058150" y="3552825"/>
            <a:ext cx="2733675" cy="619603"/>
          </a:xfrm>
          <a:custGeom>
            <a:avLst/>
            <a:gdLst/>
            <a:ahLst/>
            <a:cxnLst/>
            <a:rect l="0" t="0" r="r" b="b"/>
            <a:pathLst>
              <a:path w="2733675" h="619603">
                <a:moveTo>
                  <a:pt x="0" y="619125"/>
                </a:moveTo>
                <a:lnTo>
                  <a:pt x="41235" y="619603"/>
                </a:lnTo>
                <a:lnTo>
                  <a:pt x="82778" y="619268"/>
                </a:lnTo>
                <a:lnTo>
                  <a:pt x="124617" y="618144"/>
                </a:lnTo>
                <a:lnTo>
                  <a:pt x="166739" y="616253"/>
                </a:lnTo>
                <a:lnTo>
                  <a:pt x="209131" y="613620"/>
                </a:lnTo>
                <a:lnTo>
                  <a:pt x="251781" y="610269"/>
                </a:lnTo>
                <a:lnTo>
                  <a:pt x="294675" y="606224"/>
                </a:lnTo>
                <a:lnTo>
                  <a:pt x="337803" y="601507"/>
                </a:lnTo>
                <a:lnTo>
                  <a:pt x="381150" y="596144"/>
                </a:lnTo>
                <a:lnTo>
                  <a:pt x="424704" y="590157"/>
                </a:lnTo>
                <a:lnTo>
                  <a:pt x="468452" y="583571"/>
                </a:lnTo>
                <a:lnTo>
                  <a:pt x="512383" y="576409"/>
                </a:lnTo>
                <a:lnTo>
                  <a:pt x="556482" y="568695"/>
                </a:lnTo>
                <a:lnTo>
                  <a:pt x="600738" y="560453"/>
                </a:lnTo>
                <a:lnTo>
                  <a:pt x="645138" y="551706"/>
                </a:lnTo>
                <a:lnTo>
                  <a:pt x="689670" y="542479"/>
                </a:lnTo>
                <a:lnTo>
                  <a:pt x="734319" y="532794"/>
                </a:lnTo>
                <a:lnTo>
                  <a:pt x="779075" y="522677"/>
                </a:lnTo>
                <a:lnTo>
                  <a:pt x="823924" y="512150"/>
                </a:lnTo>
                <a:lnTo>
                  <a:pt x="868854" y="501237"/>
                </a:lnTo>
                <a:lnTo>
                  <a:pt x="913852" y="489962"/>
                </a:lnTo>
                <a:lnTo>
                  <a:pt x="958905" y="478350"/>
                </a:lnTo>
                <a:lnTo>
                  <a:pt x="1004001" y="466423"/>
                </a:lnTo>
                <a:lnTo>
                  <a:pt x="1049127" y="454205"/>
                </a:lnTo>
                <a:lnTo>
                  <a:pt x="1094270" y="441720"/>
                </a:lnTo>
                <a:lnTo>
                  <a:pt x="1139418" y="428993"/>
                </a:lnTo>
                <a:lnTo>
                  <a:pt x="1184559" y="416046"/>
                </a:lnTo>
                <a:lnTo>
                  <a:pt x="1229678" y="402903"/>
                </a:lnTo>
                <a:lnTo>
                  <a:pt x="1274765" y="389589"/>
                </a:lnTo>
                <a:lnTo>
                  <a:pt x="1319806" y="376127"/>
                </a:lnTo>
                <a:lnTo>
                  <a:pt x="1364789" y="362540"/>
                </a:lnTo>
                <a:lnTo>
                  <a:pt x="1409700" y="348853"/>
                </a:lnTo>
                <a:lnTo>
                  <a:pt x="1454528" y="335089"/>
                </a:lnTo>
                <a:lnTo>
                  <a:pt x="1499259" y="321273"/>
                </a:lnTo>
                <a:lnTo>
                  <a:pt x="1543881" y="307427"/>
                </a:lnTo>
                <a:lnTo>
                  <a:pt x="1588382" y="293575"/>
                </a:lnTo>
                <a:lnTo>
                  <a:pt x="1632749" y="279742"/>
                </a:lnTo>
                <a:lnTo>
                  <a:pt x="1676968" y="265951"/>
                </a:lnTo>
                <a:lnTo>
                  <a:pt x="1721028" y="252226"/>
                </a:lnTo>
                <a:lnTo>
                  <a:pt x="1764916" y="238590"/>
                </a:lnTo>
                <a:lnTo>
                  <a:pt x="1808618" y="225068"/>
                </a:lnTo>
                <a:lnTo>
                  <a:pt x="1852124" y="211683"/>
                </a:lnTo>
                <a:lnTo>
                  <a:pt x="1895419" y="198458"/>
                </a:lnTo>
                <a:lnTo>
                  <a:pt x="1938491" y="185419"/>
                </a:lnTo>
                <a:lnTo>
                  <a:pt x="1981328" y="172588"/>
                </a:lnTo>
                <a:lnTo>
                  <a:pt x="2023917" y="159989"/>
                </a:lnTo>
                <a:lnTo>
                  <a:pt x="2066245" y="147646"/>
                </a:lnTo>
                <a:lnTo>
                  <a:pt x="2108299" y="135582"/>
                </a:lnTo>
                <a:lnTo>
                  <a:pt x="2150068" y="123823"/>
                </a:lnTo>
                <a:lnTo>
                  <a:pt x="2191538" y="112390"/>
                </a:lnTo>
                <a:lnTo>
                  <a:pt x="2232696" y="101308"/>
                </a:lnTo>
                <a:lnTo>
                  <a:pt x="2273531" y="90601"/>
                </a:lnTo>
                <a:lnTo>
                  <a:pt x="2314029" y="80293"/>
                </a:lnTo>
                <a:lnTo>
                  <a:pt x="2354178" y="70407"/>
                </a:lnTo>
                <a:lnTo>
                  <a:pt x="2393965" y="60967"/>
                </a:lnTo>
                <a:lnTo>
                  <a:pt x="2433377" y="51997"/>
                </a:lnTo>
                <a:lnTo>
                  <a:pt x="2472402" y="43520"/>
                </a:lnTo>
                <a:lnTo>
                  <a:pt x="2511028" y="35561"/>
                </a:lnTo>
                <a:lnTo>
                  <a:pt x="2549240" y="28143"/>
                </a:lnTo>
                <a:lnTo>
                  <a:pt x="2587028" y="21289"/>
                </a:lnTo>
                <a:lnTo>
                  <a:pt x="2624378" y="15025"/>
                </a:lnTo>
                <a:lnTo>
                  <a:pt x="2661278" y="9372"/>
                </a:lnTo>
                <a:lnTo>
                  <a:pt x="2697714" y="4356"/>
                </a:lnTo>
                <a:lnTo>
                  <a:pt x="2733675" y="0"/>
                </a:lnTo>
              </a:path>
            </a:pathLst>
          </a:custGeom>
          <a:noFill/>
          <a:ln w="22859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route_pasmsc_to_media_tip"/>
          <p:cNvSpPr/>
          <p:nvPr/>
        </p:nvSpPr>
        <p:spPr>
          <a:xfrm>
            <a:off x="10692089" y="3528805"/>
            <a:ext cx="99736" cy="75409"/>
          </a:xfrm>
          <a:custGeom>
            <a:avLst/>
            <a:gdLst/>
            <a:ahLst/>
            <a:cxnLst/>
            <a:rect l="0" t="0" r="r" b="b"/>
            <a:pathLst>
              <a:path w="99736" h="75409">
                <a:moveTo>
                  <a:pt x="99736" y="24020"/>
                </a:moveTo>
                <a:lnTo>
                  <a:pt x="10948" y="75409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route_scfa_ffar"/>
          <p:cNvSpPr/>
          <p:nvPr/>
        </p:nvSpPr>
        <p:spPr>
          <a:xfrm>
            <a:off x="1304925" y="5724525"/>
            <a:ext cx="1209675" cy="95"/>
          </a:xfrm>
          <a:custGeom>
            <a:avLst/>
            <a:gdLst/>
            <a:ahLst/>
            <a:cxnLst/>
            <a:rect l="0" t="0" r="r" b="b"/>
            <a:pathLst>
              <a:path w="1209675" h="95">
                <a:moveTo>
                  <a:pt x="0" y="0"/>
                </a:moveTo>
                <a:lnTo>
                  <a:pt x="1209675" y="0"/>
                </a:lnTo>
              </a:path>
            </a:pathLst>
          </a:custGeom>
          <a:noFill/>
          <a:ln w="22859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route_scfa_ffar_tip"/>
          <p:cNvSpPr/>
          <p:nvPr/>
        </p:nvSpPr>
        <p:spPr>
          <a:xfrm>
            <a:off x="2419350" y="56864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route_ffar_myeloid"/>
          <p:cNvSpPr/>
          <p:nvPr/>
        </p:nvSpPr>
        <p:spPr>
          <a:xfrm>
            <a:off x="3467100" y="5724525"/>
            <a:ext cx="5114925" cy="95"/>
          </a:xfrm>
          <a:custGeom>
            <a:avLst/>
            <a:gdLst/>
            <a:ahLst/>
            <a:cxnLst/>
            <a:rect l="0" t="0" r="r" b="b"/>
            <a:pathLst>
              <a:path w="5114925" h="95">
                <a:moveTo>
                  <a:pt x="0" y="0"/>
                </a:moveTo>
                <a:lnTo>
                  <a:pt x="5114925" y="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route_ffar_myeloid_tip"/>
          <p:cNvSpPr/>
          <p:nvPr/>
        </p:nvSpPr>
        <p:spPr>
          <a:xfrm>
            <a:off x="8486775" y="56864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route_butyrate_hdac"/>
          <p:cNvSpPr/>
          <p:nvPr/>
        </p:nvSpPr>
        <p:spPr>
          <a:xfrm>
            <a:off x="1304925" y="5791200"/>
            <a:ext cx="1028700" cy="438150"/>
          </a:xfrm>
          <a:custGeom>
            <a:avLst/>
            <a:gdLst/>
            <a:ahLst/>
            <a:cxnLst/>
            <a:rect l="0" t="0" r="r" b="b"/>
            <a:pathLst>
              <a:path w="1028700" h="438150">
                <a:moveTo>
                  <a:pt x="0" y="0"/>
                </a:moveTo>
                <a:lnTo>
                  <a:pt x="8375" y="10268"/>
                </a:lnTo>
                <a:lnTo>
                  <a:pt x="16549" y="20532"/>
                </a:lnTo>
                <a:lnTo>
                  <a:pt x="24542" y="30785"/>
                </a:lnTo>
                <a:lnTo>
                  <a:pt x="32377" y="41023"/>
                </a:lnTo>
                <a:lnTo>
                  <a:pt x="40075" y="51241"/>
                </a:lnTo>
                <a:lnTo>
                  <a:pt x="47658" y="61434"/>
                </a:lnTo>
                <a:lnTo>
                  <a:pt x="55147" y="71597"/>
                </a:lnTo>
                <a:lnTo>
                  <a:pt x="62564" y="81725"/>
                </a:lnTo>
                <a:lnTo>
                  <a:pt x="69930" y="91813"/>
                </a:lnTo>
                <a:lnTo>
                  <a:pt x="77267" y="101856"/>
                </a:lnTo>
                <a:lnTo>
                  <a:pt x="84597" y="111848"/>
                </a:lnTo>
                <a:lnTo>
                  <a:pt x="91941" y="121786"/>
                </a:lnTo>
                <a:lnTo>
                  <a:pt x="99321" y="131663"/>
                </a:lnTo>
                <a:lnTo>
                  <a:pt x="106758" y="141475"/>
                </a:lnTo>
                <a:lnTo>
                  <a:pt x="114274" y="151217"/>
                </a:lnTo>
                <a:lnTo>
                  <a:pt x="121890" y="160883"/>
                </a:lnTo>
                <a:lnTo>
                  <a:pt x="129629" y="170470"/>
                </a:lnTo>
                <a:lnTo>
                  <a:pt x="137511" y="179971"/>
                </a:lnTo>
                <a:lnTo>
                  <a:pt x="145559" y="189382"/>
                </a:lnTo>
                <a:lnTo>
                  <a:pt x="153793" y="198697"/>
                </a:lnTo>
                <a:lnTo>
                  <a:pt x="162236" y="207912"/>
                </a:lnTo>
                <a:lnTo>
                  <a:pt x="170908" y="217023"/>
                </a:lnTo>
                <a:lnTo>
                  <a:pt x="179833" y="226022"/>
                </a:lnTo>
                <a:lnTo>
                  <a:pt x="189030" y="234907"/>
                </a:lnTo>
                <a:lnTo>
                  <a:pt x="198523" y="243671"/>
                </a:lnTo>
                <a:lnTo>
                  <a:pt x="208331" y="252309"/>
                </a:lnTo>
                <a:lnTo>
                  <a:pt x="218478" y="260818"/>
                </a:lnTo>
                <a:lnTo>
                  <a:pt x="228984" y="269191"/>
                </a:lnTo>
                <a:lnTo>
                  <a:pt x="239871" y="277423"/>
                </a:lnTo>
                <a:lnTo>
                  <a:pt x="251161" y="285510"/>
                </a:lnTo>
                <a:lnTo>
                  <a:pt x="262875" y="293447"/>
                </a:lnTo>
                <a:lnTo>
                  <a:pt x="275034" y="301228"/>
                </a:lnTo>
                <a:lnTo>
                  <a:pt x="287662" y="308849"/>
                </a:lnTo>
                <a:lnTo>
                  <a:pt x="300778" y="316304"/>
                </a:lnTo>
                <a:lnTo>
                  <a:pt x="314405" y="323589"/>
                </a:lnTo>
                <a:lnTo>
                  <a:pt x="328564" y="330698"/>
                </a:lnTo>
                <a:lnTo>
                  <a:pt x="343276" y="337627"/>
                </a:lnTo>
                <a:lnTo>
                  <a:pt x="358564" y="344371"/>
                </a:lnTo>
                <a:lnTo>
                  <a:pt x="374449" y="350923"/>
                </a:lnTo>
                <a:lnTo>
                  <a:pt x="390953" y="357281"/>
                </a:lnTo>
                <a:lnTo>
                  <a:pt x="408096" y="363437"/>
                </a:lnTo>
                <a:lnTo>
                  <a:pt x="425902" y="369388"/>
                </a:lnTo>
                <a:lnTo>
                  <a:pt x="444390" y="375129"/>
                </a:lnTo>
                <a:lnTo>
                  <a:pt x="463583" y="380654"/>
                </a:lnTo>
                <a:lnTo>
                  <a:pt x="483503" y="385958"/>
                </a:lnTo>
                <a:lnTo>
                  <a:pt x="504171" y="391036"/>
                </a:lnTo>
                <a:lnTo>
                  <a:pt x="525608" y="395884"/>
                </a:lnTo>
                <a:lnTo>
                  <a:pt x="547836" y="400496"/>
                </a:lnTo>
                <a:lnTo>
                  <a:pt x="570877" y="404868"/>
                </a:lnTo>
                <a:lnTo>
                  <a:pt x="594753" y="408994"/>
                </a:lnTo>
                <a:lnTo>
                  <a:pt x="619484" y="412869"/>
                </a:lnTo>
                <a:lnTo>
                  <a:pt x="645093" y="416489"/>
                </a:lnTo>
                <a:lnTo>
                  <a:pt x="671601" y="419847"/>
                </a:lnTo>
                <a:lnTo>
                  <a:pt x="699030" y="422940"/>
                </a:lnTo>
                <a:lnTo>
                  <a:pt x="727401" y="425762"/>
                </a:lnTo>
                <a:lnTo>
                  <a:pt x="756735" y="428309"/>
                </a:lnTo>
                <a:lnTo>
                  <a:pt x="787055" y="430574"/>
                </a:lnTo>
                <a:lnTo>
                  <a:pt x="818382" y="432554"/>
                </a:lnTo>
                <a:lnTo>
                  <a:pt x="850738" y="434243"/>
                </a:lnTo>
                <a:lnTo>
                  <a:pt x="884144" y="435636"/>
                </a:lnTo>
                <a:lnTo>
                  <a:pt x="918621" y="436728"/>
                </a:lnTo>
                <a:lnTo>
                  <a:pt x="954192" y="437515"/>
                </a:lnTo>
                <a:lnTo>
                  <a:pt x="990878" y="437990"/>
                </a:lnTo>
                <a:lnTo>
                  <a:pt x="1028700" y="438150"/>
                </a:lnTo>
              </a:path>
            </a:pathLst>
          </a:custGeom>
          <a:noFill/>
          <a:ln w="22859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route_butyrate_hdac_tip"/>
          <p:cNvSpPr/>
          <p:nvPr/>
        </p:nvSpPr>
        <p:spPr>
          <a:xfrm>
            <a:off x="2237727" y="6189600"/>
            <a:ext cx="95898" cy="76188"/>
          </a:xfrm>
          <a:custGeom>
            <a:avLst/>
            <a:gdLst/>
            <a:ahLst/>
            <a:cxnLst/>
            <a:rect l="0" t="0" r="r" b="b"/>
            <a:pathLst>
              <a:path w="95898" h="76188">
                <a:moveTo>
                  <a:pt x="95898" y="39750"/>
                </a:moveTo>
                <a:lnTo>
                  <a:pt x="0" y="76188"/>
                </a:lnTo>
                <a:lnTo>
                  <a:pt x="1325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route_hdac_acetylation"/>
          <p:cNvSpPr/>
          <p:nvPr/>
        </p:nvSpPr>
        <p:spPr>
          <a:xfrm>
            <a:off x="3543300" y="6153150"/>
            <a:ext cx="371475" cy="95"/>
          </a:xfrm>
          <a:custGeom>
            <a:avLst/>
            <a:gdLst/>
            <a:ahLst/>
            <a:cxnLst/>
            <a:rect l="0" t="0" r="r" b="b"/>
            <a:pathLst>
              <a:path w="371475" h="95">
                <a:moveTo>
                  <a:pt x="0" y="0"/>
                </a:moveTo>
                <a:lnTo>
                  <a:pt x="371475" y="0"/>
                </a:lnTo>
              </a:path>
            </a:pathLst>
          </a:custGeom>
          <a:noFill/>
          <a:ln w="22859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route_hdac_acetylation_tip"/>
          <p:cNvSpPr/>
          <p:nvPr/>
        </p:nvSpPr>
        <p:spPr>
          <a:xfrm>
            <a:off x="3819525" y="6115050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route_acetylation_treg"/>
          <p:cNvSpPr/>
          <p:nvPr/>
        </p:nvSpPr>
        <p:spPr>
          <a:xfrm>
            <a:off x="4695825" y="6153150"/>
            <a:ext cx="495300" cy="95"/>
          </a:xfrm>
          <a:custGeom>
            <a:avLst/>
            <a:gdLst/>
            <a:ahLst/>
            <a:cxnLst/>
            <a:rect l="0" t="0" r="r" b="b"/>
            <a:pathLst>
              <a:path w="495300" h="95">
                <a:moveTo>
                  <a:pt x="0" y="0"/>
                </a:moveTo>
                <a:lnTo>
                  <a:pt x="495300" y="0"/>
                </a:lnTo>
              </a:path>
            </a:pathLst>
          </a:custGeom>
          <a:noFill/>
          <a:ln w="22859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route_acetylation_treg_tip"/>
          <p:cNvSpPr/>
          <p:nvPr/>
        </p:nvSpPr>
        <p:spPr>
          <a:xfrm>
            <a:off x="5095875" y="6115050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route_treg_support_to_cell"/>
          <p:cNvSpPr/>
          <p:nvPr/>
        </p:nvSpPr>
        <p:spPr>
          <a:xfrm>
            <a:off x="6848475" y="6227523"/>
            <a:ext cx="3276600" cy="408648"/>
          </a:xfrm>
          <a:custGeom>
            <a:avLst/>
            <a:gdLst/>
            <a:ahLst/>
            <a:cxnLst/>
            <a:rect l="0" t="0" r="r" b="b"/>
            <a:pathLst>
              <a:path w="3276600" h="408648">
                <a:moveTo>
                  <a:pt x="0" y="1827"/>
                </a:moveTo>
                <a:lnTo>
                  <a:pt x="45117" y="482"/>
                </a:lnTo>
                <a:lnTo>
                  <a:pt x="90283" y="0"/>
                </a:lnTo>
                <a:lnTo>
                  <a:pt x="135505" y="350"/>
                </a:lnTo>
                <a:lnTo>
                  <a:pt x="180789" y="1501"/>
                </a:lnTo>
                <a:lnTo>
                  <a:pt x="226143" y="3423"/>
                </a:lnTo>
                <a:lnTo>
                  <a:pt x="271574" y="6086"/>
                </a:lnTo>
                <a:lnTo>
                  <a:pt x="317089" y="9458"/>
                </a:lnTo>
                <a:lnTo>
                  <a:pt x="362694" y="13510"/>
                </a:lnTo>
                <a:lnTo>
                  <a:pt x="408397" y="18210"/>
                </a:lnTo>
                <a:lnTo>
                  <a:pt x="454205" y="23529"/>
                </a:lnTo>
                <a:lnTo>
                  <a:pt x="500124" y="29435"/>
                </a:lnTo>
                <a:lnTo>
                  <a:pt x="546162" y="35899"/>
                </a:lnTo>
                <a:lnTo>
                  <a:pt x="592325" y="42889"/>
                </a:lnTo>
                <a:lnTo>
                  <a:pt x="638621" y="50376"/>
                </a:lnTo>
                <a:lnTo>
                  <a:pt x="685057" y="58328"/>
                </a:lnTo>
                <a:lnTo>
                  <a:pt x="731639" y="66716"/>
                </a:lnTo>
                <a:lnTo>
                  <a:pt x="778375" y="75508"/>
                </a:lnTo>
                <a:lnTo>
                  <a:pt x="825271" y="84674"/>
                </a:lnTo>
                <a:lnTo>
                  <a:pt x="872334" y="94184"/>
                </a:lnTo>
                <a:lnTo>
                  <a:pt x="919572" y="104006"/>
                </a:lnTo>
                <a:lnTo>
                  <a:pt x="966991" y="114112"/>
                </a:lnTo>
                <a:lnTo>
                  <a:pt x="1014599" y="124469"/>
                </a:lnTo>
                <a:lnTo>
                  <a:pt x="1062401" y="135048"/>
                </a:lnTo>
                <a:lnTo>
                  <a:pt x="1110407" y="145818"/>
                </a:lnTo>
                <a:lnTo>
                  <a:pt x="1158621" y="156748"/>
                </a:lnTo>
                <a:lnTo>
                  <a:pt x="1207052" y="167808"/>
                </a:lnTo>
                <a:lnTo>
                  <a:pt x="1255706" y="178968"/>
                </a:lnTo>
                <a:lnTo>
                  <a:pt x="1304590" y="190197"/>
                </a:lnTo>
                <a:lnTo>
                  <a:pt x="1353712" y="201463"/>
                </a:lnTo>
                <a:lnTo>
                  <a:pt x="1403077" y="212738"/>
                </a:lnTo>
                <a:lnTo>
                  <a:pt x="1452694" y="223990"/>
                </a:lnTo>
                <a:lnTo>
                  <a:pt x="1502569" y="235189"/>
                </a:lnTo>
                <a:lnTo>
                  <a:pt x="1552709" y="246304"/>
                </a:lnTo>
                <a:lnTo>
                  <a:pt x="1603121" y="257305"/>
                </a:lnTo>
                <a:lnTo>
                  <a:pt x="1653812" y="268161"/>
                </a:lnTo>
                <a:lnTo>
                  <a:pt x="1704789" y="278842"/>
                </a:lnTo>
                <a:lnTo>
                  <a:pt x="1756059" y="289317"/>
                </a:lnTo>
                <a:lnTo>
                  <a:pt x="1807629" y="299556"/>
                </a:lnTo>
                <a:lnTo>
                  <a:pt x="1859506" y="309528"/>
                </a:lnTo>
                <a:lnTo>
                  <a:pt x="1911697" y="319203"/>
                </a:lnTo>
                <a:lnTo>
                  <a:pt x="1964209" y="328549"/>
                </a:lnTo>
                <a:lnTo>
                  <a:pt x="2017049" y="337538"/>
                </a:lnTo>
                <a:lnTo>
                  <a:pt x="2070224" y="346137"/>
                </a:lnTo>
                <a:lnTo>
                  <a:pt x="2123740" y="354317"/>
                </a:lnTo>
                <a:lnTo>
                  <a:pt x="2177605" y="362047"/>
                </a:lnTo>
                <a:lnTo>
                  <a:pt x="2231827" y="369296"/>
                </a:lnTo>
                <a:lnTo>
                  <a:pt x="2286410" y="376034"/>
                </a:lnTo>
                <a:lnTo>
                  <a:pt x="2341364" y="382231"/>
                </a:lnTo>
                <a:lnTo>
                  <a:pt x="2396694" y="387856"/>
                </a:lnTo>
                <a:lnTo>
                  <a:pt x="2452408" y="392878"/>
                </a:lnTo>
                <a:lnTo>
                  <a:pt x="2508513" y="397267"/>
                </a:lnTo>
                <a:lnTo>
                  <a:pt x="2565016" y="400993"/>
                </a:lnTo>
                <a:lnTo>
                  <a:pt x="2621923" y="404024"/>
                </a:lnTo>
                <a:lnTo>
                  <a:pt x="2679241" y="406331"/>
                </a:lnTo>
                <a:lnTo>
                  <a:pt x="2736978" y="407883"/>
                </a:lnTo>
                <a:lnTo>
                  <a:pt x="2795141" y="408648"/>
                </a:lnTo>
                <a:lnTo>
                  <a:pt x="2853736" y="408598"/>
                </a:lnTo>
                <a:lnTo>
                  <a:pt x="2912771" y="407701"/>
                </a:lnTo>
                <a:lnTo>
                  <a:pt x="2972252" y="405926"/>
                </a:lnTo>
                <a:lnTo>
                  <a:pt x="3032187" y="403244"/>
                </a:lnTo>
                <a:lnTo>
                  <a:pt x="3092582" y="399623"/>
                </a:lnTo>
                <a:lnTo>
                  <a:pt x="3153445" y="395034"/>
                </a:lnTo>
                <a:lnTo>
                  <a:pt x="3214782" y="389445"/>
                </a:lnTo>
                <a:lnTo>
                  <a:pt x="3276600" y="382827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route_treg_support_to_cell_tip"/>
          <p:cNvSpPr/>
          <p:nvPr/>
        </p:nvSpPr>
        <p:spPr>
          <a:xfrm>
            <a:off x="10026984" y="6580311"/>
            <a:ext cx="98091" cy="75936"/>
          </a:xfrm>
          <a:custGeom>
            <a:avLst/>
            <a:gdLst/>
            <a:ahLst/>
            <a:cxnLst/>
            <a:rect l="0" t="0" r="r" b="b"/>
            <a:pathLst>
              <a:path w="98091" h="75936">
                <a:moveTo>
                  <a:pt x="98091" y="30039"/>
                </a:moveTo>
                <a:lnTo>
                  <a:pt x="6343" y="75936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route_ba_fxr_candidate"/>
          <p:cNvSpPr/>
          <p:nvPr/>
        </p:nvSpPr>
        <p:spPr>
          <a:xfrm>
            <a:off x="1066800" y="7239000"/>
            <a:ext cx="2305050" cy="95"/>
          </a:xfrm>
          <a:custGeom>
            <a:avLst/>
            <a:gdLst/>
            <a:ahLst/>
            <a:cxnLst/>
            <a:rect l="0" t="0" r="r" b="b"/>
            <a:pathLst>
              <a:path w="2305050" h="95">
                <a:moveTo>
                  <a:pt x="0" y="0"/>
                </a:moveTo>
                <a:lnTo>
                  <a:pt x="2305050" y="0"/>
                </a:lnTo>
              </a:path>
            </a:pathLst>
          </a:custGeom>
          <a:noFill/>
          <a:ln w="20955" cap="rnd">
            <a:solidFill>
              <a:srgbClr val="B97724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route_ba_fxr_candidate_tip"/>
          <p:cNvSpPr/>
          <p:nvPr/>
        </p:nvSpPr>
        <p:spPr>
          <a:xfrm>
            <a:off x="3276600" y="7200900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B977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route_fxr_et1_inhibition"/>
          <p:cNvSpPr/>
          <p:nvPr/>
        </p:nvSpPr>
        <p:spPr>
          <a:xfrm>
            <a:off x="3933825" y="7210425"/>
            <a:ext cx="1504950" cy="95"/>
          </a:xfrm>
          <a:custGeom>
            <a:avLst/>
            <a:gdLst/>
            <a:ahLst/>
            <a:cxnLst/>
            <a:rect l="0" t="0" r="r" b="b"/>
            <a:pathLst>
              <a:path w="1504950" h="95">
                <a:moveTo>
                  <a:pt x="0" y="0"/>
                </a:moveTo>
                <a:lnTo>
                  <a:pt x="1504950" y="0"/>
                </a:lnTo>
              </a:path>
            </a:pathLst>
          </a:custGeom>
          <a:noFill/>
          <a:ln w="22859" cap="rnd">
            <a:solidFill>
              <a:srgbClr val="B97724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et1_inhibition_bar"/>
          <p:cNvSpPr/>
          <p:nvPr/>
        </p:nvSpPr>
        <p:spPr>
          <a:xfrm>
            <a:off x="5438775" y="7105650"/>
            <a:ext cx="95" cy="209550"/>
          </a:xfrm>
          <a:custGeom>
            <a:avLst/>
            <a:gdLst/>
            <a:ahLst/>
            <a:cxnLst/>
            <a:rect l="0" t="0" r="r" b="b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22859" cap="rnd">
            <a:solidFill>
              <a:srgbClr val="B97724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route_indole_ahr_candidate"/>
          <p:cNvSpPr/>
          <p:nvPr/>
        </p:nvSpPr>
        <p:spPr>
          <a:xfrm>
            <a:off x="1000125" y="7934325"/>
            <a:ext cx="2371725" cy="95"/>
          </a:xfrm>
          <a:custGeom>
            <a:avLst/>
            <a:gdLst/>
            <a:ahLst/>
            <a:cxnLst/>
            <a:rect l="0" t="0" r="r" b="b"/>
            <a:pathLst>
              <a:path w="2371725" h="95">
                <a:moveTo>
                  <a:pt x="0" y="0"/>
                </a:moveTo>
                <a:lnTo>
                  <a:pt x="2371725" y="0"/>
                </a:lnTo>
              </a:path>
            </a:pathLst>
          </a:custGeom>
          <a:noFill/>
          <a:ln w="20955" cap="rnd">
            <a:solidFill>
              <a:srgbClr val="7254A8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route_indole_ahr_candidate_tip"/>
          <p:cNvSpPr/>
          <p:nvPr/>
        </p:nvSpPr>
        <p:spPr>
          <a:xfrm>
            <a:off x="3276600" y="78962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route_ahr_tcell_candidate"/>
          <p:cNvSpPr/>
          <p:nvPr/>
        </p:nvSpPr>
        <p:spPr>
          <a:xfrm>
            <a:off x="3933825" y="7934325"/>
            <a:ext cx="1428750" cy="95"/>
          </a:xfrm>
          <a:custGeom>
            <a:avLst/>
            <a:gdLst/>
            <a:ahLst/>
            <a:cxnLst/>
            <a:rect l="0" t="0" r="r" b="b"/>
            <a:pathLst>
              <a:path w="1428750" h="95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/>
          <a:ln w="20955" cap="rnd">
            <a:solidFill>
              <a:srgbClr val="7254A8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route_ahr_tcell_candidate_tip"/>
          <p:cNvSpPr/>
          <p:nvPr/>
        </p:nvSpPr>
        <p:spPr>
          <a:xfrm>
            <a:off x="5267325" y="78962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725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layer_leader_endothelium"/>
          <p:cNvSpPr/>
          <p:nvPr/>
        </p:nvSpPr>
        <p:spPr>
          <a:xfrm>
            <a:off x="8982075" y="2357438"/>
            <a:ext cx="571500" cy="100013"/>
          </a:xfrm>
          <a:custGeom>
            <a:avLst/>
            <a:gdLst/>
            <a:ahLst/>
            <a:cxnLst/>
            <a:rect l="0" t="0" r="r" b="b"/>
            <a:pathLst>
              <a:path w="571500" h="100013">
                <a:moveTo>
                  <a:pt x="0" y="0"/>
                </a:moveTo>
                <a:lnTo>
                  <a:pt x="571500" y="100013"/>
                </a:lnTo>
              </a:path>
            </a:pathLst>
          </a:custGeom>
          <a:noFill/>
          <a:ln w="1428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layer_leader_media"/>
          <p:cNvSpPr/>
          <p:nvPr/>
        </p:nvSpPr>
        <p:spPr>
          <a:xfrm>
            <a:off x="9401175" y="3495675"/>
            <a:ext cx="514350" cy="57150"/>
          </a:xfrm>
          <a:custGeom>
            <a:avLst/>
            <a:gdLst/>
            <a:ahLst/>
            <a:cxnLst/>
            <a:rect l="0" t="0" r="r" b="b"/>
            <a:pathLst>
              <a:path w="514350" h="57150">
                <a:moveTo>
                  <a:pt x="0" y="57150"/>
                </a:moveTo>
                <a:lnTo>
                  <a:pt x="514350" y="0"/>
                </a:lnTo>
              </a:path>
            </a:pathLst>
          </a:custGeom>
          <a:noFill/>
          <a:ln w="1428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layer_leader_adventitia"/>
          <p:cNvSpPr/>
          <p:nvPr/>
        </p:nvSpPr>
        <p:spPr>
          <a:xfrm>
            <a:off x="10099358" y="4936808"/>
            <a:ext cx="597218" cy="101918"/>
          </a:xfrm>
          <a:custGeom>
            <a:avLst/>
            <a:gdLst/>
            <a:ahLst/>
            <a:cxnLst/>
            <a:rect l="0" t="0" r="r" b="b"/>
            <a:pathLst>
              <a:path w="597218" h="101918">
                <a:moveTo>
                  <a:pt x="0" y="0"/>
                </a:moveTo>
                <a:lnTo>
                  <a:pt x="597218" y="101918"/>
                </a:lnTo>
              </a:path>
            </a:pathLst>
          </a:custGeom>
          <a:noFill/>
          <a:ln w="1428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leader_endothelial"/>
          <p:cNvSpPr/>
          <p:nvPr/>
        </p:nvSpPr>
        <p:spPr>
          <a:xfrm>
            <a:off x="11639550" y="2409825"/>
            <a:ext cx="1736407" cy="114300"/>
          </a:xfrm>
          <a:custGeom>
            <a:avLst/>
            <a:gdLst/>
            <a:ahLst/>
            <a:cxnLst/>
            <a:rect l="0" t="0" r="r" b="b"/>
            <a:pathLst>
              <a:path w="1736407" h="114300">
                <a:moveTo>
                  <a:pt x="0" y="0"/>
                </a:moveTo>
                <a:lnTo>
                  <a:pt x="1736407" y="114300"/>
                </a:lnTo>
              </a:path>
            </a:pathLst>
          </a:custGeom>
          <a:noFill/>
          <a:ln w="1428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leader_medial"/>
          <p:cNvSpPr/>
          <p:nvPr/>
        </p:nvSpPr>
        <p:spPr>
          <a:xfrm>
            <a:off x="12163425" y="4048125"/>
            <a:ext cx="1428750" cy="266700"/>
          </a:xfrm>
          <a:custGeom>
            <a:avLst/>
            <a:gdLst/>
            <a:ahLst/>
            <a:cxnLst/>
            <a:rect l="0" t="0" r="r" b="b"/>
            <a:pathLst>
              <a:path w="1428750" h="266700">
                <a:moveTo>
                  <a:pt x="0" y="266700"/>
                </a:moveTo>
                <a:lnTo>
                  <a:pt x="1428750" y="0"/>
                </a:lnTo>
              </a:path>
            </a:pathLst>
          </a:custGeom>
          <a:noFill/>
          <a:ln w="14288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leader_adventitial"/>
          <p:cNvSpPr/>
          <p:nvPr/>
        </p:nvSpPr>
        <p:spPr>
          <a:xfrm>
            <a:off x="12382500" y="5572125"/>
            <a:ext cx="1012507" cy="190500"/>
          </a:xfrm>
          <a:custGeom>
            <a:avLst/>
            <a:gdLst/>
            <a:ahLst/>
            <a:cxnLst/>
            <a:rect l="0" t="0" r="r" b="b"/>
            <a:pathLst>
              <a:path w="1012507" h="190500">
                <a:moveTo>
                  <a:pt x="0" y="190500"/>
                </a:moveTo>
                <a:lnTo>
                  <a:pt x="1012507" y="0"/>
                </a:lnTo>
              </a:path>
            </a:pathLst>
          </a:custGeom>
          <a:noFill/>
          <a:ln w="14288" cap="rnd">
            <a:solidFill>
              <a:srgbClr val="7254A8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pvr_result_arrow"/>
          <p:cNvSpPr/>
          <p:nvPr/>
        </p:nvSpPr>
        <p:spPr>
          <a:xfrm>
            <a:off x="14868525" y="2647950"/>
            <a:ext cx="133350" cy="3695700"/>
          </a:xfrm>
          <a:custGeom>
            <a:avLst/>
            <a:gdLst/>
            <a:ahLst/>
            <a:cxnLst/>
            <a:rect l="0" t="0" r="r" b="b"/>
            <a:pathLst>
              <a:path w="133350" h="3695700">
                <a:moveTo>
                  <a:pt x="0" y="0"/>
                </a:moveTo>
                <a:lnTo>
                  <a:pt x="133350" y="0"/>
                </a:lnTo>
                <a:lnTo>
                  <a:pt x="133350" y="3695700"/>
                </a:lnTo>
              </a:path>
            </a:pathLst>
          </a:custGeom>
          <a:noFill/>
          <a:ln w="20955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pvr_result_arrow_tip"/>
          <p:cNvSpPr/>
          <p:nvPr/>
        </p:nvSpPr>
        <p:spPr>
          <a:xfrm>
            <a:off x="14963775" y="6248400"/>
            <a:ext cx="76200" cy="95250"/>
          </a:xfrm>
          <a:custGeom>
            <a:avLst/>
            <a:gdLst/>
            <a:ahLst/>
            <a:cxnLst/>
            <a:rect l="0" t="0" r="r" b="b"/>
            <a:pathLst>
              <a:path w="76200" h="95250">
                <a:moveTo>
                  <a:pt x="38100" y="95250"/>
                </a:moveTo>
                <a:lnTo>
                  <a:pt x="0" y="0"/>
                </a:lnTo>
                <a:lnTo>
                  <a:pt x="76200" y="0"/>
                </a:lnTo>
                <a:close/>
              </a:path>
            </a:pathLst>
          </a:custGeom>
          <a:solidFill>
            <a:srgbClr val="2336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cross_section_change"/>
          <p:cNvSpPr/>
          <p:nvPr/>
        </p:nvSpPr>
        <p:spPr>
          <a:xfrm>
            <a:off x="12277725" y="7705725"/>
            <a:ext cx="276225" cy="95"/>
          </a:xfrm>
          <a:custGeom>
            <a:avLst/>
            <a:gdLst/>
            <a:ahLst/>
            <a:cxnLst/>
            <a:rect l="0" t="0" r="r" b="b"/>
            <a:pathLst>
              <a:path w="276225" h="9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/>
          <a:ln w="17145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cross_section_change_tip"/>
          <p:cNvSpPr/>
          <p:nvPr/>
        </p:nvSpPr>
        <p:spPr>
          <a:xfrm>
            <a:off x="12458700" y="766762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336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legend_solid_arrow"/>
          <p:cNvSpPr/>
          <p:nvPr/>
        </p:nvSpPr>
        <p:spPr>
          <a:xfrm>
            <a:off x="266700" y="8448675"/>
            <a:ext cx="542925" cy="95"/>
          </a:xfrm>
          <a:custGeom>
            <a:avLst/>
            <a:gdLst/>
            <a:ahLst/>
            <a:cxnLst/>
            <a:rect l="0" t="0" r="r" b="b"/>
            <a:pathLst>
              <a:path w="542925" h="95">
                <a:moveTo>
                  <a:pt x="0" y="0"/>
                </a:moveTo>
                <a:lnTo>
                  <a:pt x="542925" y="0"/>
                </a:lnTo>
              </a:path>
            </a:pathLst>
          </a:custGeom>
          <a:noFill/>
          <a:ln w="23813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legend_solid_arrow_tip"/>
          <p:cNvSpPr/>
          <p:nvPr/>
        </p:nvSpPr>
        <p:spPr>
          <a:xfrm>
            <a:off x="714375" y="84105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336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legend_dashed_arrow"/>
          <p:cNvSpPr/>
          <p:nvPr/>
        </p:nvSpPr>
        <p:spPr>
          <a:xfrm>
            <a:off x="6238875" y="8448675"/>
            <a:ext cx="542925" cy="95"/>
          </a:xfrm>
          <a:custGeom>
            <a:avLst/>
            <a:gdLst/>
            <a:ahLst/>
            <a:cxnLst/>
            <a:rect l="0" t="0" r="r" b="b"/>
            <a:pathLst>
              <a:path w="542925" h="95">
                <a:moveTo>
                  <a:pt x="0" y="0"/>
                </a:moveTo>
                <a:lnTo>
                  <a:pt x="542925" y="0"/>
                </a:lnTo>
              </a:path>
            </a:pathLst>
          </a:custGeom>
          <a:noFill/>
          <a:ln w="21908" cap="rnd">
            <a:solidFill>
              <a:srgbClr val="23364A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legend_dashed_arrow_tip"/>
          <p:cNvSpPr/>
          <p:nvPr/>
        </p:nvSpPr>
        <p:spPr>
          <a:xfrm>
            <a:off x="6686550" y="84105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336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circulating_tmao_n_o_bond"/>
          <p:cNvSpPr/>
          <p:nvPr/>
        </p:nvSpPr>
        <p:spPr>
          <a:xfrm rot="19615605">
            <a:off x="750823" y="4241878"/>
            <a:ext cx="232207" cy="95"/>
          </a:xfrm>
          <a:custGeom>
            <a:avLst/>
            <a:gdLst/>
            <a:ahLst/>
            <a:cxnLst/>
            <a:rect l="0" t="0" r="r" b="b"/>
            <a:pathLst>
              <a:path w="232207" h="95">
                <a:moveTo>
                  <a:pt x="0" y="0"/>
                </a:moveTo>
                <a:lnTo>
                  <a:pt x="232207" y="0"/>
                </a:lnTo>
              </a:path>
            </a:pathLst>
          </a:custGeom>
          <a:noFill/>
          <a:ln w="29718" cap="rnd">
            <a:solidFill>
              <a:srgbClr val="12AE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circulating_tmao_oxygen_atom"/>
          <p:cNvSpPr/>
          <p:nvPr/>
        </p:nvSpPr>
        <p:spPr>
          <a:xfrm>
            <a:off x="953223" y="4073632"/>
            <a:ext cx="135712" cy="135712"/>
          </a:xfrm>
          <a:prstGeom prst="ellipse">
            <a:avLst/>
          </a:prstGeom>
          <a:solidFill>
            <a:srgbClr val="CF5148"/>
          </a:solidFill>
          <a:ln w="8411">
            <a:solidFill>
              <a:srgbClr val="9D32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dot_endothelial"/>
          <p:cNvSpPr/>
          <p:nvPr/>
        </p:nvSpPr>
        <p:spPr>
          <a:xfrm>
            <a:off x="11525250" y="2362200"/>
            <a:ext cx="95250" cy="95250"/>
          </a:xfrm>
          <a:prstGeom prst="ellipse">
            <a:avLst/>
          </a:prstGeom>
          <a:solidFill>
            <a:srgbClr val="23364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dot_medial"/>
          <p:cNvSpPr/>
          <p:nvPr/>
        </p:nvSpPr>
        <p:spPr>
          <a:xfrm>
            <a:off x="12049125" y="4267200"/>
            <a:ext cx="95250" cy="95250"/>
          </a:xfrm>
          <a:prstGeom prst="ellipse">
            <a:avLst/>
          </a:prstGeom>
          <a:solidFill>
            <a:srgbClr val="A82D2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dot_adventitial"/>
          <p:cNvSpPr/>
          <p:nvPr/>
        </p:nvSpPr>
        <p:spPr>
          <a:xfrm>
            <a:off x="12268200" y="5715000"/>
            <a:ext cx="95250" cy="95250"/>
          </a:xfrm>
          <a:prstGeom prst="ellipse">
            <a:avLst/>
          </a:prstGeom>
          <a:solidFill>
            <a:srgbClr val="7254A8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normal_adventitia"/>
          <p:cNvSpPr/>
          <p:nvPr/>
        </p:nvSpPr>
        <p:spPr>
          <a:xfrm>
            <a:off x="11410950" y="7419975"/>
            <a:ext cx="781050" cy="590550"/>
          </a:xfrm>
          <a:prstGeom prst="ellipse">
            <a:avLst/>
          </a:prstGeom>
          <a:solidFill>
            <a:srgbClr val="BEB0CA"/>
          </a:solidFill>
          <a:ln w="7620">
            <a:solidFill>
              <a:srgbClr val="9E8FA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normal_media"/>
          <p:cNvSpPr/>
          <p:nvPr/>
        </p:nvSpPr>
        <p:spPr>
          <a:xfrm>
            <a:off x="11458575" y="7467600"/>
            <a:ext cx="685800" cy="495300"/>
          </a:xfrm>
          <a:prstGeom prst="ellipse">
            <a:avLst/>
          </a:prstGeom>
          <a:solidFill>
            <a:srgbClr val="DDA4A0"/>
          </a:solidFill>
          <a:ln w="6668">
            <a:solidFill>
              <a:srgbClr val="BD7E7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normal_endothelium"/>
          <p:cNvSpPr/>
          <p:nvPr/>
        </p:nvSpPr>
        <p:spPr>
          <a:xfrm>
            <a:off x="11515725" y="7505700"/>
            <a:ext cx="571500" cy="419100"/>
          </a:xfrm>
          <a:prstGeom prst="ellipse">
            <a:avLst/>
          </a:prstGeom>
          <a:solidFill>
            <a:srgbClr val="8ABAD3"/>
          </a:solidFill>
          <a:ln w="4763">
            <a:solidFill>
              <a:srgbClr val="6795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normal_lumen"/>
          <p:cNvSpPr/>
          <p:nvPr/>
        </p:nvSpPr>
        <p:spPr>
          <a:xfrm>
            <a:off x="11544300" y="7534275"/>
            <a:ext cx="514350" cy="361950"/>
          </a:xfrm>
          <a:prstGeom prst="ellipse">
            <a:avLst/>
          </a:prstGeom>
          <a:solidFill>
            <a:srgbClr val="FFF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remodeled_adventitia"/>
          <p:cNvSpPr/>
          <p:nvPr/>
        </p:nvSpPr>
        <p:spPr>
          <a:xfrm>
            <a:off x="12639675" y="7419975"/>
            <a:ext cx="781050" cy="590550"/>
          </a:xfrm>
          <a:prstGeom prst="ellipse">
            <a:avLst/>
          </a:prstGeom>
          <a:solidFill>
            <a:srgbClr val="BEB0CA"/>
          </a:solidFill>
          <a:ln w="7620">
            <a:solidFill>
              <a:srgbClr val="9E8FA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remodeled_media"/>
          <p:cNvSpPr/>
          <p:nvPr/>
        </p:nvSpPr>
        <p:spPr>
          <a:xfrm>
            <a:off x="12687300" y="7467600"/>
            <a:ext cx="685800" cy="495300"/>
          </a:xfrm>
          <a:prstGeom prst="ellipse">
            <a:avLst/>
          </a:prstGeom>
          <a:solidFill>
            <a:srgbClr val="DDA4A0"/>
          </a:solidFill>
          <a:ln w="6668">
            <a:solidFill>
              <a:srgbClr val="BD7E7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remodeled_endothelium"/>
          <p:cNvSpPr/>
          <p:nvPr/>
        </p:nvSpPr>
        <p:spPr>
          <a:xfrm>
            <a:off x="12858750" y="7581900"/>
            <a:ext cx="342900" cy="266700"/>
          </a:xfrm>
          <a:prstGeom prst="ellipse">
            <a:avLst/>
          </a:prstGeom>
          <a:solidFill>
            <a:srgbClr val="8ABAD3"/>
          </a:solidFill>
          <a:ln w="4763">
            <a:solidFill>
              <a:srgbClr val="6795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remodeled_lumen"/>
          <p:cNvSpPr/>
          <p:nvPr/>
        </p:nvSpPr>
        <p:spPr>
          <a:xfrm>
            <a:off x="12887325" y="7610475"/>
            <a:ext cx="285750" cy="209550"/>
          </a:xfrm>
          <a:prstGeom prst="ellipse">
            <a:avLst/>
          </a:prstGeom>
          <a:solidFill>
            <a:srgbClr val="FFF6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route_butyrate_direct_fork"/>
          <p:cNvSpPr/>
          <p:nvPr/>
        </p:nvSpPr>
        <p:spPr>
          <a:xfrm>
            <a:off x="8924925" y="7172325"/>
            <a:ext cx="104775" cy="781050"/>
          </a:xfrm>
          <a:custGeom>
            <a:avLst/>
            <a:gdLst/>
            <a:ahLst/>
            <a:cxnLst/>
            <a:rect l="0" t="0" r="r" b="b"/>
            <a:pathLst>
              <a:path w="104775" h="781050">
                <a:moveTo>
                  <a:pt x="0" y="0"/>
                </a:moveTo>
                <a:lnTo>
                  <a:pt x="104775" y="0"/>
                </a:lnTo>
                <a:lnTo>
                  <a:pt x="104775" y="78105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route_butyrate_endothelial_protection"/>
          <p:cNvSpPr/>
          <p:nvPr/>
        </p:nvSpPr>
        <p:spPr>
          <a:xfrm>
            <a:off x="9029700" y="7496175"/>
            <a:ext cx="180975" cy="95"/>
          </a:xfrm>
          <a:custGeom>
            <a:avLst/>
            <a:gdLst/>
            <a:ahLst/>
            <a:cxnLst/>
            <a:rect l="0" t="0" r="r" b="b"/>
            <a:pathLst>
              <a:path w="180975" h="9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route_butyrate_endothelial_protection_tip"/>
          <p:cNvSpPr/>
          <p:nvPr/>
        </p:nvSpPr>
        <p:spPr>
          <a:xfrm>
            <a:off x="9115425" y="7458075"/>
            <a:ext cx="95250" cy="76200"/>
          </a:xfrm>
          <a:custGeom>
            <a:avLst/>
            <a:gdLst/>
            <a:ahLst/>
            <a:cxnLst/>
            <a:rect l="0" t="0" r="r" b="b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F70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route_butyrate_pasmsc_inhibition"/>
          <p:cNvSpPr/>
          <p:nvPr/>
        </p:nvSpPr>
        <p:spPr>
          <a:xfrm>
            <a:off x="9029700" y="7953375"/>
            <a:ext cx="180975" cy="95"/>
          </a:xfrm>
          <a:custGeom>
            <a:avLst/>
            <a:gdLst/>
            <a:ahLst/>
            <a:cxnLst/>
            <a:rect l="0" t="0" r="r" b="b"/>
            <a:pathLst>
              <a:path w="180975" h="95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butyrate_pasmsc_inhibition_bar"/>
          <p:cNvSpPr/>
          <p:nvPr/>
        </p:nvSpPr>
        <p:spPr>
          <a:xfrm>
            <a:off x="9210675" y="7858125"/>
            <a:ext cx="95" cy="190500"/>
          </a:xfrm>
          <a:custGeom>
            <a:avLst/>
            <a:gdLst/>
            <a:ahLst/>
            <a:cxnLst/>
            <a:rect l="0" t="0" r="r" b="b"/>
            <a:pathLst>
              <a:path w="95" h="190500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20955" cap="rnd">
            <a:solidFill>
              <a:srgbClr val="2F7049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legend_inhibition_line"/>
          <p:cNvSpPr/>
          <p:nvPr/>
        </p:nvSpPr>
        <p:spPr>
          <a:xfrm>
            <a:off x="12763500" y="8448675"/>
            <a:ext cx="400050" cy="95"/>
          </a:xfrm>
          <a:custGeom>
            <a:avLst/>
            <a:gdLst/>
            <a:ahLst/>
            <a:cxnLst/>
            <a:rect l="0" t="0" r="r" b="b"/>
            <a:pathLst>
              <a:path w="400050" h="9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2190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legend_inhibition_bar"/>
          <p:cNvSpPr/>
          <p:nvPr/>
        </p:nvSpPr>
        <p:spPr>
          <a:xfrm>
            <a:off x="13163550" y="8362950"/>
            <a:ext cx="95" cy="171450"/>
          </a:xfrm>
          <a:custGeom>
            <a:avLst/>
            <a:gdLst/>
            <a:ahLst/>
            <a:cxnLst/>
            <a:rect l="0" t="0" r="r" b="b"/>
            <a:pathLst>
              <a:path w="9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21908" cap="rnd">
            <a:solidFill>
              <a:srgbClr val="23364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route_inflammation_common_trunk"/>
          <p:cNvSpPr/>
          <p:nvPr/>
        </p:nvSpPr>
        <p:spPr>
          <a:xfrm>
            <a:off x="7886700" y="2857500"/>
            <a:ext cx="228600" cy="95"/>
          </a:xfrm>
          <a:custGeom>
            <a:avLst/>
            <a:gdLst/>
            <a:ahLst/>
            <a:cxnLst/>
            <a:rect l="0" t="0" r="r" b="b"/>
            <a:pathLst>
              <a:path w="228600" h="9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2859" cap="rnd">
            <a:solidFill>
              <a:srgbClr val="A82D2A"/>
            </a:solidFill>
            <a:prstDash val="solid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layer_dot_endothelium"/>
          <p:cNvSpPr/>
          <p:nvPr/>
        </p:nvSpPr>
        <p:spPr>
          <a:xfrm>
            <a:off x="9510713" y="2414588"/>
            <a:ext cx="85725" cy="85725"/>
          </a:xfrm>
          <a:prstGeom prst="ellipse">
            <a:avLst/>
          </a:prstGeom>
          <a:solidFill>
            <a:srgbClr val="23364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layer_dot_media"/>
          <p:cNvSpPr/>
          <p:nvPr/>
        </p:nvSpPr>
        <p:spPr>
          <a:xfrm>
            <a:off x="9872663" y="3452813"/>
            <a:ext cx="85725" cy="85725"/>
          </a:xfrm>
          <a:prstGeom prst="ellipse">
            <a:avLst/>
          </a:prstGeom>
          <a:solidFill>
            <a:srgbClr val="23364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layer_dot_adventitia"/>
          <p:cNvSpPr/>
          <p:nvPr/>
        </p:nvSpPr>
        <p:spPr>
          <a:xfrm>
            <a:off x="10653713" y="4995863"/>
            <a:ext cx="85725" cy="85725"/>
          </a:xfrm>
          <a:prstGeom prst="ellipse">
            <a:avLst/>
          </a:prstGeom>
          <a:solidFill>
            <a:srgbClr val="23364A"/>
          </a:solidFill>
          <a:ln w="7620">
            <a:solidFill>
              <a:srgbClr val="FCF5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hmgb1_component_oval_1"/>
          <p:cNvSpPr/>
          <p:nvPr/>
        </p:nvSpPr>
        <p:spPr>
          <a:xfrm>
            <a:off x="1889379" y="1834935"/>
            <a:ext cx="236220" cy="251853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hmgb1_component_oval_2"/>
          <p:cNvSpPr/>
          <p:nvPr/>
        </p:nvSpPr>
        <p:spPr>
          <a:xfrm>
            <a:off x="1946072" y="1881528"/>
            <a:ext cx="61417" cy="46593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hmgb1_component_oval_3"/>
          <p:cNvSpPr/>
          <p:nvPr/>
        </p:nvSpPr>
        <p:spPr>
          <a:xfrm>
            <a:off x="2019300" y="1929380"/>
            <a:ext cx="236220" cy="251853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hmgb1_component_oval_4"/>
          <p:cNvSpPr/>
          <p:nvPr/>
        </p:nvSpPr>
        <p:spPr>
          <a:xfrm>
            <a:off x="2075993" y="1975973"/>
            <a:ext cx="61417" cy="46593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hmgb1_component_oval_5"/>
          <p:cNvSpPr/>
          <p:nvPr/>
        </p:nvSpPr>
        <p:spPr>
          <a:xfrm>
            <a:off x="2066544" y="2099381"/>
            <a:ext cx="212598" cy="226668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hmgb1_component_oval_6"/>
          <p:cNvSpPr/>
          <p:nvPr/>
        </p:nvSpPr>
        <p:spPr>
          <a:xfrm>
            <a:off x="2117568" y="2141315"/>
            <a:ext cx="55275" cy="41934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hmgb1_component_oval_7"/>
          <p:cNvSpPr/>
          <p:nvPr/>
        </p:nvSpPr>
        <p:spPr>
          <a:xfrm>
            <a:off x="1918906" y="2193826"/>
            <a:ext cx="224409" cy="239261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hmgb1_component_oval_8"/>
          <p:cNvSpPr/>
          <p:nvPr/>
        </p:nvSpPr>
        <p:spPr>
          <a:xfrm>
            <a:off x="1972765" y="2238089"/>
            <a:ext cx="58346" cy="44263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hmgb1_component_oval_9"/>
          <p:cNvSpPr/>
          <p:nvPr/>
        </p:nvSpPr>
        <p:spPr>
          <a:xfrm>
            <a:off x="1783080" y="2118270"/>
            <a:ext cx="212598" cy="226668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hmgb1_component_oval_10"/>
          <p:cNvSpPr/>
          <p:nvPr/>
        </p:nvSpPr>
        <p:spPr>
          <a:xfrm>
            <a:off x="1834104" y="2160204"/>
            <a:ext cx="55275" cy="41934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hmgb1_component_oval_11"/>
          <p:cNvSpPr/>
          <p:nvPr/>
        </p:nvSpPr>
        <p:spPr>
          <a:xfrm>
            <a:off x="1753552" y="1960862"/>
            <a:ext cx="224409" cy="239261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hmgb1_component_oval_12"/>
          <p:cNvSpPr/>
          <p:nvPr/>
        </p:nvSpPr>
        <p:spPr>
          <a:xfrm>
            <a:off x="1807411" y="2005125"/>
            <a:ext cx="58346" cy="44263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hmgb1_component_oval_13"/>
          <p:cNvSpPr/>
          <p:nvPr/>
        </p:nvSpPr>
        <p:spPr>
          <a:xfrm>
            <a:off x="1883474" y="1992344"/>
            <a:ext cx="259842" cy="277039"/>
          </a:xfrm>
          <a:prstGeom prst="ellipse">
            <a:avLst/>
          </a:prstGeom>
          <a:gradFill rotWithShape="1">
            <a:gsLst>
              <a:gs pos="0">
                <a:srgbClr val="F6D9DB"/>
              </a:gs>
              <a:gs pos="30000">
                <a:srgbClr val="E28E94"/>
              </a:gs>
              <a:gs pos="67000">
                <a:srgbClr val="D96870"/>
              </a:gs>
              <a:gs pos="100000">
                <a:srgbClr val="BB4C58"/>
              </a:gs>
            </a:gsLst>
            <a:lin ang="3300000" scaled="1"/>
          </a:gradFill>
          <a:ln w="9596">
            <a:solidFill>
              <a:srgbClr val="A83B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hmgb1_component_oval_14"/>
          <p:cNvSpPr/>
          <p:nvPr/>
        </p:nvSpPr>
        <p:spPr>
          <a:xfrm>
            <a:off x="1945836" y="2043596"/>
            <a:ext cx="67559" cy="51252"/>
          </a:xfrm>
          <a:prstGeom prst="ellipse">
            <a:avLst/>
          </a:prstGeom>
          <a:solidFill>
            <a:srgbClr val="F5D8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tlr4_component_path_1"/>
          <p:cNvSpPr/>
          <p:nvPr/>
        </p:nvSpPr>
        <p:spPr>
          <a:xfrm>
            <a:off x="3075756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tlr4_component_path_2"/>
          <p:cNvSpPr/>
          <p:nvPr/>
        </p:nvSpPr>
        <p:spPr>
          <a:xfrm>
            <a:off x="3102159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tlr4_component_oval_3"/>
          <p:cNvSpPr/>
          <p:nvPr/>
        </p:nvSpPr>
        <p:spPr>
          <a:xfrm>
            <a:off x="3081414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tlr4_component_oval_4"/>
          <p:cNvSpPr/>
          <p:nvPr/>
        </p:nvSpPr>
        <p:spPr>
          <a:xfrm>
            <a:off x="3081414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tlr4_component_path_5"/>
          <p:cNvSpPr/>
          <p:nvPr/>
        </p:nvSpPr>
        <p:spPr>
          <a:xfrm>
            <a:off x="3140018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tlr4_component_path_6"/>
          <p:cNvSpPr/>
          <p:nvPr/>
        </p:nvSpPr>
        <p:spPr>
          <a:xfrm>
            <a:off x="3166421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tlr4_component_oval_7"/>
          <p:cNvSpPr/>
          <p:nvPr/>
        </p:nvSpPr>
        <p:spPr>
          <a:xfrm>
            <a:off x="3145676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tlr4_component_oval_8"/>
          <p:cNvSpPr/>
          <p:nvPr/>
        </p:nvSpPr>
        <p:spPr>
          <a:xfrm>
            <a:off x="3145676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tlr4_component_path_9"/>
          <p:cNvSpPr/>
          <p:nvPr/>
        </p:nvSpPr>
        <p:spPr>
          <a:xfrm>
            <a:off x="3204280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tlr4_component_path_10"/>
          <p:cNvSpPr/>
          <p:nvPr/>
        </p:nvSpPr>
        <p:spPr>
          <a:xfrm>
            <a:off x="3230683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tlr4_component_oval_11"/>
          <p:cNvSpPr/>
          <p:nvPr/>
        </p:nvSpPr>
        <p:spPr>
          <a:xfrm>
            <a:off x="3209938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tlr4_component_oval_12"/>
          <p:cNvSpPr/>
          <p:nvPr/>
        </p:nvSpPr>
        <p:spPr>
          <a:xfrm>
            <a:off x="3209938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tlr4_component_path_13"/>
          <p:cNvSpPr/>
          <p:nvPr/>
        </p:nvSpPr>
        <p:spPr>
          <a:xfrm>
            <a:off x="3268542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tlr4_component_path_14"/>
          <p:cNvSpPr/>
          <p:nvPr/>
        </p:nvSpPr>
        <p:spPr>
          <a:xfrm>
            <a:off x="3294945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tlr4_component_oval_15"/>
          <p:cNvSpPr/>
          <p:nvPr/>
        </p:nvSpPr>
        <p:spPr>
          <a:xfrm>
            <a:off x="3274200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tlr4_component_oval_16"/>
          <p:cNvSpPr/>
          <p:nvPr/>
        </p:nvSpPr>
        <p:spPr>
          <a:xfrm>
            <a:off x="3274200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tlr4_component_path_17"/>
          <p:cNvSpPr/>
          <p:nvPr/>
        </p:nvSpPr>
        <p:spPr>
          <a:xfrm>
            <a:off x="3332804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tlr4_component_path_18"/>
          <p:cNvSpPr/>
          <p:nvPr/>
        </p:nvSpPr>
        <p:spPr>
          <a:xfrm>
            <a:off x="3359207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tlr4_component_oval_19"/>
          <p:cNvSpPr/>
          <p:nvPr/>
        </p:nvSpPr>
        <p:spPr>
          <a:xfrm>
            <a:off x="3338462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tlr4_component_oval_20"/>
          <p:cNvSpPr/>
          <p:nvPr/>
        </p:nvSpPr>
        <p:spPr>
          <a:xfrm>
            <a:off x="3338462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tlr4_component_path_21"/>
          <p:cNvSpPr/>
          <p:nvPr/>
        </p:nvSpPr>
        <p:spPr>
          <a:xfrm>
            <a:off x="3397066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tlr4_component_path_22"/>
          <p:cNvSpPr/>
          <p:nvPr/>
        </p:nvSpPr>
        <p:spPr>
          <a:xfrm>
            <a:off x="3423469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tlr4_component_oval_23"/>
          <p:cNvSpPr/>
          <p:nvPr/>
        </p:nvSpPr>
        <p:spPr>
          <a:xfrm>
            <a:off x="3402724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tlr4_component_oval_24"/>
          <p:cNvSpPr/>
          <p:nvPr/>
        </p:nvSpPr>
        <p:spPr>
          <a:xfrm>
            <a:off x="3402724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tlr4_component_path_25"/>
          <p:cNvSpPr/>
          <p:nvPr/>
        </p:nvSpPr>
        <p:spPr>
          <a:xfrm>
            <a:off x="3461328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tlr4_component_path_26"/>
          <p:cNvSpPr/>
          <p:nvPr/>
        </p:nvSpPr>
        <p:spPr>
          <a:xfrm>
            <a:off x="3487731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tlr4_component_oval_27"/>
          <p:cNvSpPr/>
          <p:nvPr/>
        </p:nvSpPr>
        <p:spPr>
          <a:xfrm>
            <a:off x="3466986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tlr4_component_oval_28"/>
          <p:cNvSpPr/>
          <p:nvPr/>
        </p:nvSpPr>
        <p:spPr>
          <a:xfrm>
            <a:off x="3466986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tlr4_component_path_29"/>
          <p:cNvSpPr/>
          <p:nvPr/>
        </p:nvSpPr>
        <p:spPr>
          <a:xfrm>
            <a:off x="3525590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tlr4_component_path_30"/>
          <p:cNvSpPr/>
          <p:nvPr/>
        </p:nvSpPr>
        <p:spPr>
          <a:xfrm>
            <a:off x="3551993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tlr4_component_oval_31"/>
          <p:cNvSpPr/>
          <p:nvPr/>
        </p:nvSpPr>
        <p:spPr>
          <a:xfrm>
            <a:off x="3531248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tlr4_component_oval_32"/>
          <p:cNvSpPr/>
          <p:nvPr/>
        </p:nvSpPr>
        <p:spPr>
          <a:xfrm>
            <a:off x="3531248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tlr4_component_path_33"/>
          <p:cNvSpPr/>
          <p:nvPr/>
        </p:nvSpPr>
        <p:spPr>
          <a:xfrm>
            <a:off x="3589852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tlr4_component_path_34"/>
          <p:cNvSpPr/>
          <p:nvPr/>
        </p:nvSpPr>
        <p:spPr>
          <a:xfrm>
            <a:off x="3616255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tlr4_component_oval_35"/>
          <p:cNvSpPr/>
          <p:nvPr/>
        </p:nvSpPr>
        <p:spPr>
          <a:xfrm>
            <a:off x="3595510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tlr4_component_oval_36"/>
          <p:cNvSpPr/>
          <p:nvPr/>
        </p:nvSpPr>
        <p:spPr>
          <a:xfrm>
            <a:off x="3595510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tlr4_component_path_37"/>
          <p:cNvSpPr/>
          <p:nvPr/>
        </p:nvSpPr>
        <p:spPr>
          <a:xfrm>
            <a:off x="3654114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tlr4_component_path_38"/>
          <p:cNvSpPr/>
          <p:nvPr/>
        </p:nvSpPr>
        <p:spPr>
          <a:xfrm>
            <a:off x="3680517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tlr4_component_oval_39"/>
          <p:cNvSpPr/>
          <p:nvPr/>
        </p:nvSpPr>
        <p:spPr>
          <a:xfrm>
            <a:off x="3659772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tlr4_component_oval_40"/>
          <p:cNvSpPr/>
          <p:nvPr/>
        </p:nvSpPr>
        <p:spPr>
          <a:xfrm>
            <a:off x="3659772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tlr4_component_path_41"/>
          <p:cNvSpPr/>
          <p:nvPr/>
        </p:nvSpPr>
        <p:spPr>
          <a:xfrm>
            <a:off x="3718376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2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tlr4_component_path_42"/>
          <p:cNvSpPr/>
          <p:nvPr/>
        </p:nvSpPr>
        <p:spPr>
          <a:xfrm>
            <a:off x="3744779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tlr4_component_oval_43"/>
          <p:cNvSpPr/>
          <p:nvPr/>
        </p:nvSpPr>
        <p:spPr>
          <a:xfrm>
            <a:off x="3724034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tlr4_component_oval_44"/>
          <p:cNvSpPr/>
          <p:nvPr/>
        </p:nvSpPr>
        <p:spPr>
          <a:xfrm>
            <a:off x="3724034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tlr4_component_path_45"/>
          <p:cNvSpPr/>
          <p:nvPr/>
        </p:nvSpPr>
        <p:spPr>
          <a:xfrm>
            <a:off x="3782638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2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tlr4_component_path_46"/>
          <p:cNvSpPr/>
          <p:nvPr/>
        </p:nvSpPr>
        <p:spPr>
          <a:xfrm>
            <a:off x="3809041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tlr4_component_oval_47"/>
          <p:cNvSpPr/>
          <p:nvPr/>
        </p:nvSpPr>
        <p:spPr>
          <a:xfrm>
            <a:off x="3788296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tlr4_component_oval_48"/>
          <p:cNvSpPr/>
          <p:nvPr/>
        </p:nvSpPr>
        <p:spPr>
          <a:xfrm>
            <a:off x="3788296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tlr4_component_path_49"/>
          <p:cNvSpPr/>
          <p:nvPr/>
        </p:nvSpPr>
        <p:spPr>
          <a:xfrm>
            <a:off x="3846900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2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tlr4_component_path_50"/>
          <p:cNvSpPr/>
          <p:nvPr/>
        </p:nvSpPr>
        <p:spPr>
          <a:xfrm>
            <a:off x="3873303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tlr4_component_oval_51"/>
          <p:cNvSpPr/>
          <p:nvPr/>
        </p:nvSpPr>
        <p:spPr>
          <a:xfrm>
            <a:off x="3852558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tlr4_component_oval_52"/>
          <p:cNvSpPr/>
          <p:nvPr/>
        </p:nvSpPr>
        <p:spPr>
          <a:xfrm>
            <a:off x="3852558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tlr4_component_path_53"/>
          <p:cNvSpPr/>
          <p:nvPr/>
        </p:nvSpPr>
        <p:spPr>
          <a:xfrm>
            <a:off x="3911162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2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tlr4_component_path_54"/>
          <p:cNvSpPr/>
          <p:nvPr/>
        </p:nvSpPr>
        <p:spPr>
          <a:xfrm>
            <a:off x="3937565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59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59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tlr4_component_oval_55"/>
          <p:cNvSpPr/>
          <p:nvPr/>
        </p:nvSpPr>
        <p:spPr>
          <a:xfrm>
            <a:off x="3916820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tlr4_component_oval_56"/>
          <p:cNvSpPr/>
          <p:nvPr/>
        </p:nvSpPr>
        <p:spPr>
          <a:xfrm>
            <a:off x="3916820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tlr4_component_path_57"/>
          <p:cNvSpPr/>
          <p:nvPr/>
        </p:nvSpPr>
        <p:spPr>
          <a:xfrm>
            <a:off x="3975424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tlr4_component_path_58"/>
          <p:cNvSpPr/>
          <p:nvPr/>
        </p:nvSpPr>
        <p:spPr>
          <a:xfrm>
            <a:off x="4001827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tlr4_component_oval_59"/>
          <p:cNvSpPr/>
          <p:nvPr/>
        </p:nvSpPr>
        <p:spPr>
          <a:xfrm>
            <a:off x="3981082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tlr4_component_oval_60"/>
          <p:cNvSpPr/>
          <p:nvPr/>
        </p:nvSpPr>
        <p:spPr>
          <a:xfrm>
            <a:off x="3981082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tlr4_component_path_61"/>
          <p:cNvSpPr/>
          <p:nvPr/>
        </p:nvSpPr>
        <p:spPr>
          <a:xfrm>
            <a:off x="4039686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tlr4_component_path_62"/>
          <p:cNvSpPr/>
          <p:nvPr/>
        </p:nvSpPr>
        <p:spPr>
          <a:xfrm>
            <a:off x="4066089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tlr4_component_oval_63"/>
          <p:cNvSpPr/>
          <p:nvPr/>
        </p:nvSpPr>
        <p:spPr>
          <a:xfrm>
            <a:off x="4045344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tlr4_component_oval_64"/>
          <p:cNvSpPr/>
          <p:nvPr/>
        </p:nvSpPr>
        <p:spPr>
          <a:xfrm>
            <a:off x="4045344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tlr4_component_path_65"/>
          <p:cNvSpPr/>
          <p:nvPr/>
        </p:nvSpPr>
        <p:spPr>
          <a:xfrm>
            <a:off x="4103948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tlr4_component_path_66"/>
          <p:cNvSpPr/>
          <p:nvPr/>
        </p:nvSpPr>
        <p:spPr>
          <a:xfrm>
            <a:off x="4130351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tlr4_component_oval_67"/>
          <p:cNvSpPr/>
          <p:nvPr/>
        </p:nvSpPr>
        <p:spPr>
          <a:xfrm>
            <a:off x="4109606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tlr4_component_oval_68"/>
          <p:cNvSpPr/>
          <p:nvPr/>
        </p:nvSpPr>
        <p:spPr>
          <a:xfrm>
            <a:off x="4109606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tlr4_component_path_69"/>
          <p:cNvSpPr/>
          <p:nvPr/>
        </p:nvSpPr>
        <p:spPr>
          <a:xfrm>
            <a:off x="4168210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tlr4_component_path_70"/>
          <p:cNvSpPr/>
          <p:nvPr/>
        </p:nvSpPr>
        <p:spPr>
          <a:xfrm>
            <a:off x="4194613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tlr4_component_oval_71"/>
          <p:cNvSpPr/>
          <p:nvPr/>
        </p:nvSpPr>
        <p:spPr>
          <a:xfrm>
            <a:off x="4173868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tlr4_component_oval_72"/>
          <p:cNvSpPr/>
          <p:nvPr/>
        </p:nvSpPr>
        <p:spPr>
          <a:xfrm>
            <a:off x="4173868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tlr4_component_path_73"/>
          <p:cNvSpPr/>
          <p:nvPr/>
        </p:nvSpPr>
        <p:spPr>
          <a:xfrm>
            <a:off x="4232472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tlr4_component_path_74"/>
          <p:cNvSpPr/>
          <p:nvPr/>
        </p:nvSpPr>
        <p:spPr>
          <a:xfrm>
            <a:off x="4258875" y="1393752"/>
            <a:ext cx="36462" cy="200656"/>
          </a:xfrm>
          <a:custGeom>
            <a:avLst/>
            <a:gdLst/>
            <a:ahLst/>
            <a:cxnLst/>
            <a:rect l="0" t="0" r="r" b="b"/>
            <a:pathLst>
              <a:path w="36462" h="200656">
                <a:moveTo>
                  <a:pt x="18860" y="0"/>
                </a:moveTo>
                <a:cubicBezTo>
                  <a:pt x="5029" y="53664"/>
                  <a:pt x="36462" y="75829"/>
                  <a:pt x="11316" y="100328"/>
                </a:cubicBezTo>
                <a:cubicBezTo>
                  <a:pt x="0" y="124827"/>
                  <a:pt x="31433" y="146992"/>
                  <a:pt x="18860" y="200656"/>
                </a:cubicBezTo>
              </a:path>
            </a:pathLst>
          </a:custGeom>
          <a:noFill/>
          <a:ln w="9744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tlr4_component_oval_75"/>
          <p:cNvSpPr/>
          <p:nvPr/>
        </p:nvSpPr>
        <p:spPr>
          <a:xfrm>
            <a:off x="4238130" y="1335422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tlr4_component_oval_76"/>
          <p:cNvSpPr/>
          <p:nvPr/>
        </p:nvSpPr>
        <p:spPr>
          <a:xfrm>
            <a:off x="4238130" y="1592075"/>
            <a:ext cx="52807" cy="60664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11787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tlr4_component_path_77"/>
          <p:cNvSpPr/>
          <p:nvPr/>
        </p:nvSpPr>
        <p:spPr>
          <a:xfrm>
            <a:off x="3404540" y="630791"/>
            <a:ext cx="246431" cy="921620"/>
          </a:xfrm>
          <a:custGeom>
            <a:avLst/>
            <a:gdLst/>
            <a:ahLst/>
            <a:cxnLst/>
            <a:rect l="0" t="0" r="r" b="b"/>
            <a:pathLst>
              <a:path w="246431" h="921620">
                <a:moveTo>
                  <a:pt x="246431" y="909953"/>
                </a:moveTo>
                <a:lnTo>
                  <a:pt x="246431" y="373314"/>
                </a:lnTo>
                <a:cubicBezTo>
                  <a:pt x="246431" y="233321"/>
                  <a:pt x="246431" y="81662"/>
                  <a:pt x="161940" y="46664"/>
                </a:cubicBezTo>
                <a:cubicBezTo>
                  <a:pt x="77450" y="0"/>
                  <a:pt x="21123" y="104995"/>
                  <a:pt x="35204" y="209989"/>
                </a:cubicBezTo>
                <a:cubicBezTo>
                  <a:pt x="35204" y="326650"/>
                  <a:pt x="98572" y="349982"/>
                  <a:pt x="140818" y="303318"/>
                </a:cubicBezTo>
                <a:lnTo>
                  <a:pt x="140818" y="443311"/>
                </a:lnTo>
                <a:cubicBezTo>
                  <a:pt x="70409" y="396646"/>
                  <a:pt x="0" y="478309"/>
                  <a:pt x="7041" y="571637"/>
                </a:cubicBezTo>
                <a:cubicBezTo>
                  <a:pt x="7041" y="699964"/>
                  <a:pt x="77450" y="723296"/>
                  <a:pt x="105613" y="606636"/>
                </a:cubicBezTo>
                <a:cubicBezTo>
                  <a:pt x="126736" y="536639"/>
                  <a:pt x="154899" y="536639"/>
                  <a:pt x="168981" y="571637"/>
                </a:cubicBezTo>
                <a:lnTo>
                  <a:pt x="168981" y="921620"/>
                </a:lnTo>
                <a:close/>
              </a:path>
            </a:pathLst>
          </a:custGeom>
          <a:gradFill rotWithShape="1">
            <a:gsLst>
              <a:gs pos="0">
                <a:srgbClr val="D4E9FA"/>
              </a:gs>
              <a:gs pos="33000">
                <a:srgbClr val="9CCBF0"/>
              </a:gs>
              <a:gs pos="70000">
                <a:srgbClr val="6FA7D6"/>
              </a:gs>
              <a:gs pos="100000">
                <a:srgbClr val="4D8EBF"/>
              </a:gs>
            </a:gsLst>
            <a:lin ang="2700000" scaled="1"/>
          </a:gradFill>
          <a:ln w="13358" cap="rnd">
            <a:solidFill>
              <a:srgbClr val="2F6EA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tlr4_component_path_78"/>
          <p:cNvSpPr/>
          <p:nvPr/>
        </p:nvSpPr>
        <p:spPr>
          <a:xfrm>
            <a:off x="3481989" y="700787"/>
            <a:ext cx="133777" cy="174991"/>
          </a:xfrm>
          <a:custGeom>
            <a:avLst/>
            <a:gdLst/>
            <a:ahLst/>
            <a:cxnLst/>
            <a:rect l="0" t="0" r="r" b="b"/>
            <a:pathLst>
              <a:path w="133777" h="174991">
                <a:moveTo>
                  <a:pt x="133777" y="174991"/>
                </a:moveTo>
                <a:cubicBezTo>
                  <a:pt x="133777" y="46664"/>
                  <a:pt x="35204" y="0"/>
                  <a:pt x="0" y="81662"/>
                </a:cubicBezTo>
              </a:path>
            </a:pathLst>
          </a:custGeom>
          <a:noFill/>
          <a:ln w="12573" cap="rnd">
            <a:solidFill>
              <a:srgbClr val="D5EAF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tlr4_component_path_79"/>
          <p:cNvSpPr/>
          <p:nvPr/>
        </p:nvSpPr>
        <p:spPr>
          <a:xfrm>
            <a:off x="3622807" y="1027437"/>
            <a:ext cx="95" cy="431645"/>
          </a:xfrm>
          <a:custGeom>
            <a:avLst/>
            <a:gdLst/>
            <a:ahLst/>
            <a:cxnLst/>
            <a:rect l="0" t="0" r="r" b="b"/>
            <a:pathLst>
              <a:path w="95" h="431645">
                <a:moveTo>
                  <a:pt x="0" y="0"/>
                </a:moveTo>
                <a:lnTo>
                  <a:pt x="0" y="431645"/>
                </a:lnTo>
              </a:path>
            </a:pathLst>
          </a:custGeom>
          <a:noFill/>
          <a:ln w="10215" cap="rnd">
            <a:solidFill>
              <a:srgbClr val="D5EAF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tlr4_component_oval_80"/>
          <p:cNvSpPr/>
          <p:nvPr/>
        </p:nvSpPr>
        <p:spPr>
          <a:xfrm>
            <a:off x="3612246" y="1482414"/>
            <a:ext cx="67592" cy="272986"/>
          </a:xfrm>
          <a:prstGeom prst="ellipse">
            <a:avLst/>
          </a:prstGeom>
          <a:gradFill rotWithShape="1">
            <a:gsLst>
              <a:gs pos="0">
                <a:srgbClr val="B7DEF5"/>
              </a:gs>
              <a:gs pos="45000">
                <a:srgbClr val="6BAAD5"/>
              </a:gs>
              <a:gs pos="100000">
                <a:srgbClr val="407FAF"/>
              </a:gs>
            </a:gsLst>
            <a:lin ang="1500000" scaled="1"/>
          </a:gradFill>
          <a:ln w="12573">
            <a:solidFill>
              <a:srgbClr val="2763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tlr4_component_path_81"/>
          <p:cNvSpPr/>
          <p:nvPr/>
        </p:nvSpPr>
        <p:spPr>
          <a:xfrm>
            <a:off x="3629820" y="1540745"/>
            <a:ext cx="95" cy="128327"/>
          </a:xfrm>
          <a:custGeom>
            <a:avLst/>
            <a:gdLst/>
            <a:ahLst/>
            <a:cxnLst/>
            <a:rect l="0" t="0" r="r" b="b"/>
            <a:pathLst>
              <a:path w="95" h="128327">
                <a:moveTo>
                  <a:pt x="0" y="0"/>
                </a:moveTo>
                <a:lnTo>
                  <a:pt x="0" y="128327"/>
                </a:lnTo>
              </a:path>
            </a:pathLst>
          </a:custGeom>
          <a:noFill/>
          <a:ln w="8643" cap="rnd">
            <a:solidFill>
              <a:srgbClr val="C1E2F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tlr4_component_path_82"/>
          <p:cNvSpPr/>
          <p:nvPr/>
        </p:nvSpPr>
        <p:spPr>
          <a:xfrm>
            <a:off x="3721379" y="630791"/>
            <a:ext cx="246431" cy="921620"/>
          </a:xfrm>
          <a:custGeom>
            <a:avLst/>
            <a:gdLst/>
            <a:ahLst/>
            <a:cxnLst/>
            <a:rect l="0" t="0" r="r" b="b"/>
            <a:pathLst>
              <a:path w="246431" h="921620">
                <a:moveTo>
                  <a:pt x="0" y="909953"/>
                </a:moveTo>
                <a:lnTo>
                  <a:pt x="0" y="373314"/>
                </a:lnTo>
                <a:cubicBezTo>
                  <a:pt x="0" y="233321"/>
                  <a:pt x="0" y="81662"/>
                  <a:pt x="84491" y="46664"/>
                </a:cubicBezTo>
                <a:cubicBezTo>
                  <a:pt x="168981" y="0"/>
                  <a:pt x="225308" y="104995"/>
                  <a:pt x="211226" y="209989"/>
                </a:cubicBezTo>
                <a:cubicBezTo>
                  <a:pt x="211226" y="326650"/>
                  <a:pt x="147858" y="349982"/>
                  <a:pt x="105613" y="303318"/>
                </a:cubicBezTo>
                <a:lnTo>
                  <a:pt x="105613" y="443311"/>
                </a:lnTo>
                <a:cubicBezTo>
                  <a:pt x="176022" y="396646"/>
                  <a:pt x="246431" y="478309"/>
                  <a:pt x="239390" y="571637"/>
                </a:cubicBezTo>
                <a:cubicBezTo>
                  <a:pt x="239390" y="699964"/>
                  <a:pt x="168981" y="723296"/>
                  <a:pt x="140818" y="606636"/>
                </a:cubicBezTo>
                <a:cubicBezTo>
                  <a:pt x="119695" y="536639"/>
                  <a:pt x="91531" y="536639"/>
                  <a:pt x="77450" y="571637"/>
                </a:cubicBezTo>
                <a:lnTo>
                  <a:pt x="77450" y="921620"/>
                </a:lnTo>
                <a:close/>
              </a:path>
            </a:pathLst>
          </a:custGeom>
          <a:gradFill rotWithShape="1">
            <a:gsLst>
              <a:gs pos="0">
                <a:srgbClr val="D4E9FA"/>
              </a:gs>
              <a:gs pos="33000">
                <a:srgbClr val="9CCBF0"/>
              </a:gs>
              <a:gs pos="70000">
                <a:srgbClr val="6FA7D6"/>
              </a:gs>
              <a:gs pos="100000">
                <a:srgbClr val="4D8EBF"/>
              </a:gs>
            </a:gsLst>
            <a:lin ang="8100000" scaled="1"/>
          </a:gradFill>
          <a:ln w="13358" cap="rnd">
            <a:solidFill>
              <a:srgbClr val="2F6EA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tlr4_component_path_83"/>
          <p:cNvSpPr/>
          <p:nvPr/>
        </p:nvSpPr>
        <p:spPr>
          <a:xfrm>
            <a:off x="3756584" y="700787"/>
            <a:ext cx="133777" cy="174991"/>
          </a:xfrm>
          <a:custGeom>
            <a:avLst/>
            <a:gdLst/>
            <a:ahLst/>
            <a:cxnLst/>
            <a:rect l="0" t="0" r="r" b="b"/>
            <a:pathLst>
              <a:path w="133777" h="174991">
                <a:moveTo>
                  <a:pt x="0" y="174991"/>
                </a:moveTo>
                <a:cubicBezTo>
                  <a:pt x="0" y="46664"/>
                  <a:pt x="98572" y="0"/>
                  <a:pt x="133777" y="81662"/>
                </a:cubicBezTo>
              </a:path>
            </a:pathLst>
          </a:custGeom>
          <a:noFill/>
          <a:ln w="12573" cap="rnd">
            <a:solidFill>
              <a:srgbClr val="D5EAF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tlr4_component_path_84"/>
          <p:cNvSpPr/>
          <p:nvPr/>
        </p:nvSpPr>
        <p:spPr>
          <a:xfrm>
            <a:off x="3749543" y="1027437"/>
            <a:ext cx="95" cy="431645"/>
          </a:xfrm>
          <a:custGeom>
            <a:avLst/>
            <a:gdLst/>
            <a:ahLst/>
            <a:cxnLst/>
            <a:rect l="0" t="0" r="r" b="b"/>
            <a:pathLst>
              <a:path w="95" h="431645">
                <a:moveTo>
                  <a:pt x="0" y="0"/>
                </a:moveTo>
                <a:lnTo>
                  <a:pt x="0" y="431645"/>
                </a:lnTo>
              </a:path>
            </a:pathLst>
          </a:custGeom>
          <a:noFill/>
          <a:ln w="10215" cap="rnd">
            <a:solidFill>
              <a:srgbClr val="D5EAF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tlr4_component_oval_85"/>
          <p:cNvSpPr/>
          <p:nvPr/>
        </p:nvSpPr>
        <p:spPr>
          <a:xfrm>
            <a:off x="3692512" y="1482414"/>
            <a:ext cx="67592" cy="272986"/>
          </a:xfrm>
          <a:prstGeom prst="ellipse">
            <a:avLst/>
          </a:prstGeom>
          <a:gradFill rotWithShape="1">
            <a:gsLst>
              <a:gs pos="0">
                <a:srgbClr val="B7DEF5"/>
              </a:gs>
              <a:gs pos="45000">
                <a:srgbClr val="6BAAD5"/>
              </a:gs>
              <a:gs pos="100000">
                <a:srgbClr val="407FAF"/>
              </a:gs>
            </a:gsLst>
            <a:lin ang="1500000" scaled="1"/>
          </a:gradFill>
          <a:ln w="12573">
            <a:solidFill>
              <a:srgbClr val="2763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tlr4_component_path_86"/>
          <p:cNvSpPr/>
          <p:nvPr/>
        </p:nvSpPr>
        <p:spPr>
          <a:xfrm>
            <a:off x="3710086" y="1540745"/>
            <a:ext cx="95" cy="128327"/>
          </a:xfrm>
          <a:custGeom>
            <a:avLst/>
            <a:gdLst/>
            <a:ahLst/>
            <a:cxnLst/>
            <a:rect l="0" t="0" r="r" b="b"/>
            <a:pathLst>
              <a:path w="95" h="128327">
                <a:moveTo>
                  <a:pt x="0" y="0"/>
                </a:moveTo>
                <a:lnTo>
                  <a:pt x="0" y="128327"/>
                </a:lnTo>
              </a:path>
            </a:pathLst>
          </a:custGeom>
          <a:noFill/>
          <a:ln w="8643" cap="rnd">
            <a:solidFill>
              <a:srgbClr val="C1E2F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tmao_macrophage_component_path_1"/>
          <p:cNvSpPr/>
          <p:nvPr/>
        </p:nvSpPr>
        <p:spPr>
          <a:xfrm>
            <a:off x="2672011" y="3755232"/>
            <a:ext cx="757291" cy="762080"/>
          </a:xfrm>
          <a:custGeom>
            <a:avLst/>
            <a:gdLst/>
            <a:ahLst/>
            <a:cxnLst/>
            <a:rect l="0" t="0" r="r" b="b"/>
            <a:pathLst>
              <a:path w="757291" h="762080">
                <a:moveTo>
                  <a:pt x="756643" y="384958"/>
                </a:moveTo>
                <a:cubicBezTo>
                  <a:pt x="755994" y="392235"/>
                  <a:pt x="752112" y="399783"/>
                  <a:pt x="747382" y="406676"/>
                </a:cubicBezTo>
                <a:cubicBezTo>
                  <a:pt x="742653" y="413569"/>
                  <a:pt x="734809" y="420129"/>
                  <a:pt x="728264" y="426317"/>
                </a:cubicBezTo>
                <a:cubicBezTo>
                  <a:pt x="721718" y="432505"/>
                  <a:pt x="713625" y="438029"/>
                  <a:pt x="708109" y="443805"/>
                </a:cubicBezTo>
                <a:cubicBezTo>
                  <a:pt x="702594" y="449581"/>
                  <a:pt x="697699" y="454900"/>
                  <a:pt x="695169" y="460973"/>
                </a:cubicBezTo>
                <a:cubicBezTo>
                  <a:pt x="692638" y="467046"/>
                  <a:pt x="692363" y="473286"/>
                  <a:pt x="692926" y="480242"/>
                </a:cubicBezTo>
                <a:cubicBezTo>
                  <a:pt x="693489" y="487198"/>
                  <a:pt x="696581" y="494921"/>
                  <a:pt x="698547" y="502710"/>
                </a:cubicBezTo>
                <a:cubicBezTo>
                  <a:pt x="700513" y="510499"/>
                  <a:pt x="703846" y="519159"/>
                  <a:pt x="704722" y="526977"/>
                </a:cubicBezTo>
                <a:cubicBezTo>
                  <a:pt x="705598" y="534795"/>
                  <a:pt x="705934" y="542916"/>
                  <a:pt x="703802" y="549617"/>
                </a:cubicBezTo>
                <a:cubicBezTo>
                  <a:pt x="701669" y="556318"/>
                  <a:pt x="697404" y="562356"/>
                  <a:pt x="691929" y="567183"/>
                </a:cubicBezTo>
                <a:cubicBezTo>
                  <a:pt x="686455" y="572010"/>
                  <a:pt x="678411" y="575400"/>
                  <a:pt x="670954" y="578580"/>
                </a:cubicBezTo>
                <a:cubicBezTo>
                  <a:pt x="663497" y="581760"/>
                  <a:pt x="654378" y="583472"/>
                  <a:pt x="647188" y="586263"/>
                </a:cubicBezTo>
                <a:cubicBezTo>
                  <a:pt x="639997" y="589054"/>
                  <a:pt x="632844" y="591243"/>
                  <a:pt x="627813" y="595326"/>
                </a:cubicBezTo>
                <a:cubicBezTo>
                  <a:pt x="622782" y="599410"/>
                  <a:pt x="619329" y="604255"/>
                  <a:pt x="617001" y="610766"/>
                </a:cubicBezTo>
                <a:cubicBezTo>
                  <a:pt x="614674" y="617277"/>
                  <a:pt x="614493" y="625647"/>
                  <a:pt x="613845" y="634392"/>
                </a:cubicBezTo>
                <a:cubicBezTo>
                  <a:pt x="613198" y="643137"/>
                  <a:pt x="614044" y="653875"/>
                  <a:pt x="613114" y="663234"/>
                </a:cubicBezTo>
                <a:cubicBezTo>
                  <a:pt x="612184" y="672592"/>
                  <a:pt x="611296" y="682900"/>
                  <a:pt x="608265" y="690544"/>
                </a:cubicBezTo>
                <a:cubicBezTo>
                  <a:pt x="605234" y="698187"/>
                  <a:pt x="600811" y="705008"/>
                  <a:pt x="594929" y="709093"/>
                </a:cubicBezTo>
                <a:cubicBezTo>
                  <a:pt x="589046" y="713177"/>
                  <a:pt x="581105" y="714850"/>
                  <a:pt x="572969" y="715049"/>
                </a:cubicBezTo>
                <a:cubicBezTo>
                  <a:pt x="564834" y="715247"/>
                  <a:pt x="555011" y="712508"/>
                  <a:pt x="546116" y="710285"/>
                </a:cubicBezTo>
                <a:cubicBezTo>
                  <a:pt x="537221" y="708063"/>
                  <a:pt x="527739" y="703789"/>
                  <a:pt x="519600" y="701712"/>
                </a:cubicBezTo>
                <a:cubicBezTo>
                  <a:pt x="511461" y="699636"/>
                  <a:pt x="503897" y="697402"/>
                  <a:pt x="497281" y="697829"/>
                </a:cubicBezTo>
                <a:cubicBezTo>
                  <a:pt x="490666" y="698255"/>
                  <a:pt x="485232" y="700447"/>
                  <a:pt x="479906" y="704272"/>
                </a:cubicBezTo>
                <a:cubicBezTo>
                  <a:pt x="474581" y="708096"/>
                  <a:pt x="470260" y="714611"/>
                  <a:pt x="465330" y="720774"/>
                </a:cubicBezTo>
                <a:cubicBezTo>
                  <a:pt x="460400" y="726937"/>
                  <a:pt x="455761" y="735206"/>
                  <a:pt x="450326" y="741249"/>
                </a:cubicBezTo>
                <a:cubicBezTo>
                  <a:pt x="444890" y="747293"/>
                  <a:pt x="439022" y="753646"/>
                  <a:pt x="432718" y="757035"/>
                </a:cubicBezTo>
                <a:cubicBezTo>
                  <a:pt x="426414" y="760424"/>
                  <a:pt x="419391" y="762080"/>
                  <a:pt x="412503" y="761582"/>
                </a:cubicBezTo>
                <a:cubicBezTo>
                  <a:pt x="405614" y="761083"/>
                  <a:pt x="398267" y="757677"/>
                  <a:pt x="391388" y="754044"/>
                </a:cubicBezTo>
                <a:cubicBezTo>
                  <a:pt x="384508" y="750411"/>
                  <a:pt x="377705" y="744212"/>
                  <a:pt x="371227" y="739784"/>
                </a:cubicBezTo>
                <a:cubicBezTo>
                  <a:pt x="364748" y="735357"/>
                  <a:pt x="358716" y="730046"/>
                  <a:pt x="352517" y="727479"/>
                </a:cubicBezTo>
                <a:cubicBezTo>
                  <a:pt x="346317" y="724913"/>
                  <a:pt x="340477" y="723578"/>
                  <a:pt x="334027" y="724386"/>
                </a:cubicBezTo>
                <a:cubicBezTo>
                  <a:pt x="327578" y="725193"/>
                  <a:pt x="321000" y="728625"/>
                  <a:pt x="313819" y="732326"/>
                </a:cubicBezTo>
                <a:cubicBezTo>
                  <a:pt x="306638" y="736027"/>
                  <a:pt x="298812" y="742254"/>
                  <a:pt x="290941" y="746592"/>
                </a:cubicBezTo>
                <a:cubicBezTo>
                  <a:pt x="283070" y="750929"/>
                  <a:pt x="274445" y="756239"/>
                  <a:pt x="266593" y="758351"/>
                </a:cubicBezTo>
                <a:cubicBezTo>
                  <a:pt x="258741" y="760463"/>
                  <a:pt x="250622" y="761355"/>
                  <a:pt x="243830" y="759264"/>
                </a:cubicBezTo>
                <a:cubicBezTo>
                  <a:pt x="237038" y="757174"/>
                  <a:pt x="230845" y="752181"/>
                  <a:pt x="225842" y="745807"/>
                </a:cubicBezTo>
                <a:cubicBezTo>
                  <a:pt x="220839" y="739433"/>
                  <a:pt x="217161" y="729853"/>
                  <a:pt x="213810" y="721019"/>
                </a:cubicBezTo>
                <a:cubicBezTo>
                  <a:pt x="210459" y="712185"/>
                  <a:pt x="208512" y="701343"/>
                  <a:pt x="205736" y="692803"/>
                </a:cubicBezTo>
                <a:cubicBezTo>
                  <a:pt x="202959" y="684263"/>
                  <a:pt x="200858" y="675751"/>
                  <a:pt x="197151" y="669779"/>
                </a:cubicBezTo>
                <a:cubicBezTo>
                  <a:pt x="193444" y="663808"/>
                  <a:pt x="189212" y="659671"/>
                  <a:pt x="183495" y="656973"/>
                </a:cubicBezTo>
                <a:cubicBezTo>
                  <a:pt x="177778" y="654275"/>
                  <a:pt x="170533" y="654096"/>
                  <a:pt x="162851" y="653592"/>
                </a:cubicBezTo>
                <a:cubicBezTo>
                  <a:pt x="155170" y="653089"/>
                  <a:pt x="145782" y="654410"/>
                  <a:pt x="137406" y="653953"/>
                </a:cubicBezTo>
                <a:cubicBezTo>
                  <a:pt x="129031" y="653496"/>
                  <a:pt x="119789" y="653273"/>
                  <a:pt x="112598" y="650851"/>
                </a:cubicBezTo>
                <a:cubicBezTo>
                  <a:pt x="105407" y="648430"/>
                  <a:pt x="98813" y="644665"/>
                  <a:pt x="94260" y="639424"/>
                </a:cubicBezTo>
                <a:cubicBezTo>
                  <a:pt x="89706" y="634182"/>
                  <a:pt x="87036" y="626856"/>
                  <a:pt x="85277" y="619401"/>
                </a:cubicBezTo>
                <a:cubicBezTo>
                  <a:pt x="83517" y="611947"/>
                  <a:pt x="83991" y="602798"/>
                  <a:pt x="83703" y="594697"/>
                </a:cubicBezTo>
                <a:cubicBezTo>
                  <a:pt x="83415" y="586597"/>
                  <a:pt x="84503" y="577981"/>
                  <a:pt x="83548" y="570796"/>
                </a:cubicBezTo>
                <a:cubicBezTo>
                  <a:pt x="82593" y="563611"/>
                  <a:pt x="81361" y="557144"/>
                  <a:pt x="77972" y="551587"/>
                </a:cubicBezTo>
                <a:cubicBezTo>
                  <a:pt x="74583" y="546030"/>
                  <a:pt x="69369" y="541793"/>
                  <a:pt x="63213" y="537456"/>
                </a:cubicBezTo>
                <a:cubicBezTo>
                  <a:pt x="57058" y="533120"/>
                  <a:pt x="48537" y="529819"/>
                  <a:pt x="41042" y="525567"/>
                </a:cubicBezTo>
                <a:cubicBezTo>
                  <a:pt x="33546" y="521315"/>
                  <a:pt x="24540" y="517213"/>
                  <a:pt x="18239" y="511944"/>
                </a:cubicBezTo>
                <a:cubicBezTo>
                  <a:pt x="11937" y="506675"/>
                  <a:pt x="6004" y="500662"/>
                  <a:pt x="3235" y="493953"/>
                </a:cubicBezTo>
                <a:cubicBezTo>
                  <a:pt x="466" y="487243"/>
                  <a:pt x="0" y="479423"/>
                  <a:pt x="1624" y="471687"/>
                </a:cubicBezTo>
                <a:cubicBezTo>
                  <a:pt x="3249" y="463951"/>
                  <a:pt x="8121" y="455419"/>
                  <a:pt x="12982" y="447536"/>
                </a:cubicBezTo>
                <a:cubicBezTo>
                  <a:pt x="17843" y="439654"/>
                  <a:pt x="25352" y="431690"/>
                  <a:pt x="30791" y="424394"/>
                </a:cubicBezTo>
                <a:cubicBezTo>
                  <a:pt x="36229" y="417097"/>
                  <a:pt x="42431" y="410331"/>
                  <a:pt x="45611" y="403758"/>
                </a:cubicBezTo>
                <a:cubicBezTo>
                  <a:pt x="48791" y="397186"/>
                  <a:pt x="50517" y="391263"/>
                  <a:pt x="49869" y="384958"/>
                </a:cubicBezTo>
                <a:cubicBezTo>
                  <a:pt x="49220" y="378654"/>
                  <a:pt x="45709" y="372600"/>
                  <a:pt x="41720" y="365934"/>
                </a:cubicBezTo>
                <a:cubicBezTo>
                  <a:pt x="37731" y="359268"/>
                  <a:pt x="31000" y="352268"/>
                  <a:pt x="25934" y="344961"/>
                </a:cubicBezTo>
                <a:cubicBezTo>
                  <a:pt x="20867" y="337653"/>
                  <a:pt x="14624" y="329703"/>
                  <a:pt x="11321" y="322090"/>
                </a:cubicBezTo>
                <a:cubicBezTo>
                  <a:pt x="8018" y="314478"/>
                  <a:pt x="5706" y="306451"/>
                  <a:pt x="6115" y="299283"/>
                </a:cubicBezTo>
                <a:cubicBezTo>
                  <a:pt x="6524" y="292116"/>
                  <a:pt x="9554" y="285180"/>
                  <a:pt x="13774" y="279086"/>
                </a:cubicBezTo>
                <a:cubicBezTo>
                  <a:pt x="17994" y="272992"/>
                  <a:pt x="25106" y="267750"/>
                  <a:pt x="31435" y="262720"/>
                </a:cubicBezTo>
                <a:cubicBezTo>
                  <a:pt x="37764" y="257691"/>
                  <a:pt x="45817" y="253638"/>
                  <a:pt x="51748" y="248909"/>
                </a:cubicBezTo>
                <a:cubicBezTo>
                  <a:pt x="57679" y="244180"/>
                  <a:pt x="63421" y="239880"/>
                  <a:pt x="67020" y="234345"/>
                </a:cubicBezTo>
                <a:cubicBezTo>
                  <a:pt x="70619" y="228811"/>
                  <a:pt x="72429" y="222759"/>
                  <a:pt x="73344" y="215700"/>
                </a:cubicBezTo>
                <a:cubicBezTo>
                  <a:pt x="74259" y="208641"/>
                  <a:pt x="72940" y="200310"/>
                  <a:pt x="72512" y="191991"/>
                </a:cubicBezTo>
                <a:cubicBezTo>
                  <a:pt x="72083" y="183672"/>
                  <a:pt x="70317" y="174070"/>
                  <a:pt x="70770" y="165785"/>
                </a:cubicBezTo>
                <a:cubicBezTo>
                  <a:pt x="71224" y="157500"/>
                  <a:pt x="72029" y="148816"/>
                  <a:pt x="75234" y="142282"/>
                </a:cubicBezTo>
                <a:cubicBezTo>
                  <a:pt x="78439" y="135748"/>
                  <a:pt x="83527" y="130196"/>
                  <a:pt x="90001" y="126581"/>
                </a:cubicBezTo>
                <a:cubicBezTo>
                  <a:pt x="96475" y="122965"/>
                  <a:pt x="105388" y="121448"/>
                  <a:pt x="114081" y="120590"/>
                </a:cubicBezTo>
                <a:cubicBezTo>
                  <a:pt x="122774" y="119731"/>
                  <a:pt x="133238" y="121121"/>
                  <a:pt x="142158" y="121430"/>
                </a:cubicBezTo>
                <a:cubicBezTo>
                  <a:pt x="151077" y="121740"/>
                  <a:pt x="160301" y="123269"/>
                  <a:pt x="167598" y="122444"/>
                </a:cubicBezTo>
                <a:cubicBezTo>
                  <a:pt x="174895" y="121620"/>
                  <a:pt x="181048" y="120259"/>
                  <a:pt x="185939" y="116485"/>
                </a:cubicBezTo>
                <a:cubicBezTo>
                  <a:pt x="190830" y="112710"/>
                  <a:pt x="193893" y="106823"/>
                  <a:pt x="196943" y="99797"/>
                </a:cubicBezTo>
                <a:cubicBezTo>
                  <a:pt x="199992" y="92770"/>
                  <a:pt x="201570" y="83117"/>
                  <a:pt x="204236" y="74325"/>
                </a:cubicBezTo>
                <a:cubicBezTo>
                  <a:pt x="206903" y="65533"/>
                  <a:pt x="209180" y="55013"/>
                  <a:pt x="212942" y="47045"/>
                </a:cubicBezTo>
                <a:cubicBezTo>
                  <a:pt x="216704" y="39076"/>
                  <a:pt x="221222" y="31284"/>
                  <a:pt x="226810" y="26514"/>
                </a:cubicBezTo>
                <a:cubicBezTo>
                  <a:pt x="232399" y="21743"/>
                  <a:pt x="239331" y="19082"/>
                  <a:pt x="246474" y="18421"/>
                </a:cubicBezTo>
                <a:cubicBezTo>
                  <a:pt x="253617" y="17760"/>
                  <a:pt x="261907" y="20143"/>
                  <a:pt x="269670" y="22546"/>
                </a:cubicBezTo>
                <a:cubicBezTo>
                  <a:pt x="277433" y="24949"/>
                  <a:pt x="285611" y="29820"/>
                  <a:pt x="293054" y="32841"/>
                </a:cubicBezTo>
                <a:cubicBezTo>
                  <a:pt x="300497" y="35863"/>
                  <a:pt x="307610" y="39561"/>
                  <a:pt x="314329" y="40675"/>
                </a:cubicBezTo>
                <a:cubicBezTo>
                  <a:pt x="321048" y="41789"/>
                  <a:pt x="327131" y="41544"/>
                  <a:pt x="333369" y="39525"/>
                </a:cubicBezTo>
                <a:cubicBezTo>
                  <a:pt x="339607" y="37506"/>
                  <a:pt x="345449" y="32956"/>
                  <a:pt x="351759" y="28561"/>
                </a:cubicBezTo>
                <a:cubicBezTo>
                  <a:pt x="358068" y="24167"/>
                  <a:pt x="364495" y="17586"/>
                  <a:pt x="371227" y="13158"/>
                </a:cubicBezTo>
                <a:cubicBezTo>
                  <a:pt x="377958" y="8731"/>
                  <a:pt x="385157" y="3801"/>
                  <a:pt x="392146" y="1996"/>
                </a:cubicBezTo>
                <a:cubicBezTo>
                  <a:pt x="399135" y="191"/>
                  <a:pt x="406484" y="0"/>
                  <a:pt x="413161" y="2328"/>
                </a:cubicBezTo>
                <a:cubicBezTo>
                  <a:pt x="419838" y="4657"/>
                  <a:pt x="426366" y="9991"/>
                  <a:pt x="432208" y="15966"/>
                </a:cubicBezTo>
                <a:cubicBezTo>
                  <a:pt x="438050" y="21942"/>
                  <a:pt x="443206" y="30824"/>
                  <a:pt x="448213" y="38183"/>
                </a:cubicBezTo>
                <a:cubicBezTo>
                  <a:pt x="453221" y="45543"/>
                  <a:pt x="457412" y="54252"/>
                  <a:pt x="462253" y="60124"/>
                </a:cubicBezTo>
                <a:cubicBezTo>
                  <a:pt x="467095" y="65995"/>
                  <a:pt x="471586" y="71019"/>
                  <a:pt x="477262" y="73414"/>
                </a:cubicBezTo>
                <a:cubicBezTo>
                  <a:pt x="482939" y="75809"/>
                  <a:pt x="489112" y="75669"/>
                  <a:pt x="496313" y="74492"/>
                </a:cubicBezTo>
                <a:cubicBezTo>
                  <a:pt x="503513" y="73315"/>
                  <a:pt x="511917" y="69293"/>
                  <a:pt x="520468" y="66351"/>
                </a:cubicBezTo>
                <a:cubicBezTo>
                  <a:pt x="529018" y="63410"/>
                  <a:pt x="538830" y="58813"/>
                  <a:pt x="547615" y="56842"/>
                </a:cubicBezTo>
                <a:cubicBezTo>
                  <a:pt x="556400" y="54872"/>
                  <a:pt x="565699" y="53274"/>
                  <a:pt x="573178" y="54527"/>
                </a:cubicBezTo>
                <a:cubicBezTo>
                  <a:pt x="580656" y="55781"/>
                  <a:pt x="587428" y="59204"/>
                  <a:pt x="592485" y="64365"/>
                </a:cubicBezTo>
                <a:cubicBezTo>
                  <a:pt x="597541" y="69526"/>
                  <a:pt x="600871" y="77529"/>
                  <a:pt x="603518" y="85493"/>
                </a:cubicBezTo>
                <a:cubicBezTo>
                  <a:pt x="606164" y="93457"/>
                  <a:pt x="606889" y="103557"/>
                  <a:pt x="608363" y="112150"/>
                </a:cubicBezTo>
                <a:cubicBezTo>
                  <a:pt x="609837" y="120742"/>
                  <a:pt x="610213" y="129867"/>
                  <a:pt x="612363" y="137049"/>
                </a:cubicBezTo>
                <a:cubicBezTo>
                  <a:pt x="614513" y="144230"/>
                  <a:pt x="617012" y="150354"/>
                  <a:pt x="621260" y="155239"/>
                </a:cubicBezTo>
                <a:cubicBezTo>
                  <a:pt x="625509" y="160123"/>
                  <a:pt x="631378" y="163194"/>
                  <a:pt x="637855" y="166357"/>
                </a:cubicBezTo>
                <a:cubicBezTo>
                  <a:pt x="644332" y="169521"/>
                  <a:pt x="652765" y="171245"/>
                  <a:pt x="660121" y="174220"/>
                </a:cubicBezTo>
                <a:cubicBezTo>
                  <a:pt x="667477" y="177195"/>
                  <a:pt x="675918" y="179893"/>
                  <a:pt x="681991" y="184208"/>
                </a:cubicBezTo>
                <a:cubicBezTo>
                  <a:pt x="688064" y="188522"/>
                  <a:pt x="693556" y="193775"/>
                  <a:pt x="696557" y="200104"/>
                </a:cubicBezTo>
                <a:cubicBezTo>
                  <a:pt x="699558" y="206434"/>
                  <a:pt x="700418" y="214286"/>
                  <a:pt x="699995" y="222185"/>
                </a:cubicBezTo>
                <a:cubicBezTo>
                  <a:pt x="699571" y="230084"/>
                  <a:pt x="696456" y="239204"/>
                  <a:pt x="694016" y="247499"/>
                </a:cubicBezTo>
                <a:cubicBezTo>
                  <a:pt x="691575" y="255794"/>
                  <a:pt x="687289" y="264405"/>
                  <a:pt x="685351" y="271954"/>
                </a:cubicBezTo>
                <a:cubicBezTo>
                  <a:pt x="683413" y="279504"/>
                  <a:pt x="681499" y="286456"/>
                  <a:pt x="682387" y="292797"/>
                </a:cubicBezTo>
                <a:cubicBezTo>
                  <a:pt x="683275" y="299137"/>
                  <a:pt x="686114" y="304494"/>
                  <a:pt x="690678" y="309998"/>
                </a:cubicBezTo>
                <a:cubicBezTo>
                  <a:pt x="695242" y="315502"/>
                  <a:pt x="702696" y="320315"/>
                  <a:pt x="709770" y="325822"/>
                </a:cubicBezTo>
                <a:cubicBezTo>
                  <a:pt x="716844" y="331329"/>
                  <a:pt x="726203" y="336838"/>
                  <a:pt x="733121" y="343037"/>
                </a:cubicBezTo>
                <a:cubicBezTo>
                  <a:pt x="740038" y="349237"/>
                  <a:pt x="747353" y="356029"/>
                  <a:pt x="751273" y="363016"/>
                </a:cubicBezTo>
                <a:cubicBezTo>
                  <a:pt x="755194" y="370003"/>
                  <a:pt x="757291" y="377682"/>
                  <a:pt x="756643" y="384958"/>
                </a:cubicBezTo>
                <a:close/>
              </a:path>
            </a:pathLst>
          </a:custGeom>
          <a:gradFill rotWithShape="1">
            <a:gsLst>
              <a:gs pos="0">
                <a:srgbClr val="F0EAF8"/>
              </a:gs>
              <a:gs pos="27000">
                <a:srgbClr val="DAD0ED"/>
              </a:gs>
              <a:gs pos="67000">
                <a:srgbClr val="C3B1E0"/>
              </a:gs>
              <a:gs pos="100000">
                <a:srgbClr val="AD96D2"/>
              </a:gs>
            </a:gsLst>
            <a:lin ang="3600000" scaled="1"/>
          </a:gradFill>
          <a:ln w="15317" cap="rnd">
            <a:solidFill>
              <a:srgbClr val="7660A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tmao_macrophage_component_path_2"/>
          <p:cNvSpPr/>
          <p:nvPr/>
        </p:nvSpPr>
        <p:spPr>
          <a:xfrm>
            <a:off x="2694284" y="3778330"/>
            <a:ext cx="711854" cy="716356"/>
          </a:xfrm>
          <a:custGeom>
            <a:avLst/>
            <a:gdLst/>
            <a:ahLst/>
            <a:cxnLst/>
            <a:rect l="0" t="0" r="r" b="b"/>
            <a:pathLst>
              <a:path w="711854" h="716356">
                <a:moveTo>
                  <a:pt x="711244" y="361861"/>
                </a:moveTo>
                <a:cubicBezTo>
                  <a:pt x="710635" y="368701"/>
                  <a:pt x="706986" y="375796"/>
                  <a:pt x="702539" y="382276"/>
                </a:cubicBezTo>
                <a:cubicBezTo>
                  <a:pt x="698093" y="388755"/>
                  <a:pt x="690721" y="394921"/>
                  <a:pt x="684568" y="400738"/>
                </a:cubicBezTo>
                <a:cubicBezTo>
                  <a:pt x="678415" y="406555"/>
                  <a:pt x="670808" y="411747"/>
                  <a:pt x="665623" y="417177"/>
                </a:cubicBezTo>
                <a:cubicBezTo>
                  <a:pt x="660438" y="422606"/>
                  <a:pt x="655837" y="427606"/>
                  <a:pt x="653459" y="433315"/>
                </a:cubicBezTo>
                <a:cubicBezTo>
                  <a:pt x="651080" y="439023"/>
                  <a:pt x="650821" y="444888"/>
                  <a:pt x="651350" y="451427"/>
                </a:cubicBezTo>
                <a:cubicBezTo>
                  <a:pt x="651880" y="457966"/>
                  <a:pt x="654786" y="465225"/>
                  <a:pt x="656634" y="472547"/>
                </a:cubicBezTo>
                <a:cubicBezTo>
                  <a:pt x="658482" y="479869"/>
                  <a:pt x="661616" y="488010"/>
                  <a:pt x="662439" y="495358"/>
                </a:cubicBezTo>
                <a:cubicBezTo>
                  <a:pt x="663262" y="502707"/>
                  <a:pt x="663578" y="510341"/>
                  <a:pt x="661574" y="516640"/>
                </a:cubicBezTo>
                <a:cubicBezTo>
                  <a:pt x="659569" y="522939"/>
                  <a:pt x="655559" y="528615"/>
                  <a:pt x="650413" y="533152"/>
                </a:cubicBezTo>
                <a:cubicBezTo>
                  <a:pt x="645267" y="537690"/>
                  <a:pt x="637707" y="540876"/>
                  <a:pt x="630697" y="543865"/>
                </a:cubicBezTo>
                <a:cubicBezTo>
                  <a:pt x="623687" y="546854"/>
                  <a:pt x="615115" y="548464"/>
                  <a:pt x="608356" y="551087"/>
                </a:cubicBezTo>
                <a:cubicBezTo>
                  <a:pt x="601597" y="553711"/>
                  <a:pt x="594873" y="555768"/>
                  <a:pt x="590144" y="559607"/>
                </a:cubicBezTo>
                <a:cubicBezTo>
                  <a:pt x="585415" y="563446"/>
                  <a:pt x="582170" y="567999"/>
                  <a:pt x="579981" y="574120"/>
                </a:cubicBezTo>
                <a:cubicBezTo>
                  <a:pt x="577793" y="580240"/>
                  <a:pt x="577624" y="588109"/>
                  <a:pt x="577015" y="596329"/>
                </a:cubicBezTo>
                <a:cubicBezTo>
                  <a:pt x="576406" y="604549"/>
                  <a:pt x="577202" y="614643"/>
                  <a:pt x="576327" y="623440"/>
                </a:cubicBezTo>
                <a:cubicBezTo>
                  <a:pt x="575453" y="632237"/>
                  <a:pt x="574618" y="641926"/>
                  <a:pt x="571769" y="649111"/>
                </a:cubicBezTo>
                <a:cubicBezTo>
                  <a:pt x="568920" y="656296"/>
                  <a:pt x="564762" y="662708"/>
                  <a:pt x="559233" y="666547"/>
                </a:cubicBezTo>
                <a:cubicBezTo>
                  <a:pt x="553703" y="670386"/>
                  <a:pt x="546238" y="671959"/>
                  <a:pt x="538591" y="672146"/>
                </a:cubicBezTo>
                <a:cubicBezTo>
                  <a:pt x="530944" y="672332"/>
                  <a:pt x="521710" y="669757"/>
                  <a:pt x="513349" y="667668"/>
                </a:cubicBezTo>
                <a:cubicBezTo>
                  <a:pt x="504988" y="665579"/>
                  <a:pt x="496075" y="661561"/>
                  <a:pt x="488424" y="659610"/>
                </a:cubicBezTo>
                <a:cubicBezTo>
                  <a:pt x="480773" y="657658"/>
                  <a:pt x="473663" y="655558"/>
                  <a:pt x="467444" y="655959"/>
                </a:cubicBezTo>
                <a:cubicBezTo>
                  <a:pt x="461226" y="656360"/>
                  <a:pt x="456118" y="658421"/>
                  <a:pt x="451112" y="662015"/>
                </a:cubicBezTo>
                <a:cubicBezTo>
                  <a:pt x="446106" y="665610"/>
                  <a:pt x="442045" y="671734"/>
                  <a:pt x="437410" y="677527"/>
                </a:cubicBezTo>
                <a:cubicBezTo>
                  <a:pt x="432776" y="683321"/>
                  <a:pt x="428416" y="691093"/>
                  <a:pt x="423306" y="696774"/>
                </a:cubicBezTo>
                <a:cubicBezTo>
                  <a:pt x="418197" y="702455"/>
                  <a:pt x="412680" y="708427"/>
                  <a:pt x="406755" y="711613"/>
                </a:cubicBezTo>
                <a:cubicBezTo>
                  <a:pt x="400829" y="714798"/>
                  <a:pt x="394227" y="716356"/>
                  <a:pt x="387752" y="715887"/>
                </a:cubicBezTo>
                <a:cubicBezTo>
                  <a:pt x="381277" y="715418"/>
                  <a:pt x="374371" y="712217"/>
                  <a:pt x="367904" y="708802"/>
                </a:cubicBezTo>
                <a:cubicBezTo>
                  <a:pt x="361438" y="705387"/>
                  <a:pt x="355043" y="699559"/>
                  <a:pt x="348953" y="695397"/>
                </a:cubicBezTo>
                <a:cubicBezTo>
                  <a:pt x="342863" y="691235"/>
                  <a:pt x="337194" y="686243"/>
                  <a:pt x="331366" y="683831"/>
                </a:cubicBezTo>
                <a:cubicBezTo>
                  <a:pt x="325538" y="681418"/>
                  <a:pt x="320048" y="680163"/>
                  <a:pt x="313986" y="680923"/>
                </a:cubicBezTo>
                <a:cubicBezTo>
                  <a:pt x="307923" y="681682"/>
                  <a:pt x="301740" y="684908"/>
                  <a:pt x="294990" y="688387"/>
                </a:cubicBezTo>
                <a:cubicBezTo>
                  <a:pt x="288240" y="691866"/>
                  <a:pt x="280884" y="697719"/>
                  <a:pt x="273485" y="701796"/>
                </a:cubicBezTo>
                <a:cubicBezTo>
                  <a:pt x="266086" y="705873"/>
                  <a:pt x="257978" y="710865"/>
                  <a:pt x="250597" y="712850"/>
                </a:cubicBezTo>
                <a:cubicBezTo>
                  <a:pt x="243217" y="714836"/>
                  <a:pt x="235584" y="715674"/>
                  <a:pt x="229200" y="713708"/>
                </a:cubicBezTo>
                <a:cubicBezTo>
                  <a:pt x="222816" y="711743"/>
                  <a:pt x="216994" y="707050"/>
                  <a:pt x="212291" y="701059"/>
                </a:cubicBezTo>
                <a:cubicBezTo>
                  <a:pt x="207588" y="695067"/>
                  <a:pt x="204131" y="686062"/>
                  <a:pt x="200981" y="677758"/>
                </a:cubicBezTo>
                <a:cubicBezTo>
                  <a:pt x="197831" y="669454"/>
                  <a:pt x="196001" y="659262"/>
                  <a:pt x="193391" y="651235"/>
                </a:cubicBezTo>
                <a:cubicBezTo>
                  <a:pt x="190782" y="643207"/>
                  <a:pt x="188807" y="635206"/>
                  <a:pt x="185322" y="629593"/>
                </a:cubicBezTo>
                <a:cubicBezTo>
                  <a:pt x="181838" y="623979"/>
                  <a:pt x="177859" y="620091"/>
                  <a:pt x="172485" y="617555"/>
                </a:cubicBezTo>
                <a:cubicBezTo>
                  <a:pt x="167112" y="615019"/>
                  <a:pt x="160301" y="614850"/>
                  <a:pt x="153080" y="614377"/>
                </a:cubicBezTo>
                <a:cubicBezTo>
                  <a:pt x="145860" y="613903"/>
                  <a:pt x="137035" y="615145"/>
                  <a:pt x="129162" y="614716"/>
                </a:cubicBezTo>
                <a:cubicBezTo>
                  <a:pt x="121289" y="614286"/>
                  <a:pt x="112602" y="614076"/>
                  <a:pt x="105842" y="611800"/>
                </a:cubicBezTo>
                <a:cubicBezTo>
                  <a:pt x="99083" y="609524"/>
                  <a:pt x="92884" y="605985"/>
                  <a:pt x="88604" y="601058"/>
                </a:cubicBezTo>
                <a:cubicBezTo>
                  <a:pt x="84324" y="596131"/>
                  <a:pt x="81814" y="589244"/>
                  <a:pt x="80160" y="582237"/>
                </a:cubicBezTo>
                <a:cubicBezTo>
                  <a:pt x="78506" y="575230"/>
                  <a:pt x="78952" y="566630"/>
                  <a:pt x="78681" y="559016"/>
                </a:cubicBezTo>
                <a:cubicBezTo>
                  <a:pt x="78410" y="551401"/>
                  <a:pt x="79433" y="543302"/>
                  <a:pt x="78535" y="536548"/>
                </a:cubicBezTo>
                <a:cubicBezTo>
                  <a:pt x="77637" y="529794"/>
                  <a:pt x="76479" y="523715"/>
                  <a:pt x="73294" y="518492"/>
                </a:cubicBezTo>
                <a:cubicBezTo>
                  <a:pt x="70108" y="513269"/>
                  <a:pt x="65206" y="509285"/>
                  <a:pt x="59421" y="505209"/>
                </a:cubicBezTo>
                <a:cubicBezTo>
                  <a:pt x="53635" y="501132"/>
                  <a:pt x="45625" y="498030"/>
                  <a:pt x="38579" y="494033"/>
                </a:cubicBezTo>
                <a:cubicBezTo>
                  <a:pt x="31533" y="490036"/>
                  <a:pt x="23067" y="486180"/>
                  <a:pt x="17144" y="481227"/>
                </a:cubicBezTo>
                <a:cubicBezTo>
                  <a:pt x="11221" y="476274"/>
                  <a:pt x="5644" y="470622"/>
                  <a:pt x="3041" y="464316"/>
                </a:cubicBezTo>
                <a:cubicBezTo>
                  <a:pt x="438" y="458009"/>
                  <a:pt x="0" y="450658"/>
                  <a:pt x="1527" y="443386"/>
                </a:cubicBezTo>
                <a:cubicBezTo>
                  <a:pt x="3054" y="436114"/>
                  <a:pt x="7634" y="428094"/>
                  <a:pt x="12203" y="420684"/>
                </a:cubicBezTo>
                <a:cubicBezTo>
                  <a:pt x="16772" y="413275"/>
                  <a:pt x="23831" y="405789"/>
                  <a:pt x="28943" y="398930"/>
                </a:cubicBezTo>
                <a:cubicBezTo>
                  <a:pt x="34055" y="392072"/>
                  <a:pt x="39885" y="385711"/>
                  <a:pt x="42874" y="379533"/>
                </a:cubicBezTo>
                <a:cubicBezTo>
                  <a:pt x="45863" y="373355"/>
                  <a:pt x="47486" y="367787"/>
                  <a:pt x="46877" y="361861"/>
                </a:cubicBezTo>
                <a:cubicBezTo>
                  <a:pt x="46267" y="355935"/>
                  <a:pt x="42967" y="350244"/>
                  <a:pt x="39217" y="343978"/>
                </a:cubicBezTo>
                <a:cubicBezTo>
                  <a:pt x="35467" y="337712"/>
                  <a:pt x="29140" y="331132"/>
                  <a:pt x="24378" y="324263"/>
                </a:cubicBezTo>
                <a:cubicBezTo>
                  <a:pt x="19615" y="317394"/>
                  <a:pt x="13747" y="309921"/>
                  <a:pt x="10642" y="302765"/>
                </a:cubicBezTo>
                <a:cubicBezTo>
                  <a:pt x="7537" y="295609"/>
                  <a:pt x="5364" y="288064"/>
                  <a:pt x="5748" y="281326"/>
                </a:cubicBezTo>
                <a:cubicBezTo>
                  <a:pt x="6133" y="274589"/>
                  <a:pt x="8981" y="268069"/>
                  <a:pt x="12948" y="262341"/>
                </a:cubicBezTo>
                <a:cubicBezTo>
                  <a:pt x="16915" y="256612"/>
                  <a:pt x="23599" y="251685"/>
                  <a:pt x="29549" y="246957"/>
                </a:cubicBezTo>
                <a:cubicBezTo>
                  <a:pt x="35498" y="242230"/>
                  <a:pt x="43068" y="238420"/>
                  <a:pt x="48643" y="233975"/>
                </a:cubicBezTo>
                <a:cubicBezTo>
                  <a:pt x="54218" y="229529"/>
                  <a:pt x="59616" y="225487"/>
                  <a:pt x="62999" y="220285"/>
                </a:cubicBezTo>
                <a:cubicBezTo>
                  <a:pt x="66382" y="215082"/>
                  <a:pt x="68083" y="209394"/>
                  <a:pt x="68943" y="202758"/>
                </a:cubicBezTo>
                <a:cubicBezTo>
                  <a:pt x="69804" y="196123"/>
                  <a:pt x="68564" y="188292"/>
                  <a:pt x="68161" y="180472"/>
                </a:cubicBezTo>
                <a:cubicBezTo>
                  <a:pt x="67758" y="172652"/>
                  <a:pt x="66098" y="163626"/>
                  <a:pt x="66524" y="155838"/>
                </a:cubicBezTo>
                <a:cubicBezTo>
                  <a:pt x="66951" y="148050"/>
                  <a:pt x="67707" y="139887"/>
                  <a:pt x="70720" y="133745"/>
                </a:cubicBezTo>
                <a:cubicBezTo>
                  <a:pt x="73733" y="127603"/>
                  <a:pt x="78515" y="122384"/>
                  <a:pt x="84601" y="118986"/>
                </a:cubicBezTo>
                <a:cubicBezTo>
                  <a:pt x="90687" y="115587"/>
                  <a:pt x="99065" y="114161"/>
                  <a:pt x="107236" y="113354"/>
                </a:cubicBezTo>
                <a:cubicBezTo>
                  <a:pt x="115407" y="112548"/>
                  <a:pt x="125244" y="113854"/>
                  <a:pt x="133628" y="114145"/>
                </a:cubicBezTo>
                <a:cubicBezTo>
                  <a:pt x="142013" y="114435"/>
                  <a:pt x="150683" y="115872"/>
                  <a:pt x="157542" y="115098"/>
                </a:cubicBezTo>
                <a:cubicBezTo>
                  <a:pt x="164401" y="114323"/>
                  <a:pt x="170185" y="113044"/>
                  <a:pt x="174782" y="109496"/>
                </a:cubicBezTo>
                <a:cubicBezTo>
                  <a:pt x="179380" y="105947"/>
                  <a:pt x="182260" y="100414"/>
                  <a:pt x="185126" y="93809"/>
                </a:cubicBezTo>
                <a:cubicBezTo>
                  <a:pt x="187993" y="87204"/>
                  <a:pt x="189475" y="78130"/>
                  <a:pt x="191982" y="69865"/>
                </a:cubicBezTo>
                <a:cubicBezTo>
                  <a:pt x="194488" y="61601"/>
                  <a:pt x="196629" y="51713"/>
                  <a:pt x="200165" y="44222"/>
                </a:cubicBezTo>
                <a:cubicBezTo>
                  <a:pt x="203702" y="36732"/>
                  <a:pt x="207948" y="29407"/>
                  <a:pt x="213202" y="24923"/>
                </a:cubicBezTo>
                <a:cubicBezTo>
                  <a:pt x="218455" y="20439"/>
                  <a:pt x="224971" y="17937"/>
                  <a:pt x="231685" y="17316"/>
                </a:cubicBezTo>
                <a:cubicBezTo>
                  <a:pt x="238400" y="16694"/>
                  <a:pt x="246192" y="18934"/>
                  <a:pt x="253490" y="21193"/>
                </a:cubicBezTo>
                <a:cubicBezTo>
                  <a:pt x="260787" y="23452"/>
                  <a:pt x="268474" y="28030"/>
                  <a:pt x="275471" y="30871"/>
                </a:cubicBezTo>
                <a:cubicBezTo>
                  <a:pt x="282467" y="33711"/>
                  <a:pt x="289153" y="37188"/>
                  <a:pt x="295469" y="38235"/>
                </a:cubicBezTo>
                <a:cubicBezTo>
                  <a:pt x="301785" y="39282"/>
                  <a:pt x="307503" y="39051"/>
                  <a:pt x="313367" y="37153"/>
                </a:cubicBezTo>
                <a:cubicBezTo>
                  <a:pt x="319231" y="35255"/>
                  <a:pt x="324722" y="30978"/>
                  <a:pt x="330653" y="26848"/>
                </a:cubicBezTo>
                <a:cubicBezTo>
                  <a:pt x="336584" y="22717"/>
                  <a:pt x="342626" y="16530"/>
                  <a:pt x="348953" y="12369"/>
                </a:cubicBezTo>
                <a:cubicBezTo>
                  <a:pt x="355280" y="8207"/>
                  <a:pt x="362047" y="3573"/>
                  <a:pt x="368617" y="1877"/>
                </a:cubicBezTo>
                <a:cubicBezTo>
                  <a:pt x="375187" y="180"/>
                  <a:pt x="382095" y="0"/>
                  <a:pt x="388371" y="2189"/>
                </a:cubicBezTo>
                <a:cubicBezTo>
                  <a:pt x="394648" y="4377"/>
                  <a:pt x="400784" y="9391"/>
                  <a:pt x="406276" y="15008"/>
                </a:cubicBezTo>
                <a:cubicBezTo>
                  <a:pt x="411767" y="20626"/>
                  <a:pt x="416613" y="28974"/>
                  <a:pt x="421321" y="35892"/>
                </a:cubicBezTo>
                <a:cubicBezTo>
                  <a:pt x="426028" y="42810"/>
                  <a:pt x="429967" y="50997"/>
                  <a:pt x="434518" y="56516"/>
                </a:cubicBezTo>
                <a:cubicBezTo>
                  <a:pt x="439069" y="62036"/>
                  <a:pt x="443291" y="66758"/>
                  <a:pt x="448627" y="69009"/>
                </a:cubicBezTo>
                <a:cubicBezTo>
                  <a:pt x="453963" y="71260"/>
                  <a:pt x="459765" y="71129"/>
                  <a:pt x="466534" y="70022"/>
                </a:cubicBezTo>
                <a:cubicBezTo>
                  <a:pt x="473303" y="68916"/>
                  <a:pt x="481202" y="65135"/>
                  <a:pt x="489240" y="62370"/>
                </a:cubicBezTo>
                <a:cubicBezTo>
                  <a:pt x="497277" y="59605"/>
                  <a:pt x="506501" y="55284"/>
                  <a:pt x="514759" y="53432"/>
                </a:cubicBezTo>
                <a:cubicBezTo>
                  <a:pt x="523016" y="51579"/>
                  <a:pt x="531757" y="50077"/>
                  <a:pt x="538787" y="51256"/>
                </a:cubicBezTo>
                <a:cubicBezTo>
                  <a:pt x="545817" y="52434"/>
                  <a:pt x="552182" y="55652"/>
                  <a:pt x="556936" y="60503"/>
                </a:cubicBezTo>
                <a:cubicBezTo>
                  <a:pt x="561689" y="65355"/>
                  <a:pt x="564819" y="72877"/>
                  <a:pt x="567307" y="80363"/>
                </a:cubicBezTo>
                <a:cubicBezTo>
                  <a:pt x="569794" y="87850"/>
                  <a:pt x="570475" y="97344"/>
                  <a:pt x="571861" y="105421"/>
                </a:cubicBezTo>
                <a:cubicBezTo>
                  <a:pt x="573247" y="113498"/>
                  <a:pt x="573601" y="122075"/>
                  <a:pt x="575621" y="128826"/>
                </a:cubicBezTo>
                <a:cubicBezTo>
                  <a:pt x="577642" y="135577"/>
                  <a:pt x="579991" y="141333"/>
                  <a:pt x="583985" y="145924"/>
                </a:cubicBezTo>
                <a:cubicBezTo>
                  <a:pt x="587978" y="150516"/>
                  <a:pt x="593495" y="153402"/>
                  <a:pt x="599584" y="156376"/>
                </a:cubicBezTo>
                <a:cubicBezTo>
                  <a:pt x="605672" y="159349"/>
                  <a:pt x="613599" y="160970"/>
                  <a:pt x="620513" y="163767"/>
                </a:cubicBezTo>
                <a:cubicBezTo>
                  <a:pt x="627428" y="166563"/>
                  <a:pt x="635363" y="169100"/>
                  <a:pt x="641071" y="173155"/>
                </a:cubicBezTo>
                <a:cubicBezTo>
                  <a:pt x="646780" y="177210"/>
                  <a:pt x="651943" y="182148"/>
                  <a:pt x="654764" y="188098"/>
                </a:cubicBezTo>
                <a:cubicBezTo>
                  <a:pt x="657584" y="194048"/>
                  <a:pt x="658393" y="201429"/>
                  <a:pt x="657995" y="208854"/>
                </a:cubicBezTo>
                <a:cubicBezTo>
                  <a:pt x="657597" y="216279"/>
                  <a:pt x="654669" y="224852"/>
                  <a:pt x="652375" y="232649"/>
                </a:cubicBezTo>
                <a:cubicBezTo>
                  <a:pt x="650081" y="240447"/>
                  <a:pt x="646052" y="248540"/>
                  <a:pt x="644230" y="255637"/>
                </a:cubicBezTo>
                <a:cubicBezTo>
                  <a:pt x="642408" y="262734"/>
                  <a:pt x="640609" y="269269"/>
                  <a:pt x="641443" y="275229"/>
                </a:cubicBezTo>
                <a:cubicBezTo>
                  <a:pt x="642278" y="281189"/>
                  <a:pt x="644947" y="286224"/>
                  <a:pt x="649238" y="291398"/>
                </a:cubicBezTo>
                <a:cubicBezTo>
                  <a:pt x="653528" y="296572"/>
                  <a:pt x="660534" y="301096"/>
                  <a:pt x="667184" y="306273"/>
                </a:cubicBezTo>
                <a:cubicBezTo>
                  <a:pt x="673833" y="311449"/>
                  <a:pt x="682631" y="316628"/>
                  <a:pt x="689133" y="322455"/>
                </a:cubicBezTo>
                <a:cubicBezTo>
                  <a:pt x="695636" y="328282"/>
                  <a:pt x="702512" y="334667"/>
                  <a:pt x="706197" y="341235"/>
                </a:cubicBezTo>
                <a:cubicBezTo>
                  <a:pt x="709882" y="347803"/>
                  <a:pt x="711854" y="355021"/>
                  <a:pt x="711244" y="361861"/>
                </a:cubicBezTo>
                <a:close/>
              </a:path>
            </a:pathLst>
          </a:custGeom>
          <a:noFill/>
          <a:ln w="7905" cap="rnd">
            <a:solidFill>
              <a:srgbClr val="DED4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tmao_macrophage_component_oval_3"/>
          <p:cNvSpPr/>
          <p:nvPr/>
        </p:nvSpPr>
        <p:spPr>
          <a:xfrm>
            <a:off x="3261574" y="4188731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tmao_macrophage_component_oval_4"/>
          <p:cNvSpPr/>
          <p:nvPr/>
        </p:nvSpPr>
        <p:spPr>
          <a:xfrm>
            <a:off x="3233169" y="4268935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4" name="tmao_macrophage_component_oval_5"/>
          <p:cNvSpPr/>
          <p:nvPr/>
        </p:nvSpPr>
        <p:spPr>
          <a:xfrm>
            <a:off x="3154186" y="4305774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5" name="tmao_macrophage_component_oval_6"/>
          <p:cNvSpPr/>
          <p:nvPr/>
        </p:nvSpPr>
        <p:spPr>
          <a:xfrm>
            <a:off x="3102612" y="4387914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6" name="tmao_macrophage_component_oval_7"/>
          <p:cNvSpPr/>
          <p:nvPr/>
        </p:nvSpPr>
        <p:spPr>
          <a:xfrm>
            <a:off x="3013483" y="4339541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7" name="tmao_macrophage_component_oval_8"/>
          <p:cNvSpPr/>
          <p:nvPr/>
        </p:nvSpPr>
        <p:spPr>
          <a:xfrm>
            <a:off x="2917010" y="4372457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8" name="tmao_macrophage_component_oval_9"/>
          <p:cNvSpPr/>
          <p:nvPr/>
        </p:nvSpPr>
        <p:spPr>
          <a:xfrm>
            <a:off x="2884199" y="4283749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9" name="tmao_macrophage_component_oval_10"/>
          <p:cNvSpPr/>
          <p:nvPr/>
        </p:nvSpPr>
        <p:spPr>
          <a:xfrm>
            <a:off x="2797473" y="4240299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0" name="tmao_macrophage_component_oval_11"/>
          <p:cNvSpPr/>
          <p:nvPr/>
        </p:nvSpPr>
        <p:spPr>
          <a:xfrm>
            <a:off x="2802198" y="4146056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1" name="tmao_macrophage_component_oval_12"/>
          <p:cNvSpPr/>
          <p:nvPr/>
        </p:nvSpPr>
        <p:spPr>
          <a:xfrm>
            <a:off x="2800070" y="4067580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2" name="tmao_macrophage_component_oval_13"/>
          <p:cNvSpPr/>
          <p:nvPr/>
        </p:nvSpPr>
        <p:spPr>
          <a:xfrm>
            <a:off x="2826788" y="3983679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3" name="tmao_macrophage_component_oval_14"/>
          <p:cNvSpPr/>
          <p:nvPr/>
        </p:nvSpPr>
        <p:spPr>
          <a:xfrm>
            <a:off x="2898171" y="3939162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4" name="tmao_macrophage_component_oval_15"/>
          <p:cNvSpPr/>
          <p:nvPr/>
        </p:nvSpPr>
        <p:spPr>
          <a:xfrm>
            <a:off x="2961227" y="3869962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5" name="tmao_macrophage_component_oval_16"/>
          <p:cNvSpPr/>
          <p:nvPr/>
        </p:nvSpPr>
        <p:spPr>
          <a:xfrm>
            <a:off x="3044962" y="3911511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6" name="tmao_macrophage_component_oval_17"/>
          <p:cNvSpPr/>
          <p:nvPr/>
        </p:nvSpPr>
        <p:spPr>
          <a:xfrm>
            <a:off x="3136345" y="3873596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7" name="tmao_macrophage_component_oval_18"/>
          <p:cNvSpPr/>
          <p:nvPr/>
        </p:nvSpPr>
        <p:spPr>
          <a:xfrm>
            <a:off x="3178758" y="3973684"/>
            <a:ext cx="22927" cy="2357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8" name="tmao_macrophage_component_oval_19"/>
          <p:cNvSpPr/>
          <p:nvPr/>
        </p:nvSpPr>
        <p:spPr>
          <a:xfrm>
            <a:off x="3262192" y="4010608"/>
            <a:ext cx="28065" cy="28854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9" name="tmao_macrophage_component_oval_20"/>
          <p:cNvSpPr/>
          <p:nvPr/>
        </p:nvSpPr>
        <p:spPr>
          <a:xfrm>
            <a:off x="3249304" y="4100369"/>
            <a:ext cx="33204" cy="34137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0" name="tmao_macrophage_component_oval_21"/>
          <p:cNvSpPr/>
          <p:nvPr/>
        </p:nvSpPr>
        <p:spPr>
          <a:xfrm>
            <a:off x="2855871" y="3980073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1" name="tmao_macrophage_component_oval_22"/>
          <p:cNvSpPr/>
          <p:nvPr/>
        </p:nvSpPr>
        <p:spPr>
          <a:xfrm>
            <a:off x="2816342" y="4199524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2" name="tmao_macrophage_component_oval_23"/>
          <p:cNvSpPr/>
          <p:nvPr/>
        </p:nvSpPr>
        <p:spPr>
          <a:xfrm>
            <a:off x="2934929" y="4337696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3" name="tmao_macrophage_component_oval_24"/>
          <p:cNvSpPr/>
          <p:nvPr/>
        </p:nvSpPr>
        <p:spPr>
          <a:xfrm>
            <a:off x="3211630" y="4012584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4" name="tmao_macrophage_component_oval_25"/>
          <p:cNvSpPr/>
          <p:nvPr/>
        </p:nvSpPr>
        <p:spPr>
          <a:xfrm>
            <a:off x="3243253" y="4207651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5" name="tmao_macrophage_component_oval_26"/>
          <p:cNvSpPr/>
          <p:nvPr/>
        </p:nvSpPr>
        <p:spPr>
          <a:xfrm>
            <a:off x="3085138" y="3890667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6" name="tmao_macrophage_component_oval_27"/>
          <p:cNvSpPr/>
          <p:nvPr/>
        </p:nvSpPr>
        <p:spPr>
          <a:xfrm>
            <a:off x="3156290" y="4362080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7" name="tmao_macrophage_component_oval_28"/>
          <p:cNvSpPr/>
          <p:nvPr/>
        </p:nvSpPr>
        <p:spPr>
          <a:xfrm>
            <a:off x="2840060" y="4077606"/>
            <a:ext cx="11068" cy="11379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8" name="tmao_macrophage_component_oval_29"/>
          <p:cNvSpPr/>
          <p:nvPr/>
        </p:nvSpPr>
        <p:spPr>
          <a:xfrm rot="1500000">
            <a:off x="2900934" y="3977634"/>
            <a:ext cx="292513" cy="349496"/>
          </a:xfrm>
          <a:prstGeom prst="ellipse">
            <a:avLst/>
          </a:prstGeom>
          <a:gradFill rotWithShape="1">
            <a:gsLst>
              <a:gs pos="0">
                <a:srgbClr val="CBBDE5"/>
              </a:gs>
              <a:gs pos="24000">
                <a:srgbClr val="AA95CF"/>
              </a:gs>
              <a:gs pos="65000">
                <a:srgbClr val="8D73B7"/>
              </a:gs>
              <a:gs pos="100000">
                <a:srgbClr val="7860A4"/>
              </a:gs>
            </a:gsLst>
            <a:lin ang="3300000" scaled="1"/>
          </a:gradFill>
          <a:ln w="12846">
            <a:solidFill>
              <a:srgbClr val="6550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9" name="tmao_macrophage_component_path_30"/>
          <p:cNvSpPr/>
          <p:nvPr/>
        </p:nvSpPr>
        <p:spPr>
          <a:xfrm>
            <a:off x="2948368" y="4010146"/>
            <a:ext cx="110680" cy="97534"/>
          </a:xfrm>
          <a:custGeom>
            <a:avLst/>
            <a:gdLst/>
            <a:ahLst/>
            <a:cxnLst/>
            <a:rect l="0" t="0" r="r" b="b"/>
            <a:pathLst>
              <a:path w="110680" h="97534">
                <a:moveTo>
                  <a:pt x="0" y="97534"/>
                </a:moveTo>
                <a:cubicBezTo>
                  <a:pt x="15811" y="32511"/>
                  <a:pt x="55340" y="0"/>
                  <a:pt x="110680" y="8128"/>
                </a:cubicBezTo>
              </a:path>
            </a:pathLst>
          </a:custGeom>
          <a:noFill/>
          <a:ln w="17787" cap="rnd">
            <a:solidFill>
              <a:srgbClr val="D5C8E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0" name="paracrine_component_oval_1"/>
          <p:cNvSpPr/>
          <p:nvPr/>
        </p:nvSpPr>
        <p:spPr>
          <a:xfrm>
            <a:off x="4630674" y="3902959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1" name="paracrine_component_oval_2"/>
          <p:cNvSpPr/>
          <p:nvPr/>
        </p:nvSpPr>
        <p:spPr>
          <a:xfrm>
            <a:off x="4659935" y="3923628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2" name="paracrine_component_oval_3"/>
          <p:cNvSpPr/>
          <p:nvPr/>
        </p:nvSpPr>
        <p:spPr>
          <a:xfrm>
            <a:off x="4411218" y="4009097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3" name="paracrine_component_oval_4"/>
          <p:cNvSpPr/>
          <p:nvPr/>
        </p:nvSpPr>
        <p:spPr>
          <a:xfrm>
            <a:off x="4440479" y="4029766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4" name="paracrine_component_oval_5"/>
          <p:cNvSpPr/>
          <p:nvPr/>
        </p:nvSpPr>
        <p:spPr>
          <a:xfrm>
            <a:off x="4831842" y="4048200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5" name="paracrine_component_oval_6"/>
          <p:cNvSpPr/>
          <p:nvPr/>
        </p:nvSpPr>
        <p:spPr>
          <a:xfrm>
            <a:off x="4861103" y="4068869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6" name="paracrine_component_oval_7"/>
          <p:cNvSpPr/>
          <p:nvPr/>
        </p:nvSpPr>
        <p:spPr>
          <a:xfrm>
            <a:off x="4655058" y="4148752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7" name="paracrine_component_oval_8"/>
          <p:cNvSpPr/>
          <p:nvPr/>
        </p:nvSpPr>
        <p:spPr>
          <a:xfrm>
            <a:off x="4684319" y="4169421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8" name="paracrine_component_oval_9"/>
          <p:cNvSpPr/>
          <p:nvPr/>
        </p:nvSpPr>
        <p:spPr>
          <a:xfrm>
            <a:off x="4459986" y="4254891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9" name="paracrine_component_oval_10"/>
          <p:cNvSpPr/>
          <p:nvPr/>
        </p:nvSpPr>
        <p:spPr>
          <a:xfrm>
            <a:off x="4489247" y="4275560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0" name="paracrine_component_oval_11"/>
          <p:cNvSpPr/>
          <p:nvPr/>
        </p:nvSpPr>
        <p:spPr>
          <a:xfrm>
            <a:off x="4801362" y="4305166"/>
            <a:ext cx="121920" cy="111724"/>
          </a:xfrm>
          <a:prstGeom prst="ellipse">
            <a:avLst/>
          </a:prstGeom>
          <a:gradFill rotWithShape="1">
            <a:gsLst>
              <a:gs pos="0">
                <a:srgbClr val="E6DDF0"/>
              </a:gs>
              <a:gs pos="30000">
                <a:srgbClr val="B29AD3"/>
              </a:gs>
              <a:gs pos="67000">
                <a:srgbClr val="9978C4"/>
              </a:gs>
              <a:gs pos="100000">
                <a:srgbClr val="7C5EAC"/>
              </a:gs>
            </a:gsLst>
            <a:lin ang="3300000" scaled="1"/>
          </a:gradFill>
          <a:ln w="9906">
            <a:solidFill>
              <a:srgbClr val="6B4E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1" name="paracrine_component_oval_12"/>
          <p:cNvSpPr/>
          <p:nvPr/>
        </p:nvSpPr>
        <p:spPr>
          <a:xfrm>
            <a:off x="4830623" y="4325836"/>
            <a:ext cx="31699" cy="20669"/>
          </a:xfrm>
          <a:prstGeom prst="ellipse">
            <a:avLst/>
          </a:prstGeom>
          <a:solidFill>
            <a:srgbClr val="E4DC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2" name="ffar_component_path_1"/>
          <p:cNvSpPr/>
          <p:nvPr/>
        </p:nvSpPr>
        <p:spPr>
          <a:xfrm>
            <a:off x="2555743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3" name="ffar_component_path_2"/>
          <p:cNvSpPr/>
          <p:nvPr/>
        </p:nvSpPr>
        <p:spPr>
          <a:xfrm>
            <a:off x="2573946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4" name="ffar_component_oval_3"/>
          <p:cNvSpPr/>
          <p:nvPr/>
        </p:nvSpPr>
        <p:spPr>
          <a:xfrm>
            <a:off x="2559644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5" name="ffar_component_oval_4"/>
          <p:cNvSpPr/>
          <p:nvPr/>
        </p:nvSpPr>
        <p:spPr>
          <a:xfrm>
            <a:off x="2559644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6" name="ffar_component_path_5"/>
          <p:cNvSpPr/>
          <p:nvPr/>
        </p:nvSpPr>
        <p:spPr>
          <a:xfrm>
            <a:off x="260265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7" name="ffar_component_path_6"/>
          <p:cNvSpPr/>
          <p:nvPr/>
        </p:nvSpPr>
        <p:spPr>
          <a:xfrm>
            <a:off x="2620853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8" name="ffar_component_oval_7"/>
          <p:cNvSpPr/>
          <p:nvPr/>
        </p:nvSpPr>
        <p:spPr>
          <a:xfrm>
            <a:off x="2606552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9" name="ffar_component_oval_8"/>
          <p:cNvSpPr/>
          <p:nvPr/>
        </p:nvSpPr>
        <p:spPr>
          <a:xfrm>
            <a:off x="2606552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0" name="ffar_component_path_9"/>
          <p:cNvSpPr/>
          <p:nvPr/>
        </p:nvSpPr>
        <p:spPr>
          <a:xfrm>
            <a:off x="264955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1" name="ffar_component_path_10"/>
          <p:cNvSpPr/>
          <p:nvPr/>
        </p:nvSpPr>
        <p:spPr>
          <a:xfrm>
            <a:off x="266776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2" name="ffar_component_oval_11"/>
          <p:cNvSpPr/>
          <p:nvPr/>
        </p:nvSpPr>
        <p:spPr>
          <a:xfrm>
            <a:off x="2653459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3" name="ffar_component_oval_12"/>
          <p:cNvSpPr/>
          <p:nvPr/>
        </p:nvSpPr>
        <p:spPr>
          <a:xfrm>
            <a:off x="2653459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4" name="ffar_component_path_13"/>
          <p:cNvSpPr/>
          <p:nvPr/>
        </p:nvSpPr>
        <p:spPr>
          <a:xfrm>
            <a:off x="2696467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5" name="ffar_component_path_14"/>
          <p:cNvSpPr/>
          <p:nvPr/>
        </p:nvSpPr>
        <p:spPr>
          <a:xfrm>
            <a:off x="271466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6" name="ffar_component_oval_15"/>
          <p:cNvSpPr/>
          <p:nvPr/>
        </p:nvSpPr>
        <p:spPr>
          <a:xfrm>
            <a:off x="2700367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7" name="ffar_component_oval_16"/>
          <p:cNvSpPr/>
          <p:nvPr/>
        </p:nvSpPr>
        <p:spPr>
          <a:xfrm>
            <a:off x="2700367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8" name="ffar_component_path_17"/>
          <p:cNvSpPr/>
          <p:nvPr/>
        </p:nvSpPr>
        <p:spPr>
          <a:xfrm>
            <a:off x="2743375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9" name="ffar_component_path_18"/>
          <p:cNvSpPr/>
          <p:nvPr/>
        </p:nvSpPr>
        <p:spPr>
          <a:xfrm>
            <a:off x="2761577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0" name="ffar_component_oval_19"/>
          <p:cNvSpPr/>
          <p:nvPr/>
        </p:nvSpPr>
        <p:spPr>
          <a:xfrm>
            <a:off x="2747275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1" name="ffar_component_oval_20"/>
          <p:cNvSpPr/>
          <p:nvPr/>
        </p:nvSpPr>
        <p:spPr>
          <a:xfrm>
            <a:off x="2747275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2" name="ffar_component_path_21"/>
          <p:cNvSpPr/>
          <p:nvPr/>
        </p:nvSpPr>
        <p:spPr>
          <a:xfrm>
            <a:off x="2790282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3" name="ffar_component_path_22"/>
          <p:cNvSpPr/>
          <p:nvPr/>
        </p:nvSpPr>
        <p:spPr>
          <a:xfrm>
            <a:off x="2808485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4" name="ffar_component_oval_23"/>
          <p:cNvSpPr/>
          <p:nvPr/>
        </p:nvSpPr>
        <p:spPr>
          <a:xfrm>
            <a:off x="2794183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5" name="ffar_component_oval_24"/>
          <p:cNvSpPr/>
          <p:nvPr/>
        </p:nvSpPr>
        <p:spPr>
          <a:xfrm>
            <a:off x="2794183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6" name="ffar_component_path_25"/>
          <p:cNvSpPr/>
          <p:nvPr/>
        </p:nvSpPr>
        <p:spPr>
          <a:xfrm>
            <a:off x="2837190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7" name="ffar_component_path_26"/>
          <p:cNvSpPr/>
          <p:nvPr/>
        </p:nvSpPr>
        <p:spPr>
          <a:xfrm>
            <a:off x="2855392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8" name="ffar_component_oval_27"/>
          <p:cNvSpPr/>
          <p:nvPr/>
        </p:nvSpPr>
        <p:spPr>
          <a:xfrm>
            <a:off x="2841091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9" name="ffar_component_oval_28"/>
          <p:cNvSpPr/>
          <p:nvPr/>
        </p:nvSpPr>
        <p:spPr>
          <a:xfrm>
            <a:off x="2841091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0" name="ffar_component_path_29"/>
          <p:cNvSpPr/>
          <p:nvPr/>
        </p:nvSpPr>
        <p:spPr>
          <a:xfrm>
            <a:off x="2884098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1" name="ffar_component_path_30"/>
          <p:cNvSpPr/>
          <p:nvPr/>
        </p:nvSpPr>
        <p:spPr>
          <a:xfrm>
            <a:off x="2902300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2" name="ffar_component_oval_31"/>
          <p:cNvSpPr/>
          <p:nvPr/>
        </p:nvSpPr>
        <p:spPr>
          <a:xfrm>
            <a:off x="2887998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3" name="ffar_component_oval_32"/>
          <p:cNvSpPr/>
          <p:nvPr/>
        </p:nvSpPr>
        <p:spPr>
          <a:xfrm>
            <a:off x="2887998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4" name="ffar_component_path_33"/>
          <p:cNvSpPr/>
          <p:nvPr/>
        </p:nvSpPr>
        <p:spPr>
          <a:xfrm>
            <a:off x="2931006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5" name="ffar_component_path_34"/>
          <p:cNvSpPr/>
          <p:nvPr/>
        </p:nvSpPr>
        <p:spPr>
          <a:xfrm>
            <a:off x="2949208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6" name="ffar_component_oval_35"/>
          <p:cNvSpPr/>
          <p:nvPr/>
        </p:nvSpPr>
        <p:spPr>
          <a:xfrm>
            <a:off x="2934906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7" name="ffar_component_oval_36"/>
          <p:cNvSpPr/>
          <p:nvPr/>
        </p:nvSpPr>
        <p:spPr>
          <a:xfrm>
            <a:off x="2934906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8" name="ffar_component_path_37"/>
          <p:cNvSpPr/>
          <p:nvPr/>
        </p:nvSpPr>
        <p:spPr>
          <a:xfrm>
            <a:off x="2977914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9" name="ffar_component_path_38"/>
          <p:cNvSpPr/>
          <p:nvPr/>
        </p:nvSpPr>
        <p:spPr>
          <a:xfrm>
            <a:off x="2996116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0" name="ffar_component_oval_39"/>
          <p:cNvSpPr/>
          <p:nvPr/>
        </p:nvSpPr>
        <p:spPr>
          <a:xfrm>
            <a:off x="2981814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1" name="ffar_component_oval_40"/>
          <p:cNvSpPr/>
          <p:nvPr/>
        </p:nvSpPr>
        <p:spPr>
          <a:xfrm>
            <a:off x="2981814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2" name="ffar_component_path_41"/>
          <p:cNvSpPr/>
          <p:nvPr/>
        </p:nvSpPr>
        <p:spPr>
          <a:xfrm>
            <a:off x="302482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3" name="ffar_component_path_42"/>
          <p:cNvSpPr/>
          <p:nvPr/>
        </p:nvSpPr>
        <p:spPr>
          <a:xfrm>
            <a:off x="3043024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4" name="ffar_component_oval_43"/>
          <p:cNvSpPr/>
          <p:nvPr/>
        </p:nvSpPr>
        <p:spPr>
          <a:xfrm>
            <a:off x="3028722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5" name="ffar_component_oval_44"/>
          <p:cNvSpPr/>
          <p:nvPr/>
        </p:nvSpPr>
        <p:spPr>
          <a:xfrm>
            <a:off x="3028722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6" name="ffar_component_path_45"/>
          <p:cNvSpPr/>
          <p:nvPr/>
        </p:nvSpPr>
        <p:spPr>
          <a:xfrm>
            <a:off x="307172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7" name="ffar_component_path_46"/>
          <p:cNvSpPr/>
          <p:nvPr/>
        </p:nvSpPr>
        <p:spPr>
          <a:xfrm>
            <a:off x="3089932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8" name="ffar_component_oval_47"/>
          <p:cNvSpPr/>
          <p:nvPr/>
        </p:nvSpPr>
        <p:spPr>
          <a:xfrm>
            <a:off x="3075630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9" name="ffar_component_oval_48"/>
          <p:cNvSpPr/>
          <p:nvPr/>
        </p:nvSpPr>
        <p:spPr>
          <a:xfrm>
            <a:off x="3075630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0" name="ffar_component_path_49"/>
          <p:cNvSpPr/>
          <p:nvPr/>
        </p:nvSpPr>
        <p:spPr>
          <a:xfrm>
            <a:off x="3118637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1" name="ffar_component_path_50"/>
          <p:cNvSpPr/>
          <p:nvPr/>
        </p:nvSpPr>
        <p:spPr>
          <a:xfrm>
            <a:off x="313683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2" name="ffar_component_oval_51"/>
          <p:cNvSpPr/>
          <p:nvPr/>
        </p:nvSpPr>
        <p:spPr>
          <a:xfrm>
            <a:off x="3122538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3" name="ffar_component_oval_52"/>
          <p:cNvSpPr/>
          <p:nvPr/>
        </p:nvSpPr>
        <p:spPr>
          <a:xfrm>
            <a:off x="3122538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4" name="ffar_component_path_53"/>
          <p:cNvSpPr/>
          <p:nvPr/>
        </p:nvSpPr>
        <p:spPr>
          <a:xfrm>
            <a:off x="3165545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5" name="ffar_component_path_54"/>
          <p:cNvSpPr/>
          <p:nvPr/>
        </p:nvSpPr>
        <p:spPr>
          <a:xfrm>
            <a:off x="3183747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6" name="ffar_component_oval_55"/>
          <p:cNvSpPr/>
          <p:nvPr/>
        </p:nvSpPr>
        <p:spPr>
          <a:xfrm>
            <a:off x="3169445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7" name="ffar_component_oval_56"/>
          <p:cNvSpPr/>
          <p:nvPr/>
        </p:nvSpPr>
        <p:spPr>
          <a:xfrm>
            <a:off x="3169445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8" name="ffar_component_path_57"/>
          <p:cNvSpPr/>
          <p:nvPr/>
        </p:nvSpPr>
        <p:spPr>
          <a:xfrm>
            <a:off x="3212453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9" name="ffar_component_path_58"/>
          <p:cNvSpPr/>
          <p:nvPr/>
        </p:nvSpPr>
        <p:spPr>
          <a:xfrm>
            <a:off x="3230655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0" name="ffar_component_oval_59"/>
          <p:cNvSpPr/>
          <p:nvPr/>
        </p:nvSpPr>
        <p:spPr>
          <a:xfrm>
            <a:off x="3216353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1" name="ffar_component_oval_60"/>
          <p:cNvSpPr/>
          <p:nvPr/>
        </p:nvSpPr>
        <p:spPr>
          <a:xfrm>
            <a:off x="3216353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2" name="ffar_component_path_61"/>
          <p:cNvSpPr/>
          <p:nvPr/>
        </p:nvSpPr>
        <p:spPr>
          <a:xfrm>
            <a:off x="325936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3" name="ffar_component_path_62"/>
          <p:cNvSpPr/>
          <p:nvPr/>
        </p:nvSpPr>
        <p:spPr>
          <a:xfrm>
            <a:off x="3277563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4" name="ffar_component_oval_63"/>
          <p:cNvSpPr/>
          <p:nvPr/>
        </p:nvSpPr>
        <p:spPr>
          <a:xfrm>
            <a:off x="3263261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5" name="ffar_component_oval_64"/>
          <p:cNvSpPr/>
          <p:nvPr/>
        </p:nvSpPr>
        <p:spPr>
          <a:xfrm>
            <a:off x="3263261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6" name="ffar_component_path_65"/>
          <p:cNvSpPr/>
          <p:nvPr/>
        </p:nvSpPr>
        <p:spPr>
          <a:xfrm>
            <a:off x="3306268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7" name="ffar_component_path_66"/>
          <p:cNvSpPr/>
          <p:nvPr/>
        </p:nvSpPr>
        <p:spPr>
          <a:xfrm>
            <a:off x="3324471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8" name="ffar_component_oval_67"/>
          <p:cNvSpPr/>
          <p:nvPr/>
        </p:nvSpPr>
        <p:spPr>
          <a:xfrm>
            <a:off x="3310169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9" name="ffar_component_oval_68"/>
          <p:cNvSpPr/>
          <p:nvPr/>
        </p:nvSpPr>
        <p:spPr>
          <a:xfrm>
            <a:off x="3310169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0" name="ffar_component_path_69"/>
          <p:cNvSpPr/>
          <p:nvPr/>
        </p:nvSpPr>
        <p:spPr>
          <a:xfrm>
            <a:off x="3353176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1" name="ffar_component_path_70"/>
          <p:cNvSpPr/>
          <p:nvPr/>
        </p:nvSpPr>
        <p:spPr>
          <a:xfrm>
            <a:off x="3371379" y="5569042"/>
            <a:ext cx="25136" cy="189160"/>
          </a:xfrm>
          <a:custGeom>
            <a:avLst/>
            <a:gdLst/>
            <a:ahLst/>
            <a:cxnLst/>
            <a:rect l="0" t="0" r="r" b="b"/>
            <a:pathLst>
              <a:path w="25136" h="189160">
                <a:moveTo>
                  <a:pt x="13002" y="0"/>
                </a:moveTo>
                <a:cubicBezTo>
                  <a:pt x="3467" y="30856"/>
                  <a:pt x="25136" y="43601"/>
                  <a:pt x="7801" y="94580"/>
                </a:cubicBezTo>
                <a:cubicBezTo>
                  <a:pt x="0" y="145559"/>
                  <a:pt x="21669" y="158304"/>
                  <a:pt x="13002" y="189160"/>
                </a:cubicBezTo>
              </a:path>
            </a:pathLst>
          </a:custGeom>
          <a:noFill/>
          <a:ln w="6717" cap="rnd">
            <a:solidFill>
              <a:srgbClr val="8FAAD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2" name="ffar_component_oval_71"/>
          <p:cNvSpPr/>
          <p:nvPr/>
        </p:nvSpPr>
        <p:spPr>
          <a:xfrm>
            <a:off x="3357077" y="5535503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3" name="ffar_component_oval_72"/>
          <p:cNvSpPr/>
          <p:nvPr/>
        </p:nvSpPr>
        <p:spPr>
          <a:xfrm>
            <a:off x="3357077" y="5756861"/>
            <a:ext cx="36405" cy="34881"/>
          </a:xfrm>
          <a:prstGeom prst="ellipse">
            <a:avLst/>
          </a:prstGeom>
          <a:gradFill rotWithShape="1">
            <a:gsLst>
              <a:gs pos="0">
                <a:srgbClr val="F7FBFF"/>
              </a:gs>
              <a:gs pos="45000">
                <a:srgbClr val="DFEAFB"/>
              </a:gs>
              <a:gs pos="100000">
                <a:srgbClr val="B0C8EA"/>
              </a:gs>
            </a:gsLst>
            <a:lin ang="4200000" scaled="1"/>
          </a:gradFill>
          <a:ln w="8126">
            <a:solidFill>
              <a:srgbClr val="769B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4" name="ffar_component_path_73"/>
          <p:cNvSpPr/>
          <p:nvPr/>
        </p:nvSpPr>
        <p:spPr>
          <a:xfrm>
            <a:off x="2733866" y="5311462"/>
            <a:ext cx="182023" cy="174403"/>
          </a:xfrm>
          <a:custGeom>
            <a:avLst/>
            <a:gdLst/>
            <a:ahLst/>
            <a:cxnLst/>
            <a:rect l="0" t="0" r="r" b="b"/>
            <a:pathLst>
              <a:path w="182023" h="174403">
                <a:moveTo>
                  <a:pt x="112681" y="154280"/>
                </a:moveTo>
                <a:cubicBezTo>
                  <a:pt x="0" y="107325"/>
                  <a:pt x="0" y="0"/>
                  <a:pt x="86678" y="0"/>
                </a:cubicBezTo>
                <a:cubicBezTo>
                  <a:pt x="156019" y="0"/>
                  <a:pt x="112681" y="87202"/>
                  <a:pt x="95345" y="100617"/>
                </a:cubicBezTo>
                <a:lnTo>
                  <a:pt x="182023" y="174403"/>
                </a:ln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5" name="ffar_component_path_74"/>
          <p:cNvSpPr/>
          <p:nvPr/>
        </p:nvSpPr>
        <p:spPr>
          <a:xfrm>
            <a:off x="2733866" y="5311462"/>
            <a:ext cx="182023" cy="174403"/>
          </a:xfrm>
          <a:custGeom>
            <a:avLst/>
            <a:gdLst/>
            <a:ahLst/>
            <a:cxnLst/>
            <a:rect l="0" t="0" r="r" b="b"/>
            <a:pathLst>
              <a:path w="182023" h="174403">
                <a:moveTo>
                  <a:pt x="112681" y="154280"/>
                </a:moveTo>
                <a:cubicBezTo>
                  <a:pt x="0" y="107325"/>
                  <a:pt x="0" y="0"/>
                  <a:pt x="86678" y="0"/>
                </a:cubicBezTo>
                <a:cubicBezTo>
                  <a:pt x="156019" y="0"/>
                  <a:pt x="112681" y="87202"/>
                  <a:pt x="95345" y="100617"/>
                </a:cubicBezTo>
                <a:lnTo>
                  <a:pt x="182023" y="174403"/>
                </a:ln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6" name="ffar_component_path_75"/>
          <p:cNvSpPr/>
          <p:nvPr/>
        </p:nvSpPr>
        <p:spPr>
          <a:xfrm>
            <a:off x="2933224" y="5371833"/>
            <a:ext cx="112681" cy="114033"/>
          </a:xfrm>
          <a:custGeom>
            <a:avLst/>
            <a:gdLst/>
            <a:ahLst/>
            <a:cxnLst/>
            <a:rect l="0" t="0" r="r" b="b"/>
            <a:pathLst>
              <a:path w="112681" h="114033">
                <a:moveTo>
                  <a:pt x="17335" y="114033"/>
                </a:moveTo>
                <a:cubicBezTo>
                  <a:pt x="0" y="26831"/>
                  <a:pt x="52006" y="0"/>
                  <a:pt x="95345" y="46955"/>
                </a:cubicBezTo>
                <a:lnTo>
                  <a:pt x="112681" y="100617"/>
                </a:ln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7" name="ffar_component_path_76"/>
          <p:cNvSpPr/>
          <p:nvPr/>
        </p:nvSpPr>
        <p:spPr>
          <a:xfrm>
            <a:off x="2933224" y="5371833"/>
            <a:ext cx="112681" cy="114033"/>
          </a:xfrm>
          <a:custGeom>
            <a:avLst/>
            <a:gdLst/>
            <a:ahLst/>
            <a:cxnLst/>
            <a:rect l="0" t="0" r="r" b="b"/>
            <a:pathLst>
              <a:path w="112681" h="114033">
                <a:moveTo>
                  <a:pt x="17335" y="114033"/>
                </a:moveTo>
                <a:cubicBezTo>
                  <a:pt x="0" y="26831"/>
                  <a:pt x="52006" y="0"/>
                  <a:pt x="95345" y="46955"/>
                </a:cubicBezTo>
                <a:lnTo>
                  <a:pt x="112681" y="100617"/>
                </a:ln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8" name="ffar_component_path_77"/>
          <p:cNvSpPr/>
          <p:nvPr/>
        </p:nvSpPr>
        <p:spPr>
          <a:xfrm>
            <a:off x="3089243" y="5318170"/>
            <a:ext cx="242697" cy="181111"/>
          </a:xfrm>
          <a:custGeom>
            <a:avLst/>
            <a:gdLst/>
            <a:ahLst/>
            <a:cxnLst/>
            <a:rect l="0" t="0" r="r" b="b"/>
            <a:pathLst>
              <a:path w="242697" h="181111">
                <a:moveTo>
                  <a:pt x="0" y="167695"/>
                </a:moveTo>
                <a:cubicBezTo>
                  <a:pt x="17335" y="100617"/>
                  <a:pt x="104013" y="120741"/>
                  <a:pt x="112681" y="73786"/>
                </a:cubicBezTo>
                <a:cubicBezTo>
                  <a:pt x="147352" y="0"/>
                  <a:pt x="242697" y="20123"/>
                  <a:pt x="208026" y="93909"/>
                </a:cubicBezTo>
                <a:cubicBezTo>
                  <a:pt x="190691" y="134156"/>
                  <a:pt x="112681" y="160987"/>
                  <a:pt x="78010" y="181111"/>
                </a:cubicBez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9" name="ffar_component_path_78"/>
          <p:cNvSpPr/>
          <p:nvPr/>
        </p:nvSpPr>
        <p:spPr>
          <a:xfrm>
            <a:off x="3089243" y="5318170"/>
            <a:ext cx="242697" cy="181111"/>
          </a:xfrm>
          <a:custGeom>
            <a:avLst/>
            <a:gdLst/>
            <a:ahLst/>
            <a:cxnLst/>
            <a:rect l="0" t="0" r="r" b="b"/>
            <a:pathLst>
              <a:path w="242697" h="181111">
                <a:moveTo>
                  <a:pt x="0" y="167695"/>
                </a:moveTo>
                <a:cubicBezTo>
                  <a:pt x="17335" y="100617"/>
                  <a:pt x="104013" y="120741"/>
                  <a:pt x="112681" y="73786"/>
                </a:cubicBezTo>
                <a:cubicBezTo>
                  <a:pt x="147352" y="0"/>
                  <a:pt x="242697" y="20123"/>
                  <a:pt x="208026" y="93909"/>
                </a:cubicBezTo>
                <a:cubicBezTo>
                  <a:pt x="190691" y="134156"/>
                  <a:pt x="112681" y="160987"/>
                  <a:pt x="78010" y="181111"/>
                </a:cubicBez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0" name="ffar_component_path_79"/>
          <p:cNvSpPr/>
          <p:nvPr/>
        </p:nvSpPr>
        <p:spPr>
          <a:xfrm>
            <a:off x="2889885" y="5774301"/>
            <a:ext cx="26003" cy="127448"/>
          </a:xfrm>
          <a:custGeom>
            <a:avLst/>
            <a:gdLst/>
            <a:ahLst/>
            <a:cxnLst/>
            <a:rect l="0" t="0" r="r" b="b"/>
            <a:pathLst>
              <a:path w="26003" h="127448">
                <a:moveTo>
                  <a:pt x="0" y="0"/>
                </a:moveTo>
                <a:cubicBezTo>
                  <a:pt x="0" y="67078"/>
                  <a:pt x="26003" y="67078"/>
                  <a:pt x="17336" y="127448"/>
                </a:cubicBez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1" name="ffar_component_path_80"/>
          <p:cNvSpPr/>
          <p:nvPr/>
        </p:nvSpPr>
        <p:spPr>
          <a:xfrm>
            <a:off x="2889885" y="5774301"/>
            <a:ext cx="26003" cy="127448"/>
          </a:xfrm>
          <a:custGeom>
            <a:avLst/>
            <a:gdLst/>
            <a:ahLst/>
            <a:cxnLst/>
            <a:rect l="0" t="0" r="r" b="b"/>
            <a:pathLst>
              <a:path w="26003" h="127448">
                <a:moveTo>
                  <a:pt x="0" y="0"/>
                </a:moveTo>
                <a:cubicBezTo>
                  <a:pt x="0" y="67078"/>
                  <a:pt x="26003" y="67078"/>
                  <a:pt x="17336" y="127448"/>
                </a:cubicBez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2" name="ffar_component_path_81"/>
          <p:cNvSpPr/>
          <p:nvPr/>
        </p:nvSpPr>
        <p:spPr>
          <a:xfrm>
            <a:off x="3011234" y="5774301"/>
            <a:ext cx="60674" cy="93909"/>
          </a:xfrm>
          <a:custGeom>
            <a:avLst/>
            <a:gdLst/>
            <a:ahLst/>
            <a:cxnLst/>
            <a:rect l="0" t="0" r="r" b="b"/>
            <a:pathLst>
              <a:path w="60674" h="93909">
                <a:moveTo>
                  <a:pt x="0" y="0"/>
                </a:moveTo>
                <a:cubicBezTo>
                  <a:pt x="0" y="93909"/>
                  <a:pt x="34671" y="87202"/>
                  <a:pt x="60674" y="20123"/>
                </a:cubicBez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3" name="ffar_component_path_82"/>
          <p:cNvSpPr/>
          <p:nvPr/>
        </p:nvSpPr>
        <p:spPr>
          <a:xfrm>
            <a:off x="3011234" y="5774301"/>
            <a:ext cx="60674" cy="93909"/>
          </a:xfrm>
          <a:custGeom>
            <a:avLst/>
            <a:gdLst/>
            <a:ahLst/>
            <a:cxnLst/>
            <a:rect l="0" t="0" r="r" b="b"/>
            <a:pathLst>
              <a:path w="60674" h="93909">
                <a:moveTo>
                  <a:pt x="0" y="0"/>
                </a:moveTo>
                <a:cubicBezTo>
                  <a:pt x="0" y="93909"/>
                  <a:pt x="34671" y="87202"/>
                  <a:pt x="60674" y="20123"/>
                </a:cubicBez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4" name="ffar_component_path_83"/>
          <p:cNvSpPr/>
          <p:nvPr/>
        </p:nvSpPr>
        <p:spPr>
          <a:xfrm>
            <a:off x="3115246" y="5774301"/>
            <a:ext cx="52006" cy="93909"/>
          </a:xfrm>
          <a:custGeom>
            <a:avLst/>
            <a:gdLst/>
            <a:ahLst/>
            <a:cxnLst/>
            <a:rect l="0" t="0" r="r" b="b"/>
            <a:pathLst>
              <a:path w="52006" h="93909">
                <a:moveTo>
                  <a:pt x="26003" y="0"/>
                </a:moveTo>
                <a:cubicBezTo>
                  <a:pt x="52006" y="67078"/>
                  <a:pt x="34671" y="93909"/>
                  <a:pt x="0" y="87202"/>
                </a:cubicBezTo>
              </a:path>
            </a:pathLst>
          </a:custGeom>
          <a:noFill/>
          <a:ln w="33587" cap="rnd">
            <a:solidFill>
              <a:srgbClr val="4F7D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5" name="ffar_component_path_84"/>
          <p:cNvSpPr/>
          <p:nvPr/>
        </p:nvSpPr>
        <p:spPr>
          <a:xfrm>
            <a:off x="3115246" y="5774301"/>
            <a:ext cx="52006" cy="93909"/>
          </a:xfrm>
          <a:custGeom>
            <a:avLst/>
            <a:gdLst/>
            <a:ahLst/>
            <a:cxnLst/>
            <a:rect l="0" t="0" r="r" b="b"/>
            <a:pathLst>
              <a:path w="52006" h="93909">
                <a:moveTo>
                  <a:pt x="26003" y="0"/>
                </a:moveTo>
                <a:cubicBezTo>
                  <a:pt x="52006" y="67078"/>
                  <a:pt x="34671" y="93909"/>
                  <a:pt x="0" y="87202"/>
                </a:cubicBezTo>
              </a:path>
            </a:pathLst>
          </a:custGeom>
          <a:noFill/>
          <a:ln w="18473" cap="rnd">
            <a:solidFill>
              <a:srgbClr val="AEC59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6" name="ffar_component_path_85"/>
          <p:cNvSpPr/>
          <p:nvPr/>
        </p:nvSpPr>
        <p:spPr>
          <a:xfrm>
            <a:off x="2820543" y="5452326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7" name="ffar_component_path_86"/>
          <p:cNvSpPr/>
          <p:nvPr/>
        </p:nvSpPr>
        <p:spPr>
          <a:xfrm>
            <a:off x="2842212" y="5492573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8" name="ffar_component_path_87"/>
          <p:cNvSpPr/>
          <p:nvPr/>
        </p:nvSpPr>
        <p:spPr>
          <a:xfrm>
            <a:off x="2820543" y="5646853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9" name="ffar_component_path_88"/>
          <p:cNvSpPr/>
          <p:nvPr/>
        </p:nvSpPr>
        <p:spPr>
          <a:xfrm>
            <a:off x="2842212" y="5687100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0" name="ffar_component_oval_89"/>
          <p:cNvSpPr/>
          <p:nvPr/>
        </p:nvSpPr>
        <p:spPr>
          <a:xfrm>
            <a:off x="2820543" y="5438911"/>
            <a:ext cx="104013" cy="46955"/>
          </a:xfrm>
          <a:prstGeom prst="ellipse">
            <a:avLst/>
          </a:prstGeom>
          <a:solidFill>
            <a:srgbClr val="A6C48A"/>
          </a:solidFill>
          <a:ln w="8667">
            <a:solidFill>
              <a:srgbClr val="4A72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1" name="ffar_component_path_90"/>
          <p:cNvSpPr/>
          <p:nvPr/>
        </p:nvSpPr>
        <p:spPr>
          <a:xfrm>
            <a:off x="2829211" y="5646853"/>
            <a:ext cx="86678" cy="20123"/>
          </a:xfrm>
          <a:custGeom>
            <a:avLst/>
            <a:gdLst/>
            <a:ahLst/>
            <a:cxnLst/>
            <a:rect l="0" t="0" r="r" b="b"/>
            <a:pathLst>
              <a:path w="86678" h="20123">
                <a:moveTo>
                  <a:pt x="0" y="0"/>
                </a:moveTo>
                <a:cubicBezTo>
                  <a:pt x="17336" y="20123"/>
                  <a:pt x="78010" y="20123"/>
                  <a:pt x="86678" y="0"/>
                </a:cubicBezTo>
              </a:path>
            </a:pathLst>
          </a:custGeom>
          <a:noFill/>
          <a:ln w="8667" cap="rnd">
            <a:solidFill>
              <a:srgbClr val="C4D9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2" name="ffar_component_path_91"/>
          <p:cNvSpPr/>
          <p:nvPr/>
        </p:nvSpPr>
        <p:spPr>
          <a:xfrm>
            <a:off x="2941892" y="5452326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3" name="ffar_component_path_92"/>
          <p:cNvSpPr/>
          <p:nvPr/>
        </p:nvSpPr>
        <p:spPr>
          <a:xfrm>
            <a:off x="2963561" y="5492573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4" name="ffar_component_path_93"/>
          <p:cNvSpPr/>
          <p:nvPr/>
        </p:nvSpPr>
        <p:spPr>
          <a:xfrm>
            <a:off x="2941892" y="5646853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5" name="ffar_component_path_94"/>
          <p:cNvSpPr/>
          <p:nvPr/>
        </p:nvSpPr>
        <p:spPr>
          <a:xfrm>
            <a:off x="2963561" y="5687100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6" name="ffar_component_oval_95"/>
          <p:cNvSpPr/>
          <p:nvPr/>
        </p:nvSpPr>
        <p:spPr>
          <a:xfrm>
            <a:off x="2941892" y="5438911"/>
            <a:ext cx="104013" cy="46955"/>
          </a:xfrm>
          <a:prstGeom prst="ellipse">
            <a:avLst/>
          </a:prstGeom>
          <a:solidFill>
            <a:srgbClr val="A6C48A"/>
          </a:solidFill>
          <a:ln w="8667">
            <a:solidFill>
              <a:srgbClr val="4A72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7" name="ffar_component_path_96"/>
          <p:cNvSpPr/>
          <p:nvPr/>
        </p:nvSpPr>
        <p:spPr>
          <a:xfrm>
            <a:off x="2950559" y="5646853"/>
            <a:ext cx="86678" cy="20123"/>
          </a:xfrm>
          <a:custGeom>
            <a:avLst/>
            <a:gdLst/>
            <a:ahLst/>
            <a:cxnLst/>
            <a:rect l="0" t="0" r="r" b="b"/>
            <a:pathLst>
              <a:path w="86678" h="20123">
                <a:moveTo>
                  <a:pt x="0" y="0"/>
                </a:moveTo>
                <a:cubicBezTo>
                  <a:pt x="17336" y="20123"/>
                  <a:pt x="78010" y="20123"/>
                  <a:pt x="86678" y="0"/>
                </a:cubicBezTo>
              </a:path>
            </a:pathLst>
          </a:custGeom>
          <a:noFill/>
          <a:ln w="8667" cap="rnd">
            <a:solidFill>
              <a:srgbClr val="C4D9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8" name="ffar_component_path_97"/>
          <p:cNvSpPr/>
          <p:nvPr/>
        </p:nvSpPr>
        <p:spPr>
          <a:xfrm>
            <a:off x="3063240" y="5452326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9" name="ffar_component_path_98"/>
          <p:cNvSpPr/>
          <p:nvPr/>
        </p:nvSpPr>
        <p:spPr>
          <a:xfrm>
            <a:off x="3084909" y="5492573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0" name="ffar_component_path_99"/>
          <p:cNvSpPr/>
          <p:nvPr/>
        </p:nvSpPr>
        <p:spPr>
          <a:xfrm>
            <a:off x="3063240" y="5646853"/>
            <a:ext cx="104013" cy="201234"/>
          </a:xfrm>
          <a:custGeom>
            <a:avLst/>
            <a:gdLst/>
            <a:ahLst/>
            <a:cxnLst/>
            <a:rect l="0" t="0" r="r" b="b"/>
            <a:pathLst>
              <a:path w="104013" h="201234">
                <a:moveTo>
                  <a:pt x="0" y="26831"/>
                </a:moveTo>
                <a:cubicBezTo>
                  <a:pt x="0" y="0"/>
                  <a:pt x="104013" y="0"/>
                  <a:pt x="104013" y="26831"/>
                </a:cubicBezTo>
                <a:lnTo>
                  <a:pt x="104013" y="167695"/>
                </a:lnTo>
                <a:cubicBezTo>
                  <a:pt x="104013" y="201234"/>
                  <a:pt x="0" y="201234"/>
                  <a:pt x="0" y="167695"/>
                </a:cubicBezTo>
                <a:close/>
              </a:path>
            </a:pathLst>
          </a:custGeom>
          <a:gradFill rotWithShape="1">
            <a:gsLst>
              <a:gs pos="0">
                <a:srgbClr val="C5D9A8"/>
              </a:gs>
              <a:gs pos="35000">
                <a:srgbClr val="A3C184"/>
              </a:gs>
              <a:gs pos="75000">
                <a:srgbClr val="729A55"/>
              </a:gs>
              <a:gs pos="100000">
                <a:srgbClr val="577B42"/>
              </a:gs>
            </a:gsLst>
            <a:lin ang="0" scaled="1"/>
          </a:gradFill>
          <a:ln w="11376" cap="rnd">
            <a:solidFill>
              <a:srgbClr val="446E3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1" name="ffar_component_path_100"/>
          <p:cNvSpPr/>
          <p:nvPr/>
        </p:nvSpPr>
        <p:spPr>
          <a:xfrm>
            <a:off x="3084909" y="5687100"/>
            <a:ext cx="95" cy="120741"/>
          </a:xfrm>
          <a:custGeom>
            <a:avLst/>
            <a:gdLst/>
            <a:ahLst/>
            <a:cxnLst/>
            <a:rect l="0" t="0" r="r" b="b"/>
            <a:pathLst>
              <a:path w="95" h="120741">
                <a:moveTo>
                  <a:pt x="0" y="0"/>
                </a:moveTo>
                <a:lnTo>
                  <a:pt x="0" y="120741"/>
                </a:lnTo>
              </a:path>
            </a:pathLst>
          </a:custGeom>
          <a:noFill/>
          <a:ln w="9209" cap="rnd">
            <a:solidFill>
              <a:srgbClr val="D2E2B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2" name="ffar_component_oval_101"/>
          <p:cNvSpPr/>
          <p:nvPr/>
        </p:nvSpPr>
        <p:spPr>
          <a:xfrm>
            <a:off x="3063240" y="5438911"/>
            <a:ext cx="104013" cy="46955"/>
          </a:xfrm>
          <a:prstGeom prst="ellipse">
            <a:avLst/>
          </a:prstGeom>
          <a:solidFill>
            <a:srgbClr val="A6C48A"/>
          </a:solidFill>
          <a:ln w="8667">
            <a:solidFill>
              <a:srgbClr val="4A72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3" name="ffar_component_path_102"/>
          <p:cNvSpPr/>
          <p:nvPr/>
        </p:nvSpPr>
        <p:spPr>
          <a:xfrm>
            <a:off x="3071908" y="5646853"/>
            <a:ext cx="86678" cy="20123"/>
          </a:xfrm>
          <a:custGeom>
            <a:avLst/>
            <a:gdLst/>
            <a:ahLst/>
            <a:cxnLst/>
            <a:rect l="0" t="0" r="r" b="b"/>
            <a:pathLst>
              <a:path w="86678" h="20123">
                <a:moveTo>
                  <a:pt x="0" y="0"/>
                </a:moveTo>
                <a:cubicBezTo>
                  <a:pt x="17335" y="20123"/>
                  <a:pt x="78010" y="20123"/>
                  <a:pt x="86678" y="0"/>
                </a:cubicBezTo>
              </a:path>
            </a:pathLst>
          </a:custGeom>
          <a:noFill/>
          <a:ln w="8667" cap="rnd">
            <a:solidFill>
              <a:srgbClr val="C4D9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4" name="nucleosome_component_path_1"/>
          <p:cNvSpPr/>
          <p:nvPr/>
        </p:nvSpPr>
        <p:spPr>
          <a:xfrm>
            <a:off x="3991356" y="6177814"/>
            <a:ext cx="665988" cy="95881"/>
          </a:xfrm>
          <a:custGeom>
            <a:avLst/>
            <a:gdLst/>
            <a:ahLst/>
            <a:cxnLst/>
            <a:rect l="0" t="0" r="r" b="b"/>
            <a:pathLst>
              <a:path w="665988" h="95881">
                <a:moveTo>
                  <a:pt x="0" y="65918"/>
                </a:moveTo>
                <a:cubicBezTo>
                  <a:pt x="101346" y="23970"/>
                  <a:pt x="152019" y="0"/>
                  <a:pt x="231648" y="23970"/>
                </a:cubicBezTo>
                <a:cubicBezTo>
                  <a:pt x="383667" y="53933"/>
                  <a:pt x="412623" y="11985"/>
                  <a:pt x="492252" y="47940"/>
                </a:cubicBezTo>
                <a:cubicBezTo>
                  <a:pt x="571881" y="95881"/>
                  <a:pt x="608076" y="53933"/>
                  <a:pt x="665988" y="47940"/>
                </a:cubicBezTo>
              </a:path>
            </a:pathLst>
          </a:custGeom>
          <a:noFill/>
          <a:ln w="29860" cap="rnd">
            <a:solidFill>
              <a:srgbClr val="3F705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5" name="nucleosome_component_path_2"/>
          <p:cNvSpPr/>
          <p:nvPr/>
        </p:nvSpPr>
        <p:spPr>
          <a:xfrm>
            <a:off x="3991356" y="6177814"/>
            <a:ext cx="665988" cy="95881"/>
          </a:xfrm>
          <a:custGeom>
            <a:avLst/>
            <a:gdLst/>
            <a:ahLst/>
            <a:cxnLst/>
            <a:rect l="0" t="0" r="r" b="b"/>
            <a:pathLst>
              <a:path w="665988" h="95881">
                <a:moveTo>
                  <a:pt x="0" y="65918"/>
                </a:moveTo>
                <a:cubicBezTo>
                  <a:pt x="101346" y="23970"/>
                  <a:pt x="152019" y="0"/>
                  <a:pt x="231648" y="23970"/>
                </a:cubicBezTo>
                <a:cubicBezTo>
                  <a:pt x="383667" y="53933"/>
                  <a:pt x="412623" y="11985"/>
                  <a:pt x="492252" y="47940"/>
                </a:cubicBezTo>
                <a:cubicBezTo>
                  <a:pt x="571881" y="95881"/>
                  <a:pt x="608076" y="53933"/>
                  <a:pt x="665988" y="47940"/>
                </a:cubicBezTo>
              </a:path>
            </a:pathLst>
          </a:custGeom>
          <a:noFill/>
          <a:ln w="16423" cap="rnd">
            <a:solidFill>
              <a:srgbClr val="8EB07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6" name="nucleosome_component_oval_3"/>
          <p:cNvSpPr/>
          <p:nvPr/>
        </p:nvSpPr>
        <p:spPr>
          <a:xfrm rot="720000">
            <a:off x="4367784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F5EFD8"/>
              </a:gs>
              <a:gs pos="40000">
                <a:srgbClr val="DFD3AB"/>
              </a:gs>
              <a:gs pos="100000">
                <a:srgbClr val="BEB17D"/>
              </a:gs>
            </a:gsLst>
            <a:lin ang="1200000" scaled="1"/>
          </a:gradFill>
          <a:ln w="9048">
            <a:solidFill>
              <a:srgbClr val="6F78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7" name="nucleosome_component_oval_4"/>
          <p:cNvSpPr/>
          <p:nvPr/>
        </p:nvSpPr>
        <p:spPr>
          <a:xfrm rot="720000">
            <a:off x="4295394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ABCDCA"/>
              </a:gs>
              <a:gs pos="40000">
                <a:srgbClr val="659F9F"/>
              </a:gs>
              <a:gs pos="100000">
                <a:srgbClr val="347D83"/>
              </a:gs>
            </a:gsLst>
            <a:lin ang="1200000" scaled="1"/>
          </a:gradFill>
          <a:ln w="9048">
            <a:solidFill>
              <a:srgbClr val="326F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8" name="nucleosome_component_oval_5"/>
          <p:cNvSpPr/>
          <p:nvPr/>
        </p:nvSpPr>
        <p:spPr>
          <a:xfrm rot="720000">
            <a:off x="4230243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F5EFD8"/>
              </a:gs>
              <a:gs pos="40000">
                <a:srgbClr val="DFD3AB"/>
              </a:gs>
              <a:gs pos="100000">
                <a:srgbClr val="BEB17D"/>
              </a:gs>
            </a:gsLst>
            <a:lin ang="1200000" scaled="1"/>
          </a:gradFill>
          <a:ln w="9048">
            <a:solidFill>
              <a:srgbClr val="6F78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9" name="nucleosome_component_oval_6"/>
          <p:cNvSpPr/>
          <p:nvPr/>
        </p:nvSpPr>
        <p:spPr>
          <a:xfrm rot="720000">
            <a:off x="4165092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ABCDCA"/>
              </a:gs>
              <a:gs pos="40000">
                <a:srgbClr val="659F9F"/>
              </a:gs>
              <a:gs pos="100000">
                <a:srgbClr val="347D83"/>
              </a:gs>
            </a:gsLst>
            <a:lin ang="1200000" scaled="1"/>
          </a:gradFill>
          <a:ln w="9048">
            <a:solidFill>
              <a:srgbClr val="326F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0" name="nucleosome_component_oval_7"/>
          <p:cNvSpPr/>
          <p:nvPr/>
        </p:nvSpPr>
        <p:spPr>
          <a:xfrm rot="720000">
            <a:off x="4099941" y="5812269"/>
            <a:ext cx="180975" cy="413486"/>
          </a:xfrm>
          <a:prstGeom prst="ellipse">
            <a:avLst/>
          </a:prstGeom>
          <a:gradFill rotWithShape="1">
            <a:gsLst>
              <a:gs pos="0">
                <a:srgbClr val="F5EFD8"/>
              </a:gs>
              <a:gs pos="40000">
                <a:srgbClr val="DFD3AB"/>
              </a:gs>
              <a:gs pos="100000">
                <a:srgbClr val="BEB17D"/>
              </a:gs>
            </a:gsLst>
            <a:lin ang="1200000" scaled="1"/>
          </a:gradFill>
          <a:ln w="9048">
            <a:solidFill>
              <a:srgbClr val="6F78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1" name="nucleosome_component_oval_8"/>
          <p:cNvSpPr/>
          <p:nvPr/>
        </p:nvSpPr>
        <p:spPr>
          <a:xfrm rot="720000">
            <a:off x="4103560" y="5824254"/>
            <a:ext cx="137541" cy="371538"/>
          </a:xfrm>
          <a:prstGeom prst="ellipse">
            <a:avLst/>
          </a:prstGeom>
          <a:gradFill rotWithShape="1">
            <a:gsLst>
              <a:gs pos="0">
                <a:srgbClr val="F9F3DE"/>
              </a:gs>
              <a:gs pos="50000">
                <a:srgbClr val="E1D4AB"/>
              </a:gs>
              <a:gs pos="100000">
                <a:srgbClr val="C9BD8F"/>
              </a:gs>
            </a:gsLst>
            <a:lin ang="1500000" scaled="1"/>
          </a:gradFill>
          <a:ln w="7691">
            <a:solidFill>
              <a:srgbClr val="9B95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2" name="nucleosome_component_path_9"/>
          <p:cNvSpPr/>
          <p:nvPr/>
        </p:nvSpPr>
        <p:spPr>
          <a:xfrm>
            <a:off x="4121658" y="5860209"/>
            <a:ext cx="65151" cy="239702"/>
          </a:xfrm>
          <a:custGeom>
            <a:avLst/>
            <a:gdLst/>
            <a:ahLst/>
            <a:cxnLst/>
            <a:rect l="0" t="0" r="r" b="b"/>
            <a:pathLst>
              <a:path w="65151" h="239702">
                <a:moveTo>
                  <a:pt x="0" y="239702"/>
                </a:moveTo>
                <a:cubicBezTo>
                  <a:pt x="7239" y="137829"/>
                  <a:pt x="28956" y="41948"/>
                  <a:pt x="65151" y="0"/>
                </a:cubicBezTo>
              </a:path>
            </a:pathLst>
          </a:custGeom>
          <a:noFill/>
          <a:ln w="12668" cap="rnd">
            <a:solidFill>
              <a:srgbClr val="FFF9E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3" name="nucleosome_component_path_10"/>
          <p:cNvSpPr/>
          <p:nvPr/>
        </p:nvSpPr>
        <p:spPr>
          <a:xfrm>
            <a:off x="4476369" y="5788298"/>
            <a:ext cx="79629" cy="65918"/>
          </a:xfrm>
          <a:custGeom>
            <a:avLst/>
            <a:gdLst/>
            <a:ahLst/>
            <a:cxnLst/>
            <a:rect l="0" t="0" r="r" b="b"/>
            <a:pathLst>
              <a:path w="79629" h="65918">
                <a:moveTo>
                  <a:pt x="0" y="65918"/>
                </a:moveTo>
                <a:lnTo>
                  <a:pt x="79629" y="0"/>
                </a:lnTo>
              </a:path>
            </a:pathLst>
          </a:custGeom>
          <a:noFill/>
          <a:ln w="18097" cap="rnd">
            <a:solidFill>
              <a:srgbClr val="7D815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4" name="nucleosome_component_path_11"/>
          <p:cNvSpPr/>
          <p:nvPr/>
        </p:nvSpPr>
        <p:spPr>
          <a:xfrm>
            <a:off x="4508754" y="5716388"/>
            <a:ext cx="137921" cy="131836"/>
          </a:xfrm>
          <a:custGeom>
            <a:avLst/>
            <a:gdLst/>
            <a:ahLst/>
            <a:cxnLst/>
            <a:rect l="0" t="0" r="r" b="b"/>
            <a:pathLst>
              <a:path w="137921" h="131836">
                <a:moveTo>
                  <a:pt x="68961" y="0"/>
                </a:moveTo>
                <a:lnTo>
                  <a:pt x="137921" y="32959"/>
                </a:lnTo>
                <a:lnTo>
                  <a:pt x="137921" y="98877"/>
                </a:lnTo>
                <a:lnTo>
                  <a:pt x="68961" y="131836"/>
                </a:lnTo>
                <a:lnTo>
                  <a:pt x="0" y="98877"/>
                </a:lnTo>
                <a:lnTo>
                  <a:pt x="0" y="32959"/>
                </a:lnTo>
                <a:close/>
              </a:path>
            </a:pathLst>
          </a:custGeom>
          <a:gradFill rotWithShape="1">
            <a:gsLst>
              <a:gs pos="0">
                <a:srgbClr val="C6DBAA"/>
              </a:gs>
              <a:gs pos="45000">
                <a:srgbClr val="8BB575"/>
              </a:gs>
              <a:gs pos="100000">
                <a:srgbClr val="608B51"/>
              </a:gs>
            </a:gsLst>
            <a:lin ang="3600000" scaled="1"/>
          </a:gradFill>
          <a:ln w="9048" cap="rnd">
            <a:solidFill>
              <a:srgbClr val="4E774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5" name="nucleosome_component_path_12"/>
          <p:cNvSpPr/>
          <p:nvPr/>
        </p:nvSpPr>
        <p:spPr>
          <a:xfrm>
            <a:off x="4541520" y="5740358"/>
            <a:ext cx="28956" cy="17978"/>
          </a:xfrm>
          <a:custGeom>
            <a:avLst/>
            <a:gdLst/>
            <a:ahLst/>
            <a:cxnLst/>
            <a:rect l="0" t="0" r="r" b="b"/>
            <a:pathLst>
              <a:path w="28956" h="17978">
                <a:moveTo>
                  <a:pt x="0" y="17978"/>
                </a:moveTo>
                <a:lnTo>
                  <a:pt x="28956" y="0"/>
                </a:lnTo>
              </a:path>
            </a:pathLst>
          </a:custGeom>
          <a:noFill/>
          <a:ln w="9048" cap="rnd">
            <a:solidFill>
              <a:srgbClr val="DCEA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6" name="perivascular_macrophage_component_path_1"/>
          <p:cNvSpPr/>
          <p:nvPr/>
        </p:nvSpPr>
        <p:spPr>
          <a:xfrm>
            <a:off x="8653711" y="5345087"/>
            <a:ext cx="757291" cy="732929"/>
          </a:xfrm>
          <a:custGeom>
            <a:avLst/>
            <a:gdLst/>
            <a:ahLst/>
            <a:cxnLst/>
            <a:rect l="0" t="0" r="r" b="b"/>
            <a:pathLst>
              <a:path w="757291" h="732929">
                <a:moveTo>
                  <a:pt x="756643" y="370233"/>
                </a:moveTo>
                <a:cubicBezTo>
                  <a:pt x="755994" y="377231"/>
                  <a:pt x="752112" y="384490"/>
                  <a:pt x="747382" y="391120"/>
                </a:cubicBezTo>
                <a:cubicBezTo>
                  <a:pt x="742653" y="397749"/>
                  <a:pt x="734809" y="404058"/>
                  <a:pt x="728264" y="410009"/>
                </a:cubicBezTo>
                <a:cubicBezTo>
                  <a:pt x="721718" y="415961"/>
                  <a:pt x="713625" y="421273"/>
                  <a:pt x="708109" y="426828"/>
                </a:cubicBezTo>
                <a:cubicBezTo>
                  <a:pt x="702594" y="432383"/>
                  <a:pt x="697699" y="437499"/>
                  <a:pt x="695169" y="443340"/>
                </a:cubicBezTo>
                <a:cubicBezTo>
                  <a:pt x="692638" y="449180"/>
                  <a:pt x="692363" y="455181"/>
                  <a:pt x="692926" y="461871"/>
                </a:cubicBezTo>
                <a:cubicBezTo>
                  <a:pt x="693489" y="468561"/>
                  <a:pt x="696581" y="475989"/>
                  <a:pt x="698547" y="483480"/>
                </a:cubicBezTo>
                <a:cubicBezTo>
                  <a:pt x="700513" y="490971"/>
                  <a:pt x="703846" y="499300"/>
                  <a:pt x="704722" y="506819"/>
                </a:cubicBezTo>
                <a:cubicBezTo>
                  <a:pt x="705598" y="514337"/>
                  <a:pt x="705934" y="522148"/>
                  <a:pt x="703802" y="528592"/>
                </a:cubicBezTo>
                <a:cubicBezTo>
                  <a:pt x="701669" y="535037"/>
                  <a:pt x="697404" y="540844"/>
                  <a:pt x="691929" y="545487"/>
                </a:cubicBezTo>
                <a:cubicBezTo>
                  <a:pt x="686455" y="550129"/>
                  <a:pt x="678411" y="553389"/>
                  <a:pt x="670954" y="556448"/>
                </a:cubicBezTo>
                <a:cubicBezTo>
                  <a:pt x="663497" y="559506"/>
                  <a:pt x="654378" y="561153"/>
                  <a:pt x="647188" y="563837"/>
                </a:cubicBezTo>
                <a:cubicBezTo>
                  <a:pt x="639997" y="566521"/>
                  <a:pt x="632844" y="568626"/>
                  <a:pt x="627813" y="572554"/>
                </a:cubicBezTo>
                <a:cubicBezTo>
                  <a:pt x="622782" y="576481"/>
                  <a:pt x="619329" y="581140"/>
                  <a:pt x="617001" y="587402"/>
                </a:cubicBezTo>
                <a:cubicBezTo>
                  <a:pt x="614674" y="593664"/>
                  <a:pt x="614493" y="601715"/>
                  <a:pt x="613845" y="610125"/>
                </a:cubicBezTo>
                <a:cubicBezTo>
                  <a:pt x="613198" y="618535"/>
                  <a:pt x="614044" y="628863"/>
                  <a:pt x="613114" y="637863"/>
                </a:cubicBezTo>
                <a:cubicBezTo>
                  <a:pt x="612184" y="646864"/>
                  <a:pt x="611296" y="656778"/>
                  <a:pt x="608265" y="664128"/>
                </a:cubicBezTo>
                <a:cubicBezTo>
                  <a:pt x="605234" y="671479"/>
                  <a:pt x="600811" y="678040"/>
                  <a:pt x="594929" y="681968"/>
                </a:cubicBezTo>
                <a:cubicBezTo>
                  <a:pt x="589046" y="685896"/>
                  <a:pt x="581105" y="687505"/>
                  <a:pt x="572969" y="687696"/>
                </a:cubicBezTo>
                <a:cubicBezTo>
                  <a:pt x="564834" y="687887"/>
                  <a:pt x="555011" y="685253"/>
                  <a:pt x="546116" y="683115"/>
                </a:cubicBezTo>
                <a:cubicBezTo>
                  <a:pt x="537221" y="680977"/>
                  <a:pt x="527739" y="676867"/>
                  <a:pt x="519600" y="674870"/>
                </a:cubicBezTo>
                <a:cubicBezTo>
                  <a:pt x="511461" y="672874"/>
                  <a:pt x="503897" y="670725"/>
                  <a:pt x="497281" y="671135"/>
                </a:cubicBezTo>
                <a:cubicBezTo>
                  <a:pt x="490666" y="671545"/>
                  <a:pt x="485232" y="673653"/>
                  <a:pt x="479906" y="677331"/>
                </a:cubicBezTo>
                <a:cubicBezTo>
                  <a:pt x="474581" y="681009"/>
                  <a:pt x="470260" y="687275"/>
                  <a:pt x="465330" y="693202"/>
                </a:cubicBezTo>
                <a:cubicBezTo>
                  <a:pt x="460400" y="699129"/>
                  <a:pt x="455761" y="707082"/>
                  <a:pt x="450326" y="712894"/>
                </a:cubicBezTo>
                <a:cubicBezTo>
                  <a:pt x="444890" y="718707"/>
                  <a:pt x="439022" y="724817"/>
                  <a:pt x="432718" y="728076"/>
                </a:cubicBezTo>
                <a:cubicBezTo>
                  <a:pt x="426414" y="731336"/>
                  <a:pt x="419391" y="732929"/>
                  <a:pt x="412503" y="732449"/>
                </a:cubicBezTo>
                <a:cubicBezTo>
                  <a:pt x="405614" y="731970"/>
                  <a:pt x="398267" y="728694"/>
                  <a:pt x="391388" y="725200"/>
                </a:cubicBezTo>
                <a:cubicBezTo>
                  <a:pt x="384508" y="721706"/>
                  <a:pt x="377705" y="715744"/>
                  <a:pt x="371227" y="711486"/>
                </a:cubicBezTo>
                <a:cubicBezTo>
                  <a:pt x="364748" y="707227"/>
                  <a:pt x="358716" y="702120"/>
                  <a:pt x="352517" y="699651"/>
                </a:cubicBezTo>
                <a:cubicBezTo>
                  <a:pt x="346317" y="697183"/>
                  <a:pt x="340477" y="695899"/>
                  <a:pt x="334027" y="696676"/>
                </a:cubicBezTo>
                <a:cubicBezTo>
                  <a:pt x="327578" y="697453"/>
                  <a:pt x="321000" y="700753"/>
                  <a:pt x="313819" y="704313"/>
                </a:cubicBezTo>
                <a:cubicBezTo>
                  <a:pt x="306638" y="707872"/>
                  <a:pt x="298812" y="713861"/>
                  <a:pt x="290941" y="718033"/>
                </a:cubicBezTo>
                <a:cubicBezTo>
                  <a:pt x="283070" y="722204"/>
                  <a:pt x="274445" y="727311"/>
                  <a:pt x="266593" y="729342"/>
                </a:cubicBezTo>
                <a:cubicBezTo>
                  <a:pt x="258741" y="731374"/>
                  <a:pt x="250622" y="732231"/>
                  <a:pt x="243830" y="730220"/>
                </a:cubicBezTo>
                <a:cubicBezTo>
                  <a:pt x="237038" y="728210"/>
                  <a:pt x="230845" y="723408"/>
                  <a:pt x="225842" y="717278"/>
                </a:cubicBezTo>
                <a:cubicBezTo>
                  <a:pt x="220839" y="711148"/>
                  <a:pt x="217161" y="701934"/>
                  <a:pt x="213810" y="693438"/>
                </a:cubicBezTo>
                <a:cubicBezTo>
                  <a:pt x="210459" y="684942"/>
                  <a:pt x="208512" y="674514"/>
                  <a:pt x="205736" y="666301"/>
                </a:cubicBezTo>
                <a:cubicBezTo>
                  <a:pt x="202959" y="658088"/>
                  <a:pt x="200858" y="649902"/>
                  <a:pt x="197151" y="644159"/>
                </a:cubicBezTo>
                <a:cubicBezTo>
                  <a:pt x="193444" y="638416"/>
                  <a:pt x="189212" y="634437"/>
                  <a:pt x="183495" y="631842"/>
                </a:cubicBezTo>
                <a:cubicBezTo>
                  <a:pt x="177778" y="629248"/>
                  <a:pt x="170533" y="629075"/>
                  <a:pt x="162851" y="628591"/>
                </a:cubicBezTo>
                <a:cubicBezTo>
                  <a:pt x="155170" y="628106"/>
                  <a:pt x="145782" y="629377"/>
                  <a:pt x="137406" y="628937"/>
                </a:cubicBezTo>
                <a:cubicBezTo>
                  <a:pt x="129031" y="628498"/>
                  <a:pt x="119789" y="628283"/>
                  <a:pt x="112598" y="625954"/>
                </a:cubicBezTo>
                <a:cubicBezTo>
                  <a:pt x="105407" y="623626"/>
                  <a:pt x="98813" y="620005"/>
                  <a:pt x="94260" y="614964"/>
                </a:cubicBezTo>
                <a:cubicBezTo>
                  <a:pt x="89706" y="609923"/>
                  <a:pt x="87036" y="602877"/>
                  <a:pt x="85277" y="595708"/>
                </a:cubicBezTo>
                <a:cubicBezTo>
                  <a:pt x="83517" y="588538"/>
                  <a:pt x="83991" y="579740"/>
                  <a:pt x="83703" y="571949"/>
                </a:cubicBezTo>
                <a:cubicBezTo>
                  <a:pt x="83415" y="564158"/>
                  <a:pt x="84503" y="555872"/>
                  <a:pt x="83548" y="548962"/>
                </a:cubicBezTo>
                <a:cubicBezTo>
                  <a:pt x="82593" y="542051"/>
                  <a:pt x="81361" y="535832"/>
                  <a:pt x="77972" y="530487"/>
                </a:cubicBezTo>
                <a:cubicBezTo>
                  <a:pt x="74583" y="525143"/>
                  <a:pt x="69369" y="521068"/>
                  <a:pt x="63213" y="516897"/>
                </a:cubicBezTo>
                <a:cubicBezTo>
                  <a:pt x="57058" y="512726"/>
                  <a:pt x="48537" y="509552"/>
                  <a:pt x="41042" y="505463"/>
                </a:cubicBezTo>
                <a:cubicBezTo>
                  <a:pt x="33546" y="501373"/>
                  <a:pt x="24540" y="497428"/>
                  <a:pt x="18239" y="492361"/>
                </a:cubicBezTo>
                <a:cubicBezTo>
                  <a:pt x="11937" y="487293"/>
                  <a:pt x="6004" y="481511"/>
                  <a:pt x="3235" y="475058"/>
                </a:cubicBezTo>
                <a:cubicBezTo>
                  <a:pt x="466" y="468605"/>
                  <a:pt x="0" y="461084"/>
                  <a:pt x="1624" y="453644"/>
                </a:cubicBezTo>
                <a:cubicBezTo>
                  <a:pt x="3249" y="446204"/>
                  <a:pt x="8121" y="437998"/>
                  <a:pt x="12982" y="430417"/>
                </a:cubicBezTo>
                <a:cubicBezTo>
                  <a:pt x="17843" y="422836"/>
                  <a:pt x="25352" y="415177"/>
                  <a:pt x="30791" y="408160"/>
                </a:cubicBezTo>
                <a:cubicBezTo>
                  <a:pt x="36229" y="401142"/>
                  <a:pt x="42431" y="394635"/>
                  <a:pt x="45611" y="388313"/>
                </a:cubicBezTo>
                <a:cubicBezTo>
                  <a:pt x="48791" y="381992"/>
                  <a:pt x="50517" y="376296"/>
                  <a:pt x="49869" y="370233"/>
                </a:cubicBezTo>
                <a:cubicBezTo>
                  <a:pt x="49220" y="364170"/>
                  <a:pt x="45709" y="358347"/>
                  <a:pt x="41720" y="351936"/>
                </a:cubicBezTo>
                <a:cubicBezTo>
                  <a:pt x="37731" y="345525"/>
                  <a:pt x="31000" y="338793"/>
                  <a:pt x="25934" y="331765"/>
                </a:cubicBezTo>
                <a:cubicBezTo>
                  <a:pt x="20867" y="324737"/>
                  <a:pt x="14624" y="317091"/>
                  <a:pt x="11321" y="309770"/>
                </a:cubicBezTo>
                <a:cubicBezTo>
                  <a:pt x="8018" y="302448"/>
                  <a:pt x="5706" y="294728"/>
                  <a:pt x="6115" y="287835"/>
                </a:cubicBezTo>
                <a:cubicBezTo>
                  <a:pt x="6524" y="280942"/>
                  <a:pt x="9554" y="274271"/>
                  <a:pt x="13774" y="268410"/>
                </a:cubicBezTo>
                <a:cubicBezTo>
                  <a:pt x="17994" y="262549"/>
                  <a:pt x="25106" y="257508"/>
                  <a:pt x="31435" y="252671"/>
                </a:cubicBezTo>
                <a:cubicBezTo>
                  <a:pt x="37764" y="247834"/>
                  <a:pt x="45817" y="243936"/>
                  <a:pt x="51748" y="239388"/>
                </a:cubicBezTo>
                <a:cubicBezTo>
                  <a:pt x="57679" y="234839"/>
                  <a:pt x="63421" y="230704"/>
                  <a:pt x="67020" y="225381"/>
                </a:cubicBezTo>
                <a:cubicBezTo>
                  <a:pt x="70619" y="220058"/>
                  <a:pt x="72429" y="214238"/>
                  <a:pt x="73344" y="207449"/>
                </a:cubicBezTo>
                <a:cubicBezTo>
                  <a:pt x="74259" y="200660"/>
                  <a:pt x="72940" y="192648"/>
                  <a:pt x="72512" y="184647"/>
                </a:cubicBezTo>
                <a:cubicBezTo>
                  <a:pt x="72083" y="176646"/>
                  <a:pt x="70317" y="167412"/>
                  <a:pt x="70770" y="159444"/>
                </a:cubicBezTo>
                <a:cubicBezTo>
                  <a:pt x="71224" y="151476"/>
                  <a:pt x="72029" y="143124"/>
                  <a:pt x="75234" y="136840"/>
                </a:cubicBezTo>
                <a:cubicBezTo>
                  <a:pt x="78439" y="130556"/>
                  <a:pt x="83527" y="125216"/>
                  <a:pt x="90001" y="121739"/>
                </a:cubicBezTo>
                <a:cubicBezTo>
                  <a:pt x="96475" y="118262"/>
                  <a:pt x="105388" y="116802"/>
                  <a:pt x="114081" y="115977"/>
                </a:cubicBezTo>
                <a:cubicBezTo>
                  <a:pt x="122774" y="115151"/>
                  <a:pt x="133238" y="116488"/>
                  <a:pt x="142158" y="116785"/>
                </a:cubicBezTo>
                <a:cubicBezTo>
                  <a:pt x="151077" y="117083"/>
                  <a:pt x="160301" y="118553"/>
                  <a:pt x="167598" y="117760"/>
                </a:cubicBezTo>
                <a:cubicBezTo>
                  <a:pt x="174895" y="116968"/>
                  <a:pt x="181048" y="115659"/>
                  <a:pt x="185939" y="112029"/>
                </a:cubicBezTo>
                <a:cubicBezTo>
                  <a:pt x="190830" y="108399"/>
                  <a:pt x="193893" y="102737"/>
                  <a:pt x="196943" y="95979"/>
                </a:cubicBezTo>
                <a:cubicBezTo>
                  <a:pt x="199992" y="89221"/>
                  <a:pt x="201570" y="79937"/>
                  <a:pt x="204236" y="71482"/>
                </a:cubicBezTo>
                <a:cubicBezTo>
                  <a:pt x="206903" y="63026"/>
                  <a:pt x="209180" y="52909"/>
                  <a:pt x="212942" y="45245"/>
                </a:cubicBezTo>
                <a:cubicBezTo>
                  <a:pt x="216704" y="37582"/>
                  <a:pt x="221222" y="30088"/>
                  <a:pt x="226810" y="25500"/>
                </a:cubicBezTo>
                <a:cubicBezTo>
                  <a:pt x="232399" y="20911"/>
                  <a:pt x="239331" y="18352"/>
                  <a:pt x="246474" y="17716"/>
                </a:cubicBezTo>
                <a:cubicBezTo>
                  <a:pt x="253617" y="17080"/>
                  <a:pt x="261907" y="19372"/>
                  <a:pt x="269670" y="21684"/>
                </a:cubicBezTo>
                <a:cubicBezTo>
                  <a:pt x="277433" y="23995"/>
                  <a:pt x="285611" y="28679"/>
                  <a:pt x="293054" y="31585"/>
                </a:cubicBezTo>
                <a:cubicBezTo>
                  <a:pt x="300497" y="34491"/>
                  <a:pt x="307610" y="38048"/>
                  <a:pt x="314329" y="39119"/>
                </a:cubicBezTo>
                <a:cubicBezTo>
                  <a:pt x="321048" y="40191"/>
                  <a:pt x="327131" y="39954"/>
                  <a:pt x="333369" y="38013"/>
                </a:cubicBezTo>
                <a:cubicBezTo>
                  <a:pt x="339607" y="36071"/>
                  <a:pt x="345449" y="31695"/>
                  <a:pt x="351759" y="27469"/>
                </a:cubicBezTo>
                <a:cubicBezTo>
                  <a:pt x="358068" y="23242"/>
                  <a:pt x="364495" y="16913"/>
                  <a:pt x="371227" y="12655"/>
                </a:cubicBezTo>
                <a:cubicBezTo>
                  <a:pt x="377958" y="8397"/>
                  <a:pt x="385157" y="3656"/>
                  <a:pt x="392146" y="1920"/>
                </a:cubicBezTo>
                <a:cubicBezTo>
                  <a:pt x="399135" y="184"/>
                  <a:pt x="406484" y="0"/>
                  <a:pt x="413161" y="2239"/>
                </a:cubicBezTo>
                <a:cubicBezTo>
                  <a:pt x="419838" y="4479"/>
                  <a:pt x="426366" y="9608"/>
                  <a:pt x="432208" y="15356"/>
                </a:cubicBezTo>
                <a:cubicBezTo>
                  <a:pt x="438050" y="21103"/>
                  <a:pt x="443206" y="29645"/>
                  <a:pt x="448213" y="36723"/>
                </a:cubicBezTo>
                <a:cubicBezTo>
                  <a:pt x="453221" y="43801"/>
                  <a:pt x="457412" y="52177"/>
                  <a:pt x="462253" y="57824"/>
                </a:cubicBezTo>
                <a:cubicBezTo>
                  <a:pt x="467095" y="63471"/>
                  <a:pt x="471586" y="68303"/>
                  <a:pt x="477262" y="70606"/>
                </a:cubicBezTo>
                <a:cubicBezTo>
                  <a:pt x="482939" y="72909"/>
                  <a:pt x="489112" y="72775"/>
                  <a:pt x="496313" y="71642"/>
                </a:cubicBezTo>
                <a:cubicBezTo>
                  <a:pt x="503513" y="70510"/>
                  <a:pt x="511917" y="66642"/>
                  <a:pt x="520468" y="63813"/>
                </a:cubicBezTo>
                <a:cubicBezTo>
                  <a:pt x="529018" y="60984"/>
                  <a:pt x="538830" y="56563"/>
                  <a:pt x="547615" y="54668"/>
                </a:cubicBezTo>
                <a:cubicBezTo>
                  <a:pt x="556400" y="52773"/>
                  <a:pt x="565699" y="51236"/>
                  <a:pt x="573178" y="52442"/>
                </a:cubicBezTo>
                <a:cubicBezTo>
                  <a:pt x="580656" y="53648"/>
                  <a:pt x="587428" y="56940"/>
                  <a:pt x="592485" y="61903"/>
                </a:cubicBezTo>
                <a:cubicBezTo>
                  <a:pt x="597541" y="66867"/>
                  <a:pt x="600871" y="74563"/>
                  <a:pt x="603518" y="82223"/>
                </a:cubicBezTo>
                <a:cubicBezTo>
                  <a:pt x="606164" y="89882"/>
                  <a:pt x="606889" y="99596"/>
                  <a:pt x="608363" y="107860"/>
                </a:cubicBezTo>
                <a:cubicBezTo>
                  <a:pt x="609837" y="116124"/>
                  <a:pt x="610213" y="124900"/>
                  <a:pt x="612363" y="131806"/>
                </a:cubicBezTo>
                <a:cubicBezTo>
                  <a:pt x="614513" y="138713"/>
                  <a:pt x="617012" y="144603"/>
                  <a:pt x="621260" y="149300"/>
                </a:cubicBezTo>
                <a:cubicBezTo>
                  <a:pt x="625509" y="153998"/>
                  <a:pt x="631378" y="156951"/>
                  <a:pt x="637855" y="159994"/>
                </a:cubicBezTo>
                <a:cubicBezTo>
                  <a:pt x="644332" y="163036"/>
                  <a:pt x="652765" y="164694"/>
                  <a:pt x="660121" y="167555"/>
                </a:cubicBezTo>
                <a:cubicBezTo>
                  <a:pt x="667477" y="170417"/>
                  <a:pt x="675918" y="173012"/>
                  <a:pt x="681991" y="177161"/>
                </a:cubicBezTo>
                <a:cubicBezTo>
                  <a:pt x="688064" y="181310"/>
                  <a:pt x="693556" y="186362"/>
                  <a:pt x="696557" y="192450"/>
                </a:cubicBezTo>
                <a:cubicBezTo>
                  <a:pt x="699558" y="198537"/>
                  <a:pt x="700418" y="206089"/>
                  <a:pt x="699995" y="213686"/>
                </a:cubicBezTo>
                <a:cubicBezTo>
                  <a:pt x="699571" y="221283"/>
                  <a:pt x="696456" y="230054"/>
                  <a:pt x="694016" y="238032"/>
                </a:cubicBezTo>
                <a:cubicBezTo>
                  <a:pt x="691575" y="246009"/>
                  <a:pt x="687289" y="254291"/>
                  <a:pt x="685351" y="261551"/>
                </a:cubicBezTo>
                <a:cubicBezTo>
                  <a:pt x="683413" y="268812"/>
                  <a:pt x="681499" y="275499"/>
                  <a:pt x="682387" y="281597"/>
                </a:cubicBezTo>
                <a:cubicBezTo>
                  <a:pt x="683275" y="287695"/>
                  <a:pt x="686114" y="292846"/>
                  <a:pt x="690678" y="298140"/>
                </a:cubicBezTo>
                <a:cubicBezTo>
                  <a:pt x="695242" y="303433"/>
                  <a:pt x="702696" y="308062"/>
                  <a:pt x="709770" y="313358"/>
                </a:cubicBezTo>
                <a:cubicBezTo>
                  <a:pt x="716844" y="318654"/>
                  <a:pt x="726203" y="323954"/>
                  <a:pt x="733121" y="329915"/>
                </a:cubicBezTo>
                <a:cubicBezTo>
                  <a:pt x="740038" y="335877"/>
                  <a:pt x="747353" y="342410"/>
                  <a:pt x="751273" y="349130"/>
                </a:cubicBezTo>
                <a:cubicBezTo>
                  <a:pt x="755194" y="355849"/>
                  <a:pt x="757291" y="363234"/>
                  <a:pt x="756643" y="370233"/>
                </a:cubicBezTo>
                <a:close/>
              </a:path>
            </a:pathLst>
          </a:custGeom>
          <a:gradFill rotWithShape="1">
            <a:gsLst>
              <a:gs pos="0">
                <a:srgbClr val="F0EAF8"/>
              </a:gs>
              <a:gs pos="27000">
                <a:srgbClr val="DAD0ED"/>
              </a:gs>
              <a:gs pos="67000">
                <a:srgbClr val="C3B1E0"/>
              </a:gs>
              <a:gs pos="100000">
                <a:srgbClr val="AD96D2"/>
              </a:gs>
            </a:gsLst>
            <a:lin ang="3600000" scaled="1"/>
          </a:gradFill>
          <a:ln w="15317" cap="rnd">
            <a:solidFill>
              <a:srgbClr val="7660A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7" name="perivascular_macrophage_component_path_2"/>
          <p:cNvSpPr/>
          <p:nvPr/>
        </p:nvSpPr>
        <p:spPr>
          <a:xfrm>
            <a:off x="8675984" y="5367301"/>
            <a:ext cx="711854" cy="688953"/>
          </a:xfrm>
          <a:custGeom>
            <a:avLst/>
            <a:gdLst/>
            <a:ahLst/>
            <a:cxnLst/>
            <a:rect l="0" t="0" r="r" b="b"/>
            <a:pathLst>
              <a:path w="711854" h="688953">
                <a:moveTo>
                  <a:pt x="711244" y="348019"/>
                </a:moveTo>
                <a:cubicBezTo>
                  <a:pt x="710635" y="354597"/>
                  <a:pt x="706986" y="361421"/>
                  <a:pt x="702539" y="367653"/>
                </a:cubicBezTo>
                <a:cubicBezTo>
                  <a:pt x="698093" y="373884"/>
                  <a:pt x="690721" y="379814"/>
                  <a:pt x="684568" y="385409"/>
                </a:cubicBezTo>
                <a:cubicBezTo>
                  <a:pt x="678415" y="391003"/>
                  <a:pt x="670808" y="395997"/>
                  <a:pt x="665623" y="401219"/>
                </a:cubicBezTo>
                <a:cubicBezTo>
                  <a:pt x="660438" y="406440"/>
                  <a:pt x="655837" y="411249"/>
                  <a:pt x="653459" y="416739"/>
                </a:cubicBezTo>
                <a:cubicBezTo>
                  <a:pt x="651080" y="422229"/>
                  <a:pt x="650821" y="427870"/>
                  <a:pt x="651350" y="434159"/>
                </a:cubicBezTo>
                <a:cubicBezTo>
                  <a:pt x="651880" y="440448"/>
                  <a:pt x="654786" y="447429"/>
                  <a:pt x="656634" y="454471"/>
                </a:cubicBezTo>
                <a:cubicBezTo>
                  <a:pt x="658482" y="461513"/>
                  <a:pt x="661616" y="469342"/>
                  <a:pt x="662439" y="476410"/>
                </a:cubicBezTo>
                <a:cubicBezTo>
                  <a:pt x="663262" y="483477"/>
                  <a:pt x="663578" y="490819"/>
                  <a:pt x="661574" y="496877"/>
                </a:cubicBezTo>
                <a:cubicBezTo>
                  <a:pt x="659569" y="502935"/>
                  <a:pt x="655559" y="508394"/>
                  <a:pt x="650413" y="512758"/>
                </a:cubicBezTo>
                <a:cubicBezTo>
                  <a:pt x="645267" y="517122"/>
                  <a:pt x="637707" y="520186"/>
                  <a:pt x="630697" y="523061"/>
                </a:cubicBezTo>
                <a:cubicBezTo>
                  <a:pt x="623687" y="525936"/>
                  <a:pt x="615115" y="527483"/>
                  <a:pt x="608356" y="530007"/>
                </a:cubicBezTo>
                <a:cubicBezTo>
                  <a:pt x="601597" y="532530"/>
                  <a:pt x="594873" y="534508"/>
                  <a:pt x="590144" y="538200"/>
                </a:cubicBezTo>
                <a:cubicBezTo>
                  <a:pt x="585415" y="541892"/>
                  <a:pt x="582170" y="546272"/>
                  <a:pt x="579981" y="552158"/>
                </a:cubicBezTo>
                <a:cubicBezTo>
                  <a:pt x="577793" y="558044"/>
                  <a:pt x="577624" y="565612"/>
                  <a:pt x="577015" y="573517"/>
                </a:cubicBezTo>
                <a:cubicBezTo>
                  <a:pt x="576406" y="581423"/>
                  <a:pt x="577202" y="591131"/>
                  <a:pt x="576327" y="599591"/>
                </a:cubicBezTo>
                <a:cubicBezTo>
                  <a:pt x="575453" y="608052"/>
                  <a:pt x="574618" y="617371"/>
                  <a:pt x="571769" y="624281"/>
                </a:cubicBezTo>
                <a:cubicBezTo>
                  <a:pt x="568920" y="631190"/>
                  <a:pt x="564762" y="637358"/>
                  <a:pt x="559233" y="641050"/>
                </a:cubicBezTo>
                <a:cubicBezTo>
                  <a:pt x="553703" y="644742"/>
                  <a:pt x="546238" y="646255"/>
                  <a:pt x="538591" y="646434"/>
                </a:cubicBezTo>
                <a:cubicBezTo>
                  <a:pt x="530944" y="646614"/>
                  <a:pt x="521710" y="644137"/>
                  <a:pt x="513349" y="642128"/>
                </a:cubicBezTo>
                <a:cubicBezTo>
                  <a:pt x="504988" y="640119"/>
                  <a:pt x="496075" y="636255"/>
                  <a:pt x="488424" y="634378"/>
                </a:cubicBezTo>
                <a:cubicBezTo>
                  <a:pt x="480773" y="632501"/>
                  <a:pt x="473663" y="630481"/>
                  <a:pt x="467444" y="630867"/>
                </a:cubicBezTo>
                <a:cubicBezTo>
                  <a:pt x="461226" y="631253"/>
                  <a:pt x="456118" y="633234"/>
                  <a:pt x="451112" y="636691"/>
                </a:cubicBezTo>
                <a:cubicBezTo>
                  <a:pt x="446106" y="640149"/>
                  <a:pt x="442045" y="646039"/>
                  <a:pt x="437410" y="651610"/>
                </a:cubicBezTo>
                <a:cubicBezTo>
                  <a:pt x="432776" y="657182"/>
                  <a:pt x="428416" y="664657"/>
                  <a:pt x="423306" y="670121"/>
                </a:cubicBezTo>
                <a:cubicBezTo>
                  <a:pt x="418197" y="675584"/>
                  <a:pt x="412680" y="681328"/>
                  <a:pt x="406755" y="684392"/>
                </a:cubicBezTo>
                <a:cubicBezTo>
                  <a:pt x="400829" y="687455"/>
                  <a:pt x="394227" y="688953"/>
                  <a:pt x="387752" y="688502"/>
                </a:cubicBezTo>
                <a:cubicBezTo>
                  <a:pt x="381277" y="688052"/>
                  <a:pt x="374371" y="684973"/>
                  <a:pt x="367904" y="681688"/>
                </a:cubicBezTo>
                <a:cubicBezTo>
                  <a:pt x="361438" y="678404"/>
                  <a:pt x="355043" y="672799"/>
                  <a:pt x="348953" y="668796"/>
                </a:cubicBezTo>
                <a:cubicBezTo>
                  <a:pt x="342863" y="664794"/>
                  <a:pt x="337194" y="659992"/>
                  <a:pt x="331366" y="657672"/>
                </a:cubicBezTo>
                <a:cubicBezTo>
                  <a:pt x="325538" y="655352"/>
                  <a:pt x="320048" y="654145"/>
                  <a:pt x="313986" y="654875"/>
                </a:cubicBezTo>
                <a:cubicBezTo>
                  <a:pt x="307923" y="655606"/>
                  <a:pt x="301740" y="658708"/>
                  <a:pt x="294990" y="662054"/>
                </a:cubicBezTo>
                <a:cubicBezTo>
                  <a:pt x="288240" y="665400"/>
                  <a:pt x="280884" y="671029"/>
                  <a:pt x="273485" y="674951"/>
                </a:cubicBezTo>
                <a:cubicBezTo>
                  <a:pt x="266086" y="678872"/>
                  <a:pt x="257978" y="683672"/>
                  <a:pt x="250597" y="685582"/>
                </a:cubicBezTo>
                <a:cubicBezTo>
                  <a:pt x="243217" y="687491"/>
                  <a:pt x="235584" y="688297"/>
                  <a:pt x="229200" y="686407"/>
                </a:cubicBezTo>
                <a:cubicBezTo>
                  <a:pt x="222816" y="684517"/>
                  <a:pt x="216994" y="680004"/>
                  <a:pt x="212291" y="674241"/>
                </a:cubicBezTo>
                <a:cubicBezTo>
                  <a:pt x="207588" y="668479"/>
                  <a:pt x="204131" y="659818"/>
                  <a:pt x="200981" y="651832"/>
                </a:cubicBezTo>
                <a:cubicBezTo>
                  <a:pt x="197831" y="643845"/>
                  <a:pt x="196001" y="634044"/>
                  <a:pt x="193391" y="626323"/>
                </a:cubicBezTo>
                <a:cubicBezTo>
                  <a:pt x="190782" y="618603"/>
                  <a:pt x="188807" y="610908"/>
                  <a:pt x="185322" y="605509"/>
                </a:cubicBezTo>
                <a:cubicBezTo>
                  <a:pt x="181838" y="600111"/>
                  <a:pt x="177859" y="596371"/>
                  <a:pt x="172485" y="593932"/>
                </a:cubicBezTo>
                <a:cubicBezTo>
                  <a:pt x="167112" y="591493"/>
                  <a:pt x="160301" y="591330"/>
                  <a:pt x="153080" y="590875"/>
                </a:cubicBezTo>
                <a:cubicBezTo>
                  <a:pt x="145860" y="590420"/>
                  <a:pt x="137035" y="591614"/>
                  <a:pt x="129162" y="591201"/>
                </a:cubicBezTo>
                <a:cubicBezTo>
                  <a:pt x="121289" y="590788"/>
                  <a:pt x="112602" y="590586"/>
                  <a:pt x="105842" y="588397"/>
                </a:cubicBezTo>
                <a:cubicBezTo>
                  <a:pt x="99083" y="586208"/>
                  <a:pt x="92884" y="582805"/>
                  <a:pt x="88604" y="578066"/>
                </a:cubicBezTo>
                <a:cubicBezTo>
                  <a:pt x="84324" y="573327"/>
                  <a:pt x="81814" y="566704"/>
                  <a:pt x="80160" y="559965"/>
                </a:cubicBezTo>
                <a:cubicBezTo>
                  <a:pt x="78506" y="553226"/>
                  <a:pt x="78952" y="544955"/>
                  <a:pt x="78681" y="537632"/>
                </a:cubicBezTo>
                <a:cubicBezTo>
                  <a:pt x="78410" y="530308"/>
                  <a:pt x="79433" y="522520"/>
                  <a:pt x="78535" y="516024"/>
                </a:cubicBezTo>
                <a:cubicBezTo>
                  <a:pt x="77637" y="509528"/>
                  <a:pt x="76479" y="503682"/>
                  <a:pt x="73294" y="498658"/>
                </a:cubicBezTo>
                <a:cubicBezTo>
                  <a:pt x="70108" y="493635"/>
                  <a:pt x="65206" y="489804"/>
                  <a:pt x="59421" y="485883"/>
                </a:cubicBezTo>
                <a:cubicBezTo>
                  <a:pt x="53635" y="481963"/>
                  <a:pt x="45625" y="478979"/>
                  <a:pt x="38579" y="475135"/>
                </a:cubicBezTo>
                <a:cubicBezTo>
                  <a:pt x="31533" y="471291"/>
                  <a:pt x="23067" y="467582"/>
                  <a:pt x="17144" y="462819"/>
                </a:cubicBezTo>
                <a:cubicBezTo>
                  <a:pt x="11221" y="458055"/>
                  <a:pt x="5644" y="452620"/>
                  <a:pt x="3041" y="446554"/>
                </a:cubicBezTo>
                <a:cubicBezTo>
                  <a:pt x="438" y="440489"/>
                  <a:pt x="0" y="433419"/>
                  <a:pt x="1527" y="426425"/>
                </a:cubicBezTo>
                <a:cubicBezTo>
                  <a:pt x="3054" y="419432"/>
                  <a:pt x="7634" y="411718"/>
                  <a:pt x="12203" y="404592"/>
                </a:cubicBezTo>
                <a:cubicBezTo>
                  <a:pt x="16772" y="397466"/>
                  <a:pt x="23831" y="390266"/>
                  <a:pt x="28943" y="383670"/>
                </a:cubicBezTo>
                <a:cubicBezTo>
                  <a:pt x="34055" y="377074"/>
                  <a:pt x="39885" y="370957"/>
                  <a:pt x="42874" y="365015"/>
                </a:cubicBezTo>
                <a:cubicBezTo>
                  <a:pt x="45863" y="359073"/>
                  <a:pt x="47486" y="353718"/>
                  <a:pt x="46877" y="348019"/>
                </a:cubicBezTo>
                <a:cubicBezTo>
                  <a:pt x="46267" y="342320"/>
                  <a:pt x="42967" y="336847"/>
                  <a:pt x="39217" y="330820"/>
                </a:cubicBezTo>
                <a:cubicBezTo>
                  <a:pt x="35467" y="324793"/>
                  <a:pt x="29140" y="318465"/>
                  <a:pt x="24378" y="311859"/>
                </a:cubicBezTo>
                <a:cubicBezTo>
                  <a:pt x="19615" y="305253"/>
                  <a:pt x="13747" y="298066"/>
                  <a:pt x="10642" y="291184"/>
                </a:cubicBezTo>
                <a:cubicBezTo>
                  <a:pt x="7537" y="284301"/>
                  <a:pt x="5364" y="277045"/>
                  <a:pt x="5748" y="270565"/>
                </a:cubicBezTo>
                <a:cubicBezTo>
                  <a:pt x="6133" y="264085"/>
                  <a:pt x="8981" y="257814"/>
                  <a:pt x="12948" y="252305"/>
                </a:cubicBezTo>
                <a:cubicBezTo>
                  <a:pt x="16915" y="246796"/>
                  <a:pt x="23599" y="242057"/>
                  <a:pt x="29549" y="237510"/>
                </a:cubicBezTo>
                <a:cubicBezTo>
                  <a:pt x="35498" y="232964"/>
                  <a:pt x="43068" y="229300"/>
                  <a:pt x="48643" y="225024"/>
                </a:cubicBezTo>
                <a:cubicBezTo>
                  <a:pt x="54218" y="220749"/>
                  <a:pt x="59616" y="216862"/>
                  <a:pt x="62999" y="211858"/>
                </a:cubicBezTo>
                <a:cubicBezTo>
                  <a:pt x="66382" y="206855"/>
                  <a:pt x="68083" y="201384"/>
                  <a:pt x="68943" y="195002"/>
                </a:cubicBezTo>
                <a:cubicBezTo>
                  <a:pt x="69804" y="188621"/>
                  <a:pt x="68564" y="181089"/>
                  <a:pt x="68161" y="173568"/>
                </a:cubicBezTo>
                <a:cubicBezTo>
                  <a:pt x="67758" y="166047"/>
                  <a:pt x="66098" y="157367"/>
                  <a:pt x="66524" y="149877"/>
                </a:cubicBezTo>
                <a:cubicBezTo>
                  <a:pt x="66951" y="142387"/>
                  <a:pt x="67707" y="134536"/>
                  <a:pt x="70720" y="128629"/>
                </a:cubicBezTo>
                <a:cubicBezTo>
                  <a:pt x="73733" y="122722"/>
                  <a:pt x="78515" y="117703"/>
                  <a:pt x="84601" y="114434"/>
                </a:cubicBezTo>
                <a:cubicBezTo>
                  <a:pt x="90687" y="111166"/>
                  <a:pt x="99065" y="109794"/>
                  <a:pt x="107236" y="109018"/>
                </a:cubicBezTo>
                <a:cubicBezTo>
                  <a:pt x="115407" y="108242"/>
                  <a:pt x="125244" y="109499"/>
                  <a:pt x="133628" y="109778"/>
                </a:cubicBezTo>
                <a:cubicBezTo>
                  <a:pt x="142013" y="110058"/>
                  <a:pt x="150683" y="111440"/>
                  <a:pt x="157542" y="110695"/>
                </a:cubicBezTo>
                <a:cubicBezTo>
                  <a:pt x="164401" y="109950"/>
                  <a:pt x="170185" y="108719"/>
                  <a:pt x="174782" y="105307"/>
                </a:cubicBezTo>
                <a:cubicBezTo>
                  <a:pt x="179380" y="101895"/>
                  <a:pt x="182260" y="96573"/>
                  <a:pt x="185126" y="90220"/>
                </a:cubicBezTo>
                <a:cubicBezTo>
                  <a:pt x="187993" y="83868"/>
                  <a:pt x="189475" y="75141"/>
                  <a:pt x="191982" y="67193"/>
                </a:cubicBezTo>
                <a:cubicBezTo>
                  <a:pt x="194488" y="59245"/>
                  <a:pt x="196629" y="49734"/>
                  <a:pt x="200165" y="42531"/>
                </a:cubicBezTo>
                <a:cubicBezTo>
                  <a:pt x="203702" y="35327"/>
                  <a:pt x="207948" y="28282"/>
                  <a:pt x="213202" y="23970"/>
                </a:cubicBezTo>
                <a:cubicBezTo>
                  <a:pt x="218455" y="19657"/>
                  <a:pt x="224971" y="17251"/>
                  <a:pt x="231685" y="16653"/>
                </a:cubicBezTo>
                <a:cubicBezTo>
                  <a:pt x="238400" y="16056"/>
                  <a:pt x="246192" y="18210"/>
                  <a:pt x="253490" y="20383"/>
                </a:cubicBezTo>
                <a:cubicBezTo>
                  <a:pt x="260787" y="22555"/>
                  <a:pt x="268474" y="26958"/>
                  <a:pt x="275471" y="29690"/>
                </a:cubicBezTo>
                <a:cubicBezTo>
                  <a:pt x="282467" y="32421"/>
                  <a:pt x="289153" y="35765"/>
                  <a:pt x="295469" y="36772"/>
                </a:cubicBezTo>
                <a:cubicBezTo>
                  <a:pt x="301785" y="37779"/>
                  <a:pt x="307503" y="37557"/>
                  <a:pt x="313367" y="35732"/>
                </a:cubicBezTo>
                <a:cubicBezTo>
                  <a:pt x="319231" y="33907"/>
                  <a:pt x="324722" y="29793"/>
                  <a:pt x="330653" y="25821"/>
                </a:cubicBezTo>
                <a:cubicBezTo>
                  <a:pt x="336584" y="21848"/>
                  <a:pt x="342626" y="15898"/>
                  <a:pt x="348953" y="11895"/>
                </a:cubicBezTo>
                <a:cubicBezTo>
                  <a:pt x="355280" y="7893"/>
                  <a:pt x="362047" y="3436"/>
                  <a:pt x="368617" y="1805"/>
                </a:cubicBezTo>
                <a:cubicBezTo>
                  <a:pt x="375187" y="173"/>
                  <a:pt x="382095" y="0"/>
                  <a:pt x="388371" y="2105"/>
                </a:cubicBezTo>
                <a:cubicBezTo>
                  <a:pt x="394648" y="4210"/>
                  <a:pt x="400784" y="9032"/>
                  <a:pt x="406276" y="14434"/>
                </a:cubicBezTo>
                <a:cubicBezTo>
                  <a:pt x="411767" y="19837"/>
                  <a:pt x="416613" y="27866"/>
                  <a:pt x="421321" y="34519"/>
                </a:cubicBezTo>
                <a:cubicBezTo>
                  <a:pt x="426028" y="41173"/>
                  <a:pt x="429967" y="49046"/>
                  <a:pt x="434518" y="54354"/>
                </a:cubicBezTo>
                <a:cubicBezTo>
                  <a:pt x="439069" y="59663"/>
                  <a:pt x="443291" y="64204"/>
                  <a:pt x="448627" y="66369"/>
                </a:cubicBezTo>
                <a:cubicBezTo>
                  <a:pt x="453963" y="68534"/>
                  <a:pt x="459765" y="68408"/>
                  <a:pt x="466534" y="67344"/>
                </a:cubicBezTo>
                <a:cubicBezTo>
                  <a:pt x="473303" y="66280"/>
                  <a:pt x="481202" y="62644"/>
                  <a:pt x="489240" y="59985"/>
                </a:cubicBezTo>
                <a:cubicBezTo>
                  <a:pt x="497277" y="57325"/>
                  <a:pt x="506501" y="53170"/>
                  <a:pt x="514759" y="51388"/>
                </a:cubicBezTo>
                <a:cubicBezTo>
                  <a:pt x="523016" y="49606"/>
                  <a:pt x="531757" y="48162"/>
                  <a:pt x="538787" y="49295"/>
                </a:cubicBezTo>
                <a:cubicBezTo>
                  <a:pt x="545817" y="50429"/>
                  <a:pt x="552182" y="53523"/>
                  <a:pt x="556936" y="58189"/>
                </a:cubicBezTo>
                <a:cubicBezTo>
                  <a:pt x="561689" y="62855"/>
                  <a:pt x="564819" y="70089"/>
                  <a:pt x="567307" y="77289"/>
                </a:cubicBezTo>
                <a:cubicBezTo>
                  <a:pt x="569794" y="84489"/>
                  <a:pt x="570475" y="93620"/>
                  <a:pt x="571861" y="101388"/>
                </a:cubicBezTo>
                <a:cubicBezTo>
                  <a:pt x="573247" y="109156"/>
                  <a:pt x="573601" y="117406"/>
                  <a:pt x="575621" y="123898"/>
                </a:cubicBezTo>
                <a:cubicBezTo>
                  <a:pt x="577642" y="130390"/>
                  <a:pt x="579991" y="135926"/>
                  <a:pt x="583985" y="140342"/>
                </a:cubicBezTo>
                <a:cubicBezTo>
                  <a:pt x="587978" y="144758"/>
                  <a:pt x="593495" y="147534"/>
                  <a:pt x="599584" y="150394"/>
                </a:cubicBezTo>
                <a:cubicBezTo>
                  <a:pt x="605672" y="153254"/>
                  <a:pt x="613599" y="154812"/>
                  <a:pt x="620513" y="157502"/>
                </a:cubicBezTo>
                <a:cubicBezTo>
                  <a:pt x="627428" y="160192"/>
                  <a:pt x="635363" y="162631"/>
                  <a:pt x="641071" y="166532"/>
                </a:cubicBezTo>
                <a:cubicBezTo>
                  <a:pt x="646780" y="170432"/>
                  <a:pt x="651943" y="175181"/>
                  <a:pt x="654764" y="180903"/>
                </a:cubicBezTo>
                <a:cubicBezTo>
                  <a:pt x="657584" y="186625"/>
                  <a:pt x="658393" y="193723"/>
                  <a:pt x="657995" y="200865"/>
                </a:cubicBezTo>
                <a:cubicBezTo>
                  <a:pt x="657597" y="208006"/>
                  <a:pt x="654669" y="216251"/>
                  <a:pt x="652375" y="223750"/>
                </a:cubicBezTo>
                <a:cubicBezTo>
                  <a:pt x="650081" y="231249"/>
                  <a:pt x="646052" y="239033"/>
                  <a:pt x="644230" y="245858"/>
                </a:cubicBezTo>
                <a:cubicBezTo>
                  <a:pt x="642408" y="252683"/>
                  <a:pt x="640609" y="258969"/>
                  <a:pt x="641443" y="264701"/>
                </a:cubicBezTo>
                <a:cubicBezTo>
                  <a:pt x="642278" y="270433"/>
                  <a:pt x="644947" y="275275"/>
                  <a:pt x="649238" y="280251"/>
                </a:cubicBezTo>
                <a:cubicBezTo>
                  <a:pt x="653528" y="285227"/>
                  <a:pt x="660534" y="289579"/>
                  <a:pt x="667184" y="294557"/>
                </a:cubicBezTo>
                <a:cubicBezTo>
                  <a:pt x="673833" y="299535"/>
                  <a:pt x="682631" y="304516"/>
                  <a:pt x="689133" y="310120"/>
                </a:cubicBezTo>
                <a:cubicBezTo>
                  <a:pt x="695636" y="315725"/>
                  <a:pt x="702512" y="321866"/>
                  <a:pt x="706197" y="328182"/>
                </a:cubicBezTo>
                <a:cubicBezTo>
                  <a:pt x="709882" y="334498"/>
                  <a:pt x="711854" y="341440"/>
                  <a:pt x="711244" y="348019"/>
                </a:cubicBezTo>
                <a:close/>
              </a:path>
            </a:pathLst>
          </a:custGeom>
          <a:noFill/>
          <a:ln w="7905" cap="rnd">
            <a:solidFill>
              <a:srgbClr val="DED4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8" name="perivascular_macrophage_component_oval_3"/>
          <p:cNvSpPr/>
          <p:nvPr/>
        </p:nvSpPr>
        <p:spPr>
          <a:xfrm>
            <a:off x="9243274" y="5762003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9" name="perivascular_macrophage_component_oval_4"/>
          <p:cNvSpPr/>
          <p:nvPr/>
        </p:nvSpPr>
        <p:spPr>
          <a:xfrm>
            <a:off x="9214869" y="5839140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0" name="perivascular_macrophage_component_oval_5"/>
          <p:cNvSpPr/>
          <p:nvPr/>
        </p:nvSpPr>
        <p:spPr>
          <a:xfrm>
            <a:off x="9135886" y="5874570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1" name="perivascular_macrophage_component_oval_6"/>
          <p:cNvSpPr/>
          <p:nvPr/>
        </p:nvSpPr>
        <p:spPr>
          <a:xfrm>
            <a:off x="9084312" y="5953568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2" name="perivascular_macrophage_component_oval_7"/>
          <p:cNvSpPr/>
          <p:nvPr/>
        </p:nvSpPr>
        <p:spPr>
          <a:xfrm>
            <a:off x="8995183" y="5907045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3" name="perivascular_macrophage_component_oval_8"/>
          <p:cNvSpPr/>
          <p:nvPr/>
        </p:nvSpPr>
        <p:spPr>
          <a:xfrm>
            <a:off x="8898710" y="5938702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4" name="perivascular_macrophage_component_oval_9"/>
          <p:cNvSpPr/>
          <p:nvPr/>
        </p:nvSpPr>
        <p:spPr>
          <a:xfrm>
            <a:off x="8865899" y="5853387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5" name="perivascular_macrophage_component_oval_10"/>
          <p:cNvSpPr/>
          <p:nvPr/>
        </p:nvSpPr>
        <p:spPr>
          <a:xfrm>
            <a:off x="8779173" y="5811599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6" name="perivascular_macrophage_component_oval_11"/>
          <p:cNvSpPr/>
          <p:nvPr/>
        </p:nvSpPr>
        <p:spPr>
          <a:xfrm>
            <a:off x="8783898" y="5720961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7" name="perivascular_macrophage_component_oval_12"/>
          <p:cNvSpPr/>
          <p:nvPr/>
        </p:nvSpPr>
        <p:spPr>
          <a:xfrm>
            <a:off x="8781770" y="5645487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8" name="perivascular_macrophage_component_oval_13"/>
          <p:cNvSpPr/>
          <p:nvPr/>
        </p:nvSpPr>
        <p:spPr>
          <a:xfrm>
            <a:off x="8808488" y="5564795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9" name="perivascular_macrophage_component_oval_14"/>
          <p:cNvSpPr/>
          <p:nvPr/>
        </p:nvSpPr>
        <p:spPr>
          <a:xfrm>
            <a:off x="8879871" y="5521981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0" name="perivascular_macrophage_component_oval_15"/>
          <p:cNvSpPr/>
          <p:nvPr/>
        </p:nvSpPr>
        <p:spPr>
          <a:xfrm>
            <a:off x="8942927" y="5455429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1" name="perivascular_macrophage_component_oval_16"/>
          <p:cNvSpPr/>
          <p:nvPr/>
        </p:nvSpPr>
        <p:spPr>
          <a:xfrm>
            <a:off x="9026662" y="5495388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2" name="perivascular_macrophage_component_oval_17"/>
          <p:cNvSpPr/>
          <p:nvPr/>
        </p:nvSpPr>
        <p:spPr>
          <a:xfrm>
            <a:off x="9118045" y="5458924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3" name="perivascular_macrophage_component_oval_18"/>
          <p:cNvSpPr/>
          <p:nvPr/>
        </p:nvSpPr>
        <p:spPr>
          <a:xfrm>
            <a:off x="9160458" y="5555183"/>
            <a:ext cx="22927" cy="22669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4" name="perivascular_macrophage_component_oval_19"/>
          <p:cNvSpPr/>
          <p:nvPr/>
        </p:nvSpPr>
        <p:spPr>
          <a:xfrm>
            <a:off x="9243892" y="5590694"/>
            <a:ext cx="28065" cy="27750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5" name="perivascular_macrophage_component_oval_20"/>
          <p:cNvSpPr/>
          <p:nvPr/>
        </p:nvSpPr>
        <p:spPr>
          <a:xfrm>
            <a:off x="9231004" y="5677022"/>
            <a:ext cx="33204" cy="32831"/>
          </a:xfrm>
          <a:prstGeom prst="ellipse">
            <a:avLst/>
          </a:prstGeom>
          <a:gradFill rotWithShape="1">
            <a:gsLst>
              <a:gs pos="0">
                <a:srgbClr val="E5D9F1"/>
              </a:gs>
              <a:gs pos="100000">
                <a:srgbClr val="A28AC3"/>
              </a:gs>
            </a:gsLst>
            <a:lin ang="4200000" scaled="1"/>
          </a:gradFill>
          <a:ln w="5435">
            <a:solidFill>
              <a:srgbClr val="8E74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6" name="perivascular_macrophage_component_oval_21"/>
          <p:cNvSpPr/>
          <p:nvPr/>
        </p:nvSpPr>
        <p:spPr>
          <a:xfrm>
            <a:off x="8837571" y="5561327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7" name="perivascular_macrophage_component_oval_22"/>
          <p:cNvSpPr/>
          <p:nvPr/>
        </p:nvSpPr>
        <p:spPr>
          <a:xfrm>
            <a:off x="8798042" y="5772383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8" name="perivascular_macrophage_component_oval_23"/>
          <p:cNvSpPr/>
          <p:nvPr/>
        </p:nvSpPr>
        <p:spPr>
          <a:xfrm>
            <a:off x="8916629" y="5905271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9" name="perivascular_macrophage_component_oval_24"/>
          <p:cNvSpPr/>
          <p:nvPr/>
        </p:nvSpPr>
        <p:spPr>
          <a:xfrm>
            <a:off x="9193330" y="5592595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0" name="perivascular_macrophage_component_oval_25"/>
          <p:cNvSpPr/>
          <p:nvPr/>
        </p:nvSpPr>
        <p:spPr>
          <a:xfrm>
            <a:off x="9224953" y="5780200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1" name="perivascular_macrophage_component_oval_26"/>
          <p:cNvSpPr/>
          <p:nvPr/>
        </p:nvSpPr>
        <p:spPr>
          <a:xfrm>
            <a:off x="9066838" y="5475341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2" name="perivascular_macrophage_component_oval_27"/>
          <p:cNvSpPr/>
          <p:nvPr/>
        </p:nvSpPr>
        <p:spPr>
          <a:xfrm>
            <a:off x="9137990" y="5928721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3" name="perivascular_macrophage_component_oval_28"/>
          <p:cNvSpPr/>
          <p:nvPr/>
        </p:nvSpPr>
        <p:spPr>
          <a:xfrm>
            <a:off x="8821760" y="5655130"/>
            <a:ext cx="11068" cy="10944"/>
          </a:xfrm>
          <a:prstGeom prst="ellipse">
            <a:avLst/>
          </a:prstGeom>
          <a:solidFill>
            <a:srgbClr val="BBA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4" name="perivascular_macrophage_component_oval_29"/>
          <p:cNvSpPr/>
          <p:nvPr/>
        </p:nvSpPr>
        <p:spPr>
          <a:xfrm rot="1500000">
            <a:off x="8882634" y="5558982"/>
            <a:ext cx="292513" cy="336127"/>
          </a:xfrm>
          <a:prstGeom prst="ellipse">
            <a:avLst/>
          </a:prstGeom>
          <a:gradFill rotWithShape="1">
            <a:gsLst>
              <a:gs pos="0">
                <a:srgbClr val="CBBDE5"/>
              </a:gs>
              <a:gs pos="24000">
                <a:srgbClr val="AA95CF"/>
              </a:gs>
              <a:gs pos="65000">
                <a:srgbClr val="8D73B7"/>
              </a:gs>
              <a:gs pos="100000">
                <a:srgbClr val="7860A4"/>
              </a:gs>
            </a:gsLst>
            <a:lin ang="3300000" scaled="1"/>
          </a:gradFill>
          <a:ln w="12846">
            <a:solidFill>
              <a:srgbClr val="6550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5" name="perivascular_macrophage_component_path_30"/>
          <p:cNvSpPr/>
          <p:nvPr/>
        </p:nvSpPr>
        <p:spPr>
          <a:xfrm>
            <a:off x="8930068" y="5590250"/>
            <a:ext cx="110681" cy="93803"/>
          </a:xfrm>
          <a:custGeom>
            <a:avLst/>
            <a:gdLst/>
            <a:ahLst/>
            <a:cxnLst/>
            <a:rect l="0" t="0" r="r" b="b"/>
            <a:pathLst>
              <a:path w="110681" h="93803">
                <a:moveTo>
                  <a:pt x="0" y="93803"/>
                </a:moveTo>
                <a:cubicBezTo>
                  <a:pt x="15812" y="31268"/>
                  <a:pt x="55340" y="0"/>
                  <a:pt x="110681" y="7817"/>
                </a:cubicBezTo>
              </a:path>
            </a:pathLst>
          </a:custGeom>
          <a:noFill/>
          <a:ln w="17787" cap="rnd">
            <a:solidFill>
              <a:srgbClr val="D5C8E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6" name="treg_component_oval_1"/>
          <p:cNvSpPr/>
          <p:nvPr/>
        </p:nvSpPr>
        <p:spPr>
          <a:xfrm>
            <a:off x="10165842" y="6260766"/>
            <a:ext cx="680466" cy="685922"/>
          </a:xfrm>
          <a:prstGeom prst="ellipse">
            <a:avLst/>
          </a:prstGeom>
          <a:gradFill rotWithShape="1">
            <a:gsLst>
              <a:gs pos="0">
                <a:srgbClr val="EDF2FC"/>
              </a:gs>
              <a:gs pos="35000">
                <a:srgbClr val="D0D8EF"/>
              </a:gs>
              <a:gs pos="78000">
                <a:srgbClr val="B3C0E2"/>
              </a:gs>
              <a:gs pos="100000">
                <a:srgbClr val="8E9FC8"/>
              </a:gs>
            </a:gsLst>
            <a:lin ang="3300000" scaled="1"/>
          </a:gradFill>
          <a:ln w="12215">
            <a:solidFill>
              <a:srgbClr val="6A7DA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7" name="treg_component_path_2"/>
          <p:cNvSpPr/>
          <p:nvPr/>
        </p:nvSpPr>
        <p:spPr>
          <a:xfrm>
            <a:off x="10245471" y="6326439"/>
            <a:ext cx="217170" cy="233505"/>
          </a:xfrm>
          <a:custGeom>
            <a:avLst/>
            <a:gdLst/>
            <a:ahLst/>
            <a:cxnLst/>
            <a:rect l="0" t="0" r="r" b="b"/>
            <a:pathLst>
              <a:path w="217170" h="233505">
                <a:moveTo>
                  <a:pt x="0" y="233505"/>
                </a:moveTo>
                <a:cubicBezTo>
                  <a:pt x="0" y="109456"/>
                  <a:pt x="94107" y="7297"/>
                  <a:pt x="217170" y="0"/>
                </a:cubicBezTo>
              </a:path>
            </a:pathLst>
          </a:custGeom>
          <a:noFill/>
          <a:ln w="14478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8" name="treg_component_oval_3"/>
          <p:cNvSpPr/>
          <p:nvPr/>
        </p:nvSpPr>
        <p:spPr>
          <a:xfrm>
            <a:off x="10259949" y="6362925"/>
            <a:ext cx="506730" cy="503496"/>
          </a:xfrm>
          <a:prstGeom prst="ellipse">
            <a:avLst/>
          </a:prstGeom>
          <a:gradFill rotWithShape="1">
            <a:gsLst>
              <a:gs pos="0">
                <a:srgbClr val="D3D0E9"/>
              </a:gs>
              <a:gs pos="25000">
                <a:srgbClr val="B0ABD5"/>
              </a:gs>
              <a:gs pos="68000">
                <a:srgbClr val="8B86BC"/>
              </a:gs>
              <a:gs pos="100000">
                <a:srgbClr val="7372AB"/>
              </a:gs>
            </a:gsLst>
            <a:lin ang="3300000" scaled="1"/>
          </a:gradFill>
          <a:ln w="12215">
            <a:solidFill>
              <a:srgbClr val="6265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9" name="treg_component_path_4"/>
          <p:cNvSpPr/>
          <p:nvPr/>
        </p:nvSpPr>
        <p:spPr>
          <a:xfrm>
            <a:off x="10310622" y="6414004"/>
            <a:ext cx="166497" cy="138644"/>
          </a:xfrm>
          <a:custGeom>
            <a:avLst/>
            <a:gdLst/>
            <a:ahLst/>
            <a:cxnLst/>
            <a:rect l="0" t="0" r="r" b="b"/>
            <a:pathLst>
              <a:path w="166497" h="138644">
                <a:moveTo>
                  <a:pt x="0" y="138644"/>
                </a:moveTo>
                <a:cubicBezTo>
                  <a:pt x="7239" y="58376"/>
                  <a:pt x="79629" y="0"/>
                  <a:pt x="166497" y="0"/>
                </a:cubicBezTo>
              </a:path>
            </a:pathLst>
          </a:custGeom>
          <a:noFill/>
          <a:ln w="14478" cap="rnd">
            <a:solidFill>
              <a:srgbClr val="DCD8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0" name="fxr_component_path_1"/>
          <p:cNvSpPr/>
          <p:nvPr/>
        </p:nvSpPr>
        <p:spPr>
          <a:xfrm>
            <a:off x="3459099" y="7356320"/>
            <a:ext cx="95" cy="24444"/>
          </a:xfrm>
          <a:custGeom>
            <a:avLst/>
            <a:gdLst/>
            <a:ahLst/>
            <a:cxnLst/>
            <a:rect l="0" t="0" r="r" b="b"/>
            <a:pathLst>
              <a:path w="95" h="24444">
                <a:moveTo>
                  <a:pt x="0" y="24444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1" name="fxr_component_path_2"/>
          <p:cNvSpPr/>
          <p:nvPr/>
        </p:nvSpPr>
        <p:spPr>
          <a:xfrm>
            <a:off x="3503676" y="7334819"/>
            <a:ext cx="95" cy="67445"/>
          </a:xfrm>
          <a:custGeom>
            <a:avLst/>
            <a:gdLst/>
            <a:ahLst/>
            <a:cxnLst/>
            <a:rect l="0" t="0" r="r" b="b"/>
            <a:pathLst>
              <a:path w="95" h="67445">
                <a:moveTo>
                  <a:pt x="0" y="67445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2" name="fxr_component_path_3"/>
          <p:cNvSpPr/>
          <p:nvPr/>
        </p:nvSpPr>
        <p:spPr>
          <a:xfrm>
            <a:off x="3548253" y="7329478"/>
            <a:ext cx="95" cy="78127"/>
          </a:xfrm>
          <a:custGeom>
            <a:avLst/>
            <a:gdLst/>
            <a:ahLst/>
            <a:cxnLst/>
            <a:rect l="0" t="0" r="r" b="b"/>
            <a:pathLst>
              <a:path w="95" h="78127">
                <a:moveTo>
                  <a:pt x="0" y="78127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3" name="fxr_component_path_4"/>
          <p:cNvSpPr/>
          <p:nvPr/>
        </p:nvSpPr>
        <p:spPr>
          <a:xfrm>
            <a:off x="3592830" y="7342856"/>
            <a:ext cx="95" cy="51372"/>
          </a:xfrm>
          <a:custGeom>
            <a:avLst/>
            <a:gdLst/>
            <a:ahLst/>
            <a:cxnLst/>
            <a:rect l="0" t="0" r="r" b="b"/>
            <a:pathLst>
              <a:path w="95" h="51372">
                <a:moveTo>
                  <a:pt x="0" y="51372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4" name="fxr_component_path_5"/>
          <p:cNvSpPr/>
          <p:nvPr/>
        </p:nvSpPr>
        <p:spPr>
          <a:xfrm>
            <a:off x="3637407" y="7368542"/>
            <a:ext cx="95" cy="95"/>
          </a:xfrm>
          <a:custGeom>
            <a:avLst/>
            <a:gdLst/>
            <a:ahLst/>
            <a:cxnLst/>
            <a:rect l="0" t="0" r="r" b="b"/>
            <a:pathLst>
              <a:path w="95" h="95"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5" name="fxr_component_path_6"/>
          <p:cNvSpPr/>
          <p:nvPr/>
        </p:nvSpPr>
        <p:spPr>
          <a:xfrm>
            <a:off x="3681984" y="7342856"/>
            <a:ext cx="95" cy="51372"/>
          </a:xfrm>
          <a:custGeom>
            <a:avLst/>
            <a:gdLst/>
            <a:ahLst/>
            <a:cxnLst/>
            <a:rect l="0" t="0" r="r" b="b"/>
            <a:pathLst>
              <a:path w="95" h="51372">
                <a:moveTo>
                  <a:pt x="0" y="0"/>
                </a:moveTo>
                <a:lnTo>
                  <a:pt x="0" y="51372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6" name="fxr_component_path_7"/>
          <p:cNvSpPr/>
          <p:nvPr/>
        </p:nvSpPr>
        <p:spPr>
          <a:xfrm>
            <a:off x="3726561" y="7329478"/>
            <a:ext cx="95" cy="78127"/>
          </a:xfrm>
          <a:custGeom>
            <a:avLst/>
            <a:gdLst/>
            <a:ahLst/>
            <a:cxnLst/>
            <a:rect l="0" t="0" r="r" b="b"/>
            <a:pathLst>
              <a:path w="95" h="78127">
                <a:moveTo>
                  <a:pt x="0" y="0"/>
                </a:moveTo>
                <a:lnTo>
                  <a:pt x="0" y="78127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7" name="fxr_component_path_8"/>
          <p:cNvSpPr/>
          <p:nvPr/>
        </p:nvSpPr>
        <p:spPr>
          <a:xfrm>
            <a:off x="3771138" y="7334819"/>
            <a:ext cx="95" cy="67445"/>
          </a:xfrm>
          <a:custGeom>
            <a:avLst/>
            <a:gdLst/>
            <a:ahLst/>
            <a:cxnLst/>
            <a:rect l="0" t="0" r="r" b="b"/>
            <a:pathLst>
              <a:path w="95" h="67445">
                <a:moveTo>
                  <a:pt x="0" y="0"/>
                </a:moveTo>
                <a:lnTo>
                  <a:pt x="0" y="67445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8" name="fxr_component_path_9"/>
          <p:cNvSpPr/>
          <p:nvPr/>
        </p:nvSpPr>
        <p:spPr>
          <a:xfrm>
            <a:off x="3815715" y="7356320"/>
            <a:ext cx="95" cy="24444"/>
          </a:xfrm>
          <a:custGeom>
            <a:avLst/>
            <a:gdLst/>
            <a:ahLst/>
            <a:cxnLst/>
            <a:rect l="0" t="0" r="r" b="b"/>
            <a:pathLst>
              <a:path w="95" h="24444">
                <a:moveTo>
                  <a:pt x="0" y="0"/>
                </a:moveTo>
                <a:lnTo>
                  <a:pt x="0" y="24444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9" name="fxr_component_path_10"/>
          <p:cNvSpPr/>
          <p:nvPr/>
        </p:nvSpPr>
        <p:spPr>
          <a:xfrm>
            <a:off x="3860292" y="7353407"/>
            <a:ext cx="95" cy="30271"/>
          </a:xfrm>
          <a:custGeom>
            <a:avLst/>
            <a:gdLst/>
            <a:ahLst/>
            <a:cxnLst/>
            <a:rect l="0" t="0" r="r" b="b"/>
            <a:pathLst>
              <a:path w="95" h="30271">
                <a:moveTo>
                  <a:pt x="0" y="30271"/>
                </a:moveTo>
                <a:lnTo>
                  <a:pt x="0" y="0"/>
                </a:lnTo>
              </a:path>
            </a:pathLst>
          </a:custGeom>
          <a:noFill/>
          <a:ln w="6191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0" name="fxr_component_path_11"/>
          <p:cNvSpPr/>
          <p:nvPr/>
        </p:nvSpPr>
        <p:spPr>
          <a:xfrm>
            <a:off x="3439287" y="7328991"/>
            <a:ext cx="455676" cy="79101"/>
          </a:xfrm>
          <a:custGeom>
            <a:avLst/>
            <a:gdLst/>
            <a:ahLst/>
            <a:cxnLst/>
            <a:rect l="0" t="0" r="r" b="b"/>
            <a:pathLst>
              <a:path w="455676" h="79101">
                <a:moveTo>
                  <a:pt x="0" y="39551"/>
                </a:moveTo>
                <a:lnTo>
                  <a:pt x="9906" y="45738"/>
                </a:lnTo>
                <a:lnTo>
                  <a:pt x="19812" y="51772"/>
                </a:lnTo>
                <a:lnTo>
                  <a:pt x="29718" y="57506"/>
                </a:lnTo>
                <a:lnTo>
                  <a:pt x="39624" y="62798"/>
                </a:lnTo>
                <a:lnTo>
                  <a:pt x="49530" y="67517"/>
                </a:lnTo>
                <a:lnTo>
                  <a:pt x="59436" y="71548"/>
                </a:lnTo>
                <a:lnTo>
                  <a:pt x="69342" y="74790"/>
                </a:lnTo>
                <a:lnTo>
                  <a:pt x="79248" y="77165"/>
                </a:lnTo>
                <a:lnTo>
                  <a:pt x="89154" y="78614"/>
                </a:lnTo>
                <a:lnTo>
                  <a:pt x="99060" y="79101"/>
                </a:lnTo>
                <a:lnTo>
                  <a:pt x="108966" y="78614"/>
                </a:lnTo>
                <a:lnTo>
                  <a:pt x="118872" y="77165"/>
                </a:lnTo>
                <a:lnTo>
                  <a:pt x="128778" y="74790"/>
                </a:lnTo>
                <a:lnTo>
                  <a:pt x="138684" y="71548"/>
                </a:lnTo>
                <a:lnTo>
                  <a:pt x="148590" y="67517"/>
                </a:lnTo>
                <a:lnTo>
                  <a:pt x="158496" y="62798"/>
                </a:lnTo>
                <a:lnTo>
                  <a:pt x="168402" y="57506"/>
                </a:lnTo>
                <a:lnTo>
                  <a:pt x="178308" y="51772"/>
                </a:lnTo>
                <a:lnTo>
                  <a:pt x="188214" y="45738"/>
                </a:lnTo>
                <a:lnTo>
                  <a:pt x="198120" y="39551"/>
                </a:lnTo>
                <a:lnTo>
                  <a:pt x="208026" y="33364"/>
                </a:lnTo>
                <a:lnTo>
                  <a:pt x="217932" y="27329"/>
                </a:lnTo>
                <a:lnTo>
                  <a:pt x="227838" y="21595"/>
                </a:lnTo>
                <a:lnTo>
                  <a:pt x="237744" y="16303"/>
                </a:lnTo>
                <a:lnTo>
                  <a:pt x="247650" y="11584"/>
                </a:lnTo>
                <a:lnTo>
                  <a:pt x="257556" y="7553"/>
                </a:lnTo>
                <a:lnTo>
                  <a:pt x="267462" y="4311"/>
                </a:lnTo>
                <a:lnTo>
                  <a:pt x="277368" y="1936"/>
                </a:lnTo>
                <a:lnTo>
                  <a:pt x="287274" y="487"/>
                </a:lnTo>
                <a:lnTo>
                  <a:pt x="297180" y="0"/>
                </a:lnTo>
                <a:lnTo>
                  <a:pt x="307086" y="487"/>
                </a:lnTo>
                <a:lnTo>
                  <a:pt x="316992" y="1936"/>
                </a:lnTo>
                <a:lnTo>
                  <a:pt x="326898" y="4311"/>
                </a:lnTo>
                <a:lnTo>
                  <a:pt x="336804" y="7553"/>
                </a:lnTo>
                <a:lnTo>
                  <a:pt x="346710" y="11584"/>
                </a:lnTo>
                <a:lnTo>
                  <a:pt x="356616" y="16303"/>
                </a:lnTo>
                <a:lnTo>
                  <a:pt x="366522" y="21595"/>
                </a:lnTo>
                <a:lnTo>
                  <a:pt x="376428" y="27329"/>
                </a:lnTo>
                <a:lnTo>
                  <a:pt x="386334" y="33364"/>
                </a:lnTo>
                <a:lnTo>
                  <a:pt x="396240" y="39551"/>
                </a:lnTo>
                <a:lnTo>
                  <a:pt x="406146" y="45738"/>
                </a:lnTo>
                <a:lnTo>
                  <a:pt x="416052" y="51772"/>
                </a:lnTo>
                <a:lnTo>
                  <a:pt x="425958" y="57506"/>
                </a:lnTo>
                <a:lnTo>
                  <a:pt x="435864" y="62798"/>
                </a:lnTo>
                <a:lnTo>
                  <a:pt x="445770" y="67517"/>
                </a:lnTo>
                <a:lnTo>
                  <a:pt x="455676" y="71548"/>
                </a:lnTo>
              </a:path>
            </a:pathLst>
          </a:custGeom>
          <a:noFill/>
          <a:ln w="14859" cap="rnd">
            <a:solidFill>
              <a:srgbClr val="256CA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1" name="fxr_component_path_12"/>
          <p:cNvSpPr/>
          <p:nvPr/>
        </p:nvSpPr>
        <p:spPr>
          <a:xfrm>
            <a:off x="3441021" y="7326355"/>
            <a:ext cx="455676" cy="79101"/>
          </a:xfrm>
          <a:custGeom>
            <a:avLst/>
            <a:gdLst/>
            <a:ahLst/>
            <a:cxnLst/>
            <a:rect l="0" t="0" r="r" b="b"/>
            <a:pathLst>
              <a:path w="455676" h="79101">
                <a:moveTo>
                  <a:pt x="0" y="39551"/>
                </a:moveTo>
                <a:lnTo>
                  <a:pt x="9906" y="45738"/>
                </a:lnTo>
                <a:lnTo>
                  <a:pt x="19812" y="51772"/>
                </a:lnTo>
                <a:lnTo>
                  <a:pt x="29718" y="57506"/>
                </a:lnTo>
                <a:lnTo>
                  <a:pt x="39624" y="62798"/>
                </a:lnTo>
                <a:lnTo>
                  <a:pt x="49530" y="67517"/>
                </a:lnTo>
                <a:lnTo>
                  <a:pt x="59436" y="71548"/>
                </a:lnTo>
                <a:lnTo>
                  <a:pt x="69342" y="74790"/>
                </a:lnTo>
                <a:lnTo>
                  <a:pt x="79248" y="77165"/>
                </a:lnTo>
                <a:lnTo>
                  <a:pt x="89154" y="78614"/>
                </a:lnTo>
                <a:lnTo>
                  <a:pt x="99060" y="79101"/>
                </a:lnTo>
                <a:lnTo>
                  <a:pt x="108966" y="78614"/>
                </a:lnTo>
                <a:lnTo>
                  <a:pt x="118872" y="77165"/>
                </a:lnTo>
                <a:lnTo>
                  <a:pt x="128778" y="74790"/>
                </a:lnTo>
                <a:lnTo>
                  <a:pt x="138684" y="71548"/>
                </a:lnTo>
                <a:lnTo>
                  <a:pt x="148590" y="67517"/>
                </a:lnTo>
                <a:lnTo>
                  <a:pt x="158496" y="62798"/>
                </a:lnTo>
                <a:lnTo>
                  <a:pt x="168402" y="57506"/>
                </a:lnTo>
                <a:lnTo>
                  <a:pt x="178308" y="51772"/>
                </a:lnTo>
                <a:lnTo>
                  <a:pt x="188214" y="45738"/>
                </a:lnTo>
                <a:lnTo>
                  <a:pt x="198120" y="39551"/>
                </a:lnTo>
                <a:lnTo>
                  <a:pt x="208026" y="33364"/>
                </a:lnTo>
                <a:lnTo>
                  <a:pt x="217932" y="27329"/>
                </a:lnTo>
                <a:lnTo>
                  <a:pt x="227838" y="21595"/>
                </a:lnTo>
                <a:lnTo>
                  <a:pt x="237744" y="16303"/>
                </a:lnTo>
                <a:lnTo>
                  <a:pt x="247650" y="11584"/>
                </a:lnTo>
                <a:lnTo>
                  <a:pt x="257556" y="7553"/>
                </a:lnTo>
                <a:lnTo>
                  <a:pt x="267462" y="4311"/>
                </a:lnTo>
                <a:lnTo>
                  <a:pt x="277368" y="1936"/>
                </a:lnTo>
                <a:lnTo>
                  <a:pt x="287274" y="487"/>
                </a:lnTo>
                <a:lnTo>
                  <a:pt x="297180" y="0"/>
                </a:lnTo>
                <a:lnTo>
                  <a:pt x="307086" y="487"/>
                </a:lnTo>
                <a:lnTo>
                  <a:pt x="316992" y="1936"/>
                </a:lnTo>
                <a:lnTo>
                  <a:pt x="326898" y="4311"/>
                </a:lnTo>
                <a:lnTo>
                  <a:pt x="336804" y="7553"/>
                </a:lnTo>
                <a:lnTo>
                  <a:pt x="346710" y="11584"/>
                </a:lnTo>
                <a:lnTo>
                  <a:pt x="356616" y="16303"/>
                </a:lnTo>
                <a:lnTo>
                  <a:pt x="366522" y="21595"/>
                </a:lnTo>
                <a:lnTo>
                  <a:pt x="376428" y="27329"/>
                </a:lnTo>
                <a:lnTo>
                  <a:pt x="386334" y="33364"/>
                </a:lnTo>
                <a:lnTo>
                  <a:pt x="396240" y="39551"/>
                </a:lnTo>
                <a:lnTo>
                  <a:pt x="406146" y="45738"/>
                </a:lnTo>
                <a:lnTo>
                  <a:pt x="416052" y="51772"/>
                </a:lnTo>
                <a:lnTo>
                  <a:pt x="425958" y="57506"/>
                </a:lnTo>
                <a:lnTo>
                  <a:pt x="435864" y="62798"/>
                </a:lnTo>
                <a:lnTo>
                  <a:pt x="445770" y="67517"/>
                </a:lnTo>
                <a:lnTo>
                  <a:pt x="455676" y="71548"/>
                </a:lnTo>
              </a:path>
            </a:pathLst>
          </a:custGeom>
          <a:noFill/>
          <a:ln w="4333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2" name="fxr_component_path_13"/>
          <p:cNvSpPr/>
          <p:nvPr/>
        </p:nvSpPr>
        <p:spPr>
          <a:xfrm>
            <a:off x="3439287" y="7328991"/>
            <a:ext cx="455676" cy="79101"/>
          </a:xfrm>
          <a:custGeom>
            <a:avLst/>
            <a:gdLst/>
            <a:ahLst/>
            <a:cxnLst/>
            <a:rect l="0" t="0" r="r" b="b"/>
            <a:pathLst>
              <a:path w="455676" h="79101">
                <a:moveTo>
                  <a:pt x="0" y="39551"/>
                </a:moveTo>
                <a:lnTo>
                  <a:pt x="9906" y="33364"/>
                </a:lnTo>
                <a:lnTo>
                  <a:pt x="19812" y="27329"/>
                </a:lnTo>
                <a:lnTo>
                  <a:pt x="29718" y="21595"/>
                </a:lnTo>
                <a:lnTo>
                  <a:pt x="39624" y="16303"/>
                </a:lnTo>
                <a:lnTo>
                  <a:pt x="49530" y="11584"/>
                </a:lnTo>
                <a:lnTo>
                  <a:pt x="59436" y="7553"/>
                </a:lnTo>
                <a:lnTo>
                  <a:pt x="69342" y="4311"/>
                </a:lnTo>
                <a:lnTo>
                  <a:pt x="79248" y="1936"/>
                </a:lnTo>
                <a:lnTo>
                  <a:pt x="89154" y="487"/>
                </a:lnTo>
                <a:lnTo>
                  <a:pt x="99060" y="0"/>
                </a:lnTo>
                <a:lnTo>
                  <a:pt x="108966" y="487"/>
                </a:lnTo>
                <a:lnTo>
                  <a:pt x="118872" y="1936"/>
                </a:lnTo>
                <a:lnTo>
                  <a:pt x="128778" y="4311"/>
                </a:lnTo>
                <a:lnTo>
                  <a:pt x="138684" y="7553"/>
                </a:lnTo>
                <a:lnTo>
                  <a:pt x="148590" y="11584"/>
                </a:lnTo>
                <a:lnTo>
                  <a:pt x="158496" y="16303"/>
                </a:lnTo>
                <a:lnTo>
                  <a:pt x="168402" y="21595"/>
                </a:lnTo>
                <a:lnTo>
                  <a:pt x="178308" y="27329"/>
                </a:lnTo>
                <a:lnTo>
                  <a:pt x="188214" y="33364"/>
                </a:lnTo>
                <a:lnTo>
                  <a:pt x="198120" y="39551"/>
                </a:lnTo>
                <a:lnTo>
                  <a:pt x="208026" y="45738"/>
                </a:lnTo>
                <a:lnTo>
                  <a:pt x="217932" y="51772"/>
                </a:lnTo>
                <a:lnTo>
                  <a:pt x="227838" y="57506"/>
                </a:lnTo>
                <a:lnTo>
                  <a:pt x="237744" y="62798"/>
                </a:lnTo>
                <a:lnTo>
                  <a:pt x="247650" y="67517"/>
                </a:lnTo>
                <a:lnTo>
                  <a:pt x="257556" y="71548"/>
                </a:lnTo>
                <a:lnTo>
                  <a:pt x="267462" y="74790"/>
                </a:lnTo>
                <a:lnTo>
                  <a:pt x="277368" y="77165"/>
                </a:lnTo>
                <a:lnTo>
                  <a:pt x="287274" y="78614"/>
                </a:lnTo>
                <a:lnTo>
                  <a:pt x="297180" y="79101"/>
                </a:lnTo>
                <a:lnTo>
                  <a:pt x="307086" y="78614"/>
                </a:lnTo>
                <a:lnTo>
                  <a:pt x="316992" y="77165"/>
                </a:lnTo>
                <a:lnTo>
                  <a:pt x="326898" y="74790"/>
                </a:lnTo>
                <a:lnTo>
                  <a:pt x="336804" y="71548"/>
                </a:lnTo>
                <a:lnTo>
                  <a:pt x="346710" y="67517"/>
                </a:lnTo>
                <a:lnTo>
                  <a:pt x="356616" y="62798"/>
                </a:lnTo>
                <a:lnTo>
                  <a:pt x="366522" y="57506"/>
                </a:lnTo>
                <a:lnTo>
                  <a:pt x="376428" y="51772"/>
                </a:lnTo>
                <a:lnTo>
                  <a:pt x="386334" y="45738"/>
                </a:lnTo>
                <a:lnTo>
                  <a:pt x="396240" y="39551"/>
                </a:lnTo>
                <a:lnTo>
                  <a:pt x="406146" y="33364"/>
                </a:lnTo>
                <a:lnTo>
                  <a:pt x="416052" y="27329"/>
                </a:lnTo>
                <a:lnTo>
                  <a:pt x="425958" y="21595"/>
                </a:lnTo>
                <a:lnTo>
                  <a:pt x="435864" y="16303"/>
                </a:lnTo>
                <a:lnTo>
                  <a:pt x="445770" y="11584"/>
                </a:lnTo>
                <a:lnTo>
                  <a:pt x="455676" y="7553"/>
                </a:lnTo>
              </a:path>
            </a:pathLst>
          </a:custGeom>
          <a:noFill/>
          <a:ln w="14859" cap="rnd">
            <a:solidFill>
              <a:srgbClr val="256CA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3" name="fxr_component_path_14"/>
          <p:cNvSpPr/>
          <p:nvPr/>
        </p:nvSpPr>
        <p:spPr>
          <a:xfrm>
            <a:off x="3441021" y="7326355"/>
            <a:ext cx="455676" cy="79101"/>
          </a:xfrm>
          <a:custGeom>
            <a:avLst/>
            <a:gdLst/>
            <a:ahLst/>
            <a:cxnLst/>
            <a:rect l="0" t="0" r="r" b="b"/>
            <a:pathLst>
              <a:path w="455676" h="79101">
                <a:moveTo>
                  <a:pt x="0" y="39551"/>
                </a:moveTo>
                <a:lnTo>
                  <a:pt x="9906" y="33364"/>
                </a:lnTo>
                <a:lnTo>
                  <a:pt x="19812" y="27329"/>
                </a:lnTo>
                <a:lnTo>
                  <a:pt x="29718" y="21595"/>
                </a:lnTo>
                <a:lnTo>
                  <a:pt x="39624" y="16303"/>
                </a:lnTo>
                <a:lnTo>
                  <a:pt x="49530" y="11584"/>
                </a:lnTo>
                <a:lnTo>
                  <a:pt x="59436" y="7553"/>
                </a:lnTo>
                <a:lnTo>
                  <a:pt x="69342" y="4311"/>
                </a:lnTo>
                <a:lnTo>
                  <a:pt x="79248" y="1936"/>
                </a:lnTo>
                <a:lnTo>
                  <a:pt x="89154" y="487"/>
                </a:lnTo>
                <a:lnTo>
                  <a:pt x="99060" y="0"/>
                </a:lnTo>
                <a:lnTo>
                  <a:pt x="108966" y="487"/>
                </a:lnTo>
                <a:lnTo>
                  <a:pt x="118872" y="1936"/>
                </a:lnTo>
                <a:lnTo>
                  <a:pt x="128778" y="4311"/>
                </a:lnTo>
                <a:lnTo>
                  <a:pt x="138684" y="7553"/>
                </a:lnTo>
                <a:lnTo>
                  <a:pt x="148590" y="11584"/>
                </a:lnTo>
                <a:lnTo>
                  <a:pt x="158496" y="16303"/>
                </a:lnTo>
                <a:lnTo>
                  <a:pt x="168402" y="21595"/>
                </a:lnTo>
                <a:lnTo>
                  <a:pt x="178308" y="27329"/>
                </a:lnTo>
                <a:lnTo>
                  <a:pt x="188214" y="33364"/>
                </a:lnTo>
                <a:lnTo>
                  <a:pt x="198120" y="39551"/>
                </a:lnTo>
                <a:lnTo>
                  <a:pt x="208026" y="45738"/>
                </a:lnTo>
                <a:lnTo>
                  <a:pt x="217932" y="51772"/>
                </a:lnTo>
                <a:lnTo>
                  <a:pt x="227838" y="57506"/>
                </a:lnTo>
                <a:lnTo>
                  <a:pt x="237744" y="62798"/>
                </a:lnTo>
                <a:lnTo>
                  <a:pt x="247650" y="67517"/>
                </a:lnTo>
                <a:lnTo>
                  <a:pt x="257556" y="71548"/>
                </a:lnTo>
                <a:lnTo>
                  <a:pt x="267462" y="74790"/>
                </a:lnTo>
                <a:lnTo>
                  <a:pt x="277368" y="77165"/>
                </a:lnTo>
                <a:lnTo>
                  <a:pt x="287274" y="78614"/>
                </a:lnTo>
                <a:lnTo>
                  <a:pt x="297180" y="79101"/>
                </a:lnTo>
                <a:lnTo>
                  <a:pt x="307086" y="78614"/>
                </a:lnTo>
                <a:lnTo>
                  <a:pt x="316992" y="77165"/>
                </a:lnTo>
                <a:lnTo>
                  <a:pt x="326898" y="74790"/>
                </a:lnTo>
                <a:lnTo>
                  <a:pt x="336804" y="71548"/>
                </a:lnTo>
                <a:lnTo>
                  <a:pt x="346710" y="67517"/>
                </a:lnTo>
                <a:lnTo>
                  <a:pt x="356616" y="62798"/>
                </a:lnTo>
                <a:lnTo>
                  <a:pt x="366522" y="57506"/>
                </a:lnTo>
                <a:lnTo>
                  <a:pt x="376428" y="51772"/>
                </a:lnTo>
                <a:lnTo>
                  <a:pt x="386334" y="45738"/>
                </a:lnTo>
                <a:lnTo>
                  <a:pt x="396240" y="39551"/>
                </a:lnTo>
                <a:lnTo>
                  <a:pt x="406146" y="33364"/>
                </a:lnTo>
                <a:lnTo>
                  <a:pt x="416052" y="27329"/>
                </a:lnTo>
                <a:lnTo>
                  <a:pt x="425958" y="21595"/>
                </a:lnTo>
                <a:lnTo>
                  <a:pt x="435864" y="16303"/>
                </a:lnTo>
                <a:lnTo>
                  <a:pt x="445770" y="11584"/>
                </a:lnTo>
                <a:lnTo>
                  <a:pt x="455676" y="7553"/>
                </a:lnTo>
              </a:path>
            </a:pathLst>
          </a:custGeom>
          <a:noFill/>
          <a:ln w="4333" cap="rnd">
            <a:solidFill>
              <a:srgbClr val="9AC6E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4" name="fxr_component_path_15"/>
          <p:cNvSpPr/>
          <p:nvPr/>
        </p:nvSpPr>
        <p:spPr>
          <a:xfrm>
            <a:off x="3469005" y="7140027"/>
            <a:ext cx="183261" cy="215331"/>
          </a:xfrm>
          <a:custGeom>
            <a:avLst/>
            <a:gdLst/>
            <a:ahLst/>
            <a:cxnLst/>
            <a:rect l="0" t="0" r="r" b="b"/>
            <a:pathLst>
              <a:path w="183261" h="215331">
                <a:moveTo>
                  <a:pt x="178308" y="166991"/>
                </a:moveTo>
                <a:cubicBezTo>
                  <a:pt x="178308" y="105468"/>
                  <a:pt x="183261" y="74707"/>
                  <a:pt x="138684" y="43945"/>
                </a:cubicBezTo>
                <a:cubicBezTo>
                  <a:pt x="74295" y="0"/>
                  <a:pt x="49530" y="0"/>
                  <a:pt x="29718" y="43945"/>
                </a:cubicBezTo>
                <a:cubicBezTo>
                  <a:pt x="0" y="92285"/>
                  <a:pt x="24765" y="145019"/>
                  <a:pt x="99060" y="149413"/>
                </a:cubicBezTo>
                <a:cubicBezTo>
                  <a:pt x="128778" y="153808"/>
                  <a:pt x="138684" y="158202"/>
                  <a:pt x="143637" y="188964"/>
                </a:cubicBezTo>
                <a:cubicBezTo>
                  <a:pt x="148590" y="215331"/>
                  <a:pt x="183261" y="206542"/>
                  <a:pt x="178308" y="166991"/>
                </a:cubicBezTo>
                <a:close/>
              </a:path>
            </a:pathLst>
          </a:custGeom>
          <a:gradFill rotWithShape="1">
            <a:gsLst>
              <a:gs pos="0">
                <a:srgbClr val="FFECB3"/>
              </a:gs>
              <a:gs pos="35000">
                <a:srgbClr val="FFE7A0"/>
              </a:gs>
              <a:gs pos="80000">
                <a:srgbClr val="EAB848"/>
              </a:gs>
              <a:gs pos="100000">
                <a:srgbClr val="D39D35"/>
              </a:gs>
            </a:gsLst>
            <a:lin ang="3000000" scaled="1"/>
          </a:gradFill>
          <a:ln w="6500" cap="rnd">
            <a:solidFill>
              <a:srgbClr val="B77B1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5" name="fxr_component_oval_16"/>
          <p:cNvSpPr/>
          <p:nvPr/>
        </p:nvSpPr>
        <p:spPr>
          <a:xfrm rot="20700000">
            <a:off x="3528441" y="7069715"/>
            <a:ext cx="123825" cy="166991"/>
          </a:xfrm>
          <a:prstGeom prst="ellipse">
            <a:avLst/>
          </a:prstGeom>
          <a:gradFill rotWithShape="1">
            <a:gsLst>
              <a:gs pos="0">
                <a:srgbClr val="FFE7A0"/>
              </a:gs>
              <a:gs pos="50000">
                <a:srgbClr val="F0C662"/>
              </a:gs>
              <a:gs pos="100000">
                <a:srgbClr val="EAB848"/>
              </a:gs>
            </a:gsLst>
            <a:lin ang="3300000" scaled="1"/>
          </a:gradFill>
          <a:ln w="6191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6" name="fxr_component_oval_17"/>
          <p:cNvSpPr/>
          <p:nvPr/>
        </p:nvSpPr>
        <p:spPr>
          <a:xfrm>
            <a:off x="3577971" y="7008192"/>
            <a:ext cx="79248" cy="74707"/>
          </a:xfrm>
          <a:prstGeom prst="ellipse">
            <a:avLst/>
          </a:prstGeom>
          <a:gradFill rotWithShape="1">
            <a:gsLst>
              <a:gs pos="0">
                <a:srgbClr val="FFE7A0"/>
              </a:gs>
              <a:gs pos="100000">
                <a:srgbClr val="EAB848"/>
              </a:gs>
            </a:gsLst>
            <a:lin ang="3600000" scaled="1"/>
          </a:gradFill>
          <a:ln w="5572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7" name="fxr_component_path_18"/>
          <p:cNvSpPr/>
          <p:nvPr/>
        </p:nvSpPr>
        <p:spPr>
          <a:xfrm>
            <a:off x="3681984" y="7140027"/>
            <a:ext cx="183261" cy="215331"/>
          </a:xfrm>
          <a:custGeom>
            <a:avLst/>
            <a:gdLst/>
            <a:ahLst/>
            <a:cxnLst/>
            <a:rect l="0" t="0" r="r" b="b"/>
            <a:pathLst>
              <a:path w="183261" h="215331">
                <a:moveTo>
                  <a:pt x="4953" y="166991"/>
                </a:moveTo>
                <a:cubicBezTo>
                  <a:pt x="4953" y="105468"/>
                  <a:pt x="0" y="74707"/>
                  <a:pt x="44577" y="43945"/>
                </a:cubicBezTo>
                <a:cubicBezTo>
                  <a:pt x="108966" y="0"/>
                  <a:pt x="133731" y="0"/>
                  <a:pt x="153543" y="43945"/>
                </a:cubicBezTo>
                <a:cubicBezTo>
                  <a:pt x="183261" y="92285"/>
                  <a:pt x="158496" y="145019"/>
                  <a:pt x="84201" y="149413"/>
                </a:cubicBezTo>
                <a:cubicBezTo>
                  <a:pt x="54483" y="153808"/>
                  <a:pt x="44577" y="158202"/>
                  <a:pt x="39624" y="188964"/>
                </a:cubicBezTo>
                <a:cubicBezTo>
                  <a:pt x="34671" y="215331"/>
                  <a:pt x="0" y="206542"/>
                  <a:pt x="4953" y="166991"/>
                </a:cubicBezTo>
                <a:close/>
              </a:path>
            </a:pathLst>
          </a:custGeom>
          <a:gradFill rotWithShape="1">
            <a:gsLst>
              <a:gs pos="0">
                <a:srgbClr val="FFECB3"/>
              </a:gs>
              <a:gs pos="35000">
                <a:srgbClr val="FFE7A0"/>
              </a:gs>
              <a:gs pos="80000">
                <a:srgbClr val="EAB848"/>
              </a:gs>
              <a:gs pos="100000">
                <a:srgbClr val="D39D35"/>
              </a:gs>
            </a:gsLst>
            <a:lin ang="7800000" scaled="1"/>
          </a:gradFill>
          <a:ln w="6500" cap="rnd">
            <a:solidFill>
              <a:srgbClr val="B77B1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8" name="fxr_component_oval_19"/>
          <p:cNvSpPr/>
          <p:nvPr/>
        </p:nvSpPr>
        <p:spPr>
          <a:xfrm rot="900000">
            <a:off x="3701796" y="7069715"/>
            <a:ext cx="123825" cy="166991"/>
          </a:xfrm>
          <a:prstGeom prst="ellipse">
            <a:avLst/>
          </a:prstGeom>
          <a:gradFill rotWithShape="1">
            <a:gsLst>
              <a:gs pos="0">
                <a:srgbClr val="FFE7A0"/>
              </a:gs>
              <a:gs pos="50000">
                <a:srgbClr val="F0C662"/>
              </a:gs>
              <a:gs pos="100000">
                <a:srgbClr val="EAB848"/>
              </a:gs>
            </a:gsLst>
            <a:lin ang="3300000" scaled="1"/>
          </a:gradFill>
          <a:ln w="6191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9" name="fxr_component_oval_20"/>
          <p:cNvSpPr/>
          <p:nvPr/>
        </p:nvSpPr>
        <p:spPr>
          <a:xfrm>
            <a:off x="3686937" y="7008192"/>
            <a:ext cx="79248" cy="74707"/>
          </a:xfrm>
          <a:prstGeom prst="ellipse">
            <a:avLst/>
          </a:prstGeom>
          <a:gradFill rotWithShape="1">
            <a:gsLst>
              <a:gs pos="0">
                <a:srgbClr val="FFE7A0"/>
              </a:gs>
              <a:gs pos="100000">
                <a:srgbClr val="EAB848"/>
              </a:gs>
            </a:gsLst>
            <a:lin ang="3600000" scaled="1"/>
          </a:gradFill>
          <a:ln w="5572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0" name="fxr_component_oval_21"/>
          <p:cNvSpPr/>
          <p:nvPr/>
        </p:nvSpPr>
        <p:spPr>
          <a:xfrm>
            <a:off x="3602736" y="6999403"/>
            <a:ext cx="128778" cy="114257"/>
          </a:xfrm>
          <a:prstGeom prst="ellipse">
            <a:avLst/>
          </a:prstGeom>
          <a:gradFill rotWithShape="1">
            <a:gsLst>
              <a:gs pos="0">
                <a:srgbClr val="FAEDD1"/>
              </a:gs>
              <a:gs pos="30000">
                <a:srgbClr val="EFCA76"/>
              </a:gs>
              <a:gs pos="67000">
                <a:srgbClr val="EAB848"/>
              </a:gs>
              <a:gs pos="100000">
                <a:srgbClr val="CA922E"/>
              </a:gs>
            </a:gsLst>
            <a:lin ang="3300000" scaled="1"/>
          </a:gradFill>
          <a:ln w="8048">
            <a:solidFill>
              <a:srgbClr val="B77B1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1" name="fxr_component_oval_22"/>
          <p:cNvSpPr/>
          <p:nvPr/>
        </p:nvSpPr>
        <p:spPr>
          <a:xfrm>
            <a:off x="3633643" y="7020541"/>
            <a:ext cx="33482" cy="21138"/>
          </a:xfrm>
          <a:prstGeom prst="ellipse">
            <a:avLst/>
          </a:prstGeom>
          <a:solidFill>
            <a:srgbClr val="FAED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2" name="fxr_component_path_23"/>
          <p:cNvSpPr/>
          <p:nvPr/>
        </p:nvSpPr>
        <p:spPr>
          <a:xfrm>
            <a:off x="3548253" y="7109266"/>
            <a:ext cx="24765" cy="79101"/>
          </a:xfrm>
          <a:custGeom>
            <a:avLst/>
            <a:gdLst/>
            <a:ahLst/>
            <a:cxnLst/>
            <a:rect l="0" t="0" r="r" b="b"/>
            <a:pathLst>
              <a:path w="24765" h="79101">
                <a:moveTo>
                  <a:pt x="24765" y="0"/>
                </a:moveTo>
                <a:cubicBezTo>
                  <a:pt x="4953" y="21973"/>
                  <a:pt x="0" y="57129"/>
                  <a:pt x="9906" y="79101"/>
                </a:cubicBezTo>
              </a:path>
            </a:pathLst>
          </a:custGeom>
          <a:noFill/>
          <a:ln w="9286" cap="rnd">
            <a:solidFill>
              <a:srgbClr val="FFE7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3" name="ahr_component_path_1"/>
          <p:cNvSpPr/>
          <p:nvPr/>
        </p:nvSpPr>
        <p:spPr>
          <a:xfrm>
            <a:off x="3467862" y="8092078"/>
            <a:ext cx="95" cy="23974"/>
          </a:xfrm>
          <a:custGeom>
            <a:avLst/>
            <a:gdLst/>
            <a:ahLst/>
            <a:cxnLst/>
            <a:rect l="0" t="0" r="r" b="b"/>
            <a:pathLst>
              <a:path w="95" h="23974">
                <a:moveTo>
                  <a:pt x="0" y="23974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4" name="ahr_component_path_2"/>
          <p:cNvSpPr/>
          <p:nvPr/>
        </p:nvSpPr>
        <p:spPr>
          <a:xfrm>
            <a:off x="3511582" y="8070990"/>
            <a:ext cx="95" cy="66150"/>
          </a:xfrm>
          <a:custGeom>
            <a:avLst/>
            <a:gdLst/>
            <a:ahLst/>
            <a:cxnLst/>
            <a:rect l="0" t="0" r="r" b="b"/>
            <a:pathLst>
              <a:path w="95" h="66150">
                <a:moveTo>
                  <a:pt x="0" y="66150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5" name="ahr_component_path_3"/>
          <p:cNvSpPr/>
          <p:nvPr/>
        </p:nvSpPr>
        <p:spPr>
          <a:xfrm>
            <a:off x="3555302" y="8065751"/>
            <a:ext cx="95" cy="76627"/>
          </a:xfrm>
          <a:custGeom>
            <a:avLst/>
            <a:gdLst/>
            <a:ahLst/>
            <a:cxnLst/>
            <a:rect l="0" t="0" r="r" b="b"/>
            <a:pathLst>
              <a:path w="95" h="76627">
                <a:moveTo>
                  <a:pt x="0" y="76627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6" name="ahr_component_path_4"/>
          <p:cNvSpPr/>
          <p:nvPr/>
        </p:nvSpPr>
        <p:spPr>
          <a:xfrm>
            <a:off x="3599021" y="8078872"/>
            <a:ext cx="95" cy="50385"/>
          </a:xfrm>
          <a:custGeom>
            <a:avLst/>
            <a:gdLst/>
            <a:ahLst/>
            <a:cxnLst/>
            <a:rect l="0" t="0" r="r" b="b"/>
            <a:pathLst>
              <a:path w="95" h="50385">
                <a:moveTo>
                  <a:pt x="0" y="50385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7" name="ahr_component_path_5"/>
          <p:cNvSpPr/>
          <p:nvPr/>
        </p:nvSpPr>
        <p:spPr>
          <a:xfrm>
            <a:off x="3642741" y="8104065"/>
            <a:ext cx="95" cy="95"/>
          </a:xfrm>
          <a:custGeom>
            <a:avLst/>
            <a:gdLst/>
            <a:ahLst/>
            <a:cxnLst/>
            <a:rect l="0" t="0" r="r" b="b"/>
            <a:pathLst>
              <a:path w="95" h="95"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8" name="ahr_component_path_6"/>
          <p:cNvSpPr/>
          <p:nvPr/>
        </p:nvSpPr>
        <p:spPr>
          <a:xfrm>
            <a:off x="3686461" y="8078872"/>
            <a:ext cx="95" cy="50385"/>
          </a:xfrm>
          <a:custGeom>
            <a:avLst/>
            <a:gdLst/>
            <a:ahLst/>
            <a:cxnLst/>
            <a:rect l="0" t="0" r="r" b="b"/>
            <a:pathLst>
              <a:path w="95" h="50385">
                <a:moveTo>
                  <a:pt x="0" y="0"/>
                </a:moveTo>
                <a:lnTo>
                  <a:pt x="0" y="50385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9" name="ahr_component_path_7"/>
          <p:cNvSpPr/>
          <p:nvPr/>
        </p:nvSpPr>
        <p:spPr>
          <a:xfrm>
            <a:off x="3730180" y="8065751"/>
            <a:ext cx="95" cy="76627"/>
          </a:xfrm>
          <a:custGeom>
            <a:avLst/>
            <a:gdLst/>
            <a:ahLst/>
            <a:cxnLst/>
            <a:rect l="0" t="0" r="r" b="b"/>
            <a:pathLst>
              <a:path w="95" h="76627">
                <a:moveTo>
                  <a:pt x="0" y="0"/>
                </a:moveTo>
                <a:lnTo>
                  <a:pt x="0" y="76627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0" name="ahr_component_path_8"/>
          <p:cNvSpPr/>
          <p:nvPr/>
        </p:nvSpPr>
        <p:spPr>
          <a:xfrm>
            <a:off x="3773900" y="8070990"/>
            <a:ext cx="95" cy="66150"/>
          </a:xfrm>
          <a:custGeom>
            <a:avLst/>
            <a:gdLst/>
            <a:ahLst/>
            <a:cxnLst/>
            <a:rect l="0" t="0" r="r" b="b"/>
            <a:pathLst>
              <a:path w="95" h="66150">
                <a:moveTo>
                  <a:pt x="0" y="0"/>
                </a:moveTo>
                <a:lnTo>
                  <a:pt x="0" y="6615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1" name="ahr_component_path_9"/>
          <p:cNvSpPr/>
          <p:nvPr/>
        </p:nvSpPr>
        <p:spPr>
          <a:xfrm>
            <a:off x="3817620" y="8092078"/>
            <a:ext cx="95" cy="23974"/>
          </a:xfrm>
          <a:custGeom>
            <a:avLst/>
            <a:gdLst/>
            <a:ahLst/>
            <a:cxnLst/>
            <a:rect l="0" t="0" r="r" b="b"/>
            <a:pathLst>
              <a:path w="95" h="23974">
                <a:moveTo>
                  <a:pt x="0" y="0"/>
                </a:moveTo>
                <a:lnTo>
                  <a:pt x="0" y="23974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2" name="ahr_component_path_10"/>
          <p:cNvSpPr/>
          <p:nvPr/>
        </p:nvSpPr>
        <p:spPr>
          <a:xfrm>
            <a:off x="3861340" y="8089220"/>
            <a:ext cx="95" cy="29689"/>
          </a:xfrm>
          <a:custGeom>
            <a:avLst/>
            <a:gdLst/>
            <a:ahLst/>
            <a:cxnLst/>
            <a:rect l="0" t="0" r="r" b="b"/>
            <a:pathLst>
              <a:path w="95" h="29689">
                <a:moveTo>
                  <a:pt x="0" y="29689"/>
                </a:moveTo>
                <a:lnTo>
                  <a:pt x="0" y="0"/>
                </a:lnTo>
              </a:path>
            </a:pathLst>
          </a:custGeom>
          <a:noFill/>
          <a:ln w="6072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3" name="ahr_component_path_11"/>
          <p:cNvSpPr/>
          <p:nvPr/>
        </p:nvSpPr>
        <p:spPr>
          <a:xfrm>
            <a:off x="3448431" y="8065274"/>
            <a:ext cx="446913" cy="77582"/>
          </a:xfrm>
          <a:custGeom>
            <a:avLst/>
            <a:gdLst/>
            <a:ahLst/>
            <a:cxnLst/>
            <a:rect l="0" t="0" r="r" b="b"/>
            <a:pathLst>
              <a:path w="446913" h="77582">
                <a:moveTo>
                  <a:pt x="0" y="38791"/>
                </a:moveTo>
                <a:lnTo>
                  <a:pt x="9715" y="44859"/>
                </a:lnTo>
                <a:lnTo>
                  <a:pt x="19431" y="50778"/>
                </a:lnTo>
                <a:lnTo>
                  <a:pt x="29147" y="56402"/>
                </a:lnTo>
                <a:lnTo>
                  <a:pt x="38862" y="61592"/>
                </a:lnTo>
                <a:lnTo>
                  <a:pt x="48577" y="66220"/>
                </a:lnTo>
                <a:lnTo>
                  <a:pt x="58293" y="70174"/>
                </a:lnTo>
                <a:lnTo>
                  <a:pt x="68008" y="73354"/>
                </a:lnTo>
                <a:lnTo>
                  <a:pt x="77724" y="75683"/>
                </a:lnTo>
                <a:lnTo>
                  <a:pt x="87440" y="77104"/>
                </a:lnTo>
                <a:lnTo>
                  <a:pt x="97155" y="77582"/>
                </a:lnTo>
                <a:lnTo>
                  <a:pt x="106870" y="77104"/>
                </a:lnTo>
                <a:lnTo>
                  <a:pt x="116586" y="75683"/>
                </a:lnTo>
                <a:lnTo>
                  <a:pt x="126301" y="73354"/>
                </a:lnTo>
                <a:lnTo>
                  <a:pt x="136017" y="70174"/>
                </a:lnTo>
                <a:lnTo>
                  <a:pt x="145732" y="66220"/>
                </a:lnTo>
                <a:lnTo>
                  <a:pt x="155448" y="61592"/>
                </a:lnTo>
                <a:lnTo>
                  <a:pt x="165163" y="56402"/>
                </a:lnTo>
                <a:lnTo>
                  <a:pt x="174879" y="50778"/>
                </a:lnTo>
                <a:lnTo>
                  <a:pt x="184594" y="44859"/>
                </a:lnTo>
                <a:lnTo>
                  <a:pt x="194310" y="38791"/>
                </a:lnTo>
                <a:lnTo>
                  <a:pt x="204025" y="32723"/>
                </a:lnTo>
                <a:lnTo>
                  <a:pt x="213741" y="26804"/>
                </a:lnTo>
                <a:lnTo>
                  <a:pt x="223456" y="21180"/>
                </a:lnTo>
                <a:lnTo>
                  <a:pt x="233172" y="15990"/>
                </a:lnTo>
                <a:lnTo>
                  <a:pt x="242888" y="11362"/>
                </a:lnTo>
                <a:lnTo>
                  <a:pt x="252603" y="7408"/>
                </a:lnTo>
                <a:lnTo>
                  <a:pt x="262318" y="4228"/>
                </a:lnTo>
                <a:lnTo>
                  <a:pt x="272034" y="1899"/>
                </a:lnTo>
                <a:lnTo>
                  <a:pt x="281749" y="478"/>
                </a:lnTo>
                <a:lnTo>
                  <a:pt x="291465" y="0"/>
                </a:lnTo>
                <a:lnTo>
                  <a:pt x="301180" y="478"/>
                </a:lnTo>
                <a:lnTo>
                  <a:pt x="310896" y="1899"/>
                </a:lnTo>
                <a:lnTo>
                  <a:pt x="320611" y="4228"/>
                </a:lnTo>
                <a:lnTo>
                  <a:pt x="330327" y="7408"/>
                </a:lnTo>
                <a:lnTo>
                  <a:pt x="340042" y="11362"/>
                </a:lnTo>
                <a:lnTo>
                  <a:pt x="349758" y="15990"/>
                </a:lnTo>
                <a:lnTo>
                  <a:pt x="359473" y="21180"/>
                </a:lnTo>
                <a:lnTo>
                  <a:pt x="369189" y="26804"/>
                </a:lnTo>
                <a:lnTo>
                  <a:pt x="378904" y="32723"/>
                </a:lnTo>
                <a:lnTo>
                  <a:pt x="388620" y="38791"/>
                </a:lnTo>
                <a:lnTo>
                  <a:pt x="398335" y="44859"/>
                </a:lnTo>
                <a:lnTo>
                  <a:pt x="408051" y="50778"/>
                </a:lnTo>
                <a:lnTo>
                  <a:pt x="417766" y="56402"/>
                </a:lnTo>
                <a:lnTo>
                  <a:pt x="427482" y="61592"/>
                </a:lnTo>
                <a:lnTo>
                  <a:pt x="437197" y="66220"/>
                </a:lnTo>
                <a:lnTo>
                  <a:pt x="446913" y="70174"/>
                </a:lnTo>
              </a:path>
            </a:pathLst>
          </a:custGeom>
          <a:noFill/>
          <a:ln w="14573" cap="rnd">
            <a:solidFill>
              <a:srgbClr val="6538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4" name="ahr_component_path_12"/>
          <p:cNvSpPr/>
          <p:nvPr/>
        </p:nvSpPr>
        <p:spPr>
          <a:xfrm>
            <a:off x="3450131" y="8062688"/>
            <a:ext cx="446913" cy="77582"/>
          </a:xfrm>
          <a:custGeom>
            <a:avLst/>
            <a:gdLst/>
            <a:ahLst/>
            <a:cxnLst/>
            <a:rect l="0" t="0" r="r" b="b"/>
            <a:pathLst>
              <a:path w="446913" h="77582">
                <a:moveTo>
                  <a:pt x="0" y="38791"/>
                </a:moveTo>
                <a:lnTo>
                  <a:pt x="9715" y="44859"/>
                </a:lnTo>
                <a:lnTo>
                  <a:pt x="19431" y="50778"/>
                </a:lnTo>
                <a:lnTo>
                  <a:pt x="29147" y="56402"/>
                </a:lnTo>
                <a:lnTo>
                  <a:pt x="38862" y="61592"/>
                </a:lnTo>
                <a:lnTo>
                  <a:pt x="48577" y="66220"/>
                </a:lnTo>
                <a:lnTo>
                  <a:pt x="58293" y="70174"/>
                </a:lnTo>
                <a:lnTo>
                  <a:pt x="68008" y="73354"/>
                </a:lnTo>
                <a:lnTo>
                  <a:pt x="77724" y="75683"/>
                </a:lnTo>
                <a:lnTo>
                  <a:pt x="87440" y="77104"/>
                </a:lnTo>
                <a:lnTo>
                  <a:pt x="97155" y="77582"/>
                </a:lnTo>
                <a:lnTo>
                  <a:pt x="106870" y="77104"/>
                </a:lnTo>
                <a:lnTo>
                  <a:pt x="116586" y="75683"/>
                </a:lnTo>
                <a:lnTo>
                  <a:pt x="126301" y="73354"/>
                </a:lnTo>
                <a:lnTo>
                  <a:pt x="136017" y="70174"/>
                </a:lnTo>
                <a:lnTo>
                  <a:pt x="145733" y="66220"/>
                </a:lnTo>
                <a:lnTo>
                  <a:pt x="155448" y="61592"/>
                </a:lnTo>
                <a:lnTo>
                  <a:pt x="165163" y="56402"/>
                </a:lnTo>
                <a:lnTo>
                  <a:pt x="174879" y="50778"/>
                </a:lnTo>
                <a:lnTo>
                  <a:pt x="184594" y="44859"/>
                </a:lnTo>
                <a:lnTo>
                  <a:pt x="194310" y="38791"/>
                </a:lnTo>
                <a:lnTo>
                  <a:pt x="204026" y="32723"/>
                </a:lnTo>
                <a:lnTo>
                  <a:pt x="213741" y="26804"/>
                </a:lnTo>
                <a:lnTo>
                  <a:pt x="223456" y="21180"/>
                </a:lnTo>
                <a:lnTo>
                  <a:pt x="233172" y="15990"/>
                </a:lnTo>
                <a:lnTo>
                  <a:pt x="242888" y="11362"/>
                </a:lnTo>
                <a:lnTo>
                  <a:pt x="252603" y="7408"/>
                </a:lnTo>
                <a:lnTo>
                  <a:pt x="262319" y="4228"/>
                </a:lnTo>
                <a:lnTo>
                  <a:pt x="272034" y="1899"/>
                </a:lnTo>
                <a:lnTo>
                  <a:pt x="281749" y="478"/>
                </a:lnTo>
                <a:lnTo>
                  <a:pt x="291465" y="0"/>
                </a:lnTo>
                <a:lnTo>
                  <a:pt x="301181" y="478"/>
                </a:lnTo>
                <a:lnTo>
                  <a:pt x="310896" y="1899"/>
                </a:lnTo>
                <a:lnTo>
                  <a:pt x="320612" y="4228"/>
                </a:lnTo>
                <a:lnTo>
                  <a:pt x="330327" y="7408"/>
                </a:lnTo>
                <a:lnTo>
                  <a:pt x="340042" y="11362"/>
                </a:lnTo>
                <a:lnTo>
                  <a:pt x="349758" y="15990"/>
                </a:lnTo>
                <a:lnTo>
                  <a:pt x="359474" y="21180"/>
                </a:lnTo>
                <a:lnTo>
                  <a:pt x="369189" y="26804"/>
                </a:lnTo>
                <a:lnTo>
                  <a:pt x="378904" y="32723"/>
                </a:lnTo>
                <a:lnTo>
                  <a:pt x="388620" y="38791"/>
                </a:lnTo>
                <a:lnTo>
                  <a:pt x="398335" y="44859"/>
                </a:lnTo>
                <a:lnTo>
                  <a:pt x="408051" y="50778"/>
                </a:lnTo>
                <a:lnTo>
                  <a:pt x="417766" y="56402"/>
                </a:lnTo>
                <a:lnTo>
                  <a:pt x="427482" y="61592"/>
                </a:lnTo>
                <a:lnTo>
                  <a:pt x="437197" y="66220"/>
                </a:lnTo>
                <a:lnTo>
                  <a:pt x="446913" y="70174"/>
                </a:lnTo>
              </a:path>
            </a:pathLst>
          </a:custGeom>
          <a:noFill/>
          <a:ln w="4250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5" name="ahr_component_path_13"/>
          <p:cNvSpPr/>
          <p:nvPr/>
        </p:nvSpPr>
        <p:spPr>
          <a:xfrm>
            <a:off x="3448431" y="8065274"/>
            <a:ext cx="446913" cy="77582"/>
          </a:xfrm>
          <a:custGeom>
            <a:avLst/>
            <a:gdLst/>
            <a:ahLst/>
            <a:cxnLst/>
            <a:rect l="0" t="0" r="r" b="b"/>
            <a:pathLst>
              <a:path w="446913" h="77582">
                <a:moveTo>
                  <a:pt x="0" y="38791"/>
                </a:moveTo>
                <a:lnTo>
                  <a:pt x="9715" y="32723"/>
                </a:lnTo>
                <a:lnTo>
                  <a:pt x="19431" y="26804"/>
                </a:lnTo>
                <a:lnTo>
                  <a:pt x="29147" y="21180"/>
                </a:lnTo>
                <a:lnTo>
                  <a:pt x="38862" y="15990"/>
                </a:lnTo>
                <a:lnTo>
                  <a:pt x="48577" y="11362"/>
                </a:lnTo>
                <a:lnTo>
                  <a:pt x="58293" y="7408"/>
                </a:lnTo>
                <a:lnTo>
                  <a:pt x="68008" y="4228"/>
                </a:lnTo>
                <a:lnTo>
                  <a:pt x="77724" y="1899"/>
                </a:lnTo>
                <a:lnTo>
                  <a:pt x="87440" y="478"/>
                </a:lnTo>
                <a:lnTo>
                  <a:pt x="97155" y="0"/>
                </a:lnTo>
                <a:lnTo>
                  <a:pt x="106870" y="478"/>
                </a:lnTo>
                <a:lnTo>
                  <a:pt x="116586" y="1899"/>
                </a:lnTo>
                <a:lnTo>
                  <a:pt x="126301" y="4228"/>
                </a:lnTo>
                <a:lnTo>
                  <a:pt x="136017" y="7408"/>
                </a:lnTo>
                <a:lnTo>
                  <a:pt x="145732" y="11362"/>
                </a:lnTo>
                <a:lnTo>
                  <a:pt x="155448" y="15990"/>
                </a:lnTo>
                <a:lnTo>
                  <a:pt x="165163" y="21180"/>
                </a:lnTo>
                <a:lnTo>
                  <a:pt x="174879" y="26804"/>
                </a:lnTo>
                <a:lnTo>
                  <a:pt x="184594" y="32723"/>
                </a:lnTo>
                <a:lnTo>
                  <a:pt x="194310" y="38791"/>
                </a:lnTo>
                <a:lnTo>
                  <a:pt x="204025" y="44859"/>
                </a:lnTo>
                <a:lnTo>
                  <a:pt x="213741" y="50778"/>
                </a:lnTo>
                <a:lnTo>
                  <a:pt x="223456" y="56402"/>
                </a:lnTo>
                <a:lnTo>
                  <a:pt x="233172" y="61592"/>
                </a:lnTo>
                <a:lnTo>
                  <a:pt x="242888" y="66220"/>
                </a:lnTo>
                <a:lnTo>
                  <a:pt x="252603" y="70174"/>
                </a:lnTo>
                <a:lnTo>
                  <a:pt x="262318" y="73354"/>
                </a:lnTo>
                <a:lnTo>
                  <a:pt x="272034" y="75683"/>
                </a:lnTo>
                <a:lnTo>
                  <a:pt x="281749" y="77104"/>
                </a:lnTo>
                <a:lnTo>
                  <a:pt x="291465" y="77582"/>
                </a:lnTo>
                <a:lnTo>
                  <a:pt x="301180" y="77104"/>
                </a:lnTo>
                <a:lnTo>
                  <a:pt x="310896" y="75683"/>
                </a:lnTo>
                <a:lnTo>
                  <a:pt x="320611" y="73354"/>
                </a:lnTo>
                <a:lnTo>
                  <a:pt x="330327" y="70174"/>
                </a:lnTo>
                <a:lnTo>
                  <a:pt x="340042" y="66220"/>
                </a:lnTo>
                <a:lnTo>
                  <a:pt x="349758" y="61592"/>
                </a:lnTo>
                <a:lnTo>
                  <a:pt x="359473" y="56402"/>
                </a:lnTo>
                <a:lnTo>
                  <a:pt x="369189" y="50778"/>
                </a:lnTo>
                <a:lnTo>
                  <a:pt x="378904" y="44859"/>
                </a:lnTo>
                <a:lnTo>
                  <a:pt x="388620" y="38791"/>
                </a:lnTo>
                <a:lnTo>
                  <a:pt x="398335" y="32723"/>
                </a:lnTo>
                <a:lnTo>
                  <a:pt x="408051" y="26804"/>
                </a:lnTo>
                <a:lnTo>
                  <a:pt x="417766" y="21180"/>
                </a:lnTo>
                <a:lnTo>
                  <a:pt x="427482" y="15990"/>
                </a:lnTo>
                <a:lnTo>
                  <a:pt x="437197" y="11362"/>
                </a:lnTo>
                <a:lnTo>
                  <a:pt x="446913" y="7408"/>
                </a:lnTo>
              </a:path>
            </a:pathLst>
          </a:custGeom>
          <a:noFill/>
          <a:ln w="14573" cap="rnd">
            <a:solidFill>
              <a:srgbClr val="6538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6" name="ahr_component_path_14"/>
          <p:cNvSpPr/>
          <p:nvPr/>
        </p:nvSpPr>
        <p:spPr>
          <a:xfrm>
            <a:off x="3450131" y="8062688"/>
            <a:ext cx="446913" cy="77582"/>
          </a:xfrm>
          <a:custGeom>
            <a:avLst/>
            <a:gdLst/>
            <a:ahLst/>
            <a:cxnLst/>
            <a:rect l="0" t="0" r="r" b="b"/>
            <a:pathLst>
              <a:path w="446913" h="77582">
                <a:moveTo>
                  <a:pt x="0" y="38791"/>
                </a:moveTo>
                <a:lnTo>
                  <a:pt x="9715" y="32723"/>
                </a:lnTo>
                <a:lnTo>
                  <a:pt x="19431" y="26804"/>
                </a:lnTo>
                <a:lnTo>
                  <a:pt x="29147" y="21180"/>
                </a:lnTo>
                <a:lnTo>
                  <a:pt x="38862" y="15990"/>
                </a:lnTo>
                <a:lnTo>
                  <a:pt x="48577" y="11362"/>
                </a:lnTo>
                <a:lnTo>
                  <a:pt x="58293" y="7408"/>
                </a:lnTo>
                <a:lnTo>
                  <a:pt x="68008" y="4228"/>
                </a:lnTo>
                <a:lnTo>
                  <a:pt x="77724" y="1899"/>
                </a:lnTo>
                <a:lnTo>
                  <a:pt x="87440" y="478"/>
                </a:lnTo>
                <a:lnTo>
                  <a:pt x="97155" y="0"/>
                </a:lnTo>
                <a:lnTo>
                  <a:pt x="106870" y="478"/>
                </a:lnTo>
                <a:lnTo>
                  <a:pt x="116586" y="1899"/>
                </a:lnTo>
                <a:lnTo>
                  <a:pt x="126301" y="4228"/>
                </a:lnTo>
                <a:lnTo>
                  <a:pt x="136017" y="7408"/>
                </a:lnTo>
                <a:lnTo>
                  <a:pt x="145733" y="11362"/>
                </a:lnTo>
                <a:lnTo>
                  <a:pt x="155448" y="15990"/>
                </a:lnTo>
                <a:lnTo>
                  <a:pt x="165163" y="21180"/>
                </a:lnTo>
                <a:lnTo>
                  <a:pt x="174879" y="26804"/>
                </a:lnTo>
                <a:lnTo>
                  <a:pt x="184594" y="32723"/>
                </a:lnTo>
                <a:lnTo>
                  <a:pt x="194310" y="38791"/>
                </a:lnTo>
                <a:lnTo>
                  <a:pt x="204026" y="44859"/>
                </a:lnTo>
                <a:lnTo>
                  <a:pt x="213741" y="50778"/>
                </a:lnTo>
                <a:lnTo>
                  <a:pt x="223456" y="56402"/>
                </a:lnTo>
                <a:lnTo>
                  <a:pt x="233172" y="61592"/>
                </a:lnTo>
                <a:lnTo>
                  <a:pt x="242888" y="66220"/>
                </a:lnTo>
                <a:lnTo>
                  <a:pt x="252603" y="70174"/>
                </a:lnTo>
                <a:lnTo>
                  <a:pt x="262319" y="73354"/>
                </a:lnTo>
                <a:lnTo>
                  <a:pt x="272034" y="75683"/>
                </a:lnTo>
                <a:lnTo>
                  <a:pt x="281749" y="77104"/>
                </a:lnTo>
                <a:lnTo>
                  <a:pt x="291465" y="77582"/>
                </a:lnTo>
                <a:lnTo>
                  <a:pt x="301181" y="77104"/>
                </a:lnTo>
                <a:lnTo>
                  <a:pt x="310896" y="75683"/>
                </a:lnTo>
                <a:lnTo>
                  <a:pt x="320612" y="73354"/>
                </a:lnTo>
                <a:lnTo>
                  <a:pt x="330327" y="70174"/>
                </a:lnTo>
                <a:lnTo>
                  <a:pt x="340042" y="66220"/>
                </a:lnTo>
                <a:lnTo>
                  <a:pt x="349758" y="61592"/>
                </a:lnTo>
                <a:lnTo>
                  <a:pt x="359474" y="56402"/>
                </a:lnTo>
                <a:lnTo>
                  <a:pt x="369189" y="50778"/>
                </a:lnTo>
                <a:lnTo>
                  <a:pt x="378904" y="44859"/>
                </a:lnTo>
                <a:lnTo>
                  <a:pt x="388620" y="38791"/>
                </a:lnTo>
                <a:lnTo>
                  <a:pt x="398335" y="32723"/>
                </a:lnTo>
                <a:lnTo>
                  <a:pt x="408051" y="26804"/>
                </a:lnTo>
                <a:lnTo>
                  <a:pt x="417766" y="21180"/>
                </a:lnTo>
                <a:lnTo>
                  <a:pt x="427482" y="15990"/>
                </a:lnTo>
                <a:lnTo>
                  <a:pt x="437197" y="11362"/>
                </a:lnTo>
                <a:lnTo>
                  <a:pt x="446913" y="7408"/>
                </a:lnTo>
              </a:path>
            </a:pathLst>
          </a:custGeom>
          <a:noFill/>
          <a:ln w="4250" cap="rnd">
            <a:solidFill>
              <a:srgbClr val="B496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7" name="ahr_component_path_15"/>
          <p:cNvSpPr/>
          <p:nvPr/>
        </p:nvSpPr>
        <p:spPr>
          <a:xfrm>
            <a:off x="3477578" y="7879939"/>
            <a:ext cx="179737" cy="211195"/>
          </a:xfrm>
          <a:custGeom>
            <a:avLst/>
            <a:gdLst/>
            <a:ahLst/>
            <a:cxnLst/>
            <a:rect l="0" t="0" r="r" b="b"/>
            <a:pathLst>
              <a:path w="179737" h="211195">
                <a:moveTo>
                  <a:pt x="174879" y="163784"/>
                </a:moveTo>
                <a:cubicBezTo>
                  <a:pt x="174879" y="103443"/>
                  <a:pt x="179737" y="73272"/>
                  <a:pt x="136017" y="43101"/>
                </a:cubicBezTo>
                <a:cubicBezTo>
                  <a:pt x="72866" y="0"/>
                  <a:pt x="48577" y="0"/>
                  <a:pt x="29147" y="43101"/>
                </a:cubicBezTo>
                <a:cubicBezTo>
                  <a:pt x="0" y="90512"/>
                  <a:pt x="24289" y="142234"/>
                  <a:pt x="97155" y="146544"/>
                </a:cubicBezTo>
                <a:cubicBezTo>
                  <a:pt x="126301" y="150854"/>
                  <a:pt x="136017" y="155164"/>
                  <a:pt x="140875" y="185335"/>
                </a:cubicBezTo>
                <a:cubicBezTo>
                  <a:pt x="145732" y="211195"/>
                  <a:pt x="179737" y="202575"/>
                  <a:pt x="174879" y="163784"/>
                </a:cubicBezTo>
                <a:close/>
              </a:path>
            </a:pathLst>
          </a:custGeom>
          <a:gradFill rotWithShape="1">
            <a:gsLst>
              <a:gs pos="0">
                <a:srgbClr val="E4D2F8"/>
              </a:gs>
              <a:gs pos="35000">
                <a:srgbClr val="DDC7F6"/>
              </a:gs>
              <a:gs pos="80000">
                <a:srgbClr val="A179D9"/>
              </a:gs>
              <a:gs pos="100000">
                <a:srgbClr val="855ABF"/>
              </a:gs>
            </a:gsLst>
            <a:lin ang="3000000" scaled="1"/>
          </a:gradFill>
          <a:ln w="6375" cap="rnd">
            <a:solidFill>
              <a:srgbClr val="6234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8" name="ahr_component_oval_16"/>
          <p:cNvSpPr/>
          <p:nvPr/>
        </p:nvSpPr>
        <p:spPr>
          <a:xfrm rot="20700000">
            <a:off x="3535871" y="7810977"/>
            <a:ext cx="121444" cy="163784"/>
          </a:xfrm>
          <a:prstGeom prst="ellipse">
            <a:avLst/>
          </a:prstGeom>
          <a:gradFill rotWithShape="1">
            <a:gsLst>
              <a:gs pos="0">
                <a:srgbClr val="DDC7F6"/>
              </a:gs>
              <a:gs pos="50000">
                <a:srgbClr val="B390E2"/>
              </a:gs>
              <a:gs pos="100000">
                <a:srgbClr val="A179D9"/>
              </a:gs>
            </a:gsLst>
            <a:lin ang="3300000" scaled="1"/>
          </a:gradFill>
          <a:ln w="6072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9" name="ahr_component_oval_17"/>
          <p:cNvSpPr/>
          <p:nvPr/>
        </p:nvSpPr>
        <p:spPr>
          <a:xfrm>
            <a:off x="3584448" y="7750636"/>
            <a:ext cx="77724" cy="73272"/>
          </a:xfrm>
          <a:prstGeom prst="ellipse">
            <a:avLst/>
          </a:prstGeom>
          <a:gradFill rotWithShape="1">
            <a:gsLst>
              <a:gs pos="0">
                <a:srgbClr val="DDC7F6"/>
              </a:gs>
              <a:gs pos="100000">
                <a:srgbClr val="A179D9"/>
              </a:gs>
            </a:gsLst>
            <a:lin ang="3600000" scaled="1"/>
          </a:gradFill>
          <a:ln w="5464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0" name="ahr_component_path_18"/>
          <p:cNvSpPr/>
          <p:nvPr/>
        </p:nvSpPr>
        <p:spPr>
          <a:xfrm>
            <a:off x="3686461" y="7879939"/>
            <a:ext cx="179737" cy="211195"/>
          </a:xfrm>
          <a:custGeom>
            <a:avLst/>
            <a:gdLst/>
            <a:ahLst/>
            <a:cxnLst/>
            <a:rect l="0" t="0" r="r" b="b"/>
            <a:pathLst>
              <a:path w="179737" h="211195">
                <a:moveTo>
                  <a:pt x="4858" y="163784"/>
                </a:moveTo>
                <a:cubicBezTo>
                  <a:pt x="4858" y="103443"/>
                  <a:pt x="0" y="73272"/>
                  <a:pt x="43720" y="43101"/>
                </a:cubicBezTo>
                <a:cubicBezTo>
                  <a:pt x="106871" y="0"/>
                  <a:pt x="131159" y="0"/>
                  <a:pt x="150590" y="43101"/>
                </a:cubicBezTo>
                <a:cubicBezTo>
                  <a:pt x="179737" y="90512"/>
                  <a:pt x="155448" y="142234"/>
                  <a:pt x="82582" y="146544"/>
                </a:cubicBezTo>
                <a:cubicBezTo>
                  <a:pt x="53435" y="150854"/>
                  <a:pt x="43720" y="155164"/>
                  <a:pt x="38862" y="185335"/>
                </a:cubicBezTo>
                <a:cubicBezTo>
                  <a:pt x="34004" y="211195"/>
                  <a:pt x="0" y="202575"/>
                  <a:pt x="4858" y="163784"/>
                </a:cubicBezTo>
                <a:close/>
              </a:path>
            </a:pathLst>
          </a:custGeom>
          <a:gradFill rotWithShape="1">
            <a:gsLst>
              <a:gs pos="0">
                <a:srgbClr val="E4D2F8"/>
              </a:gs>
              <a:gs pos="35000">
                <a:srgbClr val="DDC7F6"/>
              </a:gs>
              <a:gs pos="80000">
                <a:srgbClr val="A179D9"/>
              </a:gs>
              <a:gs pos="100000">
                <a:srgbClr val="855ABF"/>
              </a:gs>
            </a:gsLst>
            <a:lin ang="7800000" scaled="1"/>
          </a:gradFill>
          <a:ln w="6375" cap="rnd">
            <a:solidFill>
              <a:srgbClr val="6234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1" name="ahr_component_oval_19"/>
          <p:cNvSpPr/>
          <p:nvPr/>
        </p:nvSpPr>
        <p:spPr>
          <a:xfrm rot="900000">
            <a:off x="3705892" y="7810977"/>
            <a:ext cx="121444" cy="163784"/>
          </a:xfrm>
          <a:prstGeom prst="ellipse">
            <a:avLst/>
          </a:prstGeom>
          <a:gradFill rotWithShape="1">
            <a:gsLst>
              <a:gs pos="0">
                <a:srgbClr val="DDC7F6"/>
              </a:gs>
              <a:gs pos="50000">
                <a:srgbClr val="B390E2"/>
              </a:gs>
              <a:gs pos="100000">
                <a:srgbClr val="A179D9"/>
              </a:gs>
            </a:gsLst>
            <a:lin ang="3300000" scaled="1"/>
          </a:gradFill>
          <a:ln w="6072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2" name="ahr_component_oval_20"/>
          <p:cNvSpPr/>
          <p:nvPr/>
        </p:nvSpPr>
        <p:spPr>
          <a:xfrm>
            <a:off x="3691318" y="7750636"/>
            <a:ext cx="77724" cy="73272"/>
          </a:xfrm>
          <a:prstGeom prst="ellipse">
            <a:avLst/>
          </a:prstGeom>
          <a:gradFill rotWithShape="1">
            <a:gsLst>
              <a:gs pos="0">
                <a:srgbClr val="DDC7F6"/>
              </a:gs>
              <a:gs pos="100000">
                <a:srgbClr val="A179D9"/>
              </a:gs>
            </a:gsLst>
            <a:lin ang="3600000" scaled="1"/>
          </a:gradFill>
          <a:ln w="5464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3" name="ahr_component_oval_21"/>
          <p:cNvSpPr/>
          <p:nvPr/>
        </p:nvSpPr>
        <p:spPr>
          <a:xfrm>
            <a:off x="3608737" y="7742015"/>
            <a:ext cx="126302" cy="112063"/>
          </a:xfrm>
          <a:prstGeom prst="ellipse">
            <a:avLst/>
          </a:prstGeom>
          <a:gradFill rotWithShape="1">
            <a:gsLst>
              <a:gs pos="0">
                <a:srgbClr val="E8DEF6"/>
              </a:gs>
              <a:gs pos="30000">
                <a:srgbClr val="B89AE2"/>
              </a:gs>
              <a:gs pos="67000">
                <a:srgbClr val="A179D9"/>
              </a:gs>
              <a:gs pos="100000">
                <a:srgbClr val="7A4EB6"/>
              </a:gs>
            </a:gsLst>
            <a:lin ang="3300000" scaled="1"/>
          </a:gradFill>
          <a:ln w="7893">
            <a:solidFill>
              <a:srgbClr val="6234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4" name="ahr_component_oval_22"/>
          <p:cNvSpPr/>
          <p:nvPr/>
        </p:nvSpPr>
        <p:spPr>
          <a:xfrm>
            <a:off x="3639049" y="7762747"/>
            <a:ext cx="32838" cy="20732"/>
          </a:xfrm>
          <a:prstGeom prst="ellipse">
            <a:avLst/>
          </a:prstGeom>
          <a:solidFill>
            <a:srgbClr val="E7D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5" name="ahr_component_path_23"/>
          <p:cNvSpPr/>
          <p:nvPr/>
        </p:nvSpPr>
        <p:spPr>
          <a:xfrm>
            <a:off x="3555302" y="7849768"/>
            <a:ext cx="24289" cy="77582"/>
          </a:xfrm>
          <a:custGeom>
            <a:avLst/>
            <a:gdLst/>
            <a:ahLst/>
            <a:cxnLst/>
            <a:rect l="0" t="0" r="r" b="b"/>
            <a:pathLst>
              <a:path w="24289" h="77582">
                <a:moveTo>
                  <a:pt x="24289" y="0"/>
                </a:moveTo>
                <a:cubicBezTo>
                  <a:pt x="4858" y="21551"/>
                  <a:pt x="0" y="56031"/>
                  <a:pt x="9715" y="77582"/>
                </a:cubicBezTo>
              </a:path>
            </a:pathLst>
          </a:custGeom>
          <a:noFill/>
          <a:ln w="9108" cap="rnd">
            <a:solidFill>
              <a:srgbClr val="DDC7F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6" name="tmao_component_path_1"/>
          <p:cNvSpPr/>
          <p:nvPr/>
        </p:nvSpPr>
        <p:spPr>
          <a:xfrm>
            <a:off x="723900" y="4070381"/>
            <a:ext cx="95" cy="246141"/>
          </a:xfrm>
          <a:custGeom>
            <a:avLst/>
            <a:gdLst/>
            <a:ahLst/>
            <a:cxnLst/>
            <a:rect l="0" t="0" r="r" b="b"/>
            <a:pathLst>
              <a:path w="95" h="246141">
                <a:moveTo>
                  <a:pt x="0" y="246141"/>
                </a:moveTo>
                <a:lnTo>
                  <a:pt x="0" y="0"/>
                </a:lnTo>
              </a:path>
            </a:pathLst>
          </a:custGeom>
          <a:noFill/>
          <a:ln w="92868" cap="rnd">
            <a:solidFill>
              <a:srgbClr val="087D9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7" name="tmao_component_path_2"/>
          <p:cNvSpPr/>
          <p:nvPr/>
        </p:nvSpPr>
        <p:spPr>
          <a:xfrm>
            <a:off x="723900" y="4070381"/>
            <a:ext cx="95" cy="246141"/>
          </a:xfrm>
          <a:custGeom>
            <a:avLst/>
            <a:gdLst/>
            <a:ahLst/>
            <a:cxnLst/>
            <a:rect l="0" t="0" r="r" b="b"/>
            <a:pathLst>
              <a:path w="95" h="246141">
                <a:moveTo>
                  <a:pt x="0" y="246141"/>
                </a:moveTo>
                <a:lnTo>
                  <a:pt x="0" y="0"/>
                </a:lnTo>
              </a:path>
            </a:pathLst>
          </a:custGeom>
          <a:noFill/>
          <a:ln w="71199" cap="rnd">
            <a:solidFill>
              <a:srgbClr val="00B6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8" name="tmao_component_path_3"/>
          <p:cNvSpPr/>
          <p:nvPr/>
        </p:nvSpPr>
        <p:spPr>
          <a:xfrm>
            <a:off x="713994" y="4070381"/>
            <a:ext cx="4953" cy="235201"/>
          </a:xfrm>
          <a:custGeom>
            <a:avLst/>
            <a:gdLst/>
            <a:ahLst/>
            <a:cxnLst/>
            <a:rect l="0" t="0" r="r" b="b"/>
            <a:pathLst>
              <a:path w="4953" h="235201">
                <a:moveTo>
                  <a:pt x="0" y="235201"/>
                </a:moveTo>
                <a:lnTo>
                  <a:pt x="4953" y="0"/>
                </a:lnTo>
              </a:path>
            </a:pathLst>
          </a:custGeom>
          <a:noFill/>
          <a:ln w="15478" cap="rnd">
            <a:solidFill>
              <a:srgbClr val="A8F0F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9" name="tmao_component_path_4"/>
          <p:cNvSpPr/>
          <p:nvPr/>
        </p:nvSpPr>
        <p:spPr>
          <a:xfrm>
            <a:off x="565404" y="4316522"/>
            <a:ext cx="158496" cy="114866"/>
          </a:xfrm>
          <a:custGeom>
            <a:avLst/>
            <a:gdLst/>
            <a:ahLst/>
            <a:cxnLst/>
            <a:rect l="0" t="0" r="r" b="b"/>
            <a:pathLst>
              <a:path w="158496" h="114866">
                <a:moveTo>
                  <a:pt x="158496" y="0"/>
                </a:moveTo>
                <a:lnTo>
                  <a:pt x="0" y="114866"/>
                </a:lnTo>
              </a:path>
            </a:pathLst>
          </a:custGeom>
          <a:noFill/>
          <a:ln w="92868" cap="rnd">
            <a:solidFill>
              <a:srgbClr val="087D9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0" name="tmao_component_path_5"/>
          <p:cNvSpPr/>
          <p:nvPr/>
        </p:nvSpPr>
        <p:spPr>
          <a:xfrm>
            <a:off x="565404" y="4316522"/>
            <a:ext cx="158496" cy="114866"/>
          </a:xfrm>
          <a:custGeom>
            <a:avLst/>
            <a:gdLst/>
            <a:ahLst/>
            <a:cxnLst/>
            <a:rect l="0" t="0" r="r" b="b"/>
            <a:pathLst>
              <a:path w="158496" h="114866">
                <a:moveTo>
                  <a:pt x="158496" y="0"/>
                </a:moveTo>
                <a:lnTo>
                  <a:pt x="0" y="114866"/>
                </a:lnTo>
              </a:path>
            </a:pathLst>
          </a:custGeom>
          <a:noFill/>
          <a:ln w="71199" cap="rnd">
            <a:solidFill>
              <a:srgbClr val="00B6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1" name="tmao_component_path_6"/>
          <p:cNvSpPr/>
          <p:nvPr/>
        </p:nvSpPr>
        <p:spPr>
          <a:xfrm>
            <a:off x="560451" y="4305582"/>
            <a:ext cx="153543" cy="125805"/>
          </a:xfrm>
          <a:custGeom>
            <a:avLst/>
            <a:gdLst/>
            <a:ahLst/>
            <a:cxnLst/>
            <a:rect l="0" t="0" r="r" b="b"/>
            <a:pathLst>
              <a:path w="153543" h="125805">
                <a:moveTo>
                  <a:pt x="153543" y="0"/>
                </a:moveTo>
                <a:lnTo>
                  <a:pt x="0" y="125805"/>
                </a:lnTo>
              </a:path>
            </a:pathLst>
          </a:custGeom>
          <a:noFill/>
          <a:ln w="15478" cap="rnd">
            <a:solidFill>
              <a:srgbClr val="A8F0F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2" name="tmao_component_path_7"/>
          <p:cNvSpPr/>
          <p:nvPr/>
        </p:nvSpPr>
        <p:spPr>
          <a:xfrm>
            <a:off x="723900" y="4316522"/>
            <a:ext cx="158496" cy="114866"/>
          </a:xfrm>
          <a:custGeom>
            <a:avLst/>
            <a:gdLst/>
            <a:ahLst/>
            <a:cxnLst/>
            <a:rect l="0" t="0" r="r" b="b"/>
            <a:pathLst>
              <a:path w="158496" h="114866">
                <a:moveTo>
                  <a:pt x="0" y="0"/>
                </a:moveTo>
                <a:lnTo>
                  <a:pt x="158496" y="114866"/>
                </a:lnTo>
              </a:path>
            </a:pathLst>
          </a:custGeom>
          <a:noFill/>
          <a:ln w="92868" cap="rnd">
            <a:solidFill>
              <a:srgbClr val="087D9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3" name="tmao_component_path_8"/>
          <p:cNvSpPr/>
          <p:nvPr/>
        </p:nvSpPr>
        <p:spPr>
          <a:xfrm>
            <a:off x="723900" y="4316522"/>
            <a:ext cx="158496" cy="114866"/>
          </a:xfrm>
          <a:custGeom>
            <a:avLst/>
            <a:gdLst/>
            <a:ahLst/>
            <a:cxnLst/>
            <a:rect l="0" t="0" r="r" b="b"/>
            <a:pathLst>
              <a:path w="158496" h="114866">
                <a:moveTo>
                  <a:pt x="0" y="0"/>
                </a:moveTo>
                <a:lnTo>
                  <a:pt x="158496" y="114866"/>
                </a:lnTo>
              </a:path>
            </a:pathLst>
          </a:custGeom>
          <a:noFill/>
          <a:ln w="71199" cap="rnd">
            <a:solidFill>
              <a:srgbClr val="00B6D9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4" name="tmao_component_path_9"/>
          <p:cNvSpPr/>
          <p:nvPr/>
        </p:nvSpPr>
        <p:spPr>
          <a:xfrm>
            <a:off x="713994" y="4305582"/>
            <a:ext cx="163449" cy="125805"/>
          </a:xfrm>
          <a:custGeom>
            <a:avLst/>
            <a:gdLst/>
            <a:ahLst/>
            <a:cxnLst/>
            <a:rect l="0" t="0" r="r" b="b"/>
            <a:pathLst>
              <a:path w="163449" h="125805">
                <a:moveTo>
                  <a:pt x="0" y="0"/>
                </a:moveTo>
                <a:lnTo>
                  <a:pt x="163449" y="125805"/>
                </a:lnTo>
              </a:path>
            </a:pathLst>
          </a:custGeom>
          <a:noFill/>
          <a:ln w="15478" cap="rnd">
            <a:solidFill>
              <a:srgbClr val="A8F0F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5" name="tmao_component_oval_10"/>
          <p:cNvSpPr/>
          <p:nvPr/>
        </p:nvSpPr>
        <p:spPr>
          <a:xfrm>
            <a:off x="649605" y="4234475"/>
            <a:ext cx="148590" cy="164094"/>
          </a:xfrm>
          <a:prstGeom prst="ellipse">
            <a:avLst/>
          </a:prstGeom>
          <a:gradFill rotWithShape="1">
            <a:gsLst>
              <a:gs pos="0">
                <a:srgbClr val="BFEDF6"/>
              </a:gs>
              <a:gs pos="30000">
                <a:srgbClr val="40C8E2"/>
              </a:gs>
              <a:gs pos="67000">
                <a:srgbClr val="00B6D9"/>
              </a:gs>
              <a:gs pos="100000">
                <a:srgbClr val="0593B4"/>
              </a:gs>
            </a:gsLst>
            <a:lin ang="3300000" scaled="1"/>
          </a:gradFill>
          <a:ln w="8048">
            <a:solidFill>
              <a:srgbClr val="087D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6" name="tmao_component_oval_11"/>
          <p:cNvSpPr/>
          <p:nvPr/>
        </p:nvSpPr>
        <p:spPr>
          <a:xfrm>
            <a:off x="685267" y="4264832"/>
            <a:ext cx="38633" cy="30357"/>
          </a:xfrm>
          <a:prstGeom prst="ellipse">
            <a:avLst/>
          </a:prstGeom>
          <a:solidFill>
            <a:srgbClr val="BD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7" name="tmao_component_oval_12"/>
          <p:cNvSpPr/>
          <p:nvPr/>
        </p:nvSpPr>
        <p:spPr>
          <a:xfrm>
            <a:off x="661988" y="4002009"/>
            <a:ext cx="123825" cy="136745"/>
          </a:xfrm>
          <a:prstGeom prst="ellipse">
            <a:avLst/>
          </a:prstGeom>
          <a:gradFill rotWithShape="1">
            <a:gsLst>
              <a:gs pos="0">
                <a:srgbClr val="BFEDF6"/>
              </a:gs>
              <a:gs pos="30000">
                <a:srgbClr val="40C8E2"/>
              </a:gs>
              <a:gs pos="67000">
                <a:srgbClr val="00B6D9"/>
              </a:gs>
              <a:gs pos="100000">
                <a:srgbClr val="0593B4"/>
              </a:gs>
            </a:gsLst>
            <a:lin ang="3300000" scaled="1"/>
          </a:gradFill>
          <a:ln w="8048">
            <a:solidFill>
              <a:srgbClr val="087D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8" name="tmao_component_oval_13"/>
          <p:cNvSpPr/>
          <p:nvPr/>
        </p:nvSpPr>
        <p:spPr>
          <a:xfrm>
            <a:off x="691706" y="4027307"/>
            <a:ext cx="32194" cy="25298"/>
          </a:xfrm>
          <a:prstGeom prst="ellipse">
            <a:avLst/>
          </a:prstGeom>
          <a:solidFill>
            <a:srgbClr val="BD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9" name="tmao_component_oval_14"/>
          <p:cNvSpPr/>
          <p:nvPr/>
        </p:nvSpPr>
        <p:spPr>
          <a:xfrm>
            <a:off x="503492" y="4363015"/>
            <a:ext cx="123825" cy="136745"/>
          </a:xfrm>
          <a:prstGeom prst="ellipse">
            <a:avLst/>
          </a:prstGeom>
          <a:gradFill rotWithShape="1">
            <a:gsLst>
              <a:gs pos="0">
                <a:srgbClr val="BFEDF6"/>
              </a:gs>
              <a:gs pos="30000">
                <a:srgbClr val="40C8E2"/>
              </a:gs>
              <a:gs pos="67000">
                <a:srgbClr val="00B6D9"/>
              </a:gs>
              <a:gs pos="100000">
                <a:srgbClr val="0593B4"/>
              </a:gs>
            </a:gsLst>
            <a:lin ang="3300000" scaled="1"/>
          </a:gradFill>
          <a:ln w="8048">
            <a:solidFill>
              <a:srgbClr val="087D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0" name="tmao_component_oval_15"/>
          <p:cNvSpPr/>
          <p:nvPr/>
        </p:nvSpPr>
        <p:spPr>
          <a:xfrm>
            <a:off x="533210" y="4388313"/>
            <a:ext cx="32194" cy="25298"/>
          </a:xfrm>
          <a:prstGeom prst="ellipse">
            <a:avLst/>
          </a:prstGeom>
          <a:solidFill>
            <a:srgbClr val="BD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1" name="tmao_component_oval_16"/>
          <p:cNvSpPr/>
          <p:nvPr/>
        </p:nvSpPr>
        <p:spPr>
          <a:xfrm>
            <a:off x="820484" y="4363015"/>
            <a:ext cx="123825" cy="136745"/>
          </a:xfrm>
          <a:prstGeom prst="ellipse">
            <a:avLst/>
          </a:prstGeom>
          <a:gradFill rotWithShape="1">
            <a:gsLst>
              <a:gs pos="0">
                <a:srgbClr val="BFEDF6"/>
              </a:gs>
              <a:gs pos="30000">
                <a:srgbClr val="40C8E2"/>
              </a:gs>
              <a:gs pos="67000">
                <a:srgbClr val="00B6D9"/>
              </a:gs>
              <a:gs pos="100000">
                <a:srgbClr val="0593B4"/>
              </a:gs>
            </a:gsLst>
            <a:lin ang="3300000" scaled="1"/>
          </a:gradFill>
          <a:ln w="8048">
            <a:solidFill>
              <a:srgbClr val="087D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2" name="tmao_component_oval_17"/>
          <p:cNvSpPr/>
          <p:nvPr/>
        </p:nvSpPr>
        <p:spPr>
          <a:xfrm>
            <a:off x="850201" y="4388313"/>
            <a:ext cx="32194" cy="25298"/>
          </a:xfrm>
          <a:prstGeom prst="ellipse">
            <a:avLst/>
          </a:prstGeom>
          <a:solidFill>
            <a:srgbClr val="BD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3" name="tmao_component_atom_18"/>
          <p:cNvSpPr txBox="1"/>
          <p:nvPr/>
        </p:nvSpPr>
        <p:spPr>
          <a:xfrm>
            <a:off x="649605" y="4218066"/>
            <a:ext cx="148590" cy="1859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80" b="0" i="0">
                <a:solidFill>
                  <a:srgbClr val="FFFFFF"/>
                </a:solidFill>
                <a:latin typeface="Arial"/>
              </a:rPr>
              <a:t>N</a:t>
            </a:r>
          </a:p>
        </p:txBody>
      </p:sp>
      <p:sp>
        <p:nvSpPr>
          <p:cNvPr id="734" name="scfa_component_path_1"/>
          <p:cNvSpPr/>
          <p:nvPr/>
        </p:nvSpPr>
        <p:spPr>
          <a:xfrm>
            <a:off x="543878" y="5718225"/>
            <a:ext cx="257175" cy="95"/>
          </a:xfrm>
          <a:custGeom>
            <a:avLst/>
            <a:gdLst/>
            <a:ahLst/>
            <a:cxnLst/>
            <a:rect l="0" t="0" r="r" b="b"/>
            <a:pathLst>
              <a:path w="257175" h="9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39303" cap="rnd">
            <a:solidFill>
              <a:srgbClr val="5F784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5" name="scfa_component_path_2"/>
          <p:cNvSpPr/>
          <p:nvPr/>
        </p:nvSpPr>
        <p:spPr>
          <a:xfrm>
            <a:off x="543878" y="5712635"/>
            <a:ext cx="257175" cy="95"/>
          </a:xfrm>
          <a:custGeom>
            <a:avLst/>
            <a:gdLst/>
            <a:ahLst/>
            <a:cxnLst/>
            <a:rect l="0" t="0" r="r" b="b"/>
            <a:pathLst>
              <a:path w="257175" h="9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75009" cap="rnd">
            <a:solidFill>
              <a:srgbClr val="BBD49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6" name="scfa_component_path_3"/>
          <p:cNvSpPr/>
          <p:nvPr/>
        </p:nvSpPr>
        <p:spPr>
          <a:xfrm>
            <a:off x="801052" y="5718225"/>
            <a:ext cx="265748" cy="95"/>
          </a:xfrm>
          <a:custGeom>
            <a:avLst/>
            <a:gdLst/>
            <a:ahLst/>
            <a:cxnLst/>
            <a:rect l="0" t="0" r="r" b="b"/>
            <a:pathLst>
              <a:path w="265748" h="95">
                <a:moveTo>
                  <a:pt x="0" y="0"/>
                </a:moveTo>
                <a:lnTo>
                  <a:pt x="265748" y="0"/>
                </a:lnTo>
              </a:path>
            </a:pathLst>
          </a:custGeom>
          <a:noFill/>
          <a:ln w="139303" cap="rnd">
            <a:solidFill>
              <a:srgbClr val="5F784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7" name="scfa_component_path_4"/>
          <p:cNvSpPr/>
          <p:nvPr/>
        </p:nvSpPr>
        <p:spPr>
          <a:xfrm>
            <a:off x="801052" y="5712635"/>
            <a:ext cx="265748" cy="95"/>
          </a:xfrm>
          <a:custGeom>
            <a:avLst/>
            <a:gdLst/>
            <a:ahLst/>
            <a:cxnLst/>
            <a:rect l="0" t="0" r="r" b="b"/>
            <a:pathLst>
              <a:path w="265748" h="95">
                <a:moveTo>
                  <a:pt x="0" y="0"/>
                </a:moveTo>
                <a:lnTo>
                  <a:pt x="265748" y="0"/>
                </a:lnTo>
              </a:path>
            </a:pathLst>
          </a:custGeom>
          <a:noFill/>
          <a:ln w="75009" cap="rnd">
            <a:solidFill>
              <a:srgbClr val="BBD49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8" name="scfa_component_oval_5"/>
          <p:cNvSpPr/>
          <p:nvPr/>
        </p:nvSpPr>
        <p:spPr>
          <a:xfrm>
            <a:off x="418719" y="5606433"/>
            <a:ext cx="250317" cy="223584"/>
          </a:xfrm>
          <a:prstGeom prst="ellipse">
            <a:avLst/>
          </a:prstGeom>
          <a:gradFill rotWithShape="1">
            <a:gsLst>
              <a:gs pos="0">
                <a:srgbClr val="E1ECC8"/>
              </a:gs>
              <a:gs pos="33000">
                <a:srgbClr val="AEC88E"/>
              </a:gs>
              <a:gs pos="72000">
                <a:srgbClr val="8AAE6A"/>
              </a:gs>
              <a:gs pos="100000">
                <a:srgbClr val="66864F"/>
              </a:gs>
            </a:gsLst>
            <a:lin ang="3300000" scaled="1"/>
          </a:gradFill>
          <a:ln w="16073">
            <a:solidFill>
              <a:srgbClr val="537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9" name="scfa_component_oval_6"/>
          <p:cNvSpPr/>
          <p:nvPr/>
        </p:nvSpPr>
        <p:spPr>
          <a:xfrm>
            <a:off x="475298" y="5641368"/>
            <a:ext cx="51435" cy="55896"/>
          </a:xfrm>
          <a:prstGeom prst="ellipse">
            <a:avLst/>
          </a:prstGeom>
          <a:solidFill>
            <a:srgbClr val="EAF1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0" name="scfa_component_oval_7"/>
          <p:cNvSpPr/>
          <p:nvPr/>
        </p:nvSpPr>
        <p:spPr>
          <a:xfrm>
            <a:off x="675894" y="5606433"/>
            <a:ext cx="250317" cy="223584"/>
          </a:xfrm>
          <a:prstGeom prst="ellipse">
            <a:avLst/>
          </a:prstGeom>
          <a:gradFill rotWithShape="1">
            <a:gsLst>
              <a:gs pos="0">
                <a:srgbClr val="E1ECC8"/>
              </a:gs>
              <a:gs pos="33000">
                <a:srgbClr val="AEC88E"/>
              </a:gs>
              <a:gs pos="72000">
                <a:srgbClr val="8AAE6A"/>
              </a:gs>
              <a:gs pos="100000">
                <a:srgbClr val="66864F"/>
              </a:gs>
            </a:gsLst>
            <a:lin ang="3300000" scaled="1"/>
          </a:gradFill>
          <a:ln w="16073">
            <a:solidFill>
              <a:srgbClr val="537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1" name="scfa_component_oval_8"/>
          <p:cNvSpPr/>
          <p:nvPr/>
        </p:nvSpPr>
        <p:spPr>
          <a:xfrm>
            <a:off x="732472" y="5641368"/>
            <a:ext cx="51435" cy="55896"/>
          </a:xfrm>
          <a:prstGeom prst="ellipse">
            <a:avLst/>
          </a:prstGeom>
          <a:solidFill>
            <a:srgbClr val="EAF1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2" name="scfa_component_oval_9"/>
          <p:cNvSpPr/>
          <p:nvPr/>
        </p:nvSpPr>
        <p:spPr>
          <a:xfrm>
            <a:off x="941642" y="5606433"/>
            <a:ext cx="250317" cy="223584"/>
          </a:xfrm>
          <a:prstGeom prst="ellipse">
            <a:avLst/>
          </a:prstGeom>
          <a:gradFill rotWithShape="1">
            <a:gsLst>
              <a:gs pos="0">
                <a:srgbClr val="E1ECC8"/>
              </a:gs>
              <a:gs pos="33000">
                <a:srgbClr val="AEC88E"/>
              </a:gs>
              <a:gs pos="72000">
                <a:srgbClr val="8AAE6A"/>
              </a:gs>
              <a:gs pos="100000">
                <a:srgbClr val="66864F"/>
              </a:gs>
            </a:gsLst>
            <a:lin ang="3300000" scaled="1"/>
          </a:gradFill>
          <a:ln w="16073">
            <a:solidFill>
              <a:srgbClr val="537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3" name="scfa_component_oval_10"/>
          <p:cNvSpPr/>
          <p:nvPr/>
        </p:nvSpPr>
        <p:spPr>
          <a:xfrm>
            <a:off x="998220" y="5641368"/>
            <a:ext cx="51435" cy="55896"/>
          </a:xfrm>
          <a:prstGeom prst="ellipse">
            <a:avLst/>
          </a:prstGeom>
          <a:solidFill>
            <a:srgbClr val="EAF1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4" name="secondary_ba_component_path_1"/>
          <p:cNvSpPr/>
          <p:nvPr/>
        </p:nvSpPr>
        <p:spPr>
          <a:xfrm>
            <a:off x="439784" y="7234640"/>
            <a:ext cx="139620" cy="167794"/>
          </a:xfrm>
          <a:custGeom>
            <a:avLst/>
            <a:gdLst/>
            <a:ahLst/>
            <a:cxnLst/>
            <a:rect l="0" t="0" r="r" b="b"/>
            <a:pathLst>
              <a:path w="139620" h="167794">
                <a:moveTo>
                  <a:pt x="0" y="42841"/>
                </a:moveTo>
                <a:lnTo>
                  <a:pt x="72396" y="0"/>
                </a:lnTo>
                <a:lnTo>
                  <a:pt x="139620" y="42841"/>
                </a:lnTo>
                <a:lnTo>
                  <a:pt x="139620" y="124953"/>
                </a:lnTo>
                <a:lnTo>
                  <a:pt x="72396" y="167794"/>
                </a:lnTo>
                <a:lnTo>
                  <a:pt x="0" y="12495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5" name="secondary_ba_component_path_2"/>
          <p:cNvSpPr/>
          <p:nvPr/>
        </p:nvSpPr>
        <p:spPr>
          <a:xfrm>
            <a:off x="447338" y="7243140"/>
            <a:ext cx="64842" cy="39866"/>
          </a:xfrm>
          <a:custGeom>
            <a:avLst/>
            <a:gdLst/>
            <a:ahLst/>
            <a:cxnLst/>
            <a:rect l="0" t="0" r="r" b="b"/>
            <a:pathLst>
              <a:path w="64842" h="39866">
                <a:moveTo>
                  <a:pt x="0" y="39866"/>
                </a:moveTo>
                <a:lnTo>
                  <a:pt x="64842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6" name="secondary_ba_component_path_3"/>
          <p:cNvSpPr/>
          <p:nvPr/>
        </p:nvSpPr>
        <p:spPr>
          <a:xfrm>
            <a:off x="579405" y="7234640"/>
            <a:ext cx="134449" cy="167794"/>
          </a:xfrm>
          <a:custGeom>
            <a:avLst/>
            <a:gdLst/>
            <a:ahLst/>
            <a:cxnLst/>
            <a:rect l="0" t="0" r="r" b="b"/>
            <a:pathLst>
              <a:path w="134449" h="167794">
                <a:moveTo>
                  <a:pt x="0" y="42841"/>
                </a:moveTo>
                <a:lnTo>
                  <a:pt x="67225" y="0"/>
                </a:lnTo>
                <a:lnTo>
                  <a:pt x="134449" y="42841"/>
                </a:lnTo>
                <a:lnTo>
                  <a:pt x="134449" y="124953"/>
                </a:lnTo>
                <a:lnTo>
                  <a:pt x="67225" y="167794"/>
                </a:lnTo>
                <a:lnTo>
                  <a:pt x="0" y="12495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7" name="secondary_ba_component_path_4"/>
          <p:cNvSpPr/>
          <p:nvPr/>
        </p:nvSpPr>
        <p:spPr>
          <a:xfrm>
            <a:off x="586958" y="7243140"/>
            <a:ext cx="59671" cy="39866"/>
          </a:xfrm>
          <a:custGeom>
            <a:avLst/>
            <a:gdLst/>
            <a:ahLst/>
            <a:cxnLst/>
            <a:rect l="0" t="0" r="r" b="b"/>
            <a:pathLst>
              <a:path w="59671" h="39866">
                <a:moveTo>
                  <a:pt x="0" y="39866"/>
                </a:moveTo>
                <a:lnTo>
                  <a:pt x="59671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8" name="secondary_ba_component_path_5"/>
          <p:cNvSpPr/>
          <p:nvPr/>
        </p:nvSpPr>
        <p:spPr>
          <a:xfrm>
            <a:off x="579405" y="7145388"/>
            <a:ext cx="144791" cy="174934"/>
          </a:xfrm>
          <a:custGeom>
            <a:avLst/>
            <a:gdLst/>
            <a:ahLst/>
            <a:cxnLst/>
            <a:rect l="0" t="0" r="r" b="b"/>
            <a:pathLst>
              <a:path w="144791" h="174934">
                <a:moveTo>
                  <a:pt x="0" y="46411"/>
                </a:moveTo>
                <a:lnTo>
                  <a:pt x="77567" y="0"/>
                </a:lnTo>
                <a:lnTo>
                  <a:pt x="144791" y="46411"/>
                </a:lnTo>
                <a:lnTo>
                  <a:pt x="144791" y="128523"/>
                </a:lnTo>
                <a:lnTo>
                  <a:pt x="77567" y="174934"/>
                </a:lnTo>
                <a:lnTo>
                  <a:pt x="0" y="13209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9" name="secondary_ba_component_path_6"/>
          <p:cNvSpPr/>
          <p:nvPr/>
        </p:nvSpPr>
        <p:spPr>
          <a:xfrm>
            <a:off x="586958" y="7153888"/>
            <a:ext cx="70014" cy="43436"/>
          </a:xfrm>
          <a:custGeom>
            <a:avLst/>
            <a:gdLst/>
            <a:ahLst/>
            <a:cxnLst/>
            <a:rect l="0" t="0" r="r" b="b"/>
            <a:pathLst>
              <a:path w="70014" h="43436">
                <a:moveTo>
                  <a:pt x="0" y="43436"/>
                </a:moveTo>
                <a:lnTo>
                  <a:pt x="70014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0" name="secondary_ba_component_path_7"/>
          <p:cNvSpPr/>
          <p:nvPr/>
        </p:nvSpPr>
        <p:spPr>
          <a:xfrm>
            <a:off x="724196" y="7141818"/>
            <a:ext cx="134449" cy="178504"/>
          </a:xfrm>
          <a:custGeom>
            <a:avLst/>
            <a:gdLst/>
            <a:ahLst/>
            <a:cxnLst/>
            <a:rect l="0" t="0" r="r" b="b"/>
            <a:pathLst>
              <a:path w="134449" h="178504">
                <a:moveTo>
                  <a:pt x="0" y="46411"/>
                </a:moveTo>
                <a:lnTo>
                  <a:pt x="67225" y="0"/>
                </a:lnTo>
                <a:lnTo>
                  <a:pt x="134449" y="46411"/>
                </a:lnTo>
                <a:lnTo>
                  <a:pt x="134449" y="132093"/>
                </a:lnTo>
                <a:lnTo>
                  <a:pt x="67225" y="178504"/>
                </a:lnTo>
                <a:lnTo>
                  <a:pt x="0" y="13209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1" name="secondary_ba_component_path_8"/>
          <p:cNvSpPr/>
          <p:nvPr/>
        </p:nvSpPr>
        <p:spPr>
          <a:xfrm>
            <a:off x="731750" y="7150318"/>
            <a:ext cx="59671" cy="43436"/>
          </a:xfrm>
          <a:custGeom>
            <a:avLst/>
            <a:gdLst/>
            <a:ahLst/>
            <a:cxnLst/>
            <a:rect l="0" t="0" r="r" b="b"/>
            <a:pathLst>
              <a:path w="59671" h="43436">
                <a:moveTo>
                  <a:pt x="0" y="43436"/>
                </a:moveTo>
                <a:lnTo>
                  <a:pt x="59671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2" name="secondary_ba_component_path_9"/>
          <p:cNvSpPr/>
          <p:nvPr/>
        </p:nvSpPr>
        <p:spPr>
          <a:xfrm>
            <a:off x="858645" y="7145388"/>
            <a:ext cx="108594" cy="128523"/>
          </a:xfrm>
          <a:custGeom>
            <a:avLst/>
            <a:gdLst/>
            <a:ahLst/>
            <a:cxnLst/>
            <a:rect l="0" t="0" r="r" b="b"/>
            <a:pathLst>
              <a:path w="108594" h="128523">
                <a:moveTo>
                  <a:pt x="0" y="39271"/>
                </a:moveTo>
                <a:lnTo>
                  <a:pt x="56882" y="0"/>
                </a:lnTo>
                <a:lnTo>
                  <a:pt x="108594" y="39271"/>
                </a:lnTo>
                <a:lnTo>
                  <a:pt x="108594" y="117812"/>
                </a:lnTo>
                <a:lnTo>
                  <a:pt x="0" y="128523"/>
                </a:lnTo>
                <a:close/>
              </a:path>
            </a:pathLst>
          </a:custGeom>
          <a:gradFill rotWithShape="1">
            <a:gsLst>
              <a:gs pos="0">
                <a:srgbClr val="FFF1CF"/>
              </a:gs>
              <a:gs pos="55000">
                <a:srgbClr val="F5D19A"/>
              </a:gs>
              <a:gs pos="100000">
                <a:srgbClr val="E9AE62"/>
              </a:gs>
            </a:gsLst>
            <a:lin ang="4500000" scaled="1"/>
          </a:gradFill>
          <a:ln w="11620" cap="rnd">
            <a:solidFill>
              <a:srgbClr val="BD792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3" name="secondary_ba_component_path_10"/>
          <p:cNvSpPr/>
          <p:nvPr/>
        </p:nvSpPr>
        <p:spPr>
          <a:xfrm>
            <a:off x="866199" y="7153888"/>
            <a:ext cx="49329" cy="36296"/>
          </a:xfrm>
          <a:custGeom>
            <a:avLst/>
            <a:gdLst/>
            <a:ahLst/>
            <a:cxnLst/>
            <a:rect l="0" t="0" r="r" b="b"/>
            <a:pathLst>
              <a:path w="49329" h="36296">
                <a:moveTo>
                  <a:pt x="0" y="36296"/>
                </a:moveTo>
                <a:lnTo>
                  <a:pt x="49329" y="0"/>
                </a:lnTo>
              </a:path>
            </a:pathLst>
          </a:custGeom>
          <a:noFill/>
          <a:ln w="11620" cap="rnd">
            <a:solidFill>
              <a:srgbClr val="FFEB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4" name="secondary_ba_component_path_11"/>
          <p:cNvSpPr/>
          <p:nvPr/>
        </p:nvSpPr>
        <p:spPr>
          <a:xfrm>
            <a:off x="915528" y="7084696"/>
            <a:ext cx="95" cy="60691"/>
          </a:xfrm>
          <a:custGeom>
            <a:avLst/>
            <a:gdLst/>
            <a:ahLst/>
            <a:cxnLst/>
            <a:rect l="0" t="0" r="r" b="b"/>
            <a:pathLst>
              <a:path w="95" h="60691">
                <a:moveTo>
                  <a:pt x="0" y="60691"/>
                </a:moveTo>
                <a:lnTo>
                  <a:pt x="0" y="0"/>
                </a:lnTo>
              </a:path>
            </a:pathLst>
          </a:custGeom>
          <a:noFill/>
          <a:ln w="13073" cap="rnd">
            <a:solidFill>
              <a:srgbClr val="B87A3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5" name="secondary_ba_component_path_12"/>
          <p:cNvSpPr/>
          <p:nvPr/>
        </p:nvSpPr>
        <p:spPr>
          <a:xfrm>
            <a:off x="631116" y="7256060"/>
            <a:ext cx="25856" cy="14280"/>
          </a:xfrm>
          <a:custGeom>
            <a:avLst/>
            <a:gdLst/>
            <a:ahLst/>
            <a:cxnLst/>
            <a:rect l="0" t="0" r="r" b="b"/>
            <a:pathLst>
              <a:path w="25856" h="14280">
                <a:moveTo>
                  <a:pt x="0" y="14280"/>
                </a:moveTo>
                <a:lnTo>
                  <a:pt x="25856" y="0"/>
                </a:lnTo>
              </a:path>
            </a:pathLst>
          </a:custGeom>
          <a:noFill/>
          <a:ln w="17430" cap="rnd">
            <a:solidFill>
              <a:srgbClr val="CE8C3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6" name="indole_component_path_1"/>
          <p:cNvSpPr/>
          <p:nvPr/>
        </p:nvSpPr>
        <p:spPr>
          <a:xfrm>
            <a:off x="454563" y="7763469"/>
            <a:ext cx="235367" cy="285767"/>
          </a:xfrm>
          <a:custGeom>
            <a:avLst/>
            <a:gdLst/>
            <a:ahLst/>
            <a:cxnLst/>
            <a:rect l="0" t="0" r="r" b="b"/>
            <a:pathLst>
              <a:path w="235367" h="285767">
                <a:moveTo>
                  <a:pt x="0" y="72346"/>
                </a:moveTo>
                <a:lnTo>
                  <a:pt x="122042" y="0"/>
                </a:lnTo>
                <a:lnTo>
                  <a:pt x="235367" y="72346"/>
                </a:lnTo>
                <a:lnTo>
                  <a:pt x="235367" y="213421"/>
                </a:lnTo>
                <a:lnTo>
                  <a:pt x="122042" y="285767"/>
                </a:lnTo>
                <a:lnTo>
                  <a:pt x="0" y="213421"/>
                </a:lnTo>
                <a:close/>
              </a:path>
            </a:pathLst>
          </a:custGeom>
          <a:gradFill rotWithShape="1">
            <a:gsLst>
              <a:gs pos="0">
                <a:srgbClr val="E8DCF0"/>
              </a:gs>
              <a:gs pos="100000">
                <a:srgbClr val="BCA2D8"/>
              </a:gs>
            </a:gsLst>
            <a:lin ang="3900000" scaled="1"/>
          </a:gradFill>
          <a:ln w="11763" cap="rnd">
            <a:solidFill>
              <a:srgbClr val="60419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7" name="indole_component_path_2"/>
          <p:cNvSpPr/>
          <p:nvPr/>
        </p:nvSpPr>
        <p:spPr>
          <a:xfrm>
            <a:off x="689930" y="7796025"/>
            <a:ext cx="196139" cy="227890"/>
          </a:xfrm>
          <a:custGeom>
            <a:avLst/>
            <a:gdLst/>
            <a:ahLst/>
            <a:cxnLst/>
            <a:rect l="0" t="0" r="r" b="b"/>
            <a:pathLst>
              <a:path w="196139" h="227890">
                <a:moveTo>
                  <a:pt x="0" y="39790"/>
                </a:moveTo>
                <a:lnTo>
                  <a:pt x="117683" y="0"/>
                </a:lnTo>
                <a:lnTo>
                  <a:pt x="196139" y="119371"/>
                </a:lnTo>
                <a:lnTo>
                  <a:pt x="113325" y="227890"/>
                </a:lnTo>
                <a:lnTo>
                  <a:pt x="0" y="180865"/>
                </a:lnTo>
                <a:close/>
              </a:path>
            </a:pathLst>
          </a:custGeom>
          <a:gradFill rotWithShape="1">
            <a:gsLst>
              <a:gs pos="0">
                <a:srgbClr val="E8DCF0"/>
              </a:gs>
              <a:gs pos="100000">
                <a:srgbClr val="BCA2D8"/>
              </a:gs>
            </a:gsLst>
            <a:lin ang="3900000" scaled="1"/>
          </a:gradFill>
          <a:ln w="11763" cap="rnd">
            <a:solidFill>
              <a:srgbClr val="60419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8" name="indole_component_path_3"/>
          <p:cNvSpPr/>
          <p:nvPr/>
        </p:nvSpPr>
        <p:spPr>
          <a:xfrm>
            <a:off x="480715" y="7799642"/>
            <a:ext cx="82814" cy="50642"/>
          </a:xfrm>
          <a:custGeom>
            <a:avLst/>
            <a:gdLst/>
            <a:ahLst/>
            <a:cxnLst/>
            <a:rect l="0" t="0" r="r" b="b"/>
            <a:pathLst>
              <a:path w="82814" h="50642">
                <a:moveTo>
                  <a:pt x="0" y="50642"/>
                </a:moveTo>
                <a:lnTo>
                  <a:pt x="82814" y="0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9" name="indole_component_path_4"/>
          <p:cNvSpPr/>
          <p:nvPr/>
        </p:nvSpPr>
        <p:spPr>
          <a:xfrm>
            <a:off x="602757" y="7799642"/>
            <a:ext cx="61021" cy="43408"/>
          </a:xfrm>
          <a:custGeom>
            <a:avLst/>
            <a:gdLst/>
            <a:ahLst/>
            <a:cxnLst/>
            <a:rect l="0" t="0" r="r" b="b"/>
            <a:pathLst>
              <a:path w="61021" h="43408">
                <a:moveTo>
                  <a:pt x="0" y="0"/>
                </a:moveTo>
                <a:lnTo>
                  <a:pt x="61021" y="43408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0" name="indole_component_path_5"/>
          <p:cNvSpPr/>
          <p:nvPr/>
        </p:nvSpPr>
        <p:spPr>
          <a:xfrm>
            <a:off x="480715" y="7879223"/>
            <a:ext cx="95" cy="83198"/>
          </a:xfrm>
          <a:custGeom>
            <a:avLst/>
            <a:gdLst/>
            <a:ahLst/>
            <a:cxnLst/>
            <a:rect l="0" t="0" r="r" b="b"/>
            <a:pathLst>
              <a:path w="95" h="83198">
                <a:moveTo>
                  <a:pt x="0" y="0"/>
                </a:moveTo>
                <a:lnTo>
                  <a:pt x="0" y="83198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1" name="indole_component_path_6"/>
          <p:cNvSpPr/>
          <p:nvPr/>
        </p:nvSpPr>
        <p:spPr>
          <a:xfrm>
            <a:off x="602757" y="7980508"/>
            <a:ext cx="61021" cy="36173"/>
          </a:xfrm>
          <a:custGeom>
            <a:avLst/>
            <a:gdLst/>
            <a:ahLst/>
            <a:cxnLst/>
            <a:rect l="0" t="0" r="r" b="b"/>
            <a:pathLst>
              <a:path w="61021" h="36173">
                <a:moveTo>
                  <a:pt x="0" y="36173"/>
                </a:moveTo>
                <a:lnTo>
                  <a:pt x="61021" y="0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2" name="indole_component_path_7"/>
          <p:cNvSpPr/>
          <p:nvPr/>
        </p:nvSpPr>
        <p:spPr>
          <a:xfrm>
            <a:off x="803255" y="7839433"/>
            <a:ext cx="47945" cy="72346"/>
          </a:xfrm>
          <a:custGeom>
            <a:avLst/>
            <a:gdLst/>
            <a:ahLst/>
            <a:cxnLst/>
            <a:rect l="0" t="0" r="r" b="b"/>
            <a:pathLst>
              <a:path w="47945" h="72346">
                <a:moveTo>
                  <a:pt x="0" y="0"/>
                </a:moveTo>
                <a:lnTo>
                  <a:pt x="47945" y="72346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3" name="indole_component_path_8"/>
          <p:cNvSpPr/>
          <p:nvPr/>
        </p:nvSpPr>
        <p:spPr>
          <a:xfrm>
            <a:off x="811972" y="7947952"/>
            <a:ext cx="34869" cy="50642"/>
          </a:xfrm>
          <a:custGeom>
            <a:avLst/>
            <a:gdLst/>
            <a:ahLst/>
            <a:cxnLst/>
            <a:rect l="0" t="0" r="r" b="b"/>
            <a:pathLst>
              <a:path w="34869" h="50642">
                <a:moveTo>
                  <a:pt x="34869" y="0"/>
                </a:moveTo>
                <a:lnTo>
                  <a:pt x="0" y="50642"/>
                </a:lnTo>
              </a:path>
            </a:pathLst>
          </a:custGeom>
          <a:noFill/>
          <a:ln w="10525" cap="rnd">
            <a:solidFill>
              <a:srgbClr val="614396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4" name="indole_component_atom_9"/>
          <p:cNvSpPr txBox="1"/>
          <p:nvPr/>
        </p:nvSpPr>
        <p:spPr>
          <a:xfrm>
            <a:off x="790575" y="8019067"/>
            <a:ext cx="89154" cy="923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969" b="0" i="0">
                <a:solidFill>
                  <a:srgbClr val="57388E"/>
                </a:solidFill>
                <a:latin typeface="Arial"/>
              </a:rPr>
              <a:t>N</a:t>
            </a:r>
          </a:p>
        </p:txBody>
      </p:sp>
      <p:sp>
        <p:nvSpPr>
          <p:cNvPr id="765" name="circulating_tmao_oxygen_label"/>
          <p:cNvSpPr txBox="1"/>
          <p:nvPr/>
        </p:nvSpPr>
        <p:spPr>
          <a:xfrm>
            <a:off x="953223" y="4073632"/>
            <a:ext cx="135712" cy="135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60" b="1" i="0">
                <a:solidFill>
                  <a:srgbClr val="FFFFFF"/>
                </a:solidFill>
                <a:latin typeface="Times New Roman"/>
              </a:rPr>
              <a:t>O</a:t>
            </a:r>
          </a:p>
        </p:txBody>
      </p:sp>
      <p:sp>
        <p:nvSpPr>
          <p:cNvPr id="766" name="circulating_tmao_oxygen_charge"/>
          <p:cNvSpPr txBox="1"/>
          <p:nvPr/>
        </p:nvSpPr>
        <p:spPr>
          <a:xfrm>
            <a:off x="1079591" y="4017560"/>
            <a:ext cx="84108" cy="112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10" b="1" i="0">
                <a:solidFill>
                  <a:srgbClr val="23364A"/>
                </a:solidFill>
                <a:latin typeface="Times New Roman"/>
              </a:rPr>
              <a:t>−</a:t>
            </a:r>
          </a:p>
        </p:txBody>
      </p:sp>
      <p:sp>
        <p:nvSpPr>
          <p:cNvPr id="767" name="circulating_tmao_nitrogen_charge"/>
          <p:cNvSpPr txBox="1"/>
          <p:nvPr/>
        </p:nvSpPr>
        <p:spPr>
          <a:xfrm>
            <a:off x="799186" y="4216425"/>
            <a:ext cx="84108" cy="112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810" b="1" i="0">
                <a:solidFill>
                  <a:srgbClr val="23364A"/>
                </a:solidFill>
                <a:latin typeface="Times New Roman"/>
              </a:rPr>
              <a:t>+</a:t>
            </a:r>
          </a:p>
        </p:txBody>
      </p:sp>
      <p:sp>
        <p:nvSpPr>
          <p:cNvPr id="768" name="label_lps"/>
          <p:cNvSpPr txBox="1"/>
          <p:nvPr/>
        </p:nvSpPr>
        <p:spPr>
          <a:xfrm>
            <a:off x="266700" y="714375"/>
            <a:ext cx="1438275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90" b="1" i="0">
                <a:solidFill>
                  <a:srgbClr val="A82D2A"/>
                </a:solidFill>
                <a:latin typeface="Times New Roman"/>
              </a:rPr>
              <a:t>Circulating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90" b="1" i="0">
                <a:solidFill>
                  <a:srgbClr val="A82D2A"/>
                </a:solidFill>
                <a:latin typeface="Times New Roman"/>
              </a:rPr>
              <a:t>LPS (MAMP)</a:t>
            </a:r>
          </a:p>
        </p:txBody>
      </p:sp>
      <p:sp>
        <p:nvSpPr>
          <p:cNvPr id="769" name="label_hmgb1"/>
          <p:cNvSpPr txBox="1"/>
          <p:nvPr/>
        </p:nvSpPr>
        <p:spPr>
          <a:xfrm>
            <a:off x="266700" y="1809750"/>
            <a:ext cx="1476375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65" b="1" i="0">
                <a:solidFill>
                  <a:srgbClr val="A82D2A"/>
                </a:solidFill>
                <a:latin typeface="Times New Roman"/>
              </a:rPr>
              <a:t>Host-derived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65" b="1" i="0">
                <a:solidFill>
                  <a:srgbClr val="A82D2A"/>
                </a:solidFill>
                <a:latin typeface="Times New Roman"/>
              </a:rPr>
              <a:t>HMGB1 (DAMP)</a:t>
            </a:r>
          </a:p>
        </p:txBody>
      </p:sp>
      <p:sp>
        <p:nvSpPr>
          <p:cNvPr id="770" name="label_tlr4"/>
          <p:cNvSpPr txBox="1"/>
          <p:nvPr/>
        </p:nvSpPr>
        <p:spPr>
          <a:xfrm>
            <a:off x="3028950" y="314325"/>
            <a:ext cx="1257300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875" b="1" i="0">
                <a:solidFill>
                  <a:srgbClr val="A82D2A"/>
                </a:solidFill>
                <a:latin typeface="Times New Roman"/>
              </a:rPr>
              <a:t>TLR4</a:t>
            </a:r>
          </a:p>
        </p:txBody>
      </p:sp>
      <p:sp>
        <p:nvSpPr>
          <p:cNvPr id="771" name="node_myd88"/>
          <p:cNvSpPr txBox="1"/>
          <p:nvPr/>
        </p:nvSpPr>
        <p:spPr>
          <a:xfrm>
            <a:off x="2867025" y="1905000"/>
            <a:ext cx="17049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A82D2A"/>
                </a:solidFill>
                <a:latin typeface="Times New Roman"/>
              </a:rPr>
              <a:t>MyD88 / TRIF</a:t>
            </a:r>
          </a:p>
        </p:txBody>
      </p:sp>
      <p:sp>
        <p:nvSpPr>
          <p:cNvPr id="772" name="node_nfkb"/>
          <p:cNvSpPr txBox="1"/>
          <p:nvPr/>
        </p:nvSpPr>
        <p:spPr>
          <a:xfrm>
            <a:off x="2867025" y="2324100"/>
            <a:ext cx="17049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A82D2A"/>
                </a:solidFill>
                <a:latin typeface="Times New Roman"/>
              </a:rPr>
              <a:t>NF-κB / MAPK</a:t>
            </a:r>
          </a:p>
        </p:txBody>
      </p:sp>
      <p:sp>
        <p:nvSpPr>
          <p:cNvPr id="773" name="node_cytokines"/>
          <p:cNvSpPr txBox="1"/>
          <p:nvPr/>
        </p:nvSpPr>
        <p:spPr>
          <a:xfrm>
            <a:off x="2828925" y="2705100"/>
            <a:ext cx="1781175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A82D2A"/>
                </a:solidFill>
                <a:latin typeface="Times New Roman"/>
              </a:rPr>
              <a:t>Cytokines /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A82D2A"/>
                </a:solidFill>
                <a:latin typeface="Times New Roman"/>
              </a:rPr>
              <a:t>chemokines</a:t>
            </a:r>
          </a:p>
        </p:txBody>
      </p:sp>
      <p:sp>
        <p:nvSpPr>
          <p:cNvPr id="774" name="node_inflammatory_output"/>
          <p:cNvSpPr txBox="1"/>
          <p:nvPr/>
        </p:nvSpPr>
        <p:spPr>
          <a:xfrm>
            <a:off x="5476875" y="2581275"/>
            <a:ext cx="2381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A82D2A"/>
                </a:solidFill>
                <a:latin typeface="Times New Roman"/>
              </a:rPr>
              <a:t>Endothelial activation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A82D2A"/>
                </a:solidFill>
                <a:latin typeface="Times New Roman"/>
              </a:rPr>
              <a:t>&amp; perivascular inflammation</a:t>
            </a:r>
          </a:p>
        </p:txBody>
      </p:sp>
      <p:sp>
        <p:nvSpPr>
          <p:cNvPr id="775" name="label_bmpr2"/>
          <p:cNvSpPr txBox="1"/>
          <p:nvPr/>
        </p:nvSpPr>
        <p:spPr>
          <a:xfrm>
            <a:off x="4867275" y="838200"/>
            <a:ext cx="302895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1" i="0">
                <a:solidFill>
                  <a:srgbClr val="23364A"/>
                </a:solidFill>
                <a:latin typeface="Times New Roman"/>
              </a:rPr>
              <a:t>BMPR2 deficiency amplifies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1" i="0">
                <a:solidFill>
                  <a:srgbClr val="23364A"/>
                </a:solidFill>
                <a:latin typeface="Times New Roman"/>
              </a:rPr>
              <a:t>LPS-induced inflammatory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1" i="0">
                <a:solidFill>
                  <a:srgbClr val="23364A"/>
                </a:solidFill>
                <a:latin typeface="Times New Roman"/>
              </a:rPr>
              <a:t>responses</a:t>
            </a:r>
          </a:p>
        </p:txBody>
      </p:sp>
      <p:sp>
        <p:nvSpPr>
          <p:cNvPr id="776" name="label_bmpr2_context"/>
          <p:cNvSpPr txBox="1"/>
          <p:nvPr/>
        </p:nvSpPr>
        <p:spPr>
          <a:xfrm>
            <a:off x="4867275" y="1685925"/>
            <a:ext cx="2085975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90" b="0" i="1">
                <a:solidFill>
                  <a:srgbClr val="627588"/>
                </a:solidFill>
                <a:latin typeface="Times New Roman"/>
              </a:rPr>
              <a:t>Experimental PH</a:t>
            </a:r>
          </a:p>
        </p:txBody>
      </p:sp>
      <p:sp>
        <p:nvSpPr>
          <p:cNvPr id="777" name="label_tmao"/>
          <p:cNvSpPr txBox="1"/>
          <p:nvPr/>
        </p:nvSpPr>
        <p:spPr>
          <a:xfrm>
            <a:off x="266700" y="3419475"/>
            <a:ext cx="2114550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25" b="1" i="0">
                <a:solidFill>
                  <a:srgbClr val="7254A8"/>
                </a:solidFill>
                <a:latin typeface="Times New Roman"/>
              </a:rPr>
              <a:t>Circulating TMAO</a:t>
            </a:r>
          </a:p>
        </p:txBody>
      </p:sp>
      <p:sp>
        <p:nvSpPr>
          <p:cNvPr id="778" name="label_tmao_context"/>
          <p:cNvSpPr txBox="1"/>
          <p:nvPr/>
        </p:nvSpPr>
        <p:spPr>
          <a:xfrm>
            <a:off x="266700" y="3714750"/>
            <a:ext cx="2257425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45" b="0" i="1">
                <a:solidFill>
                  <a:srgbClr val="627588"/>
                </a:solidFill>
                <a:latin typeface="Times New Roman"/>
              </a:rPr>
              <a:t>Experimental PH / cell studies</a:t>
            </a:r>
          </a:p>
        </p:txBody>
      </p:sp>
      <p:sp>
        <p:nvSpPr>
          <p:cNvPr id="779" name="label_tmao_macrophage"/>
          <p:cNvSpPr txBox="1"/>
          <p:nvPr/>
        </p:nvSpPr>
        <p:spPr>
          <a:xfrm>
            <a:off x="2390775" y="4543425"/>
            <a:ext cx="131445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23364A"/>
                </a:solidFill>
                <a:latin typeface="Times New Roman"/>
              </a:rPr>
              <a:t>Macrophage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23364A"/>
                </a:solidFill>
                <a:latin typeface="Times New Roman"/>
              </a:rPr>
              <a:t>activation</a:t>
            </a:r>
          </a:p>
        </p:txBody>
      </p:sp>
      <p:sp>
        <p:nvSpPr>
          <p:cNvPr id="780" name="label_paracrine"/>
          <p:cNvSpPr txBox="1"/>
          <p:nvPr/>
        </p:nvSpPr>
        <p:spPr>
          <a:xfrm>
            <a:off x="4124325" y="4543425"/>
            <a:ext cx="131445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7254A8"/>
                </a:solidFill>
                <a:latin typeface="Times New Roman"/>
              </a:rPr>
              <a:t>Paracrine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7254A8"/>
                </a:solidFill>
                <a:latin typeface="Times New Roman"/>
              </a:rPr>
              <a:t>mediators</a:t>
            </a:r>
          </a:p>
        </p:txBody>
      </p:sp>
      <p:sp>
        <p:nvSpPr>
          <p:cNvPr id="781" name="node_pasmsc"/>
          <p:cNvSpPr txBox="1"/>
          <p:nvPr/>
        </p:nvSpPr>
        <p:spPr>
          <a:xfrm>
            <a:off x="6067425" y="3857625"/>
            <a:ext cx="183832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00" b="1" i="0">
                <a:solidFill>
                  <a:srgbClr val="7254A8"/>
                </a:solidFill>
                <a:latin typeface="Times New Roman"/>
              </a:rPr>
              <a:t>PASMC proliferation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00" b="1" i="0">
                <a:solidFill>
                  <a:srgbClr val="7254A8"/>
                </a:solidFill>
                <a:latin typeface="Times New Roman"/>
              </a:rPr>
              <a:t>&amp; migration</a:t>
            </a:r>
          </a:p>
        </p:txBody>
      </p:sp>
      <p:sp>
        <p:nvSpPr>
          <p:cNvPr id="782" name="label_scfa"/>
          <p:cNvSpPr txBox="1"/>
          <p:nvPr/>
        </p:nvSpPr>
        <p:spPr>
          <a:xfrm>
            <a:off x="266700" y="5057775"/>
            <a:ext cx="12287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25" b="1" i="0">
                <a:solidFill>
                  <a:srgbClr val="2F7049"/>
                </a:solidFill>
                <a:latin typeface="Times New Roman"/>
              </a:rPr>
              <a:t>SCFAs</a:t>
            </a:r>
          </a:p>
        </p:txBody>
      </p:sp>
      <p:sp>
        <p:nvSpPr>
          <p:cNvPr id="783" name="label_ffar"/>
          <p:cNvSpPr txBox="1"/>
          <p:nvPr/>
        </p:nvSpPr>
        <p:spPr>
          <a:xfrm>
            <a:off x="2362200" y="4981575"/>
            <a:ext cx="12954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5" b="1" i="0">
                <a:solidFill>
                  <a:srgbClr val="2F7049"/>
                </a:solidFill>
                <a:latin typeface="Times New Roman"/>
              </a:rPr>
              <a:t>FFAR2/3</a:t>
            </a:r>
          </a:p>
        </p:txBody>
      </p:sp>
      <p:sp>
        <p:nvSpPr>
          <p:cNvPr id="784" name="node_myeloid"/>
          <p:cNvSpPr txBox="1"/>
          <p:nvPr/>
        </p:nvSpPr>
        <p:spPr>
          <a:xfrm>
            <a:off x="3857625" y="5105400"/>
            <a:ext cx="23622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15" b="1" i="0">
                <a:solidFill>
                  <a:srgbClr val="2F7049"/>
                </a:solidFill>
                <a:latin typeface="Times New Roman"/>
              </a:rPr>
              <a:t>Pulmonary myeloid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15" b="1" i="0">
                <a:solidFill>
                  <a:srgbClr val="2F7049"/>
                </a:solidFill>
                <a:latin typeface="Times New Roman"/>
              </a:rPr>
              <a:t>modulation</a:t>
            </a:r>
          </a:p>
        </p:txBody>
      </p:sp>
      <p:sp>
        <p:nvSpPr>
          <p:cNvPr id="785" name="label_butyrate"/>
          <p:cNvSpPr txBox="1"/>
          <p:nvPr/>
        </p:nvSpPr>
        <p:spPr>
          <a:xfrm>
            <a:off x="1457325" y="5924550"/>
            <a:ext cx="94297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50" b="0" i="1">
                <a:solidFill>
                  <a:srgbClr val="2F7049"/>
                </a:solidFill>
                <a:latin typeface="Times New Roman"/>
              </a:rPr>
              <a:t>Butyrate</a:t>
            </a:r>
          </a:p>
        </p:txBody>
      </p:sp>
      <p:sp>
        <p:nvSpPr>
          <p:cNvPr id="786" name="node_hdac"/>
          <p:cNvSpPr txBox="1"/>
          <p:nvPr/>
        </p:nvSpPr>
        <p:spPr>
          <a:xfrm>
            <a:off x="2409825" y="6019800"/>
            <a:ext cx="11049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2F7049"/>
                </a:solidFill>
                <a:latin typeface="Times New Roman"/>
              </a:rPr>
              <a:t>HDAC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2F7049"/>
                </a:solidFill>
                <a:latin typeface="Times New Roman"/>
              </a:rPr>
              <a:t>inhibition</a:t>
            </a:r>
          </a:p>
        </p:txBody>
      </p:sp>
      <p:sp>
        <p:nvSpPr>
          <p:cNvPr id="787" name="label_acetylation"/>
          <p:cNvSpPr txBox="1"/>
          <p:nvPr/>
        </p:nvSpPr>
        <p:spPr>
          <a:xfrm>
            <a:off x="3552825" y="6296025"/>
            <a:ext cx="191452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70" b="0" i="0">
                <a:solidFill>
                  <a:srgbClr val="2F7049"/>
                </a:solidFill>
                <a:latin typeface="Times New Roman"/>
              </a:rPr>
              <a:t>Histone H3 acetylation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70" b="0" i="0">
                <a:solidFill>
                  <a:srgbClr val="2F7049"/>
                </a:solidFill>
                <a:latin typeface="Times New Roman"/>
              </a:rPr>
              <a:t>at the Foxp3 locus ↑</a:t>
            </a:r>
          </a:p>
        </p:txBody>
      </p:sp>
      <p:sp>
        <p:nvSpPr>
          <p:cNvPr id="788" name="node_treg_support"/>
          <p:cNvSpPr txBox="1"/>
          <p:nvPr/>
        </p:nvSpPr>
        <p:spPr>
          <a:xfrm>
            <a:off x="5229225" y="6086475"/>
            <a:ext cx="15811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5" b="1" i="0">
                <a:solidFill>
                  <a:srgbClr val="2F7049"/>
                </a:solidFill>
                <a:latin typeface="Times New Roman"/>
              </a:rPr>
              <a:t>Treg support</a:t>
            </a:r>
          </a:p>
        </p:txBody>
      </p:sp>
      <p:sp>
        <p:nvSpPr>
          <p:cNvPr id="789" name="label_perivascular_macrophage"/>
          <p:cNvSpPr txBox="1"/>
          <p:nvPr/>
        </p:nvSpPr>
        <p:spPr>
          <a:xfrm>
            <a:off x="8382000" y="6162675"/>
            <a:ext cx="1276350" cy="257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95" b="0" i="0">
                <a:solidFill>
                  <a:srgbClr val="23364A"/>
                </a:solidFill>
                <a:latin typeface="Times New Roman"/>
              </a:rPr>
              <a:t>Macrophage</a:t>
            </a:r>
          </a:p>
        </p:txBody>
      </p:sp>
      <p:sp>
        <p:nvSpPr>
          <p:cNvPr id="790" name="label_foxp3"/>
          <p:cNvSpPr txBox="1"/>
          <p:nvPr/>
        </p:nvSpPr>
        <p:spPr>
          <a:xfrm>
            <a:off x="9906000" y="7038975"/>
            <a:ext cx="120015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0" i="0">
                <a:solidFill>
                  <a:srgbClr val="23364A"/>
                </a:solidFill>
                <a:latin typeface="Times New Roman"/>
              </a:rPr>
              <a:t>FOXP3⁺ Treg</a:t>
            </a:r>
          </a:p>
        </p:txBody>
      </p:sp>
      <p:sp>
        <p:nvSpPr>
          <p:cNvPr id="791" name="label_secondary_ba"/>
          <p:cNvSpPr txBox="1"/>
          <p:nvPr/>
        </p:nvSpPr>
        <p:spPr>
          <a:xfrm>
            <a:off x="266700" y="6734175"/>
            <a:ext cx="199072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25" b="1" i="0">
                <a:solidFill>
                  <a:srgbClr val="B97724"/>
                </a:solidFill>
                <a:latin typeface="Times New Roman"/>
              </a:rPr>
              <a:t>Secondary BAs</a:t>
            </a:r>
          </a:p>
        </p:txBody>
      </p:sp>
      <p:sp>
        <p:nvSpPr>
          <p:cNvPr id="792" name="label_fxr"/>
          <p:cNvSpPr txBox="1"/>
          <p:nvPr/>
        </p:nvSpPr>
        <p:spPr>
          <a:xfrm>
            <a:off x="2447925" y="6734175"/>
            <a:ext cx="27241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B97724"/>
                </a:solidFill>
                <a:latin typeface="Times New Roman"/>
              </a:rPr>
              <a:t>Endothelial FXR activation</a:t>
            </a:r>
          </a:p>
        </p:txBody>
      </p:sp>
      <p:sp>
        <p:nvSpPr>
          <p:cNvPr id="793" name="node_et1"/>
          <p:cNvSpPr txBox="1"/>
          <p:nvPr/>
        </p:nvSpPr>
        <p:spPr>
          <a:xfrm>
            <a:off x="5543550" y="7086600"/>
            <a:ext cx="20859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5" b="0" i="0">
                <a:solidFill>
                  <a:srgbClr val="B97724"/>
                </a:solidFill>
                <a:latin typeface="Times New Roman"/>
              </a:rPr>
              <a:t>ET-1 expression</a:t>
            </a:r>
          </a:p>
        </p:txBody>
      </p:sp>
      <p:sp>
        <p:nvSpPr>
          <p:cNvPr id="794" name="label_indole"/>
          <p:cNvSpPr txBox="1"/>
          <p:nvPr/>
        </p:nvSpPr>
        <p:spPr>
          <a:xfrm>
            <a:off x="266700" y="7486650"/>
            <a:ext cx="22383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25" b="1" i="0">
                <a:solidFill>
                  <a:srgbClr val="7254A8"/>
                </a:solidFill>
                <a:latin typeface="Times New Roman"/>
              </a:rPr>
              <a:t>Indole metabolites</a:t>
            </a:r>
          </a:p>
        </p:txBody>
      </p:sp>
      <p:sp>
        <p:nvSpPr>
          <p:cNvPr id="795" name="label_ahr"/>
          <p:cNvSpPr txBox="1"/>
          <p:nvPr/>
        </p:nvSpPr>
        <p:spPr>
          <a:xfrm>
            <a:off x="3286125" y="7477125"/>
            <a:ext cx="9048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50" b="1" i="0">
                <a:solidFill>
                  <a:srgbClr val="7254A8"/>
                </a:solidFill>
                <a:latin typeface="Times New Roman"/>
              </a:rPr>
              <a:t>AhR</a:t>
            </a:r>
          </a:p>
        </p:txBody>
      </p:sp>
      <p:sp>
        <p:nvSpPr>
          <p:cNvPr id="796" name="node_tcell"/>
          <p:cNvSpPr txBox="1"/>
          <p:nvPr/>
        </p:nvSpPr>
        <p:spPr>
          <a:xfrm>
            <a:off x="5410200" y="7791450"/>
            <a:ext cx="23336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00" b="0" i="0">
                <a:solidFill>
                  <a:srgbClr val="7254A8"/>
                </a:solidFill>
                <a:latin typeface="Times New Roman"/>
              </a:rPr>
              <a:t>Immune modulation</a:t>
            </a:r>
          </a:p>
        </p:txBody>
      </p:sp>
      <p:sp>
        <p:nvSpPr>
          <p:cNvPr id="797" name="label_pulmonary_arteriole"/>
          <p:cNvSpPr txBox="1"/>
          <p:nvPr/>
        </p:nvSpPr>
        <p:spPr>
          <a:xfrm>
            <a:off x="9525000" y="342900"/>
            <a:ext cx="38290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2100" b="1" i="0">
                <a:solidFill>
                  <a:srgbClr val="23364A"/>
                </a:solidFill>
                <a:latin typeface="Times New Roman"/>
              </a:rPr>
              <a:t>Pulmonary arteriole</a:t>
            </a:r>
          </a:p>
        </p:txBody>
      </p:sp>
      <p:sp>
        <p:nvSpPr>
          <p:cNvPr id="798" name="label_endothelium"/>
          <p:cNvSpPr txBox="1"/>
          <p:nvPr/>
        </p:nvSpPr>
        <p:spPr>
          <a:xfrm>
            <a:off x="7829550" y="2209800"/>
            <a:ext cx="115252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23364A"/>
                </a:solidFill>
                <a:latin typeface="Times New Roman"/>
              </a:rPr>
              <a:t>Endothelium</a:t>
            </a:r>
          </a:p>
        </p:txBody>
      </p:sp>
      <p:sp>
        <p:nvSpPr>
          <p:cNvPr id="799" name="label_media"/>
          <p:cNvSpPr txBox="1"/>
          <p:nvPr/>
        </p:nvSpPr>
        <p:spPr>
          <a:xfrm>
            <a:off x="8343900" y="3209925"/>
            <a:ext cx="1247775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23364A"/>
                </a:solidFill>
                <a:latin typeface="Times New Roman"/>
              </a:rPr>
              <a:t>Media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23364A"/>
                </a:solidFill>
                <a:latin typeface="Times New Roman"/>
              </a:rPr>
              <a:t>(PASMCs)</a:t>
            </a:r>
          </a:p>
        </p:txBody>
      </p:sp>
      <p:sp>
        <p:nvSpPr>
          <p:cNvPr id="800" name="label_adventitia"/>
          <p:cNvSpPr txBox="1"/>
          <p:nvPr/>
        </p:nvSpPr>
        <p:spPr>
          <a:xfrm>
            <a:off x="9039225" y="4800600"/>
            <a:ext cx="124777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23364A"/>
                </a:solidFill>
                <a:latin typeface="Times New Roman"/>
              </a:rPr>
              <a:t>Adventitia</a:t>
            </a:r>
          </a:p>
        </p:txBody>
      </p:sp>
      <p:sp>
        <p:nvSpPr>
          <p:cNvPr id="801" name="outcome_endothelial"/>
          <p:cNvSpPr txBox="1"/>
          <p:nvPr/>
        </p:nvSpPr>
        <p:spPr>
          <a:xfrm>
            <a:off x="13049250" y="2371725"/>
            <a:ext cx="1809750" cy="561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23364A"/>
                </a:solidFill>
                <a:latin typeface="Times New Roman"/>
              </a:rPr>
              <a:t>Endothelial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23364A"/>
                </a:solidFill>
                <a:latin typeface="Times New Roman"/>
              </a:rPr>
              <a:t>dysfunction</a:t>
            </a:r>
          </a:p>
        </p:txBody>
      </p:sp>
      <p:sp>
        <p:nvSpPr>
          <p:cNvPr id="802" name="outcome_medial"/>
          <p:cNvSpPr txBox="1"/>
          <p:nvPr/>
        </p:nvSpPr>
        <p:spPr>
          <a:xfrm>
            <a:off x="13049250" y="3895725"/>
            <a:ext cx="1809750" cy="561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A82D2A"/>
                </a:solidFill>
                <a:latin typeface="Times New Roman"/>
              </a:rPr>
              <a:t>Medial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A82D2A"/>
                </a:solidFill>
                <a:latin typeface="Times New Roman"/>
              </a:rPr>
              <a:t>thickening</a:t>
            </a:r>
          </a:p>
        </p:txBody>
      </p:sp>
      <p:sp>
        <p:nvSpPr>
          <p:cNvPr id="803" name="outcome_adventitial"/>
          <p:cNvSpPr txBox="1"/>
          <p:nvPr/>
        </p:nvSpPr>
        <p:spPr>
          <a:xfrm>
            <a:off x="13049250" y="5419725"/>
            <a:ext cx="1809750" cy="561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7254A8"/>
                </a:solidFill>
                <a:latin typeface="Times New Roman"/>
              </a:rPr>
              <a:t>Adventitial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764" b="1" i="0">
                <a:solidFill>
                  <a:srgbClr val="7254A8"/>
                </a:solidFill>
                <a:latin typeface="Times New Roman"/>
              </a:rPr>
              <a:t>remodeling</a:t>
            </a:r>
          </a:p>
        </p:txBody>
      </p:sp>
      <p:sp>
        <p:nvSpPr>
          <p:cNvPr id="804" name="outcome_pvr"/>
          <p:cNvSpPr txBox="1"/>
          <p:nvPr/>
        </p:nvSpPr>
        <p:spPr>
          <a:xfrm>
            <a:off x="13658850" y="6391275"/>
            <a:ext cx="136207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2250" b="1" i="0">
                <a:solidFill>
                  <a:srgbClr val="23364A"/>
                </a:solidFill>
                <a:latin typeface="Times New Roman"/>
              </a:rPr>
              <a:t>PVR ↑</a:t>
            </a:r>
          </a:p>
        </p:txBody>
      </p:sp>
      <p:sp>
        <p:nvSpPr>
          <p:cNvPr id="805" name="normal_cross_section_label"/>
          <p:cNvSpPr txBox="1"/>
          <p:nvPr/>
        </p:nvSpPr>
        <p:spPr>
          <a:xfrm>
            <a:off x="11239500" y="7115175"/>
            <a:ext cx="1095375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50" b="0" i="0">
                <a:solidFill>
                  <a:srgbClr val="23364A"/>
                </a:solidFill>
                <a:latin typeface="Times New Roman"/>
              </a:rPr>
              <a:t>Normal</a:t>
            </a:r>
          </a:p>
        </p:txBody>
      </p:sp>
      <p:sp>
        <p:nvSpPr>
          <p:cNvPr id="806" name="remodeled_cross_section_label"/>
          <p:cNvSpPr txBox="1"/>
          <p:nvPr/>
        </p:nvSpPr>
        <p:spPr>
          <a:xfrm>
            <a:off x="12449175" y="7115175"/>
            <a:ext cx="1190625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50" b="0" i="0">
                <a:solidFill>
                  <a:srgbClr val="23364A"/>
                </a:solidFill>
                <a:latin typeface="Times New Roman"/>
              </a:rPr>
              <a:t>Remodeled</a:t>
            </a:r>
          </a:p>
        </p:txBody>
      </p:sp>
      <p:sp>
        <p:nvSpPr>
          <p:cNvPr id="807" name="cross_section_note"/>
          <p:cNvSpPr txBox="1"/>
          <p:nvPr/>
        </p:nvSpPr>
        <p:spPr>
          <a:xfrm>
            <a:off x="11277600" y="8020050"/>
            <a:ext cx="24574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00" b="0" i="1">
                <a:solidFill>
                  <a:srgbClr val="627588"/>
                </a:solidFill>
                <a:latin typeface="Times New Roman"/>
              </a:rPr>
              <a:t>Schematic morphology</a:t>
            </a:r>
          </a:p>
        </p:txBody>
      </p:sp>
      <p:sp>
        <p:nvSpPr>
          <p:cNvPr id="808" name="legend_solid"/>
          <p:cNvSpPr txBox="1"/>
          <p:nvPr/>
        </p:nvSpPr>
        <p:spPr>
          <a:xfrm>
            <a:off x="962025" y="8305800"/>
            <a:ext cx="4733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0">
                <a:solidFill>
                  <a:srgbClr val="23364A"/>
                </a:solidFill>
                <a:latin typeface="Times New Roman"/>
              </a:rPr>
              <a:t>Solid: experimental support for the depicted step</a:t>
            </a:r>
          </a:p>
        </p:txBody>
      </p:sp>
      <p:sp>
        <p:nvSpPr>
          <p:cNvPr id="809" name="legend_dashed"/>
          <p:cNvSpPr txBox="1"/>
          <p:nvPr/>
        </p:nvSpPr>
        <p:spPr>
          <a:xfrm>
            <a:off x="6934200" y="8305800"/>
            <a:ext cx="547687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0">
                <a:solidFill>
                  <a:srgbClr val="23364A"/>
                </a:solidFill>
                <a:latin typeface="Times New Roman"/>
              </a:rPr>
              <a:t>Dashed: proposed PAH link / incomplete pathway</a:t>
            </a:r>
          </a:p>
        </p:txBody>
      </p:sp>
      <p:sp>
        <p:nvSpPr>
          <p:cNvPr id="810" name="label_tlr4_cell_scope"/>
          <p:cNvSpPr txBox="1"/>
          <p:nvPr/>
        </p:nvSpPr>
        <p:spPr>
          <a:xfrm>
            <a:off x="266700" y="2686050"/>
            <a:ext cx="23241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20" b="0" i="1">
                <a:solidFill>
                  <a:srgbClr val="627588"/>
                </a:solidFill>
                <a:latin typeface="Times New Roman"/>
              </a:rPr>
              <a:t>Immune and vascular cells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20" b="0" i="1">
                <a:solidFill>
                  <a:srgbClr val="627588"/>
                </a:solidFill>
                <a:latin typeface="Times New Roman"/>
              </a:rPr>
              <a:t>(schematic)</a:t>
            </a:r>
          </a:p>
        </p:txBody>
      </p:sp>
      <p:sp>
        <p:nvSpPr>
          <p:cNvPr id="811" name="label_myeloid_candidate"/>
          <p:cNvSpPr txBox="1"/>
          <p:nvPr/>
        </p:nvSpPr>
        <p:spPr>
          <a:xfrm>
            <a:off x="4133850" y="5514975"/>
            <a:ext cx="1914525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30" b="0" i="1">
                <a:solidFill>
                  <a:srgbClr val="627588"/>
                </a:solidFill>
                <a:latin typeface="Times New Roman"/>
              </a:rPr>
              <a:t>Proposed PH link</a:t>
            </a:r>
          </a:p>
        </p:txBody>
      </p:sp>
      <p:sp>
        <p:nvSpPr>
          <p:cNvPr id="812" name="label_butyrate_direct"/>
          <p:cNvSpPr txBox="1"/>
          <p:nvPr/>
        </p:nvSpPr>
        <p:spPr>
          <a:xfrm>
            <a:off x="8067675" y="7048500"/>
            <a:ext cx="990600" cy="257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5" b="1" i="0">
                <a:solidFill>
                  <a:srgbClr val="2F7049"/>
                </a:solidFill>
                <a:latin typeface="Times New Roman"/>
              </a:rPr>
              <a:t>Butyrate</a:t>
            </a:r>
          </a:p>
        </p:txBody>
      </p:sp>
      <p:sp>
        <p:nvSpPr>
          <p:cNvPr id="813" name="label_butyrate_cell_studies"/>
          <p:cNvSpPr txBox="1"/>
          <p:nvPr/>
        </p:nvSpPr>
        <p:spPr>
          <a:xfrm>
            <a:off x="8067675" y="7334250"/>
            <a:ext cx="100012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1">
                <a:solidFill>
                  <a:srgbClr val="627588"/>
                </a:solidFill>
                <a:latin typeface="Times New Roman"/>
              </a:rPr>
              <a:t>Cell studies</a:t>
            </a:r>
          </a:p>
        </p:txBody>
      </p:sp>
      <p:sp>
        <p:nvSpPr>
          <p:cNvPr id="814" name="node_endothelial_barrier_protection"/>
          <p:cNvSpPr txBox="1"/>
          <p:nvPr/>
        </p:nvSpPr>
        <p:spPr>
          <a:xfrm>
            <a:off x="9315450" y="7305675"/>
            <a:ext cx="1857375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1" i="0">
                <a:solidFill>
                  <a:srgbClr val="2F7049"/>
                </a:solidFill>
                <a:latin typeface="Times New Roman"/>
              </a:rPr>
              <a:t>Endothelial barrier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5" b="1" i="0">
                <a:solidFill>
                  <a:srgbClr val="2F7049"/>
                </a:solidFill>
                <a:latin typeface="Times New Roman"/>
              </a:rPr>
              <a:t>protection</a:t>
            </a:r>
          </a:p>
        </p:txBody>
      </p:sp>
      <p:sp>
        <p:nvSpPr>
          <p:cNvPr id="815" name="node_butyrate_pasmsc"/>
          <p:cNvSpPr txBox="1"/>
          <p:nvPr/>
        </p:nvSpPr>
        <p:spPr>
          <a:xfrm>
            <a:off x="9315450" y="7772400"/>
            <a:ext cx="192405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95" b="0" i="0">
                <a:solidFill>
                  <a:srgbClr val="2F7049"/>
                </a:solidFill>
                <a:latin typeface="Times New Roman"/>
              </a:rPr>
              <a:t>PDGF-induced PASMC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95" b="0" i="0">
                <a:solidFill>
                  <a:srgbClr val="2F7049"/>
                </a:solidFill>
                <a:latin typeface="Times New Roman"/>
              </a:rPr>
              <a:t>proliferation &amp; migration</a:t>
            </a:r>
          </a:p>
        </p:txBody>
      </p:sp>
      <p:sp>
        <p:nvSpPr>
          <p:cNvPr id="816" name="legend_inhibition"/>
          <p:cNvSpPr txBox="1"/>
          <p:nvPr/>
        </p:nvSpPr>
        <p:spPr>
          <a:xfrm>
            <a:off x="13277850" y="8305800"/>
            <a:ext cx="1619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0">
                <a:solidFill>
                  <a:srgbClr val="23364A"/>
                </a:solidFill>
                <a:latin typeface="Times New Roman"/>
              </a:rPr>
              <a:t>Inhibition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/>
  <PresentationFormat>On-screen Show (16:9)</PresentationFormat>
  <Slides>1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Pulmonary vascular signaling and remodeling</dc:title>
  <dc:subject/>
  <dc:creator/>
  <cp:keywords/>
  <dc:description/>
  <cp:lastModifiedBy/>
  <cp:revision>1</cp:revision>
  <dcterms:created xsi:type="dcterms:W3CDTF">2026-10-17T11:43:43Z</dcterms:created>
  <dcterms:modified xsi:type="dcterms:W3CDTF">2026-10-17T11:43:43Z</dcterms:modified>
  <cp:category/>
  <dc:identifier/>
  <cp:contentStatus/>
  <cp:version/>
</cp:coreProperties>
</file>