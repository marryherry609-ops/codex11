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240000" cy="8572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sh vector background"/>
          <p:cNvSpPr/>
          <p:nvPr/>
        </p:nvSpPr>
        <p:spPr>
          <a:xfrm>
            <a:off x="0" y="0"/>
            <a:ext cx="15240000" cy="8572500"/>
          </a:xfrm>
          <a:prstGeom prst="rect">
            <a:avLst/>
          </a:prstGeom>
          <a:gradFill rotWithShape="1">
            <a:gsLst>
              <a:gs pos="0">
                <a:srgbClr val="FFF5EA"/>
              </a:gs>
              <a:gs pos="54000">
                <a:srgbClr val="F8F1EC"/>
              </a:gs>
              <a:gs pos="100000">
                <a:srgbClr val="DAE8FC"/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tery_outer_wall_001"/>
          <p:cNvSpPr/>
          <p:nvPr/>
        </p:nvSpPr>
        <p:spPr>
          <a:xfrm>
            <a:off x="8753622" y="1079799"/>
            <a:ext cx="4574578" cy="5361802"/>
          </a:xfrm>
          <a:custGeom>
            <a:avLst/>
            <a:gdLst/>
            <a:ahLst/>
            <a:cxnLst/>
            <a:rect l="0" t="0" r="r" b="b"/>
            <a:pathLst>
              <a:path w="4574578" h="5361802">
                <a:moveTo>
                  <a:pt x="564074" y="30993"/>
                </a:moveTo>
                <a:cubicBezTo>
                  <a:pt x="1053764" y="0"/>
                  <a:pt x="1686023" y="384314"/>
                  <a:pt x="2398864" y="818217"/>
                </a:cubicBezTo>
                <a:cubicBezTo>
                  <a:pt x="3142698" y="1270716"/>
                  <a:pt x="3762559" y="1698420"/>
                  <a:pt x="4215058" y="2014550"/>
                </a:cubicBezTo>
                <a:cubicBezTo>
                  <a:pt x="4128277" y="2355474"/>
                  <a:pt x="4066291" y="2795575"/>
                  <a:pt x="4097284" y="3248074"/>
                </a:cubicBezTo>
                <a:cubicBezTo>
                  <a:pt x="4140675" y="3886531"/>
                  <a:pt x="4351428" y="4679954"/>
                  <a:pt x="4524989" y="5200638"/>
                </a:cubicBezTo>
                <a:cubicBezTo>
                  <a:pt x="4574578" y="5330809"/>
                  <a:pt x="4487797" y="5361802"/>
                  <a:pt x="4357626" y="5287418"/>
                </a:cubicBezTo>
                <a:cubicBezTo>
                  <a:pt x="3818347" y="4977488"/>
                  <a:pt x="3384444" y="4686153"/>
                  <a:pt x="2826568" y="4450605"/>
                </a:cubicBezTo>
                <a:cubicBezTo>
                  <a:pt x="2070337" y="4134476"/>
                  <a:pt x="1431880" y="3954716"/>
                  <a:pt x="1072360" y="3576601"/>
                </a:cubicBezTo>
                <a:cubicBezTo>
                  <a:pt x="849210" y="3328656"/>
                  <a:pt x="824416" y="2907150"/>
                  <a:pt x="657053" y="2609617"/>
                </a:cubicBezTo>
                <a:cubicBezTo>
                  <a:pt x="415307" y="2367871"/>
                  <a:pt x="347122" y="2070337"/>
                  <a:pt x="359520" y="1723215"/>
                </a:cubicBezTo>
                <a:cubicBezTo>
                  <a:pt x="365718" y="1574448"/>
                  <a:pt x="297534" y="1444277"/>
                  <a:pt x="185958" y="1295510"/>
                </a:cubicBezTo>
                <a:cubicBezTo>
                  <a:pt x="6199" y="1078559"/>
                  <a:pt x="0" y="787224"/>
                  <a:pt x="68185" y="533081"/>
                </a:cubicBezTo>
                <a:cubicBezTo>
                  <a:pt x="161164" y="204554"/>
                  <a:pt x="285136" y="43390"/>
                  <a:pt x="564074" y="30993"/>
                </a:cubicBezTo>
                <a:close/>
              </a:path>
            </a:pathLst>
          </a:custGeom>
          <a:gradFill rotWithShape="1">
            <a:gsLst>
              <a:gs pos="0">
                <a:srgbClr val="FFF2EC"/>
              </a:gs>
              <a:gs pos="42000">
                <a:srgbClr val="F8D8D3"/>
              </a:gs>
              <a:gs pos="100000">
                <a:srgbClr val="D7C8E1"/>
              </a:gs>
            </a:gsLst>
            <a:lin ang="2700000" scaled="1"/>
          </a:gradFill>
          <a:ln w="10537" cap="rnd">
            <a:solidFill>
              <a:srgbClr val="B3838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tery_adventitial_sheet_002"/>
          <p:cNvSpPr/>
          <p:nvPr/>
        </p:nvSpPr>
        <p:spPr>
          <a:xfrm>
            <a:off x="9404477" y="3658422"/>
            <a:ext cx="3867936" cy="2745986"/>
          </a:xfrm>
          <a:custGeom>
            <a:avLst/>
            <a:gdLst/>
            <a:ahLst/>
            <a:cxnLst/>
            <a:rect l="0" t="0" r="r" b="b"/>
            <a:pathLst>
              <a:path w="3867936" h="2745986">
                <a:moveTo>
                  <a:pt x="0" y="0"/>
                </a:moveTo>
                <a:cubicBezTo>
                  <a:pt x="619861" y="359520"/>
                  <a:pt x="1320305" y="799621"/>
                  <a:pt x="1921571" y="1165340"/>
                </a:cubicBezTo>
                <a:cubicBezTo>
                  <a:pt x="2584822" y="1580647"/>
                  <a:pt x="3142698" y="1995954"/>
                  <a:pt x="3508416" y="2374069"/>
                </a:cubicBezTo>
                <a:cubicBezTo>
                  <a:pt x="3644785" y="2510439"/>
                  <a:pt x="3774956" y="2597220"/>
                  <a:pt x="3867936" y="2665404"/>
                </a:cubicBezTo>
                <a:cubicBezTo>
                  <a:pt x="3582799" y="2745986"/>
                  <a:pt x="3142698" y="2417460"/>
                  <a:pt x="2727390" y="2212905"/>
                </a:cubicBezTo>
                <a:cubicBezTo>
                  <a:pt x="2002153" y="1847187"/>
                  <a:pt x="979381" y="1555852"/>
                  <a:pt x="514485" y="1103353"/>
                </a:cubicBezTo>
                <a:cubicBezTo>
                  <a:pt x="254143" y="855409"/>
                  <a:pt x="173561" y="34712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CFAFF"/>
              </a:gs>
              <a:gs pos="48000">
                <a:srgbClr val="F1EAF7"/>
              </a:gs>
              <a:gs pos="100000">
                <a:srgbClr val="D5C6E4"/>
              </a:gs>
            </a:gsLst>
            <a:lin ang="5700000" scaled="1"/>
          </a:gradFill>
          <a:ln w="6198" cap="rnd">
            <a:solidFill>
              <a:srgbClr val="B6A4C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artery_collagen_crossfiber_003"/>
          <p:cNvSpPr/>
          <p:nvPr/>
        </p:nvSpPr>
        <p:spPr>
          <a:xfrm>
            <a:off x="9634092" y="3804087"/>
            <a:ext cx="272452" cy="839459"/>
          </a:xfrm>
          <a:custGeom>
            <a:avLst/>
            <a:gdLst/>
            <a:ahLst/>
            <a:cxnLst/>
            <a:rect l="0" t="0" r="r" b="b"/>
            <a:pathLst>
              <a:path w="272452" h="839459">
                <a:moveTo>
                  <a:pt x="0" y="0"/>
                </a:moveTo>
                <a:cubicBezTo>
                  <a:pt x="245852" y="237488"/>
                  <a:pt x="272452" y="364046"/>
                  <a:pt x="111252" y="412640"/>
                </a:cubicBezTo>
                <a:cubicBezTo>
                  <a:pt x="120570" y="541816"/>
                  <a:pt x="177731" y="690637"/>
                  <a:pt x="234892" y="839459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rtery_collagen_crossfiber_004"/>
          <p:cNvSpPr/>
          <p:nvPr/>
        </p:nvSpPr>
        <p:spPr>
          <a:xfrm>
            <a:off x="9697501" y="3954958"/>
            <a:ext cx="416182" cy="769828"/>
          </a:xfrm>
          <a:custGeom>
            <a:avLst/>
            <a:gdLst/>
            <a:ahLst/>
            <a:cxnLst/>
            <a:rect l="0" t="0" r="r" b="b"/>
            <a:pathLst>
              <a:path w="416182" h="769828">
                <a:moveTo>
                  <a:pt x="228589" y="0"/>
                </a:moveTo>
                <a:cubicBezTo>
                  <a:pt x="316386" y="153923"/>
                  <a:pt x="186482" y="202716"/>
                  <a:pt x="0" y="242123"/>
                </a:cubicBezTo>
                <a:cubicBezTo>
                  <a:pt x="57161" y="390945"/>
                  <a:pt x="126140" y="543906"/>
                  <a:pt x="416182" y="769828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artery_collagen_crossfiber_005"/>
          <p:cNvSpPr/>
          <p:nvPr/>
        </p:nvSpPr>
        <p:spPr>
          <a:xfrm>
            <a:off x="9721690" y="4054649"/>
            <a:ext cx="645293" cy="760938"/>
          </a:xfrm>
          <a:custGeom>
            <a:avLst/>
            <a:gdLst/>
            <a:ahLst/>
            <a:cxnLst/>
            <a:rect l="0" t="0" r="r" b="b"/>
            <a:pathLst>
              <a:path w="645293" h="760938">
                <a:moveTo>
                  <a:pt x="388068" y="0"/>
                </a:moveTo>
                <a:cubicBezTo>
                  <a:pt x="302174" y="59324"/>
                  <a:pt x="102517" y="75583"/>
                  <a:pt x="0" y="152334"/>
                </a:cubicBezTo>
                <a:cubicBezTo>
                  <a:pt x="119031" y="324297"/>
                  <a:pt x="397851" y="552743"/>
                  <a:pt x="645293" y="760938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artery_collagen_crossfiber_006"/>
          <p:cNvSpPr/>
          <p:nvPr/>
        </p:nvSpPr>
        <p:spPr>
          <a:xfrm>
            <a:off x="9815511" y="4083014"/>
            <a:ext cx="699377" cy="788747"/>
          </a:xfrm>
          <a:custGeom>
            <a:avLst/>
            <a:gdLst/>
            <a:ahLst/>
            <a:cxnLst/>
            <a:rect l="0" t="0" r="r" b="b"/>
            <a:pathLst>
              <a:path w="699377" h="788747">
                <a:moveTo>
                  <a:pt x="345296" y="0"/>
                </a:moveTo>
                <a:cubicBezTo>
                  <a:pt x="150809" y="1740"/>
                  <a:pt x="0" y="43258"/>
                  <a:pt x="57053" y="187158"/>
                </a:cubicBezTo>
                <a:cubicBezTo>
                  <a:pt x="310025" y="410982"/>
                  <a:pt x="586210" y="636610"/>
                  <a:pt x="699377" y="788747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artery_collagen_crossfiber_007"/>
          <p:cNvSpPr/>
          <p:nvPr/>
        </p:nvSpPr>
        <p:spPr>
          <a:xfrm>
            <a:off x="9922164" y="4058830"/>
            <a:ext cx="672617" cy="824336"/>
          </a:xfrm>
          <a:custGeom>
            <a:avLst/>
            <a:gdLst/>
            <a:ahLst/>
            <a:cxnLst/>
            <a:rect l="0" t="0" r="r" b="b"/>
            <a:pathLst>
              <a:path w="672617" h="824336">
                <a:moveTo>
                  <a:pt x="195153" y="0"/>
                </a:moveTo>
                <a:cubicBezTo>
                  <a:pt x="7287" y="7393"/>
                  <a:pt x="0" y="116576"/>
                  <a:pt x="213535" y="327451"/>
                </a:cubicBezTo>
                <a:cubicBezTo>
                  <a:pt x="505217" y="566640"/>
                  <a:pt x="672617" y="742493"/>
                  <a:pt x="622030" y="824336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tery_collagen_crossfiber_008"/>
          <p:cNvSpPr/>
          <p:nvPr/>
        </p:nvSpPr>
        <p:spPr>
          <a:xfrm>
            <a:off x="9991735" y="4028279"/>
            <a:ext cx="673503" cy="836748"/>
          </a:xfrm>
          <a:custGeom>
            <a:avLst/>
            <a:gdLst/>
            <a:ahLst/>
            <a:cxnLst/>
            <a:rect l="0" t="0" r="r" b="b"/>
            <a:pathLst>
              <a:path w="673503" h="836748">
                <a:moveTo>
                  <a:pt x="70098" y="0"/>
                </a:moveTo>
                <a:cubicBezTo>
                  <a:pt x="0" y="69335"/>
                  <a:pt x="162451" y="258297"/>
                  <a:pt x="454829" y="504846"/>
                </a:cubicBezTo>
                <a:cubicBezTo>
                  <a:pt x="670828" y="706438"/>
                  <a:pt x="673503" y="803854"/>
                  <a:pt x="505743" y="836748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tery_collagen_crossfiber_009"/>
          <p:cNvSpPr/>
          <p:nvPr/>
        </p:nvSpPr>
        <p:spPr>
          <a:xfrm>
            <a:off x="10082541" y="4039642"/>
            <a:ext cx="696201" cy="808357"/>
          </a:xfrm>
          <a:custGeom>
            <a:avLst/>
            <a:gdLst/>
            <a:ahLst/>
            <a:cxnLst/>
            <a:rect l="0" t="0" r="r" b="b"/>
            <a:pathLst>
              <a:path w="696201" h="808357">
                <a:moveTo>
                  <a:pt x="0" y="0"/>
                </a:moveTo>
                <a:cubicBezTo>
                  <a:pt x="102472" y="158083"/>
                  <a:pt x="380093" y="403801"/>
                  <a:pt x="635638" y="630362"/>
                </a:cubicBezTo>
                <a:cubicBezTo>
                  <a:pt x="696201" y="751242"/>
                  <a:pt x="554726" y="780196"/>
                  <a:pt x="370528" y="808357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artery_collagen_crossfiber_010"/>
          <p:cNvSpPr/>
          <p:nvPr/>
        </p:nvSpPr>
        <p:spPr>
          <a:xfrm>
            <a:off x="10231792" y="4122932"/>
            <a:ext cx="650233" cy="738527"/>
          </a:xfrm>
          <a:custGeom>
            <a:avLst/>
            <a:gdLst/>
            <a:ahLst/>
            <a:cxnLst/>
            <a:rect l="0" t="0" r="r" b="b"/>
            <a:pathLst>
              <a:path w="650233" h="738527">
                <a:moveTo>
                  <a:pt x="0" y="0"/>
                </a:moveTo>
                <a:cubicBezTo>
                  <a:pt x="247727" y="235191"/>
                  <a:pt x="530827" y="483015"/>
                  <a:pt x="650233" y="633509"/>
                </a:cubicBezTo>
                <a:cubicBezTo>
                  <a:pt x="547754" y="668348"/>
                  <a:pt x="349548" y="672574"/>
                  <a:pt x="256422" y="738527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artery_collagen_crossfiber_011"/>
          <p:cNvSpPr/>
          <p:nvPr/>
        </p:nvSpPr>
        <p:spPr>
          <a:xfrm>
            <a:off x="10501483" y="4279628"/>
            <a:ext cx="471753" cy="642566"/>
          </a:xfrm>
          <a:custGeom>
            <a:avLst/>
            <a:gdLst/>
            <a:ahLst/>
            <a:cxnLst/>
            <a:rect l="0" t="0" r="r" b="b"/>
            <a:pathLst>
              <a:path w="471753" h="642566">
                <a:moveTo>
                  <a:pt x="0" y="0"/>
                </a:moveTo>
                <a:cubicBezTo>
                  <a:pt x="296396" y="262550"/>
                  <a:pt x="471753" y="446267"/>
                  <a:pt x="418784" y="497407"/>
                </a:cubicBezTo>
                <a:cubicBezTo>
                  <a:pt x="221387" y="484064"/>
                  <a:pt x="79591" y="515763"/>
                  <a:pt x="141260" y="642566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tery_collagen_crossfiber_012"/>
          <p:cNvSpPr/>
          <p:nvPr/>
        </p:nvSpPr>
        <p:spPr>
          <a:xfrm>
            <a:off x="10693635" y="4479299"/>
            <a:ext cx="361972" cy="549779"/>
          </a:xfrm>
          <a:custGeom>
            <a:avLst/>
            <a:gdLst/>
            <a:ahLst/>
            <a:cxnLst/>
            <a:rect l="0" t="0" r="r" b="b"/>
            <a:pathLst>
              <a:path w="361972" h="549779">
                <a:moveTo>
                  <a:pt x="133228" y="0"/>
                </a:moveTo>
                <a:cubicBezTo>
                  <a:pt x="357862" y="217435"/>
                  <a:pt x="361972" y="294821"/>
                  <a:pt x="180509" y="272917"/>
                </a:cubicBezTo>
                <a:cubicBezTo>
                  <a:pt x="0" y="270297"/>
                  <a:pt x="273" y="365523"/>
                  <a:pt x="206702" y="549779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tery_collagen_crossfiber_013"/>
          <p:cNvSpPr/>
          <p:nvPr/>
        </p:nvSpPr>
        <p:spPr>
          <a:xfrm>
            <a:off x="10763863" y="4667133"/>
            <a:ext cx="432342" cy="493416"/>
          </a:xfrm>
          <a:custGeom>
            <a:avLst/>
            <a:gdLst/>
            <a:ahLst/>
            <a:cxnLst/>
            <a:rect l="0" t="0" r="r" b="b"/>
            <a:pathLst>
              <a:path w="432342" h="493416">
                <a:moveTo>
                  <a:pt x="353130" y="0"/>
                </a:moveTo>
                <a:cubicBezTo>
                  <a:pt x="418366" y="112017"/>
                  <a:pt x="267309" y="92604"/>
                  <a:pt x="60711" y="58669"/>
                </a:cubicBezTo>
                <a:cubicBezTo>
                  <a:pt x="0" y="116478"/>
                  <a:pt x="160226" y="282760"/>
                  <a:pt x="432342" y="493416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tery_collagen_crossfiber_014"/>
          <p:cNvSpPr/>
          <p:nvPr/>
        </p:nvSpPr>
        <p:spPr>
          <a:xfrm>
            <a:off x="10854095" y="4724946"/>
            <a:ext cx="593459" cy="554600"/>
          </a:xfrm>
          <a:custGeom>
            <a:avLst/>
            <a:gdLst/>
            <a:ahLst/>
            <a:cxnLst/>
            <a:rect l="0" t="0" r="r" b="b"/>
            <a:pathLst>
              <a:path w="593459" h="554600">
                <a:moveTo>
                  <a:pt x="443415" y="63715"/>
                </a:moveTo>
                <a:cubicBezTo>
                  <a:pt x="335630" y="58985"/>
                  <a:pt x="117509" y="0"/>
                  <a:pt x="0" y="16554"/>
                </a:cubicBezTo>
                <a:cubicBezTo>
                  <a:pt x="104699" y="155861"/>
                  <a:pt x="366580" y="368694"/>
                  <a:pt x="593459" y="554600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tery_collagen_crossfiber_015"/>
          <p:cNvSpPr/>
          <p:nvPr/>
        </p:nvSpPr>
        <p:spPr>
          <a:xfrm>
            <a:off x="10965098" y="4721170"/>
            <a:ext cx="627433" cy="630068"/>
          </a:xfrm>
          <a:custGeom>
            <a:avLst/>
            <a:gdLst/>
            <a:ahLst/>
            <a:cxnLst/>
            <a:rect l="0" t="0" r="r" b="b"/>
            <a:pathLst>
              <a:path w="627433" h="630068">
                <a:moveTo>
                  <a:pt x="380507" y="100473"/>
                </a:moveTo>
                <a:cubicBezTo>
                  <a:pt x="166497" y="25837"/>
                  <a:pt x="0" y="0"/>
                  <a:pt x="42949" y="103734"/>
                </a:cubicBezTo>
                <a:cubicBezTo>
                  <a:pt x="279919" y="309779"/>
                  <a:pt x="536391" y="517258"/>
                  <a:pt x="627433" y="630068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tery_collagen_crossfiber_016"/>
          <p:cNvSpPr/>
          <p:nvPr/>
        </p:nvSpPr>
        <p:spPr>
          <a:xfrm>
            <a:off x="11074896" y="4724776"/>
            <a:ext cx="616881" cy="639949"/>
          </a:xfrm>
          <a:custGeom>
            <a:avLst/>
            <a:gdLst/>
            <a:ahLst/>
            <a:cxnLst/>
            <a:rect l="0" t="0" r="r" b="b"/>
            <a:pathLst>
              <a:path w="616881" h="639949">
                <a:moveTo>
                  <a:pt x="225854" y="66099"/>
                </a:moveTo>
                <a:cubicBezTo>
                  <a:pt x="21418" y="0"/>
                  <a:pt x="0" y="60743"/>
                  <a:pt x="198356" y="249826"/>
                </a:cubicBezTo>
                <a:cubicBezTo>
                  <a:pt x="471293" y="473692"/>
                  <a:pt x="616881" y="616564"/>
                  <a:pt x="544415" y="639949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tery_collagen_crossfiber_017"/>
          <p:cNvSpPr/>
          <p:nvPr/>
        </p:nvSpPr>
        <p:spPr>
          <a:xfrm>
            <a:off x="11161610" y="4753707"/>
            <a:ext cx="617322" cy="625115"/>
          </a:xfrm>
          <a:custGeom>
            <a:avLst/>
            <a:gdLst/>
            <a:ahLst/>
            <a:cxnLst/>
            <a:rect l="0" t="0" r="r" b="b"/>
            <a:pathLst>
              <a:path w="617322" h="625115">
                <a:moveTo>
                  <a:pt x="84520" y="0"/>
                </a:moveTo>
                <a:cubicBezTo>
                  <a:pt x="0" y="12320"/>
                  <a:pt x="147926" y="173730"/>
                  <a:pt x="422591" y="406126"/>
                </a:cubicBezTo>
                <a:cubicBezTo>
                  <a:pt x="617322" y="580917"/>
                  <a:pt x="597746" y="625115"/>
                  <a:pt x="410045" y="587070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tery_collagen_crossfiber_018"/>
          <p:cNvSpPr/>
          <p:nvPr/>
        </p:nvSpPr>
        <p:spPr>
          <a:xfrm>
            <a:off x="11269526" y="4769588"/>
            <a:ext cx="622528" cy="633322"/>
          </a:xfrm>
          <a:custGeom>
            <a:avLst/>
            <a:gdLst/>
            <a:ahLst/>
            <a:cxnLst/>
            <a:rect l="0" t="0" r="r" b="b"/>
            <a:pathLst>
              <a:path w="622528" h="633322">
                <a:moveTo>
                  <a:pt x="0" y="0"/>
                </a:moveTo>
                <a:cubicBezTo>
                  <a:pt x="88385" y="123257"/>
                  <a:pt x="349320" y="354091"/>
                  <a:pt x="584351" y="559378"/>
                </a:cubicBezTo>
                <a:cubicBezTo>
                  <a:pt x="622528" y="633322"/>
                  <a:pt x="460232" y="592759"/>
                  <a:pt x="258814" y="549632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tery_collagen_crossfiber_019"/>
          <p:cNvSpPr/>
          <p:nvPr/>
        </p:nvSpPr>
        <p:spPr>
          <a:xfrm>
            <a:off x="11422024" y="4874570"/>
            <a:ext cx="592648" cy="558993"/>
          </a:xfrm>
          <a:custGeom>
            <a:avLst/>
            <a:gdLst/>
            <a:ahLst/>
            <a:cxnLst/>
            <a:rect l="0" t="0" r="r" b="b"/>
            <a:pathLst>
              <a:path w="592648" h="558993">
                <a:moveTo>
                  <a:pt x="0" y="0"/>
                </a:moveTo>
                <a:cubicBezTo>
                  <a:pt x="232002" y="217549"/>
                  <a:pt x="495507" y="448499"/>
                  <a:pt x="592648" y="558993"/>
                </a:cubicBezTo>
                <a:cubicBezTo>
                  <a:pt x="468597" y="527466"/>
                  <a:pt x="252193" y="457112"/>
                  <a:pt x="144069" y="463428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tery_collagen_crossfiber_020"/>
          <p:cNvSpPr/>
          <p:nvPr/>
        </p:nvSpPr>
        <p:spPr>
          <a:xfrm>
            <a:off x="11676171" y="5068129"/>
            <a:ext cx="449125" cy="399366"/>
          </a:xfrm>
          <a:custGeom>
            <a:avLst/>
            <a:gdLst/>
            <a:ahLst/>
            <a:cxnLst/>
            <a:rect l="0" t="0" r="r" b="b"/>
            <a:pathLst>
              <a:path w="449125" h="399366">
                <a:moveTo>
                  <a:pt x="17823" y="0"/>
                </a:moveTo>
                <a:cubicBezTo>
                  <a:pt x="295655" y="248522"/>
                  <a:pt x="449125" y="399366"/>
                  <a:pt x="374016" y="388913"/>
                </a:cubicBezTo>
                <a:cubicBezTo>
                  <a:pt x="157407" y="299308"/>
                  <a:pt x="0" y="264625"/>
                  <a:pt x="47349" y="349804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artery_collagen_crossfiber_021"/>
          <p:cNvSpPr/>
          <p:nvPr/>
        </p:nvSpPr>
        <p:spPr>
          <a:xfrm>
            <a:off x="11792013" y="5310543"/>
            <a:ext cx="430964" cy="244861"/>
          </a:xfrm>
          <a:custGeom>
            <a:avLst/>
            <a:gdLst/>
            <a:ahLst/>
            <a:cxnLst/>
            <a:rect l="0" t="0" r="r" b="b"/>
            <a:pathLst>
              <a:path w="430964" h="244861">
                <a:moveTo>
                  <a:pt x="227600" y="0"/>
                </a:moveTo>
                <a:cubicBezTo>
                  <a:pt x="430964" y="191365"/>
                  <a:pt x="412592" y="213323"/>
                  <a:pt x="210929" y="115294"/>
                </a:cubicBezTo>
                <a:cubicBezTo>
                  <a:pt x="14007" y="40307"/>
                  <a:pt x="0" y="86568"/>
                  <a:pt x="190925" y="244861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artery_collagen_crossfiber_022"/>
          <p:cNvSpPr/>
          <p:nvPr/>
        </p:nvSpPr>
        <p:spPr>
          <a:xfrm>
            <a:off x="11879182" y="5394017"/>
            <a:ext cx="471316" cy="326845"/>
          </a:xfrm>
          <a:custGeom>
            <a:avLst/>
            <a:gdLst/>
            <a:ahLst/>
            <a:cxnLst/>
            <a:rect l="0" t="0" r="r" b="b"/>
            <a:pathLst>
              <a:path w="471316" h="326845">
                <a:moveTo>
                  <a:pt x="428648" y="140797"/>
                </a:moveTo>
                <a:cubicBezTo>
                  <a:pt x="471316" y="204594"/>
                  <a:pt x="299158" y="111105"/>
                  <a:pt x="75202" y="0"/>
                </a:cubicBezTo>
                <a:cubicBezTo>
                  <a:pt x="0" y="1053"/>
                  <a:pt x="145396" y="136635"/>
                  <a:pt x="399518" y="326845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artery_collagen_crossfiber_023"/>
          <p:cNvSpPr/>
          <p:nvPr/>
        </p:nvSpPr>
        <p:spPr>
          <a:xfrm>
            <a:off x="11986574" y="5415083"/>
            <a:ext cx="541487" cy="452503"/>
          </a:xfrm>
          <a:custGeom>
            <a:avLst/>
            <a:gdLst/>
            <a:ahLst/>
            <a:cxnLst/>
            <a:rect l="0" t="0" r="r" b="b"/>
            <a:pathLst>
              <a:path w="541487" h="452503">
                <a:moveTo>
                  <a:pt x="498607" y="262262"/>
                </a:moveTo>
                <a:cubicBezTo>
                  <a:pt x="368972" y="187393"/>
                  <a:pt x="132458" y="47989"/>
                  <a:pt x="0" y="0"/>
                </a:cubicBezTo>
                <a:cubicBezTo>
                  <a:pt x="90346" y="102390"/>
                  <a:pt x="335225" y="294668"/>
                  <a:pt x="541487" y="452503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artery_collagen_crossfiber_024"/>
          <p:cNvSpPr/>
          <p:nvPr/>
        </p:nvSpPr>
        <p:spPr>
          <a:xfrm>
            <a:off x="12114756" y="5460055"/>
            <a:ext cx="555349" cy="494064"/>
          </a:xfrm>
          <a:custGeom>
            <a:avLst/>
            <a:gdLst/>
            <a:ahLst/>
            <a:cxnLst/>
            <a:rect l="0" t="0" r="r" b="b"/>
            <a:pathLst>
              <a:path w="555349" h="494064">
                <a:moveTo>
                  <a:pt x="415592" y="254140"/>
                </a:moveTo>
                <a:cubicBezTo>
                  <a:pt x="182128" y="97682"/>
                  <a:pt x="0" y="0"/>
                  <a:pt x="28843" y="59399"/>
                </a:cubicBezTo>
                <a:cubicBezTo>
                  <a:pt x="249752" y="242963"/>
                  <a:pt x="486448" y="426689"/>
                  <a:pt x="555349" y="494064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artery_collagen_crossfiber_025"/>
          <p:cNvSpPr/>
          <p:nvPr/>
        </p:nvSpPr>
        <p:spPr>
          <a:xfrm>
            <a:off x="12227703" y="5532246"/>
            <a:ext cx="560997" cy="477957"/>
          </a:xfrm>
          <a:custGeom>
            <a:avLst/>
            <a:gdLst/>
            <a:ahLst/>
            <a:cxnLst/>
            <a:rect l="0" t="0" r="r" b="b"/>
            <a:pathLst>
              <a:path w="560997" h="477957">
                <a:moveTo>
                  <a:pt x="256474" y="144282"/>
                </a:moveTo>
                <a:cubicBezTo>
                  <a:pt x="35535" y="0"/>
                  <a:pt x="0" y="8166"/>
                  <a:pt x="183129" y="170978"/>
                </a:cubicBezTo>
                <a:cubicBezTo>
                  <a:pt x="437254" y="374138"/>
                  <a:pt x="560997" y="477957"/>
                  <a:pt x="466680" y="436877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artery_collagen_crossfiber_026"/>
          <p:cNvSpPr/>
          <p:nvPr/>
        </p:nvSpPr>
        <p:spPr>
          <a:xfrm>
            <a:off x="12331565" y="5584141"/>
            <a:ext cx="563666" cy="484698"/>
          </a:xfrm>
          <a:custGeom>
            <a:avLst/>
            <a:gdLst/>
            <a:ahLst/>
            <a:cxnLst/>
            <a:rect l="0" t="0" r="r" b="b"/>
            <a:pathLst>
              <a:path w="563666" h="484698">
                <a:moveTo>
                  <a:pt x="98909" y="48870"/>
                </a:moveTo>
                <a:cubicBezTo>
                  <a:pt x="0" y="0"/>
                  <a:pt x="133367" y="129574"/>
                  <a:pt x="390248" y="342685"/>
                </a:cubicBezTo>
                <a:cubicBezTo>
                  <a:pt x="563666" y="484698"/>
                  <a:pt x="521851" y="469551"/>
                  <a:pt x="314272" y="355042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artery_collagen_crossfiber_027"/>
          <p:cNvSpPr/>
          <p:nvPr/>
        </p:nvSpPr>
        <p:spPr>
          <a:xfrm>
            <a:off x="12456588" y="5654133"/>
            <a:ext cx="548710" cy="494376"/>
          </a:xfrm>
          <a:custGeom>
            <a:avLst/>
            <a:gdLst/>
            <a:ahLst/>
            <a:cxnLst/>
            <a:rect l="0" t="0" r="r" b="b"/>
            <a:pathLst>
              <a:path w="548710" h="494376">
                <a:moveTo>
                  <a:pt x="0" y="0"/>
                </a:moveTo>
                <a:cubicBezTo>
                  <a:pt x="74279" y="84294"/>
                  <a:pt x="318463" y="295377"/>
                  <a:pt x="532921" y="473569"/>
                </a:cubicBezTo>
                <a:cubicBezTo>
                  <a:pt x="548710" y="494376"/>
                  <a:pt x="365645" y="378549"/>
                  <a:pt x="147070" y="259240"/>
                </a:cubicBezTo>
              </a:path>
            </a:pathLst>
          </a:custGeom>
          <a:noFill/>
          <a:ln w="6508" cap="rnd">
            <a:solidFill>
              <a:srgbClr val="B9AAD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artery_collagen_crossfiber_028"/>
          <p:cNvSpPr/>
          <p:nvPr/>
        </p:nvSpPr>
        <p:spPr>
          <a:xfrm>
            <a:off x="12612328" y="5781652"/>
            <a:ext cx="534916" cy="468050"/>
          </a:xfrm>
          <a:custGeom>
            <a:avLst/>
            <a:gdLst/>
            <a:ahLst/>
            <a:cxnLst/>
            <a:rect l="0" t="0" r="r" b="b"/>
            <a:pathLst>
              <a:path w="534916" h="468050">
                <a:moveTo>
                  <a:pt x="0" y="0"/>
                </a:moveTo>
                <a:cubicBezTo>
                  <a:pt x="216218" y="195303"/>
                  <a:pt x="460059" y="403769"/>
                  <a:pt x="534916" y="468050"/>
                </a:cubicBezTo>
                <a:cubicBezTo>
                  <a:pt x="389335" y="364205"/>
                  <a:pt x="154802" y="214157"/>
                  <a:pt x="31715" y="156430"/>
                </a:cubicBezTo>
              </a:path>
            </a:pathLst>
          </a:custGeom>
          <a:noFill/>
          <a:ln w="6508" cap="rnd">
            <a:solidFill>
              <a:srgbClr val="D3C6E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artery_collagen_crossfiber_029"/>
          <p:cNvSpPr/>
          <p:nvPr/>
        </p:nvSpPr>
        <p:spPr>
          <a:xfrm>
            <a:off x="12771336" y="5998612"/>
            <a:ext cx="433524" cy="295016"/>
          </a:xfrm>
          <a:custGeom>
            <a:avLst/>
            <a:gdLst/>
            <a:ahLst/>
            <a:cxnLst/>
            <a:rect l="0" t="0" r="r" b="b"/>
            <a:pathLst>
              <a:path w="433524" h="295016">
                <a:moveTo>
                  <a:pt x="115200" y="14026"/>
                </a:moveTo>
                <a:cubicBezTo>
                  <a:pt x="374396" y="243164"/>
                  <a:pt x="433524" y="295016"/>
                  <a:pt x="408720" y="276806"/>
                </a:cubicBezTo>
                <a:cubicBezTo>
                  <a:pt x="172967" y="105585"/>
                  <a:pt x="0" y="0"/>
                  <a:pt x="33021" y="39265"/>
                </a:cubicBezTo>
              </a:path>
            </a:pathLst>
          </a:custGeom>
          <a:noFill/>
          <a:ln w="6508" cap="rnd">
            <a:solidFill>
              <a:srgbClr val="C4B6D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artery_collagen_longfiber_030"/>
          <p:cNvSpPr/>
          <p:nvPr/>
        </p:nvSpPr>
        <p:spPr>
          <a:xfrm>
            <a:off x="9522233" y="3740762"/>
            <a:ext cx="3681429" cy="2549216"/>
          </a:xfrm>
          <a:custGeom>
            <a:avLst/>
            <a:gdLst/>
            <a:ahLst/>
            <a:cxnLst/>
            <a:rect l="0" t="0" r="r" b="b"/>
            <a:pathLst>
              <a:path w="3681429" h="2549216">
                <a:moveTo>
                  <a:pt x="0" y="0"/>
                </a:moveTo>
                <a:cubicBezTo>
                  <a:pt x="1222070" y="670585"/>
                  <a:pt x="2555830" y="1627273"/>
                  <a:pt x="3681429" y="2549216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artery_collagen_longfiber_031"/>
          <p:cNvSpPr/>
          <p:nvPr/>
        </p:nvSpPr>
        <p:spPr>
          <a:xfrm>
            <a:off x="9534914" y="3773779"/>
            <a:ext cx="3668876" cy="2516591"/>
          </a:xfrm>
          <a:custGeom>
            <a:avLst/>
            <a:gdLst/>
            <a:ahLst/>
            <a:cxnLst/>
            <a:rect l="0" t="0" r="r" b="b"/>
            <a:pathLst>
              <a:path w="3668876" h="2516591">
                <a:moveTo>
                  <a:pt x="0" y="0"/>
                </a:moveTo>
                <a:cubicBezTo>
                  <a:pt x="1209388" y="637569"/>
                  <a:pt x="2547139" y="1605864"/>
                  <a:pt x="3668876" y="2516591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artery_collagen_longfiber_032"/>
          <p:cNvSpPr/>
          <p:nvPr/>
        </p:nvSpPr>
        <p:spPr>
          <a:xfrm>
            <a:off x="9547595" y="3806795"/>
            <a:ext cx="3656323" cy="2483967"/>
          </a:xfrm>
          <a:custGeom>
            <a:avLst/>
            <a:gdLst/>
            <a:ahLst/>
            <a:cxnLst/>
            <a:rect l="0" t="0" r="r" b="b"/>
            <a:pathLst>
              <a:path w="3656323" h="2483967">
                <a:moveTo>
                  <a:pt x="0" y="0"/>
                </a:moveTo>
                <a:cubicBezTo>
                  <a:pt x="1203556" y="623388"/>
                  <a:pt x="2538449" y="1584455"/>
                  <a:pt x="3656323" y="2483967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artery_collagen_longfiber_033"/>
          <p:cNvSpPr/>
          <p:nvPr/>
        </p:nvSpPr>
        <p:spPr>
          <a:xfrm>
            <a:off x="9560277" y="3839812"/>
            <a:ext cx="3643771" cy="2451342"/>
          </a:xfrm>
          <a:custGeom>
            <a:avLst/>
            <a:gdLst/>
            <a:ahLst/>
            <a:cxnLst/>
            <a:rect l="0" t="0" r="r" b="b"/>
            <a:pathLst>
              <a:path w="3643771" h="2451342">
                <a:moveTo>
                  <a:pt x="0" y="0"/>
                </a:moveTo>
                <a:cubicBezTo>
                  <a:pt x="1199371" y="613741"/>
                  <a:pt x="2529759" y="1563046"/>
                  <a:pt x="3643771" y="2451342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artery_collagen_longfiber_034"/>
          <p:cNvSpPr/>
          <p:nvPr/>
        </p:nvSpPr>
        <p:spPr>
          <a:xfrm>
            <a:off x="9572958" y="3872829"/>
            <a:ext cx="3631218" cy="2418717"/>
          </a:xfrm>
          <a:custGeom>
            <a:avLst/>
            <a:gdLst/>
            <a:ahLst/>
            <a:cxnLst/>
            <a:rect l="0" t="0" r="r" b="b"/>
            <a:pathLst>
              <a:path w="3631218" h="2418717">
                <a:moveTo>
                  <a:pt x="0" y="0"/>
                </a:moveTo>
                <a:cubicBezTo>
                  <a:pt x="1195187" y="604094"/>
                  <a:pt x="2521068" y="1541637"/>
                  <a:pt x="3631218" y="2418717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artery_collagen_longfiber_035"/>
          <p:cNvSpPr/>
          <p:nvPr/>
        </p:nvSpPr>
        <p:spPr>
          <a:xfrm>
            <a:off x="9585640" y="3905845"/>
            <a:ext cx="3618665" cy="2386092"/>
          </a:xfrm>
          <a:custGeom>
            <a:avLst/>
            <a:gdLst/>
            <a:ahLst/>
            <a:cxnLst/>
            <a:rect l="0" t="0" r="r" b="b"/>
            <a:pathLst>
              <a:path w="3618665" h="2386092">
                <a:moveTo>
                  <a:pt x="0" y="0"/>
                </a:moveTo>
                <a:cubicBezTo>
                  <a:pt x="1191003" y="594448"/>
                  <a:pt x="2512378" y="1520228"/>
                  <a:pt x="3618665" y="2386092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artery_collagen_longfiber_036"/>
          <p:cNvSpPr/>
          <p:nvPr/>
        </p:nvSpPr>
        <p:spPr>
          <a:xfrm>
            <a:off x="9598321" y="3938862"/>
            <a:ext cx="3606113" cy="2353468"/>
          </a:xfrm>
          <a:custGeom>
            <a:avLst/>
            <a:gdLst/>
            <a:ahLst/>
            <a:cxnLst/>
            <a:rect l="0" t="0" r="r" b="b"/>
            <a:pathLst>
              <a:path w="3606113" h="2353468">
                <a:moveTo>
                  <a:pt x="0" y="0"/>
                </a:moveTo>
                <a:cubicBezTo>
                  <a:pt x="1186819" y="584801"/>
                  <a:pt x="2503688" y="1498819"/>
                  <a:pt x="3606113" y="2353468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artery_collagen_longfiber_037"/>
          <p:cNvSpPr/>
          <p:nvPr/>
        </p:nvSpPr>
        <p:spPr>
          <a:xfrm>
            <a:off x="9611002" y="3971878"/>
            <a:ext cx="3593560" cy="2320843"/>
          </a:xfrm>
          <a:custGeom>
            <a:avLst/>
            <a:gdLst/>
            <a:ahLst/>
            <a:cxnLst/>
            <a:rect l="0" t="0" r="r" b="b"/>
            <a:pathLst>
              <a:path w="3593560" h="2320843">
                <a:moveTo>
                  <a:pt x="0" y="0"/>
                </a:moveTo>
                <a:cubicBezTo>
                  <a:pt x="1182634" y="575154"/>
                  <a:pt x="2494997" y="1477410"/>
                  <a:pt x="3593560" y="2320843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artery_collagen_longfiber_038"/>
          <p:cNvSpPr/>
          <p:nvPr/>
        </p:nvSpPr>
        <p:spPr>
          <a:xfrm>
            <a:off x="9623684" y="4004895"/>
            <a:ext cx="3581007" cy="2288218"/>
          </a:xfrm>
          <a:custGeom>
            <a:avLst/>
            <a:gdLst/>
            <a:ahLst/>
            <a:cxnLst/>
            <a:rect l="0" t="0" r="r" b="b"/>
            <a:pathLst>
              <a:path w="3581007" h="2288218">
                <a:moveTo>
                  <a:pt x="0" y="0"/>
                </a:moveTo>
                <a:cubicBezTo>
                  <a:pt x="1178450" y="565508"/>
                  <a:pt x="2486307" y="1456001"/>
                  <a:pt x="3581007" y="2288218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artery_collagen_longfiber_039"/>
          <p:cNvSpPr/>
          <p:nvPr/>
        </p:nvSpPr>
        <p:spPr>
          <a:xfrm>
            <a:off x="9636365" y="4037912"/>
            <a:ext cx="3568455" cy="2255593"/>
          </a:xfrm>
          <a:custGeom>
            <a:avLst/>
            <a:gdLst/>
            <a:ahLst/>
            <a:cxnLst/>
            <a:rect l="0" t="0" r="r" b="b"/>
            <a:pathLst>
              <a:path w="3568455" h="2255593">
                <a:moveTo>
                  <a:pt x="0" y="0"/>
                </a:moveTo>
                <a:cubicBezTo>
                  <a:pt x="1174266" y="555861"/>
                  <a:pt x="2477617" y="1434592"/>
                  <a:pt x="3568455" y="2255593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artery_collagen_longfiber_040"/>
          <p:cNvSpPr/>
          <p:nvPr/>
        </p:nvSpPr>
        <p:spPr>
          <a:xfrm>
            <a:off x="9649047" y="4070928"/>
            <a:ext cx="3555902" cy="2222968"/>
          </a:xfrm>
          <a:custGeom>
            <a:avLst/>
            <a:gdLst/>
            <a:ahLst/>
            <a:cxnLst/>
            <a:rect l="0" t="0" r="r" b="b"/>
            <a:pathLst>
              <a:path w="3555902" h="2222968">
                <a:moveTo>
                  <a:pt x="0" y="0"/>
                </a:moveTo>
                <a:cubicBezTo>
                  <a:pt x="1170082" y="546214"/>
                  <a:pt x="2468927" y="1413183"/>
                  <a:pt x="3555902" y="2222968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artery_collagen_longfiber_041"/>
          <p:cNvSpPr/>
          <p:nvPr/>
        </p:nvSpPr>
        <p:spPr>
          <a:xfrm>
            <a:off x="9661728" y="4103945"/>
            <a:ext cx="3543349" cy="2190344"/>
          </a:xfrm>
          <a:custGeom>
            <a:avLst/>
            <a:gdLst/>
            <a:ahLst/>
            <a:cxnLst/>
            <a:rect l="0" t="0" r="r" b="b"/>
            <a:pathLst>
              <a:path w="3543349" h="2190344">
                <a:moveTo>
                  <a:pt x="0" y="0"/>
                </a:moveTo>
                <a:cubicBezTo>
                  <a:pt x="1165898" y="536568"/>
                  <a:pt x="2460236" y="1391774"/>
                  <a:pt x="3543349" y="2190344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artery_collagen_longfiber_042"/>
          <p:cNvSpPr/>
          <p:nvPr/>
        </p:nvSpPr>
        <p:spPr>
          <a:xfrm>
            <a:off x="9674409" y="4136962"/>
            <a:ext cx="3530797" cy="2157719"/>
          </a:xfrm>
          <a:custGeom>
            <a:avLst/>
            <a:gdLst/>
            <a:ahLst/>
            <a:cxnLst/>
            <a:rect l="0" t="0" r="r" b="b"/>
            <a:pathLst>
              <a:path w="3530797" h="2157719">
                <a:moveTo>
                  <a:pt x="0" y="0"/>
                </a:moveTo>
                <a:cubicBezTo>
                  <a:pt x="1161713" y="526921"/>
                  <a:pt x="2451546" y="1370366"/>
                  <a:pt x="3530797" y="2157719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artery_collagen_longfiber_043"/>
          <p:cNvSpPr/>
          <p:nvPr/>
        </p:nvSpPr>
        <p:spPr>
          <a:xfrm>
            <a:off x="9687091" y="4169978"/>
            <a:ext cx="3518244" cy="2125094"/>
          </a:xfrm>
          <a:custGeom>
            <a:avLst/>
            <a:gdLst/>
            <a:ahLst/>
            <a:cxnLst/>
            <a:rect l="0" t="0" r="r" b="b"/>
            <a:pathLst>
              <a:path w="3518244" h="2125094">
                <a:moveTo>
                  <a:pt x="0" y="0"/>
                </a:moveTo>
                <a:cubicBezTo>
                  <a:pt x="1157529" y="517274"/>
                  <a:pt x="2442856" y="1348957"/>
                  <a:pt x="3518244" y="2125094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artery_collagen_longfiber_044"/>
          <p:cNvSpPr/>
          <p:nvPr/>
        </p:nvSpPr>
        <p:spPr>
          <a:xfrm>
            <a:off x="9699772" y="4202995"/>
            <a:ext cx="3505691" cy="2092469"/>
          </a:xfrm>
          <a:custGeom>
            <a:avLst/>
            <a:gdLst/>
            <a:ahLst/>
            <a:cxnLst/>
            <a:rect l="0" t="0" r="r" b="b"/>
            <a:pathLst>
              <a:path w="3505691" h="2092469">
                <a:moveTo>
                  <a:pt x="0" y="0"/>
                </a:moveTo>
                <a:cubicBezTo>
                  <a:pt x="1153345" y="507628"/>
                  <a:pt x="2434165" y="1327548"/>
                  <a:pt x="3505691" y="2092469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artery_collagen_longfiber_045"/>
          <p:cNvSpPr/>
          <p:nvPr/>
        </p:nvSpPr>
        <p:spPr>
          <a:xfrm>
            <a:off x="9712454" y="4236012"/>
            <a:ext cx="3493139" cy="2059845"/>
          </a:xfrm>
          <a:custGeom>
            <a:avLst/>
            <a:gdLst/>
            <a:ahLst/>
            <a:cxnLst/>
            <a:rect l="0" t="0" r="r" b="b"/>
            <a:pathLst>
              <a:path w="3493139" h="2059845">
                <a:moveTo>
                  <a:pt x="0" y="0"/>
                </a:moveTo>
                <a:cubicBezTo>
                  <a:pt x="1149161" y="497981"/>
                  <a:pt x="2425475" y="1306139"/>
                  <a:pt x="3493139" y="2059845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artery_collagen_longfiber_046"/>
          <p:cNvSpPr/>
          <p:nvPr/>
        </p:nvSpPr>
        <p:spPr>
          <a:xfrm>
            <a:off x="9725135" y="4269028"/>
            <a:ext cx="3480586" cy="2027220"/>
          </a:xfrm>
          <a:custGeom>
            <a:avLst/>
            <a:gdLst/>
            <a:ahLst/>
            <a:cxnLst/>
            <a:rect l="0" t="0" r="r" b="b"/>
            <a:pathLst>
              <a:path w="3480586" h="2027220">
                <a:moveTo>
                  <a:pt x="0" y="0"/>
                </a:moveTo>
                <a:cubicBezTo>
                  <a:pt x="1144976" y="488334"/>
                  <a:pt x="2416785" y="1284730"/>
                  <a:pt x="3480586" y="2027220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artery_collagen_longfiber_047"/>
          <p:cNvSpPr/>
          <p:nvPr/>
        </p:nvSpPr>
        <p:spPr>
          <a:xfrm>
            <a:off x="9737816" y="4302045"/>
            <a:ext cx="3468033" cy="1994595"/>
          </a:xfrm>
          <a:custGeom>
            <a:avLst/>
            <a:gdLst/>
            <a:ahLst/>
            <a:cxnLst/>
            <a:rect l="0" t="0" r="r" b="b"/>
            <a:pathLst>
              <a:path w="3468033" h="1994595">
                <a:moveTo>
                  <a:pt x="0" y="0"/>
                </a:moveTo>
                <a:cubicBezTo>
                  <a:pt x="1140792" y="478688"/>
                  <a:pt x="2408094" y="1263321"/>
                  <a:pt x="3468033" y="1994595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artery_collagen_longfiber_048"/>
          <p:cNvSpPr/>
          <p:nvPr/>
        </p:nvSpPr>
        <p:spPr>
          <a:xfrm>
            <a:off x="9750498" y="4335062"/>
            <a:ext cx="3455481" cy="1961970"/>
          </a:xfrm>
          <a:custGeom>
            <a:avLst/>
            <a:gdLst/>
            <a:ahLst/>
            <a:cxnLst/>
            <a:rect l="0" t="0" r="r" b="b"/>
            <a:pathLst>
              <a:path w="3455481" h="1961970">
                <a:moveTo>
                  <a:pt x="0" y="0"/>
                </a:moveTo>
                <a:cubicBezTo>
                  <a:pt x="1136608" y="469041"/>
                  <a:pt x="2399404" y="1241912"/>
                  <a:pt x="3455481" y="1961970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artery_collagen_longfiber_049"/>
          <p:cNvSpPr/>
          <p:nvPr/>
        </p:nvSpPr>
        <p:spPr>
          <a:xfrm>
            <a:off x="9763179" y="4368078"/>
            <a:ext cx="3442928" cy="1929346"/>
          </a:xfrm>
          <a:custGeom>
            <a:avLst/>
            <a:gdLst/>
            <a:ahLst/>
            <a:cxnLst/>
            <a:rect l="0" t="0" r="r" b="b"/>
            <a:pathLst>
              <a:path w="3442928" h="1929346">
                <a:moveTo>
                  <a:pt x="0" y="0"/>
                </a:moveTo>
                <a:cubicBezTo>
                  <a:pt x="1132424" y="459394"/>
                  <a:pt x="2390714" y="1220503"/>
                  <a:pt x="3442928" y="1929346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artery_collagen_longfiber_050"/>
          <p:cNvSpPr/>
          <p:nvPr/>
        </p:nvSpPr>
        <p:spPr>
          <a:xfrm>
            <a:off x="9775861" y="4401095"/>
            <a:ext cx="3430375" cy="1896721"/>
          </a:xfrm>
          <a:custGeom>
            <a:avLst/>
            <a:gdLst/>
            <a:ahLst/>
            <a:cxnLst/>
            <a:rect l="0" t="0" r="r" b="b"/>
            <a:pathLst>
              <a:path w="3430375" h="1896721">
                <a:moveTo>
                  <a:pt x="0" y="0"/>
                </a:moveTo>
                <a:cubicBezTo>
                  <a:pt x="1128240" y="449748"/>
                  <a:pt x="2382023" y="1199094"/>
                  <a:pt x="3430375" y="1896721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artery_collagen_longfiber_051"/>
          <p:cNvSpPr/>
          <p:nvPr/>
        </p:nvSpPr>
        <p:spPr>
          <a:xfrm>
            <a:off x="9788542" y="4434112"/>
            <a:ext cx="3417823" cy="1864096"/>
          </a:xfrm>
          <a:custGeom>
            <a:avLst/>
            <a:gdLst/>
            <a:ahLst/>
            <a:cxnLst/>
            <a:rect l="0" t="0" r="r" b="b"/>
            <a:pathLst>
              <a:path w="3417823" h="1864096">
                <a:moveTo>
                  <a:pt x="0" y="0"/>
                </a:moveTo>
                <a:cubicBezTo>
                  <a:pt x="1124055" y="440101"/>
                  <a:pt x="2373333" y="1177685"/>
                  <a:pt x="3417823" y="1864096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artery_collagen_longfiber_052"/>
          <p:cNvSpPr/>
          <p:nvPr/>
        </p:nvSpPr>
        <p:spPr>
          <a:xfrm>
            <a:off x="9801223" y="4467128"/>
            <a:ext cx="3405270" cy="1831471"/>
          </a:xfrm>
          <a:custGeom>
            <a:avLst/>
            <a:gdLst/>
            <a:ahLst/>
            <a:cxnLst/>
            <a:rect l="0" t="0" r="r" b="b"/>
            <a:pathLst>
              <a:path w="3405270" h="1831471">
                <a:moveTo>
                  <a:pt x="0" y="0"/>
                </a:moveTo>
                <a:cubicBezTo>
                  <a:pt x="1119871" y="430455"/>
                  <a:pt x="2364643" y="1156276"/>
                  <a:pt x="3405270" y="1831471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artery_collagen_longfiber_053"/>
          <p:cNvSpPr/>
          <p:nvPr/>
        </p:nvSpPr>
        <p:spPr>
          <a:xfrm>
            <a:off x="9813905" y="4500145"/>
            <a:ext cx="3392717" cy="1798846"/>
          </a:xfrm>
          <a:custGeom>
            <a:avLst/>
            <a:gdLst/>
            <a:ahLst/>
            <a:cxnLst/>
            <a:rect l="0" t="0" r="r" b="b"/>
            <a:pathLst>
              <a:path w="3392717" h="1798846">
                <a:moveTo>
                  <a:pt x="0" y="0"/>
                </a:moveTo>
                <a:cubicBezTo>
                  <a:pt x="1115687" y="420808"/>
                  <a:pt x="2355953" y="1134867"/>
                  <a:pt x="3392717" y="1798846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artery_collagen_longfiber_054"/>
          <p:cNvSpPr/>
          <p:nvPr/>
        </p:nvSpPr>
        <p:spPr>
          <a:xfrm>
            <a:off x="9826586" y="4533162"/>
            <a:ext cx="3380165" cy="1766222"/>
          </a:xfrm>
          <a:custGeom>
            <a:avLst/>
            <a:gdLst/>
            <a:ahLst/>
            <a:cxnLst/>
            <a:rect l="0" t="0" r="r" b="b"/>
            <a:pathLst>
              <a:path w="3380165" h="1766222">
                <a:moveTo>
                  <a:pt x="0" y="0"/>
                </a:moveTo>
                <a:cubicBezTo>
                  <a:pt x="1111503" y="411161"/>
                  <a:pt x="2347262" y="1113458"/>
                  <a:pt x="3380165" y="1766222"/>
                </a:cubicBezTo>
              </a:path>
            </a:pathLst>
          </a:custGeom>
          <a:noFill/>
          <a:ln w="6198" cap="rnd">
            <a:solidFill>
              <a:srgbClr val="C5B7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artery_collagen_longfiber_055"/>
          <p:cNvSpPr/>
          <p:nvPr/>
        </p:nvSpPr>
        <p:spPr>
          <a:xfrm>
            <a:off x="9839268" y="4566178"/>
            <a:ext cx="3367612" cy="1733597"/>
          </a:xfrm>
          <a:custGeom>
            <a:avLst/>
            <a:gdLst/>
            <a:ahLst/>
            <a:cxnLst/>
            <a:rect l="0" t="0" r="r" b="b"/>
            <a:pathLst>
              <a:path w="3367612" h="1733597">
                <a:moveTo>
                  <a:pt x="0" y="0"/>
                </a:moveTo>
                <a:cubicBezTo>
                  <a:pt x="1107319" y="401515"/>
                  <a:pt x="2338572" y="1092049"/>
                  <a:pt x="3367612" y="1733597"/>
                </a:cubicBezTo>
              </a:path>
            </a:pathLst>
          </a:custGeom>
          <a:noFill/>
          <a:ln w="6198" cap="rnd">
            <a:solidFill>
              <a:srgbClr val="D9CC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artery_collagen_longfiber_056"/>
          <p:cNvSpPr/>
          <p:nvPr/>
        </p:nvSpPr>
        <p:spPr>
          <a:xfrm>
            <a:off x="9851949" y="4599195"/>
            <a:ext cx="3355059" cy="1700972"/>
          </a:xfrm>
          <a:custGeom>
            <a:avLst/>
            <a:gdLst/>
            <a:ahLst/>
            <a:cxnLst/>
            <a:rect l="0" t="0" r="r" b="b"/>
            <a:pathLst>
              <a:path w="3355059" h="1700972">
                <a:moveTo>
                  <a:pt x="0" y="0"/>
                </a:moveTo>
                <a:cubicBezTo>
                  <a:pt x="1103134" y="391868"/>
                  <a:pt x="2329882" y="1070640"/>
                  <a:pt x="3355059" y="1700972"/>
                </a:cubicBezTo>
              </a:path>
            </a:pathLst>
          </a:custGeom>
          <a:noFill/>
          <a:ln w="6198" cap="rnd">
            <a:solidFill>
              <a:srgbClr val="B6A7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artery_collagen_longfiber_057"/>
          <p:cNvSpPr/>
          <p:nvPr/>
        </p:nvSpPr>
        <p:spPr>
          <a:xfrm>
            <a:off x="9864630" y="4632211"/>
            <a:ext cx="3342507" cy="1668347"/>
          </a:xfrm>
          <a:custGeom>
            <a:avLst/>
            <a:gdLst/>
            <a:ahLst/>
            <a:cxnLst/>
            <a:rect l="0" t="0" r="r" b="b"/>
            <a:pathLst>
              <a:path w="3342507" h="1668347">
                <a:moveTo>
                  <a:pt x="0" y="0"/>
                </a:moveTo>
                <a:cubicBezTo>
                  <a:pt x="1098950" y="382221"/>
                  <a:pt x="2320655" y="1047672"/>
                  <a:pt x="3342507" y="1668347"/>
                </a:cubicBezTo>
              </a:path>
            </a:pathLst>
          </a:custGeom>
          <a:noFill/>
          <a:ln w="6198" cap="rnd">
            <a:solidFill>
              <a:srgbClr val="FDFB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artery_fibroblast_cytoplasm_058"/>
          <p:cNvSpPr/>
          <p:nvPr/>
        </p:nvSpPr>
        <p:spPr>
          <a:xfrm>
            <a:off x="10105545" y="4433209"/>
            <a:ext cx="445051" cy="371998"/>
          </a:xfrm>
          <a:custGeom>
            <a:avLst/>
            <a:gdLst/>
            <a:ahLst/>
            <a:cxnLst/>
            <a:rect l="0" t="0" r="r" b="b"/>
            <a:pathLst>
              <a:path w="445051" h="371998">
                <a:moveTo>
                  <a:pt x="31934" y="42378"/>
                </a:moveTo>
                <a:cubicBezTo>
                  <a:pt x="63868" y="0"/>
                  <a:pt x="175086" y="29947"/>
                  <a:pt x="280347" y="109267"/>
                </a:cubicBezTo>
                <a:cubicBezTo>
                  <a:pt x="385608" y="188587"/>
                  <a:pt x="445051" y="287242"/>
                  <a:pt x="413117" y="329620"/>
                </a:cubicBezTo>
                <a:cubicBezTo>
                  <a:pt x="381183" y="371998"/>
                  <a:pt x="269965" y="342050"/>
                  <a:pt x="164704" y="262731"/>
                </a:cubicBezTo>
                <a:cubicBezTo>
                  <a:pt x="59443" y="183411"/>
                  <a:pt x="0" y="84756"/>
                  <a:pt x="31934" y="42378"/>
                </a:cubicBezTo>
                <a:close/>
              </a:path>
            </a:pathLst>
          </a:custGeom>
          <a:solidFill>
            <a:srgbClr val="E0D7EC"/>
          </a:solidFill>
          <a:ln w="4958" cap="rnd">
            <a:solidFill>
              <a:srgbClr val="BDB0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artery_fibroblast_nucleus_059"/>
          <p:cNvSpPr/>
          <p:nvPr/>
        </p:nvSpPr>
        <p:spPr>
          <a:xfrm>
            <a:off x="10161015" y="4482689"/>
            <a:ext cx="334111" cy="273038"/>
          </a:xfrm>
          <a:custGeom>
            <a:avLst/>
            <a:gdLst/>
            <a:ahLst/>
            <a:cxnLst/>
            <a:rect l="0" t="0" r="r" b="b"/>
            <a:pathLst>
              <a:path w="334111" h="273038">
                <a:moveTo>
                  <a:pt x="18542" y="24606"/>
                </a:moveTo>
                <a:cubicBezTo>
                  <a:pt x="37085" y="0"/>
                  <a:pt x="118608" y="30158"/>
                  <a:pt x="200629" y="91965"/>
                </a:cubicBezTo>
                <a:cubicBezTo>
                  <a:pt x="282651" y="153773"/>
                  <a:pt x="334111" y="223825"/>
                  <a:pt x="315568" y="248432"/>
                </a:cubicBezTo>
                <a:cubicBezTo>
                  <a:pt x="297026" y="273038"/>
                  <a:pt x="215503" y="242881"/>
                  <a:pt x="133482" y="181073"/>
                </a:cubicBezTo>
                <a:cubicBezTo>
                  <a:pt x="51460" y="119265"/>
                  <a:pt x="0" y="49213"/>
                  <a:pt x="18542" y="24606"/>
                </a:cubicBezTo>
                <a:close/>
              </a:path>
            </a:pathLst>
          </a:custGeom>
          <a:gradFill rotWithShape="1">
            <a:gsLst>
              <a:gs pos="0">
                <a:srgbClr val="C8BDE0"/>
              </a:gs>
              <a:gs pos="50000">
                <a:srgbClr val="ADA0D0"/>
              </a:gs>
              <a:gs pos="100000">
                <a:srgbClr val="857AB5"/>
              </a:gs>
            </a:gsLst>
            <a:lin ang="3600000" scaled="1"/>
          </a:gradFill>
          <a:ln w="6198" cap="rnd">
            <a:solidFill>
              <a:srgbClr val="7C73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artery_fibroblast_highlight_060"/>
          <p:cNvSpPr/>
          <p:nvPr/>
        </p:nvSpPr>
        <p:spPr>
          <a:xfrm>
            <a:off x="10213532" y="4534356"/>
            <a:ext cx="154694" cy="120115"/>
          </a:xfrm>
          <a:custGeom>
            <a:avLst/>
            <a:gdLst/>
            <a:ahLst/>
            <a:cxnLst/>
            <a:rect l="0" t="0" r="r" b="b"/>
            <a:pathLst>
              <a:path w="154694" h="120115">
                <a:moveTo>
                  <a:pt x="3090" y="4101"/>
                </a:moveTo>
                <a:cubicBezTo>
                  <a:pt x="6181" y="0"/>
                  <a:pt x="41932" y="21728"/>
                  <a:pt x="82943" y="52632"/>
                </a:cubicBezTo>
                <a:cubicBezTo>
                  <a:pt x="123953" y="83536"/>
                  <a:pt x="154694" y="111913"/>
                  <a:pt x="151603" y="116014"/>
                </a:cubicBezTo>
                <a:cubicBezTo>
                  <a:pt x="148513" y="120115"/>
                  <a:pt x="112762" y="98387"/>
                  <a:pt x="71751" y="67483"/>
                </a:cubicBezTo>
                <a:cubicBezTo>
                  <a:pt x="30741" y="36579"/>
                  <a:pt x="0" y="8202"/>
                  <a:pt x="3090" y="4101"/>
                </a:cubicBezTo>
                <a:close/>
              </a:path>
            </a:pathLst>
          </a:custGeom>
          <a:solidFill>
            <a:srgbClr val="E3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artery_fibroblast_cytoplasm_061"/>
          <p:cNvSpPr/>
          <p:nvPr/>
        </p:nvSpPr>
        <p:spPr>
          <a:xfrm>
            <a:off x="10535397" y="4709371"/>
            <a:ext cx="490345" cy="352754"/>
          </a:xfrm>
          <a:custGeom>
            <a:avLst/>
            <a:gdLst/>
            <a:ahLst/>
            <a:cxnLst/>
            <a:rect l="0" t="0" r="r" b="b"/>
            <a:pathLst>
              <a:path w="490345" h="352754">
                <a:moveTo>
                  <a:pt x="27329" y="45484"/>
                </a:moveTo>
                <a:cubicBezTo>
                  <a:pt x="54659" y="0"/>
                  <a:pt x="174345" y="21731"/>
                  <a:pt x="294657" y="94022"/>
                </a:cubicBezTo>
                <a:cubicBezTo>
                  <a:pt x="414968" y="166312"/>
                  <a:pt x="490345" y="261787"/>
                  <a:pt x="463016" y="307270"/>
                </a:cubicBezTo>
                <a:cubicBezTo>
                  <a:pt x="435686" y="352754"/>
                  <a:pt x="316000" y="331023"/>
                  <a:pt x="195688" y="258732"/>
                </a:cubicBezTo>
                <a:cubicBezTo>
                  <a:pt x="75377" y="186442"/>
                  <a:pt x="0" y="90967"/>
                  <a:pt x="27329" y="45484"/>
                </a:cubicBezTo>
                <a:close/>
              </a:path>
            </a:pathLst>
          </a:custGeom>
          <a:solidFill>
            <a:srgbClr val="E0D7EC"/>
          </a:solidFill>
          <a:ln w="4958" cap="rnd">
            <a:solidFill>
              <a:srgbClr val="BDB0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artery_fibroblast_nucleus_062"/>
          <p:cNvSpPr/>
          <p:nvPr/>
        </p:nvSpPr>
        <p:spPr>
          <a:xfrm>
            <a:off x="10592020" y="4755581"/>
            <a:ext cx="377099" cy="260334"/>
          </a:xfrm>
          <a:custGeom>
            <a:avLst/>
            <a:gdLst/>
            <a:ahLst/>
            <a:cxnLst/>
            <a:rect l="0" t="0" r="r" b="b"/>
            <a:pathLst>
              <a:path w="377099" h="260334">
                <a:moveTo>
                  <a:pt x="15869" y="26410"/>
                </a:moveTo>
                <a:cubicBezTo>
                  <a:pt x="31737" y="0"/>
                  <a:pt x="121913" y="25044"/>
                  <a:pt x="217282" y="82348"/>
                </a:cubicBezTo>
                <a:cubicBezTo>
                  <a:pt x="312651" y="139651"/>
                  <a:pt x="377099" y="207514"/>
                  <a:pt x="361230" y="233924"/>
                </a:cubicBezTo>
                <a:cubicBezTo>
                  <a:pt x="345361" y="260334"/>
                  <a:pt x="255185" y="235289"/>
                  <a:pt x="159817" y="177986"/>
                </a:cubicBezTo>
                <a:cubicBezTo>
                  <a:pt x="64448" y="120683"/>
                  <a:pt x="0" y="52820"/>
                  <a:pt x="15869" y="26410"/>
                </a:cubicBezTo>
                <a:close/>
              </a:path>
            </a:pathLst>
          </a:custGeom>
          <a:gradFill rotWithShape="1">
            <a:gsLst>
              <a:gs pos="0">
                <a:srgbClr val="C8BDE0"/>
              </a:gs>
              <a:gs pos="50000">
                <a:srgbClr val="ADA0D0"/>
              </a:gs>
              <a:gs pos="100000">
                <a:srgbClr val="857AB5"/>
              </a:gs>
            </a:gsLst>
            <a:lin ang="3600000" scaled="1"/>
          </a:gradFill>
          <a:ln w="6198" cap="rnd">
            <a:solidFill>
              <a:srgbClr val="7C73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artery_fibroblast_highlight_063"/>
          <p:cNvSpPr/>
          <p:nvPr/>
        </p:nvSpPr>
        <p:spPr>
          <a:xfrm>
            <a:off x="10654393" y="4804674"/>
            <a:ext cx="177970" cy="112560"/>
          </a:xfrm>
          <a:custGeom>
            <a:avLst/>
            <a:gdLst/>
            <a:ahLst/>
            <a:cxnLst/>
            <a:rect l="0" t="0" r="r" b="b"/>
            <a:pathLst>
              <a:path w="177970" h="112560">
                <a:moveTo>
                  <a:pt x="2645" y="4402"/>
                </a:moveTo>
                <a:cubicBezTo>
                  <a:pt x="5290" y="0"/>
                  <a:pt x="46089" y="19659"/>
                  <a:pt x="93774" y="48310"/>
                </a:cubicBezTo>
                <a:cubicBezTo>
                  <a:pt x="141458" y="76962"/>
                  <a:pt x="177970" y="103757"/>
                  <a:pt x="175325" y="108159"/>
                </a:cubicBezTo>
                <a:cubicBezTo>
                  <a:pt x="172681" y="112560"/>
                  <a:pt x="131881" y="92902"/>
                  <a:pt x="84196" y="64250"/>
                </a:cubicBezTo>
                <a:cubicBezTo>
                  <a:pt x="36512" y="35598"/>
                  <a:pt x="0" y="8803"/>
                  <a:pt x="2645" y="4402"/>
                </a:cubicBezTo>
                <a:close/>
              </a:path>
            </a:pathLst>
          </a:custGeom>
          <a:solidFill>
            <a:srgbClr val="E3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artery_fibroblast_cytoplasm_064"/>
          <p:cNvSpPr/>
          <p:nvPr/>
        </p:nvSpPr>
        <p:spPr>
          <a:xfrm>
            <a:off x="10974658" y="4976161"/>
            <a:ext cx="467231" cy="364652"/>
          </a:xfrm>
          <a:custGeom>
            <a:avLst/>
            <a:gdLst/>
            <a:ahLst/>
            <a:cxnLst/>
            <a:rect l="0" t="0" r="r" b="b"/>
            <a:pathLst>
              <a:path w="467231" h="364652">
                <a:moveTo>
                  <a:pt x="30629" y="45410"/>
                </a:moveTo>
                <a:cubicBezTo>
                  <a:pt x="61259" y="0"/>
                  <a:pt x="176969" y="24487"/>
                  <a:pt x="289075" y="100104"/>
                </a:cubicBezTo>
                <a:cubicBezTo>
                  <a:pt x="401181" y="175720"/>
                  <a:pt x="467231" y="273831"/>
                  <a:pt x="436601" y="319242"/>
                </a:cubicBezTo>
                <a:cubicBezTo>
                  <a:pt x="405972" y="364652"/>
                  <a:pt x="290262" y="340164"/>
                  <a:pt x="178156" y="264548"/>
                </a:cubicBezTo>
                <a:cubicBezTo>
                  <a:pt x="66050" y="188931"/>
                  <a:pt x="0" y="90820"/>
                  <a:pt x="30629" y="45410"/>
                </a:cubicBezTo>
                <a:close/>
              </a:path>
            </a:pathLst>
          </a:custGeom>
          <a:solidFill>
            <a:srgbClr val="E0D7EC"/>
          </a:solidFill>
          <a:ln w="4958" cap="rnd">
            <a:solidFill>
              <a:srgbClr val="BDB0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artery_fibroblast_nucleus_065"/>
          <p:cNvSpPr/>
          <p:nvPr/>
        </p:nvSpPr>
        <p:spPr>
          <a:xfrm>
            <a:off x="11030782" y="5024072"/>
            <a:ext cx="354983" cy="268830"/>
          </a:xfrm>
          <a:custGeom>
            <a:avLst/>
            <a:gdLst/>
            <a:ahLst/>
            <a:cxnLst/>
            <a:rect l="0" t="0" r="r" b="b"/>
            <a:pathLst>
              <a:path w="354983" h="268830">
                <a:moveTo>
                  <a:pt x="18186" y="26962"/>
                </a:moveTo>
                <a:cubicBezTo>
                  <a:pt x="36372" y="0"/>
                  <a:pt x="122439" y="26251"/>
                  <a:pt x="210421" y="85596"/>
                </a:cubicBezTo>
                <a:cubicBezTo>
                  <a:pt x="298403" y="144940"/>
                  <a:pt x="354983" y="214906"/>
                  <a:pt x="336797" y="241868"/>
                </a:cubicBezTo>
                <a:cubicBezTo>
                  <a:pt x="318611" y="268830"/>
                  <a:pt x="232545" y="242579"/>
                  <a:pt x="144563" y="183234"/>
                </a:cubicBezTo>
                <a:cubicBezTo>
                  <a:pt x="56581" y="123890"/>
                  <a:pt x="0" y="53924"/>
                  <a:pt x="18186" y="26962"/>
                </a:cubicBezTo>
                <a:close/>
              </a:path>
            </a:pathLst>
          </a:custGeom>
          <a:gradFill rotWithShape="1">
            <a:gsLst>
              <a:gs pos="0">
                <a:srgbClr val="C8BDE0"/>
              </a:gs>
              <a:gs pos="50000">
                <a:srgbClr val="ADA0D0"/>
              </a:gs>
              <a:gs pos="100000">
                <a:srgbClr val="857AB5"/>
              </a:gs>
            </a:gsLst>
            <a:lin ang="3600000" scaled="1"/>
          </a:gradFill>
          <a:ln w="6198" cap="rnd">
            <a:solidFill>
              <a:srgbClr val="7C73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artery_fibroblast_highlight_066"/>
          <p:cNvSpPr/>
          <p:nvPr/>
        </p:nvSpPr>
        <p:spPr>
          <a:xfrm>
            <a:off x="11088558" y="5075709"/>
            <a:ext cx="165048" cy="115967"/>
          </a:xfrm>
          <a:custGeom>
            <a:avLst/>
            <a:gdLst/>
            <a:ahLst/>
            <a:cxnLst/>
            <a:rect l="0" t="0" r="r" b="b"/>
            <a:pathLst>
              <a:path w="165048" h="115967">
                <a:moveTo>
                  <a:pt x="2872" y="4257"/>
                </a:moveTo>
                <a:cubicBezTo>
                  <a:pt x="5743" y="0"/>
                  <a:pt x="43733" y="20603"/>
                  <a:pt x="87724" y="50275"/>
                </a:cubicBezTo>
                <a:cubicBezTo>
                  <a:pt x="131715" y="79948"/>
                  <a:pt x="165048" y="107453"/>
                  <a:pt x="162177" y="111710"/>
                </a:cubicBezTo>
                <a:cubicBezTo>
                  <a:pt x="159305" y="115967"/>
                  <a:pt x="121316" y="95364"/>
                  <a:pt x="77325" y="65692"/>
                </a:cubicBezTo>
                <a:cubicBezTo>
                  <a:pt x="33334" y="36020"/>
                  <a:pt x="0" y="8514"/>
                  <a:pt x="2872" y="4257"/>
                </a:cubicBezTo>
                <a:close/>
              </a:path>
            </a:pathLst>
          </a:custGeom>
          <a:solidFill>
            <a:srgbClr val="E3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artery_fibroblast_cytoplasm_067"/>
          <p:cNvSpPr/>
          <p:nvPr/>
        </p:nvSpPr>
        <p:spPr>
          <a:xfrm>
            <a:off x="11539449" y="5334867"/>
            <a:ext cx="515387" cy="378677"/>
          </a:xfrm>
          <a:custGeom>
            <a:avLst/>
            <a:gdLst/>
            <a:ahLst/>
            <a:cxnLst/>
            <a:rect l="0" t="0" r="r" b="b"/>
            <a:pathLst>
              <a:path w="515387" h="378677">
                <a:moveTo>
                  <a:pt x="29026" y="46451"/>
                </a:moveTo>
                <a:cubicBezTo>
                  <a:pt x="58052" y="0"/>
                  <a:pt x="183960" y="26317"/>
                  <a:pt x="310250" y="105231"/>
                </a:cubicBezTo>
                <a:cubicBezTo>
                  <a:pt x="436539" y="184146"/>
                  <a:pt x="515387" y="285775"/>
                  <a:pt x="486361" y="332226"/>
                </a:cubicBezTo>
                <a:cubicBezTo>
                  <a:pt x="457335" y="378677"/>
                  <a:pt x="331427" y="352361"/>
                  <a:pt x="205137" y="273446"/>
                </a:cubicBezTo>
                <a:cubicBezTo>
                  <a:pt x="78848" y="194532"/>
                  <a:pt x="0" y="92903"/>
                  <a:pt x="29026" y="46451"/>
                </a:cubicBezTo>
                <a:close/>
              </a:path>
            </a:pathLst>
          </a:custGeom>
          <a:solidFill>
            <a:srgbClr val="E0D7EC"/>
          </a:solidFill>
          <a:ln w="4958" cap="rnd">
            <a:solidFill>
              <a:srgbClr val="BDB0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artery_fibroblast_nucleus_068"/>
          <p:cNvSpPr/>
          <p:nvPr/>
        </p:nvSpPr>
        <p:spPr>
          <a:xfrm>
            <a:off x="11595923" y="5381658"/>
            <a:ext cx="402439" cy="285095"/>
          </a:xfrm>
          <a:custGeom>
            <a:avLst/>
            <a:gdLst/>
            <a:ahLst/>
            <a:cxnLst/>
            <a:rect l="0" t="0" r="r" b="b"/>
            <a:pathLst>
              <a:path w="402439" h="285095">
                <a:moveTo>
                  <a:pt x="17234" y="27580"/>
                </a:moveTo>
                <a:cubicBezTo>
                  <a:pt x="34468" y="0"/>
                  <a:pt x="130812" y="29114"/>
                  <a:pt x="232425" y="92608"/>
                </a:cubicBezTo>
                <a:cubicBezTo>
                  <a:pt x="334037" y="156103"/>
                  <a:pt x="402439" y="229934"/>
                  <a:pt x="385205" y="257514"/>
                </a:cubicBezTo>
                <a:cubicBezTo>
                  <a:pt x="367971" y="285095"/>
                  <a:pt x="271627" y="255981"/>
                  <a:pt x="170014" y="192486"/>
                </a:cubicBezTo>
                <a:cubicBezTo>
                  <a:pt x="68402" y="128992"/>
                  <a:pt x="0" y="55161"/>
                  <a:pt x="17234" y="27580"/>
                </a:cubicBezTo>
                <a:close/>
              </a:path>
            </a:pathLst>
          </a:custGeom>
          <a:gradFill rotWithShape="1">
            <a:gsLst>
              <a:gs pos="0">
                <a:srgbClr val="C8BDE0"/>
              </a:gs>
              <a:gs pos="50000">
                <a:srgbClr val="ADA0D0"/>
              </a:gs>
              <a:gs pos="100000">
                <a:srgbClr val="857AB5"/>
              </a:gs>
            </a:gsLst>
            <a:lin ang="3600000" scaled="1"/>
          </a:gradFill>
          <a:ln w="6198" cap="rnd">
            <a:solidFill>
              <a:srgbClr val="7C73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artery_fibroblast_highlight_069"/>
          <p:cNvSpPr/>
          <p:nvPr/>
        </p:nvSpPr>
        <p:spPr>
          <a:xfrm>
            <a:off x="11665237" y="5437573"/>
            <a:ext cx="189428" cy="123676"/>
          </a:xfrm>
          <a:custGeom>
            <a:avLst/>
            <a:gdLst/>
            <a:ahLst/>
            <a:cxnLst/>
            <a:rect l="0" t="0" r="r" b="b"/>
            <a:pathLst>
              <a:path w="189428" h="123676">
                <a:moveTo>
                  <a:pt x="2721" y="4355"/>
                </a:moveTo>
                <a:cubicBezTo>
                  <a:pt x="5442" y="0"/>
                  <a:pt x="48835" y="22206"/>
                  <a:pt x="99641" y="53953"/>
                </a:cubicBezTo>
                <a:cubicBezTo>
                  <a:pt x="150447" y="85700"/>
                  <a:pt x="189428" y="114967"/>
                  <a:pt x="186707" y="119322"/>
                </a:cubicBezTo>
                <a:cubicBezTo>
                  <a:pt x="183985" y="123676"/>
                  <a:pt x="140593" y="101470"/>
                  <a:pt x="89787" y="69723"/>
                </a:cubicBezTo>
                <a:cubicBezTo>
                  <a:pt x="38981" y="37976"/>
                  <a:pt x="0" y="8710"/>
                  <a:pt x="2721" y="4355"/>
                </a:cubicBezTo>
                <a:close/>
              </a:path>
            </a:pathLst>
          </a:custGeom>
          <a:solidFill>
            <a:srgbClr val="E3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artery_fibroblast_cytoplasm_070"/>
          <p:cNvSpPr/>
          <p:nvPr/>
        </p:nvSpPr>
        <p:spPr>
          <a:xfrm>
            <a:off x="12021662" y="5695069"/>
            <a:ext cx="468356" cy="327724"/>
          </a:xfrm>
          <a:custGeom>
            <a:avLst/>
            <a:gdLst/>
            <a:ahLst/>
            <a:cxnLst/>
            <a:rect l="0" t="0" r="r" b="b"/>
            <a:pathLst>
              <a:path w="468356" h="327724">
                <a:moveTo>
                  <a:pt x="24820" y="42989"/>
                </a:moveTo>
                <a:cubicBezTo>
                  <a:pt x="49639" y="0"/>
                  <a:pt x="163492" y="19267"/>
                  <a:pt x="279118" y="86024"/>
                </a:cubicBezTo>
                <a:cubicBezTo>
                  <a:pt x="394743" y="152780"/>
                  <a:pt x="468356" y="241746"/>
                  <a:pt x="443536" y="284735"/>
                </a:cubicBezTo>
                <a:cubicBezTo>
                  <a:pt x="418716" y="327724"/>
                  <a:pt x="304863" y="308456"/>
                  <a:pt x="189238" y="241700"/>
                </a:cubicBezTo>
                <a:cubicBezTo>
                  <a:pt x="73613" y="174944"/>
                  <a:pt x="0" y="85978"/>
                  <a:pt x="24820" y="42989"/>
                </a:cubicBezTo>
                <a:close/>
              </a:path>
            </a:pathLst>
          </a:custGeom>
          <a:solidFill>
            <a:srgbClr val="E0D7EC"/>
          </a:solidFill>
          <a:ln w="4958" cap="rnd">
            <a:solidFill>
              <a:srgbClr val="BDB0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artery_fibroblast_nucleus_071"/>
          <p:cNvSpPr/>
          <p:nvPr/>
        </p:nvSpPr>
        <p:spPr>
          <a:xfrm>
            <a:off x="12078417" y="5740684"/>
            <a:ext cx="354845" cy="236494"/>
          </a:xfrm>
          <a:custGeom>
            <a:avLst/>
            <a:gdLst/>
            <a:ahLst/>
            <a:cxnLst/>
            <a:rect l="0" t="0" r="r" b="b"/>
            <a:pathLst>
              <a:path w="354845" h="236494">
                <a:moveTo>
                  <a:pt x="13694" y="23718"/>
                </a:moveTo>
                <a:cubicBezTo>
                  <a:pt x="27387" y="0"/>
                  <a:pt x="111792" y="23095"/>
                  <a:pt x="202217" y="75302"/>
                </a:cubicBezTo>
                <a:cubicBezTo>
                  <a:pt x="292642" y="127508"/>
                  <a:pt x="354845" y="189058"/>
                  <a:pt x="341151" y="212776"/>
                </a:cubicBezTo>
                <a:cubicBezTo>
                  <a:pt x="327458" y="236494"/>
                  <a:pt x="243053" y="213399"/>
                  <a:pt x="152628" y="161192"/>
                </a:cubicBezTo>
                <a:cubicBezTo>
                  <a:pt x="62203" y="108985"/>
                  <a:pt x="0" y="47436"/>
                  <a:pt x="13694" y="23718"/>
                </a:cubicBezTo>
                <a:close/>
              </a:path>
            </a:pathLst>
          </a:custGeom>
          <a:gradFill rotWithShape="1">
            <a:gsLst>
              <a:gs pos="0">
                <a:srgbClr val="C8BDE0"/>
              </a:gs>
              <a:gs pos="50000">
                <a:srgbClr val="ADA0D0"/>
              </a:gs>
              <a:gs pos="100000">
                <a:srgbClr val="857AB5"/>
              </a:gs>
            </a:gsLst>
            <a:lin ang="3600000" scaled="1"/>
          </a:gradFill>
          <a:ln w="6198" cap="rnd">
            <a:solidFill>
              <a:srgbClr val="7C73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artery_fibroblast_highlight_072"/>
          <p:cNvSpPr/>
          <p:nvPr/>
        </p:nvSpPr>
        <p:spPr>
          <a:xfrm>
            <a:off x="12134216" y="5782425"/>
            <a:ext cx="168864" cy="103423"/>
          </a:xfrm>
          <a:custGeom>
            <a:avLst/>
            <a:gdLst/>
            <a:ahLst/>
            <a:cxnLst/>
            <a:rect l="0" t="0" r="r" b="b"/>
            <a:pathLst>
              <a:path w="168864" h="103423">
                <a:moveTo>
                  <a:pt x="2568" y="4447"/>
                </a:moveTo>
                <a:cubicBezTo>
                  <a:pt x="5135" y="0"/>
                  <a:pt x="43868" y="17556"/>
                  <a:pt x="89081" y="43659"/>
                </a:cubicBezTo>
                <a:cubicBezTo>
                  <a:pt x="134293" y="69763"/>
                  <a:pt x="168864" y="94529"/>
                  <a:pt x="166296" y="98976"/>
                </a:cubicBezTo>
                <a:cubicBezTo>
                  <a:pt x="163729" y="103423"/>
                  <a:pt x="124995" y="85867"/>
                  <a:pt x="79783" y="59764"/>
                </a:cubicBezTo>
                <a:cubicBezTo>
                  <a:pt x="34571" y="33660"/>
                  <a:pt x="0" y="8894"/>
                  <a:pt x="2568" y="4447"/>
                </a:cubicBezTo>
                <a:close/>
              </a:path>
            </a:pathLst>
          </a:custGeom>
          <a:solidFill>
            <a:srgbClr val="E3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artery_media_base_073"/>
          <p:cNvSpPr/>
          <p:nvPr/>
        </p:nvSpPr>
        <p:spPr>
          <a:xfrm>
            <a:off x="9131738" y="2542672"/>
            <a:ext cx="4109682" cy="3781155"/>
          </a:xfrm>
          <a:custGeom>
            <a:avLst/>
            <a:gdLst/>
            <a:ahLst/>
            <a:cxnLst/>
            <a:rect l="0" t="0" r="r" b="b"/>
            <a:pathLst>
              <a:path w="4109682" h="3781155">
                <a:moveTo>
                  <a:pt x="0" y="0"/>
                </a:moveTo>
                <a:cubicBezTo>
                  <a:pt x="774827" y="359520"/>
                  <a:pt x="1450476" y="762430"/>
                  <a:pt x="2113728" y="1152942"/>
                </a:cubicBezTo>
                <a:cubicBezTo>
                  <a:pt x="2634411" y="1462873"/>
                  <a:pt x="3062116" y="1661229"/>
                  <a:pt x="3458827" y="1816194"/>
                </a:cubicBezTo>
                <a:cubicBezTo>
                  <a:pt x="3341053" y="2064139"/>
                  <a:pt x="3285266" y="2386467"/>
                  <a:pt x="3328656" y="2677802"/>
                </a:cubicBezTo>
                <a:cubicBezTo>
                  <a:pt x="3458827" y="3117903"/>
                  <a:pt x="3818347" y="3533210"/>
                  <a:pt x="4109682" y="3781155"/>
                </a:cubicBezTo>
                <a:cubicBezTo>
                  <a:pt x="3613792" y="3539409"/>
                  <a:pt x="3285266" y="3223280"/>
                  <a:pt x="2913349" y="2969136"/>
                </a:cubicBezTo>
                <a:cubicBezTo>
                  <a:pt x="2051741" y="2423658"/>
                  <a:pt x="1190134" y="1884379"/>
                  <a:pt x="576471" y="1400887"/>
                </a:cubicBezTo>
                <a:cubicBezTo>
                  <a:pt x="185958" y="1097155"/>
                  <a:pt x="37192" y="812019"/>
                  <a:pt x="18596" y="502088"/>
                </a:cubicBezTo>
                <a:cubicBezTo>
                  <a:pt x="6199" y="328527"/>
                  <a:pt x="55788" y="15496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C0B7"/>
              </a:gs>
              <a:gs pos="55000">
                <a:srgbClr val="DB807A"/>
              </a:gs>
              <a:gs pos="100000">
                <a:srgbClr val="F8C6BA"/>
              </a:gs>
            </a:gsLst>
            <a:lin ang="8100000" scaled="1"/>
          </a:gradFill>
          <a:ln w="7128" cap="rnd">
            <a:solidFill>
              <a:srgbClr val="BA6F7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artery_smooth_muscle_cell_074"/>
          <p:cNvSpPr/>
          <p:nvPr/>
        </p:nvSpPr>
        <p:spPr>
          <a:xfrm>
            <a:off x="9244755" y="2656781"/>
            <a:ext cx="539701" cy="430314"/>
          </a:xfrm>
          <a:custGeom>
            <a:avLst/>
            <a:gdLst/>
            <a:ahLst/>
            <a:cxnLst/>
            <a:rect l="0" t="0" r="r" b="b"/>
            <a:pathLst>
              <a:path w="539701" h="430314">
                <a:moveTo>
                  <a:pt x="0" y="8104"/>
                </a:moveTo>
                <a:cubicBezTo>
                  <a:pt x="221745" y="0"/>
                  <a:pt x="406091" y="141445"/>
                  <a:pt x="539701" y="429987"/>
                </a:cubicBezTo>
                <a:cubicBezTo>
                  <a:pt x="315541" y="430314"/>
                  <a:pt x="126099" y="319706"/>
                  <a:pt x="0" y="8104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artery_muscle_highlight_075"/>
          <p:cNvSpPr/>
          <p:nvPr/>
        </p:nvSpPr>
        <p:spPr>
          <a:xfrm>
            <a:off x="9287756" y="2702123"/>
            <a:ext cx="445036" cy="326260"/>
          </a:xfrm>
          <a:custGeom>
            <a:avLst/>
            <a:gdLst/>
            <a:ahLst/>
            <a:cxnLst/>
            <a:rect l="0" t="0" r="r" b="b"/>
            <a:pathLst>
              <a:path w="445036" h="326260">
                <a:moveTo>
                  <a:pt x="0" y="0"/>
                </a:moveTo>
                <a:cubicBezTo>
                  <a:pt x="167555" y="6372"/>
                  <a:pt x="334156" y="117668"/>
                  <a:pt x="445036" y="32626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artery_muscle_nucleus_076"/>
          <p:cNvSpPr/>
          <p:nvPr/>
        </p:nvSpPr>
        <p:spPr>
          <a:xfrm>
            <a:off x="9439968" y="2806531"/>
            <a:ext cx="164566" cy="141732"/>
          </a:xfrm>
          <a:custGeom>
            <a:avLst/>
            <a:gdLst/>
            <a:ahLst/>
            <a:cxnLst/>
            <a:rect l="0" t="0" r="r" b="b"/>
            <a:pathLst>
              <a:path w="164566" h="141732">
                <a:moveTo>
                  <a:pt x="15452" y="20505"/>
                </a:moveTo>
                <a:cubicBezTo>
                  <a:pt x="30904" y="0"/>
                  <a:pt x="73351" y="5924"/>
                  <a:pt x="110261" y="33738"/>
                </a:cubicBezTo>
                <a:cubicBezTo>
                  <a:pt x="147171" y="61551"/>
                  <a:pt x="164566" y="100721"/>
                  <a:pt x="149114" y="121227"/>
                </a:cubicBezTo>
                <a:cubicBezTo>
                  <a:pt x="133662" y="141732"/>
                  <a:pt x="91214" y="135808"/>
                  <a:pt x="54305" y="107994"/>
                </a:cubicBezTo>
                <a:cubicBezTo>
                  <a:pt x="17395" y="80181"/>
                  <a:pt x="0" y="41011"/>
                  <a:pt x="15452" y="20505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artery_muscle_nuclear_highlight_077"/>
          <p:cNvSpPr/>
          <p:nvPr/>
        </p:nvSpPr>
        <p:spPr>
          <a:xfrm>
            <a:off x="9460940" y="2834183"/>
            <a:ext cx="60636" cy="49237"/>
          </a:xfrm>
          <a:custGeom>
            <a:avLst/>
            <a:gdLst/>
            <a:ahLst/>
            <a:cxnLst/>
            <a:rect l="0" t="0" r="r" b="b"/>
            <a:pathLst>
              <a:path w="60636" h="49237">
                <a:moveTo>
                  <a:pt x="3090" y="4101"/>
                </a:moveTo>
                <a:cubicBezTo>
                  <a:pt x="6181" y="0"/>
                  <a:pt x="20876" y="5861"/>
                  <a:pt x="35913" y="17193"/>
                </a:cubicBezTo>
                <a:cubicBezTo>
                  <a:pt x="50951" y="28524"/>
                  <a:pt x="60636" y="41035"/>
                  <a:pt x="57545" y="45136"/>
                </a:cubicBezTo>
                <a:cubicBezTo>
                  <a:pt x="54455" y="49237"/>
                  <a:pt x="39759" y="43375"/>
                  <a:pt x="24722" y="32044"/>
                </a:cubicBezTo>
                <a:cubicBezTo>
                  <a:pt x="9685" y="20713"/>
                  <a:pt x="0" y="8202"/>
                  <a:pt x="3090" y="4101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artery_smooth_muscle_cell_078"/>
          <p:cNvSpPr/>
          <p:nvPr/>
        </p:nvSpPr>
        <p:spPr>
          <a:xfrm>
            <a:off x="9833623" y="2991507"/>
            <a:ext cx="539701" cy="430314"/>
          </a:xfrm>
          <a:custGeom>
            <a:avLst/>
            <a:gdLst/>
            <a:ahLst/>
            <a:cxnLst/>
            <a:rect l="0" t="0" r="r" b="b"/>
            <a:pathLst>
              <a:path w="539701" h="430314">
                <a:moveTo>
                  <a:pt x="0" y="8104"/>
                </a:moveTo>
                <a:cubicBezTo>
                  <a:pt x="221745" y="0"/>
                  <a:pt x="406091" y="141445"/>
                  <a:pt x="539701" y="429987"/>
                </a:cubicBezTo>
                <a:cubicBezTo>
                  <a:pt x="315541" y="430314"/>
                  <a:pt x="126099" y="319706"/>
                  <a:pt x="0" y="8104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artery_muscle_highlight_079"/>
          <p:cNvSpPr/>
          <p:nvPr/>
        </p:nvSpPr>
        <p:spPr>
          <a:xfrm>
            <a:off x="9876625" y="3036848"/>
            <a:ext cx="445036" cy="326260"/>
          </a:xfrm>
          <a:custGeom>
            <a:avLst/>
            <a:gdLst/>
            <a:ahLst/>
            <a:cxnLst/>
            <a:rect l="0" t="0" r="r" b="b"/>
            <a:pathLst>
              <a:path w="445036" h="326260">
                <a:moveTo>
                  <a:pt x="0" y="0"/>
                </a:moveTo>
                <a:cubicBezTo>
                  <a:pt x="167555" y="6372"/>
                  <a:pt x="334156" y="117668"/>
                  <a:pt x="445036" y="32626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artery_muscle_nucleus_080"/>
          <p:cNvSpPr/>
          <p:nvPr/>
        </p:nvSpPr>
        <p:spPr>
          <a:xfrm>
            <a:off x="10028836" y="3141256"/>
            <a:ext cx="164566" cy="141732"/>
          </a:xfrm>
          <a:custGeom>
            <a:avLst/>
            <a:gdLst/>
            <a:ahLst/>
            <a:cxnLst/>
            <a:rect l="0" t="0" r="r" b="b"/>
            <a:pathLst>
              <a:path w="164566" h="141732">
                <a:moveTo>
                  <a:pt x="15452" y="20505"/>
                </a:moveTo>
                <a:cubicBezTo>
                  <a:pt x="30904" y="0"/>
                  <a:pt x="73351" y="5924"/>
                  <a:pt x="110261" y="33738"/>
                </a:cubicBezTo>
                <a:cubicBezTo>
                  <a:pt x="147171" y="61551"/>
                  <a:pt x="164566" y="100721"/>
                  <a:pt x="149114" y="121227"/>
                </a:cubicBezTo>
                <a:cubicBezTo>
                  <a:pt x="133662" y="141732"/>
                  <a:pt x="91214" y="135808"/>
                  <a:pt x="54305" y="107994"/>
                </a:cubicBezTo>
                <a:cubicBezTo>
                  <a:pt x="17395" y="80181"/>
                  <a:pt x="0" y="41011"/>
                  <a:pt x="15452" y="20505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artery_muscle_nuclear_highlight_081"/>
          <p:cNvSpPr/>
          <p:nvPr/>
        </p:nvSpPr>
        <p:spPr>
          <a:xfrm>
            <a:off x="10049808" y="3168908"/>
            <a:ext cx="60636" cy="49237"/>
          </a:xfrm>
          <a:custGeom>
            <a:avLst/>
            <a:gdLst/>
            <a:ahLst/>
            <a:cxnLst/>
            <a:rect l="0" t="0" r="r" b="b"/>
            <a:pathLst>
              <a:path w="60636" h="49237">
                <a:moveTo>
                  <a:pt x="3090" y="4101"/>
                </a:moveTo>
                <a:cubicBezTo>
                  <a:pt x="6181" y="0"/>
                  <a:pt x="20876" y="5861"/>
                  <a:pt x="35913" y="17193"/>
                </a:cubicBezTo>
                <a:cubicBezTo>
                  <a:pt x="50951" y="28524"/>
                  <a:pt x="60636" y="41035"/>
                  <a:pt x="57545" y="45136"/>
                </a:cubicBezTo>
                <a:cubicBezTo>
                  <a:pt x="54455" y="49237"/>
                  <a:pt x="39759" y="43375"/>
                  <a:pt x="24722" y="32044"/>
                </a:cubicBezTo>
                <a:cubicBezTo>
                  <a:pt x="9685" y="20713"/>
                  <a:pt x="0" y="8202"/>
                  <a:pt x="3090" y="4101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artery_smooth_muscle_cell_082"/>
          <p:cNvSpPr/>
          <p:nvPr/>
        </p:nvSpPr>
        <p:spPr>
          <a:xfrm>
            <a:off x="10428690" y="3338629"/>
            <a:ext cx="539701" cy="430314"/>
          </a:xfrm>
          <a:custGeom>
            <a:avLst/>
            <a:gdLst/>
            <a:ahLst/>
            <a:cxnLst/>
            <a:rect l="0" t="0" r="r" b="b"/>
            <a:pathLst>
              <a:path w="539701" h="430314">
                <a:moveTo>
                  <a:pt x="0" y="8104"/>
                </a:moveTo>
                <a:cubicBezTo>
                  <a:pt x="221745" y="0"/>
                  <a:pt x="406091" y="141445"/>
                  <a:pt x="539701" y="429987"/>
                </a:cubicBezTo>
                <a:cubicBezTo>
                  <a:pt x="315541" y="430314"/>
                  <a:pt x="126099" y="319706"/>
                  <a:pt x="0" y="8104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artery_muscle_highlight_083"/>
          <p:cNvSpPr/>
          <p:nvPr/>
        </p:nvSpPr>
        <p:spPr>
          <a:xfrm>
            <a:off x="10471692" y="3383971"/>
            <a:ext cx="445036" cy="326260"/>
          </a:xfrm>
          <a:custGeom>
            <a:avLst/>
            <a:gdLst/>
            <a:ahLst/>
            <a:cxnLst/>
            <a:rect l="0" t="0" r="r" b="b"/>
            <a:pathLst>
              <a:path w="445036" h="326260">
                <a:moveTo>
                  <a:pt x="0" y="0"/>
                </a:moveTo>
                <a:cubicBezTo>
                  <a:pt x="167555" y="6372"/>
                  <a:pt x="334156" y="117668"/>
                  <a:pt x="445036" y="32626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artery_muscle_nucleus_084"/>
          <p:cNvSpPr/>
          <p:nvPr/>
        </p:nvSpPr>
        <p:spPr>
          <a:xfrm>
            <a:off x="10623903" y="3488379"/>
            <a:ext cx="164566" cy="141732"/>
          </a:xfrm>
          <a:custGeom>
            <a:avLst/>
            <a:gdLst/>
            <a:ahLst/>
            <a:cxnLst/>
            <a:rect l="0" t="0" r="r" b="b"/>
            <a:pathLst>
              <a:path w="164566" h="141732">
                <a:moveTo>
                  <a:pt x="15452" y="20505"/>
                </a:moveTo>
                <a:cubicBezTo>
                  <a:pt x="30904" y="0"/>
                  <a:pt x="73351" y="5924"/>
                  <a:pt x="110261" y="33738"/>
                </a:cubicBezTo>
                <a:cubicBezTo>
                  <a:pt x="147171" y="61551"/>
                  <a:pt x="164566" y="100721"/>
                  <a:pt x="149114" y="121227"/>
                </a:cubicBezTo>
                <a:cubicBezTo>
                  <a:pt x="133662" y="141732"/>
                  <a:pt x="91214" y="135808"/>
                  <a:pt x="54305" y="107994"/>
                </a:cubicBezTo>
                <a:cubicBezTo>
                  <a:pt x="17395" y="80181"/>
                  <a:pt x="0" y="41011"/>
                  <a:pt x="15452" y="20505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artery_muscle_nuclear_highlight_085"/>
          <p:cNvSpPr/>
          <p:nvPr/>
        </p:nvSpPr>
        <p:spPr>
          <a:xfrm>
            <a:off x="10644875" y="3516030"/>
            <a:ext cx="60636" cy="49237"/>
          </a:xfrm>
          <a:custGeom>
            <a:avLst/>
            <a:gdLst/>
            <a:ahLst/>
            <a:cxnLst/>
            <a:rect l="0" t="0" r="r" b="b"/>
            <a:pathLst>
              <a:path w="60636" h="49237">
                <a:moveTo>
                  <a:pt x="3090" y="4101"/>
                </a:moveTo>
                <a:cubicBezTo>
                  <a:pt x="6181" y="0"/>
                  <a:pt x="20876" y="5861"/>
                  <a:pt x="35913" y="17193"/>
                </a:cubicBezTo>
                <a:cubicBezTo>
                  <a:pt x="50951" y="28524"/>
                  <a:pt x="60636" y="41035"/>
                  <a:pt x="57545" y="45136"/>
                </a:cubicBezTo>
                <a:cubicBezTo>
                  <a:pt x="54455" y="49237"/>
                  <a:pt x="39759" y="43375"/>
                  <a:pt x="24722" y="32044"/>
                </a:cubicBezTo>
                <a:cubicBezTo>
                  <a:pt x="9685" y="20713"/>
                  <a:pt x="0" y="8202"/>
                  <a:pt x="3090" y="4101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artery_smooth_muscle_cell_086"/>
          <p:cNvSpPr/>
          <p:nvPr/>
        </p:nvSpPr>
        <p:spPr>
          <a:xfrm>
            <a:off x="11023757" y="3691950"/>
            <a:ext cx="539701" cy="430314"/>
          </a:xfrm>
          <a:custGeom>
            <a:avLst/>
            <a:gdLst/>
            <a:ahLst/>
            <a:cxnLst/>
            <a:rect l="0" t="0" r="r" b="b"/>
            <a:pathLst>
              <a:path w="539701" h="430314">
                <a:moveTo>
                  <a:pt x="0" y="8104"/>
                </a:moveTo>
                <a:cubicBezTo>
                  <a:pt x="221745" y="0"/>
                  <a:pt x="406091" y="141445"/>
                  <a:pt x="539701" y="429987"/>
                </a:cubicBezTo>
                <a:cubicBezTo>
                  <a:pt x="315541" y="430314"/>
                  <a:pt x="126099" y="319706"/>
                  <a:pt x="0" y="8104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artery_muscle_highlight_087"/>
          <p:cNvSpPr/>
          <p:nvPr/>
        </p:nvSpPr>
        <p:spPr>
          <a:xfrm>
            <a:off x="11066759" y="3737292"/>
            <a:ext cx="445036" cy="326260"/>
          </a:xfrm>
          <a:custGeom>
            <a:avLst/>
            <a:gdLst/>
            <a:ahLst/>
            <a:cxnLst/>
            <a:rect l="0" t="0" r="r" b="b"/>
            <a:pathLst>
              <a:path w="445036" h="326260">
                <a:moveTo>
                  <a:pt x="0" y="0"/>
                </a:moveTo>
                <a:cubicBezTo>
                  <a:pt x="167555" y="6372"/>
                  <a:pt x="334156" y="117668"/>
                  <a:pt x="445036" y="32626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artery_muscle_nucleus_088"/>
          <p:cNvSpPr/>
          <p:nvPr/>
        </p:nvSpPr>
        <p:spPr>
          <a:xfrm>
            <a:off x="11218970" y="3841700"/>
            <a:ext cx="164566" cy="141732"/>
          </a:xfrm>
          <a:custGeom>
            <a:avLst/>
            <a:gdLst/>
            <a:ahLst/>
            <a:cxnLst/>
            <a:rect l="0" t="0" r="r" b="b"/>
            <a:pathLst>
              <a:path w="164566" h="141732">
                <a:moveTo>
                  <a:pt x="15452" y="20505"/>
                </a:moveTo>
                <a:cubicBezTo>
                  <a:pt x="30904" y="0"/>
                  <a:pt x="73351" y="5924"/>
                  <a:pt x="110261" y="33738"/>
                </a:cubicBezTo>
                <a:cubicBezTo>
                  <a:pt x="147171" y="61551"/>
                  <a:pt x="164566" y="100721"/>
                  <a:pt x="149114" y="121227"/>
                </a:cubicBezTo>
                <a:cubicBezTo>
                  <a:pt x="133662" y="141732"/>
                  <a:pt x="91214" y="135808"/>
                  <a:pt x="54305" y="107994"/>
                </a:cubicBezTo>
                <a:cubicBezTo>
                  <a:pt x="17395" y="80181"/>
                  <a:pt x="0" y="41011"/>
                  <a:pt x="15452" y="20505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artery_muscle_nuclear_highlight_089"/>
          <p:cNvSpPr/>
          <p:nvPr/>
        </p:nvSpPr>
        <p:spPr>
          <a:xfrm>
            <a:off x="11239942" y="3869351"/>
            <a:ext cx="60636" cy="49237"/>
          </a:xfrm>
          <a:custGeom>
            <a:avLst/>
            <a:gdLst/>
            <a:ahLst/>
            <a:cxnLst/>
            <a:rect l="0" t="0" r="r" b="b"/>
            <a:pathLst>
              <a:path w="60636" h="49237">
                <a:moveTo>
                  <a:pt x="3090" y="4101"/>
                </a:moveTo>
                <a:cubicBezTo>
                  <a:pt x="6181" y="0"/>
                  <a:pt x="20876" y="5861"/>
                  <a:pt x="35913" y="17193"/>
                </a:cubicBezTo>
                <a:cubicBezTo>
                  <a:pt x="50951" y="28524"/>
                  <a:pt x="60636" y="41035"/>
                  <a:pt x="57545" y="45136"/>
                </a:cubicBezTo>
                <a:cubicBezTo>
                  <a:pt x="54455" y="49237"/>
                  <a:pt x="39759" y="43375"/>
                  <a:pt x="24722" y="32044"/>
                </a:cubicBezTo>
                <a:cubicBezTo>
                  <a:pt x="9685" y="20713"/>
                  <a:pt x="0" y="8202"/>
                  <a:pt x="3090" y="4101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artery_smooth_muscle_cell_090"/>
          <p:cNvSpPr/>
          <p:nvPr/>
        </p:nvSpPr>
        <p:spPr>
          <a:xfrm>
            <a:off x="11618824" y="4045271"/>
            <a:ext cx="539701" cy="430314"/>
          </a:xfrm>
          <a:custGeom>
            <a:avLst/>
            <a:gdLst/>
            <a:ahLst/>
            <a:cxnLst/>
            <a:rect l="0" t="0" r="r" b="b"/>
            <a:pathLst>
              <a:path w="539701" h="430314">
                <a:moveTo>
                  <a:pt x="0" y="8104"/>
                </a:moveTo>
                <a:cubicBezTo>
                  <a:pt x="221745" y="0"/>
                  <a:pt x="406091" y="141445"/>
                  <a:pt x="539701" y="429987"/>
                </a:cubicBezTo>
                <a:cubicBezTo>
                  <a:pt x="315541" y="430314"/>
                  <a:pt x="126099" y="319706"/>
                  <a:pt x="0" y="8104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artery_muscle_highlight_091"/>
          <p:cNvSpPr/>
          <p:nvPr/>
        </p:nvSpPr>
        <p:spPr>
          <a:xfrm>
            <a:off x="11661826" y="4090613"/>
            <a:ext cx="445036" cy="326260"/>
          </a:xfrm>
          <a:custGeom>
            <a:avLst/>
            <a:gdLst/>
            <a:ahLst/>
            <a:cxnLst/>
            <a:rect l="0" t="0" r="r" b="b"/>
            <a:pathLst>
              <a:path w="445036" h="326260">
                <a:moveTo>
                  <a:pt x="0" y="0"/>
                </a:moveTo>
                <a:cubicBezTo>
                  <a:pt x="167555" y="6372"/>
                  <a:pt x="334156" y="117668"/>
                  <a:pt x="445036" y="32626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artery_muscle_nucleus_092"/>
          <p:cNvSpPr/>
          <p:nvPr/>
        </p:nvSpPr>
        <p:spPr>
          <a:xfrm>
            <a:off x="11814037" y="4195021"/>
            <a:ext cx="164566" cy="141732"/>
          </a:xfrm>
          <a:custGeom>
            <a:avLst/>
            <a:gdLst/>
            <a:ahLst/>
            <a:cxnLst/>
            <a:rect l="0" t="0" r="r" b="b"/>
            <a:pathLst>
              <a:path w="164566" h="141732">
                <a:moveTo>
                  <a:pt x="15452" y="20505"/>
                </a:moveTo>
                <a:cubicBezTo>
                  <a:pt x="30904" y="0"/>
                  <a:pt x="73351" y="5924"/>
                  <a:pt x="110261" y="33738"/>
                </a:cubicBezTo>
                <a:cubicBezTo>
                  <a:pt x="147171" y="61551"/>
                  <a:pt x="164566" y="100721"/>
                  <a:pt x="149114" y="121227"/>
                </a:cubicBezTo>
                <a:cubicBezTo>
                  <a:pt x="133662" y="141732"/>
                  <a:pt x="91214" y="135808"/>
                  <a:pt x="54305" y="107994"/>
                </a:cubicBezTo>
                <a:cubicBezTo>
                  <a:pt x="17395" y="80181"/>
                  <a:pt x="0" y="41011"/>
                  <a:pt x="15452" y="20505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artery_muscle_nuclear_highlight_093"/>
          <p:cNvSpPr/>
          <p:nvPr/>
        </p:nvSpPr>
        <p:spPr>
          <a:xfrm>
            <a:off x="11835009" y="4222672"/>
            <a:ext cx="60636" cy="49237"/>
          </a:xfrm>
          <a:custGeom>
            <a:avLst/>
            <a:gdLst/>
            <a:ahLst/>
            <a:cxnLst/>
            <a:rect l="0" t="0" r="r" b="b"/>
            <a:pathLst>
              <a:path w="60636" h="49237">
                <a:moveTo>
                  <a:pt x="3090" y="4101"/>
                </a:moveTo>
                <a:cubicBezTo>
                  <a:pt x="6181" y="0"/>
                  <a:pt x="20876" y="5861"/>
                  <a:pt x="35913" y="17193"/>
                </a:cubicBezTo>
                <a:cubicBezTo>
                  <a:pt x="50951" y="28524"/>
                  <a:pt x="60636" y="41035"/>
                  <a:pt x="57545" y="45136"/>
                </a:cubicBezTo>
                <a:cubicBezTo>
                  <a:pt x="54455" y="49237"/>
                  <a:pt x="39759" y="43375"/>
                  <a:pt x="24722" y="32044"/>
                </a:cubicBezTo>
                <a:cubicBezTo>
                  <a:pt x="9685" y="20713"/>
                  <a:pt x="0" y="8202"/>
                  <a:pt x="3090" y="4101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artery_smooth_muscle_cell_094"/>
          <p:cNvSpPr/>
          <p:nvPr/>
        </p:nvSpPr>
        <p:spPr>
          <a:xfrm>
            <a:off x="12068295" y="4337989"/>
            <a:ext cx="395869" cy="437382"/>
          </a:xfrm>
          <a:custGeom>
            <a:avLst/>
            <a:gdLst/>
            <a:ahLst/>
            <a:cxnLst/>
            <a:rect l="0" t="0" r="r" b="b"/>
            <a:pathLst>
              <a:path w="395869" h="437382">
                <a:moveTo>
                  <a:pt x="0" y="0"/>
                </a:moveTo>
                <a:cubicBezTo>
                  <a:pt x="186878" y="28911"/>
                  <a:pt x="322450" y="176099"/>
                  <a:pt x="395869" y="437382"/>
                </a:cubicBezTo>
                <a:cubicBezTo>
                  <a:pt x="208007" y="401620"/>
                  <a:pt x="64047" y="279241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artery_muscle_highlight_095"/>
          <p:cNvSpPr/>
          <p:nvPr/>
        </p:nvSpPr>
        <p:spPr>
          <a:xfrm>
            <a:off x="12099352" y="4375850"/>
            <a:ext cx="329320" cy="342693"/>
          </a:xfrm>
          <a:custGeom>
            <a:avLst/>
            <a:gdLst/>
            <a:ahLst/>
            <a:cxnLst/>
            <a:rect l="0" t="0" r="r" b="b"/>
            <a:pathLst>
              <a:path w="329320" h="342693">
                <a:moveTo>
                  <a:pt x="0" y="0"/>
                </a:moveTo>
                <a:cubicBezTo>
                  <a:pt x="139540" y="32231"/>
                  <a:pt x="264270" y="151509"/>
                  <a:pt x="329320" y="342693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artery_muscle_nucleus_096"/>
          <p:cNvSpPr/>
          <p:nvPr/>
        </p:nvSpPr>
        <p:spPr>
          <a:xfrm>
            <a:off x="12198587" y="4478510"/>
            <a:ext cx="151697" cy="157423"/>
          </a:xfrm>
          <a:custGeom>
            <a:avLst/>
            <a:gdLst/>
            <a:ahLst/>
            <a:cxnLst/>
            <a:rect l="0" t="0" r="r" b="b"/>
            <a:pathLst>
              <a:path w="151697" h="157423">
                <a:moveTo>
                  <a:pt x="18778" y="17511"/>
                </a:moveTo>
                <a:cubicBezTo>
                  <a:pt x="37556" y="0"/>
                  <a:pt x="78330" y="13205"/>
                  <a:pt x="109849" y="47005"/>
                </a:cubicBezTo>
                <a:cubicBezTo>
                  <a:pt x="141368" y="80806"/>
                  <a:pt x="151697" y="122401"/>
                  <a:pt x="132919" y="139912"/>
                </a:cubicBezTo>
                <a:cubicBezTo>
                  <a:pt x="114141" y="157423"/>
                  <a:pt x="73367" y="144217"/>
                  <a:pt x="41848" y="110417"/>
                </a:cubicBezTo>
                <a:cubicBezTo>
                  <a:pt x="10329" y="76617"/>
                  <a:pt x="0" y="35021"/>
                  <a:pt x="18778" y="17511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artery_muscle_nuclear_highlight_097"/>
          <p:cNvSpPr/>
          <p:nvPr/>
        </p:nvSpPr>
        <p:spPr>
          <a:xfrm>
            <a:off x="12216436" y="4510190"/>
            <a:ext cx="54013" cy="56871"/>
          </a:xfrm>
          <a:custGeom>
            <a:avLst/>
            <a:gdLst/>
            <a:ahLst/>
            <a:cxnLst/>
            <a:rect l="0" t="0" r="r" b="b"/>
            <a:pathLst>
              <a:path w="54013" h="56871">
                <a:moveTo>
                  <a:pt x="3756" y="3502"/>
                </a:moveTo>
                <a:cubicBezTo>
                  <a:pt x="7511" y="0"/>
                  <a:pt x="20965" y="8324"/>
                  <a:pt x="33807" y="22095"/>
                </a:cubicBezTo>
                <a:cubicBezTo>
                  <a:pt x="46648" y="35865"/>
                  <a:pt x="54013" y="49867"/>
                  <a:pt x="50257" y="53369"/>
                </a:cubicBezTo>
                <a:cubicBezTo>
                  <a:pt x="46502" y="56871"/>
                  <a:pt x="33048" y="48547"/>
                  <a:pt x="20206" y="34777"/>
                </a:cubicBezTo>
                <a:cubicBezTo>
                  <a:pt x="7365" y="21006"/>
                  <a:pt x="0" y="7004"/>
                  <a:pt x="3756" y="3502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artery_smooth_muscle_cell_098"/>
          <p:cNvSpPr/>
          <p:nvPr/>
        </p:nvSpPr>
        <p:spPr>
          <a:xfrm>
            <a:off x="9286455" y="3003044"/>
            <a:ext cx="530748" cy="436551"/>
          </a:xfrm>
          <a:custGeom>
            <a:avLst/>
            <a:gdLst/>
            <a:ahLst/>
            <a:cxnLst/>
            <a:rect l="0" t="0" r="r" b="b"/>
            <a:pathLst>
              <a:path w="530748" h="436551">
                <a:moveTo>
                  <a:pt x="0" y="3458"/>
                </a:moveTo>
                <a:cubicBezTo>
                  <a:pt x="221866" y="0"/>
                  <a:pt x="403210" y="145275"/>
                  <a:pt x="530748" y="436551"/>
                </a:cubicBezTo>
                <a:cubicBezTo>
                  <a:pt x="306630" y="432184"/>
                  <a:pt x="119546" y="317633"/>
                  <a:pt x="0" y="3458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artery_muscle_highlight_099"/>
          <p:cNvSpPr/>
          <p:nvPr/>
        </p:nvSpPr>
        <p:spPr>
          <a:xfrm>
            <a:off x="9328667" y="3044633"/>
            <a:ext cx="438106" cy="335509"/>
          </a:xfrm>
          <a:custGeom>
            <a:avLst/>
            <a:gdLst/>
            <a:ahLst/>
            <a:cxnLst/>
            <a:rect l="0" t="0" r="r" b="b"/>
            <a:pathLst>
              <a:path w="438106" h="335509">
                <a:moveTo>
                  <a:pt x="0" y="0"/>
                </a:moveTo>
                <a:cubicBezTo>
                  <a:pt x="167385" y="9880"/>
                  <a:pt x="331618" y="124640"/>
                  <a:pt x="438106" y="335509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artery_muscle_nucleus_100"/>
          <p:cNvSpPr/>
          <p:nvPr/>
        </p:nvSpPr>
        <p:spPr>
          <a:xfrm>
            <a:off x="9477803" y="3152593"/>
            <a:ext cx="163279" cy="143853"/>
          </a:xfrm>
          <a:custGeom>
            <a:avLst/>
            <a:gdLst/>
            <a:ahLst/>
            <a:cxnLst/>
            <a:rect l="0" t="0" r="r" b="b"/>
            <a:pathLst>
              <a:path w="163279" h="143853">
                <a:moveTo>
                  <a:pt x="15878" y="20177"/>
                </a:moveTo>
                <a:cubicBezTo>
                  <a:pt x="31756" y="0"/>
                  <a:pt x="74070" y="6812"/>
                  <a:pt x="110389" y="35392"/>
                </a:cubicBezTo>
                <a:cubicBezTo>
                  <a:pt x="146708" y="63973"/>
                  <a:pt x="163279" y="103498"/>
                  <a:pt x="147401" y="123676"/>
                </a:cubicBezTo>
                <a:cubicBezTo>
                  <a:pt x="131523" y="143853"/>
                  <a:pt x="89209" y="137041"/>
                  <a:pt x="52890" y="108461"/>
                </a:cubicBezTo>
                <a:cubicBezTo>
                  <a:pt x="16571" y="79880"/>
                  <a:pt x="0" y="40355"/>
                  <a:pt x="15878" y="20177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artery_muscle_nuclear_highlight_101"/>
          <p:cNvSpPr/>
          <p:nvPr/>
        </p:nvSpPr>
        <p:spPr>
          <a:xfrm>
            <a:off x="9498482" y="3180805"/>
            <a:ext cx="59935" cy="50237"/>
          </a:xfrm>
          <a:custGeom>
            <a:avLst/>
            <a:gdLst/>
            <a:ahLst/>
            <a:cxnLst/>
            <a:rect l="0" t="0" r="r" b="b"/>
            <a:pathLst>
              <a:path w="59935" h="50237">
                <a:moveTo>
                  <a:pt x="3176" y="4035"/>
                </a:moveTo>
                <a:cubicBezTo>
                  <a:pt x="6351" y="0"/>
                  <a:pt x="20921" y="6168"/>
                  <a:pt x="35717" y="17812"/>
                </a:cubicBezTo>
                <a:cubicBezTo>
                  <a:pt x="50514" y="29455"/>
                  <a:pt x="59935" y="42166"/>
                  <a:pt x="56759" y="46201"/>
                </a:cubicBezTo>
                <a:cubicBezTo>
                  <a:pt x="53583" y="50237"/>
                  <a:pt x="39014" y="44069"/>
                  <a:pt x="24217" y="32425"/>
                </a:cubicBezTo>
                <a:cubicBezTo>
                  <a:pt x="9421" y="20781"/>
                  <a:pt x="0" y="8071"/>
                  <a:pt x="3176" y="4035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artery_smooth_muscle_cell_102"/>
          <p:cNvSpPr/>
          <p:nvPr/>
        </p:nvSpPr>
        <p:spPr>
          <a:xfrm>
            <a:off x="9881522" y="3343968"/>
            <a:ext cx="530748" cy="436551"/>
          </a:xfrm>
          <a:custGeom>
            <a:avLst/>
            <a:gdLst/>
            <a:ahLst/>
            <a:cxnLst/>
            <a:rect l="0" t="0" r="r" b="b"/>
            <a:pathLst>
              <a:path w="530748" h="436551">
                <a:moveTo>
                  <a:pt x="0" y="3458"/>
                </a:moveTo>
                <a:cubicBezTo>
                  <a:pt x="221866" y="0"/>
                  <a:pt x="403210" y="145275"/>
                  <a:pt x="530748" y="436551"/>
                </a:cubicBezTo>
                <a:cubicBezTo>
                  <a:pt x="306630" y="432184"/>
                  <a:pt x="119546" y="317633"/>
                  <a:pt x="0" y="3458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artery_muscle_highlight_103"/>
          <p:cNvSpPr/>
          <p:nvPr/>
        </p:nvSpPr>
        <p:spPr>
          <a:xfrm>
            <a:off x="9923734" y="3385557"/>
            <a:ext cx="438106" cy="335509"/>
          </a:xfrm>
          <a:custGeom>
            <a:avLst/>
            <a:gdLst/>
            <a:ahLst/>
            <a:cxnLst/>
            <a:rect l="0" t="0" r="r" b="b"/>
            <a:pathLst>
              <a:path w="438106" h="335509">
                <a:moveTo>
                  <a:pt x="0" y="0"/>
                </a:moveTo>
                <a:cubicBezTo>
                  <a:pt x="167385" y="9880"/>
                  <a:pt x="331618" y="124640"/>
                  <a:pt x="438106" y="335509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artery_muscle_nucleus_104"/>
          <p:cNvSpPr/>
          <p:nvPr/>
        </p:nvSpPr>
        <p:spPr>
          <a:xfrm>
            <a:off x="10072870" y="3493517"/>
            <a:ext cx="163279" cy="143853"/>
          </a:xfrm>
          <a:custGeom>
            <a:avLst/>
            <a:gdLst/>
            <a:ahLst/>
            <a:cxnLst/>
            <a:rect l="0" t="0" r="r" b="b"/>
            <a:pathLst>
              <a:path w="163279" h="143853">
                <a:moveTo>
                  <a:pt x="15878" y="20177"/>
                </a:moveTo>
                <a:cubicBezTo>
                  <a:pt x="31756" y="0"/>
                  <a:pt x="74070" y="6812"/>
                  <a:pt x="110389" y="35392"/>
                </a:cubicBezTo>
                <a:cubicBezTo>
                  <a:pt x="146708" y="63973"/>
                  <a:pt x="163279" y="103498"/>
                  <a:pt x="147401" y="123676"/>
                </a:cubicBezTo>
                <a:cubicBezTo>
                  <a:pt x="131523" y="143853"/>
                  <a:pt x="89209" y="137041"/>
                  <a:pt x="52890" y="108461"/>
                </a:cubicBezTo>
                <a:cubicBezTo>
                  <a:pt x="16571" y="79880"/>
                  <a:pt x="0" y="40355"/>
                  <a:pt x="15878" y="20177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artery_muscle_nuclear_highlight_105"/>
          <p:cNvSpPr/>
          <p:nvPr/>
        </p:nvSpPr>
        <p:spPr>
          <a:xfrm>
            <a:off x="10093549" y="3521729"/>
            <a:ext cx="59935" cy="50237"/>
          </a:xfrm>
          <a:custGeom>
            <a:avLst/>
            <a:gdLst/>
            <a:ahLst/>
            <a:cxnLst/>
            <a:rect l="0" t="0" r="r" b="b"/>
            <a:pathLst>
              <a:path w="59935" h="50237">
                <a:moveTo>
                  <a:pt x="3176" y="4035"/>
                </a:moveTo>
                <a:cubicBezTo>
                  <a:pt x="6351" y="0"/>
                  <a:pt x="20921" y="6168"/>
                  <a:pt x="35717" y="17812"/>
                </a:cubicBezTo>
                <a:cubicBezTo>
                  <a:pt x="50514" y="29455"/>
                  <a:pt x="59935" y="42166"/>
                  <a:pt x="56759" y="46201"/>
                </a:cubicBezTo>
                <a:cubicBezTo>
                  <a:pt x="53583" y="50237"/>
                  <a:pt x="39014" y="44069"/>
                  <a:pt x="24217" y="32425"/>
                </a:cubicBezTo>
                <a:cubicBezTo>
                  <a:pt x="9421" y="20781"/>
                  <a:pt x="0" y="8071"/>
                  <a:pt x="3176" y="4035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artery_smooth_muscle_cell_106"/>
          <p:cNvSpPr/>
          <p:nvPr/>
        </p:nvSpPr>
        <p:spPr>
          <a:xfrm>
            <a:off x="10476589" y="3691090"/>
            <a:ext cx="530748" cy="436551"/>
          </a:xfrm>
          <a:custGeom>
            <a:avLst/>
            <a:gdLst/>
            <a:ahLst/>
            <a:cxnLst/>
            <a:rect l="0" t="0" r="r" b="b"/>
            <a:pathLst>
              <a:path w="530748" h="436551">
                <a:moveTo>
                  <a:pt x="0" y="3458"/>
                </a:moveTo>
                <a:cubicBezTo>
                  <a:pt x="221866" y="0"/>
                  <a:pt x="403210" y="145275"/>
                  <a:pt x="530748" y="436551"/>
                </a:cubicBezTo>
                <a:cubicBezTo>
                  <a:pt x="306630" y="432184"/>
                  <a:pt x="119546" y="317633"/>
                  <a:pt x="0" y="3458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artery_muscle_highlight_107"/>
          <p:cNvSpPr/>
          <p:nvPr/>
        </p:nvSpPr>
        <p:spPr>
          <a:xfrm>
            <a:off x="10518801" y="3732679"/>
            <a:ext cx="438106" cy="335509"/>
          </a:xfrm>
          <a:custGeom>
            <a:avLst/>
            <a:gdLst/>
            <a:ahLst/>
            <a:cxnLst/>
            <a:rect l="0" t="0" r="r" b="b"/>
            <a:pathLst>
              <a:path w="438106" h="335509">
                <a:moveTo>
                  <a:pt x="0" y="0"/>
                </a:moveTo>
                <a:cubicBezTo>
                  <a:pt x="167385" y="9880"/>
                  <a:pt x="331618" y="124640"/>
                  <a:pt x="438106" y="335509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artery_muscle_nucleus_108"/>
          <p:cNvSpPr/>
          <p:nvPr/>
        </p:nvSpPr>
        <p:spPr>
          <a:xfrm>
            <a:off x="10667937" y="3840639"/>
            <a:ext cx="163279" cy="143853"/>
          </a:xfrm>
          <a:custGeom>
            <a:avLst/>
            <a:gdLst/>
            <a:ahLst/>
            <a:cxnLst/>
            <a:rect l="0" t="0" r="r" b="b"/>
            <a:pathLst>
              <a:path w="163279" h="143853">
                <a:moveTo>
                  <a:pt x="15878" y="20177"/>
                </a:moveTo>
                <a:cubicBezTo>
                  <a:pt x="31756" y="0"/>
                  <a:pt x="74070" y="6812"/>
                  <a:pt x="110389" y="35392"/>
                </a:cubicBezTo>
                <a:cubicBezTo>
                  <a:pt x="146708" y="63973"/>
                  <a:pt x="163279" y="103498"/>
                  <a:pt x="147401" y="123676"/>
                </a:cubicBezTo>
                <a:cubicBezTo>
                  <a:pt x="131523" y="143853"/>
                  <a:pt x="89209" y="137041"/>
                  <a:pt x="52890" y="108461"/>
                </a:cubicBezTo>
                <a:cubicBezTo>
                  <a:pt x="16571" y="79880"/>
                  <a:pt x="0" y="40355"/>
                  <a:pt x="15878" y="20177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artery_muscle_nuclear_highlight_109"/>
          <p:cNvSpPr/>
          <p:nvPr/>
        </p:nvSpPr>
        <p:spPr>
          <a:xfrm>
            <a:off x="10688616" y="3868851"/>
            <a:ext cx="59935" cy="50237"/>
          </a:xfrm>
          <a:custGeom>
            <a:avLst/>
            <a:gdLst/>
            <a:ahLst/>
            <a:cxnLst/>
            <a:rect l="0" t="0" r="r" b="b"/>
            <a:pathLst>
              <a:path w="59935" h="50237">
                <a:moveTo>
                  <a:pt x="3176" y="4035"/>
                </a:moveTo>
                <a:cubicBezTo>
                  <a:pt x="6351" y="0"/>
                  <a:pt x="20921" y="6168"/>
                  <a:pt x="35717" y="17812"/>
                </a:cubicBezTo>
                <a:cubicBezTo>
                  <a:pt x="50514" y="29455"/>
                  <a:pt x="59935" y="42166"/>
                  <a:pt x="56759" y="46201"/>
                </a:cubicBezTo>
                <a:cubicBezTo>
                  <a:pt x="53583" y="50237"/>
                  <a:pt x="39014" y="44069"/>
                  <a:pt x="24217" y="32425"/>
                </a:cubicBezTo>
                <a:cubicBezTo>
                  <a:pt x="9421" y="20781"/>
                  <a:pt x="0" y="8071"/>
                  <a:pt x="3176" y="4035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artery_smooth_muscle_cell_110"/>
          <p:cNvSpPr/>
          <p:nvPr/>
        </p:nvSpPr>
        <p:spPr>
          <a:xfrm>
            <a:off x="11065458" y="4044411"/>
            <a:ext cx="530748" cy="436551"/>
          </a:xfrm>
          <a:custGeom>
            <a:avLst/>
            <a:gdLst/>
            <a:ahLst/>
            <a:cxnLst/>
            <a:rect l="0" t="0" r="r" b="b"/>
            <a:pathLst>
              <a:path w="530748" h="436551">
                <a:moveTo>
                  <a:pt x="0" y="3458"/>
                </a:moveTo>
                <a:cubicBezTo>
                  <a:pt x="221866" y="0"/>
                  <a:pt x="403210" y="145275"/>
                  <a:pt x="530748" y="436551"/>
                </a:cubicBezTo>
                <a:cubicBezTo>
                  <a:pt x="306630" y="432184"/>
                  <a:pt x="119546" y="317633"/>
                  <a:pt x="0" y="3458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artery_muscle_highlight_111"/>
          <p:cNvSpPr/>
          <p:nvPr/>
        </p:nvSpPr>
        <p:spPr>
          <a:xfrm>
            <a:off x="11107670" y="4086000"/>
            <a:ext cx="438106" cy="335509"/>
          </a:xfrm>
          <a:custGeom>
            <a:avLst/>
            <a:gdLst/>
            <a:ahLst/>
            <a:cxnLst/>
            <a:rect l="0" t="0" r="r" b="b"/>
            <a:pathLst>
              <a:path w="438106" h="335509">
                <a:moveTo>
                  <a:pt x="0" y="0"/>
                </a:moveTo>
                <a:cubicBezTo>
                  <a:pt x="167385" y="9880"/>
                  <a:pt x="331618" y="124640"/>
                  <a:pt x="438106" y="335509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artery_muscle_nucleus_112"/>
          <p:cNvSpPr/>
          <p:nvPr/>
        </p:nvSpPr>
        <p:spPr>
          <a:xfrm>
            <a:off x="11256805" y="4193960"/>
            <a:ext cx="163279" cy="143853"/>
          </a:xfrm>
          <a:custGeom>
            <a:avLst/>
            <a:gdLst/>
            <a:ahLst/>
            <a:cxnLst/>
            <a:rect l="0" t="0" r="r" b="b"/>
            <a:pathLst>
              <a:path w="163279" h="143853">
                <a:moveTo>
                  <a:pt x="15878" y="20177"/>
                </a:moveTo>
                <a:cubicBezTo>
                  <a:pt x="31756" y="0"/>
                  <a:pt x="74070" y="6812"/>
                  <a:pt x="110389" y="35392"/>
                </a:cubicBezTo>
                <a:cubicBezTo>
                  <a:pt x="146708" y="63973"/>
                  <a:pt x="163279" y="103498"/>
                  <a:pt x="147401" y="123676"/>
                </a:cubicBezTo>
                <a:cubicBezTo>
                  <a:pt x="131523" y="143853"/>
                  <a:pt x="89209" y="137041"/>
                  <a:pt x="52890" y="108461"/>
                </a:cubicBezTo>
                <a:cubicBezTo>
                  <a:pt x="16571" y="79880"/>
                  <a:pt x="0" y="40355"/>
                  <a:pt x="15878" y="20177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artery_muscle_nuclear_highlight_113"/>
          <p:cNvSpPr/>
          <p:nvPr/>
        </p:nvSpPr>
        <p:spPr>
          <a:xfrm>
            <a:off x="11277484" y="4222172"/>
            <a:ext cx="59935" cy="50237"/>
          </a:xfrm>
          <a:custGeom>
            <a:avLst/>
            <a:gdLst/>
            <a:ahLst/>
            <a:cxnLst/>
            <a:rect l="0" t="0" r="r" b="b"/>
            <a:pathLst>
              <a:path w="59935" h="50237">
                <a:moveTo>
                  <a:pt x="3176" y="4035"/>
                </a:moveTo>
                <a:cubicBezTo>
                  <a:pt x="6351" y="0"/>
                  <a:pt x="20921" y="6168"/>
                  <a:pt x="35717" y="17812"/>
                </a:cubicBezTo>
                <a:cubicBezTo>
                  <a:pt x="50514" y="29455"/>
                  <a:pt x="59935" y="42166"/>
                  <a:pt x="56759" y="46201"/>
                </a:cubicBezTo>
                <a:cubicBezTo>
                  <a:pt x="53583" y="50237"/>
                  <a:pt x="39014" y="44069"/>
                  <a:pt x="24217" y="32425"/>
                </a:cubicBezTo>
                <a:cubicBezTo>
                  <a:pt x="9421" y="20781"/>
                  <a:pt x="0" y="8071"/>
                  <a:pt x="3176" y="4035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artery_smooth_muscle_cell_114"/>
          <p:cNvSpPr/>
          <p:nvPr/>
        </p:nvSpPr>
        <p:spPr>
          <a:xfrm>
            <a:off x="11648127" y="4403931"/>
            <a:ext cx="530748" cy="436551"/>
          </a:xfrm>
          <a:custGeom>
            <a:avLst/>
            <a:gdLst/>
            <a:ahLst/>
            <a:cxnLst/>
            <a:rect l="0" t="0" r="r" b="b"/>
            <a:pathLst>
              <a:path w="530748" h="436551">
                <a:moveTo>
                  <a:pt x="0" y="3458"/>
                </a:moveTo>
                <a:cubicBezTo>
                  <a:pt x="221866" y="0"/>
                  <a:pt x="403210" y="145275"/>
                  <a:pt x="530748" y="436551"/>
                </a:cubicBezTo>
                <a:cubicBezTo>
                  <a:pt x="306630" y="432184"/>
                  <a:pt x="119546" y="317633"/>
                  <a:pt x="0" y="3458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artery_muscle_highlight_115"/>
          <p:cNvSpPr/>
          <p:nvPr/>
        </p:nvSpPr>
        <p:spPr>
          <a:xfrm>
            <a:off x="11690340" y="4445520"/>
            <a:ext cx="438106" cy="335509"/>
          </a:xfrm>
          <a:custGeom>
            <a:avLst/>
            <a:gdLst/>
            <a:ahLst/>
            <a:cxnLst/>
            <a:rect l="0" t="0" r="r" b="b"/>
            <a:pathLst>
              <a:path w="438106" h="335509">
                <a:moveTo>
                  <a:pt x="0" y="0"/>
                </a:moveTo>
                <a:cubicBezTo>
                  <a:pt x="167385" y="9880"/>
                  <a:pt x="331618" y="124640"/>
                  <a:pt x="438106" y="335509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artery_muscle_nucleus_116"/>
          <p:cNvSpPr/>
          <p:nvPr/>
        </p:nvSpPr>
        <p:spPr>
          <a:xfrm>
            <a:off x="11839475" y="4553480"/>
            <a:ext cx="163279" cy="143853"/>
          </a:xfrm>
          <a:custGeom>
            <a:avLst/>
            <a:gdLst/>
            <a:ahLst/>
            <a:cxnLst/>
            <a:rect l="0" t="0" r="r" b="b"/>
            <a:pathLst>
              <a:path w="163279" h="143853">
                <a:moveTo>
                  <a:pt x="15878" y="20177"/>
                </a:moveTo>
                <a:cubicBezTo>
                  <a:pt x="31756" y="0"/>
                  <a:pt x="74070" y="6812"/>
                  <a:pt x="110389" y="35392"/>
                </a:cubicBezTo>
                <a:cubicBezTo>
                  <a:pt x="146708" y="63973"/>
                  <a:pt x="163279" y="103498"/>
                  <a:pt x="147401" y="123676"/>
                </a:cubicBezTo>
                <a:cubicBezTo>
                  <a:pt x="131523" y="143853"/>
                  <a:pt x="89209" y="137041"/>
                  <a:pt x="52890" y="108461"/>
                </a:cubicBezTo>
                <a:cubicBezTo>
                  <a:pt x="16571" y="79880"/>
                  <a:pt x="0" y="40355"/>
                  <a:pt x="15878" y="20177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artery_muscle_nuclear_highlight_117"/>
          <p:cNvSpPr/>
          <p:nvPr/>
        </p:nvSpPr>
        <p:spPr>
          <a:xfrm>
            <a:off x="11860154" y="4581692"/>
            <a:ext cx="59935" cy="50237"/>
          </a:xfrm>
          <a:custGeom>
            <a:avLst/>
            <a:gdLst/>
            <a:ahLst/>
            <a:cxnLst/>
            <a:rect l="0" t="0" r="r" b="b"/>
            <a:pathLst>
              <a:path w="59935" h="50237">
                <a:moveTo>
                  <a:pt x="3176" y="4035"/>
                </a:moveTo>
                <a:cubicBezTo>
                  <a:pt x="6351" y="0"/>
                  <a:pt x="20921" y="6168"/>
                  <a:pt x="35717" y="17812"/>
                </a:cubicBezTo>
                <a:cubicBezTo>
                  <a:pt x="50514" y="29455"/>
                  <a:pt x="59935" y="42166"/>
                  <a:pt x="56759" y="46201"/>
                </a:cubicBezTo>
                <a:cubicBezTo>
                  <a:pt x="53583" y="50237"/>
                  <a:pt x="39014" y="44069"/>
                  <a:pt x="24217" y="32425"/>
                </a:cubicBezTo>
                <a:cubicBezTo>
                  <a:pt x="9421" y="20781"/>
                  <a:pt x="0" y="8071"/>
                  <a:pt x="3176" y="4035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artery_smooth_muscle_cell_118"/>
          <p:cNvSpPr/>
          <p:nvPr/>
        </p:nvSpPr>
        <p:spPr>
          <a:xfrm>
            <a:off x="12035737" y="4699698"/>
            <a:ext cx="386623" cy="445577"/>
          </a:xfrm>
          <a:custGeom>
            <a:avLst/>
            <a:gdLst/>
            <a:ahLst/>
            <a:cxnLst/>
            <a:rect l="0" t="0" r="r" b="b"/>
            <a:pathLst>
              <a:path w="386623" h="445577">
                <a:moveTo>
                  <a:pt x="0" y="0"/>
                </a:moveTo>
                <a:cubicBezTo>
                  <a:pt x="186231" y="32818"/>
                  <a:pt x="318691" y="182813"/>
                  <a:pt x="386623" y="445577"/>
                </a:cubicBezTo>
                <a:cubicBezTo>
                  <a:pt x="199550" y="405888"/>
                  <a:pt x="58185" y="280521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artery_muscle_highlight_119"/>
          <p:cNvSpPr/>
          <p:nvPr/>
        </p:nvSpPr>
        <p:spPr>
          <a:xfrm>
            <a:off x="12065995" y="4738201"/>
            <a:ext cx="322071" cy="349515"/>
          </a:xfrm>
          <a:custGeom>
            <a:avLst/>
            <a:gdLst/>
            <a:ahLst/>
            <a:cxnLst/>
            <a:rect l="0" t="0" r="r" b="b"/>
            <a:pathLst>
              <a:path w="322071" h="349515">
                <a:moveTo>
                  <a:pt x="0" y="0"/>
                </a:moveTo>
                <a:cubicBezTo>
                  <a:pt x="138834" y="35146"/>
                  <a:pt x="261039" y="157011"/>
                  <a:pt x="322071" y="349515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artery_muscle_nucleus_120"/>
          <p:cNvSpPr/>
          <p:nvPr/>
        </p:nvSpPr>
        <p:spPr>
          <a:xfrm>
            <a:off x="12162327" y="4843444"/>
            <a:ext cx="149834" cy="158992"/>
          </a:xfrm>
          <a:custGeom>
            <a:avLst/>
            <a:gdLst/>
            <a:ahLst/>
            <a:cxnLst/>
            <a:rect l="0" t="0" r="r" b="b"/>
            <a:pathLst>
              <a:path w="149834" h="158992">
                <a:moveTo>
                  <a:pt x="19140" y="17114"/>
                </a:moveTo>
                <a:cubicBezTo>
                  <a:pt x="38281" y="0"/>
                  <a:pt x="78769" y="14056"/>
                  <a:pt x="109574" y="48509"/>
                </a:cubicBezTo>
                <a:cubicBezTo>
                  <a:pt x="140378" y="82962"/>
                  <a:pt x="149834" y="124765"/>
                  <a:pt x="130693" y="141878"/>
                </a:cubicBezTo>
                <a:cubicBezTo>
                  <a:pt x="111553" y="158992"/>
                  <a:pt x="71064" y="144936"/>
                  <a:pt x="40260" y="110483"/>
                </a:cubicBezTo>
                <a:cubicBezTo>
                  <a:pt x="9455" y="76030"/>
                  <a:pt x="0" y="34227"/>
                  <a:pt x="19140" y="17114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artery_muscle_nuclear_highlight_121"/>
          <p:cNvSpPr/>
          <p:nvPr/>
        </p:nvSpPr>
        <p:spPr>
          <a:xfrm>
            <a:off x="12179699" y="4875506"/>
            <a:ext cx="53104" cy="57676"/>
          </a:xfrm>
          <a:custGeom>
            <a:avLst/>
            <a:gdLst/>
            <a:ahLst/>
            <a:cxnLst/>
            <a:rect l="0" t="0" r="r" b="b"/>
            <a:pathLst>
              <a:path w="53104" h="57676">
                <a:moveTo>
                  <a:pt x="3828" y="3423"/>
                </a:moveTo>
                <a:cubicBezTo>
                  <a:pt x="7656" y="0"/>
                  <a:pt x="20933" y="8604"/>
                  <a:pt x="33483" y="22640"/>
                </a:cubicBezTo>
                <a:cubicBezTo>
                  <a:pt x="46033" y="36677"/>
                  <a:pt x="53104" y="50830"/>
                  <a:pt x="49275" y="54253"/>
                </a:cubicBezTo>
                <a:cubicBezTo>
                  <a:pt x="45447" y="57676"/>
                  <a:pt x="32170" y="49071"/>
                  <a:pt x="19620" y="35035"/>
                </a:cubicBezTo>
                <a:cubicBezTo>
                  <a:pt x="7070" y="20999"/>
                  <a:pt x="0" y="6845"/>
                  <a:pt x="3828" y="3423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artery_smooth_muscle_cell_122"/>
          <p:cNvSpPr/>
          <p:nvPr/>
        </p:nvSpPr>
        <p:spPr>
          <a:xfrm>
            <a:off x="9303475" y="3335818"/>
            <a:ext cx="521561" cy="444113"/>
          </a:xfrm>
          <a:custGeom>
            <a:avLst/>
            <a:gdLst/>
            <a:ahLst/>
            <a:cxnLst/>
            <a:rect l="0" t="0" r="r" b="b"/>
            <a:pathLst>
              <a:path w="521561" h="444113">
                <a:moveTo>
                  <a:pt x="0" y="0"/>
                </a:moveTo>
                <a:cubicBezTo>
                  <a:pt x="221890" y="1189"/>
                  <a:pt x="400151" y="150230"/>
                  <a:pt x="521561" y="444113"/>
                </a:cubicBezTo>
                <a:cubicBezTo>
                  <a:pt x="297584" y="435054"/>
                  <a:pt x="112940" y="3166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artery_muscle_highlight_123"/>
          <p:cNvSpPr/>
          <p:nvPr/>
        </p:nvSpPr>
        <p:spPr>
          <a:xfrm>
            <a:off x="9344880" y="3374824"/>
            <a:ext cx="430983" cy="344610"/>
          </a:xfrm>
          <a:custGeom>
            <a:avLst/>
            <a:gdLst/>
            <a:ahLst/>
            <a:cxnLst/>
            <a:rect l="0" t="0" r="r" b="b"/>
            <a:pathLst>
              <a:path w="430983" h="344610">
                <a:moveTo>
                  <a:pt x="0" y="0"/>
                </a:moveTo>
                <a:cubicBezTo>
                  <a:pt x="167141" y="13383"/>
                  <a:pt x="328935" y="131558"/>
                  <a:pt x="430983" y="34461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artery_muscle_nucleus_124"/>
          <p:cNvSpPr/>
          <p:nvPr/>
        </p:nvSpPr>
        <p:spPr>
          <a:xfrm>
            <a:off x="9490879" y="3486289"/>
            <a:ext cx="161921" cy="145911"/>
          </a:xfrm>
          <a:custGeom>
            <a:avLst/>
            <a:gdLst/>
            <a:ahLst/>
            <a:cxnLst/>
            <a:rect l="0" t="0" r="r" b="b"/>
            <a:pathLst>
              <a:path w="161921" h="145911">
                <a:moveTo>
                  <a:pt x="16297" y="19840"/>
                </a:moveTo>
                <a:cubicBezTo>
                  <a:pt x="32594" y="0"/>
                  <a:pt x="74756" y="7697"/>
                  <a:pt x="110469" y="37031"/>
                </a:cubicBezTo>
                <a:cubicBezTo>
                  <a:pt x="146181" y="66366"/>
                  <a:pt x="161921" y="106230"/>
                  <a:pt x="145624" y="126070"/>
                </a:cubicBezTo>
                <a:cubicBezTo>
                  <a:pt x="129327" y="145911"/>
                  <a:pt x="87165" y="138214"/>
                  <a:pt x="51452" y="108879"/>
                </a:cubicBezTo>
                <a:cubicBezTo>
                  <a:pt x="15739" y="79545"/>
                  <a:pt x="0" y="39681"/>
                  <a:pt x="16297" y="19840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artery_muscle_nuclear_highlight_125"/>
          <p:cNvSpPr/>
          <p:nvPr/>
        </p:nvSpPr>
        <p:spPr>
          <a:xfrm>
            <a:off x="9511243" y="3515041"/>
            <a:ext cx="59207" cy="51215"/>
          </a:xfrm>
          <a:custGeom>
            <a:avLst/>
            <a:gdLst/>
            <a:ahLst/>
            <a:cxnLst/>
            <a:rect l="0" t="0" r="r" b="b"/>
            <a:pathLst>
              <a:path w="59207" h="51215">
                <a:moveTo>
                  <a:pt x="3259" y="3968"/>
                </a:moveTo>
                <a:cubicBezTo>
                  <a:pt x="6519" y="0"/>
                  <a:pt x="20956" y="6472"/>
                  <a:pt x="35505" y="18423"/>
                </a:cubicBezTo>
                <a:cubicBezTo>
                  <a:pt x="50055" y="30374"/>
                  <a:pt x="59207" y="43279"/>
                  <a:pt x="55948" y="47247"/>
                </a:cubicBezTo>
                <a:cubicBezTo>
                  <a:pt x="52689" y="51215"/>
                  <a:pt x="38252" y="44744"/>
                  <a:pt x="23702" y="32792"/>
                </a:cubicBezTo>
                <a:cubicBezTo>
                  <a:pt x="9152" y="20841"/>
                  <a:pt x="0" y="7936"/>
                  <a:pt x="3259" y="3968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artery_smooth_muscle_cell_126"/>
          <p:cNvSpPr/>
          <p:nvPr/>
        </p:nvSpPr>
        <p:spPr>
          <a:xfrm>
            <a:off x="9861351" y="3689139"/>
            <a:ext cx="521561" cy="444113"/>
          </a:xfrm>
          <a:custGeom>
            <a:avLst/>
            <a:gdLst/>
            <a:ahLst/>
            <a:cxnLst/>
            <a:rect l="0" t="0" r="r" b="b"/>
            <a:pathLst>
              <a:path w="521561" h="444113">
                <a:moveTo>
                  <a:pt x="0" y="0"/>
                </a:moveTo>
                <a:cubicBezTo>
                  <a:pt x="221890" y="1189"/>
                  <a:pt x="400151" y="150230"/>
                  <a:pt x="521561" y="444113"/>
                </a:cubicBezTo>
                <a:cubicBezTo>
                  <a:pt x="297584" y="435054"/>
                  <a:pt x="112940" y="3166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artery_muscle_highlight_127"/>
          <p:cNvSpPr/>
          <p:nvPr/>
        </p:nvSpPr>
        <p:spPr>
          <a:xfrm>
            <a:off x="9902755" y="3728145"/>
            <a:ext cx="430983" cy="344610"/>
          </a:xfrm>
          <a:custGeom>
            <a:avLst/>
            <a:gdLst/>
            <a:ahLst/>
            <a:cxnLst/>
            <a:rect l="0" t="0" r="r" b="b"/>
            <a:pathLst>
              <a:path w="430983" h="344610">
                <a:moveTo>
                  <a:pt x="0" y="0"/>
                </a:moveTo>
                <a:cubicBezTo>
                  <a:pt x="167141" y="13383"/>
                  <a:pt x="328935" y="131558"/>
                  <a:pt x="430983" y="34461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artery_muscle_nucleus_128"/>
          <p:cNvSpPr/>
          <p:nvPr/>
        </p:nvSpPr>
        <p:spPr>
          <a:xfrm>
            <a:off x="10048754" y="3839610"/>
            <a:ext cx="161921" cy="145911"/>
          </a:xfrm>
          <a:custGeom>
            <a:avLst/>
            <a:gdLst/>
            <a:ahLst/>
            <a:cxnLst/>
            <a:rect l="0" t="0" r="r" b="b"/>
            <a:pathLst>
              <a:path w="161921" h="145911">
                <a:moveTo>
                  <a:pt x="16297" y="19840"/>
                </a:moveTo>
                <a:cubicBezTo>
                  <a:pt x="32594" y="0"/>
                  <a:pt x="74756" y="7697"/>
                  <a:pt x="110469" y="37031"/>
                </a:cubicBezTo>
                <a:cubicBezTo>
                  <a:pt x="146181" y="66366"/>
                  <a:pt x="161921" y="106230"/>
                  <a:pt x="145624" y="126070"/>
                </a:cubicBezTo>
                <a:cubicBezTo>
                  <a:pt x="129327" y="145911"/>
                  <a:pt x="87165" y="138214"/>
                  <a:pt x="51452" y="108879"/>
                </a:cubicBezTo>
                <a:cubicBezTo>
                  <a:pt x="15739" y="79545"/>
                  <a:pt x="0" y="39681"/>
                  <a:pt x="16297" y="19840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artery_muscle_nuclear_highlight_129"/>
          <p:cNvSpPr/>
          <p:nvPr/>
        </p:nvSpPr>
        <p:spPr>
          <a:xfrm>
            <a:off x="10069118" y="3868362"/>
            <a:ext cx="59207" cy="51215"/>
          </a:xfrm>
          <a:custGeom>
            <a:avLst/>
            <a:gdLst/>
            <a:ahLst/>
            <a:cxnLst/>
            <a:rect l="0" t="0" r="r" b="b"/>
            <a:pathLst>
              <a:path w="59207" h="51215">
                <a:moveTo>
                  <a:pt x="3259" y="3968"/>
                </a:moveTo>
                <a:cubicBezTo>
                  <a:pt x="6519" y="0"/>
                  <a:pt x="20956" y="6472"/>
                  <a:pt x="35505" y="18423"/>
                </a:cubicBezTo>
                <a:cubicBezTo>
                  <a:pt x="50055" y="30374"/>
                  <a:pt x="59207" y="43279"/>
                  <a:pt x="55948" y="47247"/>
                </a:cubicBezTo>
                <a:cubicBezTo>
                  <a:pt x="52689" y="51215"/>
                  <a:pt x="38252" y="44744"/>
                  <a:pt x="23702" y="32792"/>
                </a:cubicBezTo>
                <a:cubicBezTo>
                  <a:pt x="9152" y="20841"/>
                  <a:pt x="0" y="7936"/>
                  <a:pt x="3259" y="3968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artery_smooth_muscle_cell_130"/>
          <p:cNvSpPr/>
          <p:nvPr/>
        </p:nvSpPr>
        <p:spPr>
          <a:xfrm>
            <a:off x="10431623" y="4042460"/>
            <a:ext cx="521561" cy="444113"/>
          </a:xfrm>
          <a:custGeom>
            <a:avLst/>
            <a:gdLst/>
            <a:ahLst/>
            <a:cxnLst/>
            <a:rect l="0" t="0" r="r" b="b"/>
            <a:pathLst>
              <a:path w="521561" h="444113">
                <a:moveTo>
                  <a:pt x="0" y="0"/>
                </a:moveTo>
                <a:cubicBezTo>
                  <a:pt x="221890" y="1189"/>
                  <a:pt x="400151" y="150230"/>
                  <a:pt x="521561" y="444113"/>
                </a:cubicBezTo>
                <a:cubicBezTo>
                  <a:pt x="297584" y="435054"/>
                  <a:pt x="112940" y="3166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artery_muscle_highlight_131"/>
          <p:cNvSpPr/>
          <p:nvPr/>
        </p:nvSpPr>
        <p:spPr>
          <a:xfrm>
            <a:off x="10473028" y="4081466"/>
            <a:ext cx="430983" cy="344610"/>
          </a:xfrm>
          <a:custGeom>
            <a:avLst/>
            <a:gdLst/>
            <a:ahLst/>
            <a:cxnLst/>
            <a:rect l="0" t="0" r="r" b="b"/>
            <a:pathLst>
              <a:path w="430983" h="344610">
                <a:moveTo>
                  <a:pt x="0" y="0"/>
                </a:moveTo>
                <a:cubicBezTo>
                  <a:pt x="167141" y="13383"/>
                  <a:pt x="328935" y="131558"/>
                  <a:pt x="430983" y="34461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artery_muscle_nucleus_132"/>
          <p:cNvSpPr/>
          <p:nvPr/>
        </p:nvSpPr>
        <p:spPr>
          <a:xfrm>
            <a:off x="10619027" y="4192931"/>
            <a:ext cx="161921" cy="145911"/>
          </a:xfrm>
          <a:custGeom>
            <a:avLst/>
            <a:gdLst/>
            <a:ahLst/>
            <a:cxnLst/>
            <a:rect l="0" t="0" r="r" b="b"/>
            <a:pathLst>
              <a:path w="161921" h="145911">
                <a:moveTo>
                  <a:pt x="16297" y="19840"/>
                </a:moveTo>
                <a:cubicBezTo>
                  <a:pt x="32594" y="0"/>
                  <a:pt x="74756" y="7697"/>
                  <a:pt x="110469" y="37031"/>
                </a:cubicBezTo>
                <a:cubicBezTo>
                  <a:pt x="146181" y="66366"/>
                  <a:pt x="161921" y="106230"/>
                  <a:pt x="145624" y="126070"/>
                </a:cubicBezTo>
                <a:cubicBezTo>
                  <a:pt x="129327" y="145911"/>
                  <a:pt x="87165" y="138214"/>
                  <a:pt x="51452" y="108879"/>
                </a:cubicBezTo>
                <a:cubicBezTo>
                  <a:pt x="15739" y="79545"/>
                  <a:pt x="0" y="39681"/>
                  <a:pt x="16297" y="19840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artery_muscle_nuclear_highlight_133"/>
          <p:cNvSpPr/>
          <p:nvPr/>
        </p:nvSpPr>
        <p:spPr>
          <a:xfrm>
            <a:off x="10639391" y="4221683"/>
            <a:ext cx="59207" cy="51215"/>
          </a:xfrm>
          <a:custGeom>
            <a:avLst/>
            <a:gdLst/>
            <a:ahLst/>
            <a:cxnLst/>
            <a:rect l="0" t="0" r="r" b="b"/>
            <a:pathLst>
              <a:path w="59207" h="51215">
                <a:moveTo>
                  <a:pt x="3259" y="3968"/>
                </a:moveTo>
                <a:cubicBezTo>
                  <a:pt x="6519" y="0"/>
                  <a:pt x="20956" y="6472"/>
                  <a:pt x="35505" y="18423"/>
                </a:cubicBezTo>
                <a:cubicBezTo>
                  <a:pt x="50055" y="30374"/>
                  <a:pt x="59207" y="43279"/>
                  <a:pt x="55948" y="47247"/>
                </a:cubicBezTo>
                <a:cubicBezTo>
                  <a:pt x="52689" y="51215"/>
                  <a:pt x="38252" y="44744"/>
                  <a:pt x="23702" y="32792"/>
                </a:cubicBezTo>
                <a:cubicBezTo>
                  <a:pt x="9152" y="20841"/>
                  <a:pt x="0" y="7936"/>
                  <a:pt x="3259" y="3968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artery_smooth_muscle_cell_134"/>
          <p:cNvSpPr/>
          <p:nvPr/>
        </p:nvSpPr>
        <p:spPr>
          <a:xfrm>
            <a:off x="10995697" y="4395781"/>
            <a:ext cx="521561" cy="444113"/>
          </a:xfrm>
          <a:custGeom>
            <a:avLst/>
            <a:gdLst/>
            <a:ahLst/>
            <a:cxnLst/>
            <a:rect l="0" t="0" r="r" b="b"/>
            <a:pathLst>
              <a:path w="521561" h="444113">
                <a:moveTo>
                  <a:pt x="0" y="0"/>
                </a:moveTo>
                <a:cubicBezTo>
                  <a:pt x="221890" y="1189"/>
                  <a:pt x="400151" y="150230"/>
                  <a:pt x="521561" y="444113"/>
                </a:cubicBezTo>
                <a:cubicBezTo>
                  <a:pt x="297584" y="435054"/>
                  <a:pt x="112940" y="3166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artery_muscle_highlight_135"/>
          <p:cNvSpPr/>
          <p:nvPr/>
        </p:nvSpPr>
        <p:spPr>
          <a:xfrm>
            <a:off x="11037102" y="4434787"/>
            <a:ext cx="430983" cy="344610"/>
          </a:xfrm>
          <a:custGeom>
            <a:avLst/>
            <a:gdLst/>
            <a:ahLst/>
            <a:cxnLst/>
            <a:rect l="0" t="0" r="r" b="b"/>
            <a:pathLst>
              <a:path w="430983" h="344610">
                <a:moveTo>
                  <a:pt x="0" y="0"/>
                </a:moveTo>
                <a:cubicBezTo>
                  <a:pt x="167141" y="13383"/>
                  <a:pt x="328935" y="131558"/>
                  <a:pt x="430983" y="34461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artery_muscle_nucleus_136"/>
          <p:cNvSpPr/>
          <p:nvPr/>
        </p:nvSpPr>
        <p:spPr>
          <a:xfrm>
            <a:off x="11183101" y="4546252"/>
            <a:ext cx="161921" cy="145911"/>
          </a:xfrm>
          <a:custGeom>
            <a:avLst/>
            <a:gdLst/>
            <a:ahLst/>
            <a:cxnLst/>
            <a:rect l="0" t="0" r="r" b="b"/>
            <a:pathLst>
              <a:path w="161921" h="145911">
                <a:moveTo>
                  <a:pt x="16297" y="19840"/>
                </a:moveTo>
                <a:cubicBezTo>
                  <a:pt x="32594" y="0"/>
                  <a:pt x="74756" y="7697"/>
                  <a:pt x="110469" y="37031"/>
                </a:cubicBezTo>
                <a:cubicBezTo>
                  <a:pt x="146181" y="66366"/>
                  <a:pt x="161921" y="106230"/>
                  <a:pt x="145624" y="126070"/>
                </a:cubicBezTo>
                <a:cubicBezTo>
                  <a:pt x="129327" y="145911"/>
                  <a:pt x="87165" y="138214"/>
                  <a:pt x="51452" y="108879"/>
                </a:cubicBezTo>
                <a:cubicBezTo>
                  <a:pt x="15739" y="79545"/>
                  <a:pt x="0" y="39681"/>
                  <a:pt x="16297" y="19840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artery_muscle_nuclear_highlight_137"/>
          <p:cNvSpPr/>
          <p:nvPr/>
        </p:nvSpPr>
        <p:spPr>
          <a:xfrm>
            <a:off x="11203464" y="4575004"/>
            <a:ext cx="59207" cy="51215"/>
          </a:xfrm>
          <a:custGeom>
            <a:avLst/>
            <a:gdLst/>
            <a:ahLst/>
            <a:cxnLst/>
            <a:rect l="0" t="0" r="r" b="b"/>
            <a:pathLst>
              <a:path w="59207" h="51215">
                <a:moveTo>
                  <a:pt x="3259" y="3968"/>
                </a:moveTo>
                <a:cubicBezTo>
                  <a:pt x="6519" y="0"/>
                  <a:pt x="20956" y="6472"/>
                  <a:pt x="35505" y="18423"/>
                </a:cubicBezTo>
                <a:cubicBezTo>
                  <a:pt x="50055" y="30374"/>
                  <a:pt x="59207" y="43279"/>
                  <a:pt x="55948" y="47247"/>
                </a:cubicBezTo>
                <a:cubicBezTo>
                  <a:pt x="52689" y="51215"/>
                  <a:pt x="38252" y="44744"/>
                  <a:pt x="23702" y="32792"/>
                </a:cubicBezTo>
                <a:cubicBezTo>
                  <a:pt x="9152" y="20841"/>
                  <a:pt x="0" y="7936"/>
                  <a:pt x="3259" y="3968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artery_smooth_muscle_cell_138"/>
          <p:cNvSpPr/>
          <p:nvPr/>
        </p:nvSpPr>
        <p:spPr>
          <a:xfrm>
            <a:off x="11547374" y="4749102"/>
            <a:ext cx="521561" cy="444113"/>
          </a:xfrm>
          <a:custGeom>
            <a:avLst/>
            <a:gdLst/>
            <a:ahLst/>
            <a:cxnLst/>
            <a:rect l="0" t="0" r="r" b="b"/>
            <a:pathLst>
              <a:path w="521561" h="444113">
                <a:moveTo>
                  <a:pt x="0" y="0"/>
                </a:moveTo>
                <a:cubicBezTo>
                  <a:pt x="221890" y="1189"/>
                  <a:pt x="400151" y="150230"/>
                  <a:pt x="521561" y="444113"/>
                </a:cubicBezTo>
                <a:cubicBezTo>
                  <a:pt x="297584" y="435054"/>
                  <a:pt x="112940" y="3166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artery_muscle_highlight_139"/>
          <p:cNvSpPr/>
          <p:nvPr/>
        </p:nvSpPr>
        <p:spPr>
          <a:xfrm>
            <a:off x="11588778" y="4788108"/>
            <a:ext cx="430983" cy="344610"/>
          </a:xfrm>
          <a:custGeom>
            <a:avLst/>
            <a:gdLst/>
            <a:ahLst/>
            <a:cxnLst/>
            <a:rect l="0" t="0" r="r" b="b"/>
            <a:pathLst>
              <a:path w="430983" h="344610">
                <a:moveTo>
                  <a:pt x="0" y="0"/>
                </a:moveTo>
                <a:cubicBezTo>
                  <a:pt x="167141" y="13383"/>
                  <a:pt x="328935" y="131558"/>
                  <a:pt x="430983" y="344610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artery_muscle_nucleus_140"/>
          <p:cNvSpPr/>
          <p:nvPr/>
        </p:nvSpPr>
        <p:spPr>
          <a:xfrm>
            <a:off x="11734778" y="4899573"/>
            <a:ext cx="161921" cy="145911"/>
          </a:xfrm>
          <a:custGeom>
            <a:avLst/>
            <a:gdLst/>
            <a:ahLst/>
            <a:cxnLst/>
            <a:rect l="0" t="0" r="r" b="b"/>
            <a:pathLst>
              <a:path w="161921" h="145911">
                <a:moveTo>
                  <a:pt x="16297" y="19840"/>
                </a:moveTo>
                <a:cubicBezTo>
                  <a:pt x="32594" y="0"/>
                  <a:pt x="74756" y="7697"/>
                  <a:pt x="110469" y="37031"/>
                </a:cubicBezTo>
                <a:cubicBezTo>
                  <a:pt x="146181" y="66366"/>
                  <a:pt x="161921" y="106230"/>
                  <a:pt x="145624" y="126070"/>
                </a:cubicBezTo>
                <a:cubicBezTo>
                  <a:pt x="129327" y="145911"/>
                  <a:pt x="87165" y="138214"/>
                  <a:pt x="51452" y="108879"/>
                </a:cubicBezTo>
                <a:cubicBezTo>
                  <a:pt x="15739" y="79545"/>
                  <a:pt x="0" y="39681"/>
                  <a:pt x="16297" y="19840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artery_muscle_nuclear_highlight_141"/>
          <p:cNvSpPr/>
          <p:nvPr/>
        </p:nvSpPr>
        <p:spPr>
          <a:xfrm>
            <a:off x="11755141" y="4928325"/>
            <a:ext cx="59207" cy="51215"/>
          </a:xfrm>
          <a:custGeom>
            <a:avLst/>
            <a:gdLst/>
            <a:ahLst/>
            <a:cxnLst/>
            <a:rect l="0" t="0" r="r" b="b"/>
            <a:pathLst>
              <a:path w="59207" h="51215">
                <a:moveTo>
                  <a:pt x="3259" y="3968"/>
                </a:moveTo>
                <a:cubicBezTo>
                  <a:pt x="6519" y="0"/>
                  <a:pt x="20956" y="6472"/>
                  <a:pt x="35505" y="18423"/>
                </a:cubicBezTo>
                <a:cubicBezTo>
                  <a:pt x="50055" y="30374"/>
                  <a:pt x="59207" y="43279"/>
                  <a:pt x="55948" y="47247"/>
                </a:cubicBezTo>
                <a:cubicBezTo>
                  <a:pt x="52689" y="51215"/>
                  <a:pt x="38252" y="44744"/>
                  <a:pt x="23702" y="32792"/>
                </a:cubicBezTo>
                <a:cubicBezTo>
                  <a:pt x="9152" y="20841"/>
                  <a:pt x="0" y="7936"/>
                  <a:pt x="3259" y="3968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artery_smooth_muscle_cell_142"/>
          <p:cNvSpPr/>
          <p:nvPr/>
        </p:nvSpPr>
        <p:spPr>
          <a:xfrm>
            <a:off x="11966070" y="5049108"/>
            <a:ext cx="377207" cy="453576"/>
          </a:xfrm>
          <a:custGeom>
            <a:avLst/>
            <a:gdLst/>
            <a:ahLst/>
            <a:cxnLst/>
            <a:rect l="0" t="0" r="r" b="b"/>
            <a:pathLst>
              <a:path w="377207" h="453576">
                <a:moveTo>
                  <a:pt x="0" y="0"/>
                </a:moveTo>
                <a:cubicBezTo>
                  <a:pt x="185503" y="36711"/>
                  <a:pt x="314793" y="189448"/>
                  <a:pt x="377207" y="453576"/>
                </a:cubicBezTo>
                <a:cubicBezTo>
                  <a:pt x="191006" y="409978"/>
                  <a:pt x="52297" y="281678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artery_muscle_highlight_143"/>
          <p:cNvSpPr/>
          <p:nvPr/>
        </p:nvSpPr>
        <p:spPr>
          <a:xfrm>
            <a:off x="11995515" y="5088236"/>
            <a:ext cx="314681" cy="356183"/>
          </a:xfrm>
          <a:custGeom>
            <a:avLst/>
            <a:gdLst/>
            <a:ahLst/>
            <a:cxnLst/>
            <a:rect l="0" t="0" r="r" b="b"/>
            <a:pathLst>
              <a:path w="314681" h="356183">
                <a:moveTo>
                  <a:pt x="0" y="0"/>
                </a:moveTo>
                <a:cubicBezTo>
                  <a:pt x="138068" y="38046"/>
                  <a:pt x="257693" y="162443"/>
                  <a:pt x="314681" y="356183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artery_muscle_nucleus_144"/>
          <p:cNvSpPr/>
          <p:nvPr/>
        </p:nvSpPr>
        <p:spPr>
          <a:xfrm>
            <a:off x="12088908" y="5196015"/>
            <a:ext cx="147905" cy="160492"/>
          </a:xfrm>
          <a:custGeom>
            <a:avLst/>
            <a:gdLst/>
            <a:ahLst/>
            <a:cxnLst/>
            <a:rect l="0" t="0" r="r" b="b"/>
            <a:pathLst>
              <a:path w="147905" h="160492">
                <a:moveTo>
                  <a:pt x="19495" y="16709"/>
                </a:moveTo>
                <a:cubicBezTo>
                  <a:pt x="38989" y="0"/>
                  <a:pt x="79174" y="14901"/>
                  <a:pt x="109251" y="49992"/>
                </a:cubicBezTo>
                <a:cubicBezTo>
                  <a:pt x="139327" y="85082"/>
                  <a:pt x="147905" y="127074"/>
                  <a:pt x="128410" y="143783"/>
                </a:cubicBezTo>
                <a:cubicBezTo>
                  <a:pt x="108915" y="160492"/>
                  <a:pt x="68730" y="145590"/>
                  <a:pt x="38654" y="110500"/>
                </a:cubicBezTo>
                <a:cubicBezTo>
                  <a:pt x="8578" y="75410"/>
                  <a:pt x="0" y="33418"/>
                  <a:pt x="19495" y="16709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artery_muscle_nuclear_highlight_145"/>
          <p:cNvSpPr/>
          <p:nvPr/>
        </p:nvSpPr>
        <p:spPr>
          <a:xfrm>
            <a:off x="12105782" y="5228438"/>
            <a:ext cx="52171" cy="58454"/>
          </a:xfrm>
          <a:custGeom>
            <a:avLst/>
            <a:gdLst/>
            <a:ahLst/>
            <a:cxnLst/>
            <a:rect l="0" t="0" r="r" b="b"/>
            <a:pathLst>
              <a:path w="52171" h="58454">
                <a:moveTo>
                  <a:pt x="3899" y="3342"/>
                </a:moveTo>
                <a:cubicBezTo>
                  <a:pt x="7798" y="0"/>
                  <a:pt x="20892" y="8880"/>
                  <a:pt x="33145" y="23176"/>
                </a:cubicBezTo>
                <a:cubicBezTo>
                  <a:pt x="45398" y="37472"/>
                  <a:pt x="52171" y="51771"/>
                  <a:pt x="48272" y="55113"/>
                </a:cubicBezTo>
                <a:cubicBezTo>
                  <a:pt x="44373" y="58454"/>
                  <a:pt x="31279" y="49574"/>
                  <a:pt x="19026" y="35278"/>
                </a:cubicBezTo>
                <a:cubicBezTo>
                  <a:pt x="6772" y="20982"/>
                  <a:pt x="0" y="6684"/>
                  <a:pt x="3899" y="3342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artery_smooth_muscle_cell_146"/>
          <p:cNvSpPr/>
          <p:nvPr/>
        </p:nvSpPr>
        <p:spPr>
          <a:xfrm>
            <a:off x="12232163" y="5371572"/>
            <a:ext cx="365000" cy="454128"/>
          </a:xfrm>
          <a:custGeom>
            <a:avLst/>
            <a:gdLst/>
            <a:ahLst/>
            <a:cxnLst/>
            <a:rect l="0" t="0" r="r" b="b"/>
            <a:pathLst>
              <a:path w="365000" h="454128">
                <a:moveTo>
                  <a:pt x="0" y="0"/>
                </a:moveTo>
                <a:cubicBezTo>
                  <a:pt x="172073" y="50919"/>
                  <a:pt x="297070" y="204049"/>
                  <a:pt x="365000" y="454128"/>
                </a:cubicBezTo>
                <a:cubicBezTo>
                  <a:pt x="192012" y="396774"/>
                  <a:pt x="59325" y="26539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B8AA"/>
              </a:gs>
              <a:gs pos="40000">
                <a:srgbClr val="E99084"/>
              </a:gs>
              <a:gs pos="80000">
                <a:srgbClr val="C96966"/>
              </a:gs>
              <a:gs pos="100000">
                <a:srgbClr val="F5B6AA"/>
              </a:gs>
            </a:gsLst>
            <a:lin ang="6600000" scaled="1"/>
          </a:gradFill>
          <a:ln w="11157" cap="rnd">
            <a:solidFill>
              <a:srgbClr val="FFF0E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artery_muscle_highlight_147"/>
          <p:cNvSpPr/>
          <p:nvPr/>
        </p:nvSpPr>
        <p:spPr>
          <a:xfrm>
            <a:off x="12260803" y="5410465"/>
            <a:ext cx="303613" cy="358305"/>
          </a:xfrm>
          <a:custGeom>
            <a:avLst/>
            <a:gdLst/>
            <a:ahLst/>
            <a:cxnLst/>
            <a:rect l="0" t="0" r="r" b="b"/>
            <a:pathLst>
              <a:path w="303613" h="358305">
                <a:moveTo>
                  <a:pt x="0" y="0"/>
                </a:moveTo>
                <a:cubicBezTo>
                  <a:pt x="128499" y="47819"/>
                  <a:pt x="243479" y="173845"/>
                  <a:pt x="303613" y="358305"/>
                </a:cubicBezTo>
              </a:path>
            </a:pathLst>
          </a:custGeom>
          <a:noFill/>
          <a:ln w="7748" cap="rnd">
            <a:solidFill>
              <a:srgbClr val="F9D3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artery_muscle_nucleus_148"/>
          <p:cNvSpPr/>
          <p:nvPr/>
        </p:nvSpPr>
        <p:spPr>
          <a:xfrm>
            <a:off x="12350586" y="5517398"/>
            <a:ext cx="145232" cy="162381"/>
          </a:xfrm>
          <a:custGeom>
            <a:avLst/>
            <a:gdLst/>
            <a:ahLst/>
            <a:cxnLst/>
            <a:rect l="0" t="0" r="r" b="b"/>
            <a:pathLst>
              <a:path w="145232" h="162381">
                <a:moveTo>
                  <a:pt x="19954" y="16158"/>
                </a:moveTo>
                <a:cubicBezTo>
                  <a:pt x="39907" y="0"/>
                  <a:pt x="79661" y="16017"/>
                  <a:pt x="108745" y="51934"/>
                </a:cubicBezTo>
                <a:cubicBezTo>
                  <a:pt x="137830" y="87850"/>
                  <a:pt x="145232" y="130065"/>
                  <a:pt x="125278" y="146223"/>
                </a:cubicBezTo>
                <a:cubicBezTo>
                  <a:pt x="105325" y="162381"/>
                  <a:pt x="65571" y="146364"/>
                  <a:pt x="36487" y="110448"/>
                </a:cubicBezTo>
                <a:cubicBezTo>
                  <a:pt x="7402" y="74531"/>
                  <a:pt x="0" y="32316"/>
                  <a:pt x="19954" y="16158"/>
                </a:cubicBezTo>
                <a:close/>
              </a:path>
            </a:pathLst>
          </a:custGeom>
          <a:gradFill rotWithShape="1">
            <a:gsLst>
              <a:gs pos="0">
                <a:srgbClr val="CA716A"/>
              </a:gs>
              <a:gs pos="50000">
                <a:srgbClr val="B35A55"/>
              </a:gs>
              <a:gs pos="100000">
                <a:srgbClr val="953F43"/>
              </a:gs>
            </a:gsLst>
            <a:lin ang="3600000" scaled="1"/>
          </a:gradFill>
          <a:ln w="5578" cap="rnd">
            <a:solidFill>
              <a:srgbClr val="893B4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artery_muscle_nuclear_highlight_149"/>
          <p:cNvSpPr/>
          <p:nvPr/>
        </p:nvSpPr>
        <p:spPr>
          <a:xfrm>
            <a:off x="12366763" y="5550267"/>
            <a:ext cx="50892" cy="59453"/>
          </a:xfrm>
          <a:custGeom>
            <a:avLst/>
            <a:gdLst/>
            <a:ahLst/>
            <a:cxnLst/>
            <a:rect l="0" t="0" r="r" b="b"/>
            <a:pathLst>
              <a:path w="50892" h="59453">
                <a:moveTo>
                  <a:pt x="3991" y="3232"/>
                </a:moveTo>
                <a:cubicBezTo>
                  <a:pt x="7981" y="0"/>
                  <a:pt x="20822" y="9242"/>
                  <a:pt x="32672" y="23875"/>
                </a:cubicBezTo>
                <a:cubicBezTo>
                  <a:pt x="44521" y="38508"/>
                  <a:pt x="50892" y="52990"/>
                  <a:pt x="46901" y="56221"/>
                </a:cubicBezTo>
                <a:cubicBezTo>
                  <a:pt x="42910" y="59453"/>
                  <a:pt x="30069" y="50210"/>
                  <a:pt x="18220" y="35578"/>
                </a:cubicBezTo>
                <a:cubicBezTo>
                  <a:pt x="6371" y="20945"/>
                  <a:pt x="0" y="6463"/>
                  <a:pt x="3991" y="3232"/>
                </a:cubicBezTo>
                <a:close/>
              </a:path>
            </a:pathLst>
          </a:custGeom>
          <a:solidFill>
            <a:srgbClr val="D58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artery_far_rim_150"/>
          <p:cNvSpPr/>
          <p:nvPr/>
        </p:nvSpPr>
        <p:spPr>
          <a:xfrm>
            <a:off x="8766020" y="1104593"/>
            <a:ext cx="4202661" cy="2386467"/>
          </a:xfrm>
          <a:custGeom>
            <a:avLst/>
            <a:gdLst/>
            <a:ahLst/>
            <a:cxnLst/>
            <a:rect l="0" t="0" r="r" b="b"/>
            <a:pathLst>
              <a:path w="4202661" h="2386467">
                <a:moveTo>
                  <a:pt x="173561" y="1264517"/>
                </a:moveTo>
                <a:cubicBezTo>
                  <a:pt x="0" y="1047566"/>
                  <a:pt x="6199" y="737635"/>
                  <a:pt x="74383" y="514485"/>
                </a:cubicBezTo>
                <a:cubicBezTo>
                  <a:pt x="167363" y="223150"/>
                  <a:pt x="278938" y="49589"/>
                  <a:pt x="539279" y="18596"/>
                </a:cubicBezTo>
                <a:cubicBezTo>
                  <a:pt x="1078559" y="0"/>
                  <a:pt x="1679825" y="371917"/>
                  <a:pt x="2405063" y="812019"/>
                </a:cubicBezTo>
                <a:cubicBezTo>
                  <a:pt x="3124102" y="1245922"/>
                  <a:pt x="3756361" y="1686023"/>
                  <a:pt x="4202661" y="1989755"/>
                </a:cubicBezTo>
                <a:lnTo>
                  <a:pt x="3892730" y="2386467"/>
                </a:lnTo>
                <a:cubicBezTo>
                  <a:pt x="3421635" y="2057940"/>
                  <a:pt x="2975335" y="1655030"/>
                  <a:pt x="2367871" y="1283113"/>
                </a:cubicBezTo>
                <a:cubicBezTo>
                  <a:pt x="1630236" y="836813"/>
                  <a:pt x="886402" y="347122"/>
                  <a:pt x="477293" y="303732"/>
                </a:cubicBezTo>
                <a:cubicBezTo>
                  <a:pt x="216952" y="272739"/>
                  <a:pt x="92979" y="675649"/>
                  <a:pt x="154965" y="954587"/>
                </a:cubicBezTo>
                <a:cubicBezTo>
                  <a:pt x="179760" y="1109552"/>
                  <a:pt x="254143" y="1208730"/>
                  <a:pt x="340924" y="1326504"/>
                </a:cubicBezTo>
                <a:close/>
              </a:path>
            </a:pathLst>
          </a:custGeom>
          <a:gradFill rotWithShape="1">
            <a:gsLst>
              <a:gs pos="0">
                <a:srgbClr val="FFF8F0"/>
              </a:gs>
              <a:gs pos="45000">
                <a:srgbClr val="F8C8C2"/>
              </a:gs>
              <a:gs pos="100000">
                <a:srgbClr val="F2BDBB"/>
              </a:gs>
            </a:gsLst>
            <a:lin ang="5400000" scaled="1"/>
          </a:gradFill>
          <a:ln w="7438" cap="rnd">
            <a:solidFill>
              <a:srgbClr val="D592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artery_far_rim_fiber_151"/>
          <p:cNvSpPr/>
          <p:nvPr/>
        </p:nvSpPr>
        <p:spPr>
          <a:xfrm>
            <a:off x="8784615" y="1092196"/>
            <a:ext cx="4122079" cy="2033146"/>
          </a:xfrm>
          <a:custGeom>
            <a:avLst/>
            <a:gdLst/>
            <a:ahLst/>
            <a:cxnLst/>
            <a:rect l="0" t="0" r="r" b="b"/>
            <a:pathLst>
              <a:path w="4122079" h="2033146">
                <a:moveTo>
                  <a:pt x="148767" y="1159141"/>
                </a:moveTo>
                <a:cubicBezTo>
                  <a:pt x="0" y="793423"/>
                  <a:pt x="173561" y="254143"/>
                  <a:pt x="464896" y="123972"/>
                </a:cubicBezTo>
                <a:cubicBezTo>
                  <a:pt x="904998" y="0"/>
                  <a:pt x="1766605" y="564074"/>
                  <a:pt x="2436056" y="966984"/>
                </a:cubicBezTo>
                <a:cubicBezTo>
                  <a:pt x="3155095" y="1394688"/>
                  <a:pt x="3700573" y="1785201"/>
                  <a:pt x="4122079" y="2033146"/>
                </a:cubicBezTo>
              </a:path>
            </a:pathLst>
          </a:custGeom>
          <a:noFill/>
          <a:ln w="6198" cap="rnd">
            <a:solidFill>
              <a:srgbClr val="F8E4D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artery_far_rim_fiber_152"/>
          <p:cNvSpPr/>
          <p:nvPr/>
        </p:nvSpPr>
        <p:spPr>
          <a:xfrm>
            <a:off x="8794533" y="1104593"/>
            <a:ext cx="4103483" cy="2028187"/>
          </a:xfrm>
          <a:custGeom>
            <a:avLst/>
            <a:gdLst/>
            <a:ahLst/>
            <a:cxnLst/>
            <a:rect l="0" t="0" r="r" b="b"/>
            <a:pathLst>
              <a:path w="4103483" h="2028187">
                <a:moveTo>
                  <a:pt x="140213" y="1139305"/>
                </a:moveTo>
                <a:cubicBezTo>
                  <a:pt x="0" y="777306"/>
                  <a:pt x="173561" y="246085"/>
                  <a:pt x="454978" y="123972"/>
                </a:cubicBezTo>
                <a:cubicBezTo>
                  <a:pt x="895080" y="0"/>
                  <a:pt x="1756687" y="564074"/>
                  <a:pt x="2426138" y="966984"/>
                </a:cubicBezTo>
                <a:cubicBezTo>
                  <a:pt x="3145177" y="1394688"/>
                  <a:pt x="3690655" y="1779002"/>
                  <a:pt x="4103483" y="2028187"/>
                </a:cubicBezTo>
              </a:path>
            </a:pathLst>
          </a:custGeom>
          <a:noFill/>
          <a:ln w="6198" cap="rnd">
            <a:solidFill>
              <a:srgbClr val="ECA7A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artery_far_rim_fiber_153"/>
          <p:cNvSpPr/>
          <p:nvPr/>
        </p:nvSpPr>
        <p:spPr>
          <a:xfrm>
            <a:off x="8804451" y="1116990"/>
            <a:ext cx="4084887" cy="2023228"/>
          </a:xfrm>
          <a:custGeom>
            <a:avLst/>
            <a:gdLst/>
            <a:ahLst/>
            <a:cxnLst/>
            <a:rect l="0" t="0" r="r" b="b"/>
            <a:pathLst>
              <a:path w="4084887" h="2023228">
                <a:moveTo>
                  <a:pt x="131659" y="1119470"/>
                </a:moveTo>
                <a:cubicBezTo>
                  <a:pt x="0" y="761190"/>
                  <a:pt x="173561" y="238027"/>
                  <a:pt x="445061" y="123972"/>
                </a:cubicBezTo>
                <a:cubicBezTo>
                  <a:pt x="885162" y="0"/>
                  <a:pt x="1746770" y="564074"/>
                  <a:pt x="2416220" y="966984"/>
                </a:cubicBezTo>
                <a:cubicBezTo>
                  <a:pt x="3135259" y="1394688"/>
                  <a:pt x="3680737" y="1772804"/>
                  <a:pt x="4084887" y="2023228"/>
                </a:cubicBezTo>
              </a:path>
            </a:pathLst>
          </a:custGeom>
          <a:noFill/>
          <a:ln w="6198" cap="rnd">
            <a:solidFill>
              <a:srgbClr val="F1B7B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artery_far_rim_fiber_154"/>
          <p:cNvSpPr/>
          <p:nvPr/>
        </p:nvSpPr>
        <p:spPr>
          <a:xfrm>
            <a:off x="8814369" y="1129388"/>
            <a:ext cx="4066291" cy="2018269"/>
          </a:xfrm>
          <a:custGeom>
            <a:avLst/>
            <a:gdLst/>
            <a:ahLst/>
            <a:cxnLst/>
            <a:rect l="0" t="0" r="r" b="b"/>
            <a:pathLst>
              <a:path w="4066291" h="2018269">
                <a:moveTo>
                  <a:pt x="123104" y="1099634"/>
                </a:moveTo>
                <a:cubicBezTo>
                  <a:pt x="0" y="745073"/>
                  <a:pt x="173561" y="229969"/>
                  <a:pt x="435143" y="123972"/>
                </a:cubicBezTo>
                <a:cubicBezTo>
                  <a:pt x="875244" y="0"/>
                  <a:pt x="1736852" y="564074"/>
                  <a:pt x="2406302" y="966984"/>
                </a:cubicBezTo>
                <a:cubicBezTo>
                  <a:pt x="3125342" y="1394688"/>
                  <a:pt x="3670820" y="1766605"/>
                  <a:pt x="4066291" y="2018269"/>
                </a:cubicBezTo>
              </a:path>
            </a:pathLst>
          </a:custGeom>
          <a:noFill/>
          <a:ln w="6198" cap="rnd">
            <a:solidFill>
              <a:srgbClr val="FFF7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artery_far_rim_fiber_155"/>
          <p:cNvSpPr/>
          <p:nvPr/>
        </p:nvSpPr>
        <p:spPr>
          <a:xfrm>
            <a:off x="8824287" y="1141785"/>
            <a:ext cx="4047695" cy="2013310"/>
          </a:xfrm>
          <a:custGeom>
            <a:avLst/>
            <a:gdLst/>
            <a:ahLst/>
            <a:cxnLst/>
            <a:rect l="0" t="0" r="r" b="b"/>
            <a:pathLst>
              <a:path w="4047695" h="2013310">
                <a:moveTo>
                  <a:pt x="114550" y="1079799"/>
                </a:moveTo>
                <a:cubicBezTo>
                  <a:pt x="0" y="728957"/>
                  <a:pt x="173561" y="221910"/>
                  <a:pt x="425225" y="123972"/>
                </a:cubicBezTo>
                <a:cubicBezTo>
                  <a:pt x="865327" y="0"/>
                  <a:pt x="1726934" y="564074"/>
                  <a:pt x="2396384" y="966984"/>
                </a:cubicBezTo>
                <a:cubicBezTo>
                  <a:pt x="3115424" y="1394688"/>
                  <a:pt x="3660902" y="1760407"/>
                  <a:pt x="4047695" y="2013310"/>
                </a:cubicBezTo>
              </a:path>
            </a:pathLst>
          </a:custGeom>
          <a:noFill/>
          <a:ln w="6198" cap="rnd">
            <a:solidFill>
              <a:srgbClr val="F8E4D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artery_far_rim_fiber_156"/>
          <p:cNvSpPr/>
          <p:nvPr/>
        </p:nvSpPr>
        <p:spPr>
          <a:xfrm>
            <a:off x="8834204" y="1154182"/>
            <a:ext cx="4029100" cy="2008351"/>
          </a:xfrm>
          <a:custGeom>
            <a:avLst/>
            <a:gdLst/>
            <a:ahLst/>
            <a:cxnLst/>
            <a:rect l="0" t="0" r="r" b="b"/>
            <a:pathLst>
              <a:path w="4029100" h="2008351">
                <a:moveTo>
                  <a:pt x="105996" y="1059963"/>
                </a:moveTo>
                <a:cubicBezTo>
                  <a:pt x="0" y="712841"/>
                  <a:pt x="173561" y="213852"/>
                  <a:pt x="415307" y="123972"/>
                </a:cubicBezTo>
                <a:cubicBezTo>
                  <a:pt x="855409" y="0"/>
                  <a:pt x="1717016" y="564074"/>
                  <a:pt x="2386467" y="966984"/>
                </a:cubicBezTo>
                <a:cubicBezTo>
                  <a:pt x="3105506" y="1394688"/>
                  <a:pt x="3650984" y="1754208"/>
                  <a:pt x="4029100" y="2008351"/>
                </a:cubicBezTo>
              </a:path>
            </a:pathLst>
          </a:custGeom>
          <a:noFill/>
          <a:ln w="6198" cap="rnd">
            <a:solidFill>
              <a:srgbClr val="ECA7A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artery_far_rim_fiber_157"/>
          <p:cNvSpPr/>
          <p:nvPr/>
        </p:nvSpPr>
        <p:spPr>
          <a:xfrm>
            <a:off x="8844122" y="1166579"/>
            <a:ext cx="4010504" cy="2003392"/>
          </a:xfrm>
          <a:custGeom>
            <a:avLst/>
            <a:gdLst/>
            <a:ahLst/>
            <a:cxnLst/>
            <a:rect l="0" t="0" r="r" b="b"/>
            <a:pathLst>
              <a:path w="4010504" h="2003392">
                <a:moveTo>
                  <a:pt x="97442" y="1040128"/>
                </a:moveTo>
                <a:cubicBezTo>
                  <a:pt x="0" y="696724"/>
                  <a:pt x="173561" y="205794"/>
                  <a:pt x="405389" y="123972"/>
                </a:cubicBezTo>
                <a:cubicBezTo>
                  <a:pt x="845491" y="0"/>
                  <a:pt x="1707098" y="564074"/>
                  <a:pt x="2376549" y="966984"/>
                </a:cubicBezTo>
                <a:cubicBezTo>
                  <a:pt x="3095588" y="1394688"/>
                  <a:pt x="3641066" y="1748009"/>
                  <a:pt x="4010504" y="2003392"/>
                </a:cubicBezTo>
              </a:path>
            </a:pathLst>
          </a:custGeom>
          <a:noFill/>
          <a:ln w="6198" cap="rnd">
            <a:solidFill>
              <a:srgbClr val="F1B7B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artery_far_rim_fiber_158"/>
          <p:cNvSpPr/>
          <p:nvPr/>
        </p:nvSpPr>
        <p:spPr>
          <a:xfrm>
            <a:off x="8854040" y="1178977"/>
            <a:ext cx="3991908" cy="1998433"/>
          </a:xfrm>
          <a:custGeom>
            <a:avLst/>
            <a:gdLst/>
            <a:ahLst/>
            <a:cxnLst/>
            <a:rect l="0" t="0" r="r" b="b"/>
            <a:pathLst>
              <a:path w="3991908" h="1998433">
                <a:moveTo>
                  <a:pt x="88888" y="1020292"/>
                </a:moveTo>
                <a:cubicBezTo>
                  <a:pt x="0" y="680608"/>
                  <a:pt x="173561" y="197736"/>
                  <a:pt x="395472" y="123972"/>
                </a:cubicBezTo>
                <a:cubicBezTo>
                  <a:pt x="835573" y="0"/>
                  <a:pt x="1697181" y="564074"/>
                  <a:pt x="2366631" y="966984"/>
                </a:cubicBezTo>
                <a:cubicBezTo>
                  <a:pt x="3085670" y="1394688"/>
                  <a:pt x="3631148" y="1741811"/>
                  <a:pt x="3991908" y="1998433"/>
                </a:cubicBezTo>
              </a:path>
            </a:pathLst>
          </a:custGeom>
          <a:noFill/>
          <a:ln w="6198" cap="rnd">
            <a:solidFill>
              <a:srgbClr val="FFF7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artery_far_rim_fiber_159"/>
          <p:cNvSpPr/>
          <p:nvPr/>
        </p:nvSpPr>
        <p:spPr>
          <a:xfrm>
            <a:off x="8863958" y="1191374"/>
            <a:ext cx="3973312" cy="1993474"/>
          </a:xfrm>
          <a:custGeom>
            <a:avLst/>
            <a:gdLst/>
            <a:ahLst/>
            <a:cxnLst/>
            <a:rect l="0" t="0" r="r" b="b"/>
            <a:pathLst>
              <a:path w="3973312" h="1993474">
                <a:moveTo>
                  <a:pt x="80334" y="1000456"/>
                </a:moveTo>
                <a:cubicBezTo>
                  <a:pt x="0" y="664491"/>
                  <a:pt x="173561" y="189678"/>
                  <a:pt x="385554" y="123972"/>
                </a:cubicBezTo>
                <a:cubicBezTo>
                  <a:pt x="825655" y="0"/>
                  <a:pt x="1687263" y="564074"/>
                  <a:pt x="2356713" y="966984"/>
                </a:cubicBezTo>
                <a:cubicBezTo>
                  <a:pt x="3075753" y="1394688"/>
                  <a:pt x="3621231" y="1735612"/>
                  <a:pt x="3973312" y="1993474"/>
                </a:cubicBezTo>
              </a:path>
            </a:pathLst>
          </a:custGeom>
          <a:noFill/>
          <a:ln w="6198" cap="rnd">
            <a:solidFill>
              <a:srgbClr val="F8E4D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artery_far_rim_fiber_160"/>
          <p:cNvSpPr/>
          <p:nvPr/>
        </p:nvSpPr>
        <p:spPr>
          <a:xfrm>
            <a:off x="8873875" y="1203771"/>
            <a:ext cx="3954716" cy="1988516"/>
          </a:xfrm>
          <a:custGeom>
            <a:avLst/>
            <a:gdLst/>
            <a:ahLst/>
            <a:cxnLst/>
            <a:rect l="0" t="0" r="r" b="b"/>
            <a:pathLst>
              <a:path w="3954716" h="1988516">
                <a:moveTo>
                  <a:pt x="71780" y="980621"/>
                </a:moveTo>
                <a:cubicBezTo>
                  <a:pt x="0" y="648375"/>
                  <a:pt x="173561" y="181619"/>
                  <a:pt x="375636" y="123972"/>
                </a:cubicBezTo>
                <a:cubicBezTo>
                  <a:pt x="815738" y="0"/>
                  <a:pt x="1677345" y="564074"/>
                  <a:pt x="2346796" y="966984"/>
                </a:cubicBezTo>
                <a:cubicBezTo>
                  <a:pt x="3065835" y="1394688"/>
                  <a:pt x="3611313" y="1729413"/>
                  <a:pt x="3954716" y="1988516"/>
                </a:cubicBezTo>
              </a:path>
            </a:pathLst>
          </a:custGeom>
          <a:noFill/>
          <a:ln w="6198" cap="rnd">
            <a:solidFill>
              <a:srgbClr val="ECA7A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artery_far_rim_fiber_161"/>
          <p:cNvSpPr/>
          <p:nvPr/>
        </p:nvSpPr>
        <p:spPr>
          <a:xfrm>
            <a:off x="8883793" y="1216168"/>
            <a:ext cx="3936120" cy="1983557"/>
          </a:xfrm>
          <a:custGeom>
            <a:avLst/>
            <a:gdLst/>
            <a:ahLst/>
            <a:cxnLst/>
            <a:rect l="0" t="0" r="r" b="b"/>
            <a:pathLst>
              <a:path w="3936120" h="1983557">
                <a:moveTo>
                  <a:pt x="63226" y="960785"/>
                </a:moveTo>
                <a:cubicBezTo>
                  <a:pt x="0" y="632259"/>
                  <a:pt x="173561" y="173561"/>
                  <a:pt x="365718" y="123972"/>
                </a:cubicBezTo>
                <a:cubicBezTo>
                  <a:pt x="805820" y="0"/>
                  <a:pt x="1667427" y="564074"/>
                  <a:pt x="2336878" y="966984"/>
                </a:cubicBezTo>
                <a:cubicBezTo>
                  <a:pt x="3055917" y="1394688"/>
                  <a:pt x="3601395" y="1723215"/>
                  <a:pt x="3936120" y="1983557"/>
                </a:cubicBezTo>
              </a:path>
            </a:pathLst>
          </a:custGeom>
          <a:noFill/>
          <a:ln w="6198" cap="rnd">
            <a:solidFill>
              <a:srgbClr val="F1B7B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artery_lumen_162"/>
          <p:cNvSpPr/>
          <p:nvPr/>
        </p:nvSpPr>
        <p:spPr>
          <a:xfrm>
            <a:off x="8970574" y="1420722"/>
            <a:ext cx="3731566" cy="2820370"/>
          </a:xfrm>
          <a:custGeom>
            <a:avLst/>
            <a:gdLst/>
            <a:ahLst/>
            <a:cxnLst/>
            <a:rect l="0" t="0" r="r" b="b"/>
            <a:pathLst>
              <a:path w="3731566" h="2820370">
                <a:moveTo>
                  <a:pt x="204554" y="68185"/>
                </a:moveTo>
                <a:cubicBezTo>
                  <a:pt x="551677" y="0"/>
                  <a:pt x="1196333" y="303732"/>
                  <a:pt x="1915372" y="743834"/>
                </a:cubicBezTo>
                <a:cubicBezTo>
                  <a:pt x="2646808" y="1190134"/>
                  <a:pt x="3272869" y="1741811"/>
                  <a:pt x="3731566" y="2070337"/>
                </a:cubicBezTo>
                <a:cubicBezTo>
                  <a:pt x="3657183" y="2318282"/>
                  <a:pt x="3601395" y="2572425"/>
                  <a:pt x="3570402" y="2820370"/>
                </a:cubicBezTo>
                <a:cubicBezTo>
                  <a:pt x="2714993" y="2405063"/>
                  <a:pt x="1357497" y="1580647"/>
                  <a:pt x="303732" y="1010374"/>
                </a:cubicBezTo>
                <a:cubicBezTo>
                  <a:pt x="92979" y="892601"/>
                  <a:pt x="0" y="675649"/>
                  <a:pt x="12397" y="415307"/>
                </a:cubicBezTo>
                <a:cubicBezTo>
                  <a:pt x="24794" y="247945"/>
                  <a:pt x="74383" y="123972"/>
                  <a:pt x="204554" y="68185"/>
                </a:cubicBezTo>
                <a:close/>
              </a:path>
            </a:pathLst>
          </a:custGeom>
          <a:gradFill rotWithShape="1">
            <a:gsLst>
              <a:gs pos="0">
                <a:srgbClr val="C57476"/>
              </a:gs>
              <a:gs pos="42000">
                <a:srgbClr val="DE8F8D"/>
              </a:gs>
              <a:gs pos="75000">
                <a:srgbClr val="F2BDB6"/>
              </a:gs>
              <a:gs pos="100000">
                <a:srgbClr val="D88B89"/>
              </a:gs>
            </a:gsLst>
            <a:lin ang="7200000" scaled="1"/>
          </a:gradFill>
          <a:ln w="7438" cap="rnd">
            <a:solidFill>
              <a:srgbClr val="BA787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artery_elastic_lamina_163"/>
          <p:cNvSpPr/>
          <p:nvPr/>
        </p:nvSpPr>
        <p:spPr>
          <a:xfrm>
            <a:off x="9113142" y="2474487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A3A7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artery_elastic_lamina_164"/>
          <p:cNvSpPr/>
          <p:nvPr/>
        </p:nvSpPr>
        <p:spPr>
          <a:xfrm>
            <a:off x="9113142" y="2489364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D5DBE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artery_elastic_lamina_165"/>
          <p:cNvSpPr/>
          <p:nvPr/>
        </p:nvSpPr>
        <p:spPr>
          <a:xfrm>
            <a:off x="9113142" y="2504240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8F98C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artery_elastic_lamina_166"/>
          <p:cNvSpPr/>
          <p:nvPr/>
        </p:nvSpPr>
        <p:spPr>
          <a:xfrm>
            <a:off x="9113142" y="2519117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A3A7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artery_elastic_lamina_167"/>
          <p:cNvSpPr/>
          <p:nvPr/>
        </p:nvSpPr>
        <p:spPr>
          <a:xfrm>
            <a:off x="9113142" y="2533994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D5DBE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artery_elastic_lamina_168"/>
          <p:cNvSpPr/>
          <p:nvPr/>
        </p:nvSpPr>
        <p:spPr>
          <a:xfrm>
            <a:off x="9113142" y="2548870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8F98C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artery_elastic_lamina_169"/>
          <p:cNvSpPr/>
          <p:nvPr/>
        </p:nvSpPr>
        <p:spPr>
          <a:xfrm>
            <a:off x="9113142" y="2563747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A3A7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artery_elastic_lamina_170"/>
          <p:cNvSpPr/>
          <p:nvPr/>
        </p:nvSpPr>
        <p:spPr>
          <a:xfrm>
            <a:off x="9113142" y="2578624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D5DBE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artery_elastic_lamina_171"/>
          <p:cNvSpPr/>
          <p:nvPr/>
        </p:nvSpPr>
        <p:spPr>
          <a:xfrm>
            <a:off x="9113142" y="2593500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6198" cap="rnd">
            <a:solidFill>
              <a:srgbClr val="8F98C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artery_endothelial_cell_172"/>
          <p:cNvSpPr/>
          <p:nvPr/>
        </p:nvSpPr>
        <p:spPr>
          <a:xfrm>
            <a:off x="8999895" y="1295662"/>
            <a:ext cx="580755" cy="239756"/>
          </a:xfrm>
          <a:custGeom>
            <a:avLst/>
            <a:gdLst/>
            <a:ahLst/>
            <a:cxnLst/>
            <a:rect l="0" t="0" r="r" b="b"/>
            <a:pathLst>
              <a:path w="580755" h="239756">
                <a:moveTo>
                  <a:pt x="11070" y="172591"/>
                </a:moveTo>
                <a:cubicBezTo>
                  <a:pt x="0" y="65058"/>
                  <a:pt x="140911" y="7097"/>
                  <a:pt x="288890" y="10117"/>
                </a:cubicBezTo>
                <a:cubicBezTo>
                  <a:pt x="446394" y="2493"/>
                  <a:pt x="569628" y="0"/>
                  <a:pt x="578011" y="67166"/>
                </a:cubicBezTo>
                <a:cubicBezTo>
                  <a:pt x="580755" y="135530"/>
                  <a:pt x="429005" y="197950"/>
                  <a:pt x="272377" y="209696"/>
                </a:cubicBezTo>
                <a:cubicBezTo>
                  <a:pt x="127465" y="221107"/>
                  <a:pt x="19453" y="239756"/>
                  <a:pt x="11070" y="172591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artery_endothelial_highlight_173"/>
          <p:cNvSpPr/>
          <p:nvPr/>
        </p:nvSpPr>
        <p:spPr>
          <a:xfrm>
            <a:off x="9069047" y="1321935"/>
            <a:ext cx="383377" cy="114580"/>
          </a:xfrm>
          <a:custGeom>
            <a:avLst/>
            <a:gdLst/>
            <a:ahLst/>
            <a:cxnLst/>
            <a:rect l="0" t="0" r="r" b="b"/>
            <a:pathLst>
              <a:path w="383377" h="114580">
                <a:moveTo>
                  <a:pt x="0" y="114580"/>
                </a:moveTo>
                <a:cubicBezTo>
                  <a:pt x="60158" y="37155"/>
                  <a:pt x="234959" y="0"/>
                  <a:pt x="383377" y="5081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artery_endothelial_nucleus_174"/>
          <p:cNvSpPr/>
          <p:nvPr/>
        </p:nvSpPr>
        <p:spPr>
          <a:xfrm>
            <a:off x="9206423" y="1359306"/>
            <a:ext cx="172958" cy="98039"/>
          </a:xfrm>
          <a:custGeom>
            <a:avLst/>
            <a:gdLst/>
            <a:ahLst/>
            <a:cxnLst/>
            <a:rect l="0" t="0" r="r" b="b"/>
            <a:pathLst>
              <a:path w="172958" h="98039">
                <a:moveTo>
                  <a:pt x="4626" y="66418"/>
                </a:moveTo>
                <a:cubicBezTo>
                  <a:pt x="0" y="44652"/>
                  <a:pt x="32896" y="19218"/>
                  <a:pt x="78102" y="9609"/>
                </a:cubicBezTo>
                <a:cubicBezTo>
                  <a:pt x="123308" y="0"/>
                  <a:pt x="163705" y="9855"/>
                  <a:pt x="168332" y="31621"/>
                </a:cubicBezTo>
                <a:cubicBezTo>
                  <a:pt x="172958" y="53387"/>
                  <a:pt x="140062" y="78821"/>
                  <a:pt x="94856" y="88430"/>
                </a:cubicBezTo>
                <a:cubicBezTo>
                  <a:pt x="49650" y="98039"/>
                  <a:pt x="9253" y="88184"/>
                  <a:pt x="4626" y="66418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artery_endothelial_cell_175"/>
          <p:cNvSpPr/>
          <p:nvPr/>
        </p:nvSpPr>
        <p:spPr>
          <a:xfrm>
            <a:off x="9542975" y="1341127"/>
            <a:ext cx="586370" cy="345047"/>
          </a:xfrm>
          <a:custGeom>
            <a:avLst/>
            <a:gdLst/>
            <a:ahLst/>
            <a:cxnLst/>
            <a:rect l="0" t="0" r="r" b="b"/>
            <a:pathLst>
              <a:path w="586370" h="345047">
                <a:moveTo>
                  <a:pt x="25692" y="102512"/>
                </a:moveTo>
                <a:cubicBezTo>
                  <a:pt x="68830" y="0"/>
                  <a:pt x="217327" y="15908"/>
                  <a:pt x="342035" y="90333"/>
                </a:cubicBezTo>
                <a:cubicBezTo>
                  <a:pt x="480068" y="159758"/>
                  <a:pt x="586370" y="217213"/>
                  <a:pt x="560678" y="281954"/>
                </a:cubicBezTo>
                <a:cubicBezTo>
                  <a:pt x="529592" y="345047"/>
                  <a:pt x="369672" y="327916"/>
                  <a:pt x="230370" y="262640"/>
                </a:cubicBezTo>
                <a:cubicBezTo>
                  <a:pt x="101222" y="202738"/>
                  <a:pt x="0" y="167254"/>
                  <a:pt x="25692" y="102512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artery_endothelial_highlight_176"/>
          <p:cNvSpPr/>
          <p:nvPr/>
        </p:nvSpPr>
        <p:spPr>
          <a:xfrm>
            <a:off x="9633712" y="1402306"/>
            <a:ext cx="380450" cy="127625"/>
          </a:xfrm>
          <a:custGeom>
            <a:avLst/>
            <a:gdLst/>
            <a:ahLst/>
            <a:cxnLst/>
            <a:rect l="0" t="0" r="r" b="b"/>
            <a:pathLst>
              <a:path w="380450" h="127625">
                <a:moveTo>
                  <a:pt x="0" y="40802"/>
                </a:moveTo>
                <a:cubicBezTo>
                  <a:pt x="89155" y="0"/>
                  <a:pt x="256377" y="51125"/>
                  <a:pt x="380450" y="127625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artery_endothelial_nucleus_177"/>
          <p:cNvSpPr/>
          <p:nvPr/>
        </p:nvSpPr>
        <p:spPr>
          <a:xfrm>
            <a:off x="9751849" y="1474056"/>
            <a:ext cx="173061" cy="104085"/>
          </a:xfrm>
          <a:custGeom>
            <a:avLst/>
            <a:gdLst/>
            <a:ahLst/>
            <a:cxnLst/>
            <a:rect l="0" t="0" r="r" b="b"/>
            <a:pathLst>
              <a:path w="173061" h="104085">
                <a:moveTo>
                  <a:pt x="6506" y="27577"/>
                </a:moveTo>
                <a:cubicBezTo>
                  <a:pt x="13012" y="6297"/>
                  <a:pt x="54114" y="0"/>
                  <a:pt x="98311" y="13512"/>
                </a:cubicBezTo>
                <a:cubicBezTo>
                  <a:pt x="142507" y="27024"/>
                  <a:pt x="173061" y="55229"/>
                  <a:pt x="166556" y="76509"/>
                </a:cubicBezTo>
                <a:cubicBezTo>
                  <a:pt x="160050" y="97789"/>
                  <a:pt x="118947" y="104085"/>
                  <a:pt x="74751" y="90573"/>
                </a:cubicBezTo>
                <a:cubicBezTo>
                  <a:pt x="30554" y="77061"/>
                  <a:pt x="0" y="48856"/>
                  <a:pt x="6506" y="27577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artery_endothelial_cell_178"/>
          <p:cNvSpPr/>
          <p:nvPr/>
        </p:nvSpPr>
        <p:spPr>
          <a:xfrm>
            <a:off x="10088754" y="1547007"/>
            <a:ext cx="620932" cy="431341"/>
          </a:xfrm>
          <a:custGeom>
            <a:avLst/>
            <a:gdLst/>
            <a:ahLst/>
            <a:cxnLst/>
            <a:rect l="0" t="0" r="r" b="b"/>
            <a:pathLst>
              <a:path w="620932" h="431341">
                <a:moveTo>
                  <a:pt x="35135" y="91171"/>
                </a:moveTo>
                <a:cubicBezTo>
                  <a:pt x="93396" y="0"/>
                  <a:pt x="250260" y="46025"/>
                  <a:pt x="374759" y="144265"/>
                </a:cubicBezTo>
                <a:cubicBezTo>
                  <a:pt x="514097" y="240362"/>
                  <a:pt x="620932" y="318262"/>
                  <a:pt x="585796" y="376160"/>
                </a:cubicBezTo>
                <a:cubicBezTo>
                  <a:pt x="545089" y="431341"/>
                  <a:pt x="376159" y="381776"/>
                  <a:pt x="234974" y="289467"/>
                </a:cubicBezTo>
                <a:cubicBezTo>
                  <a:pt x="104007" y="204487"/>
                  <a:pt x="0" y="149070"/>
                  <a:pt x="35135" y="91171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artery_endothelial_highlight_179"/>
          <p:cNvSpPr/>
          <p:nvPr/>
        </p:nvSpPr>
        <p:spPr>
          <a:xfrm>
            <a:off x="10193489" y="1629519"/>
            <a:ext cx="396429" cy="184370"/>
          </a:xfrm>
          <a:custGeom>
            <a:avLst/>
            <a:gdLst/>
            <a:ahLst/>
            <a:cxnLst/>
            <a:rect l="0" t="0" r="r" b="b"/>
            <a:pathLst>
              <a:path w="396429" h="184370">
                <a:moveTo>
                  <a:pt x="0" y="21502"/>
                </a:moveTo>
                <a:cubicBezTo>
                  <a:pt x="100143" y="0"/>
                  <a:pt x="272853" y="84236"/>
                  <a:pt x="396429" y="184370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artery_endothelial_nucleus_180"/>
          <p:cNvSpPr/>
          <p:nvPr/>
        </p:nvSpPr>
        <p:spPr>
          <a:xfrm>
            <a:off x="10317487" y="1717360"/>
            <a:ext cx="169934" cy="113367"/>
          </a:xfrm>
          <a:custGeom>
            <a:avLst/>
            <a:gdLst/>
            <a:ahLst/>
            <a:cxnLst/>
            <a:rect l="0" t="0" r="r" b="b"/>
            <a:pathLst>
              <a:path w="169934" h="113367">
                <a:moveTo>
                  <a:pt x="9755" y="20000"/>
                </a:moveTo>
                <a:cubicBezTo>
                  <a:pt x="19509" y="0"/>
                  <a:pt x="61091" y="210"/>
                  <a:pt x="102629" y="20470"/>
                </a:cubicBezTo>
                <a:cubicBezTo>
                  <a:pt x="144168" y="40730"/>
                  <a:pt x="169934" y="73367"/>
                  <a:pt x="160179" y="93367"/>
                </a:cubicBezTo>
                <a:cubicBezTo>
                  <a:pt x="150425" y="113367"/>
                  <a:pt x="108843" y="113157"/>
                  <a:pt x="67305" y="92897"/>
                </a:cubicBezTo>
                <a:cubicBezTo>
                  <a:pt x="25766" y="72637"/>
                  <a:pt x="0" y="40000"/>
                  <a:pt x="9755" y="20000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artery_endothelial_cell_181"/>
          <p:cNvSpPr/>
          <p:nvPr/>
        </p:nvSpPr>
        <p:spPr>
          <a:xfrm>
            <a:off x="10669075" y="1850661"/>
            <a:ext cx="574474" cy="470210"/>
          </a:xfrm>
          <a:custGeom>
            <a:avLst/>
            <a:gdLst/>
            <a:ahLst/>
            <a:cxnLst/>
            <a:rect l="0" t="0" r="r" b="b"/>
            <a:pathLst>
              <a:path w="574474" h="470210">
                <a:moveTo>
                  <a:pt x="41722" y="83662"/>
                </a:moveTo>
                <a:cubicBezTo>
                  <a:pt x="110243" y="0"/>
                  <a:pt x="254922" y="61287"/>
                  <a:pt x="361323" y="170592"/>
                </a:cubicBezTo>
                <a:cubicBezTo>
                  <a:pt x="482296" y="279308"/>
                  <a:pt x="574474" y="366811"/>
                  <a:pt x="532752" y="420131"/>
                </a:cubicBezTo>
                <a:cubicBezTo>
                  <a:pt x="486040" y="470210"/>
                  <a:pt x="330232" y="404208"/>
                  <a:pt x="206962" y="299027"/>
                </a:cubicBezTo>
                <a:cubicBezTo>
                  <a:pt x="92527" y="202095"/>
                  <a:pt x="0" y="136981"/>
                  <a:pt x="41722" y="83662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artery_endothelial_highlight_182"/>
          <p:cNvSpPr/>
          <p:nvPr/>
        </p:nvSpPr>
        <p:spPr>
          <a:xfrm>
            <a:off x="10776024" y="1943173"/>
            <a:ext cx="359277" cy="211542"/>
          </a:xfrm>
          <a:custGeom>
            <a:avLst/>
            <a:gdLst/>
            <a:ahLst/>
            <a:cxnLst/>
            <a:rect l="0" t="0" r="r" b="b"/>
            <a:pathLst>
              <a:path w="359277" h="211542">
                <a:moveTo>
                  <a:pt x="0" y="10893"/>
                </a:moveTo>
                <a:cubicBezTo>
                  <a:pt x="99314" y="0"/>
                  <a:pt x="254024" y="100470"/>
                  <a:pt x="359277" y="211542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artery_endothelial_nucleus_183"/>
          <p:cNvSpPr/>
          <p:nvPr/>
        </p:nvSpPr>
        <p:spPr>
          <a:xfrm>
            <a:off x="10878029" y="2032133"/>
            <a:ext cx="164601" cy="128477"/>
          </a:xfrm>
          <a:custGeom>
            <a:avLst/>
            <a:gdLst/>
            <a:ahLst/>
            <a:cxnLst/>
            <a:rect l="0" t="0" r="r" b="b"/>
            <a:pathLst>
              <a:path w="164601" h="128477">
                <a:moveTo>
                  <a:pt x="12119" y="18662"/>
                </a:moveTo>
                <a:cubicBezTo>
                  <a:pt x="24239" y="0"/>
                  <a:pt x="65485" y="5276"/>
                  <a:pt x="104244" y="30447"/>
                </a:cubicBezTo>
                <a:cubicBezTo>
                  <a:pt x="143004" y="55618"/>
                  <a:pt x="164601" y="91152"/>
                  <a:pt x="152481" y="109814"/>
                </a:cubicBezTo>
                <a:cubicBezTo>
                  <a:pt x="140362" y="128477"/>
                  <a:pt x="99116" y="123200"/>
                  <a:pt x="60356" y="98029"/>
                </a:cubicBezTo>
                <a:cubicBezTo>
                  <a:pt x="21596" y="72858"/>
                  <a:pt x="0" y="37324"/>
                  <a:pt x="12119" y="18662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artery_endothelial_cell_184"/>
          <p:cNvSpPr/>
          <p:nvPr/>
        </p:nvSpPr>
        <p:spPr>
          <a:xfrm>
            <a:off x="11174678" y="2191035"/>
            <a:ext cx="529668" cy="472917"/>
          </a:xfrm>
          <a:custGeom>
            <a:avLst/>
            <a:gdLst/>
            <a:ahLst/>
            <a:cxnLst/>
            <a:rect l="0" t="0" r="r" b="b"/>
            <a:pathLst>
              <a:path w="529668" h="472917">
                <a:moveTo>
                  <a:pt x="43898" y="76526"/>
                </a:moveTo>
                <a:cubicBezTo>
                  <a:pt x="115691" y="0"/>
                  <a:pt x="248822" y="67024"/>
                  <a:pt x="341747" y="178030"/>
                </a:cubicBezTo>
                <a:cubicBezTo>
                  <a:pt x="448607" y="289290"/>
                  <a:pt x="529668" y="378548"/>
                  <a:pt x="485770" y="427430"/>
                </a:cubicBezTo>
                <a:cubicBezTo>
                  <a:pt x="437367" y="472917"/>
                  <a:pt x="293996" y="400737"/>
                  <a:pt x="184674" y="292744"/>
                </a:cubicBezTo>
                <a:cubicBezTo>
                  <a:pt x="83131" y="193175"/>
                  <a:pt x="0" y="125408"/>
                  <a:pt x="43898" y="76526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artery_endothelial_highlight_185"/>
          <p:cNvSpPr/>
          <p:nvPr/>
        </p:nvSpPr>
        <p:spPr>
          <a:xfrm>
            <a:off x="11279210" y="2285321"/>
            <a:ext cx="326841" cy="217874"/>
          </a:xfrm>
          <a:custGeom>
            <a:avLst/>
            <a:gdLst/>
            <a:ahLst/>
            <a:cxnLst/>
            <a:rect l="0" t="0" r="r" b="b"/>
            <a:pathLst>
              <a:path w="326841" h="217874">
                <a:moveTo>
                  <a:pt x="0" y="4878"/>
                </a:moveTo>
                <a:cubicBezTo>
                  <a:pt x="95495" y="0"/>
                  <a:pt x="235147" y="105235"/>
                  <a:pt x="326841" y="217874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artery_endothelial_nucleus_186"/>
          <p:cNvSpPr/>
          <p:nvPr/>
        </p:nvSpPr>
        <p:spPr>
          <a:xfrm>
            <a:off x="11363599" y="2369163"/>
            <a:ext cx="160445" cy="136264"/>
          </a:xfrm>
          <a:custGeom>
            <a:avLst/>
            <a:gdLst/>
            <a:ahLst/>
            <a:cxnLst/>
            <a:rect l="0" t="0" r="r" b="b"/>
            <a:pathLst>
              <a:path w="160445" h="136264">
                <a:moveTo>
                  <a:pt x="13392" y="17771"/>
                </a:moveTo>
                <a:cubicBezTo>
                  <a:pt x="26783" y="0"/>
                  <a:pt x="67561" y="8141"/>
                  <a:pt x="104470" y="35954"/>
                </a:cubicBezTo>
                <a:cubicBezTo>
                  <a:pt x="141380" y="63768"/>
                  <a:pt x="160445" y="100721"/>
                  <a:pt x="147053" y="118493"/>
                </a:cubicBezTo>
                <a:cubicBezTo>
                  <a:pt x="133662" y="136264"/>
                  <a:pt x="92884" y="128123"/>
                  <a:pt x="55975" y="100310"/>
                </a:cubicBezTo>
                <a:cubicBezTo>
                  <a:pt x="19065" y="72496"/>
                  <a:pt x="0" y="35543"/>
                  <a:pt x="13392" y="17771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artery_endothelial_cell_187"/>
          <p:cNvSpPr/>
          <p:nvPr/>
        </p:nvSpPr>
        <p:spPr>
          <a:xfrm>
            <a:off x="11648187" y="2531833"/>
            <a:ext cx="474224" cy="488047"/>
          </a:xfrm>
          <a:custGeom>
            <a:avLst/>
            <a:gdLst/>
            <a:ahLst/>
            <a:cxnLst/>
            <a:rect l="0" t="0" r="r" b="b"/>
            <a:pathLst>
              <a:path w="474224" h="488047">
                <a:moveTo>
                  <a:pt x="47972" y="65277"/>
                </a:moveTo>
                <a:cubicBezTo>
                  <a:pt x="126003" y="0"/>
                  <a:pt x="244776" y="78851"/>
                  <a:pt x="319711" y="195334"/>
                </a:cubicBezTo>
                <a:cubicBezTo>
                  <a:pt x="407916" y="313602"/>
                  <a:pt x="474224" y="407967"/>
                  <a:pt x="426252" y="449880"/>
                </a:cubicBezTo>
                <a:cubicBezTo>
                  <a:pt x="374401" y="488047"/>
                  <a:pt x="246491" y="403131"/>
                  <a:pt x="155530" y="287716"/>
                </a:cubicBezTo>
                <a:cubicBezTo>
                  <a:pt x="70950" y="181221"/>
                  <a:pt x="0" y="107190"/>
                  <a:pt x="47972" y="65277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artery_endothelial_highlight_188"/>
          <p:cNvSpPr/>
          <p:nvPr/>
        </p:nvSpPr>
        <p:spPr>
          <a:xfrm>
            <a:off x="11751232" y="2625476"/>
            <a:ext cx="285581" cy="239935"/>
          </a:xfrm>
          <a:custGeom>
            <a:avLst/>
            <a:gdLst/>
            <a:ahLst/>
            <a:cxnLst/>
            <a:rect l="0" t="0" r="r" b="b"/>
            <a:pathLst>
              <a:path w="285581" h="239935">
                <a:moveTo>
                  <a:pt x="0" y="0"/>
                </a:moveTo>
                <a:cubicBezTo>
                  <a:pt x="91767" y="5894"/>
                  <a:pt x="212024" y="122025"/>
                  <a:pt x="285581" y="239935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artery_endothelial_nucleus_189"/>
          <p:cNvSpPr/>
          <p:nvPr/>
        </p:nvSpPr>
        <p:spPr>
          <a:xfrm>
            <a:off x="11814468" y="2710281"/>
            <a:ext cx="151306" cy="148273"/>
          </a:xfrm>
          <a:custGeom>
            <a:avLst/>
            <a:gdLst/>
            <a:ahLst/>
            <a:cxnLst/>
            <a:rect l="0" t="0" r="r" b="b"/>
            <a:pathLst>
              <a:path w="151306" h="148273">
                <a:moveTo>
                  <a:pt x="15458" y="16007"/>
                </a:moveTo>
                <a:cubicBezTo>
                  <a:pt x="30915" y="0"/>
                  <a:pt x="70396" y="13050"/>
                  <a:pt x="103641" y="45154"/>
                </a:cubicBezTo>
                <a:cubicBezTo>
                  <a:pt x="136886" y="77258"/>
                  <a:pt x="151306" y="116260"/>
                  <a:pt x="135848" y="132267"/>
                </a:cubicBezTo>
                <a:cubicBezTo>
                  <a:pt x="120391" y="148273"/>
                  <a:pt x="80909" y="135224"/>
                  <a:pt x="47664" y="103120"/>
                </a:cubicBezTo>
                <a:cubicBezTo>
                  <a:pt x="14419" y="71015"/>
                  <a:pt x="0" y="32014"/>
                  <a:pt x="15458" y="16007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artery_endothelial_cell_190"/>
          <p:cNvSpPr/>
          <p:nvPr/>
        </p:nvSpPr>
        <p:spPr>
          <a:xfrm>
            <a:off x="12072455" y="2898295"/>
            <a:ext cx="406206" cy="463760"/>
          </a:xfrm>
          <a:custGeom>
            <a:avLst/>
            <a:gdLst/>
            <a:ahLst/>
            <a:cxnLst/>
            <a:rect l="0" t="0" r="r" b="b"/>
            <a:pathLst>
              <a:path w="406206" h="463760">
                <a:moveTo>
                  <a:pt x="49579" y="56996"/>
                </a:moveTo>
                <a:cubicBezTo>
                  <a:pt x="129885" y="0"/>
                  <a:pt x="231210" y="78484"/>
                  <a:pt x="287306" y="189879"/>
                </a:cubicBezTo>
                <a:cubicBezTo>
                  <a:pt x="355547" y="303529"/>
                  <a:pt x="406206" y="394024"/>
                  <a:pt x="356627" y="430717"/>
                </a:cubicBezTo>
                <a:cubicBezTo>
                  <a:pt x="303876" y="463760"/>
                  <a:pt x="194757" y="379238"/>
                  <a:pt x="123615" y="268110"/>
                </a:cubicBezTo>
                <a:cubicBezTo>
                  <a:pt x="57367" y="165540"/>
                  <a:pt x="0" y="93688"/>
                  <a:pt x="49579" y="56996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artery_endothelial_highlight_191"/>
          <p:cNvSpPr/>
          <p:nvPr/>
        </p:nvSpPr>
        <p:spPr>
          <a:xfrm>
            <a:off x="12169978" y="2984083"/>
            <a:ext cx="237720" cy="235390"/>
          </a:xfrm>
          <a:custGeom>
            <a:avLst/>
            <a:gdLst/>
            <a:ahLst/>
            <a:cxnLst/>
            <a:rect l="0" t="0" r="r" b="b"/>
            <a:pathLst>
              <a:path w="237720" h="235390">
                <a:moveTo>
                  <a:pt x="0" y="0"/>
                </a:moveTo>
                <a:cubicBezTo>
                  <a:pt x="84743" y="9617"/>
                  <a:pt x="183075" y="122734"/>
                  <a:pt x="237720" y="235390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artery_endothelial_nucleus_192"/>
          <p:cNvSpPr/>
          <p:nvPr/>
        </p:nvSpPr>
        <p:spPr>
          <a:xfrm>
            <a:off x="12208940" y="3059985"/>
            <a:ext cx="143387" cy="155508"/>
          </a:xfrm>
          <a:custGeom>
            <a:avLst/>
            <a:gdLst/>
            <a:ahLst/>
            <a:cxnLst/>
            <a:rect l="0" t="0" r="r" b="b"/>
            <a:pathLst>
              <a:path w="143387" h="155508">
                <a:moveTo>
                  <a:pt x="16794" y="14599"/>
                </a:moveTo>
                <a:cubicBezTo>
                  <a:pt x="33588" y="0"/>
                  <a:pt x="71781" y="16441"/>
                  <a:pt x="102102" y="51320"/>
                </a:cubicBezTo>
                <a:cubicBezTo>
                  <a:pt x="132422" y="86200"/>
                  <a:pt x="143387" y="126310"/>
                  <a:pt x="126594" y="140909"/>
                </a:cubicBezTo>
                <a:cubicBezTo>
                  <a:pt x="109800" y="155508"/>
                  <a:pt x="71606" y="139067"/>
                  <a:pt x="41286" y="104187"/>
                </a:cubicBezTo>
                <a:cubicBezTo>
                  <a:pt x="10965" y="69307"/>
                  <a:pt x="0" y="29197"/>
                  <a:pt x="16794" y="14599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artery_endothelial_cell_193"/>
          <p:cNvSpPr/>
          <p:nvPr/>
        </p:nvSpPr>
        <p:spPr>
          <a:xfrm>
            <a:off x="8934896" y="1518834"/>
            <a:ext cx="241649" cy="521230"/>
          </a:xfrm>
          <a:custGeom>
            <a:avLst/>
            <a:gdLst/>
            <a:ahLst/>
            <a:cxnLst/>
            <a:rect l="0" t="0" r="r" b="b"/>
            <a:pathLst>
              <a:path w="241649" h="521230">
                <a:moveTo>
                  <a:pt x="140656" y="12235"/>
                </a:moveTo>
                <a:cubicBezTo>
                  <a:pt x="233564" y="33760"/>
                  <a:pt x="241649" y="166276"/>
                  <a:pt x="196820" y="287237"/>
                </a:cubicBezTo>
                <a:cubicBezTo>
                  <a:pt x="158150" y="419070"/>
                  <a:pt x="124998" y="521230"/>
                  <a:pt x="66547" y="508994"/>
                </a:cubicBezTo>
                <a:cubicBezTo>
                  <a:pt x="8707" y="491775"/>
                  <a:pt x="0" y="349066"/>
                  <a:pt x="34978" y="216779"/>
                </a:cubicBezTo>
                <a:cubicBezTo>
                  <a:pt x="66887" y="94232"/>
                  <a:pt x="82204" y="0"/>
                  <a:pt x="140656" y="12235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artery_endothelial_highlight_194"/>
          <p:cNvSpPr/>
          <p:nvPr/>
        </p:nvSpPr>
        <p:spPr>
          <a:xfrm>
            <a:off x="9067206" y="1587927"/>
            <a:ext cx="65643" cy="346804"/>
          </a:xfrm>
          <a:custGeom>
            <a:avLst/>
            <a:gdLst/>
            <a:ahLst/>
            <a:cxnLst/>
            <a:rect l="0" t="0" r="r" b="b"/>
            <a:pathLst>
              <a:path w="65643" h="346804">
                <a:moveTo>
                  <a:pt x="18226" y="0"/>
                </a:moveTo>
                <a:cubicBezTo>
                  <a:pt x="65643" y="71584"/>
                  <a:pt x="46675" y="226071"/>
                  <a:pt x="0" y="346804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artery_endothelial_nucleus_195"/>
          <p:cNvSpPr/>
          <p:nvPr/>
        </p:nvSpPr>
        <p:spPr>
          <a:xfrm>
            <a:off x="8999334" y="1694473"/>
            <a:ext cx="91246" cy="171539"/>
          </a:xfrm>
          <a:custGeom>
            <a:avLst/>
            <a:gdLst/>
            <a:ahLst/>
            <a:cxnLst/>
            <a:rect l="0" t="0" r="r" b="b"/>
            <a:pathLst>
              <a:path w="91246" h="171539">
                <a:moveTo>
                  <a:pt x="55821" y="2712"/>
                </a:moveTo>
                <a:cubicBezTo>
                  <a:pt x="77907" y="5424"/>
                  <a:pt x="91246" y="44808"/>
                  <a:pt x="85614" y="90680"/>
                </a:cubicBezTo>
                <a:cubicBezTo>
                  <a:pt x="79981" y="136551"/>
                  <a:pt x="57511" y="171539"/>
                  <a:pt x="35425" y="168827"/>
                </a:cubicBezTo>
                <a:cubicBezTo>
                  <a:pt x="13339" y="166115"/>
                  <a:pt x="0" y="126731"/>
                  <a:pt x="5632" y="80859"/>
                </a:cubicBezTo>
                <a:cubicBezTo>
                  <a:pt x="11265" y="34988"/>
                  <a:pt x="33735" y="0"/>
                  <a:pt x="55821" y="2712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artery_endothelial_cell_196"/>
          <p:cNvSpPr/>
          <p:nvPr/>
        </p:nvSpPr>
        <p:spPr>
          <a:xfrm>
            <a:off x="8949105" y="1848534"/>
            <a:ext cx="277753" cy="525117"/>
          </a:xfrm>
          <a:custGeom>
            <a:avLst/>
            <a:gdLst/>
            <a:ahLst/>
            <a:cxnLst/>
            <a:rect l="0" t="0" r="r" b="b"/>
            <a:pathLst>
              <a:path w="277753" h="525117">
                <a:moveTo>
                  <a:pt x="61691" y="23206"/>
                </a:moveTo>
                <a:cubicBezTo>
                  <a:pt x="160691" y="0"/>
                  <a:pt x="228622" y="118083"/>
                  <a:pt x="240489" y="250029"/>
                </a:cubicBezTo>
                <a:cubicBezTo>
                  <a:pt x="263208" y="389122"/>
                  <a:pt x="277753" y="498381"/>
                  <a:pt x="216062" y="514181"/>
                </a:cubicBezTo>
                <a:cubicBezTo>
                  <a:pt x="152697" y="525117"/>
                  <a:pt x="79540" y="397951"/>
                  <a:pt x="53070" y="260150"/>
                </a:cubicBezTo>
                <a:cubicBezTo>
                  <a:pt x="28074" y="132724"/>
                  <a:pt x="0" y="39006"/>
                  <a:pt x="61691" y="23206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artery_endothelial_highlight_197"/>
          <p:cNvSpPr/>
          <p:nvPr/>
        </p:nvSpPr>
        <p:spPr>
          <a:xfrm>
            <a:off x="9046101" y="1919438"/>
            <a:ext cx="139956" cy="327259"/>
          </a:xfrm>
          <a:custGeom>
            <a:avLst/>
            <a:gdLst/>
            <a:ahLst/>
            <a:cxnLst/>
            <a:rect l="0" t="0" r="r" b="b"/>
            <a:pathLst>
              <a:path w="139956" h="327259">
                <a:moveTo>
                  <a:pt x="0" y="0"/>
                </a:moveTo>
                <a:cubicBezTo>
                  <a:pt x="78040" y="43866"/>
                  <a:pt x="129965" y="194667"/>
                  <a:pt x="139956" y="327259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artery_endothelial_nucleus_198"/>
          <p:cNvSpPr/>
          <p:nvPr/>
        </p:nvSpPr>
        <p:spPr>
          <a:xfrm>
            <a:off x="9041404" y="2028601"/>
            <a:ext cx="106285" cy="172734"/>
          </a:xfrm>
          <a:custGeom>
            <a:avLst/>
            <a:gdLst/>
            <a:ahLst/>
            <a:cxnLst/>
            <a:rect l="0" t="0" r="r" b="b"/>
            <a:pathLst>
              <a:path w="106285" h="172734">
                <a:moveTo>
                  <a:pt x="25898" y="7245"/>
                </a:moveTo>
                <a:cubicBezTo>
                  <a:pt x="46938" y="0"/>
                  <a:pt x="76192" y="29551"/>
                  <a:pt x="91238" y="73249"/>
                </a:cubicBezTo>
                <a:cubicBezTo>
                  <a:pt x="106285" y="116947"/>
                  <a:pt x="101426" y="158244"/>
                  <a:pt x="80386" y="165489"/>
                </a:cubicBezTo>
                <a:cubicBezTo>
                  <a:pt x="59347" y="172734"/>
                  <a:pt x="30093" y="143182"/>
                  <a:pt x="15046" y="99484"/>
                </a:cubicBezTo>
                <a:cubicBezTo>
                  <a:pt x="0" y="55786"/>
                  <a:pt x="4859" y="14489"/>
                  <a:pt x="25898" y="7245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artery_endothelial_cell_199"/>
          <p:cNvSpPr/>
          <p:nvPr/>
        </p:nvSpPr>
        <p:spPr>
          <a:xfrm>
            <a:off x="9191334" y="2241469"/>
            <a:ext cx="568330" cy="419567"/>
          </a:xfrm>
          <a:custGeom>
            <a:avLst/>
            <a:gdLst/>
            <a:ahLst/>
            <a:cxnLst/>
            <a:rect l="0" t="0" r="r" b="b"/>
            <a:pathLst>
              <a:path w="568330" h="419567">
                <a:moveTo>
                  <a:pt x="35766" y="86757"/>
                </a:moveTo>
                <a:cubicBezTo>
                  <a:pt x="94813" y="0"/>
                  <a:pt x="238212" y="46130"/>
                  <a:pt x="348727" y="141959"/>
                </a:cubicBezTo>
                <a:cubicBezTo>
                  <a:pt x="473154" y="235918"/>
                  <a:pt x="568330" y="312008"/>
                  <a:pt x="532564" y="367126"/>
                </a:cubicBezTo>
                <a:cubicBezTo>
                  <a:pt x="491763" y="419567"/>
                  <a:pt x="337333" y="369889"/>
                  <a:pt x="210986" y="279542"/>
                </a:cubicBezTo>
                <a:cubicBezTo>
                  <a:pt x="93748" y="196355"/>
                  <a:pt x="0" y="141875"/>
                  <a:pt x="35766" y="86757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artery_endothelial_highlight_200"/>
          <p:cNvSpPr/>
          <p:nvPr/>
        </p:nvSpPr>
        <p:spPr>
          <a:xfrm>
            <a:off x="9291130" y="2322043"/>
            <a:ext cx="359914" cy="180631"/>
          </a:xfrm>
          <a:custGeom>
            <a:avLst/>
            <a:gdLst/>
            <a:ahLst/>
            <a:cxnLst/>
            <a:rect l="0" t="0" r="r" b="b"/>
            <a:pathLst>
              <a:path w="359914" h="180631">
                <a:moveTo>
                  <a:pt x="0" y="19379"/>
                </a:moveTo>
                <a:cubicBezTo>
                  <a:pt x="94267" y="0"/>
                  <a:pt x="250359" y="82995"/>
                  <a:pt x="359914" y="180631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artery_endothelial_nucleus_201"/>
          <p:cNvSpPr/>
          <p:nvPr/>
        </p:nvSpPr>
        <p:spPr>
          <a:xfrm>
            <a:off x="9394527" y="2403156"/>
            <a:ext cx="168666" cy="117867"/>
          </a:xfrm>
          <a:custGeom>
            <a:avLst/>
            <a:gdLst/>
            <a:ahLst/>
            <a:cxnLst/>
            <a:rect l="0" t="0" r="r" b="b"/>
            <a:pathLst>
              <a:path w="168666" h="117867">
                <a:moveTo>
                  <a:pt x="10447" y="19647"/>
                </a:moveTo>
                <a:cubicBezTo>
                  <a:pt x="20893" y="0"/>
                  <a:pt x="62442" y="1662"/>
                  <a:pt x="103248" y="23359"/>
                </a:cubicBezTo>
                <a:cubicBezTo>
                  <a:pt x="144055" y="45056"/>
                  <a:pt x="168666" y="78572"/>
                  <a:pt x="158219" y="98219"/>
                </a:cubicBezTo>
                <a:cubicBezTo>
                  <a:pt x="147772" y="117867"/>
                  <a:pt x="106224" y="116205"/>
                  <a:pt x="65417" y="94508"/>
                </a:cubicBezTo>
                <a:cubicBezTo>
                  <a:pt x="24611" y="72811"/>
                  <a:pt x="0" y="39295"/>
                  <a:pt x="10447" y="19647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artery_endothelial_cell_202"/>
          <p:cNvSpPr/>
          <p:nvPr/>
        </p:nvSpPr>
        <p:spPr>
          <a:xfrm>
            <a:off x="9704765" y="2515086"/>
            <a:ext cx="558031" cy="418667"/>
          </a:xfrm>
          <a:custGeom>
            <a:avLst/>
            <a:gdLst/>
            <a:ahLst/>
            <a:cxnLst/>
            <a:rect l="0" t="0" r="r" b="b"/>
            <a:pathLst>
              <a:path w="558031" h="418667">
                <a:moveTo>
                  <a:pt x="35706" y="83008"/>
                </a:moveTo>
                <a:cubicBezTo>
                  <a:pt x="94617" y="0"/>
                  <a:pt x="235390" y="48549"/>
                  <a:pt x="343341" y="144673"/>
                </a:cubicBezTo>
                <a:cubicBezTo>
                  <a:pt x="465006" y="239328"/>
                  <a:pt x="558031" y="315840"/>
                  <a:pt x="522325" y="368621"/>
                </a:cubicBezTo>
                <a:cubicBezTo>
                  <a:pt x="481685" y="418667"/>
                  <a:pt x="330084" y="366384"/>
                  <a:pt x="206496" y="275199"/>
                </a:cubicBezTo>
                <a:cubicBezTo>
                  <a:pt x="91813" y="191218"/>
                  <a:pt x="0" y="135789"/>
                  <a:pt x="35706" y="83008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artery_endothelial_highlight_203"/>
          <p:cNvSpPr/>
          <p:nvPr/>
        </p:nvSpPr>
        <p:spPr>
          <a:xfrm>
            <a:off x="9803395" y="2596068"/>
            <a:ext cx="352913" cy="182635"/>
          </a:xfrm>
          <a:custGeom>
            <a:avLst/>
            <a:gdLst/>
            <a:ahLst/>
            <a:cxnLst/>
            <a:rect l="0" t="0" r="r" b="b"/>
            <a:pathLst>
              <a:path w="352913" h="182635">
                <a:moveTo>
                  <a:pt x="0" y="16495"/>
                </a:moveTo>
                <a:cubicBezTo>
                  <a:pt x="92985" y="0"/>
                  <a:pt x="245924" y="84775"/>
                  <a:pt x="352913" y="182635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artery_endothelial_nucleus_204"/>
          <p:cNvSpPr/>
          <p:nvPr/>
        </p:nvSpPr>
        <p:spPr>
          <a:xfrm>
            <a:off x="9903169" y="2674797"/>
            <a:ext cx="167955" cy="120063"/>
          </a:xfrm>
          <a:custGeom>
            <a:avLst/>
            <a:gdLst/>
            <a:ahLst/>
            <a:cxnLst/>
            <a:rect l="0" t="0" r="r" b="b"/>
            <a:pathLst>
              <a:path w="167955" h="120063">
                <a:moveTo>
                  <a:pt x="10788" y="19462"/>
                </a:moveTo>
                <a:cubicBezTo>
                  <a:pt x="21576" y="0"/>
                  <a:pt x="63089" y="2386"/>
                  <a:pt x="103511" y="24792"/>
                </a:cubicBezTo>
                <a:cubicBezTo>
                  <a:pt x="143932" y="47198"/>
                  <a:pt x="167955" y="81139"/>
                  <a:pt x="157167" y="100601"/>
                </a:cubicBezTo>
                <a:cubicBezTo>
                  <a:pt x="146379" y="120063"/>
                  <a:pt x="104865" y="117677"/>
                  <a:pt x="64444" y="95271"/>
                </a:cubicBezTo>
                <a:cubicBezTo>
                  <a:pt x="24023" y="72865"/>
                  <a:pt x="0" y="38924"/>
                  <a:pt x="10788" y="19462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artery_endothelial_cell_205"/>
          <p:cNvSpPr/>
          <p:nvPr/>
        </p:nvSpPr>
        <p:spPr>
          <a:xfrm>
            <a:off x="10201826" y="2789206"/>
            <a:ext cx="567666" cy="441115"/>
          </a:xfrm>
          <a:custGeom>
            <a:avLst/>
            <a:gdLst/>
            <a:ahLst/>
            <a:cxnLst/>
            <a:rect l="0" t="0" r="r" b="b"/>
            <a:pathLst>
              <a:path w="567666" h="441115">
                <a:moveTo>
                  <a:pt x="37686" y="80710"/>
                </a:moveTo>
                <a:cubicBezTo>
                  <a:pt x="99777" y="0"/>
                  <a:pt x="242913" y="55922"/>
                  <a:pt x="351429" y="158150"/>
                </a:cubicBezTo>
                <a:cubicBezTo>
                  <a:pt x="474020" y="259579"/>
                  <a:pt x="567666" y="341302"/>
                  <a:pt x="529980" y="392709"/>
                </a:cubicBezTo>
                <a:cubicBezTo>
                  <a:pt x="487300" y="441115"/>
                  <a:pt x="333153" y="380891"/>
                  <a:pt x="208518" y="282862"/>
                </a:cubicBezTo>
                <a:cubicBezTo>
                  <a:pt x="92851" y="192536"/>
                  <a:pt x="0" y="132117"/>
                  <a:pt x="37686" y="8071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artery_endothelial_highlight_206"/>
          <p:cNvSpPr/>
          <p:nvPr/>
        </p:nvSpPr>
        <p:spPr>
          <a:xfrm>
            <a:off x="10303645" y="2875630"/>
            <a:ext cx="357898" cy="196958"/>
          </a:xfrm>
          <a:custGeom>
            <a:avLst/>
            <a:gdLst/>
            <a:ahLst/>
            <a:cxnLst/>
            <a:rect l="0" t="0" r="r" b="b"/>
            <a:pathLst>
              <a:path w="357898" h="196958">
                <a:moveTo>
                  <a:pt x="0" y="11995"/>
                </a:moveTo>
                <a:cubicBezTo>
                  <a:pt x="95576" y="0"/>
                  <a:pt x="250404" y="93030"/>
                  <a:pt x="357898" y="196958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artery_endothelial_nucleus_207"/>
          <p:cNvSpPr/>
          <p:nvPr/>
        </p:nvSpPr>
        <p:spPr>
          <a:xfrm>
            <a:off x="10406045" y="2957792"/>
            <a:ext cx="166379" cy="124346"/>
          </a:xfrm>
          <a:custGeom>
            <a:avLst/>
            <a:gdLst/>
            <a:ahLst/>
            <a:cxnLst/>
            <a:rect l="0" t="0" r="r" b="b"/>
            <a:pathLst>
              <a:path w="166379" h="124346">
                <a:moveTo>
                  <a:pt x="11461" y="19074"/>
                </a:moveTo>
                <a:cubicBezTo>
                  <a:pt x="22921" y="0"/>
                  <a:pt x="64326" y="3834"/>
                  <a:pt x="103941" y="27637"/>
                </a:cubicBezTo>
                <a:cubicBezTo>
                  <a:pt x="143556" y="51440"/>
                  <a:pt x="166379" y="86198"/>
                  <a:pt x="154918" y="105272"/>
                </a:cubicBezTo>
                <a:cubicBezTo>
                  <a:pt x="143458" y="124346"/>
                  <a:pt x="102053" y="120512"/>
                  <a:pt x="62438" y="96709"/>
                </a:cubicBezTo>
                <a:cubicBezTo>
                  <a:pt x="22823" y="72906"/>
                  <a:pt x="0" y="38148"/>
                  <a:pt x="11461" y="19074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artery_endothelial_cell_208"/>
          <p:cNvSpPr/>
          <p:nvPr/>
        </p:nvSpPr>
        <p:spPr>
          <a:xfrm>
            <a:off x="10679119" y="3074342"/>
            <a:ext cx="567666" cy="441115"/>
          </a:xfrm>
          <a:custGeom>
            <a:avLst/>
            <a:gdLst/>
            <a:ahLst/>
            <a:cxnLst/>
            <a:rect l="0" t="0" r="r" b="b"/>
            <a:pathLst>
              <a:path w="567666" h="441115">
                <a:moveTo>
                  <a:pt x="37686" y="80710"/>
                </a:moveTo>
                <a:cubicBezTo>
                  <a:pt x="99777" y="0"/>
                  <a:pt x="242913" y="55922"/>
                  <a:pt x="351429" y="158150"/>
                </a:cubicBezTo>
                <a:cubicBezTo>
                  <a:pt x="474020" y="259579"/>
                  <a:pt x="567666" y="341302"/>
                  <a:pt x="529980" y="392709"/>
                </a:cubicBezTo>
                <a:cubicBezTo>
                  <a:pt x="487300" y="441115"/>
                  <a:pt x="333153" y="380891"/>
                  <a:pt x="208518" y="282862"/>
                </a:cubicBezTo>
                <a:cubicBezTo>
                  <a:pt x="92851" y="192536"/>
                  <a:pt x="0" y="132117"/>
                  <a:pt x="37686" y="8071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artery_endothelial_highlight_209"/>
          <p:cNvSpPr/>
          <p:nvPr/>
        </p:nvSpPr>
        <p:spPr>
          <a:xfrm>
            <a:off x="10780938" y="3160767"/>
            <a:ext cx="357898" cy="196958"/>
          </a:xfrm>
          <a:custGeom>
            <a:avLst/>
            <a:gdLst/>
            <a:ahLst/>
            <a:cxnLst/>
            <a:rect l="0" t="0" r="r" b="b"/>
            <a:pathLst>
              <a:path w="357898" h="196958">
                <a:moveTo>
                  <a:pt x="0" y="11995"/>
                </a:moveTo>
                <a:cubicBezTo>
                  <a:pt x="95576" y="0"/>
                  <a:pt x="250404" y="93030"/>
                  <a:pt x="357898" y="196958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artery_endothelial_nucleus_210"/>
          <p:cNvSpPr/>
          <p:nvPr/>
        </p:nvSpPr>
        <p:spPr>
          <a:xfrm>
            <a:off x="10883338" y="3242929"/>
            <a:ext cx="166379" cy="124346"/>
          </a:xfrm>
          <a:custGeom>
            <a:avLst/>
            <a:gdLst/>
            <a:ahLst/>
            <a:cxnLst/>
            <a:rect l="0" t="0" r="r" b="b"/>
            <a:pathLst>
              <a:path w="166379" h="124346">
                <a:moveTo>
                  <a:pt x="11461" y="19074"/>
                </a:moveTo>
                <a:cubicBezTo>
                  <a:pt x="22921" y="0"/>
                  <a:pt x="64326" y="3834"/>
                  <a:pt x="103941" y="27637"/>
                </a:cubicBezTo>
                <a:cubicBezTo>
                  <a:pt x="143556" y="51440"/>
                  <a:pt x="166379" y="86198"/>
                  <a:pt x="154918" y="105272"/>
                </a:cubicBezTo>
                <a:cubicBezTo>
                  <a:pt x="143458" y="124346"/>
                  <a:pt x="102053" y="120512"/>
                  <a:pt x="62438" y="96709"/>
                </a:cubicBezTo>
                <a:cubicBezTo>
                  <a:pt x="22823" y="72906"/>
                  <a:pt x="0" y="38148"/>
                  <a:pt x="11461" y="19074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artery_endothelial_cell_211"/>
          <p:cNvSpPr/>
          <p:nvPr/>
        </p:nvSpPr>
        <p:spPr>
          <a:xfrm>
            <a:off x="11164542" y="3351679"/>
            <a:ext cx="551407" cy="431920"/>
          </a:xfrm>
          <a:custGeom>
            <a:avLst/>
            <a:gdLst/>
            <a:ahLst/>
            <a:cxnLst/>
            <a:rect l="0" t="0" r="r" b="b"/>
            <a:pathLst>
              <a:path w="551407" h="431920">
                <a:moveTo>
                  <a:pt x="37526" y="80902"/>
                </a:moveTo>
                <a:cubicBezTo>
                  <a:pt x="99299" y="0"/>
                  <a:pt x="238291" y="53432"/>
                  <a:pt x="342822" y="153266"/>
                </a:cubicBezTo>
                <a:cubicBezTo>
                  <a:pt x="461109" y="252109"/>
                  <a:pt x="551407" y="331821"/>
                  <a:pt x="513881" y="383323"/>
                </a:cubicBezTo>
                <a:cubicBezTo>
                  <a:pt x="471519" y="431920"/>
                  <a:pt x="321835" y="374378"/>
                  <a:pt x="201505" y="278936"/>
                </a:cubicBezTo>
                <a:cubicBezTo>
                  <a:pt x="89823" y="191004"/>
                  <a:pt x="0" y="132404"/>
                  <a:pt x="37526" y="80902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artery_endothelial_highlight_212"/>
          <p:cNvSpPr/>
          <p:nvPr/>
        </p:nvSpPr>
        <p:spPr>
          <a:xfrm>
            <a:off x="11264448" y="3435996"/>
            <a:ext cx="346900" cy="191595"/>
          </a:xfrm>
          <a:custGeom>
            <a:avLst/>
            <a:gdLst/>
            <a:ahLst/>
            <a:cxnLst/>
            <a:rect l="0" t="0" r="r" b="b"/>
            <a:pathLst>
              <a:path w="346900" h="191595">
                <a:moveTo>
                  <a:pt x="0" y="13240"/>
                </a:moveTo>
                <a:cubicBezTo>
                  <a:pt x="93504" y="0"/>
                  <a:pt x="243391" y="90061"/>
                  <a:pt x="346900" y="191595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artery_endothelial_nucleus_213"/>
          <p:cNvSpPr/>
          <p:nvPr/>
        </p:nvSpPr>
        <p:spPr>
          <a:xfrm>
            <a:off x="11360632" y="3515668"/>
            <a:ext cx="166379" cy="124346"/>
          </a:xfrm>
          <a:custGeom>
            <a:avLst/>
            <a:gdLst/>
            <a:ahLst/>
            <a:cxnLst/>
            <a:rect l="0" t="0" r="r" b="b"/>
            <a:pathLst>
              <a:path w="166379" h="124346">
                <a:moveTo>
                  <a:pt x="11461" y="19074"/>
                </a:moveTo>
                <a:cubicBezTo>
                  <a:pt x="22921" y="0"/>
                  <a:pt x="64326" y="3834"/>
                  <a:pt x="103941" y="27637"/>
                </a:cubicBezTo>
                <a:cubicBezTo>
                  <a:pt x="143556" y="51440"/>
                  <a:pt x="166379" y="86198"/>
                  <a:pt x="154918" y="105272"/>
                </a:cubicBezTo>
                <a:cubicBezTo>
                  <a:pt x="143458" y="124346"/>
                  <a:pt x="102053" y="120512"/>
                  <a:pt x="62438" y="96709"/>
                </a:cubicBezTo>
                <a:cubicBezTo>
                  <a:pt x="22823" y="72906"/>
                  <a:pt x="0" y="38148"/>
                  <a:pt x="11461" y="19074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artery_endothelial_cell_214"/>
          <p:cNvSpPr/>
          <p:nvPr/>
        </p:nvSpPr>
        <p:spPr>
          <a:xfrm>
            <a:off x="11622703" y="3620860"/>
            <a:ext cx="527910" cy="414879"/>
          </a:xfrm>
          <a:custGeom>
            <a:avLst/>
            <a:gdLst/>
            <a:ahLst/>
            <a:cxnLst/>
            <a:rect l="0" t="0" r="r" b="b"/>
            <a:pathLst>
              <a:path w="527910" h="414879">
                <a:moveTo>
                  <a:pt x="36292" y="78447"/>
                </a:moveTo>
                <a:cubicBezTo>
                  <a:pt x="96011" y="0"/>
                  <a:pt x="229063" y="50802"/>
                  <a:pt x="328791" y="146594"/>
                </a:cubicBezTo>
                <a:cubicBezTo>
                  <a:pt x="441723" y="241351"/>
                  <a:pt x="527910" y="317797"/>
                  <a:pt x="491617" y="367727"/>
                </a:cubicBezTo>
                <a:cubicBezTo>
                  <a:pt x="450702" y="414879"/>
                  <a:pt x="307416" y="360169"/>
                  <a:pt x="192505" y="268705"/>
                </a:cubicBezTo>
                <a:cubicBezTo>
                  <a:pt x="85849" y="184444"/>
                  <a:pt x="0" y="128377"/>
                  <a:pt x="36292" y="78447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artery_endothelial_highlight_215"/>
          <p:cNvSpPr/>
          <p:nvPr/>
        </p:nvSpPr>
        <p:spPr>
          <a:xfrm>
            <a:off x="11718750" y="3701730"/>
            <a:ext cx="331820" cy="183541"/>
          </a:xfrm>
          <a:custGeom>
            <a:avLst/>
            <a:gdLst/>
            <a:ahLst/>
            <a:cxnLst/>
            <a:rect l="0" t="0" r="r" b="b"/>
            <a:pathLst>
              <a:path w="331820" h="183541">
                <a:moveTo>
                  <a:pt x="0" y="13306"/>
                </a:moveTo>
                <a:cubicBezTo>
                  <a:pt x="89783" y="0"/>
                  <a:pt x="233082" y="86102"/>
                  <a:pt x="331820" y="183541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artery_endothelial_nucleus_216"/>
          <p:cNvSpPr/>
          <p:nvPr/>
        </p:nvSpPr>
        <p:spPr>
          <a:xfrm>
            <a:off x="11806932" y="3776009"/>
            <a:ext cx="166379" cy="124346"/>
          </a:xfrm>
          <a:custGeom>
            <a:avLst/>
            <a:gdLst/>
            <a:ahLst/>
            <a:cxnLst/>
            <a:rect l="0" t="0" r="r" b="b"/>
            <a:pathLst>
              <a:path w="166379" h="124346">
                <a:moveTo>
                  <a:pt x="11461" y="19074"/>
                </a:moveTo>
                <a:cubicBezTo>
                  <a:pt x="22921" y="0"/>
                  <a:pt x="64326" y="3834"/>
                  <a:pt x="103941" y="27637"/>
                </a:cubicBezTo>
                <a:cubicBezTo>
                  <a:pt x="143556" y="51440"/>
                  <a:pt x="166379" y="86198"/>
                  <a:pt x="154918" y="105272"/>
                </a:cubicBezTo>
                <a:cubicBezTo>
                  <a:pt x="143458" y="124346"/>
                  <a:pt x="102053" y="120512"/>
                  <a:pt x="62438" y="96709"/>
                </a:cubicBezTo>
                <a:cubicBezTo>
                  <a:pt x="22823" y="72906"/>
                  <a:pt x="0" y="38148"/>
                  <a:pt x="11461" y="19074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artery_endothelial_cell_217"/>
          <p:cNvSpPr/>
          <p:nvPr/>
        </p:nvSpPr>
        <p:spPr>
          <a:xfrm>
            <a:off x="12026583" y="3868635"/>
            <a:ext cx="501204" cy="403662"/>
          </a:xfrm>
          <a:custGeom>
            <a:avLst/>
            <a:gdLst/>
            <a:ahLst/>
            <a:cxnLst/>
            <a:rect l="0" t="0" r="r" b="b"/>
            <a:pathLst>
              <a:path w="501204" h="403662">
                <a:moveTo>
                  <a:pt x="35897" y="74975"/>
                </a:moveTo>
                <a:cubicBezTo>
                  <a:pt x="94880" y="0"/>
                  <a:pt x="221131" y="50384"/>
                  <a:pt x="314441" y="143775"/>
                </a:cubicBezTo>
                <a:cubicBezTo>
                  <a:pt x="420419" y="236311"/>
                  <a:pt x="501204" y="310912"/>
                  <a:pt x="465307" y="358650"/>
                </a:cubicBezTo>
                <a:cubicBezTo>
                  <a:pt x="425047" y="403662"/>
                  <a:pt x="289085" y="349402"/>
                  <a:pt x="181136" y="260020"/>
                </a:cubicBezTo>
                <a:cubicBezTo>
                  <a:pt x="80928" y="177668"/>
                  <a:pt x="0" y="122713"/>
                  <a:pt x="35897" y="74975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35000">
                <a:srgbClr val="DCF1FB"/>
              </a:gs>
              <a:gs pos="100000">
                <a:srgbClr val="98C7E3"/>
              </a:gs>
            </a:gsLst>
            <a:lin ang="6000000" scaled="1"/>
          </a:gradFill>
          <a:ln w="10227" cap="rnd">
            <a:solidFill>
              <a:srgbClr val="568F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artery_endothelial_highlight_218"/>
          <p:cNvSpPr/>
          <p:nvPr/>
        </p:nvSpPr>
        <p:spPr>
          <a:xfrm>
            <a:off x="12119343" y="3947539"/>
            <a:ext cx="313863" cy="179485"/>
          </a:xfrm>
          <a:custGeom>
            <a:avLst/>
            <a:gdLst/>
            <a:ahLst/>
            <a:cxnLst/>
            <a:rect l="0" t="0" r="r" b="b"/>
            <a:pathLst>
              <a:path w="313863" h="179485">
                <a:moveTo>
                  <a:pt x="0" y="11868"/>
                </a:moveTo>
                <a:cubicBezTo>
                  <a:pt x="86283" y="0"/>
                  <a:pt x="221538" y="84517"/>
                  <a:pt x="313863" y="179485"/>
                </a:cubicBezTo>
              </a:path>
            </a:pathLst>
          </a:custGeom>
          <a:noFill/>
          <a:ln w="9297" cap="rnd">
            <a:solidFill>
              <a:srgbClr val="F7FD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artery_endothelial_nucleus_219"/>
          <p:cNvSpPr/>
          <p:nvPr/>
        </p:nvSpPr>
        <p:spPr>
          <a:xfrm>
            <a:off x="12197876" y="4016713"/>
            <a:ext cx="165515" cy="126430"/>
          </a:xfrm>
          <a:custGeom>
            <a:avLst/>
            <a:gdLst/>
            <a:ahLst/>
            <a:cxnLst/>
            <a:rect l="0" t="0" r="r" b="b"/>
            <a:pathLst>
              <a:path w="165515" h="126430">
                <a:moveTo>
                  <a:pt x="11792" y="18871"/>
                </a:moveTo>
                <a:cubicBezTo>
                  <a:pt x="23584" y="0"/>
                  <a:pt x="64915" y="4556"/>
                  <a:pt x="104109" y="29046"/>
                </a:cubicBezTo>
                <a:cubicBezTo>
                  <a:pt x="143302" y="53537"/>
                  <a:pt x="165515" y="88689"/>
                  <a:pt x="153723" y="107560"/>
                </a:cubicBezTo>
                <a:cubicBezTo>
                  <a:pt x="141932" y="126430"/>
                  <a:pt x="100600" y="121875"/>
                  <a:pt x="61407" y="97384"/>
                </a:cubicBezTo>
                <a:cubicBezTo>
                  <a:pt x="22213" y="72893"/>
                  <a:pt x="0" y="37742"/>
                  <a:pt x="11792" y="18871"/>
                </a:cubicBezTo>
                <a:close/>
              </a:path>
            </a:pathLst>
          </a:custGeom>
          <a:gradFill rotWithShape="1">
            <a:gsLst>
              <a:gs pos="0">
                <a:srgbClr val="82B3D9"/>
              </a:gs>
              <a:gs pos="48000">
                <a:srgbClr val="4487BA"/>
              </a:gs>
              <a:gs pos="100000">
                <a:srgbClr val="2D6297"/>
              </a:gs>
            </a:gsLst>
            <a:lin ang="3600000" scaled="1"/>
          </a:gradFill>
          <a:ln w="6198" cap="rnd">
            <a:solidFill>
              <a:srgbClr val="2E6A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artery_cut_edge_220"/>
          <p:cNvSpPr/>
          <p:nvPr/>
        </p:nvSpPr>
        <p:spPr>
          <a:xfrm>
            <a:off x="12361216" y="3094348"/>
            <a:ext cx="917395" cy="3260471"/>
          </a:xfrm>
          <a:custGeom>
            <a:avLst/>
            <a:gdLst/>
            <a:ahLst/>
            <a:cxnLst/>
            <a:rect l="0" t="0" r="r" b="b"/>
            <a:pathLst>
              <a:path w="917395" h="3260471">
                <a:moveTo>
                  <a:pt x="607464" y="0"/>
                </a:moveTo>
                <a:cubicBezTo>
                  <a:pt x="495889" y="508286"/>
                  <a:pt x="440102" y="997977"/>
                  <a:pt x="508286" y="1648832"/>
                </a:cubicBezTo>
                <a:cubicBezTo>
                  <a:pt x="582670" y="2281090"/>
                  <a:pt x="774827" y="2869959"/>
                  <a:pt x="917395" y="3186088"/>
                </a:cubicBezTo>
                <a:lnTo>
                  <a:pt x="861607" y="3260471"/>
                </a:lnTo>
                <a:cubicBezTo>
                  <a:pt x="545478" y="2950541"/>
                  <a:pt x="223150" y="2529035"/>
                  <a:pt x="111575" y="2150919"/>
                </a:cubicBezTo>
                <a:cubicBezTo>
                  <a:pt x="0" y="1772804"/>
                  <a:pt x="43390" y="1351298"/>
                  <a:pt x="167363" y="923594"/>
                </a:cubicBezTo>
                <a:cubicBezTo>
                  <a:pt x="241746" y="663252"/>
                  <a:pt x="272739" y="495889"/>
                  <a:pt x="297534" y="396711"/>
                </a:cubicBezTo>
                <a:close/>
              </a:path>
            </a:pathLst>
          </a:custGeom>
          <a:gradFill rotWithShape="1">
            <a:gsLst>
              <a:gs pos="0">
                <a:srgbClr val="FFF6EA"/>
              </a:gs>
              <a:gs pos="36000">
                <a:srgbClr val="ECE0EB"/>
              </a:gs>
              <a:gs pos="70000">
                <a:srgbClr val="DACFE9"/>
              </a:gs>
              <a:gs pos="100000">
                <a:srgbClr val="FFF5E9"/>
              </a:gs>
            </a:gsLst>
            <a:lin ang="0" scaled="1"/>
          </a:gradFill>
          <a:ln w="6818" cap="rnd">
            <a:solidFill>
              <a:srgbClr val="AD96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artery_cut_edge_fiber_221"/>
          <p:cNvSpPr/>
          <p:nvPr/>
        </p:nvSpPr>
        <p:spPr>
          <a:xfrm>
            <a:off x="12530423" y="3518341"/>
            <a:ext cx="675202" cy="2804737"/>
          </a:xfrm>
          <a:custGeom>
            <a:avLst/>
            <a:gdLst/>
            <a:ahLst/>
            <a:cxnLst/>
            <a:rect l="0" t="0" r="r" b="b"/>
            <a:pathLst>
              <a:path w="675202" h="2804737">
                <a:moveTo>
                  <a:pt x="128302" y="0"/>
                </a:moveTo>
                <a:cubicBezTo>
                  <a:pt x="0" y="975035"/>
                  <a:pt x="283860" y="2011577"/>
                  <a:pt x="675202" y="2804737"/>
                </a:cubicBezTo>
              </a:path>
            </a:pathLst>
          </a:custGeom>
          <a:noFill/>
          <a:ln w="6198" cap="rnd">
            <a:solidFill>
              <a:srgbClr val="B4A4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artery_cut_edge_fiber_222"/>
          <p:cNvSpPr/>
          <p:nvPr/>
        </p:nvSpPr>
        <p:spPr>
          <a:xfrm>
            <a:off x="12530423" y="3496396"/>
            <a:ext cx="678867" cy="2822336"/>
          </a:xfrm>
          <a:custGeom>
            <a:avLst/>
            <a:gdLst/>
            <a:ahLst/>
            <a:cxnLst/>
            <a:rect l="0" t="0" r="r" b="b"/>
            <a:pathLst>
              <a:path w="678867" h="2822336">
                <a:moveTo>
                  <a:pt x="146039" y="0"/>
                </a:moveTo>
                <a:cubicBezTo>
                  <a:pt x="0" y="996980"/>
                  <a:pt x="299087" y="2024302"/>
                  <a:pt x="678867" y="2822336"/>
                </a:cubicBezTo>
              </a:path>
            </a:pathLst>
          </a:custGeom>
          <a:noFill/>
          <a:ln w="6198" cap="rnd">
            <a:solidFill>
              <a:srgbClr val="D1C0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artery_cut_edge_fiber_223"/>
          <p:cNvSpPr/>
          <p:nvPr/>
        </p:nvSpPr>
        <p:spPr>
          <a:xfrm>
            <a:off x="12550420" y="3474451"/>
            <a:ext cx="662535" cy="2839935"/>
          </a:xfrm>
          <a:custGeom>
            <a:avLst/>
            <a:gdLst/>
            <a:ahLst/>
            <a:cxnLst/>
            <a:rect l="0" t="0" r="r" b="b"/>
            <a:pathLst>
              <a:path w="662535" h="2839935">
                <a:moveTo>
                  <a:pt x="143780" y="0"/>
                </a:moveTo>
                <a:cubicBezTo>
                  <a:pt x="0" y="1004162"/>
                  <a:pt x="294316" y="2037028"/>
                  <a:pt x="662535" y="2839935"/>
                </a:cubicBezTo>
              </a:path>
            </a:pathLst>
          </a:custGeom>
          <a:noFill/>
          <a:ln w="6198" cap="rnd">
            <a:solidFill>
              <a:srgbClr val="C1B2D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artery_cut_edge_fiber_224"/>
          <p:cNvSpPr/>
          <p:nvPr/>
        </p:nvSpPr>
        <p:spPr>
          <a:xfrm>
            <a:off x="12571955" y="3452506"/>
            <a:ext cx="644665" cy="2857534"/>
          </a:xfrm>
          <a:custGeom>
            <a:avLst/>
            <a:gdLst/>
            <a:ahLst/>
            <a:cxnLst/>
            <a:rect l="0" t="0" r="r" b="b"/>
            <a:pathLst>
              <a:path w="644665" h="2857534">
                <a:moveTo>
                  <a:pt x="139982" y="0"/>
                </a:moveTo>
                <a:cubicBezTo>
                  <a:pt x="0" y="1010209"/>
                  <a:pt x="288007" y="2049753"/>
                  <a:pt x="644665" y="2857534"/>
                </a:cubicBezTo>
              </a:path>
            </a:pathLst>
          </a:custGeom>
          <a:noFill/>
          <a:ln w="6198" cap="rnd">
            <a:solidFill>
              <a:srgbClr val="FAF5F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artery_cut_edge_fiber_225"/>
          <p:cNvSpPr/>
          <p:nvPr/>
        </p:nvSpPr>
        <p:spPr>
          <a:xfrm>
            <a:off x="12593491" y="3430561"/>
            <a:ext cx="626794" cy="2875133"/>
          </a:xfrm>
          <a:custGeom>
            <a:avLst/>
            <a:gdLst/>
            <a:ahLst/>
            <a:cxnLst/>
            <a:rect l="0" t="0" r="r" b="b"/>
            <a:pathLst>
              <a:path w="626794" h="2875133">
                <a:moveTo>
                  <a:pt x="136184" y="0"/>
                </a:moveTo>
                <a:cubicBezTo>
                  <a:pt x="0" y="1016256"/>
                  <a:pt x="281699" y="2062479"/>
                  <a:pt x="626794" y="2875133"/>
                </a:cubicBezTo>
              </a:path>
            </a:pathLst>
          </a:custGeom>
          <a:noFill/>
          <a:ln w="6198" cap="rnd">
            <a:solidFill>
              <a:srgbClr val="B4A4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artery_cut_edge_fiber_226"/>
          <p:cNvSpPr/>
          <p:nvPr/>
        </p:nvSpPr>
        <p:spPr>
          <a:xfrm>
            <a:off x="12615026" y="3408616"/>
            <a:ext cx="608924" cy="2892732"/>
          </a:xfrm>
          <a:custGeom>
            <a:avLst/>
            <a:gdLst/>
            <a:ahLst/>
            <a:cxnLst/>
            <a:rect l="0" t="0" r="r" b="b"/>
            <a:pathLst>
              <a:path w="608924" h="2892732">
                <a:moveTo>
                  <a:pt x="132386" y="0"/>
                </a:moveTo>
                <a:cubicBezTo>
                  <a:pt x="0" y="1022303"/>
                  <a:pt x="275390" y="2075204"/>
                  <a:pt x="608924" y="2892732"/>
                </a:cubicBezTo>
              </a:path>
            </a:pathLst>
          </a:custGeom>
          <a:noFill/>
          <a:ln w="6198" cap="rnd">
            <a:solidFill>
              <a:srgbClr val="D1C0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artery_cut_edge_fiber_227"/>
          <p:cNvSpPr/>
          <p:nvPr/>
        </p:nvSpPr>
        <p:spPr>
          <a:xfrm>
            <a:off x="12636562" y="3386671"/>
            <a:ext cx="591054" cy="2910331"/>
          </a:xfrm>
          <a:custGeom>
            <a:avLst/>
            <a:gdLst/>
            <a:ahLst/>
            <a:cxnLst/>
            <a:rect l="0" t="0" r="r" b="b"/>
            <a:pathLst>
              <a:path w="591054" h="2910331">
                <a:moveTo>
                  <a:pt x="128588" y="0"/>
                </a:moveTo>
                <a:cubicBezTo>
                  <a:pt x="0" y="1028350"/>
                  <a:pt x="269081" y="2087930"/>
                  <a:pt x="591054" y="2910331"/>
                </a:cubicBezTo>
              </a:path>
            </a:pathLst>
          </a:custGeom>
          <a:noFill/>
          <a:ln w="6198" cap="rnd">
            <a:solidFill>
              <a:srgbClr val="C1B2D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artery_cut_edge_fiber_228"/>
          <p:cNvSpPr/>
          <p:nvPr/>
        </p:nvSpPr>
        <p:spPr>
          <a:xfrm>
            <a:off x="12658097" y="3364726"/>
            <a:ext cx="573183" cy="2927931"/>
          </a:xfrm>
          <a:custGeom>
            <a:avLst/>
            <a:gdLst/>
            <a:ahLst/>
            <a:cxnLst/>
            <a:rect l="0" t="0" r="r" b="b"/>
            <a:pathLst>
              <a:path w="573183" h="2927931">
                <a:moveTo>
                  <a:pt x="124790" y="0"/>
                </a:moveTo>
                <a:cubicBezTo>
                  <a:pt x="0" y="1034397"/>
                  <a:pt x="262772" y="2100655"/>
                  <a:pt x="573183" y="2927931"/>
                </a:cubicBezTo>
              </a:path>
            </a:pathLst>
          </a:custGeom>
          <a:noFill/>
          <a:ln w="6198" cap="rnd">
            <a:solidFill>
              <a:srgbClr val="FAF5F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artery_cut_edge_fiber_229"/>
          <p:cNvSpPr/>
          <p:nvPr/>
        </p:nvSpPr>
        <p:spPr>
          <a:xfrm>
            <a:off x="12679633" y="3342781"/>
            <a:ext cx="555313" cy="2945530"/>
          </a:xfrm>
          <a:custGeom>
            <a:avLst/>
            <a:gdLst/>
            <a:ahLst/>
            <a:cxnLst/>
            <a:rect l="0" t="0" r="r" b="b"/>
            <a:pathLst>
              <a:path w="555313" h="2945530">
                <a:moveTo>
                  <a:pt x="120992" y="0"/>
                </a:moveTo>
                <a:cubicBezTo>
                  <a:pt x="0" y="1040443"/>
                  <a:pt x="256464" y="2113381"/>
                  <a:pt x="555313" y="2945530"/>
                </a:cubicBezTo>
              </a:path>
            </a:pathLst>
          </a:custGeom>
          <a:noFill/>
          <a:ln w="6198" cap="rnd">
            <a:solidFill>
              <a:srgbClr val="B4A4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artery_cut_edge_fiber_230"/>
          <p:cNvSpPr/>
          <p:nvPr/>
        </p:nvSpPr>
        <p:spPr>
          <a:xfrm>
            <a:off x="12701168" y="3320835"/>
            <a:ext cx="537442" cy="2963129"/>
          </a:xfrm>
          <a:custGeom>
            <a:avLst/>
            <a:gdLst/>
            <a:ahLst/>
            <a:cxnLst/>
            <a:rect l="0" t="0" r="r" b="b"/>
            <a:pathLst>
              <a:path w="537442" h="2963129">
                <a:moveTo>
                  <a:pt x="117194" y="0"/>
                </a:moveTo>
                <a:cubicBezTo>
                  <a:pt x="0" y="1046490"/>
                  <a:pt x="250155" y="2126106"/>
                  <a:pt x="537442" y="2963129"/>
                </a:cubicBezTo>
              </a:path>
            </a:pathLst>
          </a:custGeom>
          <a:noFill/>
          <a:ln w="6198" cap="rnd">
            <a:solidFill>
              <a:srgbClr val="D1C0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artery_cut_edge_fiber_231"/>
          <p:cNvSpPr/>
          <p:nvPr/>
        </p:nvSpPr>
        <p:spPr>
          <a:xfrm>
            <a:off x="12722704" y="3298890"/>
            <a:ext cx="519572" cy="2980728"/>
          </a:xfrm>
          <a:custGeom>
            <a:avLst/>
            <a:gdLst/>
            <a:ahLst/>
            <a:cxnLst/>
            <a:rect l="0" t="0" r="r" b="b"/>
            <a:pathLst>
              <a:path w="519572" h="2980728">
                <a:moveTo>
                  <a:pt x="113396" y="0"/>
                </a:moveTo>
                <a:cubicBezTo>
                  <a:pt x="0" y="1052537"/>
                  <a:pt x="243846" y="2138832"/>
                  <a:pt x="519572" y="2980728"/>
                </a:cubicBezTo>
              </a:path>
            </a:pathLst>
          </a:custGeom>
          <a:noFill/>
          <a:ln w="6198" cap="rnd">
            <a:solidFill>
              <a:srgbClr val="C1B2D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artery_cut_edge_fiber_232"/>
          <p:cNvSpPr/>
          <p:nvPr/>
        </p:nvSpPr>
        <p:spPr>
          <a:xfrm>
            <a:off x="12744239" y="3276945"/>
            <a:ext cx="501701" cy="2998327"/>
          </a:xfrm>
          <a:custGeom>
            <a:avLst/>
            <a:gdLst/>
            <a:ahLst/>
            <a:cxnLst/>
            <a:rect l="0" t="0" r="r" b="b"/>
            <a:pathLst>
              <a:path w="501701" h="2998327">
                <a:moveTo>
                  <a:pt x="109598" y="0"/>
                </a:moveTo>
                <a:cubicBezTo>
                  <a:pt x="0" y="1058584"/>
                  <a:pt x="237537" y="2151558"/>
                  <a:pt x="501701" y="2998327"/>
                </a:cubicBezTo>
              </a:path>
            </a:pathLst>
          </a:custGeom>
          <a:noFill/>
          <a:ln w="6198" cap="rnd">
            <a:solidFill>
              <a:srgbClr val="FAF5F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artery_cut_edge_fiber_233"/>
          <p:cNvSpPr/>
          <p:nvPr/>
        </p:nvSpPr>
        <p:spPr>
          <a:xfrm>
            <a:off x="12765775" y="3255000"/>
            <a:ext cx="483831" cy="3015926"/>
          </a:xfrm>
          <a:custGeom>
            <a:avLst/>
            <a:gdLst/>
            <a:ahLst/>
            <a:cxnLst/>
            <a:rect l="0" t="0" r="r" b="b"/>
            <a:pathLst>
              <a:path w="483831" h="3015926">
                <a:moveTo>
                  <a:pt x="105801" y="0"/>
                </a:moveTo>
                <a:cubicBezTo>
                  <a:pt x="0" y="1064631"/>
                  <a:pt x="231229" y="2164283"/>
                  <a:pt x="483831" y="3015926"/>
                </a:cubicBezTo>
              </a:path>
            </a:pathLst>
          </a:custGeom>
          <a:noFill/>
          <a:ln w="6198" cap="rnd">
            <a:solidFill>
              <a:srgbClr val="B4A4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artery_cut_edge_fiber_234"/>
          <p:cNvSpPr/>
          <p:nvPr/>
        </p:nvSpPr>
        <p:spPr>
          <a:xfrm>
            <a:off x="12787310" y="3233055"/>
            <a:ext cx="465961" cy="3033525"/>
          </a:xfrm>
          <a:custGeom>
            <a:avLst/>
            <a:gdLst/>
            <a:ahLst/>
            <a:cxnLst/>
            <a:rect l="0" t="0" r="r" b="b"/>
            <a:pathLst>
              <a:path w="465961" h="3033525">
                <a:moveTo>
                  <a:pt x="102003" y="0"/>
                </a:moveTo>
                <a:cubicBezTo>
                  <a:pt x="0" y="1070678"/>
                  <a:pt x="224920" y="2177009"/>
                  <a:pt x="465961" y="3033525"/>
                </a:cubicBezTo>
              </a:path>
            </a:pathLst>
          </a:custGeom>
          <a:noFill/>
          <a:ln w="6198" cap="rnd">
            <a:solidFill>
              <a:srgbClr val="D1C0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artery_cut_edge_fiber_235"/>
          <p:cNvSpPr/>
          <p:nvPr/>
        </p:nvSpPr>
        <p:spPr>
          <a:xfrm>
            <a:off x="12808846" y="3211110"/>
            <a:ext cx="448090" cy="3051124"/>
          </a:xfrm>
          <a:custGeom>
            <a:avLst/>
            <a:gdLst/>
            <a:ahLst/>
            <a:cxnLst/>
            <a:rect l="0" t="0" r="r" b="b"/>
            <a:pathLst>
              <a:path w="448090" h="3051124">
                <a:moveTo>
                  <a:pt x="98205" y="0"/>
                </a:moveTo>
                <a:cubicBezTo>
                  <a:pt x="0" y="1076725"/>
                  <a:pt x="218611" y="2189734"/>
                  <a:pt x="448090" y="3051124"/>
                </a:cubicBezTo>
              </a:path>
            </a:pathLst>
          </a:custGeom>
          <a:noFill/>
          <a:ln w="6198" cap="rnd">
            <a:solidFill>
              <a:srgbClr val="C1B2D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artery_cut_edge_fiber_236"/>
          <p:cNvSpPr/>
          <p:nvPr/>
        </p:nvSpPr>
        <p:spPr>
          <a:xfrm>
            <a:off x="12830381" y="3189165"/>
            <a:ext cx="430220" cy="3068723"/>
          </a:xfrm>
          <a:custGeom>
            <a:avLst/>
            <a:gdLst/>
            <a:ahLst/>
            <a:cxnLst/>
            <a:rect l="0" t="0" r="r" b="b"/>
            <a:pathLst>
              <a:path w="430220" h="3068723">
                <a:moveTo>
                  <a:pt x="94407" y="0"/>
                </a:moveTo>
                <a:cubicBezTo>
                  <a:pt x="0" y="1082772"/>
                  <a:pt x="212302" y="2202460"/>
                  <a:pt x="430220" y="3068723"/>
                </a:cubicBezTo>
              </a:path>
            </a:pathLst>
          </a:custGeom>
          <a:noFill/>
          <a:ln w="6198" cap="rnd">
            <a:solidFill>
              <a:srgbClr val="FAF5F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artery_cut_edge_fiber_237"/>
          <p:cNvSpPr/>
          <p:nvPr/>
        </p:nvSpPr>
        <p:spPr>
          <a:xfrm>
            <a:off x="12851917" y="3167220"/>
            <a:ext cx="412349" cy="3086322"/>
          </a:xfrm>
          <a:custGeom>
            <a:avLst/>
            <a:gdLst/>
            <a:ahLst/>
            <a:cxnLst/>
            <a:rect l="0" t="0" r="r" b="b"/>
            <a:pathLst>
              <a:path w="412349" h="3086322">
                <a:moveTo>
                  <a:pt x="90609" y="0"/>
                </a:moveTo>
                <a:cubicBezTo>
                  <a:pt x="0" y="1088818"/>
                  <a:pt x="196205" y="2221112"/>
                  <a:pt x="412349" y="3086322"/>
                </a:cubicBezTo>
              </a:path>
            </a:pathLst>
          </a:custGeom>
          <a:noFill/>
          <a:ln w="6198" cap="rnd">
            <a:solidFill>
              <a:srgbClr val="B4A4C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artery_cut_edge_crossfiber_238"/>
          <p:cNvSpPr/>
          <p:nvPr/>
        </p:nvSpPr>
        <p:spPr>
          <a:xfrm>
            <a:off x="12605340" y="3360363"/>
            <a:ext cx="325395" cy="352379"/>
          </a:xfrm>
          <a:custGeom>
            <a:avLst/>
            <a:gdLst/>
            <a:ahLst/>
            <a:cxnLst/>
            <a:rect l="0" t="0" r="r" b="b"/>
            <a:pathLst>
              <a:path w="325395" h="352379">
                <a:moveTo>
                  <a:pt x="0" y="352379"/>
                </a:moveTo>
                <a:cubicBezTo>
                  <a:pt x="125749" y="122425"/>
                  <a:pt x="217073" y="239172"/>
                  <a:pt x="325395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artery_cut_edge_crossfiber_239"/>
          <p:cNvSpPr/>
          <p:nvPr/>
        </p:nvSpPr>
        <p:spPr>
          <a:xfrm>
            <a:off x="12568938" y="3576360"/>
            <a:ext cx="344836" cy="331556"/>
          </a:xfrm>
          <a:custGeom>
            <a:avLst/>
            <a:gdLst/>
            <a:ahLst/>
            <a:cxnLst/>
            <a:rect l="0" t="0" r="r" b="b"/>
            <a:pathLst>
              <a:path w="344836" h="331556">
                <a:moveTo>
                  <a:pt x="0" y="331556"/>
                </a:moveTo>
                <a:cubicBezTo>
                  <a:pt x="125351" y="108178"/>
                  <a:pt x="236672" y="233254"/>
                  <a:pt x="344836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artery_cut_edge_crossfiber_240"/>
          <p:cNvSpPr/>
          <p:nvPr/>
        </p:nvSpPr>
        <p:spPr>
          <a:xfrm>
            <a:off x="12545645" y="3792356"/>
            <a:ext cx="357961" cy="310734"/>
          </a:xfrm>
          <a:custGeom>
            <a:avLst/>
            <a:gdLst/>
            <a:ahLst/>
            <a:cxnLst/>
            <a:rect l="0" t="0" r="r" b="b"/>
            <a:pathLst>
              <a:path w="357961" h="310734">
                <a:moveTo>
                  <a:pt x="0" y="310734"/>
                </a:moveTo>
                <a:cubicBezTo>
                  <a:pt x="122958" y="93931"/>
                  <a:pt x="251749" y="227336"/>
                  <a:pt x="357961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artery_cut_edge_crossfiber_241"/>
          <p:cNvSpPr/>
          <p:nvPr/>
        </p:nvSpPr>
        <p:spPr>
          <a:xfrm>
            <a:off x="12535462" y="4008353"/>
            <a:ext cx="364768" cy="289912"/>
          </a:xfrm>
          <a:custGeom>
            <a:avLst/>
            <a:gdLst/>
            <a:ahLst/>
            <a:cxnLst/>
            <a:rect l="0" t="0" r="r" b="b"/>
            <a:pathLst>
              <a:path w="364768" h="289912">
                <a:moveTo>
                  <a:pt x="0" y="289912"/>
                </a:moveTo>
                <a:cubicBezTo>
                  <a:pt x="118570" y="79684"/>
                  <a:pt x="262304" y="221418"/>
                  <a:pt x="364768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artery_cut_edge_crossfiber_242"/>
          <p:cNvSpPr/>
          <p:nvPr/>
        </p:nvSpPr>
        <p:spPr>
          <a:xfrm>
            <a:off x="12538387" y="4224349"/>
            <a:ext cx="365258" cy="269089"/>
          </a:xfrm>
          <a:custGeom>
            <a:avLst/>
            <a:gdLst/>
            <a:ahLst/>
            <a:cxnLst/>
            <a:rect l="0" t="0" r="r" b="b"/>
            <a:pathLst>
              <a:path w="365258" h="269089">
                <a:moveTo>
                  <a:pt x="0" y="269089"/>
                </a:moveTo>
                <a:cubicBezTo>
                  <a:pt x="112187" y="65438"/>
                  <a:pt x="268338" y="215501"/>
                  <a:pt x="365258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artery_cut_edge_crossfiber_243"/>
          <p:cNvSpPr/>
          <p:nvPr/>
        </p:nvSpPr>
        <p:spPr>
          <a:xfrm>
            <a:off x="12554422" y="4440345"/>
            <a:ext cx="359431" cy="248267"/>
          </a:xfrm>
          <a:custGeom>
            <a:avLst/>
            <a:gdLst/>
            <a:ahLst/>
            <a:cxnLst/>
            <a:rect l="0" t="0" r="r" b="b"/>
            <a:pathLst>
              <a:path w="359431" h="248267">
                <a:moveTo>
                  <a:pt x="0" y="248267"/>
                </a:moveTo>
                <a:cubicBezTo>
                  <a:pt x="103809" y="51191"/>
                  <a:pt x="269850" y="209583"/>
                  <a:pt x="359431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artery_cut_edge_crossfiber_244"/>
          <p:cNvSpPr/>
          <p:nvPr/>
        </p:nvSpPr>
        <p:spPr>
          <a:xfrm>
            <a:off x="12583565" y="4656342"/>
            <a:ext cx="347287" cy="227445"/>
          </a:xfrm>
          <a:custGeom>
            <a:avLst/>
            <a:gdLst/>
            <a:ahLst/>
            <a:cxnLst/>
            <a:rect l="0" t="0" r="r" b="b"/>
            <a:pathLst>
              <a:path w="347287" h="227445">
                <a:moveTo>
                  <a:pt x="0" y="227445"/>
                </a:moveTo>
                <a:cubicBezTo>
                  <a:pt x="93436" y="36944"/>
                  <a:pt x="266840" y="203665"/>
                  <a:pt x="347287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artery_cut_edge_crossfiber_245"/>
          <p:cNvSpPr/>
          <p:nvPr/>
        </p:nvSpPr>
        <p:spPr>
          <a:xfrm>
            <a:off x="12625818" y="4872338"/>
            <a:ext cx="328825" cy="206622"/>
          </a:xfrm>
          <a:custGeom>
            <a:avLst/>
            <a:gdLst/>
            <a:ahLst/>
            <a:cxnLst/>
            <a:rect l="0" t="0" r="r" b="b"/>
            <a:pathLst>
              <a:path w="328825" h="206622">
                <a:moveTo>
                  <a:pt x="0" y="206622"/>
                </a:moveTo>
                <a:cubicBezTo>
                  <a:pt x="81069" y="22697"/>
                  <a:pt x="259308" y="197747"/>
                  <a:pt x="328825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artery_cut_edge_crossfiber_246"/>
          <p:cNvSpPr/>
          <p:nvPr/>
        </p:nvSpPr>
        <p:spPr>
          <a:xfrm>
            <a:off x="12681179" y="5088335"/>
            <a:ext cx="304047" cy="191829"/>
          </a:xfrm>
          <a:custGeom>
            <a:avLst/>
            <a:gdLst/>
            <a:ahLst/>
            <a:cxnLst/>
            <a:rect l="0" t="0" r="r" b="b"/>
            <a:pathLst>
              <a:path w="304047" h="191829">
                <a:moveTo>
                  <a:pt x="0" y="185800"/>
                </a:moveTo>
                <a:cubicBezTo>
                  <a:pt x="66706" y="8450"/>
                  <a:pt x="247254" y="191829"/>
                  <a:pt x="304047" y="0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artery_cut_edge_crossfiber_247"/>
          <p:cNvSpPr/>
          <p:nvPr/>
        </p:nvSpPr>
        <p:spPr>
          <a:xfrm>
            <a:off x="12749650" y="5298534"/>
            <a:ext cx="272951" cy="191708"/>
          </a:xfrm>
          <a:custGeom>
            <a:avLst/>
            <a:gdLst/>
            <a:ahLst/>
            <a:cxnLst/>
            <a:rect l="0" t="0" r="r" b="b"/>
            <a:pathLst>
              <a:path w="272951" h="191708">
                <a:moveTo>
                  <a:pt x="0" y="170774"/>
                </a:moveTo>
                <a:cubicBezTo>
                  <a:pt x="50349" y="0"/>
                  <a:pt x="230679" y="191708"/>
                  <a:pt x="272951" y="5797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artery_cut_edge_crossfiber_248"/>
          <p:cNvSpPr/>
          <p:nvPr/>
        </p:nvSpPr>
        <p:spPr>
          <a:xfrm>
            <a:off x="12831230" y="5500284"/>
            <a:ext cx="235538" cy="200037"/>
          </a:xfrm>
          <a:custGeom>
            <a:avLst/>
            <a:gdLst/>
            <a:ahLst/>
            <a:cxnLst/>
            <a:rect l="0" t="0" r="r" b="b"/>
            <a:pathLst>
              <a:path w="235538" h="200037">
                <a:moveTo>
                  <a:pt x="0" y="164199"/>
                </a:moveTo>
                <a:cubicBezTo>
                  <a:pt x="31996" y="0"/>
                  <a:pt x="209582" y="200037"/>
                  <a:pt x="235538" y="20044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artery_cut_edge_crossfiber_249"/>
          <p:cNvSpPr/>
          <p:nvPr/>
        </p:nvSpPr>
        <p:spPr>
          <a:xfrm>
            <a:off x="12925918" y="5702033"/>
            <a:ext cx="191808" cy="208366"/>
          </a:xfrm>
          <a:custGeom>
            <a:avLst/>
            <a:gdLst/>
            <a:ahLst/>
            <a:cxnLst/>
            <a:rect l="0" t="0" r="r" b="b"/>
            <a:pathLst>
              <a:path w="191808" h="208366">
                <a:moveTo>
                  <a:pt x="0" y="157623"/>
                </a:moveTo>
                <a:cubicBezTo>
                  <a:pt x="11649" y="0"/>
                  <a:pt x="183963" y="208366"/>
                  <a:pt x="191808" y="34291"/>
                </a:cubicBezTo>
              </a:path>
            </a:pathLst>
          </a:custGeom>
          <a:noFill/>
          <a:ln w="5578" cap="rnd">
            <a:solidFill>
              <a:srgbClr val="C6B7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artery_cut_edge_fibroblast_250"/>
          <p:cNvSpPr/>
          <p:nvPr/>
        </p:nvSpPr>
        <p:spPr>
          <a:xfrm>
            <a:off x="12459314" y="4481584"/>
            <a:ext cx="76544" cy="225659"/>
          </a:xfrm>
          <a:custGeom>
            <a:avLst/>
            <a:gdLst/>
            <a:ahLst/>
            <a:cxnLst/>
            <a:rect l="0" t="0" r="r" b="b"/>
            <a:pathLst>
              <a:path w="76544" h="225659">
                <a:moveTo>
                  <a:pt x="24674" y="2086"/>
                </a:moveTo>
                <a:cubicBezTo>
                  <a:pt x="41664" y="0"/>
                  <a:pt x="61524" y="47890"/>
                  <a:pt x="69034" y="109052"/>
                </a:cubicBezTo>
                <a:cubicBezTo>
                  <a:pt x="76544" y="170214"/>
                  <a:pt x="68859" y="221487"/>
                  <a:pt x="51869" y="223573"/>
                </a:cubicBezTo>
                <a:cubicBezTo>
                  <a:pt x="34880" y="225659"/>
                  <a:pt x="15019" y="177768"/>
                  <a:pt x="7510" y="116607"/>
                </a:cubicBezTo>
                <a:cubicBezTo>
                  <a:pt x="0" y="55445"/>
                  <a:pt x="7685" y="4172"/>
                  <a:pt x="24674" y="2086"/>
                </a:cubicBezTo>
                <a:close/>
              </a:path>
            </a:pathLst>
          </a:custGeom>
          <a:solidFill>
            <a:srgbClr val="B5A9D1"/>
          </a:solidFill>
          <a:ln w="4958" cap="rnd">
            <a:solidFill>
              <a:srgbClr val="8178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artery_cut_edge_fibroblast_251"/>
          <p:cNvSpPr/>
          <p:nvPr/>
        </p:nvSpPr>
        <p:spPr>
          <a:xfrm>
            <a:off x="12476858" y="4841828"/>
            <a:ext cx="66249" cy="224209"/>
          </a:xfrm>
          <a:custGeom>
            <a:avLst/>
            <a:gdLst/>
            <a:ahLst/>
            <a:cxnLst/>
            <a:rect l="0" t="0" r="r" b="b"/>
            <a:pathLst>
              <a:path w="66249" h="224209">
                <a:moveTo>
                  <a:pt x="29231" y="597"/>
                </a:moveTo>
                <a:cubicBezTo>
                  <a:pt x="46337" y="0"/>
                  <a:pt x="61948" y="49439"/>
                  <a:pt x="64099" y="111023"/>
                </a:cubicBezTo>
                <a:cubicBezTo>
                  <a:pt x="66249" y="172606"/>
                  <a:pt x="54125" y="223014"/>
                  <a:pt x="37019" y="223612"/>
                </a:cubicBezTo>
                <a:cubicBezTo>
                  <a:pt x="19912" y="224209"/>
                  <a:pt x="4301" y="174770"/>
                  <a:pt x="2151" y="113186"/>
                </a:cubicBezTo>
                <a:cubicBezTo>
                  <a:pt x="0" y="51602"/>
                  <a:pt x="12124" y="1195"/>
                  <a:pt x="29231" y="597"/>
                </a:cubicBezTo>
                <a:close/>
              </a:path>
            </a:pathLst>
          </a:custGeom>
          <a:solidFill>
            <a:srgbClr val="B5A9D1"/>
          </a:solidFill>
          <a:ln w="4958" cap="rnd">
            <a:solidFill>
              <a:srgbClr val="8178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artery_cut_edge_fibroblast_252"/>
          <p:cNvSpPr/>
          <p:nvPr/>
        </p:nvSpPr>
        <p:spPr>
          <a:xfrm>
            <a:off x="12554915" y="5190355"/>
            <a:ext cx="108491" cy="221401"/>
          </a:xfrm>
          <a:custGeom>
            <a:avLst/>
            <a:gdLst/>
            <a:ahLst/>
            <a:cxnLst/>
            <a:rect l="0" t="0" r="r" b="b"/>
            <a:pathLst>
              <a:path w="108491" h="221401">
                <a:moveTo>
                  <a:pt x="16085" y="5854"/>
                </a:moveTo>
                <a:cubicBezTo>
                  <a:pt x="32169" y="0"/>
                  <a:pt x="62294" y="42195"/>
                  <a:pt x="83370" y="100100"/>
                </a:cubicBezTo>
                <a:cubicBezTo>
                  <a:pt x="104445" y="158005"/>
                  <a:pt x="108491" y="209693"/>
                  <a:pt x="92407" y="215547"/>
                </a:cubicBezTo>
                <a:cubicBezTo>
                  <a:pt x="76322" y="221401"/>
                  <a:pt x="46197" y="179206"/>
                  <a:pt x="25122" y="121301"/>
                </a:cubicBezTo>
                <a:cubicBezTo>
                  <a:pt x="4046" y="63396"/>
                  <a:pt x="0" y="11709"/>
                  <a:pt x="16085" y="5854"/>
                </a:cubicBezTo>
                <a:close/>
              </a:path>
            </a:pathLst>
          </a:custGeom>
          <a:solidFill>
            <a:srgbClr val="B5A9D1"/>
          </a:solidFill>
          <a:ln w="4958" cap="rnd">
            <a:solidFill>
              <a:srgbClr val="8178A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artery_cut_top_lip_253"/>
          <p:cNvSpPr/>
          <p:nvPr/>
        </p:nvSpPr>
        <p:spPr>
          <a:xfrm>
            <a:off x="12658750" y="3094348"/>
            <a:ext cx="309931" cy="396711"/>
          </a:xfrm>
          <a:custGeom>
            <a:avLst/>
            <a:gdLst/>
            <a:ahLst/>
            <a:cxnLst/>
            <a:rect l="0" t="0" r="r" b="b"/>
            <a:pathLst>
              <a:path w="309931" h="396711">
                <a:moveTo>
                  <a:pt x="309931" y="0"/>
                </a:moveTo>
                <a:lnTo>
                  <a:pt x="0" y="396711"/>
                </a:lnTo>
              </a:path>
            </a:pathLst>
          </a:custGeom>
          <a:noFill/>
          <a:ln w="8058" cap="rnd">
            <a:solidFill>
              <a:srgbClr val="BA8C9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artery_cut_inner_lip_254"/>
          <p:cNvSpPr/>
          <p:nvPr/>
        </p:nvSpPr>
        <p:spPr>
          <a:xfrm>
            <a:off x="12472791" y="5245268"/>
            <a:ext cx="750032" cy="1109552"/>
          </a:xfrm>
          <a:custGeom>
            <a:avLst/>
            <a:gdLst/>
            <a:ahLst/>
            <a:cxnLst/>
            <a:rect l="0" t="0" r="r" b="b"/>
            <a:pathLst>
              <a:path w="750032" h="1109552">
                <a:moveTo>
                  <a:pt x="750032" y="1109552"/>
                </a:moveTo>
                <a:cubicBezTo>
                  <a:pt x="433903" y="799621"/>
                  <a:pt x="111575" y="378115"/>
                  <a:pt x="0" y="0"/>
                </a:cubicBezTo>
              </a:path>
            </a:pathLst>
          </a:custGeom>
          <a:noFill/>
          <a:ln w="6198" cap="rnd">
            <a:solidFill>
              <a:srgbClr val="BF8D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circulating_lps_particle_1"/>
          <p:cNvSpPr/>
          <p:nvPr/>
        </p:nvSpPr>
        <p:spPr>
          <a:xfrm>
            <a:off x="1781175" y="885825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circulating_lps_particle_2"/>
          <p:cNvSpPr/>
          <p:nvPr/>
        </p:nvSpPr>
        <p:spPr>
          <a:xfrm>
            <a:off x="1952625" y="952500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circulating_lps_particle_3"/>
          <p:cNvSpPr/>
          <p:nvPr/>
        </p:nvSpPr>
        <p:spPr>
          <a:xfrm>
            <a:off x="2095500" y="1104900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circulating_lps_particle_4"/>
          <p:cNvSpPr/>
          <p:nvPr/>
        </p:nvSpPr>
        <p:spPr>
          <a:xfrm>
            <a:off x="1905000" y="1171575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route_lps"/>
          <p:cNvSpPr/>
          <p:nvPr/>
        </p:nvSpPr>
        <p:spPr>
          <a:xfrm>
            <a:off x="2228850" y="1104900"/>
            <a:ext cx="514350" cy="419100"/>
          </a:xfrm>
          <a:custGeom>
            <a:avLst/>
            <a:gdLst/>
            <a:ahLst/>
            <a:cxnLst/>
            <a:rect l="0" t="0" r="r" b="b"/>
            <a:pathLst>
              <a:path w="514350" h="419100">
                <a:moveTo>
                  <a:pt x="0" y="0"/>
                </a:moveTo>
                <a:lnTo>
                  <a:pt x="514350" y="41910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route_hmgb1"/>
          <p:cNvSpPr/>
          <p:nvPr/>
        </p:nvSpPr>
        <p:spPr>
          <a:xfrm>
            <a:off x="2295525" y="1524000"/>
            <a:ext cx="447675" cy="571500"/>
          </a:xfrm>
          <a:custGeom>
            <a:avLst/>
            <a:gdLst/>
            <a:ahLst/>
            <a:cxnLst/>
            <a:rect l="0" t="0" r="r" b="b"/>
            <a:pathLst>
              <a:path w="447675" h="571500">
                <a:moveTo>
                  <a:pt x="0" y="571500"/>
                </a:moveTo>
                <a:lnTo>
                  <a:pt x="4476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ligand_junction"/>
          <p:cNvSpPr/>
          <p:nvPr/>
        </p:nvSpPr>
        <p:spPr>
          <a:xfrm>
            <a:off x="2724150" y="1504950"/>
            <a:ext cx="38100" cy="38100"/>
          </a:xfrm>
          <a:prstGeom prst="ellipse">
            <a:avLst/>
          </a:pr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route_ligand_to_tlr4"/>
          <p:cNvSpPr/>
          <p:nvPr/>
        </p:nvSpPr>
        <p:spPr>
          <a:xfrm>
            <a:off x="2743200" y="1362075"/>
            <a:ext cx="342900" cy="161925"/>
          </a:xfrm>
          <a:custGeom>
            <a:avLst/>
            <a:gdLst/>
            <a:ahLst/>
            <a:cxnLst/>
            <a:rect l="0" t="0" r="r" b="b"/>
            <a:pathLst>
              <a:path w="342900" h="161925">
                <a:moveTo>
                  <a:pt x="0" y="161925"/>
                </a:moveTo>
                <a:lnTo>
                  <a:pt x="342900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route_ligand_to_tlr4_tip"/>
          <p:cNvSpPr/>
          <p:nvPr/>
        </p:nvSpPr>
        <p:spPr>
          <a:xfrm>
            <a:off x="2983701" y="1362075"/>
            <a:ext cx="102399" cy="75124"/>
          </a:xfrm>
          <a:custGeom>
            <a:avLst/>
            <a:gdLst/>
            <a:ahLst/>
            <a:cxnLst/>
            <a:rect l="0" t="0" r="r" b="b"/>
            <a:pathLst>
              <a:path w="102399" h="75124">
                <a:moveTo>
                  <a:pt x="102399" y="0"/>
                </a:moveTo>
                <a:lnTo>
                  <a:pt x="32538" y="75124"/>
                </a:lnTo>
                <a:lnTo>
                  <a:pt x="0" y="622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route_tlr4_to_myd88"/>
          <p:cNvSpPr/>
          <p:nvPr/>
        </p:nvSpPr>
        <p:spPr>
          <a:xfrm>
            <a:off x="3657600" y="1733550"/>
            <a:ext cx="95" cy="161925"/>
          </a:xfrm>
          <a:custGeom>
            <a:avLst/>
            <a:gdLst/>
            <a:ahLst/>
            <a:cxnLst/>
            <a:rect l="0" t="0" r="r" b="b"/>
            <a:pathLst>
              <a:path w="95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route_tlr4_to_myd88_tip"/>
          <p:cNvSpPr/>
          <p:nvPr/>
        </p:nvSpPr>
        <p:spPr>
          <a:xfrm>
            <a:off x="3619500" y="18002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route_myd88_to_nfkb"/>
          <p:cNvSpPr/>
          <p:nvPr/>
        </p:nvSpPr>
        <p:spPr>
          <a:xfrm>
            <a:off x="3657600" y="2209800"/>
            <a:ext cx="95" cy="104775"/>
          </a:xfrm>
          <a:custGeom>
            <a:avLst/>
            <a:gdLst/>
            <a:ahLst/>
            <a:cxnLst/>
            <a:rect l="0" t="0" r="r" b="b"/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route_myd88_to_nfkb_tip"/>
          <p:cNvSpPr/>
          <p:nvPr/>
        </p:nvSpPr>
        <p:spPr>
          <a:xfrm>
            <a:off x="3619500" y="22193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route_nfkb_to_cytokines"/>
          <p:cNvSpPr/>
          <p:nvPr/>
        </p:nvSpPr>
        <p:spPr>
          <a:xfrm>
            <a:off x="3657600" y="2628900"/>
            <a:ext cx="95" cy="66675"/>
          </a:xfrm>
          <a:custGeom>
            <a:avLst/>
            <a:gdLst/>
            <a:ahLst/>
            <a:cxnLst/>
            <a:rect l="0" t="0" r="r" b="b"/>
            <a:pathLst>
              <a:path w="9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route_nfkb_to_cytokines_tip"/>
          <p:cNvSpPr/>
          <p:nvPr/>
        </p:nvSpPr>
        <p:spPr>
          <a:xfrm>
            <a:off x="3619500" y="26003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route_cytokines_output"/>
          <p:cNvSpPr/>
          <p:nvPr/>
        </p:nvSpPr>
        <p:spPr>
          <a:xfrm>
            <a:off x="4610100" y="2914650"/>
            <a:ext cx="790575" cy="95"/>
          </a:xfrm>
          <a:custGeom>
            <a:avLst/>
            <a:gdLst/>
            <a:ahLst/>
            <a:cxnLst/>
            <a:rect l="0" t="0" r="r" b="b"/>
            <a:pathLst>
              <a:path w="790575" h="95">
                <a:moveTo>
                  <a:pt x="0" y="0"/>
                </a:moveTo>
                <a:lnTo>
                  <a:pt x="7905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route_cytokines_output_tip"/>
          <p:cNvSpPr/>
          <p:nvPr/>
        </p:nvSpPr>
        <p:spPr>
          <a:xfrm>
            <a:off x="5305425" y="28765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route_inflammation_to_endothelium"/>
          <p:cNvSpPr/>
          <p:nvPr/>
        </p:nvSpPr>
        <p:spPr>
          <a:xfrm>
            <a:off x="8115300" y="2428875"/>
            <a:ext cx="1095375" cy="428625"/>
          </a:xfrm>
          <a:custGeom>
            <a:avLst/>
            <a:gdLst/>
            <a:ahLst/>
            <a:cxnLst/>
            <a:rect l="0" t="0" r="r" b="b"/>
            <a:pathLst>
              <a:path w="1095375" h="428625">
                <a:moveTo>
                  <a:pt x="0" y="428625"/>
                </a:moveTo>
                <a:lnTo>
                  <a:pt x="14796" y="422319"/>
                </a:lnTo>
                <a:lnTo>
                  <a:pt x="29716" y="415906"/>
                </a:lnTo>
                <a:lnTo>
                  <a:pt x="44756" y="409391"/>
                </a:lnTo>
                <a:lnTo>
                  <a:pt x="59915" y="402778"/>
                </a:lnTo>
                <a:lnTo>
                  <a:pt x="75190" y="396071"/>
                </a:lnTo>
                <a:lnTo>
                  <a:pt x="90578" y="389276"/>
                </a:lnTo>
                <a:lnTo>
                  <a:pt x="106077" y="382397"/>
                </a:lnTo>
                <a:lnTo>
                  <a:pt x="121686" y="375438"/>
                </a:lnTo>
                <a:lnTo>
                  <a:pt x="137400" y="368404"/>
                </a:lnTo>
                <a:lnTo>
                  <a:pt x="153219" y="361299"/>
                </a:lnTo>
                <a:lnTo>
                  <a:pt x="169139" y="354129"/>
                </a:lnTo>
                <a:lnTo>
                  <a:pt x="185158" y="346897"/>
                </a:lnTo>
                <a:lnTo>
                  <a:pt x="201275" y="339609"/>
                </a:lnTo>
                <a:lnTo>
                  <a:pt x="217485" y="332269"/>
                </a:lnTo>
                <a:lnTo>
                  <a:pt x="233788" y="324881"/>
                </a:lnTo>
                <a:lnTo>
                  <a:pt x="250180" y="317450"/>
                </a:lnTo>
                <a:lnTo>
                  <a:pt x="266659" y="309981"/>
                </a:lnTo>
                <a:lnTo>
                  <a:pt x="283224" y="302478"/>
                </a:lnTo>
                <a:lnTo>
                  <a:pt x="299870" y="294946"/>
                </a:lnTo>
                <a:lnTo>
                  <a:pt x="316597" y="287389"/>
                </a:lnTo>
                <a:lnTo>
                  <a:pt x="333401" y="279813"/>
                </a:lnTo>
                <a:lnTo>
                  <a:pt x="350281" y="272220"/>
                </a:lnTo>
                <a:lnTo>
                  <a:pt x="367233" y="264617"/>
                </a:lnTo>
                <a:lnTo>
                  <a:pt x="384256" y="257008"/>
                </a:lnTo>
                <a:lnTo>
                  <a:pt x="401346" y="249396"/>
                </a:lnTo>
                <a:lnTo>
                  <a:pt x="418503" y="241788"/>
                </a:lnTo>
                <a:lnTo>
                  <a:pt x="435722" y="234187"/>
                </a:lnTo>
                <a:lnTo>
                  <a:pt x="453003" y="226598"/>
                </a:lnTo>
                <a:lnTo>
                  <a:pt x="470341" y="219025"/>
                </a:lnTo>
                <a:lnTo>
                  <a:pt x="487736" y="211474"/>
                </a:lnTo>
                <a:lnTo>
                  <a:pt x="505185" y="203948"/>
                </a:lnTo>
                <a:lnTo>
                  <a:pt x="522684" y="196453"/>
                </a:lnTo>
                <a:lnTo>
                  <a:pt x="540233" y="188993"/>
                </a:lnTo>
                <a:lnTo>
                  <a:pt x="557828" y="181572"/>
                </a:lnTo>
                <a:lnTo>
                  <a:pt x="575467" y="174195"/>
                </a:lnTo>
                <a:lnTo>
                  <a:pt x="593148" y="166867"/>
                </a:lnTo>
                <a:lnTo>
                  <a:pt x="610867" y="159591"/>
                </a:lnTo>
                <a:lnTo>
                  <a:pt x="628624" y="152374"/>
                </a:lnTo>
                <a:lnTo>
                  <a:pt x="646415" y="145219"/>
                </a:lnTo>
                <a:lnTo>
                  <a:pt x="664239" y="138131"/>
                </a:lnTo>
                <a:lnTo>
                  <a:pt x="682091" y="131115"/>
                </a:lnTo>
                <a:lnTo>
                  <a:pt x="699972" y="124174"/>
                </a:lnTo>
                <a:lnTo>
                  <a:pt x="717876" y="117314"/>
                </a:lnTo>
                <a:lnTo>
                  <a:pt x="735804" y="110540"/>
                </a:lnTo>
                <a:lnTo>
                  <a:pt x="753751" y="103855"/>
                </a:lnTo>
                <a:lnTo>
                  <a:pt x="771717" y="97265"/>
                </a:lnTo>
                <a:lnTo>
                  <a:pt x="789697" y="90773"/>
                </a:lnTo>
                <a:lnTo>
                  <a:pt x="807690" y="84386"/>
                </a:lnTo>
                <a:lnTo>
                  <a:pt x="825694" y="78106"/>
                </a:lnTo>
                <a:lnTo>
                  <a:pt x="843706" y="71939"/>
                </a:lnTo>
                <a:lnTo>
                  <a:pt x="861723" y="65889"/>
                </a:lnTo>
                <a:lnTo>
                  <a:pt x="879744" y="59961"/>
                </a:lnTo>
                <a:lnTo>
                  <a:pt x="897766" y="54160"/>
                </a:lnTo>
                <a:lnTo>
                  <a:pt x="915786" y="48490"/>
                </a:lnTo>
                <a:lnTo>
                  <a:pt x="933802" y="42955"/>
                </a:lnTo>
                <a:lnTo>
                  <a:pt x="951812" y="37560"/>
                </a:lnTo>
                <a:lnTo>
                  <a:pt x="969813" y="32311"/>
                </a:lnTo>
                <a:lnTo>
                  <a:pt x="987803" y="27210"/>
                </a:lnTo>
                <a:lnTo>
                  <a:pt x="1005779" y="22264"/>
                </a:lnTo>
                <a:lnTo>
                  <a:pt x="1023740" y="17476"/>
                </a:lnTo>
                <a:lnTo>
                  <a:pt x="1041682" y="12851"/>
                </a:lnTo>
                <a:lnTo>
                  <a:pt x="1059604" y="8393"/>
                </a:lnTo>
                <a:lnTo>
                  <a:pt x="1077502" y="4108"/>
                </a:lnTo>
                <a:lnTo>
                  <a:pt x="10953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route_inflammation_to_endothelium_tip"/>
          <p:cNvSpPr/>
          <p:nvPr/>
        </p:nvSpPr>
        <p:spPr>
          <a:xfrm>
            <a:off x="9109109" y="2414435"/>
            <a:ext cx="101566" cy="74029"/>
          </a:xfrm>
          <a:custGeom>
            <a:avLst/>
            <a:gdLst/>
            <a:ahLst/>
            <a:cxnLst/>
            <a:rect l="0" t="0" r="r" b="b"/>
            <a:pathLst>
              <a:path w="101566" h="74029">
                <a:moveTo>
                  <a:pt x="101566" y="14440"/>
                </a:moveTo>
                <a:lnTo>
                  <a:pt x="18060" y="74029"/>
                </a:lnTo>
                <a:lnTo>
                  <a:pt x="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route_inflammation_to_perivascular"/>
          <p:cNvSpPr/>
          <p:nvPr/>
        </p:nvSpPr>
        <p:spPr>
          <a:xfrm>
            <a:off x="7900860" y="2857500"/>
            <a:ext cx="900240" cy="2447925"/>
          </a:xfrm>
          <a:custGeom>
            <a:avLst/>
            <a:gdLst/>
            <a:ahLst/>
            <a:cxnLst/>
            <a:rect l="0" t="0" r="r" b="b"/>
            <a:pathLst>
              <a:path w="900240" h="2447925">
                <a:moveTo>
                  <a:pt x="214440" y="0"/>
                </a:moveTo>
                <a:lnTo>
                  <a:pt x="220840" y="9363"/>
                </a:lnTo>
                <a:lnTo>
                  <a:pt x="226654" y="18701"/>
                </a:lnTo>
                <a:lnTo>
                  <a:pt x="231896" y="28018"/>
                </a:lnTo>
                <a:lnTo>
                  <a:pt x="236581" y="37316"/>
                </a:lnTo>
                <a:lnTo>
                  <a:pt x="240722" y="46600"/>
                </a:lnTo>
                <a:lnTo>
                  <a:pt x="244335" y="55872"/>
                </a:lnTo>
                <a:lnTo>
                  <a:pt x="247432" y="65136"/>
                </a:lnTo>
                <a:lnTo>
                  <a:pt x="250029" y="74395"/>
                </a:lnTo>
                <a:lnTo>
                  <a:pt x="252139" y="83653"/>
                </a:lnTo>
                <a:lnTo>
                  <a:pt x="253777" y="92911"/>
                </a:lnTo>
                <a:lnTo>
                  <a:pt x="254956" y="102175"/>
                </a:lnTo>
                <a:lnTo>
                  <a:pt x="255691" y="111447"/>
                </a:lnTo>
                <a:lnTo>
                  <a:pt x="255997" y="120730"/>
                </a:lnTo>
                <a:lnTo>
                  <a:pt x="255886" y="130027"/>
                </a:lnTo>
                <a:lnTo>
                  <a:pt x="255374" y="139343"/>
                </a:lnTo>
                <a:lnTo>
                  <a:pt x="254475" y="148679"/>
                </a:lnTo>
                <a:lnTo>
                  <a:pt x="253203" y="158040"/>
                </a:lnTo>
                <a:lnTo>
                  <a:pt x="251571" y="167429"/>
                </a:lnTo>
                <a:lnTo>
                  <a:pt x="249594" y="176849"/>
                </a:lnTo>
                <a:lnTo>
                  <a:pt x="247287" y="186303"/>
                </a:lnTo>
                <a:lnTo>
                  <a:pt x="244663" y="195794"/>
                </a:lnTo>
                <a:lnTo>
                  <a:pt x="241737" y="205326"/>
                </a:lnTo>
                <a:lnTo>
                  <a:pt x="238523" y="214902"/>
                </a:lnTo>
                <a:lnTo>
                  <a:pt x="235034" y="224526"/>
                </a:lnTo>
                <a:lnTo>
                  <a:pt x="231286" y="234200"/>
                </a:lnTo>
                <a:lnTo>
                  <a:pt x="227292" y="243928"/>
                </a:lnTo>
                <a:lnTo>
                  <a:pt x="223067" y="253713"/>
                </a:lnTo>
                <a:lnTo>
                  <a:pt x="218624" y="263558"/>
                </a:lnTo>
                <a:lnTo>
                  <a:pt x="213978" y="273467"/>
                </a:lnTo>
                <a:lnTo>
                  <a:pt x="209143" y="283443"/>
                </a:lnTo>
                <a:lnTo>
                  <a:pt x="204133" y="293490"/>
                </a:lnTo>
                <a:lnTo>
                  <a:pt x="198962" y="303609"/>
                </a:lnTo>
                <a:lnTo>
                  <a:pt x="193645" y="313806"/>
                </a:lnTo>
                <a:lnTo>
                  <a:pt x="188196" y="324082"/>
                </a:lnTo>
                <a:lnTo>
                  <a:pt x="182628" y="334442"/>
                </a:lnTo>
                <a:lnTo>
                  <a:pt x="176957" y="344888"/>
                </a:lnTo>
                <a:lnTo>
                  <a:pt x="171195" y="355424"/>
                </a:lnTo>
                <a:lnTo>
                  <a:pt x="165358" y="366054"/>
                </a:lnTo>
                <a:lnTo>
                  <a:pt x="159460" y="376779"/>
                </a:lnTo>
                <a:lnTo>
                  <a:pt x="153514" y="387604"/>
                </a:lnTo>
                <a:lnTo>
                  <a:pt x="147535" y="398532"/>
                </a:lnTo>
                <a:lnTo>
                  <a:pt x="141537" y="409567"/>
                </a:lnTo>
                <a:lnTo>
                  <a:pt x="135534" y="420710"/>
                </a:lnTo>
                <a:lnTo>
                  <a:pt x="129541" y="431967"/>
                </a:lnTo>
                <a:lnTo>
                  <a:pt x="123571" y="443339"/>
                </a:lnTo>
                <a:lnTo>
                  <a:pt x="117639" y="454831"/>
                </a:lnTo>
                <a:lnTo>
                  <a:pt x="111759" y="466445"/>
                </a:lnTo>
                <a:lnTo>
                  <a:pt x="105945" y="478185"/>
                </a:lnTo>
                <a:lnTo>
                  <a:pt x="100211" y="490054"/>
                </a:lnTo>
                <a:lnTo>
                  <a:pt x="94571" y="502055"/>
                </a:lnTo>
                <a:lnTo>
                  <a:pt x="89040" y="514192"/>
                </a:lnTo>
                <a:lnTo>
                  <a:pt x="83632" y="526468"/>
                </a:lnTo>
                <a:lnTo>
                  <a:pt x="78361" y="538886"/>
                </a:lnTo>
                <a:lnTo>
                  <a:pt x="73241" y="551449"/>
                </a:lnTo>
                <a:lnTo>
                  <a:pt x="68286" y="564161"/>
                </a:lnTo>
                <a:lnTo>
                  <a:pt x="63510" y="577025"/>
                </a:lnTo>
                <a:lnTo>
                  <a:pt x="58928" y="590044"/>
                </a:lnTo>
                <a:lnTo>
                  <a:pt x="54554" y="603222"/>
                </a:lnTo>
                <a:lnTo>
                  <a:pt x="50402" y="616562"/>
                </a:lnTo>
                <a:lnTo>
                  <a:pt x="46486" y="630066"/>
                </a:lnTo>
                <a:lnTo>
                  <a:pt x="42820" y="643739"/>
                </a:lnTo>
                <a:lnTo>
                  <a:pt x="39418" y="657583"/>
                </a:lnTo>
                <a:lnTo>
                  <a:pt x="36295" y="671603"/>
                </a:lnTo>
                <a:lnTo>
                  <a:pt x="33465" y="685800"/>
                </a:lnTo>
                <a:lnTo>
                  <a:pt x="28304" y="714443"/>
                </a:lnTo>
                <a:lnTo>
                  <a:pt x="23544" y="743218"/>
                </a:lnTo>
                <a:lnTo>
                  <a:pt x="19192" y="772117"/>
                </a:lnTo>
                <a:lnTo>
                  <a:pt x="15260" y="801130"/>
                </a:lnTo>
                <a:lnTo>
                  <a:pt x="11755" y="830251"/>
                </a:lnTo>
                <a:lnTo>
                  <a:pt x="8688" y="859471"/>
                </a:lnTo>
                <a:lnTo>
                  <a:pt x="6068" y="888782"/>
                </a:lnTo>
                <a:lnTo>
                  <a:pt x="3904" y="918177"/>
                </a:lnTo>
                <a:lnTo>
                  <a:pt x="2206" y="947646"/>
                </a:lnTo>
                <a:lnTo>
                  <a:pt x="983" y="977182"/>
                </a:lnTo>
                <a:lnTo>
                  <a:pt x="245" y="1006777"/>
                </a:lnTo>
                <a:lnTo>
                  <a:pt x="0" y="1036423"/>
                </a:lnTo>
                <a:lnTo>
                  <a:pt x="258" y="1066111"/>
                </a:lnTo>
                <a:lnTo>
                  <a:pt x="1029" y="1095835"/>
                </a:lnTo>
                <a:lnTo>
                  <a:pt x="2322" y="1125584"/>
                </a:lnTo>
                <a:lnTo>
                  <a:pt x="4146" y="1155353"/>
                </a:lnTo>
                <a:lnTo>
                  <a:pt x="6511" y="1185132"/>
                </a:lnTo>
                <a:lnTo>
                  <a:pt x="9426" y="1214913"/>
                </a:lnTo>
                <a:lnTo>
                  <a:pt x="12900" y="1244688"/>
                </a:lnTo>
                <a:lnTo>
                  <a:pt x="16943" y="1274450"/>
                </a:lnTo>
                <a:lnTo>
                  <a:pt x="21564" y="1304190"/>
                </a:lnTo>
                <a:lnTo>
                  <a:pt x="26773" y="1333900"/>
                </a:lnTo>
                <a:lnTo>
                  <a:pt x="32579" y="1363572"/>
                </a:lnTo>
                <a:lnTo>
                  <a:pt x="38991" y="1393199"/>
                </a:lnTo>
                <a:lnTo>
                  <a:pt x="46018" y="1422771"/>
                </a:lnTo>
                <a:lnTo>
                  <a:pt x="53671" y="1452281"/>
                </a:lnTo>
                <a:lnTo>
                  <a:pt x="61958" y="1481721"/>
                </a:lnTo>
                <a:lnTo>
                  <a:pt x="70889" y="1511082"/>
                </a:lnTo>
                <a:lnTo>
                  <a:pt x="80473" y="1540357"/>
                </a:lnTo>
                <a:lnTo>
                  <a:pt x="90719" y="1569538"/>
                </a:lnTo>
                <a:lnTo>
                  <a:pt x="101638" y="1598617"/>
                </a:lnTo>
                <a:lnTo>
                  <a:pt x="113237" y="1627584"/>
                </a:lnTo>
                <a:lnTo>
                  <a:pt x="125528" y="1656434"/>
                </a:lnTo>
                <a:lnTo>
                  <a:pt x="138518" y="1685156"/>
                </a:lnTo>
                <a:lnTo>
                  <a:pt x="152218" y="1713744"/>
                </a:lnTo>
                <a:lnTo>
                  <a:pt x="166636" y="1742189"/>
                </a:lnTo>
                <a:lnTo>
                  <a:pt x="181783" y="1770483"/>
                </a:lnTo>
                <a:lnTo>
                  <a:pt x="197667" y="1798618"/>
                </a:lnTo>
                <a:lnTo>
                  <a:pt x="214298" y="1826587"/>
                </a:lnTo>
                <a:lnTo>
                  <a:pt x="231686" y="1854380"/>
                </a:lnTo>
                <a:lnTo>
                  <a:pt x="249839" y="1881990"/>
                </a:lnTo>
                <a:lnTo>
                  <a:pt x="268767" y="1909409"/>
                </a:lnTo>
                <a:lnTo>
                  <a:pt x="288480" y="1936628"/>
                </a:lnTo>
                <a:lnTo>
                  <a:pt x="308986" y="1963641"/>
                </a:lnTo>
                <a:lnTo>
                  <a:pt x="330295" y="1990437"/>
                </a:lnTo>
                <a:lnTo>
                  <a:pt x="352417" y="2017011"/>
                </a:lnTo>
                <a:lnTo>
                  <a:pt x="375361" y="2043353"/>
                </a:lnTo>
                <a:lnTo>
                  <a:pt x="399136" y="2069455"/>
                </a:lnTo>
                <a:lnTo>
                  <a:pt x="423752" y="2095310"/>
                </a:lnTo>
                <a:lnTo>
                  <a:pt x="449218" y="2120909"/>
                </a:lnTo>
                <a:lnTo>
                  <a:pt x="475543" y="2146244"/>
                </a:lnTo>
                <a:lnTo>
                  <a:pt x="502737" y="2171307"/>
                </a:lnTo>
                <a:lnTo>
                  <a:pt x="530809" y="2196090"/>
                </a:lnTo>
                <a:lnTo>
                  <a:pt x="559768" y="2220586"/>
                </a:lnTo>
                <a:lnTo>
                  <a:pt x="589625" y="2244785"/>
                </a:lnTo>
                <a:lnTo>
                  <a:pt x="620388" y="2268680"/>
                </a:lnTo>
                <a:lnTo>
                  <a:pt x="652066" y="2292263"/>
                </a:lnTo>
                <a:lnTo>
                  <a:pt x="684670" y="2315526"/>
                </a:lnTo>
                <a:lnTo>
                  <a:pt x="718207" y="2338460"/>
                </a:lnTo>
                <a:lnTo>
                  <a:pt x="752689" y="2361058"/>
                </a:lnTo>
                <a:lnTo>
                  <a:pt x="788124" y="2383312"/>
                </a:lnTo>
                <a:lnTo>
                  <a:pt x="824521" y="2405213"/>
                </a:lnTo>
                <a:lnTo>
                  <a:pt x="861890" y="2426753"/>
                </a:lnTo>
                <a:lnTo>
                  <a:pt x="900240" y="244792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route_inflammation_to_perivascular_tip"/>
          <p:cNvSpPr/>
          <p:nvPr/>
        </p:nvSpPr>
        <p:spPr>
          <a:xfrm>
            <a:off x="8699689" y="5224269"/>
            <a:ext cx="101411" cy="81156"/>
          </a:xfrm>
          <a:custGeom>
            <a:avLst/>
            <a:gdLst/>
            <a:ahLst/>
            <a:cxnLst/>
            <a:rect l="0" t="0" r="r" b="b"/>
            <a:pathLst>
              <a:path w="101411" h="81156">
                <a:moveTo>
                  <a:pt x="101411" y="81156"/>
                </a:moveTo>
                <a:lnTo>
                  <a:pt x="0" y="65665"/>
                </a:lnTo>
                <a:lnTo>
                  <a:pt x="38659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route_tmao_to_macrophage"/>
          <p:cNvSpPr/>
          <p:nvPr/>
        </p:nvSpPr>
        <p:spPr>
          <a:xfrm>
            <a:off x="1019175" y="4143375"/>
            <a:ext cx="1590675" cy="95"/>
          </a:xfrm>
          <a:custGeom>
            <a:avLst/>
            <a:gdLst/>
            <a:ahLst/>
            <a:cxnLst/>
            <a:rect l="0" t="0" r="r" b="b"/>
            <a:pathLst>
              <a:path w="1590675" h="95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route_tmao_to_macrophage_tip"/>
          <p:cNvSpPr/>
          <p:nvPr/>
        </p:nvSpPr>
        <p:spPr>
          <a:xfrm>
            <a:off x="2514600" y="41052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route_macrophage_to_paracrine"/>
          <p:cNvSpPr/>
          <p:nvPr/>
        </p:nvSpPr>
        <p:spPr>
          <a:xfrm>
            <a:off x="3457575" y="4143375"/>
            <a:ext cx="876300" cy="95"/>
          </a:xfrm>
          <a:custGeom>
            <a:avLst/>
            <a:gdLst/>
            <a:ahLst/>
            <a:cxnLst/>
            <a:rect l="0" t="0" r="r" b="b"/>
            <a:pathLst>
              <a:path w="876300" h="95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route_macrophage_to_paracrine_tip"/>
          <p:cNvSpPr/>
          <p:nvPr/>
        </p:nvSpPr>
        <p:spPr>
          <a:xfrm>
            <a:off x="4238625" y="41052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route_paracrine_to_pasmsc"/>
          <p:cNvSpPr/>
          <p:nvPr/>
        </p:nvSpPr>
        <p:spPr>
          <a:xfrm>
            <a:off x="4981575" y="4181475"/>
            <a:ext cx="1047750" cy="95"/>
          </a:xfrm>
          <a:custGeom>
            <a:avLst/>
            <a:gdLst/>
            <a:ahLst/>
            <a:cxnLst/>
            <a:rect l="0" t="0" r="r" b="b"/>
            <a:pathLst>
              <a:path w="1047750" h="95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route_paracrine_to_pasmsc_tip"/>
          <p:cNvSpPr/>
          <p:nvPr/>
        </p:nvSpPr>
        <p:spPr>
          <a:xfrm>
            <a:off x="5934075" y="41433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route_pasmsc_to_media"/>
          <p:cNvSpPr/>
          <p:nvPr/>
        </p:nvSpPr>
        <p:spPr>
          <a:xfrm>
            <a:off x="8058150" y="3552825"/>
            <a:ext cx="2733675" cy="619603"/>
          </a:xfrm>
          <a:custGeom>
            <a:avLst/>
            <a:gdLst/>
            <a:ahLst/>
            <a:cxnLst/>
            <a:rect l="0" t="0" r="r" b="b"/>
            <a:pathLst>
              <a:path w="2733675" h="619603">
                <a:moveTo>
                  <a:pt x="0" y="619125"/>
                </a:moveTo>
                <a:lnTo>
                  <a:pt x="41235" y="619603"/>
                </a:lnTo>
                <a:lnTo>
                  <a:pt x="82778" y="619268"/>
                </a:lnTo>
                <a:lnTo>
                  <a:pt x="124617" y="618144"/>
                </a:lnTo>
                <a:lnTo>
                  <a:pt x="166739" y="616253"/>
                </a:lnTo>
                <a:lnTo>
                  <a:pt x="209131" y="613620"/>
                </a:lnTo>
                <a:lnTo>
                  <a:pt x="251781" y="610269"/>
                </a:lnTo>
                <a:lnTo>
                  <a:pt x="294675" y="606224"/>
                </a:lnTo>
                <a:lnTo>
                  <a:pt x="337803" y="601507"/>
                </a:lnTo>
                <a:lnTo>
                  <a:pt x="381150" y="596144"/>
                </a:lnTo>
                <a:lnTo>
                  <a:pt x="424704" y="590157"/>
                </a:lnTo>
                <a:lnTo>
                  <a:pt x="468452" y="583571"/>
                </a:lnTo>
                <a:lnTo>
                  <a:pt x="512383" y="576409"/>
                </a:lnTo>
                <a:lnTo>
                  <a:pt x="556482" y="568695"/>
                </a:lnTo>
                <a:lnTo>
                  <a:pt x="600738" y="560453"/>
                </a:lnTo>
                <a:lnTo>
                  <a:pt x="645138" y="551706"/>
                </a:lnTo>
                <a:lnTo>
                  <a:pt x="689670" y="542479"/>
                </a:lnTo>
                <a:lnTo>
                  <a:pt x="734319" y="532794"/>
                </a:lnTo>
                <a:lnTo>
                  <a:pt x="779075" y="522677"/>
                </a:lnTo>
                <a:lnTo>
                  <a:pt x="823924" y="512150"/>
                </a:lnTo>
                <a:lnTo>
                  <a:pt x="868854" y="501237"/>
                </a:lnTo>
                <a:lnTo>
                  <a:pt x="913852" y="489962"/>
                </a:lnTo>
                <a:lnTo>
                  <a:pt x="958905" y="478350"/>
                </a:lnTo>
                <a:lnTo>
                  <a:pt x="1004001" y="466423"/>
                </a:lnTo>
                <a:lnTo>
                  <a:pt x="1049127" y="454205"/>
                </a:lnTo>
                <a:lnTo>
                  <a:pt x="1094270" y="441720"/>
                </a:lnTo>
                <a:lnTo>
                  <a:pt x="1139418" y="428993"/>
                </a:lnTo>
                <a:lnTo>
                  <a:pt x="1184559" y="416046"/>
                </a:lnTo>
                <a:lnTo>
                  <a:pt x="1229678" y="402903"/>
                </a:lnTo>
                <a:lnTo>
                  <a:pt x="1274765" y="389589"/>
                </a:lnTo>
                <a:lnTo>
                  <a:pt x="1319806" y="376127"/>
                </a:lnTo>
                <a:lnTo>
                  <a:pt x="1364789" y="362540"/>
                </a:lnTo>
                <a:lnTo>
                  <a:pt x="1409700" y="348853"/>
                </a:lnTo>
                <a:lnTo>
                  <a:pt x="1454528" y="335089"/>
                </a:lnTo>
                <a:lnTo>
                  <a:pt x="1499259" y="321273"/>
                </a:lnTo>
                <a:lnTo>
                  <a:pt x="1543881" y="307427"/>
                </a:lnTo>
                <a:lnTo>
                  <a:pt x="1588382" y="293575"/>
                </a:lnTo>
                <a:lnTo>
                  <a:pt x="1632749" y="279742"/>
                </a:lnTo>
                <a:lnTo>
                  <a:pt x="1676968" y="265951"/>
                </a:lnTo>
                <a:lnTo>
                  <a:pt x="1721028" y="252226"/>
                </a:lnTo>
                <a:lnTo>
                  <a:pt x="1764916" y="238590"/>
                </a:lnTo>
                <a:lnTo>
                  <a:pt x="1808618" y="225068"/>
                </a:lnTo>
                <a:lnTo>
                  <a:pt x="1852124" y="211683"/>
                </a:lnTo>
                <a:lnTo>
                  <a:pt x="1895419" y="198458"/>
                </a:lnTo>
                <a:lnTo>
                  <a:pt x="1938491" y="185419"/>
                </a:lnTo>
                <a:lnTo>
                  <a:pt x="1981328" y="172588"/>
                </a:lnTo>
                <a:lnTo>
                  <a:pt x="2023917" y="159989"/>
                </a:lnTo>
                <a:lnTo>
                  <a:pt x="2066245" y="147646"/>
                </a:lnTo>
                <a:lnTo>
                  <a:pt x="2108299" y="135582"/>
                </a:lnTo>
                <a:lnTo>
                  <a:pt x="2150068" y="123823"/>
                </a:lnTo>
                <a:lnTo>
                  <a:pt x="2191538" y="112390"/>
                </a:lnTo>
                <a:lnTo>
                  <a:pt x="2232696" y="101308"/>
                </a:lnTo>
                <a:lnTo>
                  <a:pt x="2273531" y="90601"/>
                </a:lnTo>
                <a:lnTo>
                  <a:pt x="2314029" y="80293"/>
                </a:lnTo>
                <a:lnTo>
                  <a:pt x="2354178" y="70407"/>
                </a:lnTo>
                <a:lnTo>
                  <a:pt x="2393965" y="60967"/>
                </a:lnTo>
                <a:lnTo>
                  <a:pt x="2433377" y="51997"/>
                </a:lnTo>
                <a:lnTo>
                  <a:pt x="2472402" y="43520"/>
                </a:lnTo>
                <a:lnTo>
                  <a:pt x="2511028" y="35561"/>
                </a:lnTo>
                <a:lnTo>
                  <a:pt x="2549240" y="28143"/>
                </a:lnTo>
                <a:lnTo>
                  <a:pt x="2587028" y="21289"/>
                </a:lnTo>
                <a:lnTo>
                  <a:pt x="2624378" y="15025"/>
                </a:lnTo>
                <a:lnTo>
                  <a:pt x="2661278" y="9372"/>
                </a:lnTo>
                <a:lnTo>
                  <a:pt x="2697714" y="4356"/>
                </a:lnTo>
                <a:lnTo>
                  <a:pt x="2733675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route_pasmsc_to_media_tip"/>
          <p:cNvSpPr/>
          <p:nvPr/>
        </p:nvSpPr>
        <p:spPr>
          <a:xfrm>
            <a:off x="10692089" y="3528805"/>
            <a:ext cx="99736" cy="75409"/>
          </a:xfrm>
          <a:custGeom>
            <a:avLst/>
            <a:gdLst/>
            <a:ahLst/>
            <a:cxnLst/>
            <a:rect l="0" t="0" r="r" b="b"/>
            <a:pathLst>
              <a:path w="99736" h="75409">
                <a:moveTo>
                  <a:pt x="99736" y="24020"/>
                </a:moveTo>
                <a:lnTo>
                  <a:pt x="10948" y="75409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route_scfa_ffar"/>
          <p:cNvSpPr/>
          <p:nvPr/>
        </p:nvSpPr>
        <p:spPr>
          <a:xfrm>
            <a:off x="1304925" y="5724525"/>
            <a:ext cx="1209675" cy="95"/>
          </a:xfrm>
          <a:custGeom>
            <a:avLst/>
            <a:gdLst/>
            <a:ahLst/>
            <a:cxnLst/>
            <a:rect l="0" t="0" r="r" b="b"/>
            <a:pathLst>
              <a:path w="1209675" h="95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route_scfa_ffar_tip"/>
          <p:cNvSpPr/>
          <p:nvPr/>
        </p:nvSpPr>
        <p:spPr>
          <a:xfrm>
            <a:off x="2419350" y="56864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route_ffar_myeloid"/>
          <p:cNvSpPr/>
          <p:nvPr/>
        </p:nvSpPr>
        <p:spPr>
          <a:xfrm>
            <a:off x="3467100" y="5724525"/>
            <a:ext cx="5114925" cy="95"/>
          </a:xfrm>
          <a:custGeom>
            <a:avLst/>
            <a:gdLst/>
            <a:ahLst/>
            <a:cxnLst/>
            <a:rect l="0" t="0" r="r" b="b"/>
            <a:pathLst>
              <a:path w="5114925" h="95">
                <a:moveTo>
                  <a:pt x="0" y="0"/>
                </a:moveTo>
                <a:lnTo>
                  <a:pt x="511492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route_ffar_myeloid_tip"/>
          <p:cNvSpPr/>
          <p:nvPr/>
        </p:nvSpPr>
        <p:spPr>
          <a:xfrm>
            <a:off x="8486775" y="56864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route_butyrate_hdac"/>
          <p:cNvSpPr/>
          <p:nvPr/>
        </p:nvSpPr>
        <p:spPr>
          <a:xfrm>
            <a:off x="1304925" y="5791200"/>
            <a:ext cx="1028700" cy="438150"/>
          </a:xfrm>
          <a:custGeom>
            <a:avLst/>
            <a:gdLst/>
            <a:ahLst/>
            <a:cxnLst/>
            <a:rect l="0" t="0" r="r" b="b"/>
            <a:pathLst>
              <a:path w="1028700" h="438150">
                <a:moveTo>
                  <a:pt x="0" y="0"/>
                </a:moveTo>
                <a:lnTo>
                  <a:pt x="8375" y="10268"/>
                </a:lnTo>
                <a:lnTo>
                  <a:pt x="16549" y="20532"/>
                </a:lnTo>
                <a:lnTo>
                  <a:pt x="24542" y="30785"/>
                </a:lnTo>
                <a:lnTo>
                  <a:pt x="32377" y="41023"/>
                </a:lnTo>
                <a:lnTo>
                  <a:pt x="40075" y="51241"/>
                </a:lnTo>
                <a:lnTo>
                  <a:pt x="47658" y="61434"/>
                </a:lnTo>
                <a:lnTo>
                  <a:pt x="55147" y="71597"/>
                </a:lnTo>
                <a:lnTo>
                  <a:pt x="62564" y="81725"/>
                </a:lnTo>
                <a:lnTo>
                  <a:pt x="69930" y="91813"/>
                </a:lnTo>
                <a:lnTo>
                  <a:pt x="77267" y="101856"/>
                </a:lnTo>
                <a:lnTo>
                  <a:pt x="84597" y="111848"/>
                </a:lnTo>
                <a:lnTo>
                  <a:pt x="91941" y="121786"/>
                </a:lnTo>
                <a:lnTo>
                  <a:pt x="99321" y="131663"/>
                </a:lnTo>
                <a:lnTo>
                  <a:pt x="106758" y="141475"/>
                </a:lnTo>
                <a:lnTo>
                  <a:pt x="114274" y="151217"/>
                </a:lnTo>
                <a:lnTo>
                  <a:pt x="121890" y="160883"/>
                </a:lnTo>
                <a:lnTo>
                  <a:pt x="129629" y="170470"/>
                </a:lnTo>
                <a:lnTo>
                  <a:pt x="137511" y="179971"/>
                </a:lnTo>
                <a:lnTo>
                  <a:pt x="145559" y="189382"/>
                </a:lnTo>
                <a:lnTo>
                  <a:pt x="153793" y="198697"/>
                </a:lnTo>
                <a:lnTo>
                  <a:pt x="162236" y="207912"/>
                </a:lnTo>
                <a:lnTo>
                  <a:pt x="170908" y="217023"/>
                </a:lnTo>
                <a:lnTo>
                  <a:pt x="179833" y="226022"/>
                </a:lnTo>
                <a:lnTo>
                  <a:pt x="189030" y="234907"/>
                </a:lnTo>
                <a:lnTo>
                  <a:pt x="198523" y="243671"/>
                </a:lnTo>
                <a:lnTo>
                  <a:pt x="208331" y="252309"/>
                </a:lnTo>
                <a:lnTo>
                  <a:pt x="218478" y="260818"/>
                </a:lnTo>
                <a:lnTo>
                  <a:pt x="228984" y="269191"/>
                </a:lnTo>
                <a:lnTo>
                  <a:pt x="239871" y="277423"/>
                </a:lnTo>
                <a:lnTo>
                  <a:pt x="251161" y="285510"/>
                </a:lnTo>
                <a:lnTo>
                  <a:pt x="262875" y="293447"/>
                </a:lnTo>
                <a:lnTo>
                  <a:pt x="275034" y="301228"/>
                </a:lnTo>
                <a:lnTo>
                  <a:pt x="287662" y="308849"/>
                </a:lnTo>
                <a:lnTo>
                  <a:pt x="300778" y="316304"/>
                </a:lnTo>
                <a:lnTo>
                  <a:pt x="314405" y="323589"/>
                </a:lnTo>
                <a:lnTo>
                  <a:pt x="328564" y="330698"/>
                </a:lnTo>
                <a:lnTo>
                  <a:pt x="343276" y="337627"/>
                </a:lnTo>
                <a:lnTo>
                  <a:pt x="358564" y="344371"/>
                </a:lnTo>
                <a:lnTo>
                  <a:pt x="374449" y="350923"/>
                </a:lnTo>
                <a:lnTo>
                  <a:pt x="390953" y="357281"/>
                </a:lnTo>
                <a:lnTo>
                  <a:pt x="408096" y="363437"/>
                </a:lnTo>
                <a:lnTo>
                  <a:pt x="425902" y="369388"/>
                </a:lnTo>
                <a:lnTo>
                  <a:pt x="444390" y="375129"/>
                </a:lnTo>
                <a:lnTo>
                  <a:pt x="463583" y="380654"/>
                </a:lnTo>
                <a:lnTo>
                  <a:pt x="483503" y="385958"/>
                </a:lnTo>
                <a:lnTo>
                  <a:pt x="504171" y="391036"/>
                </a:lnTo>
                <a:lnTo>
                  <a:pt x="525608" y="395884"/>
                </a:lnTo>
                <a:lnTo>
                  <a:pt x="547836" y="400496"/>
                </a:lnTo>
                <a:lnTo>
                  <a:pt x="570877" y="404868"/>
                </a:lnTo>
                <a:lnTo>
                  <a:pt x="594753" y="408994"/>
                </a:lnTo>
                <a:lnTo>
                  <a:pt x="619484" y="412869"/>
                </a:lnTo>
                <a:lnTo>
                  <a:pt x="645093" y="416489"/>
                </a:lnTo>
                <a:lnTo>
                  <a:pt x="671601" y="419847"/>
                </a:lnTo>
                <a:lnTo>
                  <a:pt x="699030" y="422940"/>
                </a:lnTo>
                <a:lnTo>
                  <a:pt x="727401" y="425762"/>
                </a:lnTo>
                <a:lnTo>
                  <a:pt x="756735" y="428309"/>
                </a:lnTo>
                <a:lnTo>
                  <a:pt x="787055" y="430574"/>
                </a:lnTo>
                <a:lnTo>
                  <a:pt x="818382" y="432554"/>
                </a:lnTo>
                <a:lnTo>
                  <a:pt x="850738" y="434243"/>
                </a:lnTo>
                <a:lnTo>
                  <a:pt x="884144" y="435636"/>
                </a:lnTo>
                <a:lnTo>
                  <a:pt x="918621" y="436728"/>
                </a:lnTo>
                <a:lnTo>
                  <a:pt x="954192" y="437515"/>
                </a:lnTo>
                <a:lnTo>
                  <a:pt x="990878" y="437990"/>
                </a:lnTo>
                <a:lnTo>
                  <a:pt x="1028700" y="43815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route_butyrate_hdac_tip"/>
          <p:cNvSpPr/>
          <p:nvPr/>
        </p:nvSpPr>
        <p:spPr>
          <a:xfrm>
            <a:off x="2237727" y="6189600"/>
            <a:ext cx="95898" cy="76188"/>
          </a:xfrm>
          <a:custGeom>
            <a:avLst/>
            <a:gdLst/>
            <a:ahLst/>
            <a:cxnLst/>
            <a:rect l="0" t="0" r="r" b="b"/>
            <a:pathLst>
              <a:path w="95898" h="76188">
                <a:moveTo>
                  <a:pt x="95898" y="39750"/>
                </a:moveTo>
                <a:lnTo>
                  <a:pt x="0" y="76188"/>
                </a:lnTo>
                <a:lnTo>
                  <a:pt x="1325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route_hdac_acetylation"/>
          <p:cNvSpPr/>
          <p:nvPr/>
        </p:nvSpPr>
        <p:spPr>
          <a:xfrm>
            <a:off x="3543300" y="6153150"/>
            <a:ext cx="371475" cy="95"/>
          </a:xfrm>
          <a:custGeom>
            <a:avLst/>
            <a:gdLst/>
            <a:ahLst/>
            <a:cxnLst/>
            <a:rect l="0" t="0" r="r" b="b"/>
            <a:pathLst>
              <a:path w="371475" h="95">
                <a:moveTo>
                  <a:pt x="0" y="0"/>
                </a:moveTo>
                <a:lnTo>
                  <a:pt x="371475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route_hdac_acetylation_tip"/>
          <p:cNvSpPr/>
          <p:nvPr/>
        </p:nvSpPr>
        <p:spPr>
          <a:xfrm>
            <a:off x="3819525" y="61150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route_acetylation_treg"/>
          <p:cNvSpPr/>
          <p:nvPr/>
        </p:nvSpPr>
        <p:spPr>
          <a:xfrm>
            <a:off x="4695825" y="6153150"/>
            <a:ext cx="495300" cy="95"/>
          </a:xfrm>
          <a:custGeom>
            <a:avLst/>
            <a:gdLst/>
            <a:ahLst/>
            <a:cxnLst/>
            <a:rect l="0" t="0" r="r" b="b"/>
            <a:pathLst>
              <a:path w="495300" h="95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route_acetylation_treg_tip"/>
          <p:cNvSpPr/>
          <p:nvPr/>
        </p:nvSpPr>
        <p:spPr>
          <a:xfrm>
            <a:off x="5095875" y="61150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route_treg_support_to_cell"/>
          <p:cNvSpPr/>
          <p:nvPr/>
        </p:nvSpPr>
        <p:spPr>
          <a:xfrm>
            <a:off x="6848475" y="6227523"/>
            <a:ext cx="3276600" cy="408648"/>
          </a:xfrm>
          <a:custGeom>
            <a:avLst/>
            <a:gdLst/>
            <a:ahLst/>
            <a:cxnLst/>
            <a:rect l="0" t="0" r="r" b="b"/>
            <a:pathLst>
              <a:path w="3276600" h="408648">
                <a:moveTo>
                  <a:pt x="0" y="1827"/>
                </a:moveTo>
                <a:lnTo>
                  <a:pt x="45117" y="482"/>
                </a:lnTo>
                <a:lnTo>
                  <a:pt x="90283" y="0"/>
                </a:lnTo>
                <a:lnTo>
                  <a:pt x="135505" y="350"/>
                </a:lnTo>
                <a:lnTo>
                  <a:pt x="180789" y="1501"/>
                </a:lnTo>
                <a:lnTo>
                  <a:pt x="226143" y="3423"/>
                </a:lnTo>
                <a:lnTo>
                  <a:pt x="271574" y="6086"/>
                </a:lnTo>
                <a:lnTo>
                  <a:pt x="317089" y="9458"/>
                </a:lnTo>
                <a:lnTo>
                  <a:pt x="362694" y="13510"/>
                </a:lnTo>
                <a:lnTo>
                  <a:pt x="408397" y="18210"/>
                </a:lnTo>
                <a:lnTo>
                  <a:pt x="454205" y="23529"/>
                </a:lnTo>
                <a:lnTo>
                  <a:pt x="500124" y="29435"/>
                </a:lnTo>
                <a:lnTo>
                  <a:pt x="546162" y="35899"/>
                </a:lnTo>
                <a:lnTo>
                  <a:pt x="592325" y="42889"/>
                </a:lnTo>
                <a:lnTo>
                  <a:pt x="638621" y="50376"/>
                </a:lnTo>
                <a:lnTo>
                  <a:pt x="685057" y="58328"/>
                </a:lnTo>
                <a:lnTo>
                  <a:pt x="731639" y="66716"/>
                </a:lnTo>
                <a:lnTo>
                  <a:pt x="778375" y="75508"/>
                </a:lnTo>
                <a:lnTo>
                  <a:pt x="825271" y="84674"/>
                </a:lnTo>
                <a:lnTo>
                  <a:pt x="872334" y="94184"/>
                </a:lnTo>
                <a:lnTo>
                  <a:pt x="919572" y="104006"/>
                </a:lnTo>
                <a:lnTo>
                  <a:pt x="966991" y="114112"/>
                </a:lnTo>
                <a:lnTo>
                  <a:pt x="1014599" y="124469"/>
                </a:lnTo>
                <a:lnTo>
                  <a:pt x="1062401" y="135048"/>
                </a:lnTo>
                <a:lnTo>
                  <a:pt x="1110407" y="145818"/>
                </a:lnTo>
                <a:lnTo>
                  <a:pt x="1158621" y="156748"/>
                </a:lnTo>
                <a:lnTo>
                  <a:pt x="1207052" y="167808"/>
                </a:lnTo>
                <a:lnTo>
                  <a:pt x="1255706" y="178968"/>
                </a:lnTo>
                <a:lnTo>
                  <a:pt x="1304590" y="190197"/>
                </a:lnTo>
                <a:lnTo>
                  <a:pt x="1353712" y="201463"/>
                </a:lnTo>
                <a:lnTo>
                  <a:pt x="1403077" y="212738"/>
                </a:lnTo>
                <a:lnTo>
                  <a:pt x="1452694" y="223990"/>
                </a:lnTo>
                <a:lnTo>
                  <a:pt x="1502569" y="235189"/>
                </a:lnTo>
                <a:lnTo>
                  <a:pt x="1552709" y="246304"/>
                </a:lnTo>
                <a:lnTo>
                  <a:pt x="1603121" y="257305"/>
                </a:lnTo>
                <a:lnTo>
                  <a:pt x="1653812" y="268161"/>
                </a:lnTo>
                <a:lnTo>
                  <a:pt x="1704789" y="278842"/>
                </a:lnTo>
                <a:lnTo>
                  <a:pt x="1756059" y="289317"/>
                </a:lnTo>
                <a:lnTo>
                  <a:pt x="1807629" y="299556"/>
                </a:lnTo>
                <a:lnTo>
                  <a:pt x="1859506" y="309528"/>
                </a:lnTo>
                <a:lnTo>
                  <a:pt x="1911697" y="319203"/>
                </a:lnTo>
                <a:lnTo>
                  <a:pt x="1964209" y="328549"/>
                </a:lnTo>
                <a:lnTo>
                  <a:pt x="2017049" y="337538"/>
                </a:lnTo>
                <a:lnTo>
                  <a:pt x="2070224" y="346137"/>
                </a:lnTo>
                <a:lnTo>
                  <a:pt x="2123740" y="354317"/>
                </a:lnTo>
                <a:lnTo>
                  <a:pt x="2177605" y="362047"/>
                </a:lnTo>
                <a:lnTo>
                  <a:pt x="2231827" y="369296"/>
                </a:lnTo>
                <a:lnTo>
                  <a:pt x="2286410" y="376034"/>
                </a:lnTo>
                <a:lnTo>
                  <a:pt x="2341364" y="382231"/>
                </a:lnTo>
                <a:lnTo>
                  <a:pt x="2396694" y="387856"/>
                </a:lnTo>
                <a:lnTo>
                  <a:pt x="2452408" y="392878"/>
                </a:lnTo>
                <a:lnTo>
                  <a:pt x="2508513" y="397267"/>
                </a:lnTo>
                <a:lnTo>
                  <a:pt x="2565016" y="400993"/>
                </a:lnTo>
                <a:lnTo>
                  <a:pt x="2621923" y="404024"/>
                </a:lnTo>
                <a:lnTo>
                  <a:pt x="2679241" y="406331"/>
                </a:lnTo>
                <a:lnTo>
                  <a:pt x="2736978" y="407883"/>
                </a:lnTo>
                <a:lnTo>
                  <a:pt x="2795141" y="408648"/>
                </a:lnTo>
                <a:lnTo>
                  <a:pt x="2853736" y="408598"/>
                </a:lnTo>
                <a:lnTo>
                  <a:pt x="2912771" y="407701"/>
                </a:lnTo>
                <a:lnTo>
                  <a:pt x="2972252" y="405926"/>
                </a:lnTo>
                <a:lnTo>
                  <a:pt x="3032187" y="403244"/>
                </a:lnTo>
                <a:lnTo>
                  <a:pt x="3092582" y="399623"/>
                </a:lnTo>
                <a:lnTo>
                  <a:pt x="3153445" y="395034"/>
                </a:lnTo>
                <a:lnTo>
                  <a:pt x="3214782" y="389445"/>
                </a:lnTo>
                <a:lnTo>
                  <a:pt x="3276600" y="382827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route_treg_support_to_cell_tip"/>
          <p:cNvSpPr/>
          <p:nvPr/>
        </p:nvSpPr>
        <p:spPr>
          <a:xfrm>
            <a:off x="10026984" y="6580311"/>
            <a:ext cx="98091" cy="75936"/>
          </a:xfrm>
          <a:custGeom>
            <a:avLst/>
            <a:gdLst/>
            <a:ahLst/>
            <a:cxnLst/>
            <a:rect l="0" t="0" r="r" b="b"/>
            <a:pathLst>
              <a:path w="98091" h="75936">
                <a:moveTo>
                  <a:pt x="98091" y="30039"/>
                </a:moveTo>
                <a:lnTo>
                  <a:pt x="6343" y="75936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route_ba_fxr_candidate"/>
          <p:cNvSpPr/>
          <p:nvPr/>
        </p:nvSpPr>
        <p:spPr>
          <a:xfrm>
            <a:off x="1066800" y="7239000"/>
            <a:ext cx="2305050" cy="95"/>
          </a:xfrm>
          <a:custGeom>
            <a:avLst/>
            <a:gdLst/>
            <a:ahLst/>
            <a:cxnLst/>
            <a:rect l="0" t="0" r="r" b="b"/>
            <a:pathLst>
              <a:path w="2305050" h="95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w="20955" cap="rnd">
            <a:solidFill>
              <a:srgbClr val="B97724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route_ba_fxr_candidate_tip"/>
          <p:cNvSpPr/>
          <p:nvPr/>
        </p:nvSpPr>
        <p:spPr>
          <a:xfrm>
            <a:off x="3276600" y="720090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B977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route_fxr_et1_inhibition"/>
          <p:cNvSpPr/>
          <p:nvPr/>
        </p:nvSpPr>
        <p:spPr>
          <a:xfrm>
            <a:off x="3933825" y="7210425"/>
            <a:ext cx="1504950" cy="95"/>
          </a:xfrm>
          <a:custGeom>
            <a:avLst/>
            <a:gdLst/>
            <a:ahLst/>
            <a:cxnLst/>
            <a:rect l="0" t="0" r="r" b="b"/>
            <a:pathLst>
              <a:path w="1504950" h="95">
                <a:moveTo>
                  <a:pt x="0" y="0"/>
                </a:moveTo>
                <a:lnTo>
                  <a:pt x="1504950" y="0"/>
                </a:lnTo>
              </a:path>
            </a:pathLst>
          </a:custGeom>
          <a:noFill/>
          <a:ln w="22859" cap="rnd">
            <a:solidFill>
              <a:srgbClr val="B97724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et1_inhibition_bar"/>
          <p:cNvSpPr/>
          <p:nvPr/>
        </p:nvSpPr>
        <p:spPr>
          <a:xfrm>
            <a:off x="5438775" y="7105650"/>
            <a:ext cx="95" cy="209550"/>
          </a:xfrm>
          <a:custGeom>
            <a:avLst/>
            <a:gdLst/>
            <a:ahLst/>
            <a:cxnLst/>
            <a:rect l="0" t="0" r="r" b="b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2859" cap="rnd">
            <a:solidFill>
              <a:srgbClr val="B97724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route_indole_ahr_candidate"/>
          <p:cNvSpPr/>
          <p:nvPr/>
        </p:nvSpPr>
        <p:spPr>
          <a:xfrm>
            <a:off x="1000125" y="7934325"/>
            <a:ext cx="2371725" cy="95"/>
          </a:xfrm>
          <a:custGeom>
            <a:avLst/>
            <a:gdLst/>
            <a:ahLst/>
            <a:cxnLst/>
            <a:rect l="0" t="0" r="r" b="b"/>
            <a:pathLst>
              <a:path w="2371725" h="95">
                <a:moveTo>
                  <a:pt x="0" y="0"/>
                </a:moveTo>
                <a:lnTo>
                  <a:pt x="2371725" y="0"/>
                </a:lnTo>
              </a:path>
            </a:pathLst>
          </a:custGeom>
          <a:noFill/>
          <a:ln w="20955" cap="rnd">
            <a:solidFill>
              <a:srgbClr val="7254A8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route_indole_ahr_candidate_tip"/>
          <p:cNvSpPr/>
          <p:nvPr/>
        </p:nvSpPr>
        <p:spPr>
          <a:xfrm>
            <a:off x="3276600" y="78962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route_ahr_tcell_candidate"/>
          <p:cNvSpPr/>
          <p:nvPr/>
        </p:nvSpPr>
        <p:spPr>
          <a:xfrm>
            <a:off x="3933825" y="7934325"/>
            <a:ext cx="1428750" cy="95"/>
          </a:xfrm>
          <a:custGeom>
            <a:avLst/>
            <a:gdLst/>
            <a:ahLst/>
            <a:cxnLst/>
            <a:rect l="0" t="0" r="r" b="b"/>
            <a:pathLst>
              <a:path w="1428750" h="95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/>
          <a:ln w="20955" cap="rnd">
            <a:solidFill>
              <a:srgbClr val="7254A8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route_ahr_tcell_candidate_tip"/>
          <p:cNvSpPr/>
          <p:nvPr/>
        </p:nvSpPr>
        <p:spPr>
          <a:xfrm>
            <a:off x="5267325" y="78962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layer_leader_endothelium"/>
          <p:cNvSpPr/>
          <p:nvPr/>
        </p:nvSpPr>
        <p:spPr>
          <a:xfrm>
            <a:off x="8982075" y="2357438"/>
            <a:ext cx="571500" cy="100013"/>
          </a:xfrm>
          <a:custGeom>
            <a:avLst/>
            <a:gdLst/>
            <a:ahLst/>
            <a:cxnLst/>
            <a:rect l="0" t="0" r="r" b="b"/>
            <a:pathLst>
              <a:path w="571500" h="100013">
                <a:moveTo>
                  <a:pt x="0" y="0"/>
                </a:moveTo>
                <a:lnTo>
                  <a:pt x="571500" y="100013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layer_leader_media"/>
          <p:cNvSpPr/>
          <p:nvPr/>
        </p:nvSpPr>
        <p:spPr>
          <a:xfrm>
            <a:off x="9401175" y="3495675"/>
            <a:ext cx="514350" cy="57150"/>
          </a:xfrm>
          <a:custGeom>
            <a:avLst/>
            <a:gdLst/>
            <a:ahLst/>
            <a:cxnLst/>
            <a:rect l="0" t="0" r="r" b="b"/>
            <a:pathLst>
              <a:path w="514350" h="57150">
                <a:moveTo>
                  <a:pt x="0" y="57150"/>
                </a:moveTo>
                <a:lnTo>
                  <a:pt x="514350" y="0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layer_leader_adventitia"/>
          <p:cNvSpPr/>
          <p:nvPr/>
        </p:nvSpPr>
        <p:spPr>
          <a:xfrm>
            <a:off x="10099358" y="4936808"/>
            <a:ext cx="597218" cy="101918"/>
          </a:xfrm>
          <a:custGeom>
            <a:avLst/>
            <a:gdLst/>
            <a:ahLst/>
            <a:cxnLst/>
            <a:rect l="0" t="0" r="r" b="b"/>
            <a:pathLst>
              <a:path w="597218" h="101918">
                <a:moveTo>
                  <a:pt x="0" y="0"/>
                </a:moveTo>
                <a:lnTo>
                  <a:pt x="597218" y="101918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leader_endothelial"/>
          <p:cNvSpPr/>
          <p:nvPr/>
        </p:nvSpPr>
        <p:spPr>
          <a:xfrm>
            <a:off x="11639550" y="2409825"/>
            <a:ext cx="1736407" cy="114300"/>
          </a:xfrm>
          <a:custGeom>
            <a:avLst/>
            <a:gdLst/>
            <a:ahLst/>
            <a:cxnLst/>
            <a:rect l="0" t="0" r="r" b="b"/>
            <a:pathLst>
              <a:path w="1736407" h="114300">
                <a:moveTo>
                  <a:pt x="0" y="0"/>
                </a:moveTo>
                <a:lnTo>
                  <a:pt x="1736407" y="114300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leader_medial"/>
          <p:cNvSpPr/>
          <p:nvPr/>
        </p:nvSpPr>
        <p:spPr>
          <a:xfrm>
            <a:off x="12163425" y="4048125"/>
            <a:ext cx="1428750" cy="266700"/>
          </a:xfrm>
          <a:custGeom>
            <a:avLst/>
            <a:gdLst/>
            <a:ahLst/>
            <a:cxnLst/>
            <a:rect l="0" t="0" r="r" b="b"/>
            <a:pathLst>
              <a:path w="1428750" h="266700">
                <a:moveTo>
                  <a:pt x="0" y="266700"/>
                </a:moveTo>
                <a:lnTo>
                  <a:pt x="1428750" y="0"/>
                </a:lnTo>
              </a:path>
            </a:pathLst>
          </a:custGeom>
          <a:noFill/>
          <a:ln w="14288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leader_adventitial"/>
          <p:cNvSpPr/>
          <p:nvPr/>
        </p:nvSpPr>
        <p:spPr>
          <a:xfrm>
            <a:off x="12382500" y="5572125"/>
            <a:ext cx="1012507" cy="190500"/>
          </a:xfrm>
          <a:custGeom>
            <a:avLst/>
            <a:gdLst/>
            <a:ahLst/>
            <a:cxnLst/>
            <a:rect l="0" t="0" r="r" b="b"/>
            <a:pathLst>
              <a:path w="1012507" h="190500">
                <a:moveTo>
                  <a:pt x="0" y="190500"/>
                </a:moveTo>
                <a:lnTo>
                  <a:pt x="1012507" y="0"/>
                </a:lnTo>
              </a:path>
            </a:pathLst>
          </a:custGeom>
          <a:noFill/>
          <a:ln w="14288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pvr_result_arrow"/>
          <p:cNvSpPr/>
          <p:nvPr/>
        </p:nvSpPr>
        <p:spPr>
          <a:xfrm>
            <a:off x="14868525" y="2647950"/>
            <a:ext cx="133350" cy="3695700"/>
          </a:xfrm>
          <a:custGeom>
            <a:avLst/>
            <a:gdLst/>
            <a:ahLst/>
            <a:cxnLst/>
            <a:rect l="0" t="0" r="r" b="b"/>
            <a:pathLst>
              <a:path w="133350" h="3695700">
                <a:moveTo>
                  <a:pt x="0" y="0"/>
                </a:moveTo>
                <a:lnTo>
                  <a:pt x="133350" y="0"/>
                </a:lnTo>
                <a:lnTo>
                  <a:pt x="133350" y="3695700"/>
                </a:lnTo>
              </a:path>
            </a:pathLst>
          </a:custGeom>
          <a:noFill/>
          <a:ln w="20955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pvr_result_arrow_tip"/>
          <p:cNvSpPr/>
          <p:nvPr/>
        </p:nvSpPr>
        <p:spPr>
          <a:xfrm>
            <a:off x="14963775" y="6248400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cross_section_change"/>
          <p:cNvSpPr/>
          <p:nvPr/>
        </p:nvSpPr>
        <p:spPr>
          <a:xfrm>
            <a:off x="12277725" y="7705725"/>
            <a:ext cx="276225" cy="95"/>
          </a:xfrm>
          <a:custGeom>
            <a:avLst/>
            <a:gdLst/>
            <a:ahLst/>
            <a:cxnLst/>
            <a:rect l="0" t="0" r="r" b="b"/>
            <a:pathLst>
              <a:path w="276225" h="9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/>
          <a:ln w="17145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cross_section_change_tip"/>
          <p:cNvSpPr/>
          <p:nvPr/>
        </p:nvSpPr>
        <p:spPr>
          <a:xfrm>
            <a:off x="12458700" y="76676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legend_solid_arrow"/>
          <p:cNvSpPr/>
          <p:nvPr/>
        </p:nvSpPr>
        <p:spPr>
          <a:xfrm>
            <a:off x="266700" y="8448675"/>
            <a:ext cx="542925" cy="95"/>
          </a:xfrm>
          <a:custGeom>
            <a:avLst/>
            <a:gdLst/>
            <a:ahLst/>
            <a:cxnLst/>
            <a:rect l="0" t="0" r="r" b="b"/>
            <a:pathLst>
              <a:path w="542925" h="95">
                <a:moveTo>
                  <a:pt x="0" y="0"/>
                </a:moveTo>
                <a:lnTo>
                  <a:pt x="542925" y="0"/>
                </a:lnTo>
              </a:path>
            </a:pathLst>
          </a:custGeom>
          <a:noFill/>
          <a:ln w="23813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legend_solid_arrow_tip"/>
          <p:cNvSpPr/>
          <p:nvPr/>
        </p:nvSpPr>
        <p:spPr>
          <a:xfrm>
            <a:off x="714375" y="84105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legend_dashed_arrow"/>
          <p:cNvSpPr/>
          <p:nvPr/>
        </p:nvSpPr>
        <p:spPr>
          <a:xfrm>
            <a:off x="6238875" y="8448675"/>
            <a:ext cx="542925" cy="95"/>
          </a:xfrm>
          <a:custGeom>
            <a:avLst/>
            <a:gdLst/>
            <a:ahLst/>
            <a:cxnLst/>
            <a:rect l="0" t="0" r="r" b="b"/>
            <a:pathLst>
              <a:path w="542925" h="95">
                <a:moveTo>
                  <a:pt x="0" y="0"/>
                </a:moveTo>
                <a:lnTo>
                  <a:pt x="542925" y="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legend_dashed_arrow_tip"/>
          <p:cNvSpPr/>
          <p:nvPr/>
        </p:nvSpPr>
        <p:spPr>
          <a:xfrm>
            <a:off x="6686550" y="84105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circulating_tmao_n_o_bond"/>
          <p:cNvSpPr/>
          <p:nvPr/>
        </p:nvSpPr>
        <p:spPr>
          <a:xfrm rot="19615605">
            <a:off x="750823" y="4241878"/>
            <a:ext cx="232207" cy="95"/>
          </a:xfrm>
          <a:custGeom>
            <a:avLst/>
            <a:gdLst/>
            <a:ahLst/>
            <a:cxnLst/>
            <a:rect l="0" t="0" r="r" b="b"/>
            <a:pathLst>
              <a:path w="232207" h="95">
                <a:moveTo>
                  <a:pt x="0" y="0"/>
                </a:moveTo>
                <a:lnTo>
                  <a:pt x="232207" y="0"/>
                </a:lnTo>
              </a:path>
            </a:pathLst>
          </a:custGeom>
          <a:noFill/>
          <a:ln w="29718" cap="rnd">
            <a:solidFill>
              <a:srgbClr val="12AE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circulating_tmao_oxygen_atom"/>
          <p:cNvSpPr/>
          <p:nvPr/>
        </p:nvSpPr>
        <p:spPr>
          <a:xfrm>
            <a:off x="953223" y="4073632"/>
            <a:ext cx="135712" cy="135712"/>
          </a:xfrm>
          <a:prstGeom prst="ellipse">
            <a:avLst/>
          </a:prstGeom>
          <a:solidFill>
            <a:srgbClr val="CF5148"/>
          </a:solidFill>
          <a:ln w="8411">
            <a:solidFill>
              <a:srgbClr val="9D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dot_endothelial"/>
          <p:cNvSpPr/>
          <p:nvPr/>
        </p:nvSpPr>
        <p:spPr>
          <a:xfrm>
            <a:off x="11525250" y="2362200"/>
            <a:ext cx="95250" cy="95250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dot_medial"/>
          <p:cNvSpPr/>
          <p:nvPr/>
        </p:nvSpPr>
        <p:spPr>
          <a:xfrm>
            <a:off x="12049125" y="4267200"/>
            <a:ext cx="95250" cy="95250"/>
          </a:xfrm>
          <a:prstGeom prst="ellipse">
            <a:avLst/>
          </a:prstGeom>
          <a:solidFill>
            <a:srgbClr val="A82D2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dot_adventitial"/>
          <p:cNvSpPr/>
          <p:nvPr/>
        </p:nvSpPr>
        <p:spPr>
          <a:xfrm>
            <a:off x="12268200" y="5715000"/>
            <a:ext cx="95250" cy="95250"/>
          </a:xfrm>
          <a:prstGeom prst="ellipse">
            <a:avLst/>
          </a:prstGeom>
          <a:solidFill>
            <a:srgbClr val="7254A8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normal_adventitia"/>
          <p:cNvSpPr/>
          <p:nvPr/>
        </p:nvSpPr>
        <p:spPr>
          <a:xfrm>
            <a:off x="11410950" y="7419975"/>
            <a:ext cx="781050" cy="590550"/>
          </a:xfrm>
          <a:prstGeom prst="ellipse">
            <a:avLst/>
          </a:prstGeom>
          <a:solidFill>
            <a:srgbClr val="BEB0CA"/>
          </a:solidFill>
          <a:ln w="7620">
            <a:solidFill>
              <a:srgbClr val="9E8F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normal_media"/>
          <p:cNvSpPr/>
          <p:nvPr/>
        </p:nvSpPr>
        <p:spPr>
          <a:xfrm>
            <a:off x="11458575" y="7467600"/>
            <a:ext cx="685800" cy="495300"/>
          </a:xfrm>
          <a:prstGeom prst="ellipse">
            <a:avLst/>
          </a:prstGeom>
          <a:solidFill>
            <a:srgbClr val="DDA4A0"/>
          </a:solidFill>
          <a:ln w="6668">
            <a:solidFill>
              <a:srgbClr val="BD7E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normal_endothelium"/>
          <p:cNvSpPr/>
          <p:nvPr/>
        </p:nvSpPr>
        <p:spPr>
          <a:xfrm>
            <a:off x="11515725" y="7505700"/>
            <a:ext cx="571500" cy="419100"/>
          </a:xfrm>
          <a:prstGeom prst="ellipse">
            <a:avLst/>
          </a:prstGeom>
          <a:solidFill>
            <a:srgbClr val="8ABAD3"/>
          </a:solidFill>
          <a:ln w="4763">
            <a:solidFill>
              <a:srgbClr val="6795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normal_lumen"/>
          <p:cNvSpPr/>
          <p:nvPr/>
        </p:nvSpPr>
        <p:spPr>
          <a:xfrm>
            <a:off x="11544300" y="7534275"/>
            <a:ext cx="514350" cy="361950"/>
          </a:xfrm>
          <a:prstGeom prst="ellipse">
            <a:avLst/>
          </a:prstGeom>
          <a:solidFill>
            <a:srgbClr val="FFF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remodeled_adventitia"/>
          <p:cNvSpPr/>
          <p:nvPr/>
        </p:nvSpPr>
        <p:spPr>
          <a:xfrm>
            <a:off x="12639675" y="7419975"/>
            <a:ext cx="781050" cy="590550"/>
          </a:xfrm>
          <a:prstGeom prst="ellipse">
            <a:avLst/>
          </a:prstGeom>
          <a:solidFill>
            <a:srgbClr val="BEB0CA"/>
          </a:solidFill>
          <a:ln w="7620">
            <a:solidFill>
              <a:srgbClr val="9E8F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remodeled_media"/>
          <p:cNvSpPr/>
          <p:nvPr/>
        </p:nvSpPr>
        <p:spPr>
          <a:xfrm>
            <a:off x="12687300" y="7467600"/>
            <a:ext cx="685800" cy="495300"/>
          </a:xfrm>
          <a:prstGeom prst="ellipse">
            <a:avLst/>
          </a:prstGeom>
          <a:solidFill>
            <a:srgbClr val="DDA4A0"/>
          </a:solidFill>
          <a:ln w="6668">
            <a:solidFill>
              <a:srgbClr val="BD7E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remodeled_endothelium"/>
          <p:cNvSpPr/>
          <p:nvPr/>
        </p:nvSpPr>
        <p:spPr>
          <a:xfrm>
            <a:off x="12858750" y="7581900"/>
            <a:ext cx="342900" cy="266700"/>
          </a:xfrm>
          <a:prstGeom prst="ellipse">
            <a:avLst/>
          </a:prstGeom>
          <a:solidFill>
            <a:srgbClr val="8ABAD3"/>
          </a:solidFill>
          <a:ln w="4763">
            <a:solidFill>
              <a:srgbClr val="6795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remodeled_lumen"/>
          <p:cNvSpPr/>
          <p:nvPr/>
        </p:nvSpPr>
        <p:spPr>
          <a:xfrm>
            <a:off x="12887325" y="7610475"/>
            <a:ext cx="285750" cy="209550"/>
          </a:xfrm>
          <a:prstGeom prst="ellipse">
            <a:avLst/>
          </a:prstGeom>
          <a:solidFill>
            <a:srgbClr val="FFF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route_butyrate_direct_fork"/>
          <p:cNvSpPr/>
          <p:nvPr/>
        </p:nvSpPr>
        <p:spPr>
          <a:xfrm>
            <a:off x="8924925" y="7172325"/>
            <a:ext cx="104775" cy="781050"/>
          </a:xfrm>
          <a:custGeom>
            <a:avLst/>
            <a:gdLst/>
            <a:ahLst/>
            <a:cxnLst/>
            <a:rect l="0" t="0" r="r" b="b"/>
            <a:pathLst>
              <a:path w="104775" h="781050">
                <a:moveTo>
                  <a:pt x="0" y="0"/>
                </a:moveTo>
                <a:lnTo>
                  <a:pt x="104775" y="0"/>
                </a:lnTo>
                <a:lnTo>
                  <a:pt x="104775" y="78105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route_butyrate_endothelial_protection"/>
          <p:cNvSpPr/>
          <p:nvPr/>
        </p:nvSpPr>
        <p:spPr>
          <a:xfrm>
            <a:off x="9029700" y="7496175"/>
            <a:ext cx="180975" cy="95"/>
          </a:xfrm>
          <a:custGeom>
            <a:avLst/>
            <a:gdLst/>
            <a:ahLst/>
            <a:cxnLst/>
            <a:rect l="0" t="0" r="r" b="b"/>
            <a:pathLst>
              <a:path w="180975" h="9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route_butyrate_endothelial_protection_tip"/>
          <p:cNvSpPr/>
          <p:nvPr/>
        </p:nvSpPr>
        <p:spPr>
          <a:xfrm>
            <a:off x="9115425" y="74580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route_butyrate_pasmsc_inhibition"/>
          <p:cNvSpPr/>
          <p:nvPr/>
        </p:nvSpPr>
        <p:spPr>
          <a:xfrm>
            <a:off x="9029700" y="7953375"/>
            <a:ext cx="180975" cy="95"/>
          </a:xfrm>
          <a:custGeom>
            <a:avLst/>
            <a:gdLst/>
            <a:ahLst/>
            <a:cxnLst/>
            <a:rect l="0" t="0" r="r" b="b"/>
            <a:pathLst>
              <a:path w="180975" h="9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butyrate_pasmsc_inhibition_bar"/>
          <p:cNvSpPr/>
          <p:nvPr/>
        </p:nvSpPr>
        <p:spPr>
          <a:xfrm>
            <a:off x="9210675" y="7858125"/>
            <a:ext cx="95" cy="190500"/>
          </a:xfrm>
          <a:custGeom>
            <a:avLst/>
            <a:gdLst/>
            <a:ahLst/>
            <a:cxnLst/>
            <a:rect l="0" t="0" r="r" b="b"/>
            <a:pathLst>
              <a:path w="95" h="190500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legend_inhibition_line"/>
          <p:cNvSpPr/>
          <p:nvPr/>
        </p:nvSpPr>
        <p:spPr>
          <a:xfrm>
            <a:off x="12763500" y="8448675"/>
            <a:ext cx="400050" cy="95"/>
          </a:xfrm>
          <a:custGeom>
            <a:avLst/>
            <a:gdLst/>
            <a:ahLst/>
            <a:cxnLst/>
            <a:rect l="0" t="0" r="r" b="b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legend_inhibition_bar"/>
          <p:cNvSpPr/>
          <p:nvPr/>
        </p:nvSpPr>
        <p:spPr>
          <a:xfrm>
            <a:off x="13163550" y="8362950"/>
            <a:ext cx="95" cy="171450"/>
          </a:xfrm>
          <a:custGeom>
            <a:avLst/>
            <a:gdLst/>
            <a:ahLst/>
            <a:cxnLst/>
            <a:rect l="0" t="0" r="r" b="b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route_inflammation_common_trunk"/>
          <p:cNvSpPr/>
          <p:nvPr/>
        </p:nvSpPr>
        <p:spPr>
          <a:xfrm>
            <a:off x="7886700" y="2857500"/>
            <a:ext cx="228600" cy="95"/>
          </a:xfrm>
          <a:custGeom>
            <a:avLst/>
            <a:gdLst/>
            <a:ahLst/>
            <a:cxnLst/>
            <a:rect l="0" t="0" r="r" b="b"/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layer_dot_endothelium"/>
          <p:cNvSpPr/>
          <p:nvPr/>
        </p:nvSpPr>
        <p:spPr>
          <a:xfrm>
            <a:off x="9510713" y="2414588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layer_dot_media"/>
          <p:cNvSpPr/>
          <p:nvPr/>
        </p:nvSpPr>
        <p:spPr>
          <a:xfrm>
            <a:off x="9872663" y="3452813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layer_dot_adventitia"/>
          <p:cNvSpPr/>
          <p:nvPr/>
        </p:nvSpPr>
        <p:spPr>
          <a:xfrm>
            <a:off x="10653713" y="4995863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hmgb1_component_oval_1"/>
          <p:cNvSpPr/>
          <p:nvPr/>
        </p:nvSpPr>
        <p:spPr>
          <a:xfrm>
            <a:off x="1889379" y="1834935"/>
            <a:ext cx="236220" cy="251853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hmgb1_component_oval_2"/>
          <p:cNvSpPr/>
          <p:nvPr/>
        </p:nvSpPr>
        <p:spPr>
          <a:xfrm>
            <a:off x="1946072" y="1881528"/>
            <a:ext cx="61417" cy="4659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hmgb1_component_oval_3"/>
          <p:cNvSpPr/>
          <p:nvPr/>
        </p:nvSpPr>
        <p:spPr>
          <a:xfrm>
            <a:off x="2019300" y="1929380"/>
            <a:ext cx="236220" cy="251853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hmgb1_component_oval_4"/>
          <p:cNvSpPr/>
          <p:nvPr/>
        </p:nvSpPr>
        <p:spPr>
          <a:xfrm>
            <a:off x="2075993" y="1975973"/>
            <a:ext cx="61417" cy="4659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hmgb1_component_oval_5"/>
          <p:cNvSpPr/>
          <p:nvPr/>
        </p:nvSpPr>
        <p:spPr>
          <a:xfrm>
            <a:off x="2066544" y="2099381"/>
            <a:ext cx="212598" cy="226668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hmgb1_component_oval_6"/>
          <p:cNvSpPr/>
          <p:nvPr/>
        </p:nvSpPr>
        <p:spPr>
          <a:xfrm>
            <a:off x="2117568" y="2141315"/>
            <a:ext cx="55275" cy="41934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hmgb1_component_oval_7"/>
          <p:cNvSpPr/>
          <p:nvPr/>
        </p:nvSpPr>
        <p:spPr>
          <a:xfrm>
            <a:off x="1918906" y="2193826"/>
            <a:ext cx="224409" cy="239261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hmgb1_component_oval_8"/>
          <p:cNvSpPr/>
          <p:nvPr/>
        </p:nvSpPr>
        <p:spPr>
          <a:xfrm>
            <a:off x="1972765" y="2238089"/>
            <a:ext cx="58346" cy="4426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hmgb1_component_oval_9"/>
          <p:cNvSpPr/>
          <p:nvPr/>
        </p:nvSpPr>
        <p:spPr>
          <a:xfrm>
            <a:off x="1783080" y="2118270"/>
            <a:ext cx="212598" cy="226668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hmgb1_component_oval_10"/>
          <p:cNvSpPr/>
          <p:nvPr/>
        </p:nvSpPr>
        <p:spPr>
          <a:xfrm>
            <a:off x="1834104" y="2160204"/>
            <a:ext cx="55275" cy="41934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hmgb1_component_oval_11"/>
          <p:cNvSpPr/>
          <p:nvPr/>
        </p:nvSpPr>
        <p:spPr>
          <a:xfrm>
            <a:off x="1753552" y="1960862"/>
            <a:ext cx="224409" cy="239261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hmgb1_component_oval_12"/>
          <p:cNvSpPr/>
          <p:nvPr/>
        </p:nvSpPr>
        <p:spPr>
          <a:xfrm>
            <a:off x="1807411" y="2005125"/>
            <a:ext cx="58346" cy="4426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hmgb1_component_oval_13"/>
          <p:cNvSpPr/>
          <p:nvPr/>
        </p:nvSpPr>
        <p:spPr>
          <a:xfrm>
            <a:off x="1883474" y="1992344"/>
            <a:ext cx="259842" cy="277039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hmgb1_component_oval_14"/>
          <p:cNvSpPr/>
          <p:nvPr/>
        </p:nvSpPr>
        <p:spPr>
          <a:xfrm>
            <a:off x="1945836" y="2043596"/>
            <a:ext cx="67559" cy="51252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tlr4_component_path_1"/>
          <p:cNvSpPr/>
          <p:nvPr/>
        </p:nvSpPr>
        <p:spPr>
          <a:xfrm>
            <a:off x="307575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tlr4_component_path_2"/>
          <p:cNvSpPr/>
          <p:nvPr/>
        </p:nvSpPr>
        <p:spPr>
          <a:xfrm>
            <a:off x="310215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tlr4_component_oval_3"/>
          <p:cNvSpPr/>
          <p:nvPr/>
        </p:nvSpPr>
        <p:spPr>
          <a:xfrm>
            <a:off x="308141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tlr4_component_oval_4"/>
          <p:cNvSpPr/>
          <p:nvPr/>
        </p:nvSpPr>
        <p:spPr>
          <a:xfrm>
            <a:off x="308141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tlr4_component_path_5"/>
          <p:cNvSpPr/>
          <p:nvPr/>
        </p:nvSpPr>
        <p:spPr>
          <a:xfrm>
            <a:off x="314001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tlr4_component_path_6"/>
          <p:cNvSpPr/>
          <p:nvPr/>
        </p:nvSpPr>
        <p:spPr>
          <a:xfrm>
            <a:off x="316642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tlr4_component_oval_7"/>
          <p:cNvSpPr/>
          <p:nvPr/>
        </p:nvSpPr>
        <p:spPr>
          <a:xfrm>
            <a:off x="314567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tlr4_component_oval_8"/>
          <p:cNvSpPr/>
          <p:nvPr/>
        </p:nvSpPr>
        <p:spPr>
          <a:xfrm>
            <a:off x="314567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tlr4_component_path_9"/>
          <p:cNvSpPr/>
          <p:nvPr/>
        </p:nvSpPr>
        <p:spPr>
          <a:xfrm>
            <a:off x="320428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tlr4_component_path_10"/>
          <p:cNvSpPr/>
          <p:nvPr/>
        </p:nvSpPr>
        <p:spPr>
          <a:xfrm>
            <a:off x="323068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tlr4_component_oval_11"/>
          <p:cNvSpPr/>
          <p:nvPr/>
        </p:nvSpPr>
        <p:spPr>
          <a:xfrm>
            <a:off x="320993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tlr4_component_oval_12"/>
          <p:cNvSpPr/>
          <p:nvPr/>
        </p:nvSpPr>
        <p:spPr>
          <a:xfrm>
            <a:off x="320993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tlr4_component_path_13"/>
          <p:cNvSpPr/>
          <p:nvPr/>
        </p:nvSpPr>
        <p:spPr>
          <a:xfrm>
            <a:off x="326854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tlr4_component_path_14"/>
          <p:cNvSpPr/>
          <p:nvPr/>
        </p:nvSpPr>
        <p:spPr>
          <a:xfrm>
            <a:off x="329494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tlr4_component_oval_15"/>
          <p:cNvSpPr/>
          <p:nvPr/>
        </p:nvSpPr>
        <p:spPr>
          <a:xfrm>
            <a:off x="327420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tlr4_component_oval_16"/>
          <p:cNvSpPr/>
          <p:nvPr/>
        </p:nvSpPr>
        <p:spPr>
          <a:xfrm>
            <a:off x="327420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tlr4_component_path_17"/>
          <p:cNvSpPr/>
          <p:nvPr/>
        </p:nvSpPr>
        <p:spPr>
          <a:xfrm>
            <a:off x="333280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tlr4_component_path_18"/>
          <p:cNvSpPr/>
          <p:nvPr/>
        </p:nvSpPr>
        <p:spPr>
          <a:xfrm>
            <a:off x="335920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tlr4_component_oval_19"/>
          <p:cNvSpPr/>
          <p:nvPr/>
        </p:nvSpPr>
        <p:spPr>
          <a:xfrm>
            <a:off x="333846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tlr4_component_oval_20"/>
          <p:cNvSpPr/>
          <p:nvPr/>
        </p:nvSpPr>
        <p:spPr>
          <a:xfrm>
            <a:off x="333846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tlr4_component_path_21"/>
          <p:cNvSpPr/>
          <p:nvPr/>
        </p:nvSpPr>
        <p:spPr>
          <a:xfrm>
            <a:off x="339706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tlr4_component_path_22"/>
          <p:cNvSpPr/>
          <p:nvPr/>
        </p:nvSpPr>
        <p:spPr>
          <a:xfrm>
            <a:off x="342346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tlr4_component_oval_23"/>
          <p:cNvSpPr/>
          <p:nvPr/>
        </p:nvSpPr>
        <p:spPr>
          <a:xfrm>
            <a:off x="340272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tlr4_component_oval_24"/>
          <p:cNvSpPr/>
          <p:nvPr/>
        </p:nvSpPr>
        <p:spPr>
          <a:xfrm>
            <a:off x="340272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tlr4_component_path_25"/>
          <p:cNvSpPr/>
          <p:nvPr/>
        </p:nvSpPr>
        <p:spPr>
          <a:xfrm>
            <a:off x="346132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tlr4_component_path_26"/>
          <p:cNvSpPr/>
          <p:nvPr/>
        </p:nvSpPr>
        <p:spPr>
          <a:xfrm>
            <a:off x="348773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tlr4_component_oval_27"/>
          <p:cNvSpPr/>
          <p:nvPr/>
        </p:nvSpPr>
        <p:spPr>
          <a:xfrm>
            <a:off x="346698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tlr4_component_oval_28"/>
          <p:cNvSpPr/>
          <p:nvPr/>
        </p:nvSpPr>
        <p:spPr>
          <a:xfrm>
            <a:off x="346698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tlr4_component_path_29"/>
          <p:cNvSpPr/>
          <p:nvPr/>
        </p:nvSpPr>
        <p:spPr>
          <a:xfrm>
            <a:off x="352559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tlr4_component_path_30"/>
          <p:cNvSpPr/>
          <p:nvPr/>
        </p:nvSpPr>
        <p:spPr>
          <a:xfrm>
            <a:off x="355199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tlr4_component_oval_31"/>
          <p:cNvSpPr/>
          <p:nvPr/>
        </p:nvSpPr>
        <p:spPr>
          <a:xfrm>
            <a:off x="353124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tlr4_component_oval_32"/>
          <p:cNvSpPr/>
          <p:nvPr/>
        </p:nvSpPr>
        <p:spPr>
          <a:xfrm>
            <a:off x="353124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tlr4_component_path_33"/>
          <p:cNvSpPr/>
          <p:nvPr/>
        </p:nvSpPr>
        <p:spPr>
          <a:xfrm>
            <a:off x="358985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tlr4_component_path_34"/>
          <p:cNvSpPr/>
          <p:nvPr/>
        </p:nvSpPr>
        <p:spPr>
          <a:xfrm>
            <a:off x="361625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tlr4_component_oval_35"/>
          <p:cNvSpPr/>
          <p:nvPr/>
        </p:nvSpPr>
        <p:spPr>
          <a:xfrm>
            <a:off x="359551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tlr4_component_oval_36"/>
          <p:cNvSpPr/>
          <p:nvPr/>
        </p:nvSpPr>
        <p:spPr>
          <a:xfrm>
            <a:off x="359551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tlr4_component_path_37"/>
          <p:cNvSpPr/>
          <p:nvPr/>
        </p:nvSpPr>
        <p:spPr>
          <a:xfrm>
            <a:off x="365411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tlr4_component_path_38"/>
          <p:cNvSpPr/>
          <p:nvPr/>
        </p:nvSpPr>
        <p:spPr>
          <a:xfrm>
            <a:off x="368051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tlr4_component_oval_39"/>
          <p:cNvSpPr/>
          <p:nvPr/>
        </p:nvSpPr>
        <p:spPr>
          <a:xfrm>
            <a:off x="365977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tlr4_component_oval_40"/>
          <p:cNvSpPr/>
          <p:nvPr/>
        </p:nvSpPr>
        <p:spPr>
          <a:xfrm>
            <a:off x="365977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tlr4_component_path_41"/>
          <p:cNvSpPr/>
          <p:nvPr/>
        </p:nvSpPr>
        <p:spPr>
          <a:xfrm>
            <a:off x="371837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tlr4_component_path_42"/>
          <p:cNvSpPr/>
          <p:nvPr/>
        </p:nvSpPr>
        <p:spPr>
          <a:xfrm>
            <a:off x="374477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tlr4_component_oval_43"/>
          <p:cNvSpPr/>
          <p:nvPr/>
        </p:nvSpPr>
        <p:spPr>
          <a:xfrm>
            <a:off x="372403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tlr4_component_oval_44"/>
          <p:cNvSpPr/>
          <p:nvPr/>
        </p:nvSpPr>
        <p:spPr>
          <a:xfrm>
            <a:off x="372403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tlr4_component_path_45"/>
          <p:cNvSpPr/>
          <p:nvPr/>
        </p:nvSpPr>
        <p:spPr>
          <a:xfrm>
            <a:off x="378263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tlr4_component_path_46"/>
          <p:cNvSpPr/>
          <p:nvPr/>
        </p:nvSpPr>
        <p:spPr>
          <a:xfrm>
            <a:off x="380904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tlr4_component_oval_47"/>
          <p:cNvSpPr/>
          <p:nvPr/>
        </p:nvSpPr>
        <p:spPr>
          <a:xfrm>
            <a:off x="378829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tlr4_component_oval_48"/>
          <p:cNvSpPr/>
          <p:nvPr/>
        </p:nvSpPr>
        <p:spPr>
          <a:xfrm>
            <a:off x="378829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tlr4_component_path_49"/>
          <p:cNvSpPr/>
          <p:nvPr/>
        </p:nvSpPr>
        <p:spPr>
          <a:xfrm>
            <a:off x="384690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tlr4_component_path_50"/>
          <p:cNvSpPr/>
          <p:nvPr/>
        </p:nvSpPr>
        <p:spPr>
          <a:xfrm>
            <a:off x="387330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tlr4_component_oval_51"/>
          <p:cNvSpPr/>
          <p:nvPr/>
        </p:nvSpPr>
        <p:spPr>
          <a:xfrm>
            <a:off x="385255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tlr4_component_oval_52"/>
          <p:cNvSpPr/>
          <p:nvPr/>
        </p:nvSpPr>
        <p:spPr>
          <a:xfrm>
            <a:off x="385255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tlr4_component_path_53"/>
          <p:cNvSpPr/>
          <p:nvPr/>
        </p:nvSpPr>
        <p:spPr>
          <a:xfrm>
            <a:off x="391116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tlr4_component_path_54"/>
          <p:cNvSpPr/>
          <p:nvPr/>
        </p:nvSpPr>
        <p:spPr>
          <a:xfrm>
            <a:off x="393756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tlr4_component_oval_55"/>
          <p:cNvSpPr/>
          <p:nvPr/>
        </p:nvSpPr>
        <p:spPr>
          <a:xfrm>
            <a:off x="391682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tlr4_component_oval_56"/>
          <p:cNvSpPr/>
          <p:nvPr/>
        </p:nvSpPr>
        <p:spPr>
          <a:xfrm>
            <a:off x="391682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tlr4_component_path_57"/>
          <p:cNvSpPr/>
          <p:nvPr/>
        </p:nvSpPr>
        <p:spPr>
          <a:xfrm>
            <a:off x="397542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tlr4_component_path_58"/>
          <p:cNvSpPr/>
          <p:nvPr/>
        </p:nvSpPr>
        <p:spPr>
          <a:xfrm>
            <a:off x="400182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tlr4_component_oval_59"/>
          <p:cNvSpPr/>
          <p:nvPr/>
        </p:nvSpPr>
        <p:spPr>
          <a:xfrm>
            <a:off x="398108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tlr4_component_oval_60"/>
          <p:cNvSpPr/>
          <p:nvPr/>
        </p:nvSpPr>
        <p:spPr>
          <a:xfrm>
            <a:off x="398108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tlr4_component_path_61"/>
          <p:cNvSpPr/>
          <p:nvPr/>
        </p:nvSpPr>
        <p:spPr>
          <a:xfrm>
            <a:off x="403968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tlr4_component_path_62"/>
          <p:cNvSpPr/>
          <p:nvPr/>
        </p:nvSpPr>
        <p:spPr>
          <a:xfrm>
            <a:off x="406608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tlr4_component_oval_63"/>
          <p:cNvSpPr/>
          <p:nvPr/>
        </p:nvSpPr>
        <p:spPr>
          <a:xfrm>
            <a:off x="404534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tlr4_component_oval_64"/>
          <p:cNvSpPr/>
          <p:nvPr/>
        </p:nvSpPr>
        <p:spPr>
          <a:xfrm>
            <a:off x="404534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tlr4_component_path_65"/>
          <p:cNvSpPr/>
          <p:nvPr/>
        </p:nvSpPr>
        <p:spPr>
          <a:xfrm>
            <a:off x="410394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tlr4_component_path_66"/>
          <p:cNvSpPr/>
          <p:nvPr/>
        </p:nvSpPr>
        <p:spPr>
          <a:xfrm>
            <a:off x="413035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tlr4_component_oval_67"/>
          <p:cNvSpPr/>
          <p:nvPr/>
        </p:nvSpPr>
        <p:spPr>
          <a:xfrm>
            <a:off x="410960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tlr4_component_oval_68"/>
          <p:cNvSpPr/>
          <p:nvPr/>
        </p:nvSpPr>
        <p:spPr>
          <a:xfrm>
            <a:off x="410960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tlr4_component_path_69"/>
          <p:cNvSpPr/>
          <p:nvPr/>
        </p:nvSpPr>
        <p:spPr>
          <a:xfrm>
            <a:off x="416821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tlr4_component_path_70"/>
          <p:cNvSpPr/>
          <p:nvPr/>
        </p:nvSpPr>
        <p:spPr>
          <a:xfrm>
            <a:off x="419461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tlr4_component_oval_71"/>
          <p:cNvSpPr/>
          <p:nvPr/>
        </p:nvSpPr>
        <p:spPr>
          <a:xfrm>
            <a:off x="417386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tlr4_component_oval_72"/>
          <p:cNvSpPr/>
          <p:nvPr/>
        </p:nvSpPr>
        <p:spPr>
          <a:xfrm>
            <a:off x="417386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tlr4_component_path_73"/>
          <p:cNvSpPr/>
          <p:nvPr/>
        </p:nvSpPr>
        <p:spPr>
          <a:xfrm>
            <a:off x="423247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tlr4_component_path_74"/>
          <p:cNvSpPr/>
          <p:nvPr/>
        </p:nvSpPr>
        <p:spPr>
          <a:xfrm>
            <a:off x="425887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tlr4_component_oval_75"/>
          <p:cNvSpPr/>
          <p:nvPr/>
        </p:nvSpPr>
        <p:spPr>
          <a:xfrm>
            <a:off x="423813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tlr4_component_oval_76"/>
          <p:cNvSpPr/>
          <p:nvPr/>
        </p:nvSpPr>
        <p:spPr>
          <a:xfrm>
            <a:off x="423813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tlr4_component_path_77"/>
          <p:cNvSpPr/>
          <p:nvPr/>
        </p:nvSpPr>
        <p:spPr>
          <a:xfrm>
            <a:off x="3183255" y="630791"/>
            <a:ext cx="440055" cy="921620"/>
          </a:xfrm>
          <a:custGeom>
            <a:avLst/>
            <a:gdLst/>
            <a:ahLst/>
            <a:cxnLst/>
            <a:rect l="0" t="0" r="r" b="b"/>
            <a:pathLst>
              <a:path w="440055" h="921620">
                <a:moveTo>
                  <a:pt x="440055" y="909953"/>
                </a:moveTo>
                <a:lnTo>
                  <a:pt x="440055" y="373314"/>
                </a:lnTo>
                <a:cubicBezTo>
                  <a:pt x="440055" y="233321"/>
                  <a:pt x="440055" y="81662"/>
                  <a:pt x="289179" y="46664"/>
                </a:cubicBezTo>
                <a:cubicBezTo>
                  <a:pt x="138303" y="0"/>
                  <a:pt x="37719" y="104995"/>
                  <a:pt x="62865" y="209989"/>
                </a:cubicBezTo>
                <a:cubicBezTo>
                  <a:pt x="62865" y="326650"/>
                  <a:pt x="176022" y="349982"/>
                  <a:pt x="251460" y="303318"/>
                </a:cubicBezTo>
                <a:lnTo>
                  <a:pt x="251460" y="443311"/>
                </a:lnTo>
                <a:cubicBezTo>
                  <a:pt x="125730" y="396646"/>
                  <a:pt x="0" y="478309"/>
                  <a:pt x="12573" y="571637"/>
                </a:cubicBezTo>
                <a:cubicBezTo>
                  <a:pt x="12573" y="699964"/>
                  <a:pt x="138303" y="723296"/>
                  <a:pt x="188595" y="606636"/>
                </a:cubicBezTo>
                <a:cubicBezTo>
                  <a:pt x="226314" y="536639"/>
                  <a:pt x="276606" y="536639"/>
                  <a:pt x="301752" y="571637"/>
                </a:cubicBezTo>
                <a:lnTo>
                  <a:pt x="301752" y="921620"/>
                </a:lnTo>
                <a:close/>
              </a:path>
            </a:pathLst>
          </a:custGeom>
          <a:gradFill rotWithShape="1">
            <a:gsLst>
              <a:gs pos="0">
                <a:srgbClr val="D4E9FA"/>
              </a:gs>
              <a:gs pos="33000">
                <a:srgbClr val="9CCBF0"/>
              </a:gs>
              <a:gs pos="70000">
                <a:srgbClr val="6FA7D6"/>
              </a:gs>
              <a:gs pos="100000">
                <a:srgbClr val="4D8EBF"/>
              </a:gs>
            </a:gsLst>
            <a:lin ang="2700000" scaled="1"/>
          </a:gradFill>
          <a:ln w="18859" cap="rnd">
            <a:solidFill>
              <a:srgbClr val="2F6EA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tlr4_component_path_78"/>
          <p:cNvSpPr/>
          <p:nvPr/>
        </p:nvSpPr>
        <p:spPr>
          <a:xfrm>
            <a:off x="3321558" y="700787"/>
            <a:ext cx="238887" cy="174991"/>
          </a:xfrm>
          <a:custGeom>
            <a:avLst/>
            <a:gdLst/>
            <a:ahLst/>
            <a:cxnLst/>
            <a:rect l="0" t="0" r="r" b="b"/>
            <a:pathLst>
              <a:path w="238887" h="174991">
                <a:moveTo>
                  <a:pt x="238887" y="174991"/>
                </a:moveTo>
                <a:cubicBezTo>
                  <a:pt x="238887" y="46664"/>
                  <a:pt x="62865" y="0"/>
                  <a:pt x="0" y="81662"/>
                </a:cubicBezTo>
              </a:path>
            </a:pathLst>
          </a:custGeom>
          <a:noFill/>
          <a:ln w="22002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tlr4_component_path_79"/>
          <p:cNvSpPr/>
          <p:nvPr/>
        </p:nvSpPr>
        <p:spPr>
          <a:xfrm>
            <a:off x="3573018" y="1027437"/>
            <a:ext cx="95" cy="431645"/>
          </a:xfrm>
          <a:custGeom>
            <a:avLst/>
            <a:gdLst/>
            <a:ahLst/>
            <a:cxnLst/>
            <a:rect l="0" t="0" r="r" b="b"/>
            <a:pathLst>
              <a:path w="95" h="431645">
                <a:moveTo>
                  <a:pt x="0" y="0"/>
                </a:moveTo>
                <a:lnTo>
                  <a:pt x="0" y="431645"/>
                </a:lnTo>
              </a:path>
            </a:pathLst>
          </a:custGeom>
          <a:noFill/>
          <a:ln w="15716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tlr4_component_oval_80"/>
          <p:cNvSpPr/>
          <p:nvPr/>
        </p:nvSpPr>
        <p:spPr>
          <a:xfrm>
            <a:off x="3550387" y="1482414"/>
            <a:ext cx="120701" cy="272986"/>
          </a:xfrm>
          <a:prstGeom prst="ellipse">
            <a:avLst/>
          </a:prstGeom>
          <a:gradFill rotWithShape="1">
            <a:gsLst>
              <a:gs pos="0">
                <a:srgbClr val="B7DEF5"/>
              </a:gs>
              <a:gs pos="45000">
                <a:srgbClr val="6BAAD5"/>
              </a:gs>
              <a:gs pos="100000">
                <a:srgbClr val="407FAF"/>
              </a:gs>
            </a:gsLst>
            <a:lin ang="1500000" scaled="1"/>
          </a:gradFill>
          <a:ln w="16502">
            <a:solidFill>
              <a:srgbClr val="2763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tlr4_component_path_81"/>
          <p:cNvSpPr/>
          <p:nvPr/>
        </p:nvSpPr>
        <p:spPr>
          <a:xfrm>
            <a:off x="3579304" y="1540745"/>
            <a:ext cx="95" cy="128327"/>
          </a:xfrm>
          <a:custGeom>
            <a:avLst/>
            <a:gdLst/>
            <a:ahLst/>
            <a:cxnLst/>
            <a:rect l="0" t="0" r="r" b="b"/>
            <a:pathLst>
              <a:path w="95" h="128327">
                <a:moveTo>
                  <a:pt x="0" y="0"/>
                </a:moveTo>
                <a:lnTo>
                  <a:pt x="0" y="128327"/>
                </a:lnTo>
              </a:path>
            </a:pathLst>
          </a:custGeom>
          <a:noFill/>
          <a:ln w="14144" cap="rnd">
            <a:solidFill>
              <a:srgbClr val="C1E2F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tlr4_component_path_82"/>
          <p:cNvSpPr/>
          <p:nvPr/>
        </p:nvSpPr>
        <p:spPr>
          <a:xfrm>
            <a:off x="3749040" y="630791"/>
            <a:ext cx="440055" cy="921620"/>
          </a:xfrm>
          <a:custGeom>
            <a:avLst/>
            <a:gdLst/>
            <a:ahLst/>
            <a:cxnLst/>
            <a:rect l="0" t="0" r="r" b="b"/>
            <a:pathLst>
              <a:path w="440055" h="921620">
                <a:moveTo>
                  <a:pt x="0" y="909953"/>
                </a:moveTo>
                <a:lnTo>
                  <a:pt x="0" y="373314"/>
                </a:lnTo>
                <a:cubicBezTo>
                  <a:pt x="0" y="233321"/>
                  <a:pt x="0" y="81662"/>
                  <a:pt x="150876" y="46664"/>
                </a:cubicBezTo>
                <a:cubicBezTo>
                  <a:pt x="301752" y="0"/>
                  <a:pt x="402336" y="104995"/>
                  <a:pt x="377190" y="209989"/>
                </a:cubicBezTo>
                <a:cubicBezTo>
                  <a:pt x="377190" y="326650"/>
                  <a:pt x="264033" y="349982"/>
                  <a:pt x="188595" y="303318"/>
                </a:cubicBezTo>
                <a:lnTo>
                  <a:pt x="188595" y="443311"/>
                </a:lnTo>
                <a:cubicBezTo>
                  <a:pt x="314325" y="396646"/>
                  <a:pt x="440055" y="478309"/>
                  <a:pt x="427482" y="571637"/>
                </a:cubicBezTo>
                <a:cubicBezTo>
                  <a:pt x="427482" y="699964"/>
                  <a:pt x="301752" y="723296"/>
                  <a:pt x="251460" y="606636"/>
                </a:cubicBezTo>
                <a:cubicBezTo>
                  <a:pt x="213741" y="536639"/>
                  <a:pt x="163449" y="536639"/>
                  <a:pt x="138303" y="571637"/>
                </a:cubicBezTo>
                <a:lnTo>
                  <a:pt x="138303" y="921620"/>
                </a:lnTo>
                <a:close/>
              </a:path>
            </a:pathLst>
          </a:custGeom>
          <a:gradFill rotWithShape="1">
            <a:gsLst>
              <a:gs pos="0">
                <a:srgbClr val="D4E9FA"/>
              </a:gs>
              <a:gs pos="33000">
                <a:srgbClr val="9CCBF0"/>
              </a:gs>
              <a:gs pos="70000">
                <a:srgbClr val="6FA7D6"/>
              </a:gs>
              <a:gs pos="100000">
                <a:srgbClr val="4D8EBF"/>
              </a:gs>
            </a:gsLst>
            <a:lin ang="8100000" scaled="1"/>
          </a:gradFill>
          <a:ln w="18859" cap="rnd">
            <a:solidFill>
              <a:srgbClr val="2F6EA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tlr4_component_path_83"/>
          <p:cNvSpPr/>
          <p:nvPr/>
        </p:nvSpPr>
        <p:spPr>
          <a:xfrm>
            <a:off x="3811905" y="700787"/>
            <a:ext cx="238887" cy="174991"/>
          </a:xfrm>
          <a:custGeom>
            <a:avLst/>
            <a:gdLst/>
            <a:ahLst/>
            <a:cxnLst/>
            <a:rect l="0" t="0" r="r" b="b"/>
            <a:pathLst>
              <a:path w="238887" h="174991">
                <a:moveTo>
                  <a:pt x="0" y="174991"/>
                </a:moveTo>
                <a:cubicBezTo>
                  <a:pt x="0" y="46664"/>
                  <a:pt x="176022" y="0"/>
                  <a:pt x="238887" y="81662"/>
                </a:cubicBezTo>
              </a:path>
            </a:pathLst>
          </a:custGeom>
          <a:noFill/>
          <a:ln w="22002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tlr4_component_path_84"/>
          <p:cNvSpPr/>
          <p:nvPr/>
        </p:nvSpPr>
        <p:spPr>
          <a:xfrm>
            <a:off x="3799332" y="1027437"/>
            <a:ext cx="95" cy="431645"/>
          </a:xfrm>
          <a:custGeom>
            <a:avLst/>
            <a:gdLst/>
            <a:ahLst/>
            <a:cxnLst/>
            <a:rect l="0" t="0" r="r" b="b"/>
            <a:pathLst>
              <a:path w="95" h="431645">
                <a:moveTo>
                  <a:pt x="0" y="0"/>
                </a:moveTo>
                <a:lnTo>
                  <a:pt x="0" y="431645"/>
                </a:lnTo>
              </a:path>
            </a:pathLst>
          </a:custGeom>
          <a:noFill/>
          <a:ln w="15716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tlr4_component_oval_85"/>
          <p:cNvSpPr/>
          <p:nvPr/>
        </p:nvSpPr>
        <p:spPr>
          <a:xfrm>
            <a:off x="3688690" y="1482414"/>
            <a:ext cx="120701" cy="272986"/>
          </a:xfrm>
          <a:prstGeom prst="ellipse">
            <a:avLst/>
          </a:prstGeom>
          <a:gradFill rotWithShape="1">
            <a:gsLst>
              <a:gs pos="0">
                <a:srgbClr val="B7DEF5"/>
              </a:gs>
              <a:gs pos="45000">
                <a:srgbClr val="6BAAD5"/>
              </a:gs>
              <a:gs pos="100000">
                <a:srgbClr val="407FAF"/>
              </a:gs>
            </a:gsLst>
            <a:lin ang="1500000" scaled="1"/>
          </a:gradFill>
          <a:ln w="16502">
            <a:solidFill>
              <a:srgbClr val="2763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tlr4_component_path_86"/>
          <p:cNvSpPr/>
          <p:nvPr/>
        </p:nvSpPr>
        <p:spPr>
          <a:xfrm>
            <a:off x="3717608" y="1540745"/>
            <a:ext cx="95" cy="128327"/>
          </a:xfrm>
          <a:custGeom>
            <a:avLst/>
            <a:gdLst/>
            <a:ahLst/>
            <a:cxnLst/>
            <a:rect l="0" t="0" r="r" b="b"/>
            <a:pathLst>
              <a:path w="95" h="128327">
                <a:moveTo>
                  <a:pt x="0" y="0"/>
                </a:moveTo>
                <a:lnTo>
                  <a:pt x="0" y="128327"/>
                </a:lnTo>
              </a:path>
            </a:pathLst>
          </a:custGeom>
          <a:noFill/>
          <a:ln w="14144" cap="rnd">
            <a:solidFill>
              <a:srgbClr val="C1E2F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tmao_macrophage_component_path_1"/>
          <p:cNvSpPr/>
          <p:nvPr/>
        </p:nvSpPr>
        <p:spPr>
          <a:xfrm>
            <a:off x="2672011" y="3755232"/>
            <a:ext cx="757291" cy="762080"/>
          </a:xfrm>
          <a:custGeom>
            <a:avLst/>
            <a:gdLst/>
            <a:ahLst/>
            <a:cxnLst/>
            <a:rect l="0" t="0" r="r" b="b"/>
            <a:pathLst>
              <a:path w="757291" h="762080">
                <a:moveTo>
                  <a:pt x="756643" y="384958"/>
                </a:moveTo>
                <a:cubicBezTo>
                  <a:pt x="755994" y="392235"/>
                  <a:pt x="752112" y="399783"/>
                  <a:pt x="747382" y="406676"/>
                </a:cubicBezTo>
                <a:cubicBezTo>
                  <a:pt x="742653" y="413569"/>
                  <a:pt x="734809" y="420129"/>
                  <a:pt x="728264" y="426317"/>
                </a:cubicBezTo>
                <a:cubicBezTo>
                  <a:pt x="721718" y="432505"/>
                  <a:pt x="713625" y="438029"/>
                  <a:pt x="708109" y="443805"/>
                </a:cubicBezTo>
                <a:cubicBezTo>
                  <a:pt x="702594" y="449581"/>
                  <a:pt x="697699" y="454900"/>
                  <a:pt x="695169" y="460973"/>
                </a:cubicBezTo>
                <a:cubicBezTo>
                  <a:pt x="692638" y="467046"/>
                  <a:pt x="692363" y="473286"/>
                  <a:pt x="692926" y="480242"/>
                </a:cubicBezTo>
                <a:cubicBezTo>
                  <a:pt x="693489" y="487198"/>
                  <a:pt x="696581" y="494921"/>
                  <a:pt x="698547" y="502710"/>
                </a:cubicBezTo>
                <a:cubicBezTo>
                  <a:pt x="700513" y="510499"/>
                  <a:pt x="703846" y="519159"/>
                  <a:pt x="704722" y="526977"/>
                </a:cubicBezTo>
                <a:cubicBezTo>
                  <a:pt x="705598" y="534795"/>
                  <a:pt x="705934" y="542916"/>
                  <a:pt x="703802" y="549617"/>
                </a:cubicBezTo>
                <a:cubicBezTo>
                  <a:pt x="701669" y="556318"/>
                  <a:pt x="697404" y="562356"/>
                  <a:pt x="691929" y="567183"/>
                </a:cubicBezTo>
                <a:cubicBezTo>
                  <a:pt x="686455" y="572010"/>
                  <a:pt x="678411" y="575400"/>
                  <a:pt x="670954" y="578580"/>
                </a:cubicBezTo>
                <a:cubicBezTo>
                  <a:pt x="663497" y="581760"/>
                  <a:pt x="654378" y="583472"/>
                  <a:pt x="647188" y="586263"/>
                </a:cubicBezTo>
                <a:cubicBezTo>
                  <a:pt x="639997" y="589054"/>
                  <a:pt x="632844" y="591243"/>
                  <a:pt x="627813" y="595326"/>
                </a:cubicBezTo>
                <a:cubicBezTo>
                  <a:pt x="622782" y="599410"/>
                  <a:pt x="619329" y="604255"/>
                  <a:pt x="617001" y="610766"/>
                </a:cubicBezTo>
                <a:cubicBezTo>
                  <a:pt x="614674" y="617277"/>
                  <a:pt x="614493" y="625647"/>
                  <a:pt x="613845" y="634392"/>
                </a:cubicBezTo>
                <a:cubicBezTo>
                  <a:pt x="613198" y="643137"/>
                  <a:pt x="614044" y="653875"/>
                  <a:pt x="613114" y="663234"/>
                </a:cubicBezTo>
                <a:cubicBezTo>
                  <a:pt x="612184" y="672592"/>
                  <a:pt x="611296" y="682900"/>
                  <a:pt x="608265" y="690544"/>
                </a:cubicBezTo>
                <a:cubicBezTo>
                  <a:pt x="605234" y="698187"/>
                  <a:pt x="600811" y="705008"/>
                  <a:pt x="594929" y="709093"/>
                </a:cubicBezTo>
                <a:cubicBezTo>
                  <a:pt x="589046" y="713177"/>
                  <a:pt x="581105" y="714850"/>
                  <a:pt x="572969" y="715049"/>
                </a:cubicBezTo>
                <a:cubicBezTo>
                  <a:pt x="564834" y="715247"/>
                  <a:pt x="555011" y="712508"/>
                  <a:pt x="546116" y="710285"/>
                </a:cubicBezTo>
                <a:cubicBezTo>
                  <a:pt x="537221" y="708063"/>
                  <a:pt x="527739" y="703789"/>
                  <a:pt x="519600" y="701712"/>
                </a:cubicBezTo>
                <a:cubicBezTo>
                  <a:pt x="511461" y="699636"/>
                  <a:pt x="503897" y="697402"/>
                  <a:pt x="497281" y="697829"/>
                </a:cubicBezTo>
                <a:cubicBezTo>
                  <a:pt x="490666" y="698255"/>
                  <a:pt x="485232" y="700447"/>
                  <a:pt x="479906" y="704272"/>
                </a:cubicBezTo>
                <a:cubicBezTo>
                  <a:pt x="474581" y="708096"/>
                  <a:pt x="470260" y="714611"/>
                  <a:pt x="465330" y="720774"/>
                </a:cubicBezTo>
                <a:cubicBezTo>
                  <a:pt x="460400" y="726937"/>
                  <a:pt x="455761" y="735206"/>
                  <a:pt x="450326" y="741249"/>
                </a:cubicBezTo>
                <a:cubicBezTo>
                  <a:pt x="444890" y="747293"/>
                  <a:pt x="439022" y="753646"/>
                  <a:pt x="432718" y="757035"/>
                </a:cubicBezTo>
                <a:cubicBezTo>
                  <a:pt x="426414" y="760424"/>
                  <a:pt x="419391" y="762080"/>
                  <a:pt x="412503" y="761582"/>
                </a:cubicBezTo>
                <a:cubicBezTo>
                  <a:pt x="405614" y="761083"/>
                  <a:pt x="398267" y="757677"/>
                  <a:pt x="391388" y="754044"/>
                </a:cubicBezTo>
                <a:cubicBezTo>
                  <a:pt x="384508" y="750411"/>
                  <a:pt x="377705" y="744212"/>
                  <a:pt x="371227" y="739784"/>
                </a:cubicBezTo>
                <a:cubicBezTo>
                  <a:pt x="364748" y="735357"/>
                  <a:pt x="358716" y="730046"/>
                  <a:pt x="352517" y="727479"/>
                </a:cubicBezTo>
                <a:cubicBezTo>
                  <a:pt x="346317" y="724913"/>
                  <a:pt x="340477" y="723578"/>
                  <a:pt x="334027" y="724386"/>
                </a:cubicBezTo>
                <a:cubicBezTo>
                  <a:pt x="327578" y="725193"/>
                  <a:pt x="321000" y="728625"/>
                  <a:pt x="313819" y="732326"/>
                </a:cubicBezTo>
                <a:cubicBezTo>
                  <a:pt x="306638" y="736027"/>
                  <a:pt x="298812" y="742254"/>
                  <a:pt x="290941" y="746592"/>
                </a:cubicBezTo>
                <a:cubicBezTo>
                  <a:pt x="283070" y="750929"/>
                  <a:pt x="274445" y="756239"/>
                  <a:pt x="266593" y="758351"/>
                </a:cubicBezTo>
                <a:cubicBezTo>
                  <a:pt x="258741" y="760463"/>
                  <a:pt x="250622" y="761355"/>
                  <a:pt x="243830" y="759264"/>
                </a:cubicBezTo>
                <a:cubicBezTo>
                  <a:pt x="237038" y="757174"/>
                  <a:pt x="230845" y="752181"/>
                  <a:pt x="225842" y="745807"/>
                </a:cubicBezTo>
                <a:cubicBezTo>
                  <a:pt x="220839" y="739433"/>
                  <a:pt x="217161" y="729853"/>
                  <a:pt x="213810" y="721019"/>
                </a:cubicBezTo>
                <a:cubicBezTo>
                  <a:pt x="210459" y="712185"/>
                  <a:pt x="208512" y="701343"/>
                  <a:pt x="205736" y="692803"/>
                </a:cubicBezTo>
                <a:cubicBezTo>
                  <a:pt x="202959" y="684263"/>
                  <a:pt x="200858" y="675751"/>
                  <a:pt x="197151" y="669779"/>
                </a:cubicBezTo>
                <a:cubicBezTo>
                  <a:pt x="193444" y="663808"/>
                  <a:pt x="189212" y="659671"/>
                  <a:pt x="183495" y="656973"/>
                </a:cubicBezTo>
                <a:cubicBezTo>
                  <a:pt x="177778" y="654275"/>
                  <a:pt x="170533" y="654096"/>
                  <a:pt x="162851" y="653592"/>
                </a:cubicBezTo>
                <a:cubicBezTo>
                  <a:pt x="155170" y="653089"/>
                  <a:pt x="145782" y="654410"/>
                  <a:pt x="137406" y="653953"/>
                </a:cubicBezTo>
                <a:cubicBezTo>
                  <a:pt x="129031" y="653496"/>
                  <a:pt x="119789" y="653273"/>
                  <a:pt x="112598" y="650851"/>
                </a:cubicBezTo>
                <a:cubicBezTo>
                  <a:pt x="105407" y="648430"/>
                  <a:pt x="98813" y="644665"/>
                  <a:pt x="94260" y="639424"/>
                </a:cubicBezTo>
                <a:cubicBezTo>
                  <a:pt x="89706" y="634182"/>
                  <a:pt x="87036" y="626856"/>
                  <a:pt x="85277" y="619401"/>
                </a:cubicBezTo>
                <a:cubicBezTo>
                  <a:pt x="83517" y="611947"/>
                  <a:pt x="83991" y="602798"/>
                  <a:pt x="83703" y="594697"/>
                </a:cubicBezTo>
                <a:cubicBezTo>
                  <a:pt x="83415" y="586597"/>
                  <a:pt x="84503" y="577981"/>
                  <a:pt x="83548" y="570796"/>
                </a:cubicBezTo>
                <a:cubicBezTo>
                  <a:pt x="82593" y="563611"/>
                  <a:pt x="81361" y="557144"/>
                  <a:pt x="77972" y="551587"/>
                </a:cubicBezTo>
                <a:cubicBezTo>
                  <a:pt x="74583" y="546030"/>
                  <a:pt x="69369" y="541793"/>
                  <a:pt x="63213" y="537456"/>
                </a:cubicBezTo>
                <a:cubicBezTo>
                  <a:pt x="57058" y="533120"/>
                  <a:pt x="48537" y="529819"/>
                  <a:pt x="41042" y="525567"/>
                </a:cubicBezTo>
                <a:cubicBezTo>
                  <a:pt x="33546" y="521315"/>
                  <a:pt x="24540" y="517213"/>
                  <a:pt x="18239" y="511944"/>
                </a:cubicBezTo>
                <a:cubicBezTo>
                  <a:pt x="11937" y="506675"/>
                  <a:pt x="6004" y="500662"/>
                  <a:pt x="3235" y="493953"/>
                </a:cubicBezTo>
                <a:cubicBezTo>
                  <a:pt x="466" y="487243"/>
                  <a:pt x="0" y="479423"/>
                  <a:pt x="1624" y="471687"/>
                </a:cubicBezTo>
                <a:cubicBezTo>
                  <a:pt x="3249" y="463951"/>
                  <a:pt x="8121" y="455419"/>
                  <a:pt x="12982" y="447536"/>
                </a:cubicBezTo>
                <a:cubicBezTo>
                  <a:pt x="17843" y="439654"/>
                  <a:pt x="25352" y="431690"/>
                  <a:pt x="30791" y="424394"/>
                </a:cubicBezTo>
                <a:cubicBezTo>
                  <a:pt x="36229" y="417097"/>
                  <a:pt x="42431" y="410331"/>
                  <a:pt x="45611" y="403758"/>
                </a:cubicBezTo>
                <a:cubicBezTo>
                  <a:pt x="48791" y="397186"/>
                  <a:pt x="50517" y="391263"/>
                  <a:pt x="49869" y="384958"/>
                </a:cubicBezTo>
                <a:cubicBezTo>
                  <a:pt x="49220" y="378654"/>
                  <a:pt x="45709" y="372600"/>
                  <a:pt x="41720" y="365934"/>
                </a:cubicBezTo>
                <a:cubicBezTo>
                  <a:pt x="37731" y="359268"/>
                  <a:pt x="31000" y="352268"/>
                  <a:pt x="25934" y="344961"/>
                </a:cubicBezTo>
                <a:cubicBezTo>
                  <a:pt x="20867" y="337653"/>
                  <a:pt x="14624" y="329703"/>
                  <a:pt x="11321" y="322090"/>
                </a:cubicBezTo>
                <a:cubicBezTo>
                  <a:pt x="8018" y="314478"/>
                  <a:pt x="5706" y="306451"/>
                  <a:pt x="6115" y="299283"/>
                </a:cubicBezTo>
                <a:cubicBezTo>
                  <a:pt x="6524" y="292116"/>
                  <a:pt x="9554" y="285180"/>
                  <a:pt x="13774" y="279086"/>
                </a:cubicBezTo>
                <a:cubicBezTo>
                  <a:pt x="17994" y="272992"/>
                  <a:pt x="25106" y="267750"/>
                  <a:pt x="31435" y="262720"/>
                </a:cubicBezTo>
                <a:cubicBezTo>
                  <a:pt x="37764" y="257691"/>
                  <a:pt x="45817" y="253638"/>
                  <a:pt x="51748" y="248909"/>
                </a:cubicBezTo>
                <a:cubicBezTo>
                  <a:pt x="57679" y="244180"/>
                  <a:pt x="63421" y="239880"/>
                  <a:pt x="67020" y="234345"/>
                </a:cubicBezTo>
                <a:cubicBezTo>
                  <a:pt x="70619" y="228811"/>
                  <a:pt x="72429" y="222759"/>
                  <a:pt x="73344" y="215700"/>
                </a:cubicBezTo>
                <a:cubicBezTo>
                  <a:pt x="74259" y="208641"/>
                  <a:pt x="72940" y="200310"/>
                  <a:pt x="72512" y="191991"/>
                </a:cubicBezTo>
                <a:cubicBezTo>
                  <a:pt x="72083" y="183672"/>
                  <a:pt x="70317" y="174070"/>
                  <a:pt x="70770" y="165785"/>
                </a:cubicBezTo>
                <a:cubicBezTo>
                  <a:pt x="71224" y="157500"/>
                  <a:pt x="72029" y="148816"/>
                  <a:pt x="75234" y="142282"/>
                </a:cubicBezTo>
                <a:cubicBezTo>
                  <a:pt x="78439" y="135748"/>
                  <a:pt x="83527" y="130196"/>
                  <a:pt x="90001" y="126581"/>
                </a:cubicBezTo>
                <a:cubicBezTo>
                  <a:pt x="96475" y="122965"/>
                  <a:pt x="105388" y="121448"/>
                  <a:pt x="114081" y="120590"/>
                </a:cubicBezTo>
                <a:cubicBezTo>
                  <a:pt x="122774" y="119731"/>
                  <a:pt x="133238" y="121121"/>
                  <a:pt x="142158" y="121430"/>
                </a:cubicBezTo>
                <a:cubicBezTo>
                  <a:pt x="151077" y="121740"/>
                  <a:pt x="160301" y="123269"/>
                  <a:pt x="167598" y="122444"/>
                </a:cubicBezTo>
                <a:cubicBezTo>
                  <a:pt x="174895" y="121620"/>
                  <a:pt x="181048" y="120259"/>
                  <a:pt x="185939" y="116485"/>
                </a:cubicBezTo>
                <a:cubicBezTo>
                  <a:pt x="190830" y="112710"/>
                  <a:pt x="193893" y="106823"/>
                  <a:pt x="196943" y="99797"/>
                </a:cubicBezTo>
                <a:cubicBezTo>
                  <a:pt x="199992" y="92770"/>
                  <a:pt x="201570" y="83117"/>
                  <a:pt x="204236" y="74325"/>
                </a:cubicBezTo>
                <a:cubicBezTo>
                  <a:pt x="206903" y="65533"/>
                  <a:pt x="209180" y="55013"/>
                  <a:pt x="212942" y="47045"/>
                </a:cubicBezTo>
                <a:cubicBezTo>
                  <a:pt x="216704" y="39076"/>
                  <a:pt x="221222" y="31284"/>
                  <a:pt x="226810" y="26514"/>
                </a:cubicBezTo>
                <a:cubicBezTo>
                  <a:pt x="232399" y="21743"/>
                  <a:pt x="239331" y="19082"/>
                  <a:pt x="246474" y="18421"/>
                </a:cubicBezTo>
                <a:cubicBezTo>
                  <a:pt x="253617" y="17760"/>
                  <a:pt x="261907" y="20143"/>
                  <a:pt x="269670" y="22546"/>
                </a:cubicBezTo>
                <a:cubicBezTo>
                  <a:pt x="277433" y="24949"/>
                  <a:pt x="285611" y="29820"/>
                  <a:pt x="293054" y="32841"/>
                </a:cubicBezTo>
                <a:cubicBezTo>
                  <a:pt x="300497" y="35863"/>
                  <a:pt x="307610" y="39561"/>
                  <a:pt x="314329" y="40675"/>
                </a:cubicBezTo>
                <a:cubicBezTo>
                  <a:pt x="321048" y="41789"/>
                  <a:pt x="327131" y="41544"/>
                  <a:pt x="333369" y="39525"/>
                </a:cubicBezTo>
                <a:cubicBezTo>
                  <a:pt x="339607" y="37506"/>
                  <a:pt x="345449" y="32956"/>
                  <a:pt x="351759" y="28561"/>
                </a:cubicBezTo>
                <a:cubicBezTo>
                  <a:pt x="358068" y="24167"/>
                  <a:pt x="364495" y="17586"/>
                  <a:pt x="371227" y="13158"/>
                </a:cubicBezTo>
                <a:cubicBezTo>
                  <a:pt x="377958" y="8731"/>
                  <a:pt x="385157" y="3801"/>
                  <a:pt x="392146" y="1996"/>
                </a:cubicBezTo>
                <a:cubicBezTo>
                  <a:pt x="399135" y="191"/>
                  <a:pt x="406484" y="0"/>
                  <a:pt x="413161" y="2328"/>
                </a:cubicBezTo>
                <a:cubicBezTo>
                  <a:pt x="419838" y="4657"/>
                  <a:pt x="426366" y="9991"/>
                  <a:pt x="432208" y="15966"/>
                </a:cubicBezTo>
                <a:cubicBezTo>
                  <a:pt x="438050" y="21942"/>
                  <a:pt x="443206" y="30824"/>
                  <a:pt x="448213" y="38183"/>
                </a:cubicBezTo>
                <a:cubicBezTo>
                  <a:pt x="453221" y="45543"/>
                  <a:pt x="457412" y="54252"/>
                  <a:pt x="462253" y="60124"/>
                </a:cubicBezTo>
                <a:cubicBezTo>
                  <a:pt x="467095" y="65995"/>
                  <a:pt x="471586" y="71019"/>
                  <a:pt x="477262" y="73414"/>
                </a:cubicBezTo>
                <a:cubicBezTo>
                  <a:pt x="482939" y="75809"/>
                  <a:pt x="489112" y="75669"/>
                  <a:pt x="496313" y="74492"/>
                </a:cubicBezTo>
                <a:cubicBezTo>
                  <a:pt x="503513" y="73315"/>
                  <a:pt x="511917" y="69293"/>
                  <a:pt x="520468" y="66351"/>
                </a:cubicBezTo>
                <a:cubicBezTo>
                  <a:pt x="529018" y="63410"/>
                  <a:pt x="538830" y="58813"/>
                  <a:pt x="547615" y="56842"/>
                </a:cubicBezTo>
                <a:cubicBezTo>
                  <a:pt x="556400" y="54872"/>
                  <a:pt x="565699" y="53274"/>
                  <a:pt x="573178" y="54527"/>
                </a:cubicBezTo>
                <a:cubicBezTo>
                  <a:pt x="580656" y="55781"/>
                  <a:pt x="587428" y="59204"/>
                  <a:pt x="592485" y="64365"/>
                </a:cubicBezTo>
                <a:cubicBezTo>
                  <a:pt x="597541" y="69526"/>
                  <a:pt x="600871" y="77529"/>
                  <a:pt x="603518" y="85493"/>
                </a:cubicBezTo>
                <a:cubicBezTo>
                  <a:pt x="606164" y="93457"/>
                  <a:pt x="606889" y="103557"/>
                  <a:pt x="608363" y="112150"/>
                </a:cubicBezTo>
                <a:cubicBezTo>
                  <a:pt x="609837" y="120742"/>
                  <a:pt x="610213" y="129867"/>
                  <a:pt x="612363" y="137049"/>
                </a:cubicBezTo>
                <a:cubicBezTo>
                  <a:pt x="614513" y="144230"/>
                  <a:pt x="617012" y="150354"/>
                  <a:pt x="621260" y="155239"/>
                </a:cubicBezTo>
                <a:cubicBezTo>
                  <a:pt x="625509" y="160123"/>
                  <a:pt x="631378" y="163194"/>
                  <a:pt x="637855" y="166357"/>
                </a:cubicBezTo>
                <a:cubicBezTo>
                  <a:pt x="644332" y="169521"/>
                  <a:pt x="652765" y="171245"/>
                  <a:pt x="660121" y="174220"/>
                </a:cubicBezTo>
                <a:cubicBezTo>
                  <a:pt x="667477" y="177195"/>
                  <a:pt x="675918" y="179893"/>
                  <a:pt x="681991" y="184208"/>
                </a:cubicBezTo>
                <a:cubicBezTo>
                  <a:pt x="688064" y="188522"/>
                  <a:pt x="693556" y="193775"/>
                  <a:pt x="696557" y="200104"/>
                </a:cubicBezTo>
                <a:cubicBezTo>
                  <a:pt x="699558" y="206434"/>
                  <a:pt x="700418" y="214286"/>
                  <a:pt x="699995" y="222185"/>
                </a:cubicBezTo>
                <a:cubicBezTo>
                  <a:pt x="699571" y="230084"/>
                  <a:pt x="696456" y="239204"/>
                  <a:pt x="694016" y="247499"/>
                </a:cubicBezTo>
                <a:cubicBezTo>
                  <a:pt x="691575" y="255794"/>
                  <a:pt x="687289" y="264405"/>
                  <a:pt x="685351" y="271954"/>
                </a:cubicBezTo>
                <a:cubicBezTo>
                  <a:pt x="683413" y="279504"/>
                  <a:pt x="681499" y="286456"/>
                  <a:pt x="682387" y="292797"/>
                </a:cubicBezTo>
                <a:cubicBezTo>
                  <a:pt x="683275" y="299137"/>
                  <a:pt x="686114" y="304494"/>
                  <a:pt x="690678" y="309998"/>
                </a:cubicBezTo>
                <a:cubicBezTo>
                  <a:pt x="695242" y="315502"/>
                  <a:pt x="702696" y="320315"/>
                  <a:pt x="709770" y="325822"/>
                </a:cubicBezTo>
                <a:cubicBezTo>
                  <a:pt x="716844" y="331329"/>
                  <a:pt x="726203" y="336838"/>
                  <a:pt x="733121" y="343037"/>
                </a:cubicBezTo>
                <a:cubicBezTo>
                  <a:pt x="740038" y="349237"/>
                  <a:pt x="747353" y="356029"/>
                  <a:pt x="751273" y="363016"/>
                </a:cubicBezTo>
                <a:cubicBezTo>
                  <a:pt x="755194" y="370003"/>
                  <a:pt x="757291" y="377682"/>
                  <a:pt x="756643" y="384958"/>
                </a:cubicBezTo>
                <a:close/>
              </a:path>
            </a:pathLst>
          </a:custGeom>
          <a:gradFill rotWithShape="1">
            <a:gsLst>
              <a:gs pos="0">
                <a:srgbClr val="F0EAF8"/>
              </a:gs>
              <a:gs pos="27000">
                <a:srgbClr val="DAD0ED"/>
              </a:gs>
              <a:gs pos="67000">
                <a:srgbClr val="C3B1E0"/>
              </a:gs>
              <a:gs pos="100000">
                <a:srgbClr val="AD96D2"/>
              </a:gs>
            </a:gsLst>
            <a:lin ang="3600000" scaled="1"/>
          </a:gradFill>
          <a:ln w="15317" cap="rnd">
            <a:solidFill>
              <a:srgbClr val="7660A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tmao_macrophage_component_path_2"/>
          <p:cNvSpPr/>
          <p:nvPr/>
        </p:nvSpPr>
        <p:spPr>
          <a:xfrm>
            <a:off x="2694284" y="3778330"/>
            <a:ext cx="711854" cy="716356"/>
          </a:xfrm>
          <a:custGeom>
            <a:avLst/>
            <a:gdLst/>
            <a:ahLst/>
            <a:cxnLst/>
            <a:rect l="0" t="0" r="r" b="b"/>
            <a:pathLst>
              <a:path w="711854" h="716356">
                <a:moveTo>
                  <a:pt x="711244" y="361861"/>
                </a:moveTo>
                <a:cubicBezTo>
                  <a:pt x="710635" y="368701"/>
                  <a:pt x="706986" y="375796"/>
                  <a:pt x="702539" y="382276"/>
                </a:cubicBezTo>
                <a:cubicBezTo>
                  <a:pt x="698093" y="388755"/>
                  <a:pt x="690721" y="394921"/>
                  <a:pt x="684568" y="400738"/>
                </a:cubicBezTo>
                <a:cubicBezTo>
                  <a:pt x="678415" y="406555"/>
                  <a:pt x="670808" y="411747"/>
                  <a:pt x="665623" y="417177"/>
                </a:cubicBezTo>
                <a:cubicBezTo>
                  <a:pt x="660438" y="422606"/>
                  <a:pt x="655837" y="427606"/>
                  <a:pt x="653459" y="433315"/>
                </a:cubicBezTo>
                <a:cubicBezTo>
                  <a:pt x="651080" y="439023"/>
                  <a:pt x="650821" y="444888"/>
                  <a:pt x="651350" y="451427"/>
                </a:cubicBezTo>
                <a:cubicBezTo>
                  <a:pt x="651880" y="457966"/>
                  <a:pt x="654786" y="465225"/>
                  <a:pt x="656634" y="472547"/>
                </a:cubicBezTo>
                <a:cubicBezTo>
                  <a:pt x="658482" y="479869"/>
                  <a:pt x="661616" y="488010"/>
                  <a:pt x="662439" y="495358"/>
                </a:cubicBezTo>
                <a:cubicBezTo>
                  <a:pt x="663262" y="502707"/>
                  <a:pt x="663578" y="510341"/>
                  <a:pt x="661574" y="516640"/>
                </a:cubicBezTo>
                <a:cubicBezTo>
                  <a:pt x="659569" y="522939"/>
                  <a:pt x="655559" y="528615"/>
                  <a:pt x="650413" y="533152"/>
                </a:cubicBezTo>
                <a:cubicBezTo>
                  <a:pt x="645267" y="537690"/>
                  <a:pt x="637707" y="540876"/>
                  <a:pt x="630697" y="543865"/>
                </a:cubicBezTo>
                <a:cubicBezTo>
                  <a:pt x="623687" y="546854"/>
                  <a:pt x="615115" y="548464"/>
                  <a:pt x="608356" y="551087"/>
                </a:cubicBezTo>
                <a:cubicBezTo>
                  <a:pt x="601597" y="553711"/>
                  <a:pt x="594873" y="555768"/>
                  <a:pt x="590144" y="559607"/>
                </a:cubicBezTo>
                <a:cubicBezTo>
                  <a:pt x="585415" y="563446"/>
                  <a:pt x="582170" y="567999"/>
                  <a:pt x="579981" y="574120"/>
                </a:cubicBezTo>
                <a:cubicBezTo>
                  <a:pt x="577793" y="580240"/>
                  <a:pt x="577624" y="588109"/>
                  <a:pt x="577015" y="596329"/>
                </a:cubicBezTo>
                <a:cubicBezTo>
                  <a:pt x="576406" y="604549"/>
                  <a:pt x="577202" y="614643"/>
                  <a:pt x="576327" y="623440"/>
                </a:cubicBezTo>
                <a:cubicBezTo>
                  <a:pt x="575453" y="632237"/>
                  <a:pt x="574618" y="641926"/>
                  <a:pt x="571769" y="649111"/>
                </a:cubicBezTo>
                <a:cubicBezTo>
                  <a:pt x="568920" y="656296"/>
                  <a:pt x="564762" y="662708"/>
                  <a:pt x="559233" y="666547"/>
                </a:cubicBezTo>
                <a:cubicBezTo>
                  <a:pt x="553703" y="670386"/>
                  <a:pt x="546238" y="671959"/>
                  <a:pt x="538591" y="672146"/>
                </a:cubicBezTo>
                <a:cubicBezTo>
                  <a:pt x="530944" y="672332"/>
                  <a:pt x="521710" y="669757"/>
                  <a:pt x="513349" y="667668"/>
                </a:cubicBezTo>
                <a:cubicBezTo>
                  <a:pt x="504988" y="665579"/>
                  <a:pt x="496075" y="661561"/>
                  <a:pt x="488424" y="659610"/>
                </a:cubicBezTo>
                <a:cubicBezTo>
                  <a:pt x="480773" y="657658"/>
                  <a:pt x="473663" y="655558"/>
                  <a:pt x="467444" y="655959"/>
                </a:cubicBezTo>
                <a:cubicBezTo>
                  <a:pt x="461226" y="656360"/>
                  <a:pt x="456118" y="658421"/>
                  <a:pt x="451112" y="662015"/>
                </a:cubicBezTo>
                <a:cubicBezTo>
                  <a:pt x="446106" y="665610"/>
                  <a:pt x="442045" y="671734"/>
                  <a:pt x="437410" y="677527"/>
                </a:cubicBezTo>
                <a:cubicBezTo>
                  <a:pt x="432776" y="683321"/>
                  <a:pt x="428416" y="691093"/>
                  <a:pt x="423306" y="696774"/>
                </a:cubicBezTo>
                <a:cubicBezTo>
                  <a:pt x="418197" y="702455"/>
                  <a:pt x="412680" y="708427"/>
                  <a:pt x="406755" y="711613"/>
                </a:cubicBezTo>
                <a:cubicBezTo>
                  <a:pt x="400829" y="714798"/>
                  <a:pt x="394227" y="716356"/>
                  <a:pt x="387752" y="715887"/>
                </a:cubicBezTo>
                <a:cubicBezTo>
                  <a:pt x="381277" y="715418"/>
                  <a:pt x="374371" y="712217"/>
                  <a:pt x="367904" y="708802"/>
                </a:cubicBezTo>
                <a:cubicBezTo>
                  <a:pt x="361438" y="705387"/>
                  <a:pt x="355043" y="699559"/>
                  <a:pt x="348953" y="695397"/>
                </a:cubicBezTo>
                <a:cubicBezTo>
                  <a:pt x="342863" y="691235"/>
                  <a:pt x="337194" y="686243"/>
                  <a:pt x="331366" y="683831"/>
                </a:cubicBezTo>
                <a:cubicBezTo>
                  <a:pt x="325538" y="681418"/>
                  <a:pt x="320048" y="680163"/>
                  <a:pt x="313986" y="680923"/>
                </a:cubicBezTo>
                <a:cubicBezTo>
                  <a:pt x="307923" y="681682"/>
                  <a:pt x="301740" y="684908"/>
                  <a:pt x="294990" y="688387"/>
                </a:cubicBezTo>
                <a:cubicBezTo>
                  <a:pt x="288240" y="691866"/>
                  <a:pt x="280884" y="697719"/>
                  <a:pt x="273485" y="701796"/>
                </a:cubicBezTo>
                <a:cubicBezTo>
                  <a:pt x="266086" y="705873"/>
                  <a:pt x="257978" y="710865"/>
                  <a:pt x="250597" y="712850"/>
                </a:cubicBezTo>
                <a:cubicBezTo>
                  <a:pt x="243217" y="714836"/>
                  <a:pt x="235584" y="715674"/>
                  <a:pt x="229200" y="713708"/>
                </a:cubicBezTo>
                <a:cubicBezTo>
                  <a:pt x="222816" y="711743"/>
                  <a:pt x="216994" y="707050"/>
                  <a:pt x="212291" y="701059"/>
                </a:cubicBezTo>
                <a:cubicBezTo>
                  <a:pt x="207588" y="695067"/>
                  <a:pt x="204131" y="686062"/>
                  <a:pt x="200981" y="677758"/>
                </a:cubicBezTo>
                <a:cubicBezTo>
                  <a:pt x="197831" y="669454"/>
                  <a:pt x="196001" y="659262"/>
                  <a:pt x="193391" y="651235"/>
                </a:cubicBezTo>
                <a:cubicBezTo>
                  <a:pt x="190782" y="643207"/>
                  <a:pt x="188807" y="635206"/>
                  <a:pt x="185322" y="629593"/>
                </a:cubicBezTo>
                <a:cubicBezTo>
                  <a:pt x="181838" y="623979"/>
                  <a:pt x="177859" y="620091"/>
                  <a:pt x="172485" y="617555"/>
                </a:cubicBezTo>
                <a:cubicBezTo>
                  <a:pt x="167112" y="615019"/>
                  <a:pt x="160301" y="614850"/>
                  <a:pt x="153080" y="614377"/>
                </a:cubicBezTo>
                <a:cubicBezTo>
                  <a:pt x="145860" y="613903"/>
                  <a:pt x="137035" y="615145"/>
                  <a:pt x="129162" y="614716"/>
                </a:cubicBezTo>
                <a:cubicBezTo>
                  <a:pt x="121289" y="614286"/>
                  <a:pt x="112602" y="614076"/>
                  <a:pt x="105842" y="611800"/>
                </a:cubicBezTo>
                <a:cubicBezTo>
                  <a:pt x="99083" y="609524"/>
                  <a:pt x="92884" y="605985"/>
                  <a:pt x="88604" y="601058"/>
                </a:cubicBezTo>
                <a:cubicBezTo>
                  <a:pt x="84324" y="596131"/>
                  <a:pt x="81814" y="589244"/>
                  <a:pt x="80160" y="582237"/>
                </a:cubicBezTo>
                <a:cubicBezTo>
                  <a:pt x="78506" y="575230"/>
                  <a:pt x="78952" y="566630"/>
                  <a:pt x="78681" y="559016"/>
                </a:cubicBezTo>
                <a:cubicBezTo>
                  <a:pt x="78410" y="551401"/>
                  <a:pt x="79433" y="543302"/>
                  <a:pt x="78535" y="536548"/>
                </a:cubicBezTo>
                <a:cubicBezTo>
                  <a:pt x="77637" y="529794"/>
                  <a:pt x="76479" y="523715"/>
                  <a:pt x="73294" y="518492"/>
                </a:cubicBezTo>
                <a:cubicBezTo>
                  <a:pt x="70108" y="513269"/>
                  <a:pt x="65206" y="509285"/>
                  <a:pt x="59421" y="505209"/>
                </a:cubicBezTo>
                <a:cubicBezTo>
                  <a:pt x="53635" y="501132"/>
                  <a:pt x="45625" y="498030"/>
                  <a:pt x="38579" y="494033"/>
                </a:cubicBezTo>
                <a:cubicBezTo>
                  <a:pt x="31533" y="490036"/>
                  <a:pt x="23067" y="486180"/>
                  <a:pt x="17144" y="481227"/>
                </a:cubicBezTo>
                <a:cubicBezTo>
                  <a:pt x="11221" y="476274"/>
                  <a:pt x="5644" y="470622"/>
                  <a:pt x="3041" y="464316"/>
                </a:cubicBezTo>
                <a:cubicBezTo>
                  <a:pt x="438" y="458009"/>
                  <a:pt x="0" y="450658"/>
                  <a:pt x="1527" y="443386"/>
                </a:cubicBezTo>
                <a:cubicBezTo>
                  <a:pt x="3054" y="436114"/>
                  <a:pt x="7634" y="428094"/>
                  <a:pt x="12203" y="420684"/>
                </a:cubicBezTo>
                <a:cubicBezTo>
                  <a:pt x="16772" y="413275"/>
                  <a:pt x="23831" y="405789"/>
                  <a:pt x="28943" y="398930"/>
                </a:cubicBezTo>
                <a:cubicBezTo>
                  <a:pt x="34055" y="392072"/>
                  <a:pt x="39885" y="385711"/>
                  <a:pt x="42874" y="379533"/>
                </a:cubicBezTo>
                <a:cubicBezTo>
                  <a:pt x="45863" y="373355"/>
                  <a:pt x="47486" y="367787"/>
                  <a:pt x="46877" y="361861"/>
                </a:cubicBezTo>
                <a:cubicBezTo>
                  <a:pt x="46267" y="355935"/>
                  <a:pt x="42967" y="350244"/>
                  <a:pt x="39217" y="343978"/>
                </a:cubicBezTo>
                <a:cubicBezTo>
                  <a:pt x="35467" y="337712"/>
                  <a:pt x="29140" y="331132"/>
                  <a:pt x="24378" y="324263"/>
                </a:cubicBezTo>
                <a:cubicBezTo>
                  <a:pt x="19615" y="317394"/>
                  <a:pt x="13747" y="309921"/>
                  <a:pt x="10642" y="302765"/>
                </a:cubicBezTo>
                <a:cubicBezTo>
                  <a:pt x="7537" y="295609"/>
                  <a:pt x="5364" y="288064"/>
                  <a:pt x="5748" y="281326"/>
                </a:cubicBezTo>
                <a:cubicBezTo>
                  <a:pt x="6133" y="274589"/>
                  <a:pt x="8981" y="268069"/>
                  <a:pt x="12948" y="262341"/>
                </a:cubicBezTo>
                <a:cubicBezTo>
                  <a:pt x="16915" y="256612"/>
                  <a:pt x="23599" y="251685"/>
                  <a:pt x="29549" y="246957"/>
                </a:cubicBezTo>
                <a:cubicBezTo>
                  <a:pt x="35498" y="242230"/>
                  <a:pt x="43068" y="238420"/>
                  <a:pt x="48643" y="233975"/>
                </a:cubicBezTo>
                <a:cubicBezTo>
                  <a:pt x="54218" y="229529"/>
                  <a:pt x="59616" y="225487"/>
                  <a:pt x="62999" y="220285"/>
                </a:cubicBezTo>
                <a:cubicBezTo>
                  <a:pt x="66382" y="215082"/>
                  <a:pt x="68083" y="209394"/>
                  <a:pt x="68943" y="202758"/>
                </a:cubicBezTo>
                <a:cubicBezTo>
                  <a:pt x="69804" y="196123"/>
                  <a:pt x="68564" y="188292"/>
                  <a:pt x="68161" y="180472"/>
                </a:cubicBezTo>
                <a:cubicBezTo>
                  <a:pt x="67758" y="172652"/>
                  <a:pt x="66098" y="163626"/>
                  <a:pt x="66524" y="155838"/>
                </a:cubicBezTo>
                <a:cubicBezTo>
                  <a:pt x="66951" y="148050"/>
                  <a:pt x="67707" y="139887"/>
                  <a:pt x="70720" y="133745"/>
                </a:cubicBezTo>
                <a:cubicBezTo>
                  <a:pt x="73733" y="127603"/>
                  <a:pt x="78515" y="122384"/>
                  <a:pt x="84601" y="118986"/>
                </a:cubicBezTo>
                <a:cubicBezTo>
                  <a:pt x="90687" y="115587"/>
                  <a:pt x="99065" y="114161"/>
                  <a:pt x="107236" y="113354"/>
                </a:cubicBezTo>
                <a:cubicBezTo>
                  <a:pt x="115407" y="112548"/>
                  <a:pt x="125244" y="113854"/>
                  <a:pt x="133628" y="114145"/>
                </a:cubicBezTo>
                <a:cubicBezTo>
                  <a:pt x="142013" y="114435"/>
                  <a:pt x="150683" y="115872"/>
                  <a:pt x="157542" y="115098"/>
                </a:cubicBezTo>
                <a:cubicBezTo>
                  <a:pt x="164401" y="114323"/>
                  <a:pt x="170185" y="113044"/>
                  <a:pt x="174782" y="109496"/>
                </a:cubicBezTo>
                <a:cubicBezTo>
                  <a:pt x="179380" y="105947"/>
                  <a:pt x="182260" y="100414"/>
                  <a:pt x="185126" y="93809"/>
                </a:cubicBezTo>
                <a:cubicBezTo>
                  <a:pt x="187993" y="87204"/>
                  <a:pt x="189475" y="78130"/>
                  <a:pt x="191982" y="69865"/>
                </a:cubicBezTo>
                <a:cubicBezTo>
                  <a:pt x="194488" y="61601"/>
                  <a:pt x="196629" y="51713"/>
                  <a:pt x="200165" y="44222"/>
                </a:cubicBezTo>
                <a:cubicBezTo>
                  <a:pt x="203702" y="36732"/>
                  <a:pt x="207948" y="29407"/>
                  <a:pt x="213202" y="24923"/>
                </a:cubicBezTo>
                <a:cubicBezTo>
                  <a:pt x="218455" y="20439"/>
                  <a:pt x="224971" y="17937"/>
                  <a:pt x="231685" y="17316"/>
                </a:cubicBezTo>
                <a:cubicBezTo>
                  <a:pt x="238400" y="16694"/>
                  <a:pt x="246192" y="18934"/>
                  <a:pt x="253490" y="21193"/>
                </a:cubicBezTo>
                <a:cubicBezTo>
                  <a:pt x="260787" y="23452"/>
                  <a:pt x="268474" y="28030"/>
                  <a:pt x="275471" y="30871"/>
                </a:cubicBezTo>
                <a:cubicBezTo>
                  <a:pt x="282467" y="33711"/>
                  <a:pt x="289153" y="37188"/>
                  <a:pt x="295469" y="38235"/>
                </a:cubicBezTo>
                <a:cubicBezTo>
                  <a:pt x="301785" y="39282"/>
                  <a:pt x="307503" y="39051"/>
                  <a:pt x="313367" y="37153"/>
                </a:cubicBezTo>
                <a:cubicBezTo>
                  <a:pt x="319231" y="35255"/>
                  <a:pt x="324722" y="30978"/>
                  <a:pt x="330653" y="26848"/>
                </a:cubicBezTo>
                <a:cubicBezTo>
                  <a:pt x="336584" y="22717"/>
                  <a:pt x="342626" y="16530"/>
                  <a:pt x="348953" y="12369"/>
                </a:cubicBezTo>
                <a:cubicBezTo>
                  <a:pt x="355280" y="8207"/>
                  <a:pt x="362047" y="3573"/>
                  <a:pt x="368617" y="1877"/>
                </a:cubicBezTo>
                <a:cubicBezTo>
                  <a:pt x="375187" y="180"/>
                  <a:pt x="382095" y="0"/>
                  <a:pt x="388371" y="2189"/>
                </a:cubicBezTo>
                <a:cubicBezTo>
                  <a:pt x="394648" y="4377"/>
                  <a:pt x="400784" y="9391"/>
                  <a:pt x="406276" y="15008"/>
                </a:cubicBezTo>
                <a:cubicBezTo>
                  <a:pt x="411767" y="20626"/>
                  <a:pt x="416613" y="28974"/>
                  <a:pt x="421321" y="35892"/>
                </a:cubicBezTo>
                <a:cubicBezTo>
                  <a:pt x="426028" y="42810"/>
                  <a:pt x="429967" y="50997"/>
                  <a:pt x="434518" y="56516"/>
                </a:cubicBezTo>
                <a:cubicBezTo>
                  <a:pt x="439069" y="62036"/>
                  <a:pt x="443291" y="66758"/>
                  <a:pt x="448627" y="69009"/>
                </a:cubicBezTo>
                <a:cubicBezTo>
                  <a:pt x="453963" y="71260"/>
                  <a:pt x="459765" y="71129"/>
                  <a:pt x="466534" y="70022"/>
                </a:cubicBezTo>
                <a:cubicBezTo>
                  <a:pt x="473303" y="68916"/>
                  <a:pt x="481202" y="65135"/>
                  <a:pt x="489240" y="62370"/>
                </a:cubicBezTo>
                <a:cubicBezTo>
                  <a:pt x="497277" y="59605"/>
                  <a:pt x="506501" y="55284"/>
                  <a:pt x="514759" y="53432"/>
                </a:cubicBezTo>
                <a:cubicBezTo>
                  <a:pt x="523016" y="51579"/>
                  <a:pt x="531757" y="50077"/>
                  <a:pt x="538787" y="51256"/>
                </a:cubicBezTo>
                <a:cubicBezTo>
                  <a:pt x="545817" y="52434"/>
                  <a:pt x="552182" y="55652"/>
                  <a:pt x="556936" y="60503"/>
                </a:cubicBezTo>
                <a:cubicBezTo>
                  <a:pt x="561689" y="65355"/>
                  <a:pt x="564819" y="72877"/>
                  <a:pt x="567307" y="80363"/>
                </a:cubicBezTo>
                <a:cubicBezTo>
                  <a:pt x="569794" y="87850"/>
                  <a:pt x="570475" y="97344"/>
                  <a:pt x="571861" y="105421"/>
                </a:cubicBezTo>
                <a:cubicBezTo>
                  <a:pt x="573247" y="113498"/>
                  <a:pt x="573601" y="122075"/>
                  <a:pt x="575621" y="128826"/>
                </a:cubicBezTo>
                <a:cubicBezTo>
                  <a:pt x="577642" y="135577"/>
                  <a:pt x="579991" y="141333"/>
                  <a:pt x="583985" y="145924"/>
                </a:cubicBezTo>
                <a:cubicBezTo>
                  <a:pt x="587978" y="150516"/>
                  <a:pt x="593495" y="153402"/>
                  <a:pt x="599584" y="156376"/>
                </a:cubicBezTo>
                <a:cubicBezTo>
                  <a:pt x="605672" y="159349"/>
                  <a:pt x="613599" y="160970"/>
                  <a:pt x="620513" y="163767"/>
                </a:cubicBezTo>
                <a:cubicBezTo>
                  <a:pt x="627428" y="166563"/>
                  <a:pt x="635363" y="169100"/>
                  <a:pt x="641071" y="173155"/>
                </a:cubicBezTo>
                <a:cubicBezTo>
                  <a:pt x="646780" y="177210"/>
                  <a:pt x="651943" y="182148"/>
                  <a:pt x="654764" y="188098"/>
                </a:cubicBezTo>
                <a:cubicBezTo>
                  <a:pt x="657584" y="194048"/>
                  <a:pt x="658393" y="201429"/>
                  <a:pt x="657995" y="208854"/>
                </a:cubicBezTo>
                <a:cubicBezTo>
                  <a:pt x="657597" y="216279"/>
                  <a:pt x="654669" y="224852"/>
                  <a:pt x="652375" y="232649"/>
                </a:cubicBezTo>
                <a:cubicBezTo>
                  <a:pt x="650081" y="240447"/>
                  <a:pt x="646052" y="248540"/>
                  <a:pt x="644230" y="255637"/>
                </a:cubicBezTo>
                <a:cubicBezTo>
                  <a:pt x="642408" y="262734"/>
                  <a:pt x="640609" y="269269"/>
                  <a:pt x="641443" y="275229"/>
                </a:cubicBezTo>
                <a:cubicBezTo>
                  <a:pt x="642278" y="281189"/>
                  <a:pt x="644947" y="286224"/>
                  <a:pt x="649238" y="291398"/>
                </a:cubicBezTo>
                <a:cubicBezTo>
                  <a:pt x="653528" y="296572"/>
                  <a:pt x="660534" y="301096"/>
                  <a:pt x="667184" y="306273"/>
                </a:cubicBezTo>
                <a:cubicBezTo>
                  <a:pt x="673833" y="311449"/>
                  <a:pt x="682631" y="316628"/>
                  <a:pt x="689133" y="322455"/>
                </a:cubicBezTo>
                <a:cubicBezTo>
                  <a:pt x="695636" y="328282"/>
                  <a:pt x="702512" y="334667"/>
                  <a:pt x="706197" y="341235"/>
                </a:cubicBezTo>
                <a:cubicBezTo>
                  <a:pt x="709882" y="347803"/>
                  <a:pt x="711854" y="355021"/>
                  <a:pt x="711244" y="361861"/>
                </a:cubicBezTo>
                <a:close/>
              </a:path>
            </a:pathLst>
          </a:custGeom>
          <a:noFill/>
          <a:ln w="7905" cap="rnd">
            <a:solidFill>
              <a:srgbClr val="DED4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tmao_macrophage_component_oval_3"/>
          <p:cNvSpPr/>
          <p:nvPr/>
        </p:nvSpPr>
        <p:spPr>
          <a:xfrm>
            <a:off x="3261574" y="4188731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tmao_macrophage_component_oval_4"/>
          <p:cNvSpPr/>
          <p:nvPr/>
        </p:nvSpPr>
        <p:spPr>
          <a:xfrm>
            <a:off x="3233169" y="4268935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tmao_macrophage_component_oval_5"/>
          <p:cNvSpPr/>
          <p:nvPr/>
        </p:nvSpPr>
        <p:spPr>
          <a:xfrm>
            <a:off x="3154186" y="4305774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tmao_macrophage_component_oval_6"/>
          <p:cNvSpPr/>
          <p:nvPr/>
        </p:nvSpPr>
        <p:spPr>
          <a:xfrm>
            <a:off x="3102612" y="4387914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tmao_macrophage_component_oval_7"/>
          <p:cNvSpPr/>
          <p:nvPr/>
        </p:nvSpPr>
        <p:spPr>
          <a:xfrm>
            <a:off x="3013483" y="4339541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tmao_macrophage_component_oval_8"/>
          <p:cNvSpPr/>
          <p:nvPr/>
        </p:nvSpPr>
        <p:spPr>
          <a:xfrm>
            <a:off x="2917010" y="4372457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tmao_macrophage_component_oval_9"/>
          <p:cNvSpPr/>
          <p:nvPr/>
        </p:nvSpPr>
        <p:spPr>
          <a:xfrm>
            <a:off x="2884199" y="4283749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tmao_macrophage_component_oval_10"/>
          <p:cNvSpPr/>
          <p:nvPr/>
        </p:nvSpPr>
        <p:spPr>
          <a:xfrm>
            <a:off x="2797473" y="4240299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tmao_macrophage_component_oval_11"/>
          <p:cNvSpPr/>
          <p:nvPr/>
        </p:nvSpPr>
        <p:spPr>
          <a:xfrm>
            <a:off x="2802198" y="4146056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tmao_macrophage_component_oval_12"/>
          <p:cNvSpPr/>
          <p:nvPr/>
        </p:nvSpPr>
        <p:spPr>
          <a:xfrm>
            <a:off x="2800070" y="4067580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tmao_macrophage_component_oval_13"/>
          <p:cNvSpPr/>
          <p:nvPr/>
        </p:nvSpPr>
        <p:spPr>
          <a:xfrm>
            <a:off x="2826788" y="3983679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tmao_macrophage_component_oval_14"/>
          <p:cNvSpPr/>
          <p:nvPr/>
        </p:nvSpPr>
        <p:spPr>
          <a:xfrm>
            <a:off x="2898171" y="3939162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tmao_macrophage_component_oval_15"/>
          <p:cNvSpPr/>
          <p:nvPr/>
        </p:nvSpPr>
        <p:spPr>
          <a:xfrm>
            <a:off x="2961227" y="3869962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tmao_macrophage_component_oval_16"/>
          <p:cNvSpPr/>
          <p:nvPr/>
        </p:nvSpPr>
        <p:spPr>
          <a:xfrm>
            <a:off x="3044962" y="3911511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tmao_macrophage_component_oval_17"/>
          <p:cNvSpPr/>
          <p:nvPr/>
        </p:nvSpPr>
        <p:spPr>
          <a:xfrm>
            <a:off x="3136345" y="3873596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tmao_macrophage_component_oval_18"/>
          <p:cNvSpPr/>
          <p:nvPr/>
        </p:nvSpPr>
        <p:spPr>
          <a:xfrm>
            <a:off x="3178758" y="3973684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tmao_macrophage_component_oval_19"/>
          <p:cNvSpPr/>
          <p:nvPr/>
        </p:nvSpPr>
        <p:spPr>
          <a:xfrm>
            <a:off x="3262192" y="4010608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tmao_macrophage_component_oval_20"/>
          <p:cNvSpPr/>
          <p:nvPr/>
        </p:nvSpPr>
        <p:spPr>
          <a:xfrm>
            <a:off x="3249304" y="4100369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tmao_macrophage_component_oval_21"/>
          <p:cNvSpPr/>
          <p:nvPr/>
        </p:nvSpPr>
        <p:spPr>
          <a:xfrm>
            <a:off x="2855871" y="3980073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tmao_macrophage_component_oval_22"/>
          <p:cNvSpPr/>
          <p:nvPr/>
        </p:nvSpPr>
        <p:spPr>
          <a:xfrm>
            <a:off x="2816342" y="4199524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tmao_macrophage_component_oval_23"/>
          <p:cNvSpPr/>
          <p:nvPr/>
        </p:nvSpPr>
        <p:spPr>
          <a:xfrm>
            <a:off x="2934929" y="4337696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tmao_macrophage_component_oval_24"/>
          <p:cNvSpPr/>
          <p:nvPr/>
        </p:nvSpPr>
        <p:spPr>
          <a:xfrm>
            <a:off x="3211630" y="4012584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tmao_macrophage_component_oval_25"/>
          <p:cNvSpPr/>
          <p:nvPr/>
        </p:nvSpPr>
        <p:spPr>
          <a:xfrm>
            <a:off x="3243253" y="4207651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tmao_macrophage_component_oval_26"/>
          <p:cNvSpPr/>
          <p:nvPr/>
        </p:nvSpPr>
        <p:spPr>
          <a:xfrm>
            <a:off x="3085138" y="3890667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tmao_macrophage_component_oval_27"/>
          <p:cNvSpPr/>
          <p:nvPr/>
        </p:nvSpPr>
        <p:spPr>
          <a:xfrm>
            <a:off x="3156290" y="4362080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tmao_macrophage_component_oval_28"/>
          <p:cNvSpPr/>
          <p:nvPr/>
        </p:nvSpPr>
        <p:spPr>
          <a:xfrm>
            <a:off x="2840060" y="4077606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tmao_macrophage_component_oval_29"/>
          <p:cNvSpPr/>
          <p:nvPr/>
        </p:nvSpPr>
        <p:spPr>
          <a:xfrm rot="1500000">
            <a:off x="2900934" y="3977634"/>
            <a:ext cx="292513" cy="349496"/>
          </a:xfrm>
          <a:prstGeom prst="ellipse">
            <a:avLst/>
          </a:prstGeom>
          <a:gradFill rotWithShape="1">
            <a:gsLst>
              <a:gs pos="0">
                <a:srgbClr val="CBBDE5"/>
              </a:gs>
              <a:gs pos="24000">
                <a:srgbClr val="AA95CF"/>
              </a:gs>
              <a:gs pos="65000">
                <a:srgbClr val="8D73B7"/>
              </a:gs>
              <a:gs pos="100000">
                <a:srgbClr val="7860A4"/>
              </a:gs>
            </a:gsLst>
            <a:lin ang="3300000" scaled="1"/>
          </a:gradFill>
          <a:ln w="12846">
            <a:solidFill>
              <a:srgbClr val="6550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tmao_macrophage_component_path_30"/>
          <p:cNvSpPr/>
          <p:nvPr/>
        </p:nvSpPr>
        <p:spPr>
          <a:xfrm>
            <a:off x="2948368" y="4010146"/>
            <a:ext cx="110680" cy="97534"/>
          </a:xfrm>
          <a:custGeom>
            <a:avLst/>
            <a:gdLst/>
            <a:ahLst/>
            <a:cxnLst/>
            <a:rect l="0" t="0" r="r" b="b"/>
            <a:pathLst>
              <a:path w="110680" h="97534">
                <a:moveTo>
                  <a:pt x="0" y="97534"/>
                </a:moveTo>
                <a:cubicBezTo>
                  <a:pt x="15811" y="32511"/>
                  <a:pt x="55340" y="0"/>
                  <a:pt x="110680" y="8128"/>
                </a:cubicBezTo>
              </a:path>
            </a:pathLst>
          </a:custGeom>
          <a:noFill/>
          <a:ln w="17787" cap="rnd">
            <a:solidFill>
              <a:srgbClr val="D5C8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paracrine_component_oval_1"/>
          <p:cNvSpPr/>
          <p:nvPr/>
        </p:nvSpPr>
        <p:spPr>
          <a:xfrm>
            <a:off x="4630674" y="3902959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paracrine_component_oval_2"/>
          <p:cNvSpPr/>
          <p:nvPr/>
        </p:nvSpPr>
        <p:spPr>
          <a:xfrm>
            <a:off x="4659935" y="3923628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paracrine_component_oval_3"/>
          <p:cNvSpPr/>
          <p:nvPr/>
        </p:nvSpPr>
        <p:spPr>
          <a:xfrm>
            <a:off x="4411218" y="4009097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paracrine_component_oval_4"/>
          <p:cNvSpPr/>
          <p:nvPr/>
        </p:nvSpPr>
        <p:spPr>
          <a:xfrm>
            <a:off x="4440479" y="4029766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paracrine_component_oval_5"/>
          <p:cNvSpPr/>
          <p:nvPr/>
        </p:nvSpPr>
        <p:spPr>
          <a:xfrm>
            <a:off x="4831842" y="4048200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paracrine_component_oval_6"/>
          <p:cNvSpPr/>
          <p:nvPr/>
        </p:nvSpPr>
        <p:spPr>
          <a:xfrm>
            <a:off x="4861103" y="4068869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paracrine_component_oval_7"/>
          <p:cNvSpPr/>
          <p:nvPr/>
        </p:nvSpPr>
        <p:spPr>
          <a:xfrm>
            <a:off x="4655058" y="4148752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paracrine_component_oval_8"/>
          <p:cNvSpPr/>
          <p:nvPr/>
        </p:nvSpPr>
        <p:spPr>
          <a:xfrm>
            <a:off x="4684319" y="4169421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paracrine_component_oval_9"/>
          <p:cNvSpPr/>
          <p:nvPr/>
        </p:nvSpPr>
        <p:spPr>
          <a:xfrm>
            <a:off x="4459986" y="4254891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paracrine_component_oval_10"/>
          <p:cNvSpPr/>
          <p:nvPr/>
        </p:nvSpPr>
        <p:spPr>
          <a:xfrm>
            <a:off x="4489247" y="4275560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4" name="paracrine_component_oval_11"/>
          <p:cNvSpPr/>
          <p:nvPr/>
        </p:nvSpPr>
        <p:spPr>
          <a:xfrm>
            <a:off x="4801362" y="4305166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5" name="paracrine_component_oval_12"/>
          <p:cNvSpPr/>
          <p:nvPr/>
        </p:nvSpPr>
        <p:spPr>
          <a:xfrm>
            <a:off x="4830623" y="4325836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6" name="ffar_component_path_1"/>
          <p:cNvSpPr/>
          <p:nvPr/>
        </p:nvSpPr>
        <p:spPr>
          <a:xfrm>
            <a:off x="255574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7" name="ffar_component_path_2"/>
          <p:cNvSpPr/>
          <p:nvPr/>
        </p:nvSpPr>
        <p:spPr>
          <a:xfrm>
            <a:off x="257394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8" name="ffar_component_oval_3"/>
          <p:cNvSpPr/>
          <p:nvPr/>
        </p:nvSpPr>
        <p:spPr>
          <a:xfrm>
            <a:off x="2559644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9" name="ffar_component_oval_4"/>
          <p:cNvSpPr/>
          <p:nvPr/>
        </p:nvSpPr>
        <p:spPr>
          <a:xfrm>
            <a:off x="2559644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0" name="ffar_component_path_5"/>
          <p:cNvSpPr/>
          <p:nvPr/>
        </p:nvSpPr>
        <p:spPr>
          <a:xfrm>
            <a:off x="260265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1" name="ffar_component_path_6"/>
          <p:cNvSpPr/>
          <p:nvPr/>
        </p:nvSpPr>
        <p:spPr>
          <a:xfrm>
            <a:off x="262085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2" name="ffar_component_oval_7"/>
          <p:cNvSpPr/>
          <p:nvPr/>
        </p:nvSpPr>
        <p:spPr>
          <a:xfrm>
            <a:off x="2606552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3" name="ffar_component_oval_8"/>
          <p:cNvSpPr/>
          <p:nvPr/>
        </p:nvSpPr>
        <p:spPr>
          <a:xfrm>
            <a:off x="2606552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4" name="ffar_component_path_9"/>
          <p:cNvSpPr/>
          <p:nvPr/>
        </p:nvSpPr>
        <p:spPr>
          <a:xfrm>
            <a:off x="264955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5" name="ffar_component_path_10"/>
          <p:cNvSpPr/>
          <p:nvPr/>
        </p:nvSpPr>
        <p:spPr>
          <a:xfrm>
            <a:off x="266776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6" name="ffar_component_oval_11"/>
          <p:cNvSpPr/>
          <p:nvPr/>
        </p:nvSpPr>
        <p:spPr>
          <a:xfrm>
            <a:off x="2653459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7" name="ffar_component_oval_12"/>
          <p:cNvSpPr/>
          <p:nvPr/>
        </p:nvSpPr>
        <p:spPr>
          <a:xfrm>
            <a:off x="2653459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8" name="ffar_component_path_13"/>
          <p:cNvSpPr/>
          <p:nvPr/>
        </p:nvSpPr>
        <p:spPr>
          <a:xfrm>
            <a:off x="269646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9" name="ffar_component_path_14"/>
          <p:cNvSpPr/>
          <p:nvPr/>
        </p:nvSpPr>
        <p:spPr>
          <a:xfrm>
            <a:off x="271466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0" name="ffar_component_oval_15"/>
          <p:cNvSpPr/>
          <p:nvPr/>
        </p:nvSpPr>
        <p:spPr>
          <a:xfrm>
            <a:off x="2700367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1" name="ffar_component_oval_16"/>
          <p:cNvSpPr/>
          <p:nvPr/>
        </p:nvSpPr>
        <p:spPr>
          <a:xfrm>
            <a:off x="2700367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2" name="ffar_component_path_17"/>
          <p:cNvSpPr/>
          <p:nvPr/>
        </p:nvSpPr>
        <p:spPr>
          <a:xfrm>
            <a:off x="274337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3" name="ffar_component_path_18"/>
          <p:cNvSpPr/>
          <p:nvPr/>
        </p:nvSpPr>
        <p:spPr>
          <a:xfrm>
            <a:off x="276157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4" name="ffar_component_oval_19"/>
          <p:cNvSpPr/>
          <p:nvPr/>
        </p:nvSpPr>
        <p:spPr>
          <a:xfrm>
            <a:off x="2747275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5" name="ffar_component_oval_20"/>
          <p:cNvSpPr/>
          <p:nvPr/>
        </p:nvSpPr>
        <p:spPr>
          <a:xfrm>
            <a:off x="2747275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6" name="ffar_component_path_21"/>
          <p:cNvSpPr/>
          <p:nvPr/>
        </p:nvSpPr>
        <p:spPr>
          <a:xfrm>
            <a:off x="279028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7" name="ffar_component_path_22"/>
          <p:cNvSpPr/>
          <p:nvPr/>
        </p:nvSpPr>
        <p:spPr>
          <a:xfrm>
            <a:off x="280848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8" name="ffar_component_oval_23"/>
          <p:cNvSpPr/>
          <p:nvPr/>
        </p:nvSpPr>
        <p:spPr>
          <a:xfrm>
            <a:off x="2794183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9" name="ffar_component_oval_24"/>
          <p:cNvSpPr/>
          <p:nvPr/>
        </p:nvSpPr>
        <p:spPr>
          <a:xfrm>
            <a:off x="2794183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0" name="ffar_component_path_25"/>
          <p:cNvSpPr/>
          <p:nvPr/>
        </p:nvSpPr>
        <p:spPr>
          <a:xfrm>
            <a:off x="2837190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1" name="ffar_component_path_26"/>
          <p:cNvSpPr/>
          <p:nvPr/>
        </p:nvSpPr>
        <p:spPr>
          <a:xfrm>
            <a:off x="285539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2" name="ffar_component_oval_27"/>
          <p:cNvSpPr/>
          <p:nvPr/>
        </p:nvSpPr>
        <p:spPr>
          <a:xfrm>
            <a:off x="2841091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3" name="ffar_component_oval_28"/>
          <p:cNvSpPr/>
          <p:nvPr/>
        </p:nvSpPr>
        <p:spPr>
          <a:xfrm>
            <a:off x="2841091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4" name="ffar_component_path_29"/>
          <p:cNvSpPr/>
          <p:nvPr/>
        </p:nvSpPr>
        <p:spPr>
          <a:xfrm>
            <a:off x="288409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5" name="ffar_component_path_30"/>
          <p:cNvSpPr/>
          <p:nvPr/>
        </p:nvSpPr>
        <p:spPr>
          <a:xfrm>
            <a:off x="2902300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6" name="ffar_component_oval_31"/>
          <p:cNvSpPr/>
          <p:nvPr/>
        </p:nvSpPr>
        <p:spPr>
          <a:xfrm>
            <a:off x="2887998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7" name="ffar_component_oval_32"/>
          <p:cNvSpPr/>
          <p:nvPr/>
        </p:nvSpPr>
        <p:spPr>
          <a:xfrm>
            <a:off x="2887998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8" name="ffar_component_path_33"/>
          <p:cNvSpPr/>
          <p:nvPr/>
        </p:nvSpPr>
        <p:spPr>
          <a:xfrm>
            <a:off x="293100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9" name="ffar_component_path_34"/>
          <p:cNvSpPr/>
          <p:nvPr/>
        </p:nvSpPr>
        <p:spPr>
          <a:xfrm>
            <a:off x="294920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0" name="ffar_component_oval_35"/>
          <p:cNvSpPr/>
          <p:nvPr/>
        </p:nvSpPr>
        <p:spPr>
          <a:xfrm>
            <a:off x="2934906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1" name="ffar_component_oval_36"/>
          <p:cNvSpPr/>
          <p:nvPr/>
        </p:nvSpPr>
        <p:spPr>
          <a:xfrm>
            <a:off x="2934906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2" name="ffar_component_path_37"/>
          <p:cNvSpPr/>
          <p:nvPr/>
        </p:nvSpPr>
        <p:spPr>
          <a:xfrm>
            <a:off x="2977914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3" name="ffar_component_path_38"/>
          <p:cNvSpPr/>
          <p:nvPr/>
        </p:nvSpPr>
        <p:spPr>
          <a:xfrm>
            <a:off x="299611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4" name="ffar_component_oval_39"/>
          <p:cNvSpPr/>
          <p:nvPr/>
        </p:nvSpPr>
        <p:spPr>
          <a:xfrm>
            <a:off x="2981814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5" name="ffar_component_oval_40"/>
          <p:cNvSpPr/>
          <p:nvPr/>
        </p:nvSpPr>
        <p:spPr>
          <a:xfrm>
            <a:off x="2981814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6" name="ffar_component_path_41"/>
          <p:cNvSpPr/>
          <p:nvPr/>
        </p:nvSpPr>
        <p:spPr>
          <a:xfrm>
            <a:off x="302482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7" name="ffar_component_path_42"/>
          <p:cNvSpPr/>
          <p:nvPr/>
        </p:nvSpPr>
        <p:spPr>
          <a:xfrm>
            <a:off x="3043024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8" name="ffar_component_oval_43"/>
          <p:cNvSpPr/>
          <p:nvPr/>
        </p:nvSpPr>
        <p:spPr>
          <a:xfrm>
            <a:off x="3028722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9" name="ffar_component_oval_44"/>
          <p:cNvSpPr/>
          <p:nvPr/>
        </p:nvSpPr>
        <p:spPr>
          <a:xfrm>
            <a:off x="3028722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0" name="ffar_component_path_45"/>
          <p:cNvSpPr/>
          <p:nvPr/>
        </p:nvSpPr>
        <p:spPr>
          <a:xfrm>
            <a:off x="307172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1" name="ffar_component_path_46"/>
          <p:cNvSpPr/>
          <p:nvPr/>
        </p:nvSpPr>
        <p:spPr>
          <a:xfrm>
            <a:off x="308993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2" name="ffar_component_oval_47"/>
          <p:cNvSpPr/>
          <p:nvPr/>
        </p:nvSpPr>
        <p:spPr>
          <a:xfrm>
            <a:off x="3075630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3" name="ffar_component_oval_48"/>
          <p:cNvSpPr/>
          <p:nvPr/>
        </p:nvSpPr>
        <p:spPr>
          <a:xfrm>
            <a:off x="3075630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4" name="ffar_component_path_49"/>
          <p:cNvSpPr/>
          <p:nvPr/>
        </p:nvSpPr>
        <p:spPr>
          <a:xfrm>
            <a:off x="311863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5" name="ffar_component_path_50"/>
          <p:cNvSpPr/>
          <p:nvPr/>
        </p:nvSpPr>
        <p:spPr>
          <a:xfrm>
            <a:off x="313683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6" name="ffar_component_oval_51"/>
          <p:cNvSpPr/>
          <p:nvPr/>
        </p:nvSpPr>
        <p:spPr>
          <a:xfrm>
            <a:off x="3122538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7" name="ffar_component_oval_52"/>
          <p:cNvSpPr/>
          <p:nvPr/>
        </p:nvSpPr>
        <p:spPr>
          <a:xfrm>
            <a:off x="3122538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8" name="ffar_component_path_53"/>
          <p:cNvSpPr/>
          <p:nvPr/>
        </p:nvSpPr>
        <p:spPr>
          <a:xfrm>
            <a:off x="316554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9" name="ffar_component_path_54"/>
          <p:cNvSpPr/>
          <p:nvPr/>
        </p:nvSpPr>
        <p:spPr>
          <a:xfrm>
            <a:off x="318374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0" name="ffar_component_oval_55"/>
          <p:cNvSpPr/>
          <p:nvPr/>
        </p:nvSpPr>
        <p:spPr>
          <a:xfrm>
            <a:off x="3169445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1" name="ffar_component_oval_56"/>
          <p:cNvSpPr/>
          <p:nvPr/>
        </p:nvSpPr>
        <p:spPr>
          <a:xfrm>
            <a:off x="3169445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2" name="ffar_component_path_57"/>
          <p:cNvSpPr/>
          <p:nvPr/>
        </p:nvSpPr>
        <p:spPr>
          <a:xfrm>
            <a:off x="321245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3" name="ffar_component_path_58"/>
          <p:cNvSpPr/>
          <p:nvPr/>
        </p:nvSpPr>
        <p:spPr>
          <a:xfrm>
            <a:off x="323065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4" name="ffar_component_oval_59"/>
          <p:cNvSpPr/>
          <p:nvPr/>
        </p:nvSpPr>
        <p:spPr>
          <a:xfrm>
            <a:off x="3216353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5" name="ffar_component_oval_60"/>
          <p:cNvSpPr/>
          <p:nvPr/>
        </p:nvSpPr>
        <p:spPr>
          <a:xfrm>
            <a:off x="3216353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6" name="ffar_component_path_61"/>
          <p:cNvSpPr/>
          <p:nvPr/>
        </p:nvSpPr>
        <p:spPr>
          <a:xfrm>
            <a:off x="325936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7" name="ffar_component_path_62"/>
          <p:cNvSpPr/>
          <p:nvPr/>
        </p:nvSpPr>
        <p:spPr>
          <a:xfrm>
            <a:off x="327756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8" name="ffar_component_oval_63"/>
          <p:cNvSpPr/>
          <p:nvPr/>
        </p:nvSpPr>
        <p:spPr>
          <a:xfrm>
            <a:off x="3263261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9" name="ffar_component_oval_64"/>
          <p:cNvSpPr/>
          <p:nvPr/>
        </p:nvSpPr>
        <p:spPr>
          <a:xfrm>
            <a:off x="3263261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0" name="ffar_component_path_65"/>
          <p:cNvSpPr/>
          <p:nvPr/>
        </p:nvSpPr>
        <p:spPr>
          <a:xfrm>
            <a:off x="330626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1" name="ffar_component_path_66"/>
          <p:cNvSpPr/>
          <p:nvPr/>
        </p:nvSpPr>
        <p:spPr>
          <a:xfrm>
            <a:off x="332447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2" name="ffar_component_oval_67"/>
          <p:cNvSpPr/>
          <p:nvPr/>
        </p:nvSpPr>
        <p:spPr>
          <a:xfrm>
            <a:off x="3310169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3" name="ffar_component_oval_68"/>
          <p:cNvSpPr/>
          <p:nvPr/>
        </p:nvSpPr>
        <p:spPr>
          <a:xfrm>
            <a:off x="3310169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4" name="ffar_component_path_69"/>
          <p:cNvSpPr/>
          <p:nvPr/>
        </p:nvSpPr>
        <p:spPr>
          <a:xfrm>
            <a:off x="335317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5" name="ffar_component_path_70"/>
          <p:cNvSpPr/>
          <p:nvPr/>
        </p:nvSpPr>
        <p:spPr>
          <a:xfrm>
            <a:off x="337137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6" name="ffar_component_oval_71"/>
          <p:cNvSpPr/>
          <p:nvPr/>
        </p:nvSpPr>
        <p:spPr>
          <a:xfrm>
            <a:off x="3357077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7" name="ffar_component_oval_72"/>
          <p:cNvSpPr/>
          <p:nvPr/>
        </p:nvSpPr>
        <p:spPr>
          <a:xfrm>
            <a:off x="3357077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8" name="ffar_component_path_73"/>
          <p:cNvSpPr/>
          <p:nvPr/>
        </p:nvSpPr>
        <p:spPr>
          <a:xfrm>
            <a:off x="2733866" y="5311462"/>
            <a:ext cx="182023" cy="174403"/>
          </a:xfrm>
          <a:custGeom>
            <a:avLst/>
            <a:gdLst/>
            <a:ahLst/>
            <a:cxnLst/>
            <a:rect l="0" t="0" r="r" b="b"/>
            <a:pathLst>
              <a:path w="182023" h="174403">
                <a:moveTo>
                  <a:pt x="112681" y="154280"/>
                </a:moveTo>
                <a:cubicBezTo>
                  <a:pt x="0" y="107325"/>
                  <a:pt x="0" y="0"/>
                  <a:pt x="86678" y="0"/>
                </a:cubicBezTo>
                <a:cubicBezTo>
                  <a:pt x="156019" y="0"/>
                  <a:pt x="112681" y="87202"/>
                  <a:pt x="95345" y="100617"/>
                </a:cubicBezTo>
                <a:lnTo>
                  <a:pt x="182023" y="174403"/>
                </a:ln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9" name="ffar_component_path_74"/>
          <p:cNvSpPr/>
          <p:nvPr/>
        </p:nvSpPr>
        <p:spPr>
          <a:xfrm>
            <a:off x="2733866" y="5311462"/>
            <a:ext cx="182023" cy="174403"/>
          </a:xfrm>
          <a:custGeom>
            <a:avLst/>
            <a:gdLst/>
            <a:ahLst/>
            <a:cxnLst/>
            <a:rect l="0" t="0" r="r" b="b"/>
            <a:pathLst>
              <a:path w="182023" h="174403">
                <a:moveTo>
                  <a:pt x="112681" y="154280"/>
                </a:moveTo>
                <a:cubicBezTo>
                  <a:pt x="0" y="107325"/>
                  <a:pt x="0" y="0"/>
                  <a:pt x="86678" y="0"/>
                </a:cubicBezTo>
                <a:cubicBezTo>
                  <a:pt x="156019" y="0"/>
                  <a:pt x="112681" y="87202"/>
                  <a:pt x="95345" y="100617"/>
                </a:cubicBezTo>
                <a:lnTo>
                  <a:pt x="182023" y="174403"/>
                </a:ln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0" name="ffar_component_path_75"/>
          <p:cNvSpPr/>
          <p:nvPr/>
        </p:nvSpPr>
        <p:spPr>
          <a:xfrm>
            <a:off x="2933224" y="5371833"/>
            <a:ext cx="112681" cy="114033"/>
          </a:xfrm>
          <a:custGeom>
            <a:avLst/>
            <a:gdLst/>
            <a:ahLst/>
            <a:cxnLst/>
            <a:rect l="0" t="0" r="r" b="b"/>
            <a:pathLst>
              <a:path w="112681" h="114033">
                <a:moveTo>
                  <a:pt x="17335" y="114033"/>
                </a:moveTo>
                <a:cubicBezTo>
                  <a:pt x="0" y="26831"/>
                  <a:pt x="52006" y="0"/>
                  <a:pt x="95345" y="46955"/>
                </a:cubicBezTo>
                <a:lnTo>
                  <a:pt x="112681" y="100617"/>
                </a:ln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1" name="ffar_component_path_76"/>
          <p:cNvSpPr/>
          <p:nvPr/>
        </p:nvSpPr>
        <p:spPr>
          <a:xfrm>
            <a:off x="2933224" y="5371833"/>
            <a:ext cx="112681" cy="114033"/>
          </a:xfrm>
          <a:custGeom>
            <a:avLst/>
            <a:gdLst/>
            <a:ahLst/>
            <a:cxnLst/>
            <a:rect l="0" t="0" r="r" b="b"/>
            <a:pathLst>
              <a:path w="112681" h="114033">
                <a:moveTo>
                  <a:pt x="17335" y="114033"/>
                </a:moveTo>
                <a:cubicBezTo>
                  <a:pt x="0" y="26831"/>
                  <a:pt x="52006" y="0"/>
                  <a:pt x="95345" y="46955"/>
                </a:cubicBezTo>
                <a:lnTo>
                  <a:pt x="112681" y="100617"/>
                </a:ln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2" name="ffar_component_path_77"/>
          <p:cNvSpPr/>
          <p:nvPr/>
        </p:nvSpPr>
        <p:spPr>
          <a:xfrm>
            <a:off x="3089243" y="5318170"/>
            <a:ext cx="242697" cy="181111"/>
          </a:xfrm>
          <a:custGeom>
            <a:avLst/>
            <a:gdLst/>
            <a:ahLst/>
            <a:cxnLst/>
            <a:rect l="0" t="0" r="r" b="b"/>
            <a:pathLst>
              <a:path w="242697" h="181111">
                <a:moveTo>
                  <a:pt x="0" y="167695"/>
                </a:moveTo>
                <a:cubicBezTo>
                  <a:pt x="17335" y="100617"/>
                  <a:pt x="104013" y="120741"/>
                  <a:pt x="112681" y="73786"/>
                </a:cubicBezTo>
                <a:cubicBezTo>
                  <a:pt x="147352" y="0"/>
                  <a:pt x="242697" y="20123"/>
                  <a:pt x="208026" y="93909"/>
                </a:cubicBezTo>
                <a:cubicBezTo>
                  <a:pt x="190691" y="134156"/>
                  <a:pt x="112681" y="160987"/>
                  <a:pt x="78010" y="181111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3" name="ffar_component_path_78"/>
          <p:cNvSpPr/>
          <p:nvPr/>
        </p:nvSpPr>
        <p:spPr>
          <a:xfrm>
            <a:off x="3089243" y="5318170"/>
            <a:ext cx="242697" cy="181111"/>
          </a:xfrm>
          <a:custGeom>
            <a:avLst/>
            <a:gdLst/>
            <a:ahLst/>
            <a:cxnLst/>
            <a:rect l="0" t="0" r="r" b="b"/>
            <a:pathLst>
              <a:path w="242697" h="181111">
                <a:moveTo>
                  <a:pt x="0" y="167695"/>
                </a:moveTo>
                <a:cubicBezTo>
                  <a:pt x="17335" y="100617"/>
                  <a:pt x="104013" y="120741"/>
                  <a:pt x="112681" y="73786"/>
                </a:cubicBezTo>
                <a:cubicBezTo>
                  <a:pt x="147352" y="0"/>
                  <a:pt x="242697" y="20123"/>
                  <a:pt x="208026" y="93909"/>
                </a:cubicBezTo>
                <a:cubicBezTo>
                  <a:pt x="190691" y="134156"/>
                  <a:pt x="112681" y="160987"/>
                  <a:pt x="78010" y="181111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4" name="ffar_component_path_79"/>
          <p:cNvSpPr/>
          <p:nvPr/>
        </p:nvSpPr>
        <p:spPr>
          <a:xfrm>
            <a:off x="2889885" y="5774301"/>
            <a:ext cx="26003" cy="127448"/>
          </a:xfrm>
          <a:custGeom>
            <a:avLst/>
            <a:gdLst/>
            <a:ahLst/>
            <a:cxnLst/>
            <a:rect l="0" t="0" r="r" b="b"/>
            <a:pathLst>
              <a:path w="26003" h="127448">
                <a:moveTo>
                  <a:pt x="0" y="0"/>
                </a:moveTo>
                <a:cubicBezTo>
                  <a:pt x="0" y="67078"/>
                  <a:pt x="26003" y="67078"/>
                  <a:pt x="17336" y="127448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5" name="ffar_component_path_80"/>
          <p:cNvSpPr/>
          <p:nvPr/>
        </p:nvSpPr>
        <p:spPr>
          <a:xfrm>
            <a:off x="2889885" y="5774301"/>
            <a:ext cx="26003" cy="127448"/>
          </a:xfrm>
          <a:custGeom>
            <a:avLst/>
            <a:gdLst/>
            <a:ahLst/>
            <a:cxnLst/>
            <a:rect l="0" t="0" r="r" b="b"/>
            <a:pathLst>
              <a:path w="26003" h="127448">
                <a:moveTo>
                  <a:pt x="0" y="0"/>
                </a:moveTo>
                <a:cubicBezTo>
                  <a:pt x="0" y="67078"/>
                  <a:pt x="26003" y="67078"/>
                  <a:pt x="17336" y="127448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6" name="ffar_component_path_81"/>
          <p:cNvSpPr/>
          <p:nvPr/>
        </p:nvSpPr>
        <p:spPr>
          <a:xfrm>
            <a:off x="3011234" y="5774301"/>
            <a:ext cx="60674" cy="93909"/>
          </a:xfrm>
          <a:custGeom>
            <a:avLst/>
            <a:gdLst/>
            <a:ahLst/>
            <a:cxnLst/>
            <a:rect l="0" t="0" r="r" b="b"/>
            <a:pathLst>
              <a:path w="60674" h="93909">
                <a:moveTo>
                  <a:pt x="0" y="0"/>
                </a:moveTo>
                <a:cubicBezTo>
                  <a:pt x="0" y="93909"/>
                  <a:pt x="34671" y="87202"/>
                  <a:pt x="60674" y="20123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7" name="ffar_component_path_82"/>
          <p:cNvSpPr/>
          <p:nvPr/>
        </p:nvSpPr>
        <p:spPr>
          <a:xfrm>
            <a:off x="3011234" y="5774301"/>
            <a:ext cx="60674" cy="93909"/>
          </a:xfrm>
          <a:custGeom>
            <a:avLst/>
            <a:gdLst/>
            <a:ahLst/>
            <a:cxnLst/>
            <a:rect l="0" t="0" r="r" b="b"/>
            <a:pathLst>
              <a:path w="60674" h="93909">
                <a:moveTo>
                  <a:pt x="0" y="0"/>
                </a:moveTo>
                <a:cubicBezTo>
                  <a:pt x="0" y="93909"/>
                  <a:pt x="34671" y="87202"/>
                  <a:pt x="60674" y="20123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8" name="ffar_component_path_83"/>
          <p:cNvSpPr/>
          <p:nvPr/>
        </p:nvSpPr>
        <p:spPr>
          <a:xfrm>
            <a:off x="3115246" y="5774301"/>
            <a:ext cx="52006" cy="93909"/>
          </a:xfrm>
          <a:custGeom>
            <a:avLst/>
            <a:gdLst/>
            <a:ahLst/>
            <a:cxnLst/>
            <a:rect l="0" t="0" r="r" b="b"/>
            <a:pathLst>
              <a:path w="52006" h="93909">
                <a:moveTo>
                  <a:pt x="26003" y="0"/>
                </a:moveTo>
                <a:cubicBezTo>
                  <a:pt x="52006" y="67078"/>
                  <a:pt x="34671" y="93909"/>
                  <a:pt x="0" y="87202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9" name="ffar_component_path_84"/>
          <p:cNvSpPr/>
          <p:nvPr/>
        </p:nvSpPr>
        <p:spPr>
          <a:xfrm>
            <a:off x="3115246" y="5774301"/>
            <a:ext cx="52006" cy="93909"/>
          </a:xfrm>
          <a:custGeom>
            <a:avLst/>
            <a:gdLst/>
            <a:ahLst/>
            <a:cxnLst/>
            <a:rect l="0" t="0" r="r" b="b"/>
            <a:pathLst>
              <a:path w="52006" h="93909">
                <a:moveTo>
                  <a:pt x="26003" y="0"/>
                </a:moveTo>
                <a:cubicBezTo>
                  <a:pt x="52006" y="67078"/>
                  <a:pt x="34671" y="93909"/>
                  <a:pt x="0" y="87202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0" name="ffar_component_path_85"/>
          <p:cNvSpPr/>
          <p:nvPr/>
        </p:nvSpPr>
        <p:spPr>
          <a:xfrm>
            <a:off x="2820543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1" name="ffar_component_path_86"/>
          <p:cNvSpPr/>
          <p:nvPr/>
        </p:nvSpPr>
        <p:spPr>
          <a:xfrm>
            <a:off x="2842212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2" name="ffar_component_path_87"/>
          <p:cNvSpPr/>
          <p:nvPr/>
        </p:nvSpPr>
        <p:spPr>
          <a:xfrm>
            <a:off x="2820543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3" name="ffar_component_path_88"/>
          <p:cNvSpPr/>
          <p:nvPr/>
        </p:nvSpPr>
        <p:spPr>
          <a:xfrm>
            <a:off x="2842212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4" name="ffar_component_oval_89"/>
          <p:cNvSpPr/>
          <p:nvPr/>
        </p:nvSpPr>
        <p:spPr>
          <a:xfrm>
            <a:off x="2820543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5" name="ffar_component_path_90"/>
          <p:cNvSpPr/>
          <p:nvPr/>
        </p:nvSpPr>
        <p:spPr>
          <a:xfrm>
            <a:off x="2829211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6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6" name="ffar_component_path_91"/>
          <p:cNvSpPr/>
          <p:nvPr/>
        </p:nvSpPr>
        <p:spPr>
          <a:xfrm>
            <a:off x="2941892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7" name="ffar_component_path_92"/>
          <p:cNvSpPr/>
          <p:nvPr/>
        </p:nvSpPr>
        <p:spPr>
          <a:xfrm>
            <a:off x="2963561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8" name="ffar_component_path_93"/>
          <p:cNvSpPr/>
          <p:nvPr/>
        </p:nvSpPr>
        <p:spPr>
          <a:xfrm>
            <a:off x="2941892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9" name="ffar_component_path_94"/>
          <p:cNvSpPr/>
          <p:nvPr/>
        </p:nvSpPr>
        <p:spPr>
          <a:xfrm>
            <a:off x="2963561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0" name="ffar_component_oval_95"/>
          <p:cNvSpPr/>
          <p:nvPr/>
        </p:nvSpPr>
        <p:spPr>
          <a:xfrm>
            <a:off x="2941892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1" name="ffar_component_path_96"/>
          <p:cNvSpPr/>
          <p:nvPr/>
        </p:nvSpPr>
        <p:spPr>
          <a:xfrm>
            <a:off x="2950559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6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2" name="ffar_component_path_97"/>
          <p:cNvSpPr/>
          <p:nvPr/>
        </p:nvSpPr>
        <p:spPr>
          <a:xfrm>
            <a:off x="3063240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3" name="ffar_component_path_98"/>
          <p:cNvSpPr/>
          <p:nvPr/>
        </p:nvSpPr>
        <p:spPr>
          <a:xfrm>
            <a:off x="3084909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4" name="ffar_component_path_99"/>
          <p:cNvSpPr/>
          <p:nvPr/>
        </p:nvSpPr>
        <p:spPr>
          <a:xfrm>
            <a:off x="3063240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5" name="ffar_component_path_100"/>
          <p:cNvSpPr/>
          <p:nvPr/>
        </p:nvSpPr>
        <p:spPr>
          <a:xfrm>
            <a:off x="3084909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6" name="ffar_component_oval_101"/>
          <p:cNvSpPr/>
          <p:nvPr/>
        </p:nvSpPr>
        <p:spPr>
          <a:xfrm>
            <a:off x="3063240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7" name="ffar_component_path_102"/>
          <p:cNvSpPr/>
          <p:nvPr/>
        </p:nvSpPr>
        <p:spPr>
          <a:xfrm>
            <a:off x="3071908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5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8" name="nucleosome_component_path_1"/>
          <p:cNvSpPr/>
          <p:nvPr/>
        </p:nvSpPr>
        <p:spPr>
          <a:xfrm>
            <a:off x="3991356" y="6177814"/>
            <a:ext cx="665988" cy="95881"/>
          </a:xfrm>
          <a:custGeom>
            <a:avLst/>
            <a:gdLst/>
            <a:ahLst/>
            <a:cxnLst/>
            <a:rect l="0" t="0" r="r" b="b"/>
            <a:pathLst>
              <a:path w="665988" h="95881">
                <a:moveTo>
                  <a:pt x="0" y="65918"/>
                </a:moveTo>
                <a:cubicBezTo>
                  <a:pt x="101346" y="23970"/>
                  <a:pt x="152019" y="0"/>
                  <a:pt x="231648" y="23970"/>
                </a:cubicBezTo>
                <a:cubicBezTo>
                  <a:pt x="383667" y="53933"/>
                  <a:pt x="412623" y="11985"/>
                  <a:pt x="492252" y="47940"/>
                </a:cubicBezTo>
                <a:cubicBezTo>
                  <a:pt x="571881" y="95881"/>
                  <a:pt x="608076" y="53933"/>
                  <a:pt x="665988" y="47940"/>
                </a:cubicBezTo>
              </a:path>
            </a:pathLst>
          </a:custGeom>
          <a:noFill/>
          <a:ln w="29860" cap="rnd">
            <a:solidFill>
              <a:srgbClr val="3F705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9" name="nucleosome_component_path_2"/>
          <p:cNvSpPr/>
          <p:nvPr/>
        </p:nvSpPr>
        <p:spPr>
          <a:xfrm>
            <a:off x="3991356" y="6177814"/>
            <a:ext cx="665988" cy="95881"/>
          </a:xfrm>
          <a:custGeom>
            <a:avLst/>
            <a:gdLst/>
            <a:ahLst/>
            <a:cxnLst/>
            <a:rect l="0" t="0" r="r" b="b"/>
            <a:pathLst>
              <a:path w="665988" h="95881">
                <a:moveTo>
                  <a:pt x="0" y="65918"/>
                </a:moveTo>
                <a:cubicBezTo>
                  <a:pt x="101346" y="23970"/>
                  <a:pt x="152019" y="0"/>
                  <a:pt x="231648" y="23970"/>
                </a:cubicBezTo>
                <a:cubicBezTo>
                  <a:pt x="383667" y="53933"/>
                  <a:pt x="412623" y="11985"/>
                  <a:pt x="492252" y="47940"/>
                </a:cubicBezTo>
                <a:cubicBezTo>
                  <a:pt x="571881" y="95881"/>
                  <a:pt x="608076" y="53933"/>
                  <a:pt x="665988" y="47940"/>
                </a:cubicBezTo>
              </a:path>
            </a:pathLst>
          </a:custGeom>
          <a:noFill/>
          <a:ln w="16423" cap="rnd">
            <a:solidFill>
              <a:srgbClr val="8EB07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0" name="nucleosome_component_oval_3"/>
          <p:cNvSpPr/>
          <p:nvPr/>
        </p:nvSpPr>
        <p:spPr>
          <a:xfrm rot="720000">
            <a:off x="4367784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1" name="nucleosome_component_oval_4"/>
          <p:cNvSpPr/>
          <p:nvPr/>
        </p:nvSpPr>
        <p:spPr>
          <a:xfrm rot="720000">
            <a:off x="4295394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ABCDCA"/>
              </a:gs>
              <a:gs pos="40000">
                <a:srgbClr val="659F9F"/>
              </a:gs>
              <a:gs pos="100000">
                <a:srgbClr val="347D83"/>
              </a:gs>
            </a:gsLst>
            <a:lin ang="1200000" scaled="1"/>
          </a:gradFill>
          <a:ln w="9048">
            <a:solidFill>
              <a:srgbClr val="326F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2" name="nucleosome_component_oval_5"/>
          <p:cNvSpPr/>
          <p:nvPr/>
        </p:nvSpPr>
        <p:spPr>
          <a:xfrm rot="720000">
            <a:off x="4230243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3" name="nucleosome_component_oval_6"/>
          <p:cNvSpPr/>
          <p:nvPr/>
        </p:nvSpPr>
        <p:spPr>
          <a:xfrm rot="720000">
            <a:off x="4165092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ABCDCA"/>
              </a:gs>
              <a:gs pos="40000">
                <a:srgbClr val="659F9F"/>
              </a:gs>
              <a:gs pos="100000">
                <a:srgbClr val="347D83"/>
              </a:gs>
            </a:gsLst>
            <a:lin ang="1200000" scaled="1"/>
          </a:gradFill>
          <a:ln w="9048">
            <a:solidFill>
              <a:srgbClr val="326F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4" name="nucleosome_component_oval_7"/>
          <p:cNvSpPr/>
          <p:nvPr/>
        </p:nvSpPr>
        <p:spPr>
          <a:xfrm rot="720000">
            <a:off x="4099941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5" name="nucleosome_component_oval_8"/>
          <p:cNvSpPr/>
          <p:nvPr/>
        </p:nvSpPr>
        <p:spPr>
          <a:xfrm rot="720000">
            <a:off x="4103560" y="5824254"/>
            <a:ext cx="137541" cy="371538"/>
          </a:xfrm>
          <a:prstGeom prst="ellipse">
            <a:avLst/>
          </a:prstGeom>
          <a:gradFill rotWithShape="1">
            <a:gsLst>
              <a:gs pos="0">
                <a:srgbClr val="F9F3DE"/>
              </a:gs>
              <a:gs pos="50000">
                <a:srgbClr val="E1D4AB"/>
              </a:gs>
              <a:gs pos="100000">
                <a:srgbClr val="C9BD8F"/>
              </a:gs>
            </a:gsLst>
            <a:lin ang="1500000" scaled="1"/>
          </a:gradFill>
          <a:ln w="7691">
            <a:solidFill>
              <a:srgbClr val="9B95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6" name="nucleosome_component_path_9"/>
          <p:cNvSpPr/>
          <p:nvPr/>
        </p:nvSpPr>
        <p:spPr>
          <a:xfrm>
            <a:off x="4121658" y="5860209"/>
            <a:ext cx="65151" cy="239702"/>
          </a:xfrm>
          <a:custGeom>
            <a:avLst/>
            <a:gdLst/>
            <a:ahLst/>
            <a:cxnLst/>
            <a:rect l="0" t="0" r="r" b="b"/>
            <a:pathLst>
              <a:path w="65151" h="239702">
                <a:moveTo>
                  <a:pt x="0" y="239702"/>
                </a:moveTo>
                <a:cubicBezTo>
                  <a:pt x="7239" y="137829"/>
                  <a:pt x="28956" y="41948"/>
                  <a:pt x="65151" y="0"/>
                </a:cubicBezTo>
              </a:path>
            </a:pathLst>
          </a:custGeom>
          <a:noFill/>
          <a:ln w="12668" cap="rnd">
            <a:solidFill>
              <a:srgbClr val="FFF9E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7" name="nucleosome_component_path_10"/>
          <p:cNvSpPr/>
          <p:nvPr/>
        </p:nvSpPr>
        <p:spPr>
          <a:xfrm>
            <a:off x="4476369" y="5788298"/>
            <a:ext cx="79629" cy="65918"/>
          </a:xfrm>
          <a:custGeom>
            <a:avLst/>
            <a:gdLst/>
            <a:ahLst/>
            <a:cxnLst/>
            <a:rect l="0" t="0" r="r" b="b"/>
            <a:pathLst>
              <a:path w="79629" h="65918">
                <a:moveTo>
                  <a:pt x="0" y="65918"/>
                </a:moveTo>
                <a:lnTo>
                  <a:pt x="79629" y="0"/>
                </a:lnTo>
              </a:path>
            </a:pathLst>
          </a:custGeom>
          <a:noFill/>
          <a:ln w="18097" cap="rnd">
            <a:solidFill>
              <a:srgbClr val="7D815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8" name="nucleosome_component_path_11"/>
          <p:cNvSpPr/>
          <p:nvPr/>
        </p:nvSpPr>
        <p:spPr>
          <a:xfrm>
            <a:off x="4508754" y="5716388"/>
            <a:ext cx="137921" cy="131836"/>
          </a:xfrm>
          <a:custGeom>
            <a:avLst/>
            <a:gdLst/>
            <a:ahLst/>
            <a:cxnLst/>
            <a:rect l="0" t="0" r="r" b="b"/>
            <a:pathLst>
              <a:path w="137921" h="131836">
                <a:moveTo>
                  <a:pt x="68961" y="0"/>
                </a:moveTo>
                <a:lnTo>
                  <a:pt x="137921" y="32959"/>
                </a:lnTo>
                <a:lnTo>
                  <a:pt x="137921" y="98877"/>
                </a:lnTo>
                <a:lnTo>
                  <a:pt x="68961" y="131836"/>
                </a:lnTo>
                <a:lnTo>
                  <a:pt x="0" y="98877"/>
                </a:lnTo>
                <a:lnTo>
                  <a:pt x="0" y="32959"/>
                </a:lnTo>
                <a:close/>
              </a:path>
            </a:pathLst>
          </a:custGeom>
          <a:gradFill rotWithShape="1">
            <a:gsLst>
              <a:gs pos="0">
                <a:srgbClr val="C6DBAA"/>
              </a:gs>
              <a:gs pos="45000">
                <a:srgbClr val="8BB575"/>
              </a:gs>
              <a:gs pos="100000">
                <a:srgbClr val="608B51"/>
              </a:gs>
            </a:gsLst>
            <a:lin ang="3600000" scaled="1"/>
          </a:gradFill>
          <a:ln w="9048" cap="rnd">
            <a:solidFill>
              <a:srgbClr val="4E77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9" name="nucleosome_component_path_12"/>
          <p:cNvSpPr/>
          <p:nvPr/>
        </p:nvSpPr>
        <p:spPr>
          <a:xfrm>
            <a:off x="4541520" y="5740358"/>
            <a:ext cx="28956" cy="17978"/>
          </a:xfrm>
          <a:custGeom>
            <a:avLst/>
            <a:gdLst/>
            <a:ahLst/>
            <a:cxnLst/>
            <a:rect l="0" t="0" r="r" b="b"/>
            <a:pathLst>
              <a:path w="28956" h="17978">
                <a:moveTo>
                  <a:pt x="0" y="17978"/>
                </a:moveTo>
                <a:lnTo>
                  <a:pt x="28956" y="0"/>
                </a:lnTo>
              </a:path>
            </a:pathLst>
          </a:custGeom>
          <a:noFill/>
          <a:ln w="9048" cap="rnd">
            <a:solidFill>
              <a:srgbClr val="DCEA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0" name="perivascular_macrophage_component_path_1"/>
          <p:cNvSpPr/>
          <p:nvPr/>
        </p:nvSpPr>
        <p:spPr>
          <a:xfrm>
            <a:off x="8653711" y="5345087"/>
            <a:ext cx="757291" cy="732929"/>
          </a:xfrm>
          <a:custGeom>
            <a:avLst/>
            <a:gdLst/>
            <a:ahLst/>
            <a:cxnLst/>
            <a:rect l="0" t="0" r="r" b="b"/>
            <a:pathLst>
              <a:path w="757291" h="732929">
                <a:moveTo>
                  <a:pt x="756643" y="370233"/>
                </a:moveTo>
                <a:cubicBezTo>
                  <a:pt x="755994" y="377231"/>
                  <a:pt x="752112" y="384490"/>
                  <a:pt x="747382" y="391120"/>
                </a:cubicBezTo>
                <a:cubicBezTo>
                  <a:pt x="742653" y="397749"/>
                  <a:pt x="734809" y="404058"/>
                  <a:pt x="728264" y="410009"/>
                </a:cubicBezTo>
                <a:cubicBezTo>
                  <a:pt x="721718" y="415961"/>
                  <a:pt x="713625" y="421273"/>
                  <a:pt x="708109" y="426828"/>
                </a:cubicBezTo>
                <a:cubicBezTo>
                  <a:pt x="702594" y="432383"/>
                  <a:pt x="697699" y="437499"/>
                  <a:pt x="695169" y="443340"/>
                </a:cubicBezTo>
                <a:cubicBezTo>
                  <a:pt x="692638" y="449180"/>
                  <a:pt x="692363" y="455181"/>
                  <a:pt x="692926" y="461871"/>
                </a:cubicBezTo>
                <a:cubicBezTo>
                  <a:pt x="693489" y="468561"/>
                  <a:pt x="696581" y="475989"/>
                  <a:pt x="698547" y="483480"/>
                </a:cubicBezTo>
                <a:cubicBezTo>
                  <a:pt x="700513" y="490971"/>
                  <a:pt x="703846" y="499300"/>
                  <a:pt x="704722" y="506819"/>
                </a:cubicBezTo>
                <a:cubicBezTo>
                  <a:pt x="705598" y="514337"/>
                  <a:pt x="705934" y="522148"/>
                  <a:pt x="703802" y="528592"/>
                </a:cubicBezTo>
                <a:cubicBezTo>
                  <a:pt x="701669" y="535037"/>
                  <a:pt x="697404" y="540844"/>
                  <a:pt x="691929" y="545487"/>
                </a:cubicBezTo>
                <a:cubicBezTo>
                  <a:pt x="686455" y="550129"/>
                  <a:pt x="678411" y="553389"/>
                  <a:pt x="670954" y="556448"/>
                </a:cubicBezTo>
                <a:cubicBezTo>
                  <a:pt x="663497" y="559506"/>
                  <a:pt x="654378" y="561153"/>
                  <a:pt x="647188" y="563837"/>
                </a:cubicBezTo>
                <a:cubicBezTo>
                  <a:pt x="639997" y="566521"/>
                  <a:pt x="632844" y="568626"/>
                  <a:pt x="627813" y="572554"/>
                </a:cubicBezTo>
                <a:cubicBezTo>
                  <a:pt x="622782" y="576481"/>
                  <a:pt x="619329" y="581140"/>
                  <a:pt x="617001" y="587402"/>
                </a:cubicBezTo>
                <a:cubicBezTo>
                  <a:pt x="614674" y="593664"/>
                  <a:pt x="614493" y="601715"/>
                  <a:pt x="613845" y="610125"/>
                </a:cubicBezTo>
                <a:cubicBezTo>
                  <a:pt x="613198" y="618535"/>
                  <a:pt x="614044" y="628863"/>
                  <a:pt x="613114" y="637863"/>
                </a:cubicBezTo>
                <a:cubicBezTo>
                  <a:pt x="612184" y="646864"/>
                  <a:pt x="611296" y="656778"/>
                  <a:pt x="608265" y="664128"/>
                </a:cubicBezTo>
                <a:cubicBezTo>
                  <a:pt x="605234" y="671479"/>
                  <a:pt x="600811" y="678040"/>
                  <a:pt x="594929" y="681968"/>
                </a:cubicBezTo>
                <a:cubicBezTo>
                  <a:pt x="589046" y="685896"/>
                  <a:pt x="581105" y="687505"/>
                  <a:pt x="572969" y="687696"/>
                </a:cubicBezTo>
                <a:cubicBezTo>
                  <a:pt x="564834" y="687887"/>
                  <a:pt x="555011" y="685253"/>
                  <a:pt x="546116" y="683115"/>
                </a:cubicBezTo>
                <a:cubicBezTo>
                  <a:pt x="537221" y="680977"/>
                  <a:pt x="527739" y="676867"/>
                  <a:pt x="519600" y="674870"/>
                </a:cubicBezTo>
                <a:cubicBezTo>
                  <a:pt x="511461" y="672874"/>
                  <a:pt x="503897" y="670725"/>
                  <a:pt x="497281" y="671135"/>
                </a:cubicBezTo>
                <a:cubicBezTo>
                  <a:pt x="490666" y="671545"/>
                  <a:pt x="485232" y="673653"/>
                  <a:pt x="479906" y="677331"/>
                </a:cubicBezTo>
                <a:cubicBezTo>
                  <a:pt x="474581" y="681009"/>
                  <a:pt x="470260" y="687275"/>
                  <a:pt x="465330" y="693202"/>
                </a:cubicBezTo>
                <a:cubicBezTo>
                  <a:pt x="460400" y="699129"/>
                  <a:pt x="455761" y="707082"/>
                  <a:pt x="450326" y="712894"/>
                </a:cubicBezTo>
                <a:cubicBezTo>
                  <a:pt x="444890" y="718707"/>
                  <a:pt x="439022" y="724817"/>
                  <a:pt x="432718" y="728076"/>
                </a:cubicBezTo>
                <a:cubicBezTo>
                  <a:pt x="426414" y="731336"/>
                  <a:pt x="419391" y="732929"/>
                  <a:pt x="412503" y="732449"/>
                </a:cubicBezTo>
                <a:cubicBezTo>
                  <a:pt x="405614" y="731970"/>
                  <a:pt x="398267" y="728694"/>
                  <a:pt x="391388" y="725200"/>
                </a:cubicBezTo>
                <a:cubicBezTo>
                  <a:pt x="384508" y="721706"/>
                  <a:pt x="377705" y="715744"/>
                  <a:pt x="371227" y="711486"/>
                </a:cubicBezTo>
                <a:cubicBezTo>
                  <a:pt x="364748" y="707227"/>
                  <a:pt x="358716" y="702120"/>
                  <a:pt x="352517" y="699651"/>
                </a:cubicBezTo>
                <a:cubicBezTo>
                  <a:pt x="346317" y="697183"/>
                  <a:pt x="340477" y="695899"/>
                  <a:pt x="334027" y="696676"/>
                </a:cubicBezTo>
                <a:cubicBezTo>
                  <a:pt x="327578" y="697453"/>
                  <a:pt x="321000" y="700753"/>
                  <a:pt x="313819" y="704313"/>
                </a:cubicBezTo>
                <a:cubicBezTo>
                  <a:pt x="306638" y="707872"/>
                  <a:pt x="298812" y="713861"/>
                  <a:pt x="290941" y="718033"/>
                </a:cubicBezTo>
                <a:cubicBezTo>
                  <a:pt x="283070" y="722204"/>
                  <a:pt x="274445" y="727311"/>
                  <a:pt x="266593" y="729342"/>
                </a:cubicBezTo>
                <a:cubicBezTo>
                  <a:pt x="258741" y="731374"/>
                  <a:pt x="250622" y="732231"/>
                  <a:pt x="243830" y="730220"/>
                </a:cubicBezTo>
                <a:cubicBezTo>
                  <a:pt x="237038" y="728210"/>
                  <a:pt x="230845" y="723408"/>
                  <a:pt x="225842" y="717278"/>
                </a:cubicBezTo>
                <a:cubicBezTo>
                  <a:pt x="220839" y="711148"/>
                  <a:pt x="217161" y="701934"/>
                  <a:pt x="213810" y="693438"/>
                </a:cubicBezTo>
                <a:cubicBezTo>
                  <a:pt x="210459" y="684942"/>
                  <a:pt x="208512" y="674514"/>
                  <a:pt x="205736" y="666301"/>
                </a:cubicBezTo>
                <a:cubicBezTo>
                  <a:pt x="202959" y="658088"/>
                  <a:pt x="200858" y="649902"/>
                  <a:pt x="197151" y="644159"/>
                </a:cubicBezTo>
                <a:cubicBezTo>
                  <a:pt x="193444" y="638416"/>
                  <a:pt x="189212" y="634437"/>
                  <a:pt x="183495" y="631842"/>
                </a:cubicBezTo>
                <a:cubicBezTo>
                  <a:pt x="177778" y="629248"/>
                  <a:pt x="170533" y="629075"/>
                  <a:pt x="162851" y="628591"/>
                </a:cubicBezTo>
                <a:cubicBezTo>
                  <a:pt x="155170" y="628106"/>
                  <a:pt x="145782" y="629377"/>
                  <a:pt x="137406" y="628937"/>
                </a:cubicBezTo>
                <a:cubicBezTo>
                  <a:pt x="129031" y="628498"/>
                  <a:pt x="119789" y="628283"/>
                  <a:pt x="112598" y="625954"/>
                </a:cubicBezTo>
                <a:cubicBezTo>
                  <a:pt x="105407" y="623626"/>
                  <a:pt x="98813" y="620005"/>
                  <a:pt x="94260" y="614964"/>
                </a:cubicBezTo>
                <a:cubicBezTo>
                  <a:pt x="89706" y="609923"/>
                  <a:pt x="87036" y="602877"/>
                  <a:pt x="85277" y="595708"/>
                </a:cubicBezTo>
                <a:cubicBezTo>
                  <a:pt x="83517" y="588538"/>
                  <a:pt x="83991" y="579740"/>
                  <a:pt x="83703" y="571949"/>
                </a:cubicBezTo>
                <a:cubicBezTo>
                  <a:pt x="83415" y="564158"/>
                  <a:pt x="84503" y="555872"/>
                  <a:pt x="83548" y="548962"/>
                </a:cubicBezTo>
                <a:cubicBezTo>
                  <a:pt x="82593" y="542051"/>
                  <a:pt x="81361" y="535832"/>
                  <a:pt x="77972" y="530487"/>
                </a:cubicBezTo>
                <a:cubicBezTo>
                  <a:pt x="74583" y="525143"/>
                  <a:pt x="69369" y="521068"/>
                  <a:pt x="63213" y="516897"/>
                </a:cubicBezTo>
                <a:cubicBezTo>
                  <a:pt x="57058" y="512726"/>
                  <a:pt x="48537" y="509552"/>
                  <a:pt x="41042" y="505463"/>
                </a:cubicBezTo>
                <a:cubicBezTo>
                  <a:pt x="33546" y="501373"/>
                  <a:pt x="24540" y="497428"/>
                  <a:pt x="18239" y="492361"/>
                </a:cubicBezTo>
                <a:cubicBezTo>
                  <a:pt x="11937" y="487293"/>
                  <a:pt x="6004" y="481511"/>
                  <a:pt x="3235" y="475058"/>
                </a:cubicBezTo>
                <a:cubicBezTo>
                  <a:pt x="466" y="468605"/>
                  <a:pt x="0" y="461084"/>
                  <a:pt x="1624" y="453644"/>
                </a:cubicBezTo>
                <a:cubicBezTo>
                  <a:pt x="3249" y="446204"/>
                  <a:pt x="8121" y="437998"/>
                  <a:pt x="12982" y="430417"/>
                </a:cubicBezTo>
                <a:cubicBezTo>
                  <a:pt x="17843" y="422836"/>
                  <a:pt x="25352" y="415177"/>
                  <a:pt x="30791" y="408160"/>
                </a:cubicBezTo>
                <a:cubicBezTo>
                  <a:pt x="36229" y="401142"/>
                  <a:pt x="42431" y="394635"/>
                  <a:pt x="45611" y="388313"/>
                </a:cubicBezTo>
                <a:cubicBezTo>
                  <a:pt x="48791" y="381992"/>
                  <a:pt x="50517" y="376296"/>
                  <a:pt x="49869" y="370233"/>
                </a:cubicBezTo>
                <a:cubicBezTo>
                  <a:pt x="49220" y="364170"/>
                  <a:pt x="45709" y="358347"/>
                  <a:pt x="41720" y="351936"/>
                </a:cubicBezTo>
                <a:cubicBezTo>
                  <a:pt x="37731" y="345525"/>
                  <a:pt x="31000" y="338793"/>
                  <a:pt x="25934" y="331765"/>
                </a:cubicBezTo>
                <a:cubicBezTo>
                  <a:pt x="20867" y="324737"/>
                  <a:pt x="14624" y="317091"/>
                  <a:pt x="11321" y="309770"/>
                </a:cubicBezTo>
                <a:cubicBezTo>
                  <a:pt x="8018" y="302448"/>
                  <a:pt x="5706" y="294728"/>
                  <a:pt x="6115" y="287835"/>
                </a:cubicBezTo>
                <a:cubicBezTo>
                  <a:pt x="6524" y="280942"/>
                  <a:pt x="9554" y="274271"/>
                  <a:pt x="13774" y="268410"/>
                </a:cubicBezTo>
                <a:cubicBezTo>
                  <a:pt x="17994" y="262549"/>
                  <a:pt x="25106" y="257508"/>
                  <a:pt x="31435" y="252671"/>
                </a:cubicBezTo>
                <a:cubicBezTo>
                  <a:pt x="37764" y="247834"/>
                  <a:pt x="45817" y="243936"/>
                  <a:pt x="51748" y="239388"/>
                </a:cubicBezTo>
                <a:cubicBezTo>
                  <a:pt x="57679" y="234839"/>
                  <a:pt x="63421" y="230704"/>
                  <a:pt x="67020" y="225381"/>
                </a:cubicBezTo>
                <a:cubicBezTo>
                  <a:pt x="70619" y="220058"/>
                  <a:pt x="72429" y="214238"/>
                  <a:pt x="73344" y="207449"/>
                </a:cubicBezTo>
                <a:cubicBezTo>
                  <a:pt x="74259" y="200660"/>
                  <a:pt x="72940" y="192648"/>
                  <a:pt x="72512" y="184647"/>
                </a:cubicBezTo>
                <a:cubicBezTo>
                  <a:pt x="72083" y="176646"/>
                  <a:pt x="70317" y="167412"/>
                  <a:pt x="70770" y="159444"/>
                </a:cubicBezTo>
                <a:cubicBezTo>
                  <a:pt x="71224" y="151476"/>
                  <a:pt x="72029" y="143124"/>
                  <a:pt x="75234" y="136840"/>
                </a:cubicBezTo>
                <a:cubicBezTo>
                  <a:pt x="78439" y="130556"/>
                  <a:pt x="83527" y="125216"/>
                  <a:pt x="90001" y="121739"/>
                </a:cubicBezTo>
                <a:cubicBezTo>
                  <a:pt x="96475" y="118262"/>
                  <a:pt x="105388" y="116802"/>
                  <a:pt x="114081" y="115977"/>
                </a:cubicBezTo>
                <a:cubicBezTo>
                  <a:pt x="122774" y="115151"/>
                  <a:pt x="133238" y="116488"/>
                  <a:pt x="142158" y="116785"/>
                </a:cubicBezTo>
                <a:cubicBezTo>
                  <a:pt x="151077" y="117083"/>
                  <a:pt x="160301" y="118553"/>
                  <a:pt x="167598" y="117760"/>
                </a:cubicBezTo>
                <a:cubicBezTo>
                  <a:pt x="174895" y="116968"/>
                  <a:pt x="181048" y="115659"/>
                  <a:pt x="185939" y="112029"/>
                </a:cubicBezTo>
                <a:cubicBezTo>
                  <a:pt x="190830" y="108399"/>
                  <a:pt x="193893" y="102737"/>
                  <a:pt x="196943" y="95979"/>
                </a:cubicBezTo>
                <a:cubicBezTo>
                  <a:pt x="199992" y="89221"/>
                  <a:pt x="201570" y="79937"/>
                  <a:pt x="204236" y="71482"/>
                </a:cubicBezTo>
                <a:cubicBezTo>
                  <a:pt x="206903" y="63026"/>
                  <a:pt x="209180" y="52909"/>
                  <a:pt x="212942" y="45245"/>
                </a:cubicBezTo>
                <a:cubicBezTo>
                  <a:pt x="216704" y="37582"/>
                  <a:pt x="221222" y="30088"/>
                  <a:pt x="226810" y="25500"/>
                </a:cubicBezTo>
                <a:cubicBezTo>
                  <a:pt x="232399" y="20911"/>
                  <a:pt x="239331" y="18352"/>
                  <a:pt x="246474" y="17716"/>
                </a:cubicBezTo>
                <a:cubicBezTo>
                  <a:pt x="253617" y="17080"/>
                  <a:pt x="261907" y="19372"/>
                  <a:pt x="269670" y="21684"/>
                </a:cubicBezTo>
                <a:cubicBezTo>
                  <a:pt x="277433" y="23995"/>
                  <a:pt x="285611" y="28679"/>
                  <a:pt x="293054" y="31585"/>
                </a:cubicBezTo>
                <a:cubicBezTo>
                  <a:pt x="300497" y="34491"/>
                  <a:pt x="307610" y="38048"/>
                  <a:pt x="314329" y="39119"/>
                </a:cubicBezTo>
                <a:cubicBezTo>
                  <a:pt x="321048" y="40191"/>
                  <a:pt x="327131" y="39954"/>
                  <a:pt x="333369" y="38013"/>
                </a:cubicBezTo>
                <a:cubicBezTo>
                  <a:pt x="339607" y="36071"/>
                  <a:pt x="345449" y="31695"/>
                  <a:pt x="351759" y="27469"/>
                </a:cubicBezTo>
                <a:cubicBezTo>
                  <a:pt x="358068" y="23242"/>
                  <a:pt x="364495" y="16913"/>
                  <a:pt x="371227" y="12655"/>
                </a:cubicBezTo>
                <a:cubicBezTo>
                  <a:pt x="377958" y="8397"/>
                  <a:pt x="385157" y="3656"/>
                  <a:pt x="392146" y="1920"/>
                </a:cubicBezTo>
                <a:cubicBezTo>
                  <a:pt x="399135" y="184"/>
                  <a:pt x="406484" y="0"/>
                  <a:pt x="413161" y="2239"/>
                </a:cubicBezTo>
                <a:cubicBezTo>
                  <a:pt x="419838" y="4479"/>
                  <a:pt x="426366" y="9608"/>
                  <a:pt x="432208" y="15356"/>
                </a:cubicBezTo>
                <a:cubicBezTo>
                  <a:pt x="438050" y="21103"/>
                  <a:pt x="443206" y="29645"/>
                  <a:pt x="448213" y="36723"/>
                </a:cubicBezTo>
                <a:cubicBezTo>
                  <a:pt x="453221" y="43801"/>
                  <a:pt x="457412" y="52177"/>
                  <a:pt x="462253" y="57824"/>
                </a:cubicBezTo>
                <a:cubicBezTo>
                  <a:pt x="467095" y="63471"/>
                  <a:pt x="471586" y="68303"/>
                  <a:pt x="477262" y="70606"/>
                </a:cubicBezTo>
                <a:cubicBezTo>
                  <a:pt x="482939" y="72909"/>
                  <a:pt x="489112" y="72775"/>
                  <a:pt x="496313" y="71642"/>
                </a:cubicBezTo>
                <a:cubicBezTo>
                  <a:pt x="503513" y="70510"/>
                  <a:pt x="511917" y="66642"/>
                  <a:pt x="520468" y="63813"/>
                </a:cubicBezTo>
                <a:cubicBezTo>
                  <a:pt x="529018" y="60984"/>
                  <a:pt x="538830" y="56563"/>
                  <a:pt x="547615" y="54668"/>
                </a:cubicBezTo>
                <a:cubicBezTo>
                  <a:pt x="556400" y="52773"/>
                  <a:pt x="565699" y="51236"/>
                  <a:pt x="573178" y="52442"/>
                </a:cubicBezTo>
                <a:cubicBezTo>
                  <a:pt x="580656" y="53648"/>
                  <a:pt x="587428" y="56940"/>
                  <a:pt x="592485" y="61903"/>
                </a:cubicBezTo>
                <a:cubicBezTo>
                  <a:pt x="597541" y="66867"/>
                  <a:pt x="600871" y="74563"/>
                  <a:pt x="603518" y="82223"/>
                </a:cubicBezTo>
                <a:cubicBezTo>
                  <a:pt x="606164" y="89882"/>
                  <a:pt x="606889" y="99596"/>
                  <a:pt x="608363" y="107860"/>
                </a:cubicBezTo>
                <a:cubicBezTo>
                  <a:pt x="609837" y="116124"/>
                  <a:pt x="610213" y="124900"/>
                  <a:pt x="612363" y="131806"/>
                </a:cubicBezTo>
                <a:cubicBezTo>
                  <a:pt x="614513" y="138713"/>
                  <a:pt x="617012" y="144603"/>
                  <a:pt x="621260" y="149300"/>
                </a:cubicBezTo>
                <a:cubicBezTo>
                  <a:pt x="625509" y="153998"/>
                  <a:pt x="631378" y="156951"/>
                  <a:pt x="637855" y="159994"/>
                </a:cubicBezTo>
                <a:cubicBezTo>
                  <a:pt x="644332" y="163036"/>
                  <a:pt x="652765" y="164694"/>
                  <a:pt x="660121" y="167555"/>
                </a:cubicBezTo>
                <a:cubicBezTo>
                  <a:pt x="667477" y="170417"/>
                  <a:pt x="675918" y="173012"/>
                  <a:pt x="681991" y="177161"/>
                </a:cubicBezTo>
                <a:cubicBezTo>
                  <a:pt x="688064" y="181310"/>
                  <a:pt x="693556" y="186362"/>
                  <a:pt x="696557" y="192450"/>
                </a:cubicBezTo>
                <a:cubicBezTo>
                  <a:pt x="699558" y="198537"/>
                  <a:pt x="700418" y="206089"/>
                  <a:pt x="699995" y="213686"/>
                </a:cubicBezTo>
                <a:cubicBezTo>
                  <a:pt x="699571" y="221283"/>
                  <a:pt x="696456" y="230054"/>
                  <a:pt x="694016" y="238032"/>
                </a:cubicBezTo>
                <a:cubicBezTo>
                  <a:pt x="691575" y="246009"/>
                  <a:pt x="687289" y="254291"/>
                  <a:pt x="685351" y="261551"/>
                </a:cubicBezTo>
                <a:cubicBezTo>
                  <a:pt x="683413" y="268812"/>
                  <a:pt x="681499" y="275499"/>
                  <a:pt x="682387" y="281597"/>
                </a:cubicBezTo>
                <a:cubicBezTo>
                  <a:pt x="683275" y="287695"/>
                  <a:pt x="686114" y="292846"/>
                  <a:pt x="690678" y="298140"/>
                </a:cubicBezTo>
                <a:cubicBezTo>
                  <a:pt x="695242" y="303433"/>
                  <a:pt x="702696" y="308062"/>
                  <a:pt x="709770" y="313358"/>
                </a:cubicBezTo>
                <a:cubicBezTo>
                  <a:pt x="716844" y="318654"/>
                  <a:pt x="726203" y="323954"/>
                  <a:pt x="733121" y="329915"/>
                </a:cubicBezTo>
                <a:cubicBezTo>
                  <a:pt x="740038" y="335877"/>
                  <a:pt x="747353" y="342410"/>
                  <a:pt x="751273" y="349130"/>
                </a:cubicBezTo>
                <a:cubicBezTo>
                  <a:pt x="755194" y="355849"/>
                  <a:pt x="757291" y="363234"/>
                  <a:pt x="756643" y="370233"/>
                </a:cubicBezTo>
                <a:close/>
              </a:path>
            </a:pathLst>
          </a:custGeom>
          <a:gradFill rotWithShape="1">
            <a:gsLst>
              <a:gs pos="0">
                <a:srgbClr val="F0EAF8"/>
              </a:gs>
              <a:gs pos="27000">
                <a:srgbClr val="DAD0ED"/>
              </a:gs>
              <a:gs pos="67000">
                <a:srgbClr val="C3B1E0"/>
              </a:gs>
              <a:gs pos="100000">
                <a:srgbClr val="AD96D2"/>
              </a:gs>
            </a:gsLst>
            <a:lin ang="3600000" scaled="1"/>
          </a:gradFill>
          <a:ln w="15317" cap="rnd">
            <a:solidFill>
              <a:srgbClr val="7660A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1" name="perivascular_macrophage_component_path_2"/>
          <p:cNvSpPr/>
          <p:nvPr/>
        </p:nvSpPr>
        <p:spPr>
          <a:xfrm>
            <a:off x="8675984" y="5367301"/>
            <a:ext cx="711854" cy="688953"/>
          </a:xfrm>
          <a:custGeom>
            <a:avLst/>
            <a:gdLst/>
            <a:ahLst/>
            <a:cxnLst/>
            <a:rect l="0" t="0" r="r" b="b"/>
            <a:pathLst>
              <a:path w="711854" h="688953">
                <a:moveTo>
                  <a:pt x="711244" y="348019"/>
                </a:moveTo>
                <a:cubicBezTo>
                  <a:pt x="710635" y="354597"/>
                  <a:pt x="706986" y="361421"/>
                  <a:pt x="702539" y="367653"/>
                </a:cubicBezTo>
                <a:cubicBezTo>
                  <a:pt x="698093" y="373884"/>
                  <a:pt x="690721" y="379814"/>
                  <a:pt x="684568" y="385409"/>
                </a:cubicBezTo>
                <a:cubicBezTo>
                  <a:pt x="678415" y="391003"/>
                  <a:pt x="670808" y="395997"/>
                  <a:pt x="665623" y="401219"/>
                </a:cubicBezTo>
                <a:cubicBezTo>
                  <a:pt x="660438" y="406440"/>
                  <a:pt x="655837" y="411249"/>
                  <a:pt x="653459" y="416739"/>
                </a:cubicBezTo>
                <a:cubicBezTo>
                  <a:pt x="651080" y="422229"/>
                  <a:pt x="650821" y="427870"/>
                  <a:pt x="651350" y="434159"/>
                </a:cubicBezTo>
                <a:cubicBezTo>
                  <a:pt x="651880" y="440448"/>
                  <a:pt x="654786" y="447429"/>
                  <a:pt x="656634" y="454471"/>
                </a:cubicBezTo>
                <a:cubicBezTo>
                  <a:pt x="658482" y="461513"/>
                  <a:pt x="661616" y="469342"/>
                  <a:pt x="662439" y="476410"/>
                </a:cubicBezTo>
                <a:cubicBezTo>
                  <a:pt x="663262" y="483477"/>
                  <a:pt x="663578" y="490819"/>
                  <a:pt x="661574" y="496877"/>
                </a:cubicBezTo>
                <a:cubicBezTo>
                  <a:pt x="659569" y="502935"/>
                  <a:pt x="655559" y="508394"/>
                  <a:pt x="650413" y="512758"/>
                </a:cubicBezTo>
                <a:cubicBezTo>
                  <a:pt x="645267" y="517122"/>
                  <a:pt x="637707" y="520186"/>
                  <a:pt x="630697" y="523061"/>
                </a:cubicBezTo>
                <a:cubicBezTo>
                  <a:pt x="623687" y="525936"/>
                  <a:pt x="615115" y="527483"/>
                  <a:pt x="608356" y="530007"/>
                </a:cubicBezTo>
                <a:cubicBezTo>
                  <a:pt x="601597" y="532530"/>
                  <a:pt x="594873" y="534508"/>
                  <a:pt x="590144" y="538200"/>
                </a:cubicBezTo>
                <a:cubicBezTo>
                  <a:pt x="585415" y="541892"/>
                  <a:pt x="582170" y="546272"/>
                  <a:pt x="579981" y="552158"/>
                </a:cubicBezTo>
                <a:cubicBezTo>
                  <a:pt x="577793" y="558044"/>
                  <a:pt x="577624" y="565612"/>
                  <a:pt x="577015" y="573517"/>
                </a:cubicBezTo>
                <a:cubicBezTo>
                  <a:pt x="576406" y="581423"/>
                  <a:pt x="577202" y="591131"/>
                  <a:pt x="576327" y="599591"/>
                </a:cubicBezTo>
                <a:cubicBezTo>
                  <a:pt x="575453" y="608052"/>
                  <a:pt x="574618" y="617371"/>
                  <a:pt x="571769" y="624281"/>
                </a:cubicBezTo>
                <a:cubicBezTo>
                  <a:pt x="568920" y="631190"/>
                  <a:pt x="564762" y="637358"/>
                  <a:pt x="559233" y="641050"/>
                </a:cubicBezTo>
                <a:cubicBezTo>
                  <a:pt x="553703" y="644742"/>
                  <a:pt x="546238" y="646255"/>
                  <a:pt x="538591" y="646434"/>
                </a:cubicBezTo>
                <a:cubicBezTo>
                  <a:pt x="530944" y="646614"/>
                  <a:pt x="521710" y="644137"/>
                  <a:pt x="513349" y="642128"/>
                </a:cubicBezTo>
                <a:cubicBezTo>
                  <a:pt x="504988" y="640119"/>
                  <a:pt x="496075" y="636255"/>
                  <a:pt x="488424" y="634378"/>
                </a:cubicBezTo>
                <a:cubicBezTo>
                  <a:pt x="480773" y="632501"/>
                  <a:pt x="473663" y="630481"/>
                  <a:pt x="467444" y="630867"/>
                </a:cubicBezTo>
                <a:cubicBezTo>
                  <a:pt x="461226" y="631253"/>
                  <a:pt x="456118" y="633234"/>
                  <a:pt x="451112" y="636691"/>
                </a:cubicBezTo>
                <a:cubicBezTo>
                  <a:pt x="446106" y="640149"/>
                  <a:pt x="442045" y="646039"/>
                  <a:pt x="437410" y="651610"/>
                </a:cubicBezTo>
                <a:cubicBezTo>
                  <a:pt x="432776" y="657182"/>
                  <a:pt x="428416" y="664657"/>
                  <a:pt x="423306" y="670121"/>
                </a:cubicBezTo>
                <a:cubicBezTo>
                  <a:pt x="418197" y="675584"/>
                  <a:pt x="412680" y="681328"/>
                  <a:pt x="406755" y="684392"/>
                </a:cubicBezTo>
                <a:cubicBezTo>
                  <a:pt x="400829" y="687455"/>
                  <a:pt x="394227" y="688953"/>
                  <a:pt x="387752" y="688502"/>
                </a:cubicBezTo>
                <a:cubicBezTo>
                  <a:pt x="381277" y="688052"/>
                  <a:pt x="374371" y="684973"/>
                  <a:pt x="367904" y="681688"/>
                </a:cubicBezTo>
                <a:cubicBezTo>
                  <a:pt x="361438" y="678404"/>
                  <a:pt x="355043" y="672799"/>
                  <a:pt x="348953" y="668796"/>
                </a:cubicBezTo>
                <a:cubicBezTo>
                  <a:pt x="342863" y="664794"/>
                  <a:pt x="337194" y="659992"/>
                  <a:pt x="331366" y="657672"/>
                </a:cubicBezTo>
                <a:cubicBezTo>
                  <a:pt x="325538" y="655352"/>
                  <a:pt x="320048" y="654145"/>
                  <a:pt x="313986" y="654875"/>
                </a:cubicBezTo>
                <a:cubicBezTo>
                  <a:pt x="307923" y="655606"/>
                  <a:pt x="301740" y="658708"/>
                  <a:pt x="294990" y="662054"/>
                </a:cubicBezTo>
                <a:cubicBezTo>
                  <a:pt x="288240" y="665400"/>
                  <a:pt x="280884" y="671029"/>
                  <a:pt x="273485" y="674951"/>
                </a:cubicBezTo>
                <a:cubicBezTo>
                  <a:pt x="266086" y="678872"/>
                  <a:pt x="257978" y="683672"/>
                  <a:pt x="250597" y="685582"/>
                </a:cubicBezTo>
                <a:cubicBezTo>
                  <a:pt x="243217" y="687491"/>
                  <a:pt x="235584" y="688297"/>
                  <a:pt x="229200" y="686407"/>
                </a:cubicBezTo>
                <a:cubicBezTo>
                  <a:pt x="222816" y="684517"/>
                  <a:pt x="216994" y="680004"/>
                  <a:pt x="212291" y="674241"/>
                </a:cubicBezTo>
                <a:cubicBezTo>
                  <a:pt x="207588" y="668479"/>
                  <a:pt x="204131" y="659818"/>
                  <a:pt x="200981" y="651832"/>
                </a:cubicBezTo>
                <a:cubicBezTo>
                  <a:pt x="197831" y="643845"/>
                  <a:pt x="196001" y="634044"/>
                  <a:pt x="193391" y="626323"/>
                </a:cubicBezTo>
                <a:cubicBezTo>
                  <a:pt x="190782" y="618603"/>
                  <a:pt x="188807" y="610908"/>
                  <a:pt x="185322" y="605509"/>
                </a:cubicBezTo>
                <a:cubicBezTo>
                  <a:pt x="181838" y="600111"/>
                  <a:pt x="177859" y="596371"/>
                  <a:pt x="172485" y="593932"/>
                </a:cubicBezTo>
                <a:cubicBezTo>
                  <a:pt x="167112" y="591493"/>
                  <a:pt x="160301" y="591330"/>
                  <a:pt x="153080" y="590875"/>
                </a:cubicBezTo>
                <a:cubicBezTo>
                  <a:pt x="145860" y="590420"/>
                  <a:pt x="137035" y="591614"/>
                  <a:pt x="129162" y="591201"/>
                </a:cubicBezTo>
                <a:cubicBezTo>
                  <a:pt x="121289" y="590788"/>
                  <a:pt x="112602" y="590586"/>
                  <a:pt x="105842" y="588397"/>
                </a:cubicBezTo>
                <a:cubicBezTo>
                  <a:pt x="99083" y="586208"/>
                  <a:pt x="92884" y="582805"/>
                  <a:pt x="88604" y="578066"/>
                </a:cubicBezTo>
                <a:cubicBezTo>
                  <a:pt x="84324" y="573327"/>
                  <a:pt x="81814" y="566704"/>
                  <a:pt x="80160" y="559965"/>
                </a:cubicBezTo>
                <a:cubicBezTo>
                  <a:pt x="78506" y="553226"/>
                  <a:pt x="78952" y="544955"/>
                  <a:pt x="78681" y="537632"/>
                </a:cubicBezTo>
                <a:cubicBezTo>
                  <a:pt x="78410" y="530308"/>
                  <a:pt x="79433" y="522520"/>
                  <a:pt x="78535" y="516024"/>
                </a:cubicBezTo>
                <a:cubicBezTo>
                  <a:pt x="77637" y="509528"/>
                  <a:pt x="76479" y="503682"/>
                  <a:pt x="73294" y="498658"/>
                </a:cubicBezTo>
                <a:cubicBezTo>
                  <a:pt x="70108" y="493635"/>
                  <a:pt x="65206" y="489804"/>
                  <a:pt x="59421" y="485883"/>
                </a:cubicBezTo>
                <a:cubicBezTo>
                  <a:pt x="53635" y="481963"/>
                  <a:pt x="45625" y="478979"/>
                  <a:pt x="38579" y="475135"/>
                </a:cubicBezTo>
                <a:cubicBezTo>
                  <a:pt x="31533" y="471291"/>
                  <a:pt x="23067" y="467582"/>
                  <a:pt x="17144" y="462819"/>
                </a:cubicBezTo>
                <a:cubicBezTo>
                  <a:pt x="11221" y="458055"/>
                  <a:pt x="5644" y="452620"/>
                  <a:pt x="3041" y="446554"/>
                </a:cubicBezTo>
                <a:cubicBezTo>
                  <a:pt x="438" y="440489"/>
                  <a:pt x="0" y="433419"/>
                  <a:pt x="1527" y="426425"/>
                </a:cubicBezTo>
                <a:cubicBezTo>
                  <a:pt x="3054" y="419432"/>
                  <a:pt x="7634" y="411718"/>
                  <a:pt x="12203" y="404592"/>
                </a:cubicBezTo>
                <a:cubicBezTo>
                  <a:pt x="16772" y="397466"/>
                  <a:pt x="23831" y="390266"/>
                  <a:pt x="28943" y="383670"/>
                </a:cubicBezTo>
                <a:cubicBezTo>
                  <a:pt x="34055" y="377074"/>
                  <a:pt x="39885" y="370957"/>
                  <a:pt x="42874" y="365015"/>
                </a:cubicBezTo>
                <a:cubicBezTo>
                  <a:pt x="45863" y="359073"/>
                  <a:pt x="47486" y="353718"/>
                  <a:pt x="46877" y="348019"/>
                </a:cubicBezTo>
                <a:cubicBezTo>
                  <a:pt x="46267" y="342320"/>
                  <a:pt x="42967" y="336847"/>
                  <a:pt x="39217" y="330820"/>
                </a:cubicBezTo>
                <a:cubicBezTo>
                  <a:pt x="35467" y="324793"/>
                  <a:pt x="29140" y="318465"/>
                  <a:pt x="24378" y="311859"/>
                </a:cubicBezTo>
                <a:cubicBezTo>
                  <a:pt x="19615" y="305253"/>
                  <a:pt x="13747" y="298066"/>
                  <a:pt x="10642" y="291184"/>
                </a:cubicBezTo>
                <a:cubicBezTo>
                  <a:pt x="7537" y="284301"/>
                  <a:pt x="5364" y="277045"/>
                  <a:pt x="5748" y="270565"/>
                </a:cubicBezTo>
                <a:cubicBezTo>
                  <a:pt x="6133" y="264085"/>
                  <a:pt x="8981" y="257814"/>
                  <a:pt x="12948" y="252305"/>
                </a:cubicBezTo>
                <a:cubicBezTo>
                  <a:pt x="16915" y="246796"/>
                  <a:pt x="23599" y="242057"/>
                  <a:pt x="29549" y="237510"/>
                </a:cubicBezTo>
                <a:cubicBezTo>
                  <a:pt x="35498" y="232964"/>
                  <a:pt x="43068" y="229300"/>
                  <a:pt x="48643" y="225024"/>
                </a:cubicBezTo>
                <a:cubicBezTo>
                  <a:pt x="54218" y="220749"/>
                  <a:pt x="59616" y="216862"/>
                  <a:pt x="62999" y="211858"/>
                </a:cubicBezTo>
                <a:cubicBezTo>
                  <a:pt x="66382" y="206855"/>
                  <a:pt x="68083" y="201384"/>
                  <a:pt x="68943" y="195002"/>
                </a:cubicBezTo>
                <a:cubicBezTo>
                  <a:pt x="69804" y="188621"/>
                  <a:pt x="68564" y="181089"/>
                  <a:pt x="68161" y="173568"/>
                </a:cubicBezTo>
                <a:cubicBezTo>
                  <a:pt x="67758" y="166047"/>
                  <a:pt x="66098" y="157367"/>
                  <a:pt x="66524" y="149877"/>
                </a:cubicBezTo>
                <a:cubicBezTo>
                  <a:pt x="66951" y="142387"/>
                  <a:pt x="67707" y="134536"/>
                  <a:pt x="70720" y="128629"/>
                </a:cubicBezTo>
                <a:cubicBezTo>
                  <a:pt x="73733" y="122722"/>
                  <a:pt x="78515" y="117703"/>
                  <a:pt x="84601" y="114434"/>
                </a:cubicBezTo>
                <a:cubicBezTo>
                  <a:pt x="90687" y="111166"/>
                  <a:pt x="99065" y="109794"/>
                  <a:pt x="107236" y="109018"/>
                </a:cubicBezTo>
                <a:cubicBezTo>
                  <a:pt x="115407" y="108242"/>
                  <a:pt x="125244" y="109499"/>
                  <a:pt x="133628" y="109778"/>
                </a:cubicBezTo>
                <a:cubicBezTo>
                  <a:pt x="142013" y="110058"/>
                  <a:pt x="150683" y="111440"/>
                  <a:pt x="157542" y="110695"/>
                </a:cubicBezTo>
                <a:cubicBezTo>
                  <a:pt x="164401" y="109950"/>
                  <a:pt x="170185" y="108719"/>
                  <a:pt x="174782" y="105307"/>
                </a:cubicBezTo>
                <a:cubicBezTo>
                  <a:pt x="179380" y="101895"/>
                  <a:pt x="182260" y="96573"/>
                  <a:pt x="185126" y="90220"/>
                </a:cubicBezTo>
                <a:cubicBezTo>
                  <a:pt x="187993" y="83868"/>
                  <a:pt x="189475" y="75141"/>
                  <a:pt x="191982" y="67193"/>
                </a:cubicBezTo>
                <a:cubicBezTo>
                  <a:pt x="194488" y="59245"/>
                  <a:pt x="196629" y="49734"/>
                  <a:pt x="200165" y="42531"/>
                </a:cubicBezTo>
                <a:cubicBezTo>
                  <a:pt x="203702" y="35327"/>
                  <a:pt x="207948" y="28282"/>
                  <a:pt x="213202" y="23970"/>
                </a:cubicBezTo>
                <a:cubicBezTo>
                  <a:pt x="218455" y="19657"/>
                  <a:pt x="224971" y="17251"/>
                  <a:pt x="231685" y="16653"/>
                </a:cubicBezTo>
                <a:cubicBezTo>
                  <a:pt x="238400" y="16056"/>
                  <a:pt x="246192" y="18210"/>
                  <a:pt x="253490" y="20383"/>
                </a:cubicBezTo>
                <a:cubicBezTo>
                  <a:pt x="260787" y="22555"/>
                  <a:pt x="268474" y="26958"/>
                  <a:pt x="275471" y="29690"/>
                </a:cubicBezTo>
                <a:cubicBezTo>
                  <a:pt x="282467" y="32421"/>
                  <a:pt x="289153" y="35765"/>
                  <a:pt x="295469" y="36772"/>
                </a:cubicBezTo>
                <a:cubicBezTo>
                  <a:pt x="301785" y="37779"/>
                  <a:pt x="307503" y="37557"/>
                  <a:pt x="313367" y="35732"/>
                </a:cubicBezTo>
                <a:cubicBezTo>
                  <a:pt x="319231" y="33907"/>
                  <a:pt x="324722" y="29793"/>
                  <a:pt x="330653" y="25821"/>
                </a:cubicBezTo>
                <a:cubicBezTo>
                  <a:pt x="336584" y="21848"/>
                  <a:pt x="342626" y="15898"/>
                  <a:pt x="348953" y="11895"/>
                </a:cubicBezTo>
                <a:cubicBezTo>
                  <a:pt x="355280" y="7893"/>
                  <a:pt x="362047" y="3436"/>
                  <a:pt x="368617" y="1805"/>
                </a:cubicBezTo>
                <a:cubicBezTo>
                  <a:pt x="375187" y="173"/>
                  <a:pt x="382095" y="0"/>
                  <a:pt x="388371" y="2105"/>
                </a:cubicBezTo>
                <a:cubicBezTo>
                  <a:pt x="394648" y="4210"/>
                  <a:pt x="400784" y="9032"/>
                  <a:pt x="406276" y="14434"/>
                </a:cubicBezTo>
                <a:cubicBezTo>
                  <a:pt x="411767" y="19837"/>
                  <a:pt x="416613" y="27866"/>
                  <a:pt x="421321" y="34519"/>
                </a:cubicBezTo>
                <a:cubicBezTo>
                  <a:pt x="426028" y="41173"/>
                  <a:pt x="429967" y="49046"/>
                  <a:pt x="434518" y="54354"/>
                </a:cubicBezTo>
                <a:cubicBezTo>
                  <a:pt x="439069" y="59663"/>
                  <a:pt x="443291" y="64204"/>
                  <a:pt x="448627" y="66369"/>
                </a:cubicBezTo>
                <a:cubicBezTo>
                  <a:pt x="453963" y="68534"/>
                  <a:pt x="459765" y="68408"/>
                  <a:pt x="466534" y="67344"/>
                </a:cubicBezTo>
                <a:cubicBezTo>
                  <a:pt x="473303" y="66280"/>
                  <a:pt x="481202" y="62644"/>
                  <a:pt x="489240" y="59985"/>
                </a:cubicBezTo>
                <a:cubicBezTo>
                  <a:pt x="497277" y="57325"/>
                  <a:pt x="506501" y="53170"/>
                  <a:pt x="514759" y="51388"/>
                </a:cubicBezTo>
                <a:cubicBezTo>
                  <a:pt x="523016" y="49606"/>
                  <a:pt x="531757" y="48162"/>
                  <a:pt x="538787" y="49295"/>
                </a:cubicBezTo>
                <a:cubicBezTo>
                  <a:pt x="545817" y="50429"/>
                  <a:pt x="552182" y="53523"/>
                  <a:pt x="556936" y="58189"/>
                </a:cubicBezTo>
                <a:cubicBezTo>
                  <a:pt x="561689" y="62855"/>
                  <a:pt x="564819" y="70089"/>
                  <a:pt x="567307" y="77289"/>
                </a:cubicBezTo>
                <a:cubicBezTo>
                  <a:pt x="569794" y="84489"/>
                  <a:pt x="570475" y="93620"/>
                  <a:pt x="571861" y="101388"/>
                </a:cubicBezTo>
                <a:cubicBezTo>
                  <a:pt x="573247" y="109156"/>
                  <a:pt x="573601" y="117406"/>
                  <a:pt x="575621" y="123898"/>
                </a:cubicBezTo>
                <a:cubicBezTo>
                  <a:pt x="577642" y="130390"/>
                  <a:pt x="579991" y="135926"/>
                  <a:pt x="583985" y="140342"/>
                </a:cubicBezTo>
                <a:cubicBezTo>
                  <a:pt x="587978" y="144758"/>
                  <a:pt x="593495" y="147534"/>
                  <a:pt x="599584" y="150394"/>
                </a:cubicBezTo>
                <a:cubicBezTo>
                  <a:pt x="605672" y="153254"/>
                  <a:pt x="613599" y="154812"/>
                  <a:pt x="620513" y="157502"/>
                </a:cubicBezTo>
                <a:cubicBezTo>
                  <a:pt x="627428" y="160192"/>
                  <a:pt x="635363" y="162631"/>
                  <a:pt x="641071" y="166532"/>
                </a:cubicBezTo>
                <a:cubicBezTo>
                  <a:pt x="646780" y="170432"/>
                  <a:pt x="651943" y="175181"/>
                  <a:pt x="654764" y="180903"/>
                </a:cubicBezTo>
                <a:cubicBezTo>
                  <a:pt x="657584" y="186625"/>
                  <a:pt x="658393" y="193723"/>
                  <a:pt x="657995" y="200865"/>
                </a:cubicBezTo>
                <a:cubicBezTo>
                  <a:pt x="657597" y="208006"/>
                  <a:pt x="654669" y="216251"/>
                  <a:pt x="652375" y="223750"/>
                </a:cubicBezTo>
                <a:cubicBezTo>
                  <a:pt x="650081" y="231249"/>
                  <a:pt x="646052" y="239033"/>
                  <a:pt x="644230" y="245858"/>
                </a:cubicBezTo>
                <a:cubicBezTo>
                  <a:pt x="642408" y="252683"/>
                  <a:pt x="640609" y="258969"/>
                  <a:pt x="641443" y="264701"/>
                </a:cubicBezTo>
                <a:cubicBezTo>
                  <a:pt x="642278" y="270433"/>
                  <a:pt x="644947" y="275275"/>
                  <a:pt x="649238" y="280251"/>
                </a:cubicBezTo>
                <a:cubicBezTo>
                  <a:pt x="653528" y="285227"/>
                  <a:pt x="660534" y="289579"/>
                  <a:pt x="667184" y="294557"/>
                </a:cubicBezTo>
                <a:cubicBezTo>
                  <a:pt x="673833" y="299535"/>
                  <a:pt x="682631" y="304516"/>
                  <a:pt x="689133" y="310120"/>
                </a:cubicBezTo>
                <a:cubicBezTo>
                  <a:pt x="695636" y="315725"/>
                  <a:pt x="702512" y="321866"/>
                  <a:pt x="706197" y="328182"/>
                </a:cubicBezTo>
                <a:cubicBezTo>
                  <a:pt x="709882" y="334498"/>
                  <a:pt x="711854" y="341440"/>
                  <a:pt x="711244" y="348019"/>
                </a:cubicBezTo>
                <a:close/>
              </a:path>
            </a:pathLst>
          </a:custGeom>
          <a:noFill/>
          <a:ln w="7905" cap="rnd">
            <a:solidFill>
              <a:srgbClr val="DED4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2" name="perivascular_macrophage_component_oval_3"/>
          <p:cNvSpPr/>
          <p:nvPr/>
        </p:nvSpPr>
        <p:spPr>
          <a:xfrm>
            <a:off x="9243274" y="5762003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3" name="perivascular_macrophage_component_oval_4"/>
          <p:cNvSpPr/>
          <p:nvPr/>
        </p:nvSpPr>
        <p:spPr>
          <a:xfrm>
            <a:off x="9214869" y="5839140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4" name="perivascular_macrophage_component_oval_5"/>
          <p:cNvSpPr/>
          <p:nvPr/>
        </p:nvSpPr>
        <p:spPr>
          <a:xfrm>
            <a:off x="9135886" y="5874570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5" name="perivascular_macrophage_component_oval_6"/>
          <p:cNvSpPr/>
          <p:nvPr/>
        </p:nvSpPr>
        <p:spPr>
          <a:xfrm>
            <a:off x="9084312" y="5953568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6" name="perivascular_macrophage_component_oval_7"/>
          <p:cNvSpPr/>
          <p:nvPr/>
        </p:nvSpPr>
        <p:spPr>
          <a:xfrm>
            <a:off x="8995183" y="5907045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7" name="perivascular_macrophage_component_oval_8"/>
          <p:cNvSpPr/>
          <p:nvPr/>
        </p:nvSpPr>
        <p:spPr>
          <a:xfrm>
            <a:off x="8898710" y="5938702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8" name="perivascular_macrophage_component_oval_9"/>
          <p:cNvSpPr/>
          <p:nvPr/>
        </p:nvSpPr>
        <p:spPr>
          <a:xfrm>
            <a:off x="8865899" y="5853387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9" name="perivascular_macrophage_component_oval_10"/>
          <p:cNvSpPr/>
          <p:nvPr/>
        </p:nvSpPr>
        <p:spPr>
          <a:xfrm>
            <a:off x="8779173" y="5811599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0" name="perivascular_macrophage_component_oval_11"/>
          <p:cNvSpPr/>
          <p:nvPr/>
        </p:nvSpPr>
        <p:spPr>
          <a:xfrm>
            <a:off x="8783898" y="5720961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1" name="perivascular_macrophage_component_oval_12"/>
          <p:cNvSpPr/>
          <p:nvPr/>
        </p:nvSpPr>
        <p:spPr>
          <a:xfrm>
            <a:off x="8781770" y="5645487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2" name="perivascular_macrophage_component_oval_13"/>
          <p:cNvSpPr/>
          <p:nvPr/>
        </p:nvSpPr>
        <p:spPr>
          <a:xfrm>
            <a:off x="8808488" y="5564795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3" name="perivascular_macrophage_component_oval_14"/>
          <p:cNvSpPr/>
          <p:nvPr/>
        </p:nvSpPr>
        <p:spPr>
          <a:xfrm>
            <a:off x="8879871" y="5521981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4" name="perivascular_macrophage_component_oval_15"/>
          <p:cNvSpPr/>
          <p:nvPr/>
        </p:nvSpPr>
        <p:spPr>
          <a:xfrm>
            <a:off x="8942927" y="5455429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5" name="perivascular_macrophage_component_oval_16"/>
          <p:cNvSpPr/>
          <p:nvPr/>
        </p:nvSpPr>
        <p:spPr>
          <a:xfrm>
            <a:off x="9026662" y="5495388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6" name="perivascular_macrophage_component_oval_17"/>
          <p:cNvSpPr/>
          <p:nvPr/>
        </p:nvSpPr>
        <p:spPr>
          <a:xfrm>
            <a:off x="9118045" y="5458924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7" name="perivascular_macrophage_component_oval_18"/>
          <p:cNvSpPr/>
          <p:nvPr/>
        </p:nvSpPr>
        <p:spPr>
          <a:xfrm>
            <a:off x="9160458" y="5555183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8" name="perivascular_macrophage_component_oval_19"/>
          <p:cNvSpPr/>
          <p:nvPr/>
        </p:nvSpPr>
        <p:spPr>
          <a:xfrm>
            <a:off x="9243892" y="5590694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9" name="perivascular_macrophage_component_oval_20"/>
          <p:cNvSpPr/>
          <p:nvPr/>
        </p:nvSpPr>
        <p:spPr>
          <a:xfrm>
            <a:off x="9231004" y="5677022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0" name="perivascular_macrophage_component_oval_21"/>
          <p:cNvSpPr/>
          <p:nvPr/>
        </p:nvSpPr>
        <p:spPr>
          <a:xfrm>
            <a:off x="8837571" y="5561327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1" name="perivascular_macrophage_component_oval_22"/>
          <p:cNvSpPr/>
          <p:nvPr/>
        </p:nvSpPr>
        <p:spPr>
          <a:xfrm>
            <a:off x="8798042" y="5772383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2" name="perivascular_macrophage_component_oval_23"/>
          <p:cNvSpPr/>
          <p:nvPr/>
        </p:nvSpPr>
        <p:spPr>
          <a:xfrm>
            <a:off x="8916629" y="590527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3" name="perivascular_macrophage_component_oval_24"/>
          <p:cNvSpPr/>
          <p:nvPr/>
        </p:nvSpPr>
        <p:spPr>
          <a:xfrm>
            <a:off x="9193330" y="5592595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4" name="perivascular_macrophage_component_oval_25"/>
          <p:cNvSpPr/>
          <p:nvPr/>
        </p:nvSpPr>
        <p:spPr>
          <a:xfrm>
            <a:off x="9224953" y="5780200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5" name="perivascular_macrophage_component_oval_26"/>
          <p:cNvSpPr/>
          <p:nvPr/>
        </p:nvSpPr>
        <p:spPr>
          <a:xfrm>
            <a:off x="9066838" y="547534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6" name="perivascular_macrophage_component_oval_27"/>
          <p:cNvSpPr/>
          <p:nvPr/>
        </p:nvSpPr>
        <p:spPr>
          <a:xfrm>
            <a:off x="9137990" y="592872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7" name="perivascular_macrophage_component_oval_28"/>
          <p:cNvSpPr/>
          <p:nvPr/>
        </p:nvSpPr>
        <p:spPr>
          <a:xfrm>
            <a:off x="8821760" y="5655130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8" name="perivascular_macrophage_component_oval_29"/>
          <p:cNvSpPr/>
          <p:nvPr/>
        </p:nvSpPr>
        <p:spPr>
          <a:xfrm rot="1500000">
            <a:off x="8882634" y="5558982"/>
            <a:ext cx="292513" cy="336127"/>
          </a:xfrm>
          <a:prstGeom prst="ellipse">
            <a:avLst/>
          </a:prstGeom>
          <a:gradFill rotWithShape="1">
            <a:gsLst>
              <a:gs pos="0">
                <a:srgbClr val="CBBDE5"/>
              </a:gs>
              <a:gs pos="24000">
                <a:srgbClr val="AA95CF"/>
              </a:gs>
              <a:gs pos="65000">
                <a:srgbClr val="8D73B7"/>
              </a:gs>
              <a:gs pos="100000">
                <a:srgbClr val="7860A4"/>
              </a:gs>
            </a:gsLst>
            <a:lin ang="3300000" scaled="1"/>
          </a:gradFill>
          <a:ln w="12846">
            <a:solidFill>
              <a:srgbClr val="6550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9" name="perivascular_macrophage_component_path_30"/>
          <p:cNvSpPr/>
          <p:nvPr/>
        </p:nvSpPr>
        <p:spPr>
          <a:xfrm>
            <a:off x="8930068" y="5590250"/>
            <a:ext cx="110681" cy="93803"/>
          </a:xfrm>
          <a:custGeom>
            <a:avLst/>
            <a:gdLst/>
            <a:ahLst/>
            <a:cxnLst/>
            <a:rect l="0" t="0" r="r" b="b"/>
            <a:pathLst>
              <a:path w="110681" h="93803">
                <a:moveTo>
                  <a:pt x="0" y="93803"/>
                </a:moveTo>
                <a:cubicBezTo>
                  <a:pt x="15812" y="31268"/>
                  <a:pt x="55340" y="0"/>
                  <a:pt x="110681" y="7817"/>
                </a:cubicBezTo>
              </a:path>
            </a:pathLst>
          </a:custGeom>
          <a:noFill/>
          <a:ln w="17787" cap="rnd">
            <a:solidFill>
              <a:srgbClr val="D5C8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0" name="treg_component_oval_1"/>
          <p:cNvSpPr/>
          <p:nvPr/>
        </p:nvSpPr>
        <p:spPr>
          <a:xfrm>
            <a:off x="10165842" y="6260766"/>
            <a:ext cx="680466" cy="685922"/>
          </a:xfrm>
          <a:prstGeom prst="ellipse">
            <a:avLst/>
          </a:prstGeom>
          <a:gradFill rotWithShape="1">
            <a:gsLst>
              <a:gs pos="0">
                <a:srgbClr val="EDF2FC"/>
              </a:gs>
              <a:gs pos="35000">
                <a:srgbClr val="D0D8EF"/>
              </a:gs>
              <a:gs pos="78000">
                <a:srgbClr val="B3C0E2"/>
              </a:gs>
              <a:gs pos="100000">
                <a:srgbClr val="8E9FC8"/>
              </a:gs>
            </a:gsLst>
            <a:lin ang="3300000" scaled="1"/>
          </a:gradFill>
          <a:ln w="12215">
            <a:solidFill>
              <a:srgbClr val="6A7D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1" name="treg_component_path_2"/>
          <p:cNvSpPr/>
          <p:nvPr/>
        </p:nvSpPr>
        <p:spPr>
          <a:xfrm>
            <a:off x="10245471" y="6326439"/>
            <a:ext cx="217170" cy="233505"/>
          </a:xfrm>
          <a:custGeom>
            <a:avLst/>
            <a:gdLst/>
            <a:ahLst/>
            <a:cxnLst/>
            <a:rect l="0" t="0" r="r" b="b"/>
            <a:pathLst>
              <a:path w="217170" h="233505">
                <a:moveTo>
                  <a:pt x="0" y="233505"/>
                </a:moveTo>
                <a:cubicBezTo>
                  <a:pt x="0" y="109456"/>
                  <a:pt x="94107" y="7297"/>
                  <a:pt x="217170" y="0"/>
                </a:cubicBezTo>
              </a:path>
            </a:pathLst>
          </a:custGeom>
          <a:noFill/>
          <a:ln w="14478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2" name="treg_component_oval_3"/>
          <p:cNvSpPr/>
          <p:nvPr/>
        </p:nvSpPr>
        <p:spPr>
          <a:xfrm>
            <a:off x="10259949" y="6362925"/>
            <a:ext cx="506730" cy="503496"/>
          </a:xfrm>
          <a:prstGeom prst="ellipse">
            <a:avLst/>
          </a:prstGeom>
          <a:gradFill rotWithShape="1">
            <a:gsLst>
              <a:gs pos="0">
                <a:srgbClr val="D3D0E9"/>
              </a:gs>
              <a:gs pos="25000">
                <a:srgbClr val="B0ABD5"/>
              </a:gs>
              <a:gs pos="68000">
                <a:srgbClr val="8B86BC"/>
              </a:gs>
              <a:gs pos="100000">
                <a:srgbClr val="7372AB"/>
              </a:gs>
            </a:gsLst>
            <a:lin ang="3300000" scaled="1"/>
          </a:gradFill>
          <a:ln w="12215">
            <a:solidFill>
              <a:srgbClr val="626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3" name="treg_component_path_4"/>
          <p:cNvSpPr/>
          <p:nvPr/>
        </p:nvSpPr>
        <p:spPr>
          <a:xfrm>
            <a:off x="10310622" y="6414004"/>
            <a:ext cx="166497" cy="138644"/>
          </a:xfrm>
          <a:custGeom>
            <a:avLst/>
            <a:gdLst/>
            <a:ahLst/>
            <a:cxnLst/>
            <a:rect l="0" t="0" r="r" b="b"/>
            <a:pathLst>
              <a:path w="166497" h="138644">
                <a:moveTo>
                  <a:pt x="0" y="138644"/>
                </a:moveTo>
                <a:cubicBezTo>
                  <a:pt x="7239" y="58376"/>
                  <a:pt x="79629" y="0"/>
                  <a:pt x="166497" y="0"/>
                </a:cubicBezTo>
              </a:path>
            </a:pathLst>
          </a:custGeom>
          <a:noFill/>
          <a:ln w="14478" cap="rnd">
            <a:solidFill>
              <a:srgbClr val="DCD8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4" name="fxr_component_path_1"/>
          <p:cNvSpPr/>
          <p:nvPr/>
        </p:nvSpPr>
        <p:spPr>
          <a:xfrm>
            <a:off x="3459099" y="7356320"/>
            <a:ext cx="95" cy="24444"/>
          </a:xfrm>
          <a:custGeom>
            <a:avLst/>
            <a:gdLst/>
            <a:ahLst/>
            <a:cxnLst/>
            <a:rect l="0" t="0" r="r" b="b"/>
            <a:pathLst>
              <a:path w="95" h="24444">
                <a:moveTo>
                  <a:pt x="0" y="24444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5" name="fxr_component_path_2"/>
          <p:cNvSpPr/>
          <p:nvPr/>
        </p:nvSpPr>
        <p:spPr>
          <a:xfrm>
            <a:off x="3503676" y="7334819"/>
            <a:ext cx="95" cy="67445"/>
          </a:xfrm>
          <a:custGeom>
            <a:avLst/>
            <a:gdLst/>
            <a:ahLst/>
            <a:cxnLst/>
            <a:rect l="0" t="0" r="r" b="b"/>
            <a:pathLst>
              <a:path w="95" h="67445">
                <a:moveTo>
                  <a:pt x="0" y="67445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6" name="fxr_component_path_3"/>
          <p:cNvSpPr/>
          <p:nvPr/>
        </p:nvSpPr>
        <p:spPr>
          <a:xfrm>
            <a:off x="3548253" y="7329478"/>
            <a:ext cx="95" cy="78127"/>
          </a:xfrm>
          <a:custGeom>
            <a:avLst/>
            <a:gdLst/>
            <a:ahLst/>
            <a:cxnLst/>
            <a:rect l="0" t="0" r="r" b="b"/>
            <a:pathLst>
              <a:path w="95" h="78127">
                <a:moveTo>
                  <a:pt x="0" y="78127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7" name="fxr_component_path_4"/>
          <p:cNvSpPr/>
          <p:nvPr/>
        </p:nvSpPr>
        <p:spPr>
          <a:xfrm>
            <a:off x="3592830" y="7342856"/>
            <a:ext cx="95" cy="51372"/>
          </a:xfrm>
          <a:custGeom>
            <a:avLst/>
            <a:gdLst/>
            <a:ahLst/>
            <a:cxnLst/>
            <a:rect l="0" t="0" r="r" b="b"/>
            <a:pathLst>
              <a:path w="95" h="51372">
                <a:moveTo>
                  <a:pt x="0" y="51372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8" name="fxr_component_path_5"/>
          <p:cNvSpPr/>
          <p:nvPr/>
        </p:nvSpPr>
        <p:spPr>
          <a:xfrm>
            <a:off x="3637407" y="7368542"/>
            <a:ext cx="95" cy="95"/>
          </a:xfrm>
          <a:custGeom>
            <a:avLst/>
            <a:gdLst/>
            <a:ahLst/>
            <a:cxnLst/>
            <a:rect l="0" t="0" r="r" b="b"/>
            <a:pathLst>
              <a:path w="95" h="95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9" name="fxr_component_path_6"/>
          <p:cNvSpPr/>
          <p:nvPr/>
        </p:nvSpPr>
        <p:spPr>
          <a:xfrm>
            <a:off x="3681984" y="7342856"/>
            <a:ext cx="95" cy="51372"/>
          </a:xfrm>
          <a:custGeom>
            <a:avLst/>
            <a:gdLst/>
            <a:ahLst/>
            <a:cxnLst/>
            <a:rect l="0" t="0" r="r" b="b"/>
            <a:pathLst>
              <a:path w="95" h="51372">
                <a:moveTo>
                  <a:pt x="0" y="0"/>
                </a:moveTo>
                <a:lnTo>
                  <a:pt x="0" y="51372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0" name="fxr_component_path_7"/>
          <p:cNvSpPr/>
          <p:nvPr/>
        </p:nvSpPr>
        <p:spPr>
          <a:xfrm>
            <a:off x="3726561" y="7329478"/>
            <a:ext cx="95" cy="78127"/>
          </a:xfrm>
          <a:custGeom>
            <a:avLst/>
            <a:gdLst/>
            <a:ahLst/>
            <a:cxnLst/>
            <a:rect l="0" t="0" r="r" b="b"/>
            <a:pathLst>
              <a:path w="95" h="78127">
                <a:moveTo>
                  <a:pt x="0" y="0"/>
                </a:moveTo>
                <a:lnTo>
                  <a:pt x="0" y="78127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1" name="fxr_component_path_8"/>
          <p:cNvSpPr/>
          <p:nvPr/>
        </p:nvSpPr>
        <p:spPr>
          <a:xfrm>
            <a:off x="3771138" y="7334819"/>
            <a:ext cx="95" cy="67445"/>
          </a:xfrm>
          <a:custGeom>
            <a:avLst/>
            <a:gdLst/>
            <a:ahLst/>
            <a:cxnLst/>
            <a:rect l="0" t="0" r="r" b="b"/>
            <a:pathLst>
              <a:path w="95" h="67445">
                <a:moveTo>
                  <a:pt x="0" y="0"/>
                </a:moveTo>
                <a:lnTo>
                  <a:pt x="0" y="67445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2" name="fxr_component_path_9"/>
          <p:cNvSpPr/>
          <p:nvPr/>
        </p:nvSpPr>
        <p:spPr>
          <a:xfrm>
            <a:off x="3815715" y="7356320"/>
            <a:ext cx="95" cy="24444"/>
          </a:xfrm>
          <a:custGeom>
            <a:avLst/>
            <a:gdLst/>
            <a:ahLst/>
            <a:cxnLst/>
            <a:rect l="0" t="0" r="r" b="b"/>
            <a:pathLst>
              <a:path w="95" h="24444">
                <a:moveTo>
                  <a:pt x="0" y="0"/>
                </a:moveTo>
                <a:lnTo>
                  <a:pt x="0" y="24444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3" name="fxr_component_path_10"/>
          <p:cNvSpPr/>
          <p:nvPr/>
        </p:nvSpPr>
        <p:spPr>
          <a:xfrm>
            <a:off x="3860292" y="7353407"/>
            <a:ext cx="95" cy="30271"/>
          </a:xfrm>
          <a:custGeom>
            <a:avLst/>
            <a:gdLst/>
            <a:ahLst/>
            <a:cxnLst/>
            <a:rect l="0" t="0" r="r" b="b"/>
            <a:pathLst>
              <a:path w="95" h="30271">
                <a:moveTo>
                  <a:pt x="0" y="30271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4" name="fxr_component_path_11"/>
          <p:cNvSpPr/>
          <p:nvPr/>
        </p:nvSpPr>
        <p:spPr>
          <a:xfrm>
            <a:off x="3439287" y="7328991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45738"/>
                </a:lnTo>
                <a:lnTo>
                  <a:pt x="19812" y="51772"/>
                </a:lnTo>
                <a:lnTo>
                  <a:pt x="29718" y="57506"/>
                </a:lnTo>
                <a:lnTo>
                  <a:pt x="39624" y="62798"/>
                </a:lnTo>
                <a:lnTo>
                  <a:pt x="49530" y="67517"/>
                </a:lnTo>
                <a:lnTo>
                  <a:pt x="59436" y="71548"/>
                </a:lnTo>
                <a:lnTo>
                  <a:pt x="69342" y="74790"/>
                </a:lnTo>
                <a:lnTo>
                  <a:pt x="79248" y="77165"/>
                </a:lnTo>
                <a:lnTo>
                  <a:pt x="89154" y="78614"/>
                </a:lnTo>
                <a:lnTo>
                  <a:pt x="99060" y="79101"/>
                </a:lnTo>
                <a:lnTo>
                  <a:pt x="108966" y="78614"/>
                </a:lnTo>
                <a:lnTo>
                  <a:pt x="118872" y="77165"/>
                </a:lnTo>
                <a:lnTo>
                  <a:pt x="128778" y="74790"/>
                </a:lnTo>
                <a:lnTo>
                  <a:pt x="138684" y="71548"/>
                </a:lnTo>
                <a:lnTo>
                  <a:pt x="148590" y="67517"/>
                </a:lnTo>
                <a:lnTo>
                  <a:pt x="158496" y="62798"/>
                </a:lnTo>
                <a:lnTo>
                  <a:pt x="168402" y="57506"/>
                </a:lnTo>
                <a:lnTo>
                  <a:pt x="178308" y="51772"/>
                </a:lnTo>
                <a:lnTo>
                  <a:pt x="188214" y="45738"/>
                </a:lnTo>
                <a:lnTo>
                  <a:pt x="198120" y="39551"/>
                </a:lnTo>
                <a:lnTo>
                  <a:pt x="208026" y="33364"/>
                </a:lnTo>
                <a:lnTo>
                  <a:pt x="217932" y="27329"/>
                </a:lnTo>
                <a:lnTo>
                  <a:pt x="227838" y="21595"/>
                </a:lnTo>
                <a:lnTo>
                  <a:pt x="237744" y="16303"/>
                </a:lnTo>
                <a:lnTo>
                  <a:pt x="247650" y="11584"/>
                </a:lnTo>
                <a:lnTo>
                  <a:pt x="257556" y="7553"/>
                </a:lnTo>
                <a:lnTo>
                  <a:pt x="267462" y="4311"/>
                </a:lnTo>
                <a:lnTo>
                  <a:pt x="277368" y="1936"/>
                </a:lnTo>
                <a:lnTo>
                  <a:pt x="287274" y="487"/>
                </a:lnTo>
                <a:lnTo>
                  <a:pt x="297180" y="0"/>
                </a:lnTo>
                <a:lnTo>
                  <a:pt x="307086" y="487"/>
                </a:lnTo>
                <a:lnTo>
                  <a:pt x="316992" y="1936"/>
                </a:lnTo>
                <a:lnTo>
                  <a:pt x="326898" y="4311"/>
                </a:lnTo>
                <a:lnTo>
                  <a:pt x="336804" y="7553"/>
                </a:lnTo>
                <a:lnTo>
                  <a:pt x="346710" y="11584"/>
                </a:lnTo>
                <a:lnTo>
                  <a:pt x="356616" y="16303"/>
                </a:lnTo>
                <a:lnTo>
                  <a:pt x="366522" y="21595"/>
                </a:lnTo>
                <a:lnTo>
                  <a:pt x="376428" y="27329"/>
                </a:lnTo>
                <a:lnTo>
                  <a:pt x="386334" y="33364"/>
                </a:lnTo>
                <a:lnTo>
                  <a:pt x="396240" y="39551"/>
                </a:lnTo>
                <a:lnTo>
                  <a:pt x="406146" y="45738"/>
                </a:lnTo>
                <a:lnTo>
                  <a:pt x="416052" y="51772"/>
                </a:lnTo>
                <a:lnTo>
                  <a:pt x="425958" y="57506"/>
                </a:lnTo>
                <a:lnTo>
                  <a:pt x="435864" y="62798"/>
                </a:lnTo>
                <a:lnTo>
                  <a:pt x="445770" y="67517"/>
                </a:lnTo>
                <a:lnTo>
                  <a:pt x="455676" y="71548"/>
                </a:lnTo>
              </a:path>
            </a:pathLst>
          </a:custGeom>
          <a:noFill/>
          <a:ln w="14859" cap="rnd">
            <a:solidFill>
              <a:srgbClr val="256CA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5" name="fxr_component_path_12"/>
          <p:cNvSpPr/>
          <p:nvPr/>
        </p:nvSpPr>
        <p:spPr>
          <a:xfrm>
            <a:off x="3441021" y="7326355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45738"/>
                </a:lnTo>
                <a:lnTo>
                  <a:pt x="19812" y="51772"/>
                </a:lnTo>
                <a:lnTo>
                  <a:pt x="29718" y="57506"/>
                </a:lnTo>
                <a:lnTo>
                  <a:pt x="39624" y="62798"/>
                </a:lnTo>
                <a:lnTo>
                  <a:pt x="49530" y="67517"/>
                </a:lnTo>
                <a:lnTo>
                  <a:pt x="59436" y="71548"/>
                </a:lnTo>
                <a:lnTo>
                  <a:pt x="69342" y="74790"/>
                </a:lnTo>
                <a:lnTo>
                  <a:pt x="79248" y="77165"/>
                </a:lnTo>
                <a:lnTo>
                  <a:pt x="89154" y="78614"/>
                </a:lnTo>
                <a:lnTo>
                  <a:pt x="99060" y="79101"/>
                </a:lnTo>
                <a:lnTo>
                  <a:pt x="108966" y="78614"/>
                </a:lnTo>
                <a:lnTo>
                  <a:pt x="118872" y="77165"/>
                </a:lnTo>
                <a:lnTo>
                  <a:pt x="128778" y="74790"/>
                </a:lnTo>
                <a:lnTo>
                  <a:pt x="138684" y="71548"/>
                </a:lnTo>
                <a:lnTo>
                  <a:pt x="148590" y="67517"/>
                </a:lnTo>
                <a:lnTo>
                  <a:pt x="158496" y="62798"/>
                </a:lnTo>
                <a:lnTo>
                  <a:pt x="168402" y="57506"/>
                </a:lnTo>
                <a:lnTo>
                  <a:pt x="178308" y="51772"/>
                </a:lnTo>
                <a:lnTo>
                  <a:pt x="188214" y="45738"/>
                </a:lnTo>
                <a:lnTo>
                  <a:pt x="198120" y="39551"/>
                </a:lnTo>
                <a:lnTo>
                  <a:pt x="208026" y="33364"/>
                </a:lnTo>
                <a:lnTo>
                  <a:pt x="217932" y="27329"/>
                </a:lnTo>
                <a:lnTo>
                  <a:pt x="227838" y="21595"/>
                </a:lnTo>
                <a:lnTo>
                  <a:pt x="237744" y="16303"/>
                </a:lnTo>
                <a:lnTo>
                  <a:pt x="247650" y="11584"/>
                </a:lnTo>
                <a:lnTo>
                  <a:pt x="257556" y="7553"/>
                </a:lnTo>
                <a:lnTo>
                  <a:pt x="267462" y="4311"/>
                </a:lnTo>
                <a:lnTo>
                  <a:pt x="277368" y="1936"/>
                </a:lnTo>
                <a:lnTo>
                  <a:pt x="287274" y="487"/>
                </a:lnTo>
                <a:lnTo>
                  <a:pt x="297180" y="0"/>
                </a:lnTo>
                <a:lnTo>
                  <a:pt x="307086" y="487"/>
                </a:lnTo>
                <a:lnTo>
                  <a:pt x="316992" y="1936"/>
                </a:lnTo>
                <a:lnTo>
                  <a:pt x="326898" y="4311"/>
                </a:lnTo>
                <a:lnTo>
                  <a:pt x="336804" y="7553"/>
                </a:lnTo>
                <a:lnTo>
                  <a:pt x="346710" y="11584"/>
                </a:lnTo>
                <a:lnTo>
                  <a:pt x="356616" y="16303"/>
                </a:lnTo>
                <a:lnTo>
                  <a:pt x="366522" y="21595"/>
                </a:lnTo>
                <a:lnTo>
                  <a:pt x="376428" y="27329"/>
                </a:lnTo>
                <a:lnTo>
                  <a:pt x="386334" y="33364"/>
                </a:lnTo>
                <a:lnTo>
                  <a:pt x="396240" y="39551"/>
                </a:lnTo>
                <a:lnTo>
                  <a:pt x="406146" y="45738"/>
                </a:lnTo>
                <a:lnTo>
                  <a:pt x="416052" y="51772"/>
                </a:lnTo>
                <a:lnTo>
                  <a:pt x="425958" y="57506"/>
                </a:lnTo>
                <a:lnTo>
                  <a:pt x="435864" y="62798"/>
                </a:lnTo>
                <a:lnTo>
                  <a:pt x="445770" y="67517"/>
                </a:lnTo>
                <a:lnTo>
                  <a:pt x="455676" y="71548"/>
                </a:lnTo>
              </a:path>
            </a:pathLst>
          </a:custGeom>
          <a:noFill/>
          <a:ln w="4333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6" name="fxr_component_path_13"/>
          <p:cNvSpPr/>
          <p:nvPr/>
        </p:nvSpPr>
        <p:spPr>
          <a:xfrm>
            <a:off x="3439287" y="7328991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33364"/>
                </a:lnTo>
                <a:lnTo>
                  <a:pt x="19812" y="27329"/>
                </a:lnTo>
                <a:lnTo>
                  <a:pt x="29718" y="21595"/>
                </a:lnTo>
                <a:lnTo>
                  <a:pt x="39624" y="16303"/>
                </a:lnTo>
                <a:lnTo>
                  <a:pt x="49530" y="11584"/>
                </a:lnTo>
                <a:lnTo>
                  <a:pt x="59436" y="7553"/>
                </a:lnTo>
                <a:lnTo>
                  <a:pt x="69342" y="4311"/>
                </a:lnTo>
                <a:lnTo>
                  <a:pt x="79248" y="1936"/>
                </a:lnTo>
                <a:lnTo>
                  <a:pt x="89154" y="487"/>
                </a:lnTo>
                <a:lnTo>
                  <a:pt x="99060" y="0"/>
                </a:lnTo>
                <a:lnTo>
                  <a:pt x="108966" y="487"/>
                </a:lnTo>
                <a:lnTo>
                  <a:pt x="118872" y="1936"/>
                </a:lnTo>
                <a:lnTo>
                  <a:pt x="128778" y="4311"/>
                </a:lnTo>
                <a:lnTo>
                  <a:pt x="138684" y="7553"/>
                </a:lnTo>
                <a:lnTo>
                  <a:pt x="148590" y="11584"/>
                </a:lnTo>
                <a:lnTo>
                  <a:pt x="158496" y="16303"/>
                </a:lnTo>
                <a:lnTo>
                  <a:pt x="168402" y="21595"/>
                </a:lnTo>
                <a:lnTo>
                  <a:pt x="178308" y="27329"/>
                </a:lnTo>
                <a:lnTo>
                  <a:pt x="188214" y="33364"/>
                </a:lnTo>
                <a:lnTo>
                  <a:pt x="198120" y="39551"/>
                </a:lnTo>
                <a:lnTo>
                  <a:pt x="208026" y="45738"/>
                </a:lnTo>
                <a:lnTo>
                  <a:pt x="217932" y="51772"/>
                </a:lnTo>
                <a:lnTo>
                  <a:pt x="227838" y="57506"/>
                </a:lnTo>
                <a:lnTo>
                  <a:pt x="237744" y="62798"/>
                </a:lnTo>
                <a:lnTo>
                  <a:pt x="247650" y="67517"/>
                </a:lnTo>
                <a:lnTo>
                  <a:pt x="257556" y="71548"/>
                </a:lnTo>
                <a:lnTo>
                  <a:pt x="267462" y="74790"/>
                </a:lnTo>
                <a:lnTo>
                  <a:pt x="277368" y="77165"/>
                </a:lnTo>
                <a:lnTo>
                  <a:pt x="287274" y="78614"/>
                </a:lnTo>
                <a:lnTo>
                  <a:pt x="297180" y="79101"/>
                </a:lnTo>
                <a:lnTo>
                  <a:pt x="307086" y="78614"/>
                </a:lnTo>
                <a:lnTo>
                  <a:pt x="316992" y="77165"/>
                </a:lnTo>
                <a:lnTo>
                  <a:pt x="326898" y="74790"/>
                </a:lnTo>
                <a:lnTo>
                  <a:pt x="336804" y="71548"/>
                </a:lnTo>
                <a:lnTo>
                  <a:pt x="346710" y="67517"/>
                </a:lnTo>
                <a:lnTo>
                  <a:pt x="356616" y="62798"/>
                </a:lnTo>
                <a:lnTo>
                  <a:pt x="366522" y="57506"/>
                </a:lnTo>
                <a:lnTo>
                  <a:pt x="376428" y="51772"/>
                </a:lnTo>
                <a:lnTo>
                  <a:pt x="386334" y="45738"/>
                </a:lnTo>
                <a:lnTo>
                  <a:pt x="396240" y="39551"/>
                </a:lnTo>
                <a:lnTo>
                  <a:pt x="406146" y="33364"/>
                </a:lnTo>
                <a:lnTo>
                  <a:pt x="416052" y="27329"/>
                </a:lnTo>
                <a:lnTo>
                  <a:pt x="425958" y="21595"/>
                </a:lnTo>
                <a:lnTo>
                  <a:pt x="435864" y="16303"/>
                </a:lnTo>
                <a:lnTo>
                  <a:pt x="445770" y="11584"/>
                </a:lnTo>
                <a:lnTo>
                  <a:pt x="455676" y="7553"/>
                </a:lnTo>
              </a:path>
            </a:pathLst>
          </a:custGeom>
          <a:noFill/>
          <a:ln w="14859" cap="rnd">
            <a:solidFill>
              <a:srgbClr val="256CA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7" name="fxr_component_path_14"/>
          <p:cNvSpPr/>
          <p:nvPr/>
        </p:nvSpPr>
        <p:spPr>
          <a:xfrm>
            <a:off x="3441021" y="7326355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33364"/>
                </a:lnTo>
                <a:lnTo>
                  <a:pt x="19812" y="27329"/>
                </a:lnTo>
                <a:lnTo>
                  <a:pt x="29718" y="21595"/>
                </a:lnTo>
                <a:lnTo>
                  <a:pt x="39624" y="16303"/>
                </a:lnTo>
                <a:lnTo>
                  <a:pt x="49530" y="11584"/>
                </a:lnTo>
                <a:lnTo>
                  <a:pt x="59436" y="7553"/>
                </a:lnTo>
                <a:lnTo>
                  <a:pt x="69342" y="4311"/>
                </a:lnTo>
                <a:lnTo>
                  <a:pt x="79248" y="1936"/>
                </a:lnTo>
                <a:lnTo>
                  <a:pt x="89154" y="487"/>
                </a:lnTo>
                <a:lnTo>
                  <a:pt x="99060" y="0"/>
                </a:lnTo>
                <a:lnTo>
                  <a:pt x="108966" y="487"/>
                </a:lnTo>
                <a:lnTo>
                  <a:pt x="118872" y="1936"/>
                </a:lnTo>
                <a:lnTo>
                  <a:pt x="128778" y="4311"/>
                </a:lnTo>
                <a:lnTo>
                  <a:pt x="138684" y="7553"/>
                </a:lnTo>
                <a:lnTo>
                  <a:pt x="148590" y="11584"/>
                </a:lnTo>
                <a:lnTo>
                  <a:pt x="158496" y="16303"/>
                </a:lnTo>
                <a:lnTo>
                  <a:pt x="168402" y="21595"/>
                </a:lnTo>
                <a:lnTo>
                  <a:pt x="178308" y="27329"/>
                </a:lnTo>
                <a:lnTo>
                  <a:pt x="188214" y="33364"/>
                </a:lnTo>
                <a:lnTo>
                  <a:pt x="198120" y="39551"/>
                </a:lnTo>
                <a:lnTo>
                  <a:pt x="208026" y="45738"/>
                </a:lnTo>
                <a:lnTo>
                  <a:pt x="217932" y="51772"/>
                </a:lnTo>
                <a:lnTo>
                  <a:pt x="227838" y="57506"/>
                </a:lnTo>
                <a:lnTo>
                  <a:pt x="237744" y="62798"/>
                </a:lnTo>
                <a:lnTo>
                  <a:pt x="247650" y="67517"/>
                </a:lnTo>
                <a:lnTo>
                  <a:pt x="257556" y="71548"/>
                </a:lnTo>
                <a:lnTo>
                  <a:pt x="267462" y="74790"/>
                </a:lnTo>
                <a:lnTo>
                  <a:pt x="277368" y="77165"/>
                </a:lnTo>
                <a:lnTo>
                  <a:pt x="287274" y="78614"/>
                </a:lnTo>
                <a:lnTo>
                  <a:pt x="297180" y="79101"/>
                </a:lnTo>
                <a:lnTo>
                  <a:pt x="307086" y="78614"/>
                </a:lnTo>
                <a:lnTo>
                  <a:pt x="316992" y="77165"/>
                </a:lnTo>
                <a:lnTo>
                  <a:pt x="326898" y="74790"/>
                </a:lnTo>
                <a:lnTo>
                  <a:pt x="336804" y="71548"/>
                </a:lnTo>
                <a:lnTo>
                  <a:pt x="346710" y="67517"/>
                </a:lnTo>
                <a:lnTo>
                  <a:pt x="356616" y="62798"/>
                </a:lnTo>
                <a:lnTo>
                  <a:pt x="366522" y="57506"/>
                </a:lnTo>
                <a:lnTo>
                  <a:pt x="376428" y="51772"/>
                </a:lnTo>
                <a:lnTo>
                  <a:pt x="386334" y="45738"/>
                </a:lnTo>
                <a:lnTo>
                  <a:pt x="396240" y="39551"/>
                </a:lnTo>
                <a:lnTo>
                  <a:pt x="406146" y="33364"/>
                </a:lnTo>
                <a:lnTo>
                  <a:pt x="416052" y="27329"/>
                </a:lnTo>
                <a:lnTo>
                  <a:pt x="425958" y="21595"/>
                </a:lnTo>
                <a:lnTo>
                  <a:pt x="435864" y="16303"/>
                </a:lnTo>
                <a:lnTo>
                  <a:pt x="445770" y="11584"/>
                </a:lnTo>
                <a:lnTo>
                  <a:pt x="455676" y="7553"/>
                </a:lnTo>
              </a:path>
            </a:pathLst>
          </a:custGeom>
          <a:noFill/>
          <a:ln w="4333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8" name="fxr_component_path_15"/>
          <p:cNvSpPr/>
          <p:nvPr/>
        </p:nvSpPr>
        <p:spPr>
          <a:xfrm>
            <a:off x="3469005" y="7140027"/>
            <a:ext cx="183261" cy="215331"/>
          </a:xfrm>
          <a:custGeom>
            <a:avLst/>
            <a:gdLst/>
            <a:ahLst/>
            <a:cxnLst/>
            <a:rect l="0" t="0" r="r" b="b"/>
            <a:pathLst>
              <a:path w="183261" h="215331">
                <a:moveTo>
                  <a:pt x="178308" y="166991"/>
                </a:moveTo>
                <a:cubicBezTo>
                  <a:pt x="178308" y="105468"/>
                  <a:pt x="183261" y="74707"/>
                  <a:pt x="138684" y="43945"/>
                </a:cubicBezTo>
                <a:cubicBezTo>
                  <a:pt x="74295" y="0"/>
                  <a:pt x="49530" y="0"/>
                  <a:pt x="29718" y="43945"/>
                </a:cubicBezTo>
                <a:cubicBezTo>
                  <a:pt x="0" y="92285"/>
                  <a:pt x="24765" y="145019"/>
                  <a:pt x="99060" y="149413"/>
                </a:cubicBezTo>
                <a:cubicBezTo>
                  <a:pt x="128778" y="153808"/>
                  <a:pt x="138684" y="158202"/>
                  <a:pt x="143637" y="188964"/>
                </a:cubicBezTo>
                <a:cubicBezTo>
                  <a:pt x="148590" y="215331"/>
                  <a:pt x="183261" y="206542"/>
                  <a:pt x="178308" y="166991"/>
                </a:cubicBezTo>
                <a:close/>
              </a:path>
            </a:pathLst>
          </a:custGeom>
          <a:gradFill rotWithShape="1">
            <a:gsLst>
              <a:gs pos="0">
                <a:srgbClr val="FFECB3"/>
              </a:gs>
              <a:gs pos="35000">
                <a:srgbClr val="FFE7A0"/>
              </a:gs>
              <a:gs pos="80000">
                <a:srgbClr val="EAB848"/>
              </a:gs>
              <a:gs pos="100000">
                <a:srgbClr val="D39D35"/>
              </a:gs>
            </a:gsLst>
            <a:lin ang="3000000" scaled="1"/>
          </a:gradFill>
          <a:ln w="6500" cap="rnd">
            <a:solidFill>
              <a:srgbClr val="B77B1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9" name="fxr_component_oval_16"/>
          <p:cNvSpPr/>
          <p:nvPr/>
        </p:nvSpPr>
        <p:spPr>
          <a:xfrm rot="20700000">
            <a:off x="3528441" y="7069715"/>
            <a:ext cx="123825" cy="166991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50000">
                <a:srgbClr val="F0C662"/>
              </a:gs>
              <a:gs pos="100000">
                <a:srgbClr val="EAB848"/>
              </a:gs>
            </a:gsLst>
            <a:lin ang="3300000" scaled="1"/>
          </a:gradFill>
          <a:ln w="6191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0" name="fxr_component_oval_17"/>
          <p:cNvSpPr/>
          <p:nvPr/>
        </p:nvSpPr>
        <p:spPr>
          <a:xfrm>
            <a:off x="3577971" y="7008192"/>
            <a:ext cx="79248" cy="74707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100000">
                <a:srgbClr val="EAB848"/>
              </a:gs>
            </a:gsLst>
            <a:lin ang="3600000" scaled="1"/>
          </a:gradFill>
          <a:ln w="5572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1" name="fxr_component_path_18"/>
          <p:cNvSpPr/>
          <p:nvPr/>
        </p:nvSpPr>
        <p:spPr>
          <a:xfrm>
            <a:off x="3681984" y="7140027"/>
            <a:ext cx="183261" cy="215331"/>
          </a:xfrm>
          <a:custGeom>
            <a:avLst/>
            <a:gdLst/>
            <a:ahLst/>
            <a:cxnLst/>
            <a:rect l="0" t="0" r="r" b="b"/>
            <a:pathLst>
              <a:path w="183261" h="215331">
                <a:moveTo>
                  <a:pt x="4953" y="166991"/>
                </a:moveTo>
                <a:cubicBezTo>
                  <a:pt x="4953" y="105468"/>
                  <a:pt x="0" y="74707"/>
                  <a:pt x="44577" y="43945"/>
                </a:cubicBezTo>
                <a:cubicBezTo>
                  <a:pt x="108966" y="0"/>
                  <a:pt x="133731" y="0"/>
                  <a:pt x="153543" y="43945"/>
                </a:cubicBezTo>
                <a:cubicBezTo>
                  <a:pt x="183261" y="92285"/>
                  <a:pt x="158496" y="145019"/>
                  <a:pt x="84201" y="149413"/>
                </a:cubicBezTo>
                <a:cubicBezTo>
                  <a:pt x="54483" y="153808"/>
                  <a:pt x="44577" y="158202"/>
                  <a:pt x="39624" y="188964"/>
                </a:cubicBezTo>
                <a:cubicBezTo>
                  <a:pt x="34671" y="215331"/>
                  <a:pt x="0" y="206542"/>
                  <a:pt x="4953" y="166991"/>
                </a:cubicBezTo>
                <a:close/>
              </a:path>
            </a:pathLst>
          </a:custGeom>
          <a:gradFill rotWithShape="1">
            <a:gsLst>
              <a:gs pos="0">
                <a:srgbClr val="FFECB3"/>
              </a:gs>
              <a:gs pos="35000">
                <a:srgbClr val="FFE7A0"/>
              </a:gs>
              <a:gs pos="80000">
                <a:srgbClr val="EAB848"/>
              </a:gs>
              <a:gs pos="100000">
                <a:srgbClr val="D39D35"/>
              </a:gs>
            </a:gsLst>
            <a:lin ang="7800000" scaled="1"/>
          </a:gradFill>
          <a:ln w="6500" cap="rnd">
            <a:solidFill>
              <a:srgbClr val="B77B1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2" name="fxr_component_oval_19"/>
          <p:cNvSpPr/>
          <p:nvPr/>
        </p:nvSpPr>
        <p:spPr>
          <a:xfrm rot="900000">
            <a:off x="3701796" y="7069715"/>
            <a:ext cx="123825" cy="166991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50000">
                <a:srgbClr val="F0C662"/>
              </a:gs>
              <a:gs pos="100000">
                <a:srgbClr val="EAB848"/>
              </a:gs>
            </a:gsLst>
            <a:lin ang="3300000" scaled="1"/>
          </a:gradFill>
          <a:ln w="6191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3" name="fxr_component_oval_20"/>
          <p:cNvSpPr/>
          <p:nvPr/>
        </p:nvSpPr>
        <p:spPr>
          <a:xfrm>
            <a:off x="3686937" y="7008192"/>
            <a:ext cx="79248" cy="74707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100000">
                <a:srgbClr val="EAB848"/>
              </a:gs>
            </a:gsLst>
            <a:lin ang="3600000" scaled="1"/>
          </a:gradFill>
          <a:ln w="5572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4" name="fxr_component_oval_21"/>
          <p:cNvSpPr/>
          <p:nvPr/>
        </p:nvSpPr>
        <p:spPr>
          <a:xfrm>
            <a:off x="3602736" y="6999403"/>
            <a:ext cx="128778" cy="114257"/>
          </a:xfrm>
          <a:prstGeom prst="ellipse">
            <a:avLst/>
          </a:prstGeom>
          <a:gradFill rotWithShape="1">
            <a:gsLst>
              <a:gs pos="0">
                <a:srgbClr val="FAEDD1"/>
              </a:gs>
              <a:gs pos="30000">
                <a:srgbClr val="EFCA76"/>
              </a:gs>
              <a:gs pos="67000">
                <a:srgbClr val="EAB848"/>
              </a:gs>
              <a:gs pos="100000">
                <a:srgbClr val="CA922E"/>
              </a:gs>
            </a:gsLst>
            <a:lin ang="3300000" scaled="1"/>
          </a:gradFill>
          <a:ln w="8048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5" name="fxr_component_oval_22"/>
          <p:cNvSpPr/>
          <p:nvPr/>
        </p:nvSpPr>
        <p:spPr>
          <a:xfrm>
            <a:off x="3633643" y="7020541"/>
            <a:ext cx="33482" cy="21138"/>
          </a:xfrm>
          <a:prstGeom prst="ellipse">
            <a:avLst/>
          </a:prstGeom>
          <a:solidFill>
            <a:srgbClr val="FAED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6" name="fxr_component_path_23"/>
          <p:cNvSpPr/>
          <p:nvPr/>
        </p:nvSpPr>
        <p:spPr>
          <a:xfrm>
            <a:off x="3548253" y="7109266"/>
            <a:ext cx="24765" cy="79101"/>
          </a:xfrm>
          <a:custGeom>
            <a:avLst/>
            <a:gdLst/>
            <a:ahLst/>
            <a:cxnLst/>
            <a:rect l="0" t="0" r="r" b="b"/>
            <a:pathLst>
              <a:path w="24765" h="79101">
                <a:moveTo>
                  <a:pt x="24765" y="0"/>
                </a:moveTo>
                <a:cubicBezTo>
                  <a:pt x="4953" y="21973"/>
                  <a:pt x="0" y="57129"/>
                  <a:pt x="9906" y="79101"/>
                </a:cubicBezTo>
              </a:path>
            </a:pathLst>
          </a:custGeom>
          <a:noFill/>
          <a:ln w="9286" cap="rnd">
            <a:solidFill>
              <a:srgbClr val="FFE7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7" name="ahr_component_path_1"/>
          <p:cNvSpPr/>
          <p:nvPr/>
        </p:nvSpPr>
        <p:spPr>
          <a:xfrm>
            <a:off x="3467862" y="8092078"/>
            <a:ext cx="95" cy="23974"/>
          </a:xfrm>
          <a:custGeom>
            <a:avLst/>
            <a:gdLst/>
            <a:ahLst/>
            <a:cxnLst/>
            <a:rect l="0" t="0" r="r" b="b"/>
            <a:pathLst>
              <a:path w="95" h="23974">
                <a:moveTo>
                  <a:pt x="0" y="23974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8" name="ahr_component_path_2"/>
          <p:cNvSpPr/>
          <p:nvPr/>
        </p:nvSpPr>
        <p:spPr>
          <a:xfrm>
            <a:off x="3511582" y="8070990"/>
            <a:ext cx="95" cy="66150"/>
          </a:xfrm>
          <a:custGeom>
            <a:avLst/>
            <a:gdLst/>
            <a:ahLst/>
            <a:cxnLst/>
            <a:rect l="0" t="0" r="r" b="b"/>
            <a:pathLst>
              <a:path w="95" h="66150">
                <a:moveTo>
                  <a:pt x="0" y="66150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9" name="ahr_component_path_3"/>
          <p:cNvSpPr/>
          <p:nvPr/>
        </p:nvSpPr>
        <p:spPr>
          <a:xfrm>
            <a:off x="3555302" y="8065751"/>
            <a:ext cx="95" cy="76627"/>
          </a:xfrm>
          <a:custGeom>
            <a:avLst/>
            <a:gdLst/>
            <a:ahLst/>
            <a:cxnLst/>
            <a:rect l="0" t="0" r="r" b="b"/>
            <a:pathLst>
              <a:path w="95" h="76627">
                <a:moveTo>
                  <a:pt x="0" y="76627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0" name="ahr_component_path_4"/>
          <p:cNvSpPr/>
          <p:nvPr/>
        </p:nvSpPr>
        <p:spPr>
          <a:xfrm>
            <a:off x="3599021" y="8078872"/>
            <a:ext cx="95" cy="50385"/>
          </a:xfrm>
          <a:custGeom>
            <a:avLst/>
            <a:gdLst/>
            <a:ahLst/>
            <a:cxnLst/>
            <a:rect l="0" t="0" r="r" b="b"/>
            <a:pathLst>
              <a:path w="95" h="50385">
                <a:moveTo>
                  <a:pt x="0" y="50385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1" name="ahr_component_path_5"/>
          <p:cNvSpPr/>
          <p:nvPr/>
        </p:nvSpPr>
        <p:spPr>
          <a:xfrm>
            <a:off x="3642741" y="8104065"/>
            <a:ext cx="95" cy="95"/>
          </a:xfrm>
          <a:custGeom>
            <a:avLst/>
            <a:gdLst/>
            <a:ahLst/>
            <a:cxnLst/>
            <a:rect l="0" t="0" r="r" b="b"/>
            <a:pathLst>
              <a:path w="95" h="95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2" name="ahr_component_path_6"/>
          <p:cNvSpPr/>
          <p:nvPr/>
        </p:nvSpPr>
        <p:spPr>
          <a:xfrm>
            <a:off x="3686461" y="8078872"/>
            <a:ext cx="95" cy="50385"/>
          </a:xfrm>
          <a:custGeom>
            <a:avLst/>
            <a:gdLst/>
            <a:ahLst/>
            <a:cxnLst/>
            <a:rect l="0" t="0" r="r" b="b"/>
            <a:pathLst>
              <a:path w="95" h="50385">
                <a:moveTo>
                  <a:pt x="0" y="0"/>
                </a:moveTo>
                <a:lnTo>
                  <a:pt x="0" y="50385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3" name="ahr_component_path_7"/>
          <p:cNvSpPr/>
          <p:nvPr/>
        </p:nvSpPr>
        <p:spPr>
          <a:xfrm>
            <a:off x="3730180" y="8065751"/>
            <a:ext cx="95" cy="76627"/>
          </a:xfrm>
          <a:custGeom>
            <a:avLst/>
            <a:gdLst/>
            <a:ahLst/>
            <a:cxnLst/>
            <a:rect l="0" t="0" r="r" b="b"/>
            <a:pathLst>
              <a:path w="95" h="76627">
                <a:moveTo>
                  <a:pt x="0" y="0"/>
                </a:moveTo>
                <a:lnTo>
                  <a:pt x="0" y="76627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4" name="ahr_component_path_8"/>
          <p:cNvSpPr/>
          <p:nvPr/>
        </p:nvSpPr>
        <p:spPr>
          <a:xfrm>
            <a:off x="3773900" y="8070990"/>
            <a:ext cx="95" cy="66150"/>
          </a:xfrm>
          <a:custGeom>
            <a:avLst/>
            <a:gdLst/>
            <a:ahLst/>
            <a:cxnLst/>
            <a:rect l="0" t="0" r="r" b="b"/>
            <a:pathLst>
              <a:path w="95" h="66150">
                <a:moveTo>
                  <a:pt x="0" y="0"/>
                </a:moveTo>
                <a:lnTo>
                  <a:pt x="0" y="6615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5" name="ahr_component_path_9"/>
          <p:cNvSpPr/>
          <p:nvPr/>
        </p:nvSpPr>
        <p:spPr>
          <a:xfrm>
            <a:off x="3817620" y="8092078"/>
            <a:ext cx="95" cy="23974"/>
          </a:xfrm>
          <a:custGeom>
            <a:avLst/>
            <a:gdLst/>
            <a:ahLst/>
            <a:cxnLst/>
            <a:rect l="0" t="0" r="r" b="b"/>
            <a:pathLst>
              <a:path w="95" h="23974">
                <a:moveTo>
                  <a:pt x="0" y="0"/>
                </a:moveTo>
                <a:lnTo>
                  <a:pt x="0" y="23974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6" name="ahr_component_path_10"/>
          <p:cNvSpPr/>
          <p:nvPr/>
        </p:nvSpPr>
        <p:spPr>
          <a:xfrm>
            <a:off x="3861340" y="8089220"/>
            <a:ext cx="95" cy="29689"/>
          </a:xfrm>
          <a:custGeom>
            <a:avLst/>
            <a:gdLst/>
            <a:ahLst/>
            <a:cxnLst/>
            <a:rect l="0" t="0" r="r" b="b"/>
            <a:pathLst>
              <a:path w="95" h="29689">
                <a:moveTo>
                  <a:pt x="0" y="29689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7" name="ahr_component_path_11"/>
          <p:cNvSpPr/>
          <p:nvPr/>
        </p:nvSpPr>
        <p:spPr>
          <a:xfrm>
            <a:off x="3448431" y="8065274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44859"/>
                </a:lnTo>
                <a:lnTo>
                  <a:pt x="19431" y="50778"/>
                </a:lnTo>
                <a:lnTo>
                  <a:pt x="29147" y="56402"/>
                </a:lnTo>
                <a:lnTo>
                  <a:pt x="38862" y="61592"/>
                </a:lnTo>
                <a:lnTo>
                  <a:pt x="48577" y="66220"/>
                </a:lnTo>
                <a:lnTo>
                  <a:pt x="58293" y="70174"/>
                </a:lnTo>
                <a:lnTo>
                  <a:pt x="68008" y="73354"/>
                </a:lnTo>
                <a:lnTo>
                  <a:pt x="77724" y="75683"/>
                </a:lnTo>
                <a:lnTo>
                  <a:pt x="87440" y="77104"/>
                </a:lnTo>
                <a:lnTo>
                  <a:pt x="97155" y="77582"/>
                </a:lnTo>
                <a:lnTo>
                  <a:pt x="106870" y="77104"/>
                </a:lnTo>
                <a:lnTo>
                  <a:pt x="116586" y="75683"/>
                </a:lnTo>
                <a:lnTo>
                  <a:pt x="126301" y="73354"/>
                </a:lnTo>
                <a:lnTo>
                  <a:pt x="136017" y="70174"/>
                </a:lnTo>
                <a:lnTo>
                  <a:pt x="145732" y="66220"/>
                </a:lnTo>
                <a:lnTo>
                  <a:pt x="155448" y="61592"/>
                </a:lnTo>
                <a:lnTo>
                  <a:pt x="165163" y="56402"/>
                </a:lnTo>
                <a:lnTo>
                  <a:pt x="174879" y="50778"/>
                </a:lnTo>
                <a:lnTo>
                  <a:pt x="184594" y="44859"/>
                </a:lnTo>
                <a:lnTo>
                  <a:pt x="194310" y="38791"/>
                </a:lnTo>
                <a:lnTo>
                  <a:pt x="204025" y="32723"/>
                </a:lnTo>
                <a:lnTo>
                  <a:pt x="213741" y="26804"/>
                </a:lnTo>
                <a:lnTo>
                  <a:pt x="223456" y="21180"/>
                </a:lnTo>
                <a:lnTo>
                  <a:pt x="233172" y="15990"/>
                </a:lnTo>
                <a:lnTo>
                  <a:pt x="242888" y="11362"/>
                </a:lnTo>
                <a:lnTo>
                  <a:pt x="252603" y="7408"/>
                </a:lnTo>
                <a:lnTo>
                  <a:pt x="262318" y="4228"/>
                </a:lnTo>
                <a:lnTo>
                  <a:pt x="272034" y="1899"/>
                </a:lnTo>
                <a:lnTo>
                  <a:pt x="281749" y="478"/>
                </a:lnTo>
                <a:lnTo>
                  <a:pt x="291465" y="0"/>
                </a:lnTo>
                <a:lnTo>
                  <a:pt x="301180" y="478"/>
                </a:lnTo>
                <a:lnTo>
                  <a:pt x="310896" y="1899"/>
                </a:lnTo>
                <a:lnTo>
                  <a:pt x="320611" y="4228"/>
                </a:lnTo>
                <a:lnTo>
                  <a:pt x="330327" y="7408"/>
                </a:lnTo>
                <a:lnTo>
                  <a:pt x="340042" y="11362"/>
                </a:lnTo>
                <a:lnTo>
                  <a:pt x="349758" y="15990"/>
                </a:lnTo>
                <a:lnTo>
                  <a:pt x="359473" y="21180"/>
                </a:lnTo>
                <a:lnTo>
                  <a:pt x="369189" y="26804"/>
                </a:lnTo>
                <a:lnTo>
                  <a:pt x="378904" y="32723"/>
                </a:lnTo>
                <a:lnTo>
                  <a:pt x="388620" y="38791"/>
                </a:lnTo>
                <a:lnTo>
                  <a:pt x="398335" y="44859"/>
                </a:lnTo>
                <a:lnTo>
                  <a:pt x="408051" y="50778"/>
                </a:lnTo>
                <a:lnTo>
                  <a:pt x="417766" y="56402"/>
                </a:lnTo>
                <a:lnTo>
                  <a:pt x="427482" y="61592"/>
                </a:lnTo>
                <a:lnTo>
                  <a:pt x="437197" y="66220"/>
                </a:lnTo>
                <a:lnTo>
                  <a:pt x="446913" y="70174"/>
                </a:lnTo>
              </a:path>
            </a:pathLst>
          </a:custGeom>
          <a:noFill/>
          <a:ln w="14573" cap="rnd">
            <a:solidFill>
              <a:srgbClr val="6538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8" name="ahr_component_path_12"/>
          <p:cNvSpPr/>
          <p:nvPr/>
        </p:nvSpPr>
        <p:spPr>
          <a:xfrm>
            <a:off x="3450131" y="8062688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44859"/>
                </a:lnTo>
                <a:lnTo>
                  <a:pt x="19431" y="50778"/>
                </a:lnTo>
                <a:lnTo>
                  <a:pt x="29147" y="56402"/>
                </a:lnTo>
                <a:lnTo>
                  <a:pt x="38862" y="61592"/>
                </a:lnTo>
                <a:lnTo>
                  <a:pt x="48577" y="66220"/>
                </a:lnTo>
                <a:lnTo>
                  <a:pt x="58293" y="70174"/>
                </a:lnTo>
                <a:lnTo>
                  <a:pt x="68008" y="73354"/>
                </a:lnTo>
                <a:lnTo>
                  <a:pt x="77724" y="75683"/>
                </a:lnTo>
                <a:lnTo>
                  <a:pt x="87440" y="77104"/>
                </a:lnTo>
                <a:lnTo>
                  <a:pt x="97155" y="77582"/>
                </a:lnTo>
                <a:lnTo>
                  <a:pt x="106870" y="77104"/>
                </a:lnTo>
                <a:lnTo>
                  <a:pt x="116586" y="75683"/>
                </a:lnTo>
                <a:lnTo>
                  <a:pt x="126301" y="73354"/>
                </a:lnTo>
                <a:lnTo>
                  <a:pt x="136017" y="70174"/>
                </a:lnTo>
                <a:lnTo>
                  <a:pt x="145733" y="66220"/>
                </a:lnTo>
                <a:lnTo>
                  <a:pt x="155448" y="61592"/>
                </a:lnTo>
                <a:lnTo>
                  <a:pt x="165163" y="56402"/>
                </a:lnTo>
                <a:lnTo>
                  <a:pt x="174879" y="50778"/>
                </a:lnTo>
                <a:lnTo>
                  <a:pt x="184594" y="44859"/>
                </a:lnTo>
                <a:lnTo>
                  <a:pt x="194310" y="38791"/>
                </a:lnTo>
                <a:lnTo>
                  <a:pt x="204026" y="32723"/>
                </a:lnTo>
                <a:lnTo>
                  <a:pt x="213741" y="26804"/>
                </a:lnTo>
                <a:lnTo>
                  <a:pt x="223456" y="21180"/>
                </a:lnTo>
                <a:lnTo>
                  <a:pt x="233172" y="15990"/>
                </a:lnTo>
                <a:lnTo>
                  <a:pt x="242888" y="11362"/>
                </a:lnTo>
                <a:lnTo>
                  <a:pt x="252603" y="7408"/>
                </a:lnTo>
                <a:lnTo>
                  <a:pt x="262319" y="4228"/>
                </a:lnTo>
                <a:lnTo>
                  <a:pt x="272034" y="1899"/>
                </a:lnTo>
                <a:lnTo>
                  <a:pt x="281749" y="478"/>
                </a:lnTo>
                <a:lnTo>
                  <a:pt x="291465" y="0"/>
                </a:lnTo>
                <a:lnTo>
                  <a:pt x="301181" y="478"/>
                </a:lnTo>
                <a:lnTo>
                  <a:pt x="310896" y="1899"/>
                </a:lnTo>
                <a:lnTo>
                  <a:pt x="320612" y="4228"/>
                </a:lnTo>
                <a:lnTo>
                  <a:pt x="330327" y="7408"/>
                </a:lnTo>
                <a:lnTo>
                  <a:pt x="340042" y="11362"/>
                </a:lnTo>
                <a:lnTo>
                  <a:pt x="349758" y="15990"/>
                </a:lnTo>
                <a:lnTo>
                  <a:pt x="359474" y="21180"/>
                </a:lnTo>
                <a:lnTo>
                  <a:pt x="369189" y="26804"/>
                </a:lnTo>
                <a:lnTo>
                  <a:pt x="378904" y="32723"/>
                </a:lnTo>
                <a:lnTo>
                  <a:pt x="388620" y="38791"/>
                </a:lnTo>
                <a:lnTo>
                  <a:pt x="398335" y="44859"/>
                </a:lnTo>
                <a:lnTo>
                  <a:pt x="408051" y="50778"/>
                </a:lnTo>
                <a:lnTo>
                  <a:pt x="417766" y="56402"/>
                </a:lnTo>
                <a:lnTo>
                  <a:pt x="427482" y="61592"/>
                </a:lnTo>
                <a:lnTo>
                  <a:pt x="437197" y="66220"/>
                </a:lnTo>
                <a:lnTo>
                  <a:pt x="446913" y="70174"/>
                </a:lnTo>
              </a:path>
            </a:pathLst>
          </a:custGeom>
          <a:noFill/>
          <a:ln w="4250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9" name="ahr_component_path_13"/>
          <p:cNvSpPr/>
          <p:nvPr/>
        </p:nvSpPr>
        <p:spPr>
          <a:xfrm>
            <a:off x="3448431" y="8065274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32723"/>
                </a:lnTo>
                <a:lnTo>
                  <a:pt x="19431" y="26804"/>
                </a:lnTo>
                <a:lnTo>
                  <a:pt x="29147" y="21180"/>
                </a:lnTo>
                <a:lnTo>
                  <a:pt x="38862" y="15990"/>
                </a:lnTo>
                <a:lnTo>
                  <a:pt x="48577" y="11362"/>
                </a:lnTo>
                <a:lnTo>
                  <a:pt x="58293" y="7408"/>
                </a:lnTo>
                <a:lnTo>
                  <a:pt x="68008" y="4228"/>
                </a:lnTo>
                <a:lnTo>
                  <a:pt x="77724" y="1899"/>
                </a:lnTo>
                <a:lnTo>
                  <a:pt x="87440" y="478"/>
                </a:lnTo>
                <a:lnTo>
                  <a:pt x="97155" y="0"/>
                </a:lnTo>
                <a:lnTo>
                  <a:pt x="106870" y="478"/>
                </a:lnTo>
                <a:lnTo>
                  <a:pt x="116586" y="1899"/>
                </a:lnTo>
                <a:lnTo>
                  <a:pt x="126301" y="4228"/>
                </a:lnTo>
                <a:lnTo>
                  <a:pt x="136017" y="7408"/>
                </a:lnTo>
                <a:lnTo>
                  <a:pt x="145732" y="11362"/>
                </a:lnTo>
                <a:lnTo>
                  <a:pt x="155448" y="15990"/>
                </a:lnTo>
                <a:lnTo>
                  <a:pt x="165163" y="21180"/>
                </a:lnTo>
                <a:lnTo>
                  <a:pt x="174879" y="26804"/>
                </a:lnTo>
                <a:lnTo>
                  <a:pt x="184594" y="32723"/>
                </a:lnTo>
                <a:lnTo>
                  <a:pt x="194310" y="38791"/>
                </a:lnTo>
                <a:lnTo>
                  <a:pt x="204025" y="44859"/>
                </a:lnTo>
                <a:lnTo>
                  <a:pt x="213741" y="50778"/>
                </a:lnTo>
                <a:lnTo>
                  <a:pt x="223456" y="56402"/>
                </a:lnTo>
                <a:lnTo>
                  <a:pt x="233172" y="61592"/>
                </a:lnTo>
                <a:lnTo>
                  <a:pt x="242888" y="66220"/>
                </a:lnTo>
                <a:lnTo>
                  <a:pt x="252603" y="70174"/>
                </a:lnTo>
                <a:lnTo>
                  <a:pt x="262318" y="73354"/>
                </a:lnTo>
                <a:lnTo>
                  <a:pt x="272034" y="75683"/>
                </a:lnTo>
                <a:lnTo>
                  <a:pt x="281749" y="77104"/>
                </a:lnTo>
                <a:lnTo>
                  <a:pt x="291465" y="77582"/>
                </a:lnTo>
                <a:lnTo>
                  <a:pt x="301180" y="77104"/>
                </a:lnTo>
                <a:lnTo>
                  <a:pt x="310896" y="75683"/>
                </a:lnTo>
                <a:lnTo>
                  <a:pt x="320611" y="73354"/>
                </a:lnTo>
                <a:lnTo>
                  <a:pt x="330327" y="70174"/>
                </a:lnTo>
                <a:lnTo>
                  <a:pt x="340042" y="66220"/>
                </a:lnTo>
                <a:lnTo>
                  <a:pt x="349758" y="61592"/>
                </a:lnTo>
                <a:lnTo>
                  <a:pt x="359473" y="56402"/>
                </a:lnTo>
                <a:lnTo>
                  <a:pt x="369189" y="50778"/>
                </a:lnTo>
                <a:lnTo>
                  <a:pt x="378904" y="44859"/>
                </a:lnTo>
                <a:lnTo>
                  <a:pt x="388620" y="38791"/>
                </a:lnTo>
                <a:lnTo>
                  <a:pt x="398335" y="32723"/>
                </a:lnTo>
                <a:lnTo>
                  <a:pt x="408051" y="26804"/>
                </a:lnTo>
                <a:lnTo>
                  <a:pt x="417766" y="21180"/>
                </a:lnTo>
                <a:lnTo>
                  <a:pt x="427482" y="15990"/>
                </a:lnTo>
                <a:lnTo>
                  <a:pt x="437197" y="11362"/>
                </a:lnTo>
                <a:lnTo>
                  <a:pt x="446913" y="7408"/>
                </a:lnTo>
              </a:path>
            </a:pathLst>
          </a:custGeom>
          <a:noFill/>
          <a:ln w="14573" cap="rnd">
            <a:solidFill>
              <a:srgbClr val="6538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0" name="ahr_component_path_14"/>
          <p:cNvSpPr/>
          <p:nvPr/>
        </p:nvSpPr>
        <p:spPr>
          <a:xfrm>
            <a:off x="3450131" y="8062688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32723"/>
                </a:lnTo>
                <a:lnTo>
                  <a:pt x="19431" y="26804"/>
                </a:lnTo>
                <a:lnTo>
                  <a:pt x="29147" y="21180"/>
                </a:lnTo>
                <a:lnTo>
                  <a:pt x="38862" y="15990"/>
                </a:lnTo>
                <a:lnTo>
                  <a:pt x="48577" y="11362"/>
                </a:lnTo>
                <a:lnTo>
                  <a:pt x="58293" y="7408"/>
                </a:lnTo>
                <a:lnTo>
                  <a:pt x="68008" y="4228"/>
                </a:lnTo>
                <a:lnTo>
                  <a:pt x="77724" y="1899"/>
                </a:lnTo>
                <a:lnTo>
                  <a:pt x="87440" y="478"/>
                </a:lnTo>
                <a:lnTo>
                  <a:pt x="97155" y="0"/>
                </a:lnTo>
                <a:lnTo>
                  <a:pt x="106870" y="478"/>
                </a:lnTo>
                <a:lnTo>
                  <a:pt x="116586" y="1899"/>
                </a:lnTo>
                <a:lnTo>
                  <a:pt x="126301" y="4228"/>
                </a:lnTo>
                <a:lnTo>
                  <a:pt x="136017" y="7408"/>
                </a:lnTo>
                <a:lnTo>
                  <a:pt x="145733" y="11362"/>
                </a:lnTo>
                <a:lnTo>
                  <a:pt x="155448" y="15990"/>
                </a:lnTo>
                <a:lnTo>
                  <a:pt x="165163" y="21180"/>
                </a:lnTo>
                <a:lnTo>
                  <a:pt x="174879" y="26804"/>
                </a:lnTo>
                <a:lnTo>
                  <a:pt x="184594" y="32723"/>
                </a:lnTo>
                <a:lnTo>
                  <a:pt x="194310" y="38791"/>
                </a:lnTo>
                <a:lnTo>
                  <a:pt x="204026" y="44859"/>
                </a:lnTo>
                <a:lnTo>
                  <a:pt x="213741" y="50778"/>
                </a:lnTo>
                <a:lnTo>
                  <a:pt x="223456" y="56402"/>
                </a:lnTo>
                <a:lnTo>
                  <a:pt x="233172" y="61592"/>
                </a:lnTo>
                <a:lnTo>
                  <a:pt x="242888" y="66220"/>
                </a:lnTo>
                <a:lnTo>
                  <a:pt x="252603" y="70174"/>
                </a:lnTo>
                <a:lnTo>
                  <a:pt x="262319" y="73354"/>
                </a:lnTo>
                <a:lnTo>
                  <a:pt x="272034" y="75683"/>
                </a:lnTo>
                <a:lnTo>
                  <a:pt x="281749" y="77104"/>
                </a:lnTo>
                <a:lnTo>
                  <a:pt x="291465" y="77582"/>
                </a:lnTo>
                <a:lnTo>
                  <a:pt x="301181" y="77104"/>
                </a:lnTo>
                <a:lnTo>
                  <a:pt x="310896" y="75683"/>
                </a:lnTo>
                <a:lnTo>
                  <a:pt x="320612" y="73354"/>
                </a:lnTo>
                <a:lnTo>
                  <a:pt x="330327" y="70174"/>
                </a:lnTo>
                <a:lnTo>
                  <a:pt x="340042" y="66220"/>
                </a:lnTo>
                <a:lnTo>
                  <a:pt x="349758" y="61592"/>
                </a:lnTo>
                <a:lnTo>
                  <a:pt x="359474" y="56402"/>
                </a:lnTo>
                <a:lnTo>
                  <a:pt x="369189" y="50778"/>
                </a:lnTo>
                <a:lnTo>
                  <a:pt x="378904" y="44859"/>
                </a:lnTo>
                <a:lnTo>
                  <a:pt x="388620" y="38791"/>
                </a:lnTo>
                <a:lnTo>
                  <a:pt x="398335" y="32723"/>
                </a:lnTo>
                <a:lnTo>
                  <a:pt x="408051" y="26804"/>
                </a:lnTo>
                <a:lnTo>
                  <a:pt x="417766" y="21180"/>
                </a:lnTo>
                <a:lnTo>
                  <a:pt x="427482" y="15990"/>
                </a:lnTo>
                <a:lnTo>
                  <a:pt x="437197" y="11362"/>
                </a:lnTo>
                <a:lnTo>
                  <a:pt x="446913" y="7408"/>
                </a:lnTo>
              </a:path>
            </a:pathLst>
          </a:custGeom>
          <a:noFill/>
          <a:ln w="4250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1" name="ahr_component_path_15"/>
          <p:cNvSpPr/>
          <p:nvPr/>
        </p:nvSpPr>
        <p:spPr>
          <a:xfrm>
            <a:off x="3477578" y="7879939"/>
            <a:ext cx="179737" cy="211195"/>
          </a:xfrm>
          <a:custGeom>
            <a:avLst/>
            <a:gdLst/>
            <a:ahLst/>
            <a:cxnLst/>
            <a:rect l="0" t="0" r="r" b="b"/>
            <a:pathLst>
              <a:path w="179737" h="211195">
                <a:moveTo>
                  <a:pt x="174879" y="163784"/>
                </a:moveTo>
                <a:cubicBezTo>
                  <a:pt x="174879" y="103443"/>
                  <a:pt x="179737" y="73272"/>
                  <a:pt x="136017" y="43101"/>
                </a:cubicBezTo>
                <a:cubicBezTo>
                  <a:pt x="72866" y="0"/>
                  <a:pt x="48577" y="0"/>
                  <a:pt x="29147" y="43101"/>
                </a:cubicBezTo>
                <a:cubicBezTo>
                  <a:pt x="0" y="90512"/>
                  <a:pt x="24289" y="142234"/>
                  <a:pt x="97155" y="146544"/>
                </a:cubicBezTo>
                <a:cubicBezTo>
                  <a:pt x="126301" y="150854"/>
                  <a:pt x="136017" y="155164"/>
                  <a:pt x="140875" y="185335"/>
                </a:cubicBezTo>
                <a:cubicBezTo>
                  <a:pt x="145732" y="211195"/>
                  <a:pt x="179737" y="202575"/>
                  <a:pt x="174879" y="163784"/>
                </a:cubicBezTo>
                <a:close/>
              </a:path>
            </a:pathLst>
          </a:custGeom>
          <a:gradFill rotWithShape="1">
            <a:gsLst>
              <a:gs pos="0">
                <a:srgbClr val="E4D2F8"/>
              </a:gs>
              <a:gs pos="35000">
                <a:srgbClr val="DDC7F6"/>
              </a:gs>
              <a:gs pos="80000">
                <a:srgbClr val="A179D9"/>
              </a:gs>
              <a:gs pos="100000">
                <a:srgbClr val="855ABF"/>
              </a:gs>
            </a:gsLst>
            <a:lin ang="3000000" scaled="1"/>
          </a:gradFill>
          <a:ln w="6375" cap="rnd">
            <a:solidFill>
              <a:srgbClr val="6234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2" name="ahr_component_oval_16"/>
          <p:cNvSpPr/>
          <p:nvPr/>
        </p:nvSpPr>
        <p:spPr>
          <a:xfrm rot="20700000">
            <a:off x="3535871" y="7810977"/>
            <a:ext cx="121444" cy="163784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50000">
                <a:srgbClr val="B390E2"/>
              </a:gs>
              <a:gs pos="100000">
                <a:srgbClr val="A179D9"/>
              </a:gs>
            </a:gsLst>
            <a:lin ang="3300000" scaled="1"/>
          </a:gradFill>
          <a:ln w="6072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3" name="ahr_component_oval_17"/>
          <p:cNvSpPr/>
          <p:nvPr/>
        </p:nvSpPr>
        <p:spPr>
          <a:xfrm>
            <a:off x="3584448" y="7750636"/>
            <a:ext cx="77724" cy="73272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100000">
                <a:srgbClr val="A179D9"/>
              </a:gs>
            </a:gsLst>
            <a:lin ang="3600000" scaled="1"/>
          </a:gradFill>
          <a:ln w="5464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4" name="ahr_component_path_18"/>
          <p:cNvSpPr/>
          <p:nvPr/>
        </p:nvSpPr>
        <p:spPr>
          <a:xfrm>
            <a:off x="3686461" y="7879939"/>
            <a:ext cx="179737" cy="211195"/>
          </a:xfrm>
          <a:custGeom>
            <a:avLst/>
            <a:gdLst/>
            <a:ahLst/>
            <a:cxnLst/>
            <a:rect l="0" t="0" r="r" b="b"/>
            <a:pathLst>
              <a:path w="179737" h="211195">
                <a:moveTo>
                  <a:pt x="4858" y="163784"/>
                </a:moveTo>
                <a:cubicBezTo>
                  <a:pt x="4858" y="103443"/>
                  <a:pt x="0" y="73272"/>
                  <a:pt x="43720" y="43101"/>
                </a:cubicBezTo>
                <a:cubicBezTo>
                  <a:pt x="106871" y="0"/>
                  <a:pt x="131159" y="0"/>
                  <a:pt x="150590" y="43101"/>
                </a:cubicBezTo>
                <a:cubicBezTo>
                  <a:pt x="179737" y="90512"/>
                  <a:pt x="155448" y="142234"/>
                  <a:pt x="82582" y="146544"/>
                </a:cubicBezTo>
                <a:cubicBezTo>
                  <a:pt x="53435" y="150854"/>
                  <a:pt x="43720" y="155164"/>
                  <a:pt x="38862" y="185335"/>
                </a:cubicBezTo>
                <a:cubicBezTo>
                  <a:pt x="34004" y="211195"/>
                  <a:pt x="0" y="202575"/>
                  <a:pt x="4858" y="163784"/>
                </a:cubicBezTo>
                <a:close/>
              </a:path>
            </a:pathLst>
          </a:custGeom>
          <a:gradFill rotWithShape="1">
            <a:gsLst>
              <a:gs pos="0">
                <a:srgbClr val="E4D2F8"/>
              </a:gs>
              <a:gs pos="35000">
                <a:srgbClr val="DDC7F6"/>
              </a:gs>
              <a:gs pos="80000">
                <a:srgbClr val="A179D9"/>
              </a:gs>
              <a:gs pos="100000">
                <a:srgbClr val="855ABF"/>
              </a:gs>
            </a:gsLst>
            <a:lin ang="7800000" scaled="1"/>
          </a:gradFill>
          <a:ln w="6375" cap="rnd">
            <a:solidFill>
              <a:srgbClr val="6234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5" name="ahr_component_oval_19"/>
          <p:cNvSpPr/>
          <p:nvPr/>
        </p:nvSpPr>
        <p:spPr>
          <a:xfrm rot="900000">
            <a:off x="3705892" y="7810977"/>
            <a:ext cx="121444" cy="163784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50000">
                <a:srgbClr val="B390E2"/>
              </a:gs>
              <a:gs pos="100000">
                <a:srgbClr val="A179D9"/>
              </a:gs>
            </a:gsLst>
            <a:lin ang="3300000" scaled="1"/>
          </a:gradFill>
          <a:ln w="6072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6" name="ahr_component_oval_20"/>
          <p:cNvSpPr/>
          <p:nvPr/>
        </p:nvSpPr>
        <p:spPr>
          <a:xfrm>
            <a:off x="3691318" y="7750636"/>
            <a:ext cx="77724" cy="73272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100000">
                <a:srgbClr val="A179D9"/>
              </a:gs>
            </a:gsLst>
            <a:lin ang="3600000" scaled="1"/>
          </a:gradFill>
          <a:ln w="5464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7" name="ahr_component_oval_21"/>
          <p:cNvSpPr/>
          <p:nvPr/>
        </p:nvSpPr>
        <p:spPr>
          <a:xfrm>
            <a:off x="3608737" y="7742015"/>
            <a:ext cx="126302" cy="112063"/>
          </a:xfrm>
          <a:prstGeom prst="ellipse">
            <a:avLst/>
          </a:prstGeom>
          <a:gradFill rotWithShape="1">
            <a:gsLst>
              <a:gs pos="0">
                <a:srgbClr val="E8DEF6"/>
              </a:gs>
              <a:gs pos="30000">
                <a:srgbClr val="B89AE2"/>
              </a:gs>
              <a:gs pos="67000">
                <a:srgbClr val="A179D9"/>
              </a:gs>
              <a:gs pos="100000">
                <a:srgbClr val="7A4EB6"/>
              </a:gs>
            </a:gsLst>
            <a:lin ang="3300000" scaled="1"/>
          </a:gradFill>
          <a:ln w="7893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8" name="ahr_component_oval_22"/>
          <p:cNvSpPr/>
          <p:nvPr/>
        </p:nvSpPr>
        <p:spPr>
          <a:xfrm>
            <a:off x="3639049" y="7762747"/>
            <a:ext cx="32838" cy="20732"/>
          </a:xfrm>
          <a:prstGeom prst="ellipse">
            <a:avLst/>
          </a:prstGeom>
          <a:solidFill>
            <a:srgbClr val="E7D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9" name="ahr_component_path_23"/>
          <p:cNvSpPr/>
          <p:nvPr/>
        </p:nvSpPr>
        <p:spPr>
          <a:xfrm>
            <a:off x="3555302" y="7849768"/>
            <a:ext cx="24289" cy="77582"/>
          </a:xfrm>
          <a:custGeom>
            <a:avLst/>
            <a:gdLst/>
            <a:ahLst/>
            <a:cxnLst/>
            <a:rect l="0" t="0" r="r" b="b"/>
            <a:pathLst>
              <a:path w="24289" h="77582">
                <a:moveTo>
                  <a:pt x="24289" y="0"/>
                </a:moveTo>
                <a:cubicBezTo>
                  <a:pt x="4858" y="21551"/>
                  <a:pt x="0" y="56031"/>
                  <a:pt x="9715" y="77582"/>
                </a:cubicBezTo>
              </a:path>
            </a:pathLst>
          </a:custGeom>
          <a:noFill/>
          <a:ln w="9108" cap="rnd">
            <a:solidFill>
              <a:srgbClr val="DDC7F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0" name="tmao_component_path_1"/>
          <p:cNvSpPr/>
          <p:nvPr/>
        </p:nvSpPr>
        <p:spPr>
          <a:xfrm>
            <a:off x="723900" y="4070381"/>
            <a:ext cx="95" cy="246141"/>
          </a:xfrm>
          <a:custGeom>
            <a:avLst/>
            <a:gdLst/>
            <a:ahLst/>
            <a:cxnLst/>
            <a:rect l="0" t="0" r="r" b="b"/>
            <a:pathLst>
              <a:path w="95" h="246141">
                <a:moveTo>
                  <a:pt x="0" y="246141"/>
                </a:moveTo>
                <a:lnTo>
                  <a:pt x="0" y="0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1" name="tmao_component_path_2"/>
          <p:cNvSpPr/>
          <p:nvPr/>
        </p:nvSpPr>
        <p:spPr>
          <a:xfrm>
            <a:off x="723900" y="4070381"/>
            <a:ext cx="95" cy="246141"/>
          </a:xfrm>
          <a:custGeom>
            <a:avLst/>
            <a:gdLst/>
            <a:ahLst/>
            <a:cxnLst/>
            <a:rect l="0" t="0" r="r" b="b"/>
            <a:pathLst>
              <a:path w="95" h="246141">
                <a:moveTo>
                  <a:pt x="0" y="246141"/>
                </a:moveTo>
                <a:lnTo>
                  <a:pt x="0" y="0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2" name="tmao_component_path_3"/>
          <p:cNvSpPr/>
          <p:nvPr/>
        </p:nvSpPr>
        <p:spPr>
          <a:xfrm>
            <a:off x="713994" y="4070381"/>
            <a:ext cx="4953" cy="235201"/>
          </a:xfrm>
          <a:custGeom>
            <a:avLst/>
            <a:gdLst/>
            <a:ahLst/>
            <a:cxnLst/>
            <a:rect l="0" t="0" r="r" b="b"/>
            <a:pathLst>
              <a:path w="4953" h="235201">
                <a:moveTo>
                  <a:pt x="0" y="235201"/>
                </a:moveTo>
                <a:lnTo>
                  <a:pt x="4953" y="0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3" name="tmao_component_path_4"/>
          <p:cNvSpPr/>
          <p:nvPr/>
        </p:nvSpPr>
        <p:spPr>
          <a:xfrm>
            <a:off x="565404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158496" y="0"/>
                </a:moveTo>
                <a:lnTo>
                  <a:pt x="0" y="114866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4" name="tmao_component_path_5"/>
          <p:cNvSpPr/>
          <p:nvPr/>
        </p:nvSpPr>
        <p:spPr>
          <a:xfrm>
            <a:off x="565404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158496" y="0"/>
                </a:moveTo>
                <a:lnTo>
                  <a:pt x="0" y="114866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5" name="tmao_component_path_6"/>
          <p:cNvSpPr/>
          <p:nvPr/>
        </p:nvSpPr>
        <p:spPr>
          <a:xfrm>
            <a:off x="560451" y="4305582"/>
            <a:ext cx="153543" cy="125805"/>
          </a:xfrm>
          <a:custGeom>
            <a:avLst/>
            <a:gdLst/>
            <a:ahLst/>
            <a:cxnLst/>
            <a:rect l="0" t="0" r="r" b="b"/>
            <a:pathLst>
              <a:path w="153543" h="125805">
                <a:moveTo>
                  <a:pt x="153543" y="0"/>
                </a:moveTo>
                <a:lnTo>
                  <a:pt x="0" y="125805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6" name="tmao_component_path_7"/>
          <p:cNvSpPr/>
          <p:nvPr/>
        </p:nvSpPr>
        <p:spPr>
          <a:xfrm>
            <a:off x="723900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0" y="0"/>
                </a:moveTo>
                <a:lnTo>
                  <a:pt x="158496" y="114866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7" name="tmao_component_path_8"/>
          <p:cNvSpPr/>
          <p:nvPr/>
        </p:nvSpPr>
        <p:spPr>
          <a:xfrm>
            <a:off x="723900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0" y="0"/>
                </a:moveTo>
                <a:lnTo>
                  <a:pt x="158496" y="114866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8" name="tmao_component_path_9"/>
          <p:cNvSpPr/>
          <p:nvPr/>
        </p:nvSpPr>
        <p:spPr>
          <a:xfrm>
            <a:off x="713994" y="4305582"/>
            <a:ext cx="163449" cy="125805"/>
          </a:xfrm>
          <a:custGeom>
            <a:avLst/>
            <a:gdLst/>
            <a:ahLst/>
            <a:cxnLst/>
            <a:rect l="0" t="0" r="r" b="b"/>
            <a:pathLst>
              <a:path w="163449" h="125805">
                <a:moveTo>
                  <a:pt x="0" y="0"/>
                </a:moveTo>
                <a:lnTo>
                  <a:pt x="163449" y="125805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9" name="tmao_component_oval_10"/>
          <p:cNvSpPr/>
          <p:nvPr/>
        </p:nvSpPr>
        <p:spPr>
          <a:xfrm>
            <a:off x="649605" y="4234475"/>
            <a:ext cx="148590" cy="164094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0" name="tmao_component_oval_11"/>
          <p:cNvSpPr/>
          <p:nvPr/>
        </p:nvSpPr>
        <p:spPr>
          <a:xfrm>
            <a:off x="685267" y="4264832"/>
            <a:ext cx="38633" cy="30357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1" name="tmao_component_oval_12"/>
          <p:cNvSpPr/>
          <p:nvPr/>
        </p:nvSpPr>
        <p:spPr>
          <a:xfrm>
            <a:off x="661988" y="4002009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2" name="tmao_component_oval_13"/>
          <p:cNvSpPr/>
          <p:nvPr/>
        </p:nvSpPr>
        <p:spPr>
          <a:xfrm>
            <a:off x="691706" y="4027307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3" name="tmao_component_oval_14"/>
          <p:cNvSpPr/>
          <p:nvPr/>
        </p:nvSpPr>
        <p:spPr>
          <a:xfrm>
            <a:off x="503492" y="4363015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4" name="tmao_component_oval_15"/>
          <p:cNvSpPr/>
          <p:nvPr/>
        </p:nvSpPr>
        <p:spPr>
          <a:xfrm>
            <a:off x="533210" y="4388313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5" name="tmao_component_oval_16"/>
          <p:cNvSpPr/>
          <p:nvPr/>
        </p:nvSpPr>
        <p:spPr>
          <a:xfrm>
            <a:off x="820484" y="4363015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6" name="tmao_component_oval_17"/>
          <p:cNvSpPr/>
          <p:nvPr/>
        </p:nvSpPr>
        <p:spPr>
          <a:xfrm>
            <a:off x="850201" y="4388313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7" name="tmao_component_atom_18"/>
          <p:cNvSpPr txBox="1"/>
          <p:nvPr/>
        </p:nvSpPr>
        <p:spPr>
          <a:xfrm>
            <a:off x="649605" y="4218066"/>
            <a:ext cx="148590" cy="1859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80" b="0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698" name="scfa_component_path_1"/>
          <p:cNvSpPr/>
          <p:nvPr/>
        </p:nvSpPr>
        <p:spPr>
          <a:xfrm>
            <a:off x="543878" y="5718225"/>
            <a:ext cx="257175" cy="95"/>
          </a:xfrm>
          <a:custGeom>
            <a:avLst/>
            <a:gdLst/>
            <a:ahLst/>
            <a:cxnLst/>
            <a:rect l="0" t="0" r="r" b="b"/>
            <a:pathLst>
              <a:path w="257175" h="9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39303" cap="rnd">
            <a:solidFill>
              <a:srgbClr val="5F784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9" name="scfa_component_path_2"/>
          <p:cNvSpPr/>
          <p:nvPr/>
        </p:nvSpPr>
        <p:spPr>
          <a:xfrm>
            <a:off x="543878" y="5712635"/>
            <a:ext cx="257175" cy="95"/>
          </a:xfrm>
          <a:custGeom>
            <a:avLst/>
            <a:gdLst/>
            <a:ahLst/>
            <a:cxnLst/>
            <a:rect l="0" t="0" r="r" b="b"/>
            <a:pathLst>
              <a:path w="257175" h="9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75009" cap="rnd">
            <a:solidFill>
              <a:srgbClr val="BBD4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0" name="scfa_component_path_3"/>
          <p:cNvSpPr/>
          <p:nvPr/>
        </p:nvSpPr>
        <p:spPr>
          <a:xfrm>
            <a:off x="801052" y="5718225"/>
            <a:ext cx="265748" cy="95"/>
          </a:xfrm>
          <a:custGeom>
            <a:avLst/>
            <a:gdLst/>
            <a:ahLst/>
            <a:cxnLst/>
            <a:rect l="0" t="0" r="r" b="b"/>
            <a:pathLst>
              <a:path w="265748" h="95">
                <a:moveTo>
                  <a:pt x="0" y="0"/>
                </a:moveTo>
                <a:lnTo>
                  <a:pt x="265748" y="0"/>
                </a:lnTo>
              </a:path>
            </a:pathLst>
          </a:custGeom>
          <a:noFill/>
          <a:ln w="139303" cap="rnd">
            <a:solidFill>
              <a:srgbClr val="5F784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1" name="scfa_component_path_4"/>
          <p:cNvSpPr/>
          <p:nvPr/>
        </p:nvSpPr>
        <p:spPr>
          <a:xfrm>
            <a:off x="801052" y="5712635"/>
            <a:ext cx="265748" cy="95"/>
          </a:xfrm>
          <a:custGeom>
            <a:avLst/>
            <a:gdLst/>
            <a:ahLst/>
            <a:cxnLst/>
            <a:rect l="0" t="0" r="r" b="b"/>
            <a:pathLst>
              <a:path w="265748" h="95">
                <a:moveTo>
                  <a:pt x="0" y="0"/>
                </a:moveTo>
                <a:lnTo>
                  <a:pt x="265748" y="0"/>
                </a:lnTo>
              </a:path>
            </a:pathLst>
          </a:custGeom>
          <a:noFill/>
          <a:ln w="75009" cap="rnd">
            <a:solidFill>
              <a:srgbClr val="BBD4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2" name="scfa_component_oval_5"/>
          <p:cNvSpPr/>
          <p:nvPr/>
        </p:nvSpPr>
        <p:spPr>
          <a:xfrm>
            <a:off x="418719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3" name="scfa_component_oval_6"/>
          <p:cNvSpPr/>
          <p:nvPr/>
        </p:nvSpPr>
        <p:spPr>
          <a:xfrm>
            <a:off x="475298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4" name="scfa_component_oval_7"/>
          <p:cNvSpPr/>
          <p:nvPr/>
        </p:nvSpPr>
        <p:spPr>
          <a:xfrm>
            <a:off x="675894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5" name="scfa_component_oval_8"/>
          <p:cNvSpPr/>
          <p:nvPr/>
        </p:nvSpPr>
        <p:spPr>
          <a:xfrm>
            <a:off x="732472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6" name="scfa_component_oval_9"/>
          <p:cNvSpPr/>
          <p:nvPr/>
        </p:nvSpPr>
        <p:spPr>
          <a:xfrm>
            <a:off x="941642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7" name="scfa_component_oval_10"/>
          <p:cNvSpPr/>
          <p:nvPr/>
        </p:nvSpPr>
        <p:spPr>
          <a:xfrm>
            <a:off x="998220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8" name="secondary_ba_component_path_1"/>
          <p:cNvSpPr/>
          <p:nvPr/>
        </p:nvSpPr>
        <p:spPr>
          <a:xfrm>
            <a:off x="439784" y="7234640"/>
            <a:ext cx="139620" cy="167794"/>
          </a:xfrm>
          <a:custGeom>
            <a:avLst/>
            <a:gdLst/>
            <a:ahLst/>
            <a:cxnLst/>
            <a:rect l="0" t="0" r="r" b="b"/>
            <a:pathLst>
              <a:path w="139620" h="167794">
                <a:moveTo>
                  <a:pt x="0" y="42841"/>
                </a:moveTo>
                <a:lnTo>
                  <a:pt x="72396" y="0"/>
                </a:lnTo>
                <a:lnTo>
                  <a:pt x="139620" y="42841"/>
                </a:lnTo>
                <a:lnTo>
                  <a:pt x="139620" y="124953"/>
                </a:lnTo>
                <a:lnTo>
                  <a:pt x="72396" y="167794"/>
                </a:lnTo>
                <a:lnTo>
                  <a:pt x="0" y="12495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9" name="secondary_ba_component_path_2"/>
          <p:cNvSpPr/>
          <p:nvPr/>
        </p:nvSpPr>
        <p:spPr>
          <a:xfrm>
            <a:off x="447338" y="7243140"/>
            <a:ext cx="64842" cy="39866"/>
          </a:xfrm>
          <a:custGeom>
            <a:avLst/>
            <a:gdLst/>
            <a:ahLst/>
            <a:cxnLst/>
            <a:rect l="0" t="0" r="r" b="b"/>
            <a:pathLst>
              <a:path w="64842" h="39866">
                <a:moveTo>
                  <a:pt x="0" y="39866"/>
                </a:moveTo>
                <a:lnTo>
                  <a:pt x="64842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0" name="secondary_ba_component_path_3"/>
          <p:cNvSpPr/>
          <p:nvPr/>
        </p:nvSpPr>
        <p:spPr>
          <a:xfrm>
            <a:off x="579405" y="7234640"/>
            <a:ext cx="134449" cy="167794"/>
          </a:xfrm>
          <a:custGeom>
            <a:avLst/>
            <a:gdLst/>
            <a:ahLst/>
            <a:cxnLst/>
            <a:rect l="0" t="0" r="r" b="b"/>
            <a:pathLst>
              <a:path w="134449" h="167794">
                <a:moveTo>
                  <a:pt x="0" y="42841"/>
                </a:moveTo>
                <a:lnTo>
                  <a:pt x="67225" y="0"/>
                </a:lnTo>
                <a:lnTo>
                  <a:pt x="134449" y="42841"/>
                </a:lnTo>
                <a:lnTo>
                  <a:pt x="134449" y="124953"/>
                </a:lnTo>
                <a:lnTo>
                  <a:pt x="67225" y="167794"/>
                </a:lnTo>
                <a:lnTo>
                  <a:pt x="0" y="12495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1" name="secondary_ba_component_path_4"/>
          <p:cNvSpPr/>
          <p:nvPr/>
        </p:nvSpPr>
        <p:spPr>
          <a:xfrm>
            <a:off x="586958" y="7243140"/>
            <a:ext cx="59671" cy="39866"/>
          </a:xfrm>
          <a:custGeom>
            <a:avLst/>
            <a:gdLst/>
            <a:ahLst/>
            <a:cxnLst/>
            <a:rect l="0" t="0" r="r" b="b"/>
            <a:pathLst>
              <a:path w="59671" h="39866">
                <a:moveTo>
                  <a:pt x="0" y="39866"/>
                </a:moveTo>
                <a:lnTo>
                  <a:pt x="59671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2" name="secondary_ba_component_path_5"/>
          <p:cNvSpPr/>
          <p:nvPr/>
        </p:nvSpPr>
        <p:spPr>
          <a:xfrm>
            <a:off x="579405" y="7145388"/>
            <a:ext cx="144791" cy="174934"/>
          </a:xfrm>
          <a:custGeom>
            <a:avLst/>
            <a:gdLst/>
            <a:ahLst/>
            <a:cxnLst/>
            <a:rect l="0" t="0" r="r" b="b"/>
            <a:pathLst>
              <a:path w="144791" h="174934">
                <a:moveTo>
                  <a:pt x="0" y="46411"/>
                </a:moveTo>
                <a:lnTo>
                  <a:pt x="77567" y="0"/>
                </a:lnTo>
                <a:lnTo>
                  <a:pt x="144791" y="46411"/>
                </a:lnTo>
                <a:lnTo>
                  <a:pt x="144791" y="128523"/>
                </a:lnTo>
                <a:lnTo>
                  <a:pt x="77567" y="174934"/>
                </a:lnTo>
                <a:lnTo>
                  <a:pt x="0" y="13209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3" name="secondary_ba_component_path_6"/>
          <p:cNvSpPr/>
          <p:nvPr/>
        </p:nvSpPr>
        <p:spPr>
          <a:xfrm>
            <a:off x="586958" y="7153888"/>
            <a:ext cx="70014" cy="43436"/>
          </a:xfrm>
          <a:custGeom>
            <a:avLst/>
            <a:gdLst/>
            <a:ahLst/>
            <a:cxnLst/>
            <a:rect l="0" t="0" r="r" b="b"/>
            <a:pathLst>
              <a:path w="70014" h="43436">
                <a:moveTo>
                  <a:pt x="0" y="43436"/>
                </a:moveTo>
                <a:lnTo>
                  <a:pt x="70014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4" name="secondary_ba_component_path_7"/>
          <p:cNvSpPr/>
          <p:nvPr/>
        </p:nvSpPr>
        <p:spPr>
          <a:xfrm>
            <a:off x="724196" y="7141818"/>
            <a:ext cx="134449" cy="178504"/>
          </a:xfrm>
          <a:custGeom>
            <a:avLst/>
            <a:gdLst/>
            <a:ahLst/>
            <a:cxnLst/>
            <a:rect l="0" t="0" r="r" b="b"/>
            <a:pathLst>
              <a:path w="134449" h="178504">
                <a:moveTo>
                  <a:pt x="0" y="46411"/>
                </a:moveTo>
                <a:lnTo>
                  <a:pt x="67225" y="0"/>
                </a:lnTo>
                <a:lnTo>
                  <a:pt x="134449" y="46411"/>
                </a:lnTo>
                <a:lnTo>
                  <a:pt x="134449" y="132093"/>
                </a:lnTo>
                <a:lnTo>
                  <a:pt x="67225" y="178504"/>
                </a:lnTo>
                <a:lnTo>
                  <a:pt x="0" y="13209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5" name="secondary_ba_component_path_8"/>
          <p:cNvSpPr/>
          <p:nvPr/>
        </p:nvSpPr>
        <p:spPr>
          <a:xfrm>
            <a:off x="731750" y="7150318"/>
            <a:ext cx="59671" cy="43436"/>
          </a:xfrm>
          <a:custGeom>
            <a:avLst/>
            <a:gdLst/>
            <a:ahLst/>
            <a:cxnLst/>
            <a:rect l="0" t="0" r="r" b="b"/>
            <a:pathLst>
              <a:path w="59671" h="43436">
                <a:moveTo>
                  <a:pt x="0" y="43436"/>
                </a:moveTo>
                <a:lnTo>
                  <a:pt x="59671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6" name="secondary_ba_component_path_9"/>
          <p:cNvSpPr/>
          <p:nvPr/>
        </p:nvSpPr>
        <p:spPr>
          <a:xfrm>
            <a:off x="858645" y="7145388"/>
            <a:ext cx="108594" cy="128523"/>
          </a:xfrm>
          <a:custGeom>
            <a:avLst/>
            <a:gdLst/>
            <a:ahLst/>
            <a:cxnLst/>
            <a:rect l="0" t="0" r="r" b="b"/>
            <a:pathLst>
              <a:path w="108594" h="128523">
                <a:moveTo>
                  <a:pt x="0" y="39271"/>
                </a:moveTo>
                <a:lnTo>
                  <a:pt x="56882" y="0"/>
                </a:lnTo>
                <a:lnTo>
                  <a:pt x="108594" y="39271"/>
                </a:lnTo>
                <a:lnTo>
                  <a:pt x="108594" y="117812"/>
                </a:lnTo>
                <a:lnTo>
                  <a:pt x="0" y="12852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7" name="secondary_ba_component_path_10"/>
          <p:cNvSpPr/>
          <p:nvPr/>
        </p:nvSpPr>
        <p:spPr>
          <a:xfrm>
            <a:off x="866199" y="7153888"/>
            <a:ext cx="49329" cy="36296"/>
          </a:xfrm>
          <a:custGeom>
            <a:avLst/>
            <a:gdLst/>
            <a:ahLst/>
            <a:cxnLst/>
            <a:rect l="0" t="0" r="r" b="b"/>
            <a:pathLst>
              <a:path w="49329" h="36296">
                <a:moveTo>
                  <a:pt x="0" y="36296"/>
                </a:moveTo>
                <a:lnTo>
                  <a:pt x="49329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8" name="secondary_ba_component_path_11"/>
          <p:cNvSpPr/>
          <p:nvPr/>
        </p:nvSpPr>
        <p:spPr>
          <a:xfrm>
            <a:off x="915528" y="7084696"/>
            <a:ext cx="95" cy="60691"/>
          </a:xfrm>
          <a:custGeom>
            <a:avLst/>
            <a:gdLst/>
            <a:ahLst/>
            <a:cxnLst/>
            <a:rect l="0" t="0" r="r" b="b"/>
            <a:pathLst>
              <a:path w="95" h="60691">
                <a:moveTo>
                  <a:pt x="0" y="60691"/>
                </a:moveTo>
                <a:lnTo>
                  <a:pt x="0" y="0"/>
                </a:lnTo>
              </a:path>
            </a:pathLst>
          </a:custGeom>
          <a:noFill/>
          <a:ln w="13073" cap="rnd">
            <a:solidFill>
              <a:srgbClr val="B87A3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9" name="secondary_ba_component_path_12"/>
          <p:cNvSpPr/>
          <p:nvPr/>
        </p:nvSpPr>
        <p:spPr>
          <a:xfrm>
            <a:off x="631116" y="7256060"/>
            <a:ext cx="25856" cy="14280"/>
          </a:xfrm>
          <a:custGeom>
            <a:avLst/>
            <a:gdLst/>
            <a:ahLst/>
            <a:cxnLst/>
            <a:rect l="0" t="0" r="r" b="b"/>
            <a:pathLst>
              <a:path w="25856" h="14280">
                <a:moveTo>
                  <a:pt x="0" y="14280"/>
                </a:moveTo>
                <a:lnTo>
                  <a:pt x="25856" y="0"/>
                </a:lnTo>
              </a:path>
            </a:pathLst>
          </a:custGeom>
          <a:noFill/>
          <a:ln w="17430" cap="rnd">
            <a:solidFill>
              <a:srgbClr val="CE8C3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0" name="indole_component_path_1"/>
          <p:cNvSpPr/>
          <p:nvPr/>
        </p:nvSpPr>
        <p:spPr>
          <a:xfrm>
            <a:off x="454563" y="7763469"/>
            <a:ext cx="235367" cy="285767"/>
          </a:xfrm>
          <a:custGeom>
            <a:avLst/>
            <a:gdLst/>
            <a:ahLst/>
            <a:cxnLst/>
            <a:rect l="0" t="0" r="r" b="b"/>
            <a:pathLst>
              <a:path w="235367" h="285767">
                <a:moveTo>
                  <a:pt x="0" y="72346"/>
                </a:moveTo>
                <a:lnTo>
                  <a:pt x="122042" y="0"/>
                </a:lnTo>
                <a:lnTo>
                  <a:pt x="235367" y="72346"/>
                </a:lnTo>
                <a:lnTo>
                  <a:pt x="235367" y="213421"/>
                </a:lnTo>
                <a:lnTo>
                  <a:pt x="122042" y="285767"/>
                </a:lnTo>
                <a:lnTo>
                  <a:pt x="0" y="213421"/>
                </a:lnTo>
                <a:close/>
              </a:path>
            </a:pathLst>
          </a:custGeom>
          <a:gradFill rotWithShape="1">
            <a:gsLst>
              <a:gs pos="0">
                <a:srgbClr val="E8DCF0"/>
              </a:gs>
              <a:gs pos="100000">
                <a:srgbClr val="BCA2D8"/>
              </a:gs>
            </a:gsLst>
            <a:lin ang="3900000" scaled="1"/>
          </a:gradFill>
          <a:ln w="11763" cap="rnd">
            <a:solidFill>
              <a:srgbClr val="60419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1" name="indole_component_path_2"/>
          <p:cNvSpPr/>
          <p:nvPr/>
        </p:nvSpPr>
        <p:spPr>
          <a:xfrm>
            <a:off x="689930" y="7796025"/>
            <a:ext cx="196139" cy="227890"/>
          </a:xfrm>
          <a:custGeom>
            <a:avLst/>
            <a:gdLst/>
            <a:ahLst/>
            <a:cxnLst/>
            <a:rect l="0" t="0" r="r" b="b"/>
            <a:pathLst>
              <a:path w="196139" h="227890">
                <a:moveTo>
                  <a:pt x="0" y="39790"/>
                </a:moveTo>
                <a:lnTo>
                  <a:pt x="117683" y="0"/>
                </a:lnTo>
                <a:lnTo>
                  <a:pt x="196139" y="119371"/>
                </a:lnTo>
                <a:lnTo>
                  <a:pt x="113325" y="227890"/>
                </a:lnTo>
                <a:lnTo>
                  <a:pt x="0" y="180865"/>
                </a:lnTo>
                <a:close/>
              </a:path>
            </a:pathLst>
          </a:custGeom>
          <a:gradFill rotWithShape="1">
            <a:gsLst>
              <a:gs pos="0">
                <a:srgbClr val="E8DCF0"/>
              </a:gs>
              <a:gs pos="100000">
                <a:srgbClr val="BCA2D8"/>
              </a:gs>
            </a:gsLst>
            <a:lin ang="3900000" scaled="1"/>
          </a:gradFill>
          <a:ln w="11763" cap="rnd">
            <a:solidFill>
              <a:srgbClr val="60419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2" name="indole_component_path_3"/>
          <p:cNvSpPr/>
          <p:nvPr/>
        </p:nvSpPr>
        <p:spPr>
          <a:xfrm>
            <a:off x="480715" y="7799642"/>
            <a:ext cx="82814" cy="50642"/>
          </a:xfrm>
          <a:custGeom>
            <a:avLst/>
            <a:gdLst/>
            <a:ahLst/>
            <a:cxnLst/>
            <a:rect l="0" t="0" r="r" b="b"/>
            <a:pathLst>
              <a:path w="82814" h="50642">
                <a:moveTo>
                  <a:pt x="0" y="50642"/>
                </a:moveTo>
                <a:lnTo>
                  <a:pt x="82814" y="0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3" name="indole_component_path_4"/>
          <p:cNvSpPr/>
          <p:nvPr/>
        </p:nvSpPr>
        <p:spPr>
          <a:xfrm>
            <a:off x="602757" y="7799642"/>
            <a:ext cx="61021" cy="43408"/>
          </a:xfrm>
          <a:custGeom>
            <a:avLst/>
            <a:gdLst/>
            <a:ahLst/>
            <a:cxnLst/>
            <a:rect l="0" t="0" r="r" b="b"/>
            <a:pathLst>
              <a:path w="61021" h="43408">
                <a:moveTo>
                  <a:pt x="0" y="0"/>
                </a:moveTo>
                <a:lnTo>
                  <a:pt x="61021" y="43408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4" name="indole_component_path_5"/>
          <p:cNvSpPr/>
          <p:nvPr/>
        </p:nvSpPr>
        <p:spPr>
          <a:xfrm>
            <a:off x="480715" y="7879223"/>
            <a:ext cx="95" cy="83198"/>
          </a:xfrm>
          <a:custGeom>
            <a:avLst/>
            <a:gdLst/>
            <a:ahLst/>
            <a:cxnLst/>
            <a:rect l="0" t="0" r="r" b="b"/>
            <a:pathLst>
              <a:path w="95" h="83198">
                <a:moveTo>
                  <a:pt x="0" y="0"/>
                </a:moveTo>
                <a:lnTo>
                  <a:pt x="0" y="83198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5" name="indole_component_path_6"/>
          <p:cNvSpPr/>
          <p:nvPr/>
        </p:nvSpPr>
        <p:spPr>
          <a:xfrm>
            <a:off x="602757" y="7980508"/>
            <a:ext cx="61021" cy="36173"/>
          </a:xfrm>
          <a:custGeom>
            <a:avLst/>
            <a:gdLst/>
            <a:ahLst/>
            <a:cxnLst/>
            <a:rect l="0" t="0" r="r" b="b"/>
            <a:pathLst>
              <a:path w="61021" h="36173">
                <a:moveTo>
                  <a:pt x="0" y="36173"/>
                </a:moveTo>
                <a:lnTo>
                  <a:pt x="61021" y="0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6" name="indole_component_path_7"/>
          <p:cNvSpPr/>
          <p:nvPr/>
        </p:nvSpPr>
        <p:spPr>
          <a:xfrm>
            <a:off x="803255" y="7839433"/>
            <a:ext cx="47945" cy="72346"/>
          </a:xfrm>
          <a:custGeom>
            <a:avLst/>
            <a:gdLst/>
            <a:ahLst/>
            <a:cxnLst/>
            <a:rect l="0" t="0" r="r" b="b"/>
            <a:pathLst>
              <a:path w="47945" h="72346">
                <a:moveTo>
                  <a:pt x="0" y="0"/>
                </a:moveTo>
                <a:lnTo>
                  <a:pt x="47945" y="72346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7" name="indole_component_path_8"/>
          <p:cNvSpPr/>
          <p:nvPr/>
        </p:nvSpPr>
        <p:spPr>
          <a:xfrm>
            <a:off x="811972" y="7947952"/>
            <a:ext cx="34869" cy="50642"/>
          </a:xfrm>
          <a:custGeom>
            <a:avLst/>
            <a:gdLst/>
            <a:ahLst/>
            <a:cxnLst/>
            <a:rect l="0" t="0" r="r" b="b"/>
            <a:pathLst>
              <a:path w="34869" h="50642">
                <a:moveTo>
                  <a:pt x="34869" y="0"/>
                </a:moveTo>
                <a:lnTo>
                  <a:pt x="0" y="50642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8" name="indole_component_atom_9"/>
          <p:cNvSpPr txBox="1"/>
          <p:nvPr/>
        </p:nvSpPr>
        <p:spPr>
          <a:xfrm>
            <a:off x="790575" y="8019067"/>
            <a:ext cx="89154" cy="923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969" b="0" i="0">
                <a:solidFill>
                  <a:srgbClr val="57388E"/>
                </a:solidFill>
                <a:latin typeface="Arial"/>
              </a:rPr>
              <a:t>N</a:t>
            </a:r>
          </a:p>
        </p:txBody>
      </p:sp>
      <p:sp>
        <p:nvSpPr>
          <p:cNvPr id="729" name="circulating_tmao_oxygen_label"/>
          <p:cNvSpPr txBox="1"/>
          <p:nvPr/>
        </p:nvSpPr>
        <p:spPr>
          <a:xfrm>
            <a:off x="953223" y="4073632"/>
            <a:ext cx="135712" cy="135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60" b="1" i="0">
                <a:solidFill>
                  <a:srgbClr val="FFFFFF"/>
                </a:solidFill>
                <a:latin typeface="Times New Roman"/>
              </a:rPr>
              <a:t>O</a:t>
            </a:r>
          </a:p>
        </p:txBody>
      </p:sp>
      <p:sp>
        <p:nvSpPr>
          <p:cNvPr id="730" name="circulating_tmao_oxygen_charge"/>
          <p:cNvSpPr txBox="1"/>
          <p:nvPr/>
        </p:nvSpPr>
        <p:spPr>
          <a:xfrm>
            <a:off x="1079591" y="4017560"/>
            <a:ext cx="84108" cy="112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10" b="1" i="0">
                <a:solidFill>
                  <a:srgbClr val="23364A"/>
                </a:solidFill>
                <a:latin typeface="Times New Roman"/>
              </a:rPr>
              <a:t>−</a:t>
            </a:r>
          </a:p>
        </p:txBody>
      </p:sp>
      <p:sp>
        <p:nvSpPr>
          <p:cNvPr id="731" name="circulating_tmao_nitrogen_charge"/>
          <p:cNvSpPr txBox="1"/>
          <p:nvPr/>
        </p:nvSpPr>
        <p:spPr>
          <a:xfrm>
            <a:off x="799186" y="4216425"/>
            <a:ext cx="84108" cy="112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10" b="1" i="0">
                <a:solidFill>
                  <a:srgbClr val="23364A"/>
                </a:solidFill>
                <a:latin typeface="Times New Roman"/>
              </a:rPr>
              <a:t>+</a:t>
            </a:r>
          </a:p>
        </p:txBody>
      </p:sp>
      <p:sp>
        <p:nvSpPr>
          <p:cNvPr id="732" name="label_lps"/>
          <p:cNvSpPr txBox="1"/>
          <p:nvPr/>
        </p:nvSpPr>
        <p:spPr>
          <a:xfrm>
            <a:off x="266700" y="714375"/>
            <a:ext cx="1438275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90" b="1" i="0">
                <a:solidFill>
                  <a:srgbClr val="A82D2A"/>
                </a:solidFill>
                <a:latin typeface="Times New Roman"/>
              </a:rPr>
              <a:t>Circulating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90" b="1" i="0">
                <a:solidFill>
                  <a:srgbClr val="A82D2A"/>
                </a:solidFill>
                <a:latin typeface="Times New Roman"/>
              </a:rPr>
              <a:t>LPS (MAMP)</a:t>
            </a:r>
          </a:p>
        </p:txBody>
      </p:sp>
      <p:sp>
        <p:nvSpPr>
          <p:cNvPr id="733" name="label_hmgb1"/>
          <p:cNvSpPr txBox="1"/>
          <p:nvPr/>
        </p:nvSpPr>
        <p:spPr>
          <a:xfrm>
            <a:off x="266700" y="1809750"/>
            <a:ext cx="1476375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65" b="1" i="0">
                <a:solidFill>
                  <a:srgbClr val="A82D2A"/>
                </a:solidFill>
                <a:latin typeface="Times New Roman"/>
              </a:rPr>
              <a:t>Host-derived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65" b="1" i="0">
                <a:solidFill>
                  <a:srgbClr val="A82D2A"/>
                </a:solidFill>
                <a:latin typeface="Times New Roman"/>
              </a:rPr>
              <a:t>HMGB1 (DAMP)</a:t>
            </a:r>
          </a:p>
        </p:txBody>
      </p:sp>
      <p:sp>
        <p:nvSpPr>
          <p:cNvPr id="734" name="label_tlr4"/>
          <p:cNvSpPr txBox="1"/>
          <p:nvPr/>
        </p:nvSpPr>
        <p:spPr>
          <a:xfrm>
            <a:off x="3028950" y="314325"/>
            <a:ext cx="125730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75" b="1" i="0">
                <a:solidFill>
                  <a:srgbClr val="A82D2A"/>
                </a:solidFill>
                <a:latin typeface="Times New Roman"/>
              </a:rPr>
              <a:t>TLR4</a:t>
            </a:r>
          </a:p>
        </p:txBody>
      </p:sp>
      <p:sp>
        <p:nvSpPr>
          <p:cNvPr id="735" name="node_myd88"/>
          <p:cNvSpPr txBox="1"/>
          <p:nvPr/>
        </p:nvSpPr>
        <p:spPr>
          <a:xfrm>
            <a:off x="2867025" y="1905000"/>
            <a:ext cx="1704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MyD88 / TRIF</a:t>
            </a:r>
          </a:p>
        </p:txBody>
      </p:sp>
      <p:sp>
        <p:nvSpPr>
          <p:cNvPr id="736" name="node_nfkb"/>
          <p:cNvSpPr txBox="1"/>
          <p:nvPr/>
        </p:nvSpPr>
        <p:spPr>
          <a:xfrm>
            <a:off x="2867025" y="2324100"/>
            <a:ext cx="1704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NF-κB / MAPK</a:t>
            </a:r>
          </a:p>
        </p:txBody>
      </p:sp>
      <p:sp>
        <p:nvSpPr>
          <p:cNvPr id="737" name="node_cytokines"/>
          <p:cNvSpPr txBox="1"/>
          <p:nvPr/>
        </p:nvSpPr>
        <p:spPr>
          <a:xfrm>
            <a:off x="2828925" y="2705100"/>
            <a:ext cx="17811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Cytokines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chemokines</a:t>
            </a:r>
          </a:p>
        </p:txBody>
      </p:sp>
      <p:sp>
        <p:nvSpPr>
          <p:cNvPr id="738" name="node_inflammatory_output"/>
          <p:cNvSpPr txBox="1"/>
          <p:nvPr/>
        </p:nvSpPr>
        <p:spPr>
          <a:xfrm>
            <a:off x="5476875" y="2581275"/>
            <a:ext cx="2381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A82D2A"/>
                </a:solidFill>
                <a:latin typeface="Times New Roman"/>
              </a:rPr>
              <a:t>Endothelial activation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A82D2A"/>
                </a:solidFill>
                <a:latin typeface="Times New Roman"/>
              </a:rPr>
              <a:t>&amp; perivascular inflammation</a:t>
            </a:r>
          </a:p>
        </p:txBody>
      </p:sp>
      <p:sp>
        <p:nvSpPr>
          <p:cNvPr id="739" name="label_bmpr2"/>
          <p:cNvSpPr txBox="1"/>
          <p:nvPr/>
        </p:nvSpPr>
        <p:spPr>
          <a:xfrm>
            <a:off x="4867275" y="838200"/>
            <a:ext cx="302895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BMPR2 deficiency amplifies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LPS-induced inflammatory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responses</a:t>
            </a:r>
          </a:p>
        </p:txBody>
      </p:sp>
      <p:sp>
        <p:nvSpPr>
          <p:cNvPr id="740" name="label_bmpr2_context"/>
          <p:cNvSpPr txBox="1"/>
          <p:nvPr/>
        </p:nvSpPr>
        <p:spPr>
          <a:xfrm>
            <a:off x="4867275" y="1685925"/>
            <a:ext cx="2085975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90" b="0" i="1">
                <a:solidFill>
                  <a:srgbClr val="627588"/>
                </a:solidFill>
                <a:latin typeface="Times New Roman"/>
              </a:rPr>
              <a:t>Experimental PH</a:t>
            </a:r>
          </a:p>
        </p:txBody>
      </p:sp>
      <p:sp>
        <p:nvSpPr>
          <p:cNvPr id="741" name="label_tmao"/>
          <p:cNvSpPr txBox="1"/>
          <p:nvPr/>
        </p:nvSpPr>
        <p:spPr>
          <a:xfrm>
            <a:off x="266700" y="3419475"/>
            <a:ext cx="211455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25" b="1" i="0">
                <a:solidFill>
                  <a:srgbClr val="7254A8"/>
                </a:solidFill>
                <a:latin typeface="Times New Roman"/>
              </a:rPr>
              <a:t>Circulating TMAO</a:t>
            </a:r>
          </a:p>
        </p:txBody>
      </p:sp>
      <p:sp>
        <p:nvSpPr>
          <p:cNvPr id="742" name="label_tmao_context"/>
          <p:cNvSpPr txBox="1"/>
          <p:nvPr/>
        </p:nvSpPr>
        <p:spPr>
          <a:xfrm>
            <a:off x="266700" y="3714750"/>
            <a:ext cx="2257425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45" b="0" i="1">
                <a:solidFill>
                  <a:srgbClr val="627588"/>
                </a:solidFill>
                <a:latin typeface="Times New Roman"/>
              </a:rPr>
              <a:t>Experimental PH / cell studies</a:t>
            </a:r>
          </a:p>
        </p:txBody>
      </p:sp>
      <p:sp>
        <p:nvSpPr>
          <p:cNvPr id="743" name="label_tmao_macrophage"/>
          <p:cNvSpPr txBox="1"/>
          <p:nvPr/>
        </p:nvSpPr>
        <p:spPr>
          <a:xfrm>
            <a:off x="2390775" y="4543425"/>
            <a:ext cx="131445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Macrophage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activation</a:t>
            </a:r>
          </a:p>
        </p:txBody>
      </p:sp>
      <p:sp>
        <p:nvSpPr>
          <p:cNvPr id="744" name="label_paracrine"/>
          <p:cNvSpPr txBox="1"/>
          <p:nvPr/>
        </p:nvSpPr>
        <p:spPr>
          <a:xfrm>
            <a:off x="4124325" y="4543425"/>
            <a:ext cx="131445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7254A8"/>
                </a:solidFill>
                <a:latin typeface="Times New Roman"/>
              </a:rPr>
              <a:t>Paracrine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7254A8"/>
                </a:solidFill>
                <a:latin typeface="Times New Roman"/>
              </a:rPr>
              <a:t>mediators</a:t>
            </a:r>
          </a:p>
        </p:txBody>
      </p:sp>
      <p:sp>
        <p:nvSpPr>
          <p:cNvPr id="745" name="node_pasmsc"/>
          <p:cNvSpPr txBox="1"/>
          <p:nvPr/>
        </p:nvSpPr>
        <p:spPr>
          <a:xfrm>
            <a:off x="6067425" y="3857625"/>
            <a:ext cx="183832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0">
                <a:solidFill>
                  <a:srgbClr val="7254A8"/>
                </a:solidFill>
                <a:latin typeface="Times New Roman"/>
              </a:rPr>
              <a:t>PASMC proliferation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0">
                <a:solidFill>
                  <a:srgbClr val="7254A8"/>
                </a:solidFill>
                <a:latin typeface="Times New Roman"/>
              </a:rPr>
              <a:t>&amp; migration</a:t>
            </a:r>
          </a:p>
        </p:txBody>
      </p:sp>
      <p:sp>
        <p:nvSpPr>
          <p:cNvPr id="746" name="label_scfa"/>
          <p:cNvSpPr txBox="1"/>
          <p:nvPr/>
        </p:nvSpPr>
        <p:spPr>
          <a:xfrm>
            <a:off x="266700" y="5057775"/>
            <a:ext cx="12287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25" b="1" i="0">
                <a:solidFill>
                  <a:srgbClr val="2F7049"/>
                </a:solidFill>
                <a:latin typeface="Times New Roman"/>
              </a:rPr>
              <a:t>SCFAs</a:t>
            </a:r>
          </a:p>
        </p:txBody>
      </p:sp>
      <p:sp>
        <p:nvSpPr>
          <p:cNvPr id="747" name="label_ffar"/>
          <p:cNvSpPr txBox="1"/>
          <p:nvPr/>
        </p:nvSpPr>
        <p:spPr>
          <a:xfrm>
            <a:off x="2362200" y="4981575"/>
            <a:ext cx="12954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FFAR2/3</a:t>
            </a:r>
          </a:p>
        </p:txBody>
      </p:sp>
      <p:sp>
        <p:nvSpPr>
          <p:cNvPr id="748" name="node_myeloid"/>
          <p:cNvSpPr txBox="1"/>
          <p:nvPr/>
        </p:nvSpPr>
        <p:spPr>
          <a:xfrm>
            <a:off x="3857625" y="5105400"/>
            <a:ext cx="23622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15" b="1" i="0">
                <a:solidFill>
                  <a:srgbClr val="2F7049"/>
                </a:solidFill>
                <a:latin typeface="Times New Roman"/>
              </a:rPr>
              <a:t>Pulmonary myeloid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15" b="1" i="0">
                <a:solidFill>
                  <a:srgbClr val="2F7049"/>
                </a:solidFill>
                <a:latin typeface="Times New Roman"/>
              </a:rPr>
              <a:t>modulation</a:t>
            </a:r>
          </a:p>
        </p:txBody>
      </p:sp>
      <p:sp>
        <p:nvSpPr>
          <p:cNvPr id="749" name="label_butyrate"/>
          <p:cNvSpPr txBox="1"/>
          <p:nvPr/>
        </p:nvSpPr>
        <p:spPr>
          <a:xfrm>
            <a:off x="1457325" y="5924550"/>
            <a:ext cx="94297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1">
                <a:solidFill>
                  <a:srgbClr val="2F7049"/>
                </a:solidFill>
                <a:latin typeface="Times New Roman"/>
              </a:rPr>
              <a:t>Butyrate</a:t>
            </a:r>
          </a:p>
        </p:txBody>
      </p:sp>
      <p:sp>
        <p:nvSpPr>
          <p:cNvPr id="750" name="node_hdac"/>
          <p:cNvSpPr txBox="1"/>
          <p:nvPr/>
        </p:nvSpPr>
        <p:spPr>
          <a:xfrm>
            <a:off x="2409825" y="6019800"/>
            <a:ext cx="11049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2F7049"/>
                </a:solidFill>
                <a:latin typeface="Times New Roman"/>
              </a:rPr>
              <a:t>HDAC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2F7049"/>
                </a:solidFill>
                <a:latin typeface="Times New Roman"/>
              </a:rPr>
              <a:t>inhibition</a:t>
            </a:r>
          </a:p>
        </p:txBody>
      </p:sp>
      <p:sp>
        <p:nvSpPr>
          <p:cNvPr id="751" name="label_acetylation"/>
          <p:cNvSpPr txBox="1"/>
          <p:nvPr/>
        </p:nvSpPr>
        <p:spPr>
          <a:xfrm>
            <a:off x="3552825" y="6296025"/>
            <a:ext cx="19145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0">
                <a:solidFill>
                  <a:srgbClr val="2F7049"/>
                </a:solidFill>
                <a:latin typeface="Times New Roman"/>
              </a:rPr>
              <a:t>Histone H3 acetylation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0">
                <a:solidFill>
                  <a:srgbClr val="2F7049"/>
                </a:solidFill>
                <a:latin typeface="Times New Roman"/>
              </a:rPr>
              <a:t>at the Foxp3 locus ↑</a:t>
            </a:r>
          </a:p>
        </p:txBody>
      </p:sp>
      <p:sp>
        <p:nvSpPr>
          <p:cNvPr id="752" name="node_treg_support"/>
          <p:cNvSpPr txBox="1"/>
          <p:nvPr/>
        </p:nvSpPr>
        <p:spPr>
          <a:xfrm>
            <a:off x="5229225" y="6086475"/>
            <a:ext cx="15811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Treg support</a:t>
            </a:r>
          </a:p>
        </p:txBody>
      </p:sp>
      <p:sp>
        <p:nvSpPr>
          <p:cNvPr id="753" name="label_perivascular_macrophage"/>
          <p:cNvSpPr txBox="1"/>
          <p:nvPr/>
        </p:nvSpPr>
        <p:spPr>
          <a:xfrm>
            <a:off x="8382000" y="6162675"/>
            <a:ext cx="127635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3364A"/>
                </a:solidFill>
                <a:latin typeface="Times New Roman"/>
              </a:rPr>
              <a:t>Macrophage</a:t>
            </a:r>
          </a:p>
        </p:txBody>
      </p:sp>
      <p:sp>
        <p:nvSpPr>
          <p:cNvPr id="754" name="label_foxp3"/>
          <p:cNvSpPr txBox="1"/>
          <p:nvPr/>
        </p:nvSpPr>
        <p:spPr>
          <a:xfrm>
            <a:off x="9906000" y="7038975"/>
            <a:ext cx="120015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FOXP3⁺ Treg</a:t>
            </a:r>
          </a:p>
        </p:txBody>
      </p:sp>
      <p:sp>
        <p:nvSpPr>
          <p:cNvPr id="755" name="label_secondary_ba"/>
          <p:cNvSpPr txBox="1"/>
          <p:nvPr/>
        </p:nvSpPr>
        <p:spPr>
          <a:xfrm>
            <a:off x="266700" y="6734175"/>
            <a:ext cx="199072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25" b="1" i="0">
                <a:solidFill>
                  <a:srgbClr val="B97724"/>
                </a:solidFill>
                <a:latin typeface="Times New Roman"/>
              </a:rPr>
              <a:t>Secondary BAs</a:t>
            </a:r>
          </a:p>
        </p:txBody>
      </p:sp>
      <p:sp>
        <p:nvSpPr>
          <p:cNvPr id="756" name="label_fxr"/>
          <p:cNvSpPr txBox="1"/>
          <p:nvPr/>
        </p:nvSpPr>
        <p:spPr>
          <a:xfrm>
            <a:off x="2447925" y="6734175"/>
            <a:ext cx="2724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B97724"/>
                </a:solidFill>
                <a:latin typeface="Times New Roman"/>
              </a:rPr>
              <a:t>Endothelial FXR activation</a:t>
            </a:r>
          </a:p>
        </p:txBody>
      </p:sp>
      <p:sp>
        <p:nvSpPr>
          <p:cNvPr id="757" name="node_et1"/>
          <p:cNvSpPr txBox="1"/>
          <p:nvPr/>
        </p:nvSpPr>
        <p:spPr>
          <a:xfrm>
            <a:off x="5543550" y="7086600"/>
            <a:ext cx="2085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0" i="0">
                <a:solidFill>
                  <a:srgbClr val="B97724"/>
                </a:solidFill>
                <a:latin typeface="Times New Roman"/>
              </a:rPr>
              <a:t>ET-1 expression</a:t>
            </a:r>
          </a:p>
        </p:txBody>
      </p:sp>
      <p:sp>
        <p:nvSpPr>
          <p:cNvPr id="758" name="label_indole"/>
          <p:cNvSpPr txBox="1"/>
          <p:nvPr/>
        </p:nvSpPr>
        <p:spPr>
          <a:xfrm>
            <a:off x="266700" y="7486650"/>
            <a:ext cx="22383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25" b="1" i="0">
                <a:solidFill>
                  <a:srgbClr val="7254A8"/>
                </a:solidFill>
                <a:latin typeface="Times New Roman"/>
              </a:rPr>
              <a:t>Indole metabolites</a:t>
            </a:r>
          </a:p>
        </p:txBody>
      </p:sp>
      <p:sp>
        <p:nvSpPr>
          <p:cNvPr id="759" name="label_ahr"/>
          <p:cNvSpPr txBox="1"/>
          <p:nvPr/>
        </p:nvSpPr>
        <p:spPr>
          <a:xfrm>
            <a:off x="3286125" y="7477125"/>
            <a:ext cx="9048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50" b="1" i="0">
                <a:solidFill>
                  <a:srgbClr val="7254A8"/>
                </a:solidFill>
                <a:latin typeface="Times New Roman"/>
              </a:rPr>
              <a:t>AhR</a:t>
            </a:r>
          </a:p>
        </p:txBody>
      </p:sp>
      <p:sp>
        <p:nvSpPr>
          <p:cNvPr id="760" name="node_tcell"/>
          <p:cNvSpPr txBox="1"/>
          <p:nvPr/>
        </p:nvSpPr>
        <p:spPr>
          <a:xfrm>
            <a:off x="5410200" y="7791450"/>
            <a:ext cx="23336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7254A8"/>
                </a:solidFill>
                <a:latin typeface="Times New Roman"/>
              </a:rPr>
              <a:t>Immune modulation</a:t>
            </a:r>
          </a:p>
        </p:txBody>
      </p:sp>
      <p:sp>
        <p:nvSpPr>
          <p:cNvPr id="761" name="label_pulmonary_arteriole"/>
          <p:cNvSpPr txBox="1"/>
          <p:nvPr/>
        </p:nvSpPr>
        <p:spPr>
          <a:xfrm>
            <a:off x="9525000" y="342900"/>
            <a:ext cx="38290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2100" b="1" i="0">
                <a:solidFill>
                  <a:srgbClr val="23364A"/>
                </a:solidFill>
                <a:latin typeface="Times New Roman"/>
              </a:rPr>
              <a:t>Pulmonary arteriole</a:t>
            </a:r>
          </a:p>
        </p:txBody>
      </p:sp>
      <p:sp>
        <p:nvSpPr>
          <p:cNvPr id="762" name="label_endothelium"/>
          <p:cNvSpPr txBox="1"/>
          <p:nvPr/>
        </p:nvSpPr>
        <p:spPr>
          <a:xfrm>
            <a:off x="7829550" y="2209800"/>
            <a:ext cx="115252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Endothelium</a:t>
            </a:r>
          </a:p>
        </p:txBody>
      </p:sp>
      <p:sp>
        <p:nvSpPr>
          <p:cNvPr id="763" name="label_media"/>
          <p:cNvSpPr txBox="1"/>
          <p:nvPr/>
        </p:nvSpPr>
        <p:spPr>
          <a:xfrm>
            <a:off x="8343900" y="3209925"/>
            <a:ext cx="1247775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Media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(PASMCs)</a:t>
            </a:r>
          </a:p>
        </p:txBody>
      </p:sp>
      <p:sp>
        <p:nvSpPr>
          <p:cNvPr id="764" name="label_adventitia"/>
          <p:cNvSpPr txBox="1"/>
          <p:nvPr/>
        </p:nvSpPr>
        <p:spPr>
          <a:xfrm>
            <a:off x="9039225" y="4800600"/>
            <a:ext cx="124777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Adventitia</a:t>
            </a:r>
          </a:p>
        </p:txBody>
      </p:sp>
      <p:sp>
        <p:nvSpPr>
          <p:cNvPr id="765" name="outcome_endothelial"/>
          <p:cNvSpPr txBox="1"/>
          <p:nvPr/>
        </p:nvSpPr>
        <p:spPr>
          <a:xfrm>
            <a:off x="13049250" y="2371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23364A"/>
                </a:solidFill>
                <a:latin typeface="Times New Roman"/>
              </a:rPr>
              <a:t>Endothelial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23364A"/>
                </a:solidFill>
                <a:latin typeface="Times New Roman"/>
              </a:rPr>
              <a:t>dysfunction</a:t>
            </a:r>
          </a:p>
        </p:txBody>
      </p:sp>
      <p:sp>
        <p:nvSpPr>
          <p:cNvPr id="766" name="outcome_medial"/>
          <p:cNvSpPr txBox="1"/>
          <p:nvPr/>
        </p:nvSpPr>
        <p:spPr>
          <a:xfrm>
            <a:off x="13049250" y="3895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A82D2A"/>
                </a:solidFill>
                <a:latin typeface="Times New Roman"/>
              </a:rPr>
              <a:t>Medial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A82D2A"/>
                </a:solidFill>
                <a:latin typeface="Times New Roman"/>
              </a:rPr>
              <a:t>thickening</a:t>
            </a:r>
          </a:p>
        </p:txBody>
      </p:sp>
      <p:sp>
        <p:nvSpPr>
          <p:cNvPr id="767" name="outcome_adventitial"/>
          <p:cNvSpPr txBox="1"/>
          <p:nvPr/>
        </p:nvSpPr>
        <p:spPr>
          <a:xfrm>
            <a:off x="13049250" y="5419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7254A8"/>
                </a:solidFill>
                <a:latin typeface="Times New Roman"/>
              </a:rPr>
              <a:t>Adventitial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7254A8"/>
                </a:solidFill>
                <a:latin typeface="Times New Roman"/>
              </a:rPr>
              <a:t>remodeling</a:t>
            </a:r>
          </a:p>
        </p:txBody>
      </p:sp>
      <p:sp>
        <p:nvSpPr>
          <p:cNvPr id="768" name="outcome_pvr"/>
          <p:cNvSpPr txBox="1"/>
          <p:nvPr/>
        </p:nvSpPr>
        <p:spPr>
          <a:xfrm>
            <a:off x="13658850" y="6391275"/>
            <a:ext cx="136207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2250" b="1" i="0">
                <a:solidFill>
                  <a:srgbClr val="23364A"/>
                </a:solidFill>
                <a:latin typeface="Times New Roman"/>
              </a:rPr>
              <a:t>PVR ↑</a:t>
            </a:r>
          </a:p>
        </p:txBody>
      </p:sp>
      <p:sp>
        <p:nvSpPr>
          <p:cNvPr id="769" name="normal_cross_section_label"/>
          <p:cNvSpPr txBox="1"/>
          <p:nvPr/>
        </p:nvSpPr>
        <p:spPr>
          <a:xfrm>
            <a:off x="11239500" y="7115175"/>
            <a:ext cx="1095375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0">
                <a:solidFill>
                  <a:srgbClr val="23364A"/>
                </a:solidFill>
                <a:latin typeface="Times New Roman"/>
              </a:rPr>
              <a:t>Normal</a:t>
            </a:r>
          </a:p>
        </p:txBody>
      </p:sp>
      <p:sp>
        <p:nvSpPr>
          <p:cNvPr id="770" name="remodeled_cross_section_label"/>
          <p:cNvSpPr txBox="1"/>
          <p:nvPr/>
        </p:nvSpPr>
        <p:spPr>
          <a:xfrm>
            <a:off x="12449175" y="7115175"/>
            <a:ext cx="1190625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0">
                <a:solidFill>
                  <a:srgbClr val="23364A"/>
                </a:solidFill>
                <a:latin typeface="Times New Roman"/>
              </a:rPr>
              <a:t>Remodeled</a:t>
            </a:r>
          </a:p>
        </p:txBody>
      </p:sp>
      <p:sp>
        <p:nvSpPr>
          <p:cNvPr id="771" name="cross_section_note"/>
          <p:cNvSpPr txBox="1"/>
          <p:nvPr/>
        </p:nvSpPr>
        <p:spPr>
          <a:xfrm>
            <a:off x="11277600" y="8020050"/>
            <a:ext cx="24574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00" b="0" i="1">
                <a:solidFill>
                  <a:srgbClr val="627588"/>
                </a:solidFill>
                <a:latin typeface="Times New Roman"/>
              </a:rPr>
              <a:t>Schematic morphology</a:t>
            </a:r>
          </a:p>
        </p:txBody>
      </p:sp>
      <p:sp>
        <p:nvSpPr>
          <p:cNvPr id="772" name="legend_solid"/>
          <p:cNvSpPr txBox="1"/>
          <p:nvPr/>
        </p:nvSpPr>
        <p:spPr>
          <a:xfrm>
            <a:off x="962025" y="8305800"/>
            <a:ext cx="4733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Solid: experimental support for the depicted step</a:t>
            </a:r>
          </a:p>
        </p:txBody>
      </p:sp>
      <p:sp>
        <p:nvSpPr>
          <p:cNvPr id="773" name="legend_dashed"/>
          <p:cNvSpPr txBox="1"/>
          <p:nvPr/>
        </p:nvSpPr>
        <p:spPr>
          <a:xfrm>
            <a:off x="6934200" y="8305800"/>
            <a:ext cx="547687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Dashed: proposed PAH link / incomplete pathway</a:t>
            </a:r>
          </a:p>
        </p:txBody>
      </p:sp>
      <p:sp>
        <p:nvSpPr>
          <p:cNvPr id="774" name="label_tlr4_cell_scope"/>
          <p:cNvSpPr txBox="1"/>
          <p:nvPr/>
        </p:nvSpPr>
        <p:spPr>
          <a:xfrm>
            <a:off x="266700" y="2686050"/>
            <a:ext cx="23241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20" b="0" i="1">
                <a:solidFill>
                  <a:srgbClr val="627588"/>
                </a:solidFill>
                <a:latin typeface="Times New Roman"/>
              </a:rPr>
              <a:t>Immune and vascular cells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20" b="0" i="1">
                <a:solidFill>
                  <a:srgbClr val="627588"/>
                </a:solidFill>
                <a:latin typeface="Times New Roman"/>
              </a:rPr>
              <a:t>(schematic)</a:t>
            </a:r>
          </a:p>
        </p:txBody>
      </p:sp>
      <p:sp>
        <p:nvSpPr>
          <p:cNvPr id="775" name="label_myeloid_candidate"/>
          <p:cNvSpPr txBox="1"/>
          <p:nvPr/>
        </p:nvSpPr>
        <p:spPr>
          <a:xfrm>
            <a:off x="4133850" y="5514975"/>
            <a:ext cx="1914525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30" b="0" i="1">
                <a:solidFill>
                  <a:srgbClr val="627588"/>
                </a:solidFill>
                <a:latin typeface="Times New Roman"/>
              </a:rPr>
              <a:t>Proposed PH link</a:t>
            </a:r>
          </a:p>
        </p:txBody>
      </p:sp>
      <p:sp>
        <p:nvSpPr>
          <p:cNvPr id="776" name="label_butyrate_direct"/>
          <p:cNvSpPr txBox="1"/>
          <p:nvPr/>
        </p:nvSpPr>
        <p:spPr>
          <a:xfrm>
            <a:off x="8067675" y="7048500"/>
            <a:ext cx="99060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Butyrate</a:t>
            </a:r>
          </a:p>
        </p:txBody>
      </p:sp>
      <p:sp>
        <p:nvSpPr>
          <p:cNvPr id="777" name="label_butyrate_cell_studies"/>
          <p:cNvSpPr txBox="1"/>
          <p:nvPr/>
        </p:nvSpPr>
        <p:spPr>
          <a:xfrm>
            <a:off x="8067675" y="7334250"/>
            <a:ext cx="100012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1">
                <a:solidFill>
                  <a:srgbClr val="627588"/>
                </a:solidFill>
                <a:latin typeface="Times New Roman"/>
              </a:rPr>
              <a:t>Cell studies</a:t>
            </a:r>
          </a:p>
        </p:txBody>
      </p:sp>
      <p:sp>
        <p:nvSpPr>
          <p:cNvPr id="778" name="node_endothelial_barrier_protection"/>
          <p:cNvSpPr txBox="1"/>
          <p:nvPr/>
        </p:nvSpPr>
        <p:spPr>
          <a:xfrm>
            <a:off x="9315450" y="7305675"/>
            <a:ext cx="18573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1" i="0">
                <a:solidFill>
                  <a:srgbClr val="2F7049"/>
                </a:solidFill>
                <a:latin typeface="Times New Roman"/>
              </a:rPr>
              <a:t>Endothelial barrier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1" i="0">
                <a:solidFill>
                  <a:srgbClr val="2F7049"/>
                </a:solidFill>
                <a:latin typeface="Times New Roman"/>
              </a:rPr>
              <a:t>protection</a:t>
            </a:r>
          </a:p>
        </p:txBody>
      </p:sp>
      <p:sp>
        <p:nvSpPr>
          <p:cNvPr id="779" name="node_butyrate_pasmsc"/>
          <p:cNvSpPr txBox="1"/>
          <p:nvPr/>
        </p:nvSpPr>
        <p:spPr>
          <a:xfrm>
            <a:off x="9315450" y="7772400"/>
            <a:ext cx="19240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F7049"/>
                </a:solidFill>
                <a:latin typeface="Times New Roman"/>
              </a:rPr>
              <a:t>PDGF-induced PASMC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F7049"/>
                </a:solidFill>
                <a:latin typeface="Times New Roman"/>
              </a:rPr>
              <a:t>proliferation &amp; migration</a:t>
            </a:r>
          </a:p>
        </p:txBody>
      </p:sp>
      <p:sp>
        <p:nvSpPr>
          <p:cNvPr id="780" name="legend_inhibition"/>
          <p:cNvSpPr txBox="1"/>
          <p:nvPr/>
        </p:nvSpPr>
        <p:spPr>
          <a:xfrm>
            <a:off x="13277850" y="8305800"/>
            <a:ext cx="1619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Inhibition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/>
  <PresentationFormat>On-screen Show (16:9)</PresentationFormat>
  <Slides>1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Pulmonary vascular signaling and remodeling</dc:title>
  <dc:subject/>
  <dc:creator/>
  <cp:keywords/>
  <dc:description/>
  <cp:lastModifiedBy/>
  <cp:revision>1</cp:revision>
  <dcterms:created xsi:type="dcterms:W3CDTF">2026-10-17T11:36:13Z</dcterms:created>
  <dcterms:modified xsi:type="dcterms:W3CDTF">2026-10-17T11:36:13Z</dcterms:modified>
  <cp:category/>
  <dc:identifier/>
  <cp:contentStatus/>
  <cp:version/>
</cp:coreProperties>
</file>